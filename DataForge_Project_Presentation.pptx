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8B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6FEB"/>
                </a:solidFill>
                <a:latin typeface="微软雅黑"/>
              </a:defRPr>
            </a:pPr>
            <a:r>
              <a:t>DataForge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6EDF3"/>
                </a:solidFill>
                <a:latin typeface="微软雅黑"/>
              </a:defRPr>
            </a:pPr>
            <a:r>
              <a:t>面向 AI 时代的数据处理中枢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微软雅黑"/>
              </a:defRPr>
            </a:pPr>
            <a:r>
              <a:t>Normal RAG + GraphRAG 双引擎驱动  ·  Powered by AMD Radeon GPU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5720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项目说明文档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A6FF"/>
                </a:solidFill>
                <a:latin typeface="微软雅黑"/>
              </a:defRPr>
            </a:pPr>
            <a:r>
              <a:t>Track 2 · 私有 AI Agent 开发与本地部署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AMD Radeon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EB"/>
                </a:solidFill>
                <a:latin typeface="Consolas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727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应用场景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38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企业知识库问答 · 训练数据生产 · 行业覆盖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514600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328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Agent 架构图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986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四层解耦架构 · 双引擎协同 · 数据流水线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8B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204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93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核心能力介绍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587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智能检索 · 语料生成 · 双引擎 · 引用溯源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434840"/>
            <a:ext cx="594360" cy="594360"/>
          </a:xfrm>
          <a:prstGeom prst="ellipse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4531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模型介绍与本地部署方案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8188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Qwen3.6 MoE · vLLM · Radeon Cloud 部署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394960"/>
            <a:ext cx="594360" cy="5943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406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4132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AMD Radeon GPU 推理优化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7790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ROCm · vLLM · MoE · 量化加速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8636"/>
                </a:solidFill>
                <a:latin typeface="Consolas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应用场景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微软雅黑"/>
              </a:defRPr>
            </a:pPr>
            <a:r>
              <a:t>一套 Normal RAG + GraphRAG 引擎，驱动两大产品功能，覆盖企业数据全生命周期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474720" cy="36576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474720" cy="54864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微软雅黑"/>
              </a:defRPr>
            </a:pPr>
            <a:r>
              <a:t>企业知识库</a:t>
            </a:r>
            <a:br/>
            <a:r>
              <a:t>智能问答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上传 50+ 格式私有文档</a:t>
            </a:r>
          </a:p>
          <a:p>
            <a:pPr>
              <a:spcAft>
                <a:spcPts val="479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自动构建知识图谱与向量索引</a:t>
            </a:r>
          </a:p>
          <a:p>
            <a:pPr>
              <a:spcAft>
                <a:spcPts val="479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GraphRAG 跨文档关联推理</a:t>
            </a:r>
          </a:p>
          <a:p>
            <a:pPr>
              <a:spcAft>
                <a:spcPts val="479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自然语言问答 + 引用溯源</a:t>
            </a:r>
          </a:p>
          <a:p>
            <a:pPr>
              <a:spcAft>
                <a:spcPts val="479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多轮对话上下文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金融机构研报解读</a:t>
            </a:r>
            <a:br/>
            <a:r>
              <a:t>医院诊疗指南查询</a:t>
            </a:r>
            <a:br/>
            <a:r>
              <a:t>律所法条检索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474720" cy="36576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11680"/>
            <a:ext cx="3474720" cy="54864"/>
          </a:xfrm>
          <a:prstGeom prst="rect">
            <a:avLst/>
          </a:prstGeom>
          <a:solidFill>
            <a:srgbClr val="8B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7E5"/>
                </a:solidFill>
                <a:latin typeface="微软雅黑"/>
              </a:defRPr>
            </a:pPr>
            <a:r>
              <a:t>大模型训练</a:t>
            </a:r>
            <a:br/>
            <a:r>
              <a:t>数据生产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1460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基于知识图谱自动生成</a:t>
            </a:r>
          </a:p>
          <a:p>
            <a:pPr>
              <a:spcAft>
                <a:spcPts val="479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QA / CoT / 偏好对 / Agent</a:t>
            </a:r>
          </a:p>
          <a:p>
            <a:pPr>
              <a:spcAft>
                <a:spcPts val="479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Alpaca / ShareGPT 格式</a:t>
            </a:r>
          </a:p>
          <a:p>
            <a:pPr>
              <a:spcAft>
                <a:spcPts val="479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难度可调（基础/进阶/专家）</a:t>
            </a:r>
          </a:p>
          <a:p>
            <a:pPr>
              <a:spcAft>
                <a:spcPts val="479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每条样本可追溯知识来源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120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SFT 指令微调</a:t>
            </a:r>
            <a:br/>
            <a:r>
              <a:t>RLHF / DPO 对齐</a:t>
            </a:r>
            <a:br/>
            <a:r>
              <a:t>Agent 能力训练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011680"/>
            <a:ext cx="3474720" cy="36576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011680"/>
            <a:ext cx="347472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微软雅黑"/>
              </a:defRPr>
            </a:pPr>
            <a:r>
              <a:t>冷启动</a:t>
            </a:r>
            <a:br/>
            <a:r>
              <a:t>行业模型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51460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官方数据集 + 私有语料混合</a:t>
            </a:r>
          </a:p>
          <a:p>
            <a:pPr>
              <a:spcAft>
                <a:spcPts val="479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能力同源 · 同一流水线</a:t>
            </a:r>
          </a:p>
          <a:p>
            <a:pPr>
              <a:spcAft>
                <a:spcPts val="479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数据互通 · 自由混合</a:t>
            </a:r>
          </a:p>
          <a:p>
            <a:pPr>
              <a:spcAft>
                <a:spcPts val="479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双向反哺 · 反馈回流</a:t>
            </a:r>
          </a:p>
          <a:p>
            <a:pPr>
              <a:spcAft>
                <a:spcPts val="479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越用越强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120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行业模型冷启动</a:t>
            </a:r>
            <a:br/>
            <a:r>
              <a:t>数据质量验证</a:t>
            </a:r>
            <a:br/>
            <a:r>
              <a:t>引擎持续优化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8636"/>
                </a:solidFill>
                <a:latin typeface="Consolas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应用场景 · 行业训练数据集覆盖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8 大高频行业，官方数据集持续生产中，开箱即用，直接用于大模型后训练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651760" cy="457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金融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8636"/>
                </a:solidFill>
                <a:latin typeface="微软雅黑"/>
              </a:defRPr>
            </a:pPr>
            <a:r>
              <a:t>12 万+ 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研报解读 · 合规风控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37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微软雅黑"/>
              </a:defRPr>
            </a:pPr>
            <a:r>
              <a:t>QA · CoT · 偏好对 ·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01168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2011680"/>
            <a:ext cx="2651760" cy="4572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医疗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A3633"/>
                </a:solidFill>
                <a:latin typeface="微软雅黑"/>
              </a:defRPr>
            </a:pPr>
            <a:r>
              <a:t>10 万+ 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诊疗指南 · 医学知识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37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微软雅黑"/>
              </a:defRPr>
            </a:pPr>
            <a:r>
              <a:t>QA · CoT · 偏好对 ·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01168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8B5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2651760" cy="45720"/>
          </a:xfrm>
          <a:prstGeom prst="rect">
            <a:avLst/>
          </a:prstGeom>
          <a:solidFill>
            <a:srgbClr val="8B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法律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7E5"/>
                </a:solidFill>
                <a:latin typeface="微软雅黑"/>
              </a:defRPr>
            </a:pPr>
            <a:r>
              <a:t>8 万+ 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法条释义 · 判例分析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337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微软雅黑"/>
              </a:defRPr>
            </a:pPr>
            <a:r>
              <a:t>QA · CoT · 偏好对 ·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201168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9720" y="2011680"/>
            <a:ext cx="265176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教育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EB"/>
                </a:solidFill>
                <a:latin typeface="微软雅黑"/>
              </a:defRPr>
            </a:pPr>
            <a:r>
              <a:t>15 万+ 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学科题目 · 解题思路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337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微软雅黑"/>
              </a:defRPr>
            </a:pPr>
            <a:r>
              <a:t>QA · CoT · 偏好对 · Agent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93192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931920"/>
            <a:ext cx="2651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069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代码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480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微软雅黑"/>
              </a:defRPr>
            </a:pPr>
            <a:r>
              <a:t>9 万+ 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846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代码生成 · 缺陷修复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2578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微软雅黑"/>
              </a:defRPr>
            </a:pPr>
            <a:r>
              <a:t>QA · CoT · 偏好对 · Agent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393192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9B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29000" y="3931920"/>
            <a:ext cx="2651760" cy="45720"/>
          </a:xfrm>
          <a:prstGeom prst="rect">
            <a:avLst/>
          </a:prstGeom>
          <a:solidFill>
            <a:srgbClr val="9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0" y="4069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数学推理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480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6A00"/>
                </a:solidFill>
                <a:latin typeface="微软雅黑"/>
              </a:defRPr>
            </a:pPr>
            <a:r>
              <a:t>7 万+ 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846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数学推导 · 步进解题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52578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微软雅黑"/>
              </a:defRPr>
            </a:pPr>
            <a:r>
              <a:t>QA · CoT · 偏好对 · Agent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393192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3931920"/>
            <a:ext cx="2651760" cy="457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069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电商客服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480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8636"/>
                </a:solidFill>
                <a:latin typeface="微软雅黑"/>
              </a:defRPr>
            </a:pPr>
            <a:r>
              <a:t>6 万+ 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846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多轮对话 · 售后处理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2578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微软雅黑"/>
              </a:defRPr>
            </a:pPr>
            <a:r>
              <a:t>QA · CoT · 偏好对 · Agent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89720" y="393192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89720" y="3931920"/>
            <a:ext cx="265176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4069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政务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4480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EB"/>
                </a:solidFill>
                <a:latin typeface="微软雅黑"/>
              </a:defRPr>
            </a:pPr>
            <a:r>
              <a:t>5 万+ 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4846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政策解读 · 办事指南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52578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微软雅黑"/>
              </a:defRPr>
            </a:pPr>
            <a:r>
              <a:t>QA · CoT · 偏好对 · 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EB"/>
                </a:solidFill>
                <a:latin typeface="Consolas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Agent 架构图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微软雅黑"/>
              </a:defRPr>
            </a:pPr>
            <a:r>
              <a:t>四层解耦架构 · RAG + GraphRAG 双引擎协同 · 底层运行于 AMD Radeon GPU (ROCm)</a:t>
            </a:r>
          </a:p>
        </p:txBody>
      </p:sp>
      <p:pic>
        <p:nvPicPr>
          <p:cNvPr id="7" name="Picture 6" descr="ag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0698480" cy="73676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EB"/>
                </a:solidFill>
                <a:latin typeface="Consolas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架构分层说明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应用层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385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知识库问答 · 语义检索 · 训练数据生成 · 行业数据集 · API 接入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60120" y="2286000"/>
            <a:ext cx="228600" cy="182880"/>
          </a:xfrm>
          <a:prstGeom prst="down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9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能力层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529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引用溯源 · 思维链生成 · 难度调控 · 多轮对话上下文管理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60120" y="3200400"/>
            <a:ext cx="228600" cy="182880"/>
          </a:xfrm>
          <a:prstGeom prst="down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38328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8B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引擎层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673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RAG 向量检索 + GraphRAG 图谱推理 双引擎协同 · 社区聚类 · 重排序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60120" y="4114800"/>
            <a:ext cx="228600" cy="182880"/>
          </a:xfrm>
          <a:prstGeom prst="down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29768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34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L4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6817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文档解析(50+格式) · 分块切分 · 向量化 · 实体关系抽取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960120" y="5029200"/>
            <a:ext cx="228600" cy="182880"/>
          </a:xfrm>
          <a:prstGeom prst="down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521208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492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Infra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AMD Radeon GPU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5961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ROCm 6.x · vLLM(HIP) · PagedAttention · Continuous Batching · FP8量化 · 多GPU并行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EB"/>
                </a:solidFill>
                <a:latin typeface="Consolas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数据流水线 · 全自动化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从原始数据接入到最终输出，六个阶段全自动流转，无需人工干预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645920" cy="14630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A3633"/>
                </a:solidFill>
                <a:latin typeface="Consolas"/>
              </a:defRPr>
            </a:pPr>
            <a: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数据接入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50+ 格式上传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12848" y="3291840"/>
            <a:ext cx="146304" cy="27432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77440" y="2743200"/>
            <a:ext cx="1645920" cy="14630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9B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B6A00"/>
                </a:solidFill>
                <a:latin typeface="Consolas"/>
              </a:defRPr>
            </a:pPr>
            <a: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智能解析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结构化提取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41648" y="3291840"/>
            <a:ext cx="146304" cy="27432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0" y="2743200"/>
            <a:ext cx="1645920" cy="14630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29922"/>
                </a:solidFill>
                <a:latin typeface="Consolas"/>
              </a:defRPr>
            </a:pPr>
            <a: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向量化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语义嵌入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70448" y="3291840"/>
            <a:ext cx="146304" cy="27432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35040" y="2743200"/>
            <a:ext cx="1645920" cy="14630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38636"/>
                </a:solidFill>
                <a:latin typeface="Consolas"/>
              </a:defRPr>
            </a:pPr>
            <a: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图谱构建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实体关系抽取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699248" y="3291840"/>
            <a:ext cx="146304" cy="27432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63840" y="2743200"/>
            <a:ext cx="1645920" cy="14630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6FEB"/>
                </a:solidFill>
                <a:latin typeface="Consolas"/>
              </a:defRPr>
            </a:pPr>
            <a:r>
              <a:t>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检索/生成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RAG + GraphRAG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528048" y="3291840"/>
            <a:ext cx="146304" cy="27432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92640" y="2743200"/>
            <a:ext cx="1645920" cy="14630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8B5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7E5"/>
                </a:solidFill>
                <a:latin typeface="Consolas"/>
              </a:defRPr>
            </a:pPr>
            <a:r>
              <a:t>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结果输出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答案/训练语料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0A1A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微软雅黑"/>
              </a:defRPr>
            </a:pPr>
            <a:r>
              <a:t>双向飞轮机制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企业服务的工程沉淀反哺数据集生产  →  数据集在真实训练中验证并优化引擎  →  两条产品线越用越强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7E5"/>
                </a:solidFill>
                <a:latin typeface="Consolas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核心能力 ①  知识库智能检索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上传任意数据，引擎自动构建知识图谱与向量索引，自然语言提问即可获得精准答案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697480" cy="54864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微软雅黑"/>
              </a:defRPr>
            </a:pPr>
            <a:r>
              <a:t>50+ 格式支持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PDF / Word / Excel / Markdown</a:t>
            </a:r>
            <a:br/>
            <a:r>
              <a:t>网页 / 代码等 50+ 格式自动解析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10312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103120"/>
            <a:ext cx="26974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EB"/>
                </a:solidFill>
                <a:latin typeface="微软雅黑"/>
              </a:defRPr>
            </a:pPr>
            <a:r>
              <a:t>GraphRAG 关联推理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697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沿实体关系跨文档推理</a:t>
            </a:r>
            <a:br/>
            <a:r>
              <a:t>突破传统 RAG 片段化局限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10312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2103120"/>
            <a:ext cx="2697480" cy="54864"/>
          </a:xfrm>
          <a:prstGeom prst="rect">
            <a:avLst/>
          </a:prstGeom>
          <a:solidFill>
            <a:srgbClr val="8B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39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7E5"/>
                </a:solidFill>
                <a:latin typeface="微软雅黑"/>
              </a:defRPr>
            </a:pPr>
            <a:r>
              <a:t>引用溯源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2697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每条答案标注来源段落</a:t>
            </a:r>
            <a:br/>
            <a:r>
              <a:t>可一键跳转原文核对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210312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19" y="2103120"/>
            <a:ext cx="2697480" cy="54864"/>
          </a:xfrm>
          <a:prstGeom prst="rect">
            <a:avLst/>
          </a:prstGeom>
          <a:solidFill>
            <a:srgbClr val="9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599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6A00"/>
                </a:solidFill>
                <a:latin typeface="微软雅黑"/>
              </a:defRPr>
            </a:pPr>
            <a:r>
              <a:t>多轮对话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2697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支持上下文记忆</a:t>
            </a:r>
            <a:br/>
            <a:r>
              <a:t>进行连贯的多轮问答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检索流程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46320"/>
            <a:ext cx="1600200" cy="5029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194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上传文档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148840" y="4983480"/>
            <a:ext cx="274320" cy="2286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23160" y="4846320"/>
            <a:ext cx="1600200" cy="5029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9B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60" y="49194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自动解析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023360" y="4983480"/>
            <a:ext cx="274320" cy="2286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97679" y="4846320"/>
            <a:ext cx="1600200" cy="5029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79" y="49194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构建图谱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897879" y="4983480"/>
            <a:ext cx="274320" cy="2286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72199" y="4846320"/>
            <a:ext cx="1600200" cy="5029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199" y="49194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向量化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772399" y="4983480"/>
            <a:ext cx="274320" cy="2286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46719" y="4846320"/>
            <a:ext cx="1600200" cy="5029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49194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GraphRAG推理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646919" y="4983480"/>
            <a:ext cx="274320" cy="22860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921240" y="4846320"/>
            <a:ext cx="1600200" cy="5029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8B5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21240" y="491947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精准答案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7E5"/>
                </a:solidFill>
                <a:latin typeface="Consolas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核心能力 ②  大模型训练数据生成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基于知识图谱自定义难度与数量，自动产出高质量后训练数据，直接用于 SFT / RLHF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73152" cy="82296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QA 单/多对话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8636"/>
                </a:solidFill>
                <a:latin typeface="微软雅黑"/>
              </a:defRPr>
            </a:pPr>
            <a:r>
              <a:t>Alpaca · ShareGPT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微软雅黑"/>
              </a:defRPr>
            </a:pPr>
            <a:r>
              <a:t>指令微调 (SFT)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→  直接用于后训练阶段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7180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73152" cy="8229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思维链 CoT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6FEB"/>
                </a:solidFill>
                <a:latin typeface="微软雅黑"/>
              </a:defRPr>
            </a:pPr>
            <a:r>
              <a:t>JSONL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微软雅黑"/>
              </a:defRPr>
            </a:pPr>
            <a:r>
              <a:t>复杂问题解决能力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→  直接用于后训练阶段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3192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31920"/>
            <a:ext cx="73152" cy="822960"/>
          </a:xfrm>
          <a:prstGeom prst="rect">
            <a:avLst/>
          </a:prstGeom>
          <a:solidFill>
            <a:srgbClr val="8B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偏好对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7E5"/>
                </a:solidFill>
                <a:latin typeface="微软雅黑"/>
              </a:defRPr>
            </a:pPr>
            <a:r>
              <a:t>JSONL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微软雅黑"/>
              </a:defRPr>
            </a:pPr>
            <a:r>
              <a:t>RLHF / DPO 对齐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→  直接用于后训练阶段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9204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892040"/>
            <a:ext cx="73152" cy="822960"/>
          </a:xfrm>
          <a:prstGeom prst="rect">
            <a:avLst/>
          </a:prstGeom>
          <a:solidFill>
            <a:srgbClr val="9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Agent 训练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6A00"/>
                </a:solidFill>
                <a:latin typeface="微软雅黑"/>
              </a:defRPr>
            </a:pPr>
            <a:r>
              <a:t>JSONL · ADP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微软雅黑"/>
              </a:defRPr>
            </a:pPr>
            <a:r>
              <a:t>Agent 智能体能力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→  直接用于后训练阶段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7E5"/>
                </a:solidFill>
                <a:latin typeface="Consolas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核心能力 ③  RAG + GraphRAG 双引擎协同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系统核心创新点：双引擎协同工作机制，兼顾精准召回与关联推理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029200" cy="2286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254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8636"/>
                </a:solidFill>
                <a:latin typeface="微软雅黑"/>
              </a:defRPr>
            </a:pPr>
            <a:r>
              <a:t>向量检索 RAG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E6EDF3"/>
                </a:solidFill>
                <a:latin typeface="微软雅黑"/>
              </a:defRPr>
            </a:pPr>
            <a:r>
              <a:t>文档分块后进行语义嵌入</a:t>
            </a:r>
          </a:p>
          <a:p>
            <a:pPr>
              <a:spcAft>
                <a:spcPts val="650"/>
              </a:spcAft>
              <a:defRPr sz="1300">
                <a:solidFill>
                  <a:srgbClr val="E6EDF3"/>
                </a:solidFill>
                <a:latin typeface="微软雅黑"/>
              </a:defRPr>
            </a:pPr>
            <a:r>
              <a:t>通过向量相似度实现 Top-K 召回</a:t>
            </a:r>
          </a:p>
          <a:p>
            <a:pPr>
              <a:spcAft>
                <a:spcPts val="650"/>
              </a:spcAft>
              <a:defRPr sz="1300">
                <a:solidFill>
                  <a:srgbClr val="E6EDF3"/>
                </a:solidFill>
                <a:latin typeface="微软雅黑"/>
              </a:defRPr>
            </a:pPr>
            <a:r>
              <a:t>擅长精确匹配与语义检索</a:t>
            </a:r>
          </a:p>
          <a:p>
            <a:pPr>
              <a:spcAft>
                <a:spcPts val="650"/>
              </a:spcAft>
              <a:defRPr sz="1300">
                <a:solidFill>
                  <a:srgbClr val="E6EDF3"/>
                </a:solidFill>
                <a:latin typeface="微软雅黑"/>
              </a:defRPr>
            </a:pPr>
            <a:r>
              <a:t>负责广覆盖召回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103120"/>
            <a:ext cx="5029200" cy="2286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25400">
            <a:solidFill>
              <a:srgbClr val="8B5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7E5"/>
                </a:solidFill>
                <a:latin typeface="微软雅黑"/>
              </a:defRPr>
            </a:pPr>
            <a:r>
              <a:t>GraphRAG 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6974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E6EDF3"/>
                </a:solidFill>
                <a:latin typeface="微软雅黑"/>
              </a:defRPr>
            </a:pPr>
            <a:r>
              <a:t>从文档中抽取实体与关系</a:t>
            </a:r>
          </a:p>
          <a:p>
            <a:pPr>
              <a:spcAft>
                <a:spcPts val="650"/>
              </a:spcAft>
              <a:defRPr sz="1300">
                <a:solidFill>
                  <a:srgbClr val="E6EDF3"/>
                </a:solidFill>
                <a:latin typeface="微软雅黑"/>
              </a:defRPr>
            </a:pPr>
            <a:r>
              <a:t>构建知识图谱</a:t>
            </a:r>
          </a:p>
          <a:p>
            <a:pPr>
              <a:spcAft>
                <a:spcPts val="650"/>
              </a:spcAft>
              <a:defRPr sz="1300">
                <a:solidFill>
                  <a:srgbClr val="E6EDF3"/>
                </a:solidFill>
                <a:latin typeface="微软雅黑"/>
              </a:defRPr>
            </a:pPr>
            <a:r>
              <a:t>沿实体关系跨文档关联推理</a:t>
            </a:r>
          </a:p>
          <a:p>
            <a:pPr>
              <a:spcAft>
                <a:spcPts val="650"/>
              </a:spcAft>
              <a:defRPr sz="1300">
                <a:solidFill>
                  <a:srgbClr val="E6EDF3"/>
                </a:solidFill>
                <a:latin typeface="微软雅黑"/>
              </a:defRPr>
            </a:pPr>
            <a:r>
              <a:t>擅长回答复杂关联问题</a:t>
            </a:r>
          </a:p>
        </p:txBody>
      </p:sp>
      <p:sp>
        <p:nvSpPr>
          <p:cNvPr id="13" name="Left-Right Arrow 12"/>
          <p:cNvSpPr/>
          <p:nvPr/>
        </p:nvSpPr>
        <p:spPr>
          <a:xfrm>
            <a:off x="5669280" y="2926080"/>
            <a:ext cx="822960" cy="457200"/>
          </a:xfrm>
          <a:prstGeom prst="left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383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微软雅黑"/>
              </a:defRPr>
            </a:pPr>
            <a:r>
              <a:t>协同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11064240" cy="1645920"/>
          </a:xfrm>
          <a:prstGeom prst="roundRect">
            <a:avLst>
              <a:gd name="adj" fmla="val 6000"/>
            </a:avLst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微软雅黑"/>
              </a:defRPr>
            </a:pPr>
            <a:r>
              <a:t>协同机制与附加能力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206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协同：RAG 广覆盖召回 + GraphRAG 深度推理 → 社区聚类 + 重排序融合输出</a:t>
            </a:r>
          </a:p>
          <a:p>
            <a:pPr>
              <a:spcAft>
                <a:spcPts val="720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自动化流水线：六阶段全自动流转，无需人工干预</a:t>
            </a:r>
          </a:p>
          <a:p>
            <a:pPr>
              <a:spcAft>
                <a:spcPts val="720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引用溯源：检索答案与训练样本均标注来源，可验证、可审计</a:t>
            </a:r>
          </a:p>
          <a:p>
            <a:pPr>
              <a:spcAft>
                <a:spcPts val="720"/>
              </a:spcAft>
              <a:defRPr sz="1200">
                <a:solidFill>
                  <a:srgbClr val="E6EDF3"/>
                </a:solidFill>
                <a:latin typeface="微软雅黑"/>
              </a:defRPr>
            </a:pPr>
            <a:r>
              <a:t>双轨产品：企业服务 + 官方数据集，能力同源、数据互通、双向反哺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A3633"/>
                </a:solidFill>
                <a:latin typeface="Consolas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模型介绍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系统涉及三类核心模型，均可在 AMD Radeon GPU 上通过 ROCm 进行本地部署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73152" cy="868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大语言模型 (LLM)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95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EB"/>
                </a:solidFill>
                <a:latin typeface="Consolas"/>
              </a:defRPr>
            </a:pPr>
            <a:r>
              <a:t>Qwen3.6-35B-A3B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规格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MoE 架构 · 35B 总参数 / 3B 激活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用途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知识问答、训练数据生成、思维链推理、Agent 任务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17520"/>
            <a:ext cx="73152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备选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01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Consolas"/>
              </a:defRPr>
            </a:pPr>
            <a:r>
              <a:t>DeepSeek-V4-Flash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规格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轻量级推理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用途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开发调试与快速验证的备选方案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2336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023360"/>
            <a:ext cx="73152" cy="86868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嵌入模型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407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Consolas"/>
              </a:defRPr>
            </a:pPr>
            <a:r>
              <a:t>BGE-M3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规格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568M · 多语言 · 1024 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用途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多语言语义嵌入，向量检索与召回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029200"/>
            <a:ext cx="73152" cy="868680"/>
          </a:xfrm>
          <a:prstGeom prst="rect">
            <a:avLst/>
          </a:prstGeom>
          <a:solidFill>
            <a:srgbClr val="8B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重排序模型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4132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7E5"/>
                </a:solidFill>
                <a:latin typeface="Consolas"/>
              </a:defRPr>
            </a:pPr>
            <a:r>
              <a:t>BGE-Reranker-v2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规格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560M · Cross-Encoder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用途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检索结果精排，提升召回精度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0A1A2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8A6FF"/>
                </a:solidFill>
                <a:latin typeface="微软雅黑"/>
              </a:defRPr>
            </a:pPr>
            <a:r>
              <a:t>✦ Qwen3.6-35B-A3B 采用 MoE 架构，每次推理仅激活 3B 参数，非常适合单卡 AMD Radeon GPU 部署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A3633"/>
                </a:solidFill>
                <a:latin typeface="Consolas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本地部署方案 · Radeon Cloud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基于 AMD Radeon Cloud 平台与 ROCm 生态，六步完成本地部署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737360" cy="20116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6FEB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登录 Radeon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邮箱登录</a:t>
            </a:r>
            <a:br/>
            <a:r>
              <a:t>进入 Profile 页面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67712" y="2834640"/>
            <a:ext cx="155448" cy="228600"/>
          </a:xfrm>
          <a:prstGeom prst="right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3160" y="2011680"/>
            <a:ext cx="1737360" cy="20116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38636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606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创建模板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1089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选择 ROCm 容器镜像</a:t>
            </a:r>
            <a:br/>
            <a:r>
              <a:t>设置 Persistent 存储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42232" y="2834640"/>
            <a:ext cx="155448" cy="228600"/>
          </a:xfrm>
          <a:prstGeom prst="right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2011680"/>
            <a:ext cx="1737360" cy="20116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9B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B6A00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606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部署 LLM 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1089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Deploy Type = vLLM</a:t>
            </a:r>
            <a:br/>
            <a:r>
              <a:t>编写 Serve Command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16752" y="2834640"/>
            <a:ext cx="155448" cy="228600"/>
          </a:xfrm>
          <a:prstGeom prst="right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2011680"/>
            <a:ext cx="1737360" cy="20116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8B5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7E5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606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启动实例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1089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点击 Launch</a:t>
            </a:r>
            <a:br/>
            <a:r>
              <a:t>等待实例就绪 (100%)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91272" y="2834640"/>
            <a:ext cx="155448" cy="228600"/>
          </a:xfrm>
          <a:prstGeom prst="right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0" y="2011680"/>
            <a:ext cx="1737360" cy="20116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A3633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606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访问与集成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1089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JupyterLab / SSH</a:t>
            </a:r>
            <a:br/>
            <a:r>
              <a:t>OpenAI 兼容 API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765792" y="2834640"/>
            <a:ext cx="155448" cy="228600"/>
          </a:xfrm>
          <a:prstGeom prst="right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21240" y="2011680"/>
            <a:ext cx="1737360" cy="20116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8A6F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606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销毁实例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1089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使用完毕后</a:t>
            </a:r>
            <a:br/>
            <a:r>
              <a:t>Destroy Instance 释放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vLLM 服务启动命令示例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66344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1A23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8636"/>
                </a:solidFill>
                <a:latin typeface="Consolas"/>
              </a:defRPr>
            </a:pPr>
            <a:r>
              <a:t>vllm serve Qwen3.6-35B-A3B \</a:t>
            </a:r>
            <a:br/>
            <a:r>
              <a:t>  --host 0.0.0.0 --port 8000 \</a:t>
            </a:r>
            <a:br/>
            <a:r>
              <a:t>  --tensor-parallel-size 1  --max-model-len 32768  --trust-remote-code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6A00"/>
                </a:solidFill>
                <a:latin typeface="微软雅黑"/>
              </a:defRPr>
            </a:pPr>
            <a:r>
              <a:t>⚠ 必须保持 --host 0.0.0.0 --port 8000，平台会将端点路由到 8000 端口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onsolas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AMD Radeon GPU 优化 ①  ROCm 平台加速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ROCm（Radeon Open Compute）是 AMD 开源 GPU 计算平台，为 DataForge 提供底层加速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697480" cy="2560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6974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EB"/>
                </a:solidFill>
                <a:latin typeface="微软雅黑"/>
              </a:defRPr>
            </a:pPr>
            <a:r>
              <a:t>HIP 后端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将 CUDA 代码无缝迁移至 AMD GPU</a:t>
            </a:r>
            <a:br/>
            <a:r>
              <a:t>PyTorch ROCm Wheels 内置 HIP 支持</a:t>
            </a:r>
            <a:br/>
            <a:r>
              <a:t>无需修改模型代码即可运行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103120"/>
            <a:ext cx="2697480" cy="2560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103120"/>
            <a:ext cx="2697480" cy="54864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2402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8636"/>
                </a:solidFill>
                <a:latin typeface="微软雅黑"/>
              </a:defRPr>
            </a:pPr>
            <a:r>
              <a:t>ROCm 6.x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260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支持 MI300X / MI250X 加速器</a:t>
            </a:r>
            <a:br/>
            <a:r>
              <a:t>HBM 高带宽内存访问</a:t>
            </a:r>
            <a:br/>
            <a:r>
              <a:t>MI300X 达 5.3 TB/s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103120"/>
            <a:ext cx="2697480" cy="2560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2103120"/>
            <a:ext cx="2697480" cy="54864"/>
          </a:xfrm>
          <a:prstGeom prst="rect">
            <a:avLst/>
          </a:prstGeom>
          <a:solidFill>
            <a:srgbClr val="8B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39" y="22402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7E5"/>
                </a:solidFill>
                <a:latin typeface="微软雅黑"/>
              </a:defRPr>
            </a:pPr>
            <a:r>
              <a:t>Flash Attention</a:t>
            </a:r>
            <a:br/>
            <a:r>
              <a:t>for ROCm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29260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针对 AMD GPU 优化的注意力内核</a:t>
            </a:r>
            <a:br/>
            <a:r>
              <a:t>显著降低内存占用</a:t>
            </a:r>
            <a:br/>
            <a:r>
              <a:t>显著降低计算延迟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2103120"/>
            <a:ext cx="2697480" cy="2560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19" y="2103120"/>
            <a:ext cx="2697480" cy="54864"/>
          </a:xfrm>
          <a:prstGeom prst="rect">
            <a:avLst/>
          </a:prstGeom>
          <a:solidFill>
            <a:srgbClr val="9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599" y="22402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6A00"/>
                </a:solidFill>
                <a:latin typeface="微软雅黑"/>
              </a:defRPr>
            </a:pPr>
            <a:r>
              <a:t>预装容器镜像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29260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Radeon Cloud 提供预配置</a:t>
            </a:r>
            <a:br/>
            <a:r>
              <a:t>ROCm 环境的容器镜像</a:t>
            </a:r>
            <a:br/>
            <a:r>
              <a:t>免去环境搭建开销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937760"/>
            <a:ext cx="2926080" cy="1097280"/>
          </a:xfrm>
          <a:prstGeom prst="roundRect">
            <a:avLst>
              <a:gd name="adj" fmla="val 6000"/>
            </a:avLst>
          </a:prstGeom>
          <a:solidFill>
            <a:srgbClr val="0A1A2F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5029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8636"/>
                </a:solidFill>
                <a:latin typeface="Consolas"/>
              </a:defRPr>
            </a:pPr>
            <a:r>
              <a:t>5.3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120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TB/s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623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HBM 带宽 (MI300X)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4937760"/>
            <a:ext cx="2926080" cy="1097280"/>
          </a:xfrm>
          <a:prstGeom prst="roundRect">
            <a:avLst>
              <a:gd name="adj" fmla="val 6000"/>
            </a:avLst>
          </a:prstGeom>
          <a:solidFill>
            <a:srgbClr val="0A1A2F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5029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6FEB"/>
                </a:solidFill>
                <a:latin typeface="Consolas"/>
              </a:defRPr>
            </a:pPr>
            <a:r>
              <a:t>50%+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120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623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注意力计算延迟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4937760"/>
            <a:ext cx="2926080" cy="1097280"/>
          </a:xfrm>
          <a:prstGeom prst="roundRect">
            <a:avLst>
              <a:gd name="adj" fmla="val 6000"/>
            </a:avLst>
          </a:prstGeom>
          <a:solidFill>
            <a:srgbClr val="0A1A2F"/>
          </a:solidFill>
          <a:ln w="19050">
            <a:solidFill>
              <a:srgbClr val="8B5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5029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B57E5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5120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修改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623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微软雅黑"/>
              </a:defRPr>
            </a:pPr>
            <a:r>
              <a:t>CUDA 代码迁移量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onsolas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AMD Radeon GPU 优化 ②  vLLM 推理框架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vLLM 是 Radeon Cloud 唯一推荐的推理框架，针对 AMD GPU 进行了深度优化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73152" cy="914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EB"/>
                </a:solidFill>
                <a:latin typeface="Consolas"/>
              </a:defRPr>
            </a:pPr>
            <a:r>
              <a:t>PagedAttention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KV Cache 按页分配，非连续存储</a:t>
            </a:r>
            <a:br/>
            <a:r>
              <a:t>解决传统 KV Cache 内存碎片问题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微软雅黑"/>
              </a:defRPr>
            </a:pPr>
            <a:r>
              <a:t>效果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  <a:latin typeface="微软雅黑"/>
              </a:defRPr>
            </a:pPr>
            <a:r>
              <a:t>KV Cache 内存利用率提升 60%+</a:t>
            </a:r>
            <a:br/>
            <a:r>
              <a:t>支持更大 batch size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632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63240"/>
            <a:ext cx="73152" cy="9144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8636"/>
                </a:solidFill>
                <a:latin typeface="Consolas"/>
              </a:defRPr>
            </a:pPr>
            <a:r>
              <a:t>Continuous Batching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动态组装 batch，请求完成即释放</a:t>
            </a:r>
            <a:br/>
            <a:r>
              <a:t>填入新请求，无需等待同批完成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微软雅黑"/>
              </a:defRPr>
            </a:pPr>
            <a:r>
              <a:t>效果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29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  <a:latin typeface="微软雅黑"/>
              </a:defRPr>
            </a:pPr>
            <a:r>
              <a:t>吞吐量提升 2-4 倍</a:t>
            </a:r>
            <a:br/>
            <a:r>
              <a:t>显著降低排队延迟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73152" cy="914400"/>
          </a:xfrm>
          <a:prstGeom prst="rect">
            <a:avLst/>
          </a:prstGeom>
          <a:solidFill>
            <a:srgbClr val="8B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51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7E5"/>
                </a:solidFill>
                <a:latin typeface="Consolas"/>
              </a:defRPr>
            </a:pPr>
            <a:r>
              <a:t>Prefix Caching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缓存相同前缀 prompt 的 KV Cache</a:t>
            </a:r>
            <a:br/>
            <a:r>
              <a:t>重复前缀直接复用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51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微软雅黑"/>
              </a:defRPr>
            </a:pPr>
            <a:r>
              <a:t>效果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80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  <a:latin typeface="微软雅黑"/>
              </a:defRPr>
            </a:pPr>
            <a:r>
              <a:t>多轮对话场景</a:t>
            </a:r>
            <a:br/>
            <a:r>
              <a:t>首 token 延迟降低 50%+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73152" cy="914400"/>
          </a:xfrm>
          <a:prstGeom prst="rect">
            <a:avLst/>
          </a:prstGeom>
          <a:solidFill>
            <a:srgbClr val="9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03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6A00"/>
                </a:solidFill>
                <a:latin typeface="Consolas"/>
              </a:defRPr>
            </a:pPr>
            <a:r>
              <a:t>Tensor Parallelism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623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模型权重切分到多张 GPU</a:t>
            </a:r>
            <a:br/>
            <a:r>
              <a:t>并行计算，支持多卡协同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微软雅黑"/>
              </a:defRPr>
            </a:pPr>
            <a:r>
              <a:t>效果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532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  <a:latin typeface="微软雅黑"/>
              </a:defRPr>
            </a:pPr>
            <a:r>
              <a:t>支持超大规模模型</a:t>
            </a:r>
            <a:br/>
            <a:r>
              <a:t>线性扩展吞吐量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onsolas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AMD Radeon GPU 优化 ③  MoE 模型 + 量化加速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MoE 模型推理优化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03520" cy="4114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EB"/>
                </a:solidFill>
                <a:latin typeface="Consolas"/>
              </a:defRPr>
            </a:pPr>
            <a:r>
              <a:t>Qwen3.6-35B-A3B (MoE)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8636"/>
                </a:solidFill>
                <a:latin typeface="微软雅黑"/>
              </a:defRPr>
            </a:pPr>
            <a:r>
              <a:t>• 稀疏激活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总参数 35B，每次推理仅激活 3B（8.6%）</a:t>
            </a:r>
            <a:br/>
            <a:r>
              <a:t>实际计算量接近 3B 稠密模型</a:t>
            </a:r>
            <a:br/>
            <a:r>
              <a:t>单卡即可高效运行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8636"/>
                </a:solidFill>
                <a:latin typeface="微软雅黑"/>
              </a:defRPr>
            </a:pPr>
            <a:r>
              <a:t>• Expert 并行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vLLM 支持 MoE Expert 并行调度</a:t>
            </a:r>
            <a:br/>
            <a:r>
              <a:t>不同 Expert 分布到不同计算单元</a:t>
            </a:r>
            <a:br/>
            <a:r>
              <a:t>提升 GPU 利用率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8636"/>
                </a:solidFill>
                <a:latin typeface="微软雅黑"/>
              </a:defRPr>
            </a:pPr>
            <a:r>
              <a:t>• Router 缓存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对 MoE Router gating 结果缓存</a:t>
            </a:r>
            <a:br/>
            <a:r>
              <a:t>减少重复计算开销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量化与精度优化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8B5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6FEB"/>
                </a:solidFill>
                <a:latin typeface="微软雅黑"/>
              </a:defRPr>
            </a:pPr>
            <a:r>
              <a:t>• FP8 量化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317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FP16 → FP8，显存减半</a:t>
            </a:r>
            <a:br/>
            <a:r>
              <a:t>推理速度提升 30-50%</a:t>
            </a:r>
            <a:br/>
            <a:r>
              <a:t>ROCm 6.x 原生支持 FP8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8636"/>
                </a:solidFill>
                <a:latin typeface="微软雅黑"/>
              </a:defRPr>
            </a:pPr>
            <a:r>
              <a:t>• INT8 量化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适用于延迟极度敏感场景</a:t>
            </a:r>
            <a:br/>
            <a:r>
              <a:t>配合 ROCm 量化工具链</a:t>
            </a:r>
            <a:br/>
            <a:r>
              <a:t>近乎无损精度保持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7E5"/>
                </a:solidFill>
                <a:latin typeface="微软雅黑"/>
              </a:defRPr>
            </a:pPr>
            <a:r>
              <a:t>• KV Cache 量化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006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微软雅黑"/>
              </a:defRPr>
            </a:pPr>
            <a:r>
              <a:t>KV Cache FP16 → FP8/INT8</a:t>
            </a:r>
            <a:br/>
            <a:r>
              <a:t>长上下文场景显著降显存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onsolas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AMD Radeon GPU 优化 ④  RAG 检索链路优化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针对 RAG + GraphRAG 双引擎检索链路，进行端到端优化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697480" cy="54864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8636"/>
                </a:solidFill>
                <a:latin typeface="微软雅黑"/>
              </a:defRPr>
            </a:pPr>
            <a:r>
              <a:t>向量检索加速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微软雅黑"/>
              </a:defRPr>
            </a:pPr>
            <a:r>
              <a:t>BGE-M3 嵌入模型在 AMD GPU 上批量推理</a:t>
            </a:r>
            <a:br/>
            <a:r>
              <a:t>配合 FAISS-GPU / Milvus</a:t>
            </a:r>
            <a:br/>
            <a:r>
              <a:t>实现毫秒级 Top-K 召回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976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微软雅黑"/>
              </a:defRPr>
            </a:pPr>
            <a:r>
              <a:t>召回延迟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微软雅黑"/>
              </a:defRPr>
            </a:pPr>
            <a:r>
              <a:t>ms 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01168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2011680"/>
            <a:ext cx="269748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1488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6FEB"/>
                </a:solidFill>
                <a:latin typeface="微软雅黑"/>
              </a:defRPr>
            </a:pPr>
            <a:r>
              <a:t>GraphRAG 查询优化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微软雅黑"/>
              </a:defRPr>
            </a:pPr>
            <a:r>
              <a:t>知识图谱存储于图数据库 (Neo4j)</a:t>
            </a:r>
            <a:br/>
            <a:r>
              <a:t>通过索引优化与查询缓存</a:t>
            </a:r>
            <a:br/>
            <a:r>
              <a:t>加速实体关系遍历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2976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微软雅黑"/>
              </a:defRPr>
            </a:pPr>
            <a:r>
              <a:t>查询加速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6FEB"/>
                </a:solidFill>
                <a:latin typeface="微软雅黑"/>
              </a:defRPr>
            </a:pPr>
            <a:r>
              <a:t>索引 + 缓存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201168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2011680"/>
            <a:ext cx="2697480" cy="54864"/>
          </a:xfrm>
          <a:prstGeom prst="rect">
            <a:avLst/>
          </a:prstGeom>
          <a:solidFill>
            <a:srgbClr val="8B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19" y="21488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7E5"/>
                </a:solidFill>
                <a:latin typeface="微软雅黑"/>
              </a:defRPr>
            </a:pPr>
            <a:r>
              <a:t>重排序加速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19" y="28346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微软雅黑"/>
              </a:defRPr>
            </a:pPr>
            <a:r>
              <a:t>BGE-Reranker-v2 在 GPU 上</a:t>
            </a:r>
            <a:br/>
            <a:r>
              <a:t>批量 cross-encoder 计算</a:t>
            </a:r>
            <a:br/>
            <a:r>
              <a:t>对 Top-K 候选结果精排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19" y="42976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微软雅黑"/>
              </a:defRPr>
            </a:pPr>
            <a:r>
              <a:t>精排方式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19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7E5"/>
                </a:solidFill>
                <a:latin typeface="微软雅黑"/>
              </a:defRPr>
            </a:pPr>
            <a:r>
              <a:t>GPU 批量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19" y="201168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9719" y="2011680"/>
            <a:ext cx="2697480" cy="54864"/>
          </a:xfrm>
          <a:prstGeom prst="rect">
            <a:avLst/>
          </a:prstGeom>
          <a:solidFill>
            <a:srgbClr val="9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79" y="21488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6A00"/>
                </a:solidFill>
                <a:latin typeface="微软雅黑"/>
              </a:defRPr>
            </a:pPr>
            <a:r>
              <a:t>Pipeline 并行化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79" y="28346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微软雅黑"/>
              </a:defRPr>
            </a:pPr>
            <a:r>
              <a:t>文档解析 → 嵌入生成 → 图谱构建</a:t>
            </a:r>
            <a:br/>
            <a:r>
              <a:t>各阶段流水线并行</a:t>
            </a:r>
            <a:br/>
            <a:r>
              <a:t>充分利用 GPU 空闲时间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79" y="42976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微软雅黑"/>
              </a:defRPr>
            </a:pPr>
            <a:r>
              <a:t>GPU 利用率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79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6A00"/>
                </a:solidFill>
                <a:latin typeface="微软雅黑"/>
              </a:defRPr>
            </a:pPr>
            <a:r>
              <a:t>最大化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onsolas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性能优化总结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从硬件加速、推理引擎、模型优化、检索链路四个维度进行系统性优化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73152" cy="9601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微软雅黑"/>
              </a:defRPr>
            </a:pPr>
            <a:r>
              <a:t>硬件加速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onsolas"/>
              </a:defRPr>
            </a:pPr>
            <a:r>
              <a:t>ROCm 6.x · HIP · Flash 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微软雅黑"/>
              </a:defRPr>
            </a:pPr>
            <a:r>
              <a:t>预期收益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底层计算加速</a:t>
            </a:r>
            <a:br/>
            <a:r>
              <a:t>HBM 高带宽访问 (5.3 TB/s)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73152" cy="9601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EB"/>
                </a:solidFill>
                <a:latin typeface="微软雅黑"/>
              </a:defRPr>
            </a:pPr>
            <a:r>
              <a:t>推理引擎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onsolas"/>
              </a:defRPr>
            </a:pPr>
            <a:r>
              <a:t>vLLM PagedAttention</a:t>
            </a:r>
            <a:br/>
            <a:r>
              <a:t>Continuous Batching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微软雅黑"/>
              </a:defRPr>
            </a:pPr>
            <a:r>
              <a:t>预期收益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吞吐量 2-4 倍提升</a:t>
            </a:r>
            <a:br/>
            <a:r>
              <a:t>内存利用率 60%+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73152" cy="960120"/>
          </a:xfrm>
          <a:prstGeom prst="rect">
            <a:avLst/>
          </a:prstGeom>
          <a:solidFill>
            <a:srgbClr val="8B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7E5"/>
                </a:solidFill>
                <a:latin typeface="微软雅黑"/>
              </a:defRPr>
            </a:pPr>
            <a:r>
              <a:t>模型优化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onsolas"/>
              </a:defRPr>
            </a:pPr>
            <a:r>
              <a:t>MoE 稀疏激活</a:t>
            </a:r>
            <a:br/>
            <a:r>
              <a:t>FP8 / INT8 量化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微软雅黑"/>
              </a:defRPr>
            </a:pPr>
            <a:r>
              <a:t>预期收益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72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计算量降至 8.6%</a:t>
            </a:r>
            <a:br/>
            <a:r>
              <a:t>显存减半 · 速度提升 30-50%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0352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303520"/>
            <a:ext cx="73152" cy="960120"/>
          </a:xfrm>
          <a:prstGeom prst="rect">
            <a:avLst/>
          </a:prstGeom>
          <a:solidFill>
            <a:srgbClr val="9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6A00"/>
                </a:solidFill>
                <a:latin typeface="微软雅黑"/>
              </a:defRPr>
            </a:pPr>
            <a:r>
              <a:t>检索链路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onsolas"/>
              </a:defRPr>
            </a:pPr>
            <a:r>
              <a:t>GPU 批量嵌入</a:t>
            </a:r>
            <a:br/>
            <a:r>
              <a:t>图谱索引 · 流水线并行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440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微软雅黑"/>
              </a:defRPr>
            </a:pPr>
            <a:r>
              <a:t>预期收益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669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端到端检索延迟</a:t>
            </a:r>
            <a:br/>
            <a:r>
              <a:t>降低至毫秒级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00800"/>
            <a:ext cx="11064240" cy="91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8A6FF"/>
                </a:solidFill>
                <a:latin typeface="微软雅黑"/>
              </a:defRPr>
            </a:pPr>
            <a:r>
              <a:t>四大维度协同优化，实现 AMD Radeon GPU 上的高效推理与检索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微软雅黑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8B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F6FEB"/>
                </a:solidFill>
                <a:latin typeface="微软雅黑"/>
              </a:defRPr>
            </a:pPr>
            <a:r>
              <a:t>DataForge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6EDF3"/>
                </a:solidFill>
                <a:latin typeface="微软雅黑"/>
              </a:defRPr>
            </a:pPr>
            <a:r>
              <a:t>让任意数据，化作 AI 的燃料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微软雅黑"/>
              </a:defRPr>
            </a:pPr>
            <a:r>
              <a:t>Normal RAG + GraphRAG 双引擎  ·  Powered by AMD Radeon GPU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50292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51206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微软雅黑"/>
              </a:defRPr>
            </a:pPr>
            <a:r>
              <a:t>AMD Radeon Hackathon 2026  ·  Track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