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core promise: AI coordinates the workflow, but deterministic code owns every physical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failure mode, then the boundary and auditable result. Avoid claiming operational validation.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left-to-right. Emphasize localhost, permission gate, local RAG, deterministic transport and checksummed outputs.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official requirement is at least two of five; NuclidePath implements all five.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formulas and say validation means software/formula verification, not regulatory validation. The multicomponent K/Na/Ca/Mg bridge is opt-in and process-qualified only; the canonical Cs–K GCS path remains authoritative.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recent work as deterministic, tested and honestly scoped: the PHREEQC bridge is process-qualified, not calibrated chemistry. The canonical screening path is unchanged and authoritative.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Quote measured numbers only. The dated AMD v0.3 core-platform snapshot is verified; the equality check compares physical runs, not timestamped memory files.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live UI in the video. This slide is a fallback visual and repository preview.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that reported intervals are input-range propagation, not total predictive uncertainty.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current evidence: local, tested, reproducible and honest about scope. The 132.8× result is the measured device-resident FP64 primary-GCS to receptor pipeline versus the scalar reference, reproduced in the 5 August post-merge AMD rerun alongside the 388 passing tests (the 28 July core snapshot measured 137.09× on the same pipeline). This is a performance result, not environmental validation.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7548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FF6B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AMD AI DEVMASTER 2026 · TRACK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24128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NuclidePath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58368" y="1856232"/>
            <a:ext cx="4251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Private agents.</a:t>
            </a:r>
            <a:endParaRPr lang="en-US" sz="2900" dirty="0"/>
          </a:p>
          <a:p>
            <a:pPr algn="l" indent="0" marL="0">
              <a:buNone/>
            </a:pPr>
            <a:r>
              <a:rPr lang="en-US" sz="2900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Deterministic physics.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58368" y="3246120"/>
            <a:ext cx="42519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 local AI workflow for traceable Cs-137 groundwater screening — with cited evidence, uncertainty and zero LLM-generated physics.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58368" y="4434840"/>
            <a:ext cx="1353312" cy="292608"/>
          </a:xfrm>
          <a:prstGeom prst="roundRect">
            <a:avLst>
              <a:gd name="adj" fmla="val 25000"/>
            </a:avLst>
          </a:prstGeom>
          <a:solidFill>
            <a:srgbClr val="42BE65">
              <a:alpha val="22000"/>
            </a:srgbClr>
          </a:solidFill>
          <a:ln w="12700">
            <a:solidFill>
              <a:srgbClr val="42BE6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453128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2BE6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LOCAL ONLY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148840" y="4434840"/>
            <a:ext cx="1298448" cy="292608"/>
          </a:xfrm>
          <a:prstGeom prst="roundRect">
            <a:avLst>
              <a:gd name="adj" fmla="val 25000"/>
            </a:avLst>
          </a:prstGeom>
          <a:solidFill>
            <a:srgbClr val="FF6B00">
              <a:alpha val="22000"/>
            </a:srgbClr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21992" y="4453128"/>
            <a:ext cx="1152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AMD ROCm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58368" y="59893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PHYSICS-FIRST AI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" y="627278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Stefano Rigante · Nuclear engineer</a:t>
            </a:r>
            <a:endParaRPr lang="en-US" sz="1000" dirty="0"/>
          </a:p>
        </p:txBody>
      </p:sp>
      <p:pic>
        <p:nvPicPr>
          <p:cNvPr id="13" name="Image 0" descr="NuclidePath verified local dash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10912" y="566928"/>
            <a:ext cx="6720840" cy="420624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010912" y="4800600"/>
            <a:ext cx="6720840" cy="1161288"/>
          </a:xfrm>
          <a:prstGeom prst="rect">
            <a:avLst/>
          </a:prstGeom>
          <a:solidFill>
            <a:srgbClr val="15171A"/>
          </a:solidFill>
          <a:ln w="12700">
            <a:solidFill>
              <a:srgbClr val="363A4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276088" y="4992624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42BE6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5/5</a:t>
            </a:r>
            <a:endParaRPr lang="en-US" sz="3600" dirty="0"/>
          </a:p>
        </p:txBody>
      </p:sp>
      <p:sp>
        <p:nvSpPr>
          <p:cNvPr id="16" name="Text 13"/>
          <p:cNvSpPr/>
          <p:nvPr/>
        </p:nvSpPr>
        <p:spPr>
          <a:xfrm>
            <a:off x="5276088" y="565099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Track 2 capabilities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452360" y="4992624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78A9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231</a:t>
            </a:r>
            <a:endParaRPr lang="en-US" sz="3600" dirty="0"/>
          </a:p>
        </p:txBody>
      </p:sp>
      <p:sp>
        <p:nvSpPr>
          <p:cNvPr id="18" name="Text 15"/>
          <p:cNvSpPr/>
          <p:nvPr/>
        </p:nvSpPr>
        <p:spPr>
          <a:xfrm>
            <a:off x="7452360" y="565099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AMD core snapshot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9555480" y="4992624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6B0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377/15</a:t>
            </a:r>
            <a:endParaRPr lang="en-US" sz="3600" dirty="0"/>
          </a:p>
        </p:txBody>
      </p:sp>
      <p:sp>
        <p:nvSpPr>
          <p:cNvPr id="20" name="Text 17"/>
          <p:cNvSpPr/>
          <p:nvPr/>
        </p:nvSpPr>
        <p:spPr>
          <a:xfrm>
            <a:off x="9555480" y="565099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latest CI gate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80" kern="0" dirty="0">
                <a:solidFill>
                  <a:srgbClr val="FF6B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THE TRUST GAP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Technical AI fails when language becomes calculation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114300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NuclidePath makes the responsibility boundary explicit and testable.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3310128" cy="3429000"/>
          </a:xfrm>
          <a:prstGeom prst="rect">
            <a:avLst/>
          </a:prstGeom>
          <a:solidFill>
            <a:srgbClr val="15171A"/>
          </a:solidFill>
          <a:ln w="12700">
            <a:solidFill>
              <a:srgbClr val="363A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783080"/>
            <a:ext cx="73152" cy="3429000"/>
          </a:xfrm>
          <a:prstGeom prst="rect">
            <a:avLst/>
          </a:prstGeom>
          <a:solidFill>
            <a:srgbClr val="FA4D56"/>
          </a:solidFill>
          <a:ln w="12700">
            <a:solidFill>
              <a:srgbClr val="FA4D5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3816" y="1947672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01 · The failure mode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3816" y="2286000"/>
            <a:ext cx="2962656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 general-purpose LLM can invent parameters, equations, units or reassuring conclusions — all unacceptable in emergency-analysis workflows.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34840" y="1783080"/>
            <a:ext cx="3310128" cy="3429000"/>
          </a:xfrm>
          <a:prstGeom prst="rect">
            <a:avLst/>
          </a:prstGeom>
          <a:solidFill>
            <a:srgbClr val="15171A"/>
          </a:solidFill>
          <a:ln w="12700">
            <a:solidFill>
              <a:srgbClr val="363A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783080"/>
            <a:ext cx="73152" cy="342900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54296" y="1947672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02 · The boundary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54296" y="2286000"/>
            <a:ext cx="2962656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The model returns only a six-step allow-listed plan. Strict schemas feed deterministic physics, retrieval and uncertainty tools.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75320" y="1783080"/>
            <a:ext cx="3310128" cy="3429000"/>
          </a:xfrm>
          <a:prstGeom prst="rect">
            <a:avLst/>
          </a:prstGeom>
          <a:solidFill>
            <a:srgbClr val="15171A"/>
          </a:solidFill>
          <a:ln w="12700">
            <a:solidFill>
              <a:srgbClr val="363A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75320" y="1783080"/>
            <a:ext cx="73152" cy="3429000"/>
          </a:xfrm>
          <a:prstGeom prst="rect">
            <a:avLst/>
          </a:prstGeom>
          <a:solidFill>
            <a:srgbClr val="42BE65"/>
          </a:solidFill>
          <a:ln w="12700">
            <a:solidFill>
              <a:srgbClr val="42BE6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94776" y="1947672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03 · The outcome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94776" y="2286000"/>
            <a:ext cx="2962656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Every value is versioned, reproducible and tied to inputs, assumptions, sources, warnings and SHA-256 artifacts.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508760" y="550468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4D5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PLAN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2487168" y="5669280"/>
            <a:ext cx="2286000" cy="0"/>
          </a:xfrm>
          <a:prstGeom prst="line">
            <a:avLst/>
          </a:prstGeom>
          <a:noFill/>
          <a:ln w="25400">
            <a:solidFill>
              <a:srgbClr val="A7ADB5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4828032" y="5504688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0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TOOLS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989320" y="5669280"/>
            <a:ext cx="2286000" cy="0"/>
          </a:xfrm>
          <a:prstGeom prst="line">
            <a:avLst/>
          </a:prstGeom>
          <a:noFill/>
          <a:ln w="25400">
            <a:solidFill>
              <a:srgbClr val="A7ADB5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8385048" y="550468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2BE6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EVIDENCE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66928" y="6547104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PHYSICS-FIRST AI  ·  AMD AI DEVMASTER 2026  ·  TRACK 2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119104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F6B0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80" kern="0" dirty="0">
                <a:solidFill>
                  <a:srgbClr val="FF6B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SYSTEM DESIGN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 private workflow with an immutable physics boundary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114300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The AMD-local model plans. Five deterministic subsystems execute and report.</a:t>
            </a:r>
            <a:endParaRPr lang="en-US" sz="1300" dirty="0"/>
          </a:p>
        </p:txBody>
      </p:sp>
      <p:pic>
        <p:nvPicPr>
          <p:cNvPr id="5" name="Image 0" descr="NuclidePath architecture diagram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8368" y="1499616"/>
            <a:ext cx="10881360" cy="45537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6547104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PHYSICS-FIRST AI  ·  AMD AI DEVMASTER 2026  ·  TRACK 2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119104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F6B0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80" kern="0" dirty="0">
                <a:solidFill>
                  <a:srgbClr val="FF6B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TRACK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All five private-agent capabilities are implemented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114300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Each capability is exercised in the same end-to-end run and covered by tests.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03504" y="1691640"/>
            <a:ext cx="3401568" cy="1627632"/>
          </a:xfrm>
          <a:prstGeom prst="rect">
            <a:avLst/>
          </a:prstGeom>
          <a:solidFill>
            <a:srgbClr val="15171A"/>
          </a:solidFill>
          <a:ln w="12700">
            <a:solidFill>
              <a:srgbClr val="363A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82880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E95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53312" y="181051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Local retrieval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86384" y="2313432"/>
            <a:ext cx="29809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Ranked excerpts, local paths, source URLs and transparent scores.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86384" y="2971800"/>
            <a:ext cx="841248" cy="292608"/>
          </a:xfrm>
          <a:prstGeom prst="roundRect">
            <a:avLst>
              <a:gd name="adj" fmla="val 25000"/>
            </a:avLst>
          </a:prstGeom>
          <a:solidFill>
            <a:srgbClr val="BE95FF">
              <a:alpha val="22000"/>
            </a:srgbClr>
          </a:solidFill>
          <a:ln w="12700">
            <a:solidFill>
              <a:srgbClr val="BE95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2990088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E95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VERIFIED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425696" y="1691640"/>
            <a:ext cx="3401568" cy="1627632"/>
          </a:xfrm>
          <a:prstGeom prst="rect">
            <a:avLst/>
          </a:prstGeom>
          <a:solidFill>
            <a:srgbClr val="15171A"/>
          </a:solidFill>
          <a:ln w="12700">
            <a:solidFill>
              <a:srgbClr val="363A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08576" y="182880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6B0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75504" y="181051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Tool invocation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08576" y="2313432"/>
            <a:ext cx="29809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Environment Agent calls a strict, versioned JSON physics contract.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08576" y="2971800"/>
            <a:ext cx="841248" cy="292608"/>
          </a:xfrm>
          <a:prstGeom prst="roundRect">
            <a:avLst>
              <a:gd name="adj" fmla="val 25000"/>
            </a:avLst>
          </a:prstGeom>
          <a:solidFill>
            <a:srgbClr val="FF6B00">
              <a:alpha val="22000"/>
            </a:srgbClr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81728" y="2990088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VERIFIED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247888" y="1691640"/>
            <a:ext cx="3401568" cy="1627632"/>
          </a:xfrm>
          <a:prstGeom prst="rect">
            <a:avLst/>
          </a:prstGeom>
          <a:solidFill>
            <a:srgbClr val="15171A"/>
          </a:solidFill>
          <a:ln w="12700">
            <a:solidFill>
              <a:srgbClr val="363A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30768" y="182880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8A9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997696" y="181051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Multi-step planning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430768" y="2313432"/>
            <a:ext cx="29809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Deterministic fallback or Qwen3.5-9B returns six safe steps.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430768" y="2971800"/>
            <a:ext cx="841248" cy="292608"/>
          </a:xfrm>
          <a:prstGeom prst="roundRect">
            <a:avLst>
              <a:gd name="adj" fmla="val 25000"/>
            </a:avLst>
          </a:prstGeom>
          <a:solidFill>
            <a:srgbClr val="78A9FF">
              <a:alpha val="22000"/>
            </a:srgbClr>
          </a:solidFill>
          <a:ln w="12700">
            <a:solidFill>
              <a:srgbClr val="78A9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03920" y="2990088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8A9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VERIFIED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3504" y="3666744"/>
            <a:ext cx="3401568" cy="1627632"/>
          </a:xfrm>
          <a:prstGeom prst="rect">
            <a:avLst/>
          </a:prstGeom>
          <a:solidFill>
            <a:srgbClr val="15171A"/>
          </a:solidFill>
          <a:ln w="12700">
            <a:solidFill>
              <a:srgbClr val="363A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6384" y="3803904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2BE6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353312" y="378561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Multi-turn memory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86384" y="4288536"/>
            <a:ext cx="29809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Session JSONL stays local, mode 0600, with explicit deletion.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86384" y="4946904"/>
            <a:ext cx="841248" cy="292608"/>
          </a:xfrm>
          <a:prstGeom prst="roundRect">
            <a:avLst>
              <a:gd name="adj" fmla="val 25000"/>
            </a:avLst>
          </a:prstGeom>
          <a:solidFill>
            <a:srgbClr val="42BE65">
              <a:alpha val="22000"/>
            </a:srgbClr>
          </a:solidFill>
          <a:ln w="12700">
            <a:solidFill>
              <a:srgbClr val="42BE6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9536" y="4965192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2BE6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VERIFIED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425696" y="3666744"/>
            <a:ext cx="3401568" cy="1627632"/>
          </a:xfrm>
          <a:prstGeom prst="rect">
            <a:avLst/>
          </a:prstGeom>
          <a:solidFill>
            <a:srgbClr val="15171A"/>
          </a:solidFill>
          <a:ln w="12700">
            <a:solidFill>
              <a:srgbClr val="363A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08576" y="3803904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A4D5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175504" y="378561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Permissions + privacy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4608576" y="4288536"/>
            <a:ext cx="29809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Role allowlist, recursive redaction and denied operational actions.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608576" y="4946904"/>
            <a:ext cx="841248" cy="292608"/>
          </a:xfrm>
          <a:prstGeom prst="roundRect">
            <a:avLst>
              <a:gd name="adj" fmla="val 25000"/>
            </a:avLst>
          </a:prstGeom>
          <a:solidFill>
            <a:srgbClr val="FA4D56">
              <a:alpha val="22000"/>
            </a:srgbClr>
          </a:solidFill>
          <a:ln w="12700">
            <a:solidFill>
              <a:srgbClr val="FA4D5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81728" y="4965192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A4D56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VERIFIED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732520" y="385876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42BE6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5/5</a:t>
            </a:r>
            <a:endParaRPr lang="en-US" sz="3600" dirty="0"/>
          </a:p>
        </p:txBody>
      </p:sp>
      <p:sp>
        <p:nvSpPr>
          <p:cNvPr id="36" name="Text 34"/>
          <p:cNvSpPr/>
          <p:nvPr/>
        </p:nvSpPr>
        <p:spPr>
          <a:xfrm>
            <a:off x="8732520" y="451713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capability flags true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732520" y="486460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One workflow. One privacy boundary. No cloud dependency.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66928" y="6547104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PHYSICS-FIRST AI  ·  AMD AI DEVMASTER 2026  ·  TRACK 2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1119104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F6B0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80" kern="0" dirty="0">
                <a:solidFill>
                  <a:srgbClr val="FF6B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SCIENTIFIC CORE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The LLM never calculates transport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114300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Model 0.3 declares PDE, source and boundaries, then uses a verified analytical solution.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21792" y="1627632"/>
            <a:ext cx="5669280" cy="4315968"/>
          </a:xfrm>
          <a:prstGeom prst="rect">
            <a:avLst/>
          </a:prstGeom>
          <a:solidFill>
            <a:srgbClr val="0D1014"/>
          </a:solidFill>
          <a:ln w="12700">
            <a:solidFill>
              <a:srgbClr val="363A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920240"/>
            <a:ext cx="501091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F9B5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 ∂C/∂t = D ∂²C/∂x² − v ∂C/∂x − λRC</a:t>
            </a:r>
            <a:endParaRPr lang="en-US" sz="1700" dirty="0"/>
          </a:p>
          <a:p>
            <a:pPr algn="l" indent="0" marL="0">
              <a:buNone/>
            </a:pP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F9B5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C(x,0)=0 · C(0,t)=C₀ · C(∞,t)=0</a:t>
            </a:r>
            <a:endParaRPr lang="en-US" sz="1700" dirty="0"/>
          </a:p>
          <a:p>
            <a:pPr algn="l" indent="0" marL="0">
              <a:buNone/>
            </a:pP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F9B5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 = √(v² + 4λRD)</a:t>
            </a:r>
            <a:endParaRPr lang="en-US" sz="1700" dirty="0"/>
          </a:p>
          <a:p>
            <a:pPr algn="l" indent="0" marL="0">
              <a:buNone/>
            </a:pP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F9B5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C/C₀ = ½[exp((v−A)x/2D) erfc(z₋)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F9B5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    + exp((v+A)x/2D) erfc(z₊)]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60120" y="5413248"/>
            <a:ext cx="1965960" cy="292608"/>
          </a:xfrm>
          <a:prstGeom prst="roundRect">
            <a:avLst>
              <a:gd name="adj" fmla="val 25000"/>
            </a:avLst>
          </a:prstGeom>
          <a:solidFill>
            <a:srgbClr val="42BE65">
              <a:alpha val="22000"/>
            </a:srgbClr>
          </a:solidFill>
          <a:ln w="12700">
            <a:solidFill>
              <a:srgbClr val="42BE6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3272" y="5431536"/>
            <a:ext cx="1819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2BE6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REACTIVE OGATA–BANKS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39712" y="1764792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78A9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231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839712" y="242316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AMD core snapshot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89720" y="1764792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42BE6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9189720" y="242316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LLM physics values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39712" y="2907792"/>
            <a:ext cx="4736592" cy="1143000"/>
          </a:xfrm>
          <a:prstGeom prst="rect">
            <a:avLst/>
          </a:prstGeom>
          <a:solidFill>
            <a:srgbClr val="15171A"/>
          </a:solidFill>
          <a:ln w="12700">
            <a:solidFill>
              <a:srgbClr val="363A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39712" y="2907792"/>
            <a:ext cx="73152" cy="1143000"/>
          </a:xfrm>
          <a:prstGeom prst="rect">
            <a:avLst/>
          </a:prstGeom>
          <a:solidFill>
            <a:srgbClr val="78A9FF"/>
          </a:solidFill>
          <a:ln w="12700">
            <a:solidFill>
              <a:srgbClr val="78A9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59168" y="307238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Independent analytical cases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059168" y="341071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Ogata–Banks limit · source boundary · reactive steady state · finite rejection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839712" y="4279392"/>
            <a:ext cx="4736592" cy="1143000"/>
          </a:xfrm>
          <a:prstGeom prst="rect">
            <a:avLst/>
          </a:prstGeom>
          <a:solidFill>
            <a:srgbClr val="15171A"/>
          </a:solidFill>
          <a:ln w="12700">
            <a:solidFill>
              <a:srgbClr val="363A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39712" y="4279392"/>
            <a:ext cx="73152" cy="1143000"/>
          </a:xfrm>
          <a:prstGeom prst="rect">
            <a:avLst/>
          </a:prstGeom>
          <a:solidFill>
            <a:srgbClr val="F1C21B"/>
          </a:solidFill>
          <a:ln w="12700">
            <a:solidFill>
              <a:srgbClr val="F1C21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59168" y="444398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Explicit limitation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59168" y="478231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Constant-source 1-D screening — not a dose code, regulatory model or calibrated site prediction.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839712" y="5559552"/>
            <a:ext cx="4736592" cy="777240"/>
          </a:xfrm>
          <a:prstGeom prst="rect">
            <a:avLst/>
          </a:prstGeom>
          <a:solidFill>
            <a:srgbClr val="15171A"/>
          </a:solidFill>
          <a:ln w="12700">
            <a:solidFill>
              <a:srgbClr val="363A4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39712" y="5559552"/>
            <a:ext cx="73152" cy="777240"/>
          </a:xfrm>
          <a:prstGeom prst="rect">
            <a:avLst/>
          </a:prstGeom>
          <a:solidFill>
            <a:srgbClr val="BE95FF"/>
          </a:solidFill>
          <a:ln w="12700">
            <a:solidFill>
              <a:srgbClr val="BE95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59168" y="572414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Multicomponent bridge (opt-in)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059168" y="6062472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GCS K/Na competition + NH₄ on FES; extended K/Na/Ca/Mg path is process-qualified, not promoted.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66928" y="6547104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PHYSICS-FIRST AI  ·  AMD AI DEVMASTER 2026  ·  TRACK 2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119104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F6B0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80" kern="0" dirty="0">
                <a:solidFill>
                  <a:srgbClr val="FF6B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RECENT EXTENSIONS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Traceable post-merge science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114300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The latest work adds deterministic, auditable layers around the canonical screening path.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58368" y="166420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42BE6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388/2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58368" y="232257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AMD post-merge tests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75888" y="166420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78A9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4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675888" y="232257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ions · K/Na/Ca/Mg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93408" y="166420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6B0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2×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693408" y="232257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fixtures · brine/recharge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528048" y="166420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E95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9528048" y="232257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unqualified claims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" y="3017520"/>
            <a:ext cx="10972800" cy="2606040"/>
          </a:xfrm>
          <a:prstGeom prst="rect">
            <a:avLst/>
          </a:prstGeom>
          <a:solidFill>
            <a:srgbClr val="15171A"/>
          </a:solidFill>
          <a:ln w="12700">
            <a:solidFill>
              <a:srgbClr val="363A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246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PHREEQC bridge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29000" y="32461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Opt-in scenario compiler: declared water chemistry, CEC and Cs + K/Na/Ca/Mg into SOLUTION/EXCHANGE/TRANSPORT input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4400" y="38130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Arithmetic oracle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29000" y="381304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Independent machine-readable checks for units, grid mapping, non-negativity and exchange-site occupancy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14400" y="437997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Calibration gate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29000" y="4379976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Dependency-free traceable Cs calibration/hold-out contract with fail-closed promotion; no data bundled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14400" y="49469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Benchmark registry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29000" y="494690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Separate EPA/Fuller/Dubus external Cs registry with source digests and calibration_eligible: false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58368" y="5897880"/>
            <a:ext cx="3291840" cy="292608"/>
          </a:xfrm>
          <a:prstGeom prst="roundRect">
            <a:avLst>
              <a:gd name="adj" fmla="val 25000"/>
            </a:avLst>
          </a:prstGeom>
          <a:solidFill>
            <a:srgbClr val="F1C21B">
              <a:alpha val="22000"/>
            </a:srgbClr>
          </a:solidFill>
          <a:ln w="12700">
            <a:solidFill>
              <a:srgbClr val="F1C21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5916168"/>
            <a:ext cx="3145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1C21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PROCESS-QUALIFIED ONLY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58368" y="6263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Canonical transport-prototype-0.3 remains authoritative; the bridge is opt-in and does not replace it.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66928" y="6547104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PHYSICS-FIRST AI  ·  AMD AI DEVMASTER 2026  ·  TRACK 2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119104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F6B0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80" kern="0" dirty="0">
                <a:solidFill>
                  <a:srgbClr val="FF6B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AMD DEPLOYMENT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Qwen3.5-9B Q8 runs locally on Radeon + ROCm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114300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The measured local model fits in VRAM and produced the verified allow-listed plan.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58368" y="166420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6B0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2,877.30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58368" y="232257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prompt tokens/s · 512 tokens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75888" y="166420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78A9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67.66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675888" y="232257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generation tokens/s · 128 tokens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93408" y="166420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42BE6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19.9692 s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693408" y="232257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AMD v0.3 LLM pipeline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528048" y="166420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E95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8.86 GiB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9528048" y="232257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Q8 model size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312724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7ADB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GPU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57400" y="312724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AMD Radeon Graphics · gfx1100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356616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7ADB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Stack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57400" y="3566160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ROCm 7.2.1 · llama.cpp HIP Release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400507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7ADB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Offload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57400" y="4005072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-ngl 99 · all model layers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444398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7ADB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Context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057400" y="4443984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8192 tokens · reasoning off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" y="488289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7ADB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Network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057400" y="4882896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127.0.0.1:8000 only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7240" y="532180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7ADB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Integrity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057400" y="532180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SHA-256 verified model file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720840" y="3063240"/>
            <a:ext cx="4754880" cy="2542032"/>
          </a:xfrm>
          <a:prstGeom prst="rect">
            <a:avLst/>
          </a:prstGeom>
          <a:solidFill>
            <a:srgbClr val="15171A"/>
          </a:solidFill>
          <a:ln w="12700">
            <a:solidFill>
              <a:srgbClr val="363A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59168" y="3474720"/>
            <a:ext cx="4069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2BE6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OFFLINE  ≡  LLM-PLANNED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7333488" y="4224528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Identical physical runs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for the same scenario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8339328" y="5029200"/>
            <a:ext cx="1527048" cy="292608"/>
          </a:xfrm>
          <a:prstGeom prst="roundRect">
            <a:avLst>
              <a:gd name="adj" fmla="val 25000"/>
            </a:avLst>
          </a:prstGeom>
          <a:solidFill>
            <a:srgbClr val="42BE65">
              <a:alpha val="22000"/>
            </a:srgbClr>
          </a:solidFill>
          <a:ln w="12700">
            <a:solidFill>
              <a:srgbClr val="42BE6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12480" y="5047488"/>
            <a:ext cx="1380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2BE6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PHYSICS IDENTICAL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66928" y="6547104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PHYSICS-FIRST AI  ·  AMD AI DEVMASTER 2026  ·  TRACK 2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1119104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F6B0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80" kern="0" dirty="0">
                <a:solidFill>
                  <a:srgbClr val="FF6B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PRODUCT EXPERIENCE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 technical dashboard, not an AI chat box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114300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Inputs, workflow, evidence, uncertainty and artifacts remain visible in one place.</a:t>
            </a:r>
            <a:endParaRPr lang="en-US" sz="1300" dirty="0"/>
          </a:p>
        </p:txBody>
      </p:sp>
      <p:pic>
        <p:nvPicPr>
          <p:cNvPr id="5" name="Image 0" descr="NuclidePath dashboard overvie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554480"/>
            <a:ext cx="7635240" cy="4709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613648" y="1572768"/>
            <a:ext cx="2944368" cy="1234440"/>
          </a:xfrm>
          <a:prstGeom prst="rect">
            <a:avLst/>
          </a:prstGeom>
          <a:solidFill>
            <a:srgbClr val="15171A"/>
          </a:solidFill>
          <a:ln w="12700">
            <a:solidFill>
              <a:srgbClr val="363A4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13648" y="1572768"/>
            <a:ext cx="73152" cy="123444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833104" y="1737360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Editable physics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833104" y="2075688"/>
            <a:ext cx="2596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Kd, K+, velocity, porosity, distance and C₀.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613648" y="2999232"/>
            <a:ext cx="2944368" cy="1234440"/>
          </a:xfrm>
          <a:prstGeom prst="rect">
            <a:avLst/>
          </a:prstGeom>
          <a:solidFill>
            <a:srgbClr val="15171A"/>
          </a:solidFill>
          <a:ln w="12700">
            <a:solidFill>
              <a:srgbClr val="363A4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613648" y="2999232"/>
            <a:ext cx="73152" cy="1234440"/>
          </a:xfrm>
          <a:prstGeom prst="rect">
            <a:avLst/>
          </a:prstGeom>
          <a:solidFill>
            <a:srgbClr val="42BE65"/>
          </a:solidFill>
          <a:ln w="12700">
            <a:solidFill>
              <a:srgbClr val="42BE6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833104" y="3163824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Visible agency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833104" y="3502152"/>
            <a:ext cx="2596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Six completed steps and 5/5 capability badges.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613648" y="4425696"/>
            <a:ext cx="2944368" cy="1234440"/>
          </a:xfrm>
          <a:prstGeom prst="rect">
            <a:avLst/>
          </a:prstGeom>
          <a:solidFill>
            <a:srgbClr val="15171A"/>
          </a:solidFill>
          <a:ln w="12700">
            <a:solidFill>
              <a:srgbClr val="363A4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613648" y="4425696"/>
            <a:ext cx="73152" cy="1234440"/>
          </a:xfrm>
          <a:prstGeom prst="rect">
            <a:avLst/>
          </a:prstGeom>
          <a:solidFill>
            <a:srgbClr val="78A9FF"/>
          </a:solidFill>
          <a:ln w="12700">
            <a:solidFill>
              <a:srgbClr val="78A9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833104" y="4590288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Auditable output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833104" y="4928616"/>
            <a:ext cx="2596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Ten downloadable artifacts plus a checksum manifest.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66928" y="6547104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PHYSICS-FIRST AI  ·  AMD AI DEVMASTER 2026  ·  TRACK 2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1119104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F6B0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80" kern="0" dirty="0">
                <a:solidFill>
                  <a:srgbClr val="FF6B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TRUST LAYER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Uncertainty is declared, classified and reproducible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114300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The project distinguishes literature evidence from demonstration inputs.</a:t>
            </a:r>
            <a:endParaRPr lang="en-US" sz="1300" dirty="0"/>
          </a:p>
        </p:txBody>
      </p:sp>
      <p:pic>
        <p:nvPicPr>
          <p:cNvPr id="5" name="Image 0" descr="NuclidePath uncertainty dash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536192"/>
            <a:ext cx="6995160" cy="437997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955280" y="1572768"/>
            <a:ext cx="3611880" cy="1234440"/>
          </a:xfrm>
          <a:prstGeom prst="rect">
            <a:avLst/>
          </a:prstGeom>
          <a:solidFill>
            <a:srgbClr val="15171A"/>
          </a:solidFill>
          <a:ln w="12700">
            <a:solidFill>
              <a:srgbClr val="363A4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955280" y="1572768"/>
            <a:ext cx="73152" cy="1234440"/>
          </a:xfrm>
          <a:prstGeom prst="rect">
            <a:avLst/>
          </a:prstGeom>
          <a:solidFill>
            <a:srgbClr val="BE95FF"/>
          </a:solidFill>
          <a:ln w="12700">
            <a:solidFill>
              <a:srgbClr val="BE95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174736" y="1737360"/>
            <a:ext cx="3264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Literature-informed range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174736" y="2075688"/>
            <a:ext cx="3264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Cs Kd: 0.05–5.0 m³/kg · IAEA TECDOC-2095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955280" y="2999232"/>
            <a:ext cx="3611880" cy="1234440"/>
          </a:xfrm>
          <a:prstGeom prst="rect">
            <a:avLst/>
          </a:prstGeom>
          <a:solidFill>
            <a:srgbClr val="15171A"/>
          </a:solidFill>
          <a:ln w="12700">
            <a:solidFill>
              <a:srgbClr val="363A4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955280" y="2999232"/>
            <a:ext cx="73152" cy="1234440"/>
          </a:xfrm>
          <a:prstGeom prst="rect">
            <a:avLst/>
          </a:prstGeom>
          <a:solidFill>
            <a:srgbClr val="F1C21B"/>
          </a:solidFill>
          <a:ln w="12700">
            <a:solidFill>
              <a:srgbClr val="F1C21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74736" y="3163824"/>
            <a:ext cx="3264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Demonstration ranges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174736" y="3502152"/>
            <a:ext cx="3264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Hydraulics, dispersion, K+ and empirical competition are never presented as site truth.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955280" y="4425696"/>
            <a:ext cx="3611880" cy="1234440"/>
          </a:xfrm>
          <a:prstGeom prst="rect">
            <a:avLst/>
          </a:prstGeom>
          <a:solidFill>
            <a:srgbClr val="15171A"/>
          </a:solidFill>
          <a:ln w="12700">
            <a:solidFill>
              <a:srgbClr val="363A4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955280" y="4425696"/>
            <a:ext cx="73152" cy="1234440"/>
          </a:xfrm>
          <a:prstGeom prst="rect">
            <a:avLst/>
          </a:prstGeom>
          <a:solidFill>
            <a:srgbClr val="42BE65"/>
          </a:solidFill>
          <a:ln w="12700">
            <a:solidFill>
              <a:srgbClr val="42BE6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174736" y="4590288"/>
            <a:ext cx="3264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Reproducible propagation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174736" y="4928616"/>
            <a:ext cx="3264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Seeded Monte Carlo · P05/P50/P95 · JSON/CSV/SVG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66928" y="6547104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PHYSICS-FIRST AI  ·  AMD AI DEVMASTER 2026  ·  TRACK 2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1119104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F6B0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80" kern="0" dirty="0">
                <a:solidFill>
                  <a:srgbClr val="FF6B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WHY NUCLIDEPATH WINS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1097280"/>
            <a:ext cx="562356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Private AI without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scientific surrender.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49808" y="297180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2BE6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LOCAL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103120" y="297180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Qwen3.5-9B + RAG + memory on AMD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49808" y="363016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8A9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VERIFIABLE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03120" y="363016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388 AMD post-merge tests + FP64 parity + SHA-256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9808" y="4288536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0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USEFUL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03120" y="428853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One-click workflow from case to report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9808" y="4946904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1C21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HONEST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03120" y="494690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PHREEQC bridge explicit; no unqualified science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903720" y="658368"/>
            <a:ext cx="4645152" cy="5468112"/>
          </a:xfrm>
          <a:prstGeom prst="rect">
            <a:avLst/>
          </a:prstGeom>
          <a:solidFill>
            <a:srgbClr val="15171A"/>
          </a:solidFill>
          <a:ln w="12700">
            <a:solidFill>
              <a:srgbClr val="363A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69480" y="100584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The proof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269480" y="162763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42BE6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5/5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7269480" y="228600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Track 2 capabilities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390888" y="1627632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78A9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388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9390888" y="228600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AMD tests (post-merge)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269480" y="278892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6B0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132.8×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7269480" y="344728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FP64 platform (post-merge)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390888" y="278892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E95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9390888" y="344728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cloud calls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269480" y="41879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Track 2 · Physics-First AI · NuclidePath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269480" y="47091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8A9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Official AMD Track 2 PR package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269480" y="5303520"/>
            <a:ext cx="1874520" cy="292608"/>
          </a:xfrm>
          <a:prstGeom prst="roundRect">
            <a:avLst>
              <a:gd name="adj" fmla="val 25000"/>
            </a:avLst>
          </a:prstGeom>
          <a:solidFill>
            <a:srgbClr val="42BE65">
              <a:alpha val="22000"/>
            </a:srgbClr>
          </a:solidFill>
          <a:ln w="12700">
            <a:solidFill>
              <a:srgbClr val="42BE6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42632" y="5321808"/>
            <a:ext cx="1728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2BE6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TECHNICAL BUILD VERIFIED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58368" y="60807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THANK YOU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iberation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iberation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Physics-First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NuclidePath — Private Physics-First Agent</dc:title>
  <dc:subject>AMD AI DevMaster Hackathon 2026 · Track 2</dc:subject>
  <dc:creator>Stefano Rigante · Physics-First AI</dc:creator>
  <cp:lastModifiedBy>Stefano Rigante · Physics-First AI</cp:lastModifiedBy>
  <cp:revision>1</cp:revision>
  <dcterms:created xsi:type="dcterms:W3CDTF">2026-08-06T14:19:06Z</dcterms:created>
  <dcterms:modified xsi:type="dcterms:W3CDTF">2026-08-06T14:19:06Z</dcterms:modified>
</cp:coreProperties>
</file>