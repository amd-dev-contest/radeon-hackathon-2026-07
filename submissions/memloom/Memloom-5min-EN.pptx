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2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大家好，我是</a:t>
            </a:r>
            <a:r>
              <a:rPr lang="zh-CN" altLang="en-US" dirty="0"/>
              <a:t>中科大</a:t>
            </a:r>
            <a:r>
              <a:rPr lang="en-US" dirty="0"/>
              <a:t>计算机专业的博士生</a:t>
            </a:r>
            <a:r>
              <a:rPr lang="en-US" altLang="zh-CN" dirty="0"/>
              <a:t>Luke</a:t>
            </a:r>
            <a:r>
              <a:rPr lang="en-US" dirty="0"/>
              <a:t>。今天介绍的产品叫织忆。核心功能是</a:t>
            </a:r>
            <a:r>
              <a:rPr lang="zh-CN" altLang="en-US" dirty="0"/>
              <a:t>将</a:t>
            </a:r>
            <a:r>
              <a:rPr lang="en-US" dirty="0">
                <a:solidFill>
                  <a:srgbClr val="EAFA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研究者和 AI </a:t>
            </a:r>
            <a:r>
              <a:rPr lang="zh-CN" altLang="en-US" dirty="0">
                <a:solidFill>
                  <a:srgbClr val="EAFA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的</a:t>
            </a:r>
            <a:r>
              <a:rPr lang="en-US" dirty="0">
                <a:solidFill>
                  <a:srgbClr val="EAFA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协作</a:t>
            </a:r>
            <a:r>
              <a:rPr lang="zh-CN" altLang="en-US" dirty="0">
                <a:solidFill>
                  <a:srgbClr val="EAFA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历史，沉淀为对双方都有用的知识资产</a:t>
            </a:r>
            <a:r>
              <a:rPr lang="en-US" dirty="0">
                <a:solidFill>
                  <a:srgbClr val="EAFA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。</a:t>
            </a:r>
            <a:endParaRPr lang="en-US" dirty="0"/>
          </a:p>
          <a:p>
            <a:r>
              <a:rPr lang="en-US" dirty="0"/>
              <a:t>（约 15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 AI 已经深度参与科研。我们用它写论文、写代码、讨论想法，一件件任务确实完成了。但任务完成后，里面真正有   价值的知识往往没有被接住。
人这边，任务做完了，却不一定真的学进去，能力没有沉淀；Agent 这边，通用记忆无法有效记住和使用这些</a:t>
            </a:r>
            <a:r>
              <a:rPr lang="zh-CN" altLang="en-US" dirty="0"/>
              <a:t>专业科研</a:t>
            </a:r>
            <a:r>
              <a:rPr lang="en-US" dirty="0"/>
              <a:t>知识，换个会话又退回通用水平。
更麻烦的是，人和 Agent 的知识状态还会错位。讨论同一件事时，两边理解各走各的，最后反而可能得出更离谱的结论。（约 38 秒）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织忆想做的，是把人和 Agent 连到同一条知识上。
织忆会周期性地从用户和 Agent 的协作聊天历史里抽取有价值的知识。每条知识都有两种形态：一个帮助</a:t>
            </a:r>
            <a:r>
              <a:rPr lang="zh-CN" altLang="en-US" dirty="0"/>
              <a:t>人提升</a:t>
            </a:r>
            <a:r>
              <a:rPr lang="en-US" dirty="0"/>
              <a:t>的能力；</a:t>
            </a:r>
            <a:r>
              <a:rPr lang="zh-CN" altLang="en-US" dirty="0"/>
              <a:t>另一个是</a:t>
            </a:r>
            <a:r>
              <a:rPr lang="en-US" dirty="0"/>
              <a:t>让Agent </a:t>
            </a:r>
            <a:r>
              <a:rPr lang="zh-CN" altLang="en-US" dirty="0"/>
              <a:t>可以使用</a:t>
            </a:r>
            <a:r>
              <a:rPr lang="en-US" altLang="zh-CN" dirty="0"/>
              <a:t> </a:t>
            </a:r>
            <a:r>
              <a:rPr lang="en-US" dirty="0"/>
              <a:t>。
最终目的是让人</a:t>
            </a:r>
            <a:r>
              <a:rPr lang="zh-CN" altLang="en-US" dirty="0"/>
              <a:t>有</a:t>
            </a:r>
            <a:r>
              <a:rPr lang="en-US" dirty="0"/>
              <a:t>更好</a:t>
            </a:r>
            <a:r>
              <a:rPr lang="zh-CN" altLang="en-US" dirty="0"/>
              <a:t>的能力来</a:t>
            </a:r>
            <a:r>
              <a:rPr lang="en-US" dirty="0"/>
              <a:t>驾驭更好的 Agent</a:t>
            </a:r>
            <a:r>
              <a:rPr lang="zh-CN" altLang="en-US" dirty="0"/>
              <a:t>来去完成任务</a:t>
            </a:r>
            <a:r>
              <a:rPr lang="en-US" dirty="0"/>
              <a:t>。（约 30 秒）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我们的实现是一套完整闭环：先从协作记录里 提炼候选</a:t>
            </a:r>
            <a:r>
              <a:rPr lang="zh-CN" altLang="en-US" dirty="0"/>
              <a:t>知识</a:t>
            </a:r>
            <a:r>
              <a:rPr lang="en-US" dirty="0"/>
              <a:t>，自动判断它是</a:t>
            </a:r>
            <a:r>
              <a:rPr lang="zh-CN" altLang="en-US" dirty="0"/>
              <a:t>全新的，还是对已有知识的更新</a:t>
            </a:r>
            <a:r>
              <a:rPr lang="en-US" dirty="0"/>
              <a:t>，轻量审核后正式入库。
入库之后再分两路输出：一路作为记忆注入给 Agent，用渐进式披露等机制，</a:t>
            </a:r>
            <a:r>
              <a:rPr lang="zh-CN" altLang="en-US" dirty="0"/>
              <a:t>让</a:t>
            </a:r>
            <a:r>
              <a:rPr lang="en-US" altLang="zh-CN" dirty="0"/>
              <a:t>agent</a:t>
            </a:r>
            <a:r>
              <a:rPr lang="zh-CN" altLang="en-US" dirty="0"/>
              <a:t>以最小上下文代价充分利用知识</a:t>
            </a:r>
            <a:r>
              <a:rPr lang="en-US" dirty="0"/>
              <a:t>；另一路按遗忘曲线推给</a:t>
            </a:r>
            <a:r>
              <a:rPr lang="zh-CN" altLang="en-US" dirty="0"/>
              <a:t>用户进行</a:t>
            </a:r>
            <a:r>
              <a:rPr lang="en-US" dirty="0"/>
              <a:t>复盘，结合 AI 引导的概念性和应用性追问，</a:t>
            </a:r>
            <a:r>
              <a:rPr lang="zh-CN" altLang="en-US" dirty="0"/>
              <a:t>让用户可以将知识</a:t>
            </a:r>
            <a:r>
              <a:rPr lang="en-US" dirty="0"/>
              <a:t>真正内化。
而使用中人和 Agent 新产出的东西，又会回馈进这条闭环，让它持续生长。（约 32 秒）</a:t>
            </a: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技术上</a:t>
            </a:r>
            <a:r>
              <a:rPr lang="zh-CN" altLang="en-US" dirty="0"/>
              <a:t>不</a:t>
            </a:r>
            <a:r>
              <a:rPr lang="en-US" dirty="0"/>
              <a:t>展开细节，只讲两个特点。第一，本地优先：所有知识都存在本地，足够安全。第二，我们用基于 OpenAI SDK 的确定性流水线</a:t>
            </a:r>
            <a:r>
              <a:rPr lang="zh-CN" altLang="en-US" dirty="0"/>
              <a:t>架构</a:t>
            </a:r>
            <a:r>
              <a:rPr lang="en-US" altLang="zh-CN" dirty="0"/>
              <a:t> </a:t>
            </a:r>
            <a:r>
              <a:rPr lang="en-US" dirty="0"/>
              <a:t>，每一步都做结构化校验，整个流程被harness</a:t>
            </a:r>
            <a:r>
              <a:rPr lang="zh-CN" altLang="en-US" dirty="0"/>
              <a:t>住</a:t>
            </a:r>
            <a:r>
              <a:rPr lang="en-US" dirty="0"/>
              <a:t>，不会自主漫游。（约 20 秒）</a:t>
            </a: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商业化分几步走。</a:t>
            </a:r>
          </a:p>
          <a:p>
            <a:r>
              <a:rPr lang="zh-CN" altLang="en-US"/>
              <a:t>第一步分两条线：开源和个人版。做这个产品时，我就把整套能力做成了通用</a:t>
            </a:r>
            <a:r>
              <a:rPr lang="en-US" altLang="zh-CN"/>
              <a:t> Agent </a:t>
            </a:r>
            <a:r>
              <a:rPr lang="zh-CN" altLang="en-US"/>
              <a:t>都能用的</a:t>
            </a:r>
            <a:r>
              <a:rPr lang="en-US" altLang="zh-CN"/>
              <a:t> Skill</a:t>
            </a:r>
            <a:r>
              <a:rPr lang="zh-CN" altLang="en-US"/>
              <a:t>，并计划开源；个人版则承接更完整的产品体验。</a:t>
            </a:r>
          </a:p>
          <a:p>
            <a:r>
              <a:rPr lang="zh-CN" altLang="en-US"/>
              <a:t>这两个方向主要是先获取初期用户，形成产品讨论，并通过反馈快速迭代。</a:t>
            </a:r>
          </a:p>
          <a:p>
            <a:r>
              <a:rPr lang="zh-CN" altLang="en-US"/>
              <a:t>真正的付费重点会放在第二步</a:t>
            </a:r>
            <a:r>
              <a:rPr lang="en-US" altLang="zh-CN"/>
              <a:t>——</a:t>
            </a:r>
            <a:r>
              <a:rPr lang="zh-CN" altLang="en-US"/>
              <a:t>课题组。</a:t>
            </a:r>
          </a:p>
          <a:p>
            <a:r>
              <a:rPr lang="zh-CN" altLang="en-US"/>
              <a:t>课题组本身有经费，我们会在个人版基础上加组内共享和协同功能，工程量其实不大。但对课题组来说，买到的不只是个人效率提升，更是经验传承和共享；这些价值管理者看得见，付费意愿也会更强。</a:t>
            </a:r>
          </a:p>
          <a:p>
            <a:r>
              <a:rPr lang="zh-CN" altLang="en-US"/>
              <a:t>再往上，我们还可以做高校和科研院所的规模化采购。</a:t>
            </a:r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现在的 MVP 只想证明一件事：存下来的知识确实能改善后续协作。长期护城河是三个方向：抽取越来越准、交互越来越自然、按学科定制输出。（约 12 秒）</a:t>
            </a:r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如果做成，研究者协作里长出的方法与判断，会沉淀成人和 Agent 都能持续使用的知识资产。这就是织忆想做的事。谢谢。（约 10 秒）</a:t>
            </a:r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F6F6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566160" cy="3566160"/>
          </a:xfrm>
          <a:prstGeom prst="ellipse">
            <a:avLst/>
          </a:prstGeom>
          <a:solidFill>
            <a:srgbClr val="2A8079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FEAE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AI-NATIVE research knowledge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Memloom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41248" y="33832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CFEAE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 two-way knowledge layer for people &amp; AI agents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42245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EAFA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Turn collaboration history between researchers and AI</a:t>
            </a:r>
            <a:endParaRPr lang="en-US" sz="1800" dirty="0"/>
          </a:p>
          <a:p>
            <a:r>
              <a:t>into a knowledge asset that serves both sides</a:t>
            </a:r>
          </a:p>
        </p:txBody>
      </p:sp>
      <p:sp>
        <p:nvSpPr>
          <p:cNvPr id="8" name="Text 7"/>
          <p:cNvSpPr/>
          <p:nvPr/>
        </p:nvSpPr>
        <p:spPr>
          <a:xfrm>
            <a:off x="841248" y="58978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61568" y="5124323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AF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Luke | PhD candidate in Computer Science, USTC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6F6B"/>
          </a:solidFill>
        </p:spPr>
        <p:txBody>
          <a:bodyPr/>
          <a:lstStyle/>
          <a:p>
            <a:endParaRPr/>
          </a:p>
        </p:txBody>
      </p:sp>
      <p:sp>
        <p:nvSpPr>
          <p:cNvPr id="12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2"/>
          <p:cNvSpPr/>
          <p:nvPr/>
        </p:nvSpPr>
        <p:spPr>
          <a:xfrm>
            <a:off x="1280160" y="42062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Background &amp; core pain point</a:t>
            </a:r>
            <a:endParaRPr lang="en-US" sz="3000" dirty="0"/>
          </a:p>
        </p:txBody>
      </p:sp>
      <p:sp>
        <p:nvSpPr>
          <p:cNvPr id="14" name="Text 3"/>
          <p:cNvSpPr/>
          <p:nvPr/>
        </p:nvSpPr>
        <p:spPr>
          <a:xfrm>
            <a:off x="1280160" y="10789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6F6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Tasks get done, but the knowledge inside is missed on both ends:</a:t>
            </a:r>
            <a:endParaRPr lang="en-US" sz="1500" dirty="0"/>
          </a:p>
          <a:p>
            <a:r>
              <a:t>people don't learn it, Agents don't remember it - and the two sides drift apart.</a:t>
            </a:r>
          </a:p>
        </p:txBody>
      </p:sp>
      <p:sp>
        <p:nvSpPr>
          <p:cNvPr id="15" name="Shape 4"/>
          <p:cNvSpPr/>
          <p:nvPr/>
        </p:nvSpPr>
        <p:spPr>
          <a:xfrm>
            <a:off x="1450696" y="1709928"/>
            <a:ext cx="929030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63599E-FC8D-49EC-3077-62C8DBF16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91" y="1709928"/>
            <a:ext cx="9182009" cy="48407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6F6B"/>
          </a:solidFill>
        </p:spPr>
        <p:txBody>
          <a:bodyPr/>
          <a:lstStyle/>
          <a:p>
            <a:endParaRPr/>
          </a:p>
        </p:txBody>
      </p:sp>
      <p:sp>
        <p:nvSpPr>
          <p:cNvPr id="19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2"/>
          <p:cNvSpPr/>
          <p:nvPr/>
        </p:nvSpPr>
        <p:spPr>
          <a:xfrm>
            <a:off x="1280160" y="42062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What we are: a two-way connection</a:t>
            </a:r>
            <a:endParaRPr lang="en-US" sz="3000" dirty="0"/>
          </a:p>
        </p:txBody>
      </p:sp>
      <p:sp>
        <p:nvSpPr>
          <p:cNvPr id="21" name="Text 3"/>
          <p:cNvSpPr/>
          <p:nvPr/>
        </p:nvSpPr>
        <p:spPr>
          <a:xfrm>
            <a:off x="1280160" y="10789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6F6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One piece of knowledge, two forms:</a:t>
            </a:r>
            <a:endParaRPr lang="en-US" sz="1500" dirty="0"/>
          </a:p>
          <a:p>
            <a:r>
              <a:t>one helps people grow, one is called by Agents.</a:t>
            </a:r>
          </a:p>
        </p:txBody>
      </p:sp>
      <p:sp>
        <p:nvSpPr>
          <p:cNvPr id="22" name="Shape 4"/>
          <p:cNvSpPr/>
          <p:nvPr/>
        </p:nvSpPr>
        <p:spPr>
          <a:xfrm>
            <a:off x="1052355" y="1709928"/>
            <a:ext cx="10086985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E758DE-3B1B-AD8B-8082-99A57297F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95" y="1709929"/>
            <a:ext cx="10175245" cy="4798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6F6B"/>
          </a:solidFill>
        </p:spPr>
        <p:txBody>
          <a:bodyPr/>
          <a:lstStyle/>
          <a:p>
            <a:endParaRPr/>
          </a:p>
        </p:txBody>
      </p:sp>
      <p:sp>
        <p:nvSpPr>
          <p:cNvPr id="26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"/>
          <p:cNvSpPr/>
          <p:nvPr/>
        </p:nvSpPr>
        <p:spPr>
          <a:xfrm>
            <a:off x="1280160" y="42062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How it works: a five-stage loop</a:t>
            </a:r>
            <a:endParaRPr lang="en-US" sz="3000" dirty="0"/>
          </a:p>
        </p:txBody>
      </p:sp>
      <p:sp>
        <p:nvSpPr>
          <p:cNvPr id="28" name="Text 3"/>
          <p:cNvSpPr/>
          <p:nvPr/>
        </p:nvSpPr>
        <p:spPr>
          <a:xfrm>
            <a:off x="1280160" y="10789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6F6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Distill -&gt; Merge -&gt; Review -&gt; Canonical -&gt; Retrieve / Recall -</a:t>
            </a:r>
            <a:endParaRPr lang="en-US" sz="1500" dirty="0"/>
          </a:p>
          <a:p>
            <a:r>
              <a:t>every knowledge item stays current, clean, and connected.</a:t>
            </a:r>
          </a:p>
        </p:txBody>
      </p:sp>
      <p:sp>
        <p:nvSpPr>
          <p:cNvPr id="29" name="Shape 4"/>
          <p:cNvSpPr/>
          <p:nvPr/>
        </p:nvSpPr>
        <p:spPr>
          <a:xfrm>
            <a:off x="986870" y="1709928"/>
            <a:ext cx="10217956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D558C5-24FD-DCE5-34A9-DA8EE184D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8" y="1746504"/>
            <a:ext cx="10089258" cy="4704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6F6B"/>
          </a:solidFill>
        </p:spPr>
        <p:txBody>
          <a:bodyPr/>
          <a:lstStyle/>
          <a:p>
            <a:endParaRPr/>
          </a:p>
        </p:txBody>
      </p:sp>
      <p:sp>
        <p:nvSpPr>
          <p:cNvPr id="3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Text 2"/>
          <p:cNvSpPr/>
          <p:nvPr/>
        </p:nvSpPr>
        <p:spPr>
          <a:xfrm>
            <a:off x="1280160" y="42062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5" name="Text 3"/>
          <p:cNvSpPr/>
          <p:nvPr/>
        </p:nvSpPr>
        <p:spPr>
          <a:xfrm>
            <a:off x="1280160" y="10789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6F6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Local-first · bounded pipeline: model calls on a local loopback</a:t>
            </a:r>
            <a:endParaRPr lang="en-US" sz="1500" dirty="0"/>
          </a:p>
          <a:p>
            <a:r>
              <a:t>endpoint (vLLM on AMD GPU), every step structurally validated,</a:t>
            </a:r>
          </a:p>
          <a:p>
            <a:r>
              <a:t>no autonomous wandering.</a:t>
            </a:r>
          </a:p>
        </p:txBody>
      </p:sp>
      <p:sp>
        <p:nvSpPr>
          <p:cNvPr id="36" name="Shape 4"/>
          <p:cNvSpPr/>
          <p:nvPr/>
        </p:nvSpPr>
        <p:spPr>
          <a:xfrm>
            <a:off x="2740357" y="1618488"/>
            <a:ext cx="6710981" cy="499262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F81E20-DD63-BDEE-0C2A-1811812B9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356" y="1618489"/>
            <a:ext cx="6710981" cy="4992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6F6B"/>
          </a:solidFill>
        </p:spPr>
        <p:txBody>
          <a:bodyPr/>
          <a:lstStyle/>
          <a:p>
            <a:endParaRPr/>
          </a:p>
        </p:txBody>
      </p:sp>
      <p:sp>
        <p:nvSpPr>
          <p:cNvPr id="40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</a:t>
            </a:r>
            <a:endParaRPr lang="en-US" sz="2000" dirty="0"/>
          </a:p>
        </p:txBody>
      </p:sp>
      <p:sp>
        <p:nvSpPr>
          <p:cNvPr id="41" name="Text 2"/>
          <p:cNvSpPr/>
          <p:nvPr/>
        </p:nvSpPr>
        <p:spPr>
          <a:xfrm>
            <a:off x="1280160" y="42062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Commercialization</a:t>
            </a:r>
            <a:endParaRPr lang="en-US" sz="3000" dirty="0"/>
          </a:p>
        </p:txBody>
      </p:sp>
      <p:sp>
        <p:nvSpPr>
          <p:cNvPr id="42" name="Text 3"/>
          <p:cNvSpPr/>
          <p:nvPr/>
        </p:nvSpPr>
        <p:spPr>
          <a:xfrm>
            <a:off x="1280160" y="10789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6F6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Open source + personal edition -&gt; research groups pay -&gt; universities &amp; institutes.</a:t>
            </a:r>
            <a:endParaRPr lang="en-US" sz="1500" dirty="0"/>
          </a:p>
        </p:txBody>
      </p:sp>
      <p:sp>
        <p:nvSpPr>
          <p:cNvPr id="43" name="Shape 4"/>
          <p:cNvSpPr/>
          <p:nvPr/>
        </p:nvSpPr>
        <p:spPr>
          <a:xfrm>
            <a:off x="1065248" y="1709928"/>
            <a:ext cx="10061199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0EA58B-8E75-D722-29EB-0FEE14D61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7" y="1709928"/>
            <a:ext cx="10010879" cy="47196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6F6B"/>
          </a:solidFill>
        </p:spPr>
        <p:txBody>
          <a:bodyPr/>
          <a:lstStyle/>
          <a:p>
            <a:endParaRPr/>
          </a:p>
        </p:txBody>
      </p:sp>
      <p:sp>
        <p:nvSpPr>
          <p:cNvPr id="47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06</a:t>
            </a:r>
            <a:endParaRPr lang="en-US" sz="2000" dirty="0"/>
          </a:p>
        </p:txBody>
      </p:sp>
      <p:sp>
        <p:nvSpPr>
          <p:cNvPr id="48" name="Text 2"/>
          <p:cNvSpPr/>
          <p:nvPr/>
        </p:nvSpPr>
        <p:spPr>
          <a:xfrm>
            <a:off x="1280160" y="42062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Roadmap &amp; moat</a:t>
            </a:r>
            <a:endParaRPr lang="en-US" sz="3000" dirty="0"/>
          </a:p>
        </p:txBody>
      </p:sp>
      <p:sp>
        <p:nvSpPr>
          <p:cNvPr id="49" name="Text 3"/>
          <p:cNvSpPr/>
          <p:nvPr/>
        </p:nvSpPr>
        <p:spPr>
          <a:xfrm>
            <a:off x="1280160" y="10789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6F6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The MVP proves one thing: saved knowledge genuinely improves later collaboration.</a:t>
            </a:r>
            <a:endParaRPr lang="en-US" sz="1500" dirty="0"/>
          </a:p>
        </p:txBody>
      </p:sp>
      <p:sp>
        <p:nvSpPr>
          <p:cNvPr id="50" name="Shape 4"/>
          <p:cNvSpPr/>
          <p:nvPr/>
        </p:nvSpPr>
        <p:spPr>
          <a:xfrm>
            <a:off x="548640" y="20574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F4E9"/>
          </a:solidFill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Text 5"/>
          <p:cNvSpPr/>
          <p:nvPr/>
        </p:nvSpPr>
        <p:spPr>
          <a:xfrm>
            <a:off x="777240" y="205740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7D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Core direction: research-group sharing - pass personal knowledge</a:t>
            </a:r>
            <a:endParaRPr lang="en-US" sz="1500" dirty="0"/>
          </a:p>
          <a:p>
            <a:r>
              <a:t>down within the team; the key paid scenario for PIs.</a:t>
            </a:r>
          </a:p>
        </p:txBody>
      </p:sp>
      <p:sp>
        <p:nvSpPr>
          <p:cNvPr id="52" name="Shape 6"/>
          <p:cNvSpPr/>
          <p:nvPr/>
        </p:nvSpPr>
        <p:spPr>
          <a:xfrm>
            <a:off x="548640" y="34290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F0F6F5"/>
          </a:solidFill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" name="Text 7"/>
          <p:cNvSpPr/>
          <p:nvPr/>
        </p:nvSpPr>
        <p:spPr>
          <a:xfrm>
            <a:off x="777240" y="3639312"/>
            <a:ext cx="31363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524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① Sharper extraction</a:t>
            </a:r>
            <a:endParaRPr lang="en-US" sz="1600" dirty="0"/>
          </a:p>
        </p:txBody>
      </p:sp>
      <p:sp>
        <p:nvSpPr>
          <p:cNvPr id="54" name="Text 8"/>
          <p:cNvSpPr/>
          <p:nvPr/>
        </p:nvSpPr>
        <p:spPr>
          <a:xfrm>
            <a:off x="777240" y="4114800"/>
            <a:ext cx="313639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66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More accurate over time - learns the discipline, the person, and the team</a:t>
            </a:r>
            <a:endParaRPr lang="en-US" sz="1300" dirty="0"/>
          </a:p>
        </p:txBody>
      </p:sp>
      <p:sp>
        <p:nvSpPr>
          <p:cNvPr id="55" name="Shape 9"/>
          <p:cNvSpPr/>
          <p:nvPr/>
        </p:nvSpPr>
        <p:spPr>
          <a:xfrm>
            <a:off x="4288536" y="34290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F0F6F5"/>
          </a:solidFill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6" name="Text 10"/>
          <p:cNvSpPr/>
          <p:nvPr/>
        </p:nvSpPr>
        <p:spPr>
          <a:xfrm>
            <a:off x="4517136" y="3639312"/>
            <a:ext cx="31363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524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② Richer interaction</a:t>
            </a:r>
            <a:endParaRPr lang="en-US" sz="1600" dirty="0"/>
          </a:p>
        </p:txBody>
      </p:sp>
      <p:sp>
        <p:nvSpPr>
          <p:cNvPr id="57" name="Text 11"/>
          <p:cNvSpPr/>
          <p:nvPr/>
        </p:nvSpPr>
        <p:spPr>
          <a:xfrm>
            <a:off x="4517136" y="4114800"/>
            <a:ext cx="313639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66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Voice Q&amp;A and more natural interaction lower the recall barrier</a:t>
            </a:r>
            <a:endParaRPr lang="en-US" sz="1300" dirty="0"/>
          </a:p>
        </p:txBody>
      </p:sp>
      <p:sp>
        <p:nvSpPr>
          <p:cNvPr id="58" name="Shape 12"/>
          <p:cNvSpPr/>
          <p:nvPr/>
        </p:nvSpPr>
        <p:spPr>
          <a:xfrm>
            <a:off x="8028432" y="34290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F0F6F5"/>
          </a:solidFill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" name="Text 13"/>
          <p:cNvSpPr/>
          <p:nvPr/>
        </p:nvSpPr>
        <p:spPr>
          <a:xfrm>
            <a:off x="8257032" y="3639312"/>
            <a:ext cx="313639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524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③ Customized MCP outputs</a:t>
            </a:r>
            <a:endParaRPr lang="en-US" sz="1600" dirty="0"/>
          </a:p>
        </p:txBody>
      </p:sp>
      <p:sp>
        <p:nvSpPr>
          <p:cNvPr id="60" name="Text 14"/>
          <p:cNvSpPr/>
          <p:nvPr/>
        </p:nvSpPr>
        <p:spPr>
          <a:xfrm>
            <a:off x="8257032" y="4114800"/>
            <a:ext cx="313639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66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Surveys / research reports / study plans, etc.</a:t>
            </a:r>
            <a:endParaRPr lang="en-US" sz="1300" dirty="0"/>
          </a:p>
        </p:txBody>
      </p:sp>
      <p:sp>
        <p:nvSpPr>
          <p:cNvPr id="61" name="Text 15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524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The moat: the more it is used, the better it understands the discipline</a:t>
            </a:r>
            <a:endParaRPr lang="en-US" sz="1500" dirty="0"/>
          </a:p>
          <a:p>
            <a:r>
              <a:t>and the person - and it grows only in the user's local loop,</a:t>
            </a:r>
          </a:p>
          <a:p>
            <a:r>
              <a:t>impossible to move away.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9052560" y="3291840"/>
            <a:ext cx="5486400" cy="5486400"/>
          </a:xfrm>
          <a:prstGeom prst="ellipse">
            <a:avLst/>
          </a:prstGeom>
          <a:solidFill>
            <a:srgbClr val="2A8079"/>
          </a:solidFill>
        </p:spPr>
        <p:txBody>
          <a:bodyPr/>
          <a:lstStyle/>
          <a:p>
            <a:endParaRPr/>
          </a:p>
        </p:txBody>
      </p:sp>
      <p:sp>
        <p:nvSpPr>
          <p:cNvPr id="64" name="Text 1"/>
          <p:cNvSpPr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AE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If this works</a:t>
            </a:r>
            <a:endParaRPr lang="en-US" sz="2000" dirty="0"/>
          </a:p>
        </p:txBody>
      </p:sp>
      <p:sp>
        <p:nvSpPr>
          <p:cNvPr id="65" name="Text 2"/>
          <p:cNvSpPr/>
          <p:nvPr/>
        </p:nvSpPr>
        <p:spPr>
          <a:xfrm>
            <a:off x="914400" y="3063240"/>
            <a:ext cx="102412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Concepts, methods, experience, and judgments grown in research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collaboration settle into a knowledge asset both people</a:t>
            </a:r>
            <a:endParaRPr lang="en-US" sz="2800" dirty="0"/>
          </a:p>
          <a:p>
            <a:r>
              <a:t>and Agents can keep using.</a:t>
            </a:r>
          </a:p>
        </p:txBody>
      </p:sp>
      <p:sp>
        <p:nvSpPr>
          <p:cNvPr id="66" name="Text 3"/>
          <p:cNvSpPr/>
          <p:nvPr/>
        </p:nvSpPr>
        <p:spPr>
          <a:xfrm>
            <a:off x="914400" y="59893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CFEAE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Memloom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914</Words>
  <Application>Microsoft Office PowerPoint</Application>
  <PresentationFormat>宽屏</PresentationFormat>
  <Paragraphs>67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yan</cp:lastModifiedBy>
  <cp:revision>1</cp:revision>
  <dcterms:created xsi:type="dcterms:W3CDTF">2026-08-06T21:08:30Z</dcterms:created>
  <dcterms:modified xsi:type="dcterms:W3CDTF">2026-08-06T13:38:08Z</dcterms:modified>
</cp:coreProperties>
</file>