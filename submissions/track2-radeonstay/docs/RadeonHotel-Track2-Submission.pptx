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bea1973bd648da" /><Relationship Type="http://schemas.openxmlformats.org/officeDocument/2006/relationships/extended-properties" Target="/docProps/app.xml" Id="Raf3dc72e199342ff" /><Relationship Type="http://schemas.openxmlformats.org/officeDocument/2006/relationships/officeDocument" Target="/ppt/presentation.xml" Id="Rf2cd69510df24240" /></Relationships>
</file>

<file path=ppt/presentation.xml><?xml version="1.0" encoding="utf-8"?>
<p:presentation xmlns:p="http://schemas.openxmlformats.org/presentationml/2006/main">
  <p:sldMasterIdLst>
    <p:sldMasterId xmlns:r="http://schemas.openxmlformats.org/officeDocument/2006/relationships" id="2147483648" r:id="R03b2ba5c97694739"/>
  </p:sldMasterIdLst>
  <p:notesMasterIdLst>
    <p:notesMasterId xmlns:r="http://schemas.openxmlformats.org/officeDocument/2006/relationships" r:id="R557301670f894825"/>
  </p:notesMasterIdLst>
  <p:sldIdLst>
    <p:sldId xmlns:r="http://schemas.openxmlformats.org/officeDocument/2006/relationships" id="256" r:id="R60bc23cdeaf44768"/>
    <p:sldId xmlns:r="http://schemas.openxmlformats.org/officeDocument/2006/relationships" id="257" r:id="R3f125d70b50a4103"/>
    <p:sldId xmlns:r="http://schemas.openxmlformats.org/officeDocument/2006/relationships" id="258" r:id="Rd390295453c94ab6"/>
    <p:sldId xmlns:r="http://schemas.openxmlformats.org/officeDocument/2006/relationships" id="259" r:id="Rcb31eeaf5b7341af"/>
    <p:sldId xmlns:r="http://schemas.openxmlformats.org/officeDocument/2006/relationships" id="260" r:id="R89314ff2e22c4f34"/>
    <p:sldId xmlns:r="http://schemas.openxmlformats.org/officeDocument/2006/relationships" id="261" r:id="R3828968c4be643da"/>
    <p:sldId xmlns:r="http://schemas.openxmlformats.org/officeDocument/2006/relationships" id="262" r:id="Reb079fcde2ae4600"/>
    <p:sldId xmlns:r="http://schemas.openxmlformats.org/officeDocument/2006/relationships" id="263" r:id="Rf27025eceb8d4724"/>
    <p:sldId xmlns:r="http://schemas.openxmlformats.org/officeDocument/2006/relationships" id="264" r:id="R1f5fae9c72bf4f8c"/>
    <p:sldId xmlns:r="http://schemas.openxmlformats.org/officeDocument/2006/relationships" id="265" r:id="Rf430ab9e684d4a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25670c0d2843de" /><Relationship Type="http://schemas.openxmlformats.org/officeDocument/2006/relationships/slideMaster" Target="/ppt/slideMasters/slideMaster1.xml" Id="R03b2ba5c97694739" /><Relationship Type="http://schemas.openxmlformats.org/officeDocument/2006/relationships/notesMaster" Target="/ppt/notesMasters/notesMaster1.xml" Id="R557301670f894825" /><Relationship Type="http://schemas.openxmlformats.org/officeDocument/2006/relationships/presProps" Target="/ppt/presProps.xml" Id="Rac8d4fb36f1c40a1" /><Relationship Type="http://schemas.openxmlformats.org/officeDocument/2006/relationships/tableStyles" Target="/ppt/tableStyles.xml" Id="R0b1a40689b594e37" /><Relationship Type="http://schemas.openxmlformats.org/officeDocument/2006/relationships/slide" Target="/ppt/slides/slide1.xml" Id="R60bc23cdeaf44768" /><Relationship Type="http://schemas.openxmlformats.org/officeDocument/2006/relationships/slide" Target="/ppt/slides/slide2.xml" Id="R3f125d70b50a4103" /><Relationship Type="http://schemas.openxmlformats.org/officeDocument/2006/relationships/slide" Target="/ppt/slides/slide3.xml" Id="Rd390295453c94ab6" /><Relationship Type="http://schemas.openxmlformats.org/officeDocument/2006/relationships/slide" Target="/ppt/slides/slide4.xml" Id="Rcb31eeaf5b7341af" /><Relationship Type="http://schemas.openxmlformats.org/officeDocument/2006/relationships/slide" Target="/ppt/slides/slide5.xml" Id="R89314ff2e22c4f34" /><Relationship Type="http://schemas.openxmlformats.org/officeDocument/2006/relationships/slide" Target="/ppt/slides/slide6.xml" Id="R3828968c4be643da" /><Relationship Type="http://schemas.openxmlformats.org/officeDocument/2006/relationships/slide" Target="/ppt/slides/slide7.xml" Id="Reb079fcde2ae4600" /><Relationship Type="http://schemas.openxmlformats.org/officeDocument/2006/relationships/slide" Target="/ppt/slides/slide8.xml" Id="Rf27025eceb8d4724" /><Relationship Type="http://schemas.openxmlformats.org/officeDocument/2006/relationships/slide" Target="/ppt/slides/slide9.xml" Id="R1f5fae9c72bf4f8c" /><Relationship Type="http://schemas.openxmlformats.org/officeDocument/2006/relationships/slide" Target="/ppt/slides/slide10.xml" Id="Rf430ab9e684d4a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12bb78c2a446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28e993321e4fff" /><Relationship Type="http://schemas.openxmlformats.org/officeDocument/2006/relationships/notesMaster" Target="/ppt/notesMasters/notesMaster1.xml" Id="R1e643009595c4b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706d7299cd47a3" /><Relationship Type="http://schemas.openxmlformats.org/officeDocument/2006/relationships/notesMaster" Target="/ppt/notesMasters/notesMaster1.xml" Id="R79ed868e76414e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4229e7c194838" /><Relationship Type="http://schemas.openxmlformats.org/officeDocument/2006/relationships/notesMaster" Target="/ppt/notesMasters/notesMaster1.xml" Id="R2d36e78c640a46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86edf688034062" /><Relationship Type="http://schemas.openxmlformats.org/officeDocument/2006/relationships/notesMaster" Target="/ppt/notesMasters/notesMaster1.xml" Id="R9ebab22524e941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b1ed4bc2054bb7" /><Relationship Type="http://schemas.openxmlformats.org/officeDocument/2006/relationships/notesMaster" Target="/ppt/notesMasters/notesMaster1.xml" Id="R71c18172462747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7c2cdf439f488d" /><Relationship Type="http://schemas.openxmlformats.org/officeDocument/2006/relationships/notesMaster" Target="/ppt/notesMasters/notesMaster1.xml" Id="R35097bbdbfb645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86d6e89ac5402b" /><Relationship Type="http://schemas.openxmlformats.org/officeDocument/2006/relationships/notesMaster" Target="/ppt/notesMasters/notesMaster1.xml" Id="Redcce9849a924b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ae4b62db1c42cc" /><Relationship Type="http://schemas.openxmlformats.org/officeDocument/2006/relationships/notesMaster" Target="/ppt/notesMasters/notesMaster1.xml" Id="Reb0ef47f5e334b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a6e1bb5ea44991" /><Relationship Type="http://schemas.openxmlformats.org/officeDocument/2006/relationships/notesMaster" Target="/ppt/notesMasters/notesMaster1.xml" Id="Rad2f4e25ba6e45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02f44704e54594" /><Relationship Type="http://schemas.openxmlformats.org/officeDocument/2006/relationships/notesMaster" Target="/ppt/notesMasters/notesMaster1.xml" Id="R9ff375e0a60746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a complete private journey agent, not a chatbot demo.</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Live Radeon deployment screenshot captured from the C profile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business problem first. The agent coordinates hotel operations without merging their authority boundaries.</a:t>
            </a:r>
          </a:p>
          <a:p xmlns:a="http://schemas.openxmlformats.org/drawingml/2006/main">
            <a:r>
              <a:t/>
            </a:r>
          </a:p>
          <a:p xmlns:a="http://schemas.openxmlformats.org/drawingml/2006/main">
            <a:r>
              <a:t>[Sources]</a:t>
            </a:r>
          </a:p>
          <a:p xmlns:a="http://schemas.openxmlformats.org/drawingml/2006/main">
            <a:r>
              <a:t>- docs/project-specification.md</a:t>
            </a:r>
          </a:p>
          <a:p xmlns:a="http://schemas.openxmlformats.org/drawingml/2006/main">
            <a:r>
              <a:t>- Sanitized quote-confirmation screenshot from the live C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local LLM is powerful but never authoritative over hotel state, and that the base-100 path is independent of the optional Cloud API route.</a:t>
            </a:r>
          </a:p>
          <a:p xmlns:a="http://schemas.openxmlformats.org/drawingml/2006/main">
            <a:r>
              <a:t/>
            </a:r>
          </a:p>
          <a:p xmlns:a="http://schemas.openxmlformats.org/drawingml/2006/main">
            <a:r>
              <a:t>[Sources]</a:t>
            </a:r>
          </a:p>
          <a:p xmlns:a="http://schemas.openxmlformats.org/drawingml/2006/main">
            <a:r>
              <a:t>- README.md — Architecture and safety controls</a:t>
            </a:r>
          </a:p>
          <a:p xmlns:a="http://schemas.openxmlformats.org/drawingml/2006/main">
            <a:r>
              <a:t>- docs/project-specification.md — Agent architecture</a:t>
            </a:r>
          </a:p>
          <a:p xmlns:a="http://schemas.openxmlformats.org/drawingml/2006/main">
            <a:r>
              <a:t>- src/radeonstay/main.py — Local and optional-cloud routing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required capability to the same business journey; this is not a checklist of disconnected demos.</a:t>
            </a:r>
          </a:p>
          <a:p xmlns:a="http://schemas.openxmlformats.org/drawingml/2006/main">
            <a:r>
              <a:t/>
            </a:r>
          </a:p>
          <a:p xmlns:a="http://schemas.openxmlformats.org/drawingml/2006/main">
            <a:r>
              <a:t>[Sources]</a:t>
            </a:r>
          </a:p>
          <a:p xmlns:a="http://schemas.openxmlformats.org/drawingml/2006/main">
            <a:r>
              <a:t>- README.md — Track 2 capability map</a:t>
            </a:r>
          </a:p>
          <a:p xmlns:a="http://schemas.openxmlformats.org/drawingml/2006/main">
            <a:r>
              <a:t>- src/radeonstay — implemented local Agent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rail to compress the demo story. The final result is derived from verified JourneyState, not chat history.</a:t>
            </a:r>
          </a:p>
          <a:p xmlns:a="http://schemas.openxmlformats.org/drawingml/2006/main">
            <a:r>
              <a:t/>
            </a:r>
          </a:p>
          <a:p xmlns:a="http://schemas.openxmlformats.org/drawingml/2006/main">
            <a:r>
              <a:t>[Sources]</a:t>
            </a:r>
          </a:p>
          <a:p xmlns:a="http://schemas.openxmlformats.org/drawingml/2006/main">
            <a:r>
              <a:t>- Live C deployment screenshot captured after the final safety handoff</a:t>
            </a:r>
          </a:p>
          <a:p xmlns:a="http://schemas.openxmlformats.org/drawingml/2006/main">
            <a:r>
              <a:t>- docs/demo-script.md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capability tokens never reach the browser and the privacy proof reports zero cross-user data and zero writes.</a:t>
            </a:r>
          </a:p>
          <a:p xmlns:a="http://schemas.openxmlformats.org/drawingml/2006/main">
            <a:r>
              <a:t/>
            </a:r>
          </a:p>
          <a:p xmlns:a="http://schemas.openxmlformats.org/drawingml/2006/main">
            <a:r>
              <a:t>[Sources]</a:t>
            </a:r>
          </a:p>
          <a:p xmlns:a="http://schemas.openxmlformats.org/drawingml/2006/main">
            <a:r>
              <a:t>- Live quote confirmation screenshot</a:t>
            </a:r>
          </a:p>
          <a:p xmlns:a="http://schemas.openxmlformats.org/drawingml/2006/main">
            <a:r>
              <a:t>- Live Privacy Proof screenshot</a:t>
            </a:r>
          </a:p>
          <a:p xmlns:a="http://schemas.openxmlformats.org/drawingml/2006/main">
            <a:r>
              <a:t>- README.md — Confirmation, privacy, and grounding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proof row left to right: ROCm, architecture, full offload, process binding, request binding, winner, gain, and immutable hashes.</a:t>
            </a:r>
          </a:p>
          <a:p xmlns:a="http://schemas.openxmlformats.org/drawingml/2006/main">
            <a:r>
              <a:t/>
            </a:r>
          </a:p>
          <a:p xmlns:a="http://schemas.openxmlformats.org/drawingml/2006/main">
            <a:r>
              <a:t>[Sources]</a:t>
            </a:r>
          </a:p>
          <a:p xmlns:a="http://schemas.openxmlformats.org/drawingml/2006/main">
            <a:r>
              <a:t>- docs/evidence/c3min-f7ba681-bc-comparison.json</a:t>
            </a:r>
          </a:p>
          <a:p xmlns:a="http://schemas.openxmlformats.org/drawingml/2006/main">
            <a:r>
              <a:t>- Live Request Trust Card screenshot from winner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experimental contract before the gains. The result is accepted because quality is unchanged and multiple core metrics improve without a five-percent regression.</a:t>
            </a:r>
          </a:p>
          <a:p xmlns:a="http://schemas.openxmlformats.org/drawingml/2006/main">
            <a:r>
              <a:t/>
            </a:r>
          </a:p>
          <a:p xmlns:a="http://schemas.openxmlformats.org/drawingml/2006/main">
            <a:r>
              <a:t>[Sources]</a:t>
            </a:r>
          </a:p>
          <a:p xmlns:a="http://schemas.openxmlformats.org/drawingml/2006/main">
            <a:r>
              <a:t>- docs/evidence/c3min-f7ba681-bc-comparison.json</a:t>
            </a:r>
          </a:p>
          <a:p xmlns:a="http://schemas.openxmlformats.org/drawingml/2006/main">
            <a:r>
              <a:t>- Accepted comparison SHA256 7f85a614a31da10e5484ee41034282210ac44caf84012617dea5c786c0f03f59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an optional, explicitly isolated bonus route. Do not claim a validated bonus score, accepted performance comparison, or verified server-side quantization.</a:t>
            </a:r>
          </a:p>
          <a:p xmlns:a="http://schemas.openxmlformats.org/drawingml/2006/main">
            <a:r>
              <a:t/>
            </a:r>
          </a:p>
          <a:p xmlns:a="http://schemas.openxmlformats.org/drawingml/2006/main">
            <a:r>
              <a:t>[Sources]</a:t>
            </a:r>
          </a:p>
          <a:p xmlns:a="http://schemas.openxmlformats.org/drawingml/2006/main">
            <a:r>
              <a:t>- https://github.com/AMD-DEV-CONTEST/Radeon-hackathon-2026-07/tree/main/Radeon-Cloud-User%20Guide — Official Radeon Cloud user guide</a:t>
            </a:r>
          </a:p>
          <a:p xmlns:a="http://schemas.openxmlformats.org/drawingml/2006/main">
            <a:r>
              <a:t>- .env.example — Explicit opt-in configuration</a:t>
            </a:r>
          </a:p>
          <a:p xmlns:a="http://schemas.openxmlformats.org/drawingml/2006/main">
            <a:r>
              <a:t>- src/radeonstay/config.py — Backend and allow-list configuration</a:t>
            </a:r>
          </a:p>
          <a:p xmlns:a="http://schemas.openxmlformats.org/drawingml/2006/main">
            <a:r>
              <a:t>- src/radeonstay/main.py — Runtime isolation and proof boundary</a:t>
            </a:r>
          </a:p>
          <a:p xmlns:a="http://schemas.openxmlformats.org/drawingml/2006/main">
            <a:r>
              <a:t>- src/radeonstay/cloud_model_client.py — Radeon Cloud Public Free API client</a:t>
            </a:r>
          </a:p>
          <a:p xmlns:a="http://schemas.openxmlformats.org/drawingml/2006/main">
            <a:r>
              <a:t>- src/radeonstay/planning.py — Fused planning and evidence-selection mode</a:t>
            </a:r>
          </a:p>
          <a:p xmlns:a="http://schemas.openxmlformats.org/drawingml/2006/main">
            <a:r>
              <a:t>- No bonus score, accepted benchmark, or server-side quantization result is claimed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verifiability. Invite judges to open the live demo, follow the unique CTA, and inspect Advanced Proof. The optional Cloud API route is implemented but is not represented as accepted bonus evidence.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docs/evidence-index.md</a:t>
            </a:r>
          </a:p>
          <a:p xmlns:a="http://schemas.openxmlformats.org/drawingml/2006/main">
            <a:r>
              <a:t>- https://github.com/AMD-DEV-CONTEST/Radeon-hackathon-2026-07/pull/192</a:t>
            </a:r>
          </a:p>
          <a:p xmlns:a="http://schemas.openxmlformats.org/drawingml/2006/main">
            <a:r>
              <a:t>- https://rc-5ec89b08f896792e.radeon.firstdg.ai/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0fe7d6f96f40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60a6d714214501" /><Relationship Type="http://schemas.openxmlformats.org/officeDocument/2006/relationships/slideLayout" Target="/ppt/slideLayouts/slideLayout1.xml" Id="Rad176ceea46b49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76ceea46b49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cc043a88de477a" /><Relationship Type="http://schemas.openxmlformats.org/officeDocument/2006/relationships/image" Target="/ppt/media/image.png" Id="Rde884aaecc6f4363" /><Relationship Type="http://schemas.openxmlformats.org/officeDocument/2006/relationships/notesSlide" Target="/ppt/notesSlides/notesSlide1.xml" Id="R20961b4abdfc49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5721eac8474867" /><Relationship Type="http://schemas.openxmlformats.org/officeDocument/2006/relationships/image" Target="/ppt/media/image.jpeg" Id="R78d67ec14c7b4d18" /><Relationship Type="http://schemas.openxmlformats.org/officeDocument/2006/relationships/notesSlide" Target="/ppt/notesSlides/notesSlide2.xml" Id="Rb5e5af035dca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a38838756f4e57" /><Relationship Type="http://schemas.openxmlformats.org/officeDocument/2006/relationships/notesSlide" Target="/ppt/notesSlides/notesSlide3.xml" Id="R7d2b324790ad44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939d2c86854d89" /><Relationship Type="http://schemas.openxmlformats.org/officeDocument/2006/relationships/notesSlide" Target="/ppt/notesSlides/notesSlide4.xml" Id="Rb6a50fae651344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6bd7cd8de64c38" /><Relationship Type="http://schemas.openxmlformats.org/officeDocument/2006/relationships/image" Target="/ppt/media/image2.png" Id="R0fd84bb72d8847a1" /><Relationship Type="http://schemas.openxmlformats.org/officeDocument/2006/relationships/notesSlide" Target="/ppt/notesSlides/notesSlide5.xml" Id="Ra9d325160aec48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dbb1a40e8e4fe8" /><Relationship Type="http://schemas.openxmlformats.org/officeDocument/2006/relationships/image" Target="/ppt/media/image2.jpeg" Id="R480631ad1f814283" /><Relationship Type="http://schemas.openxmlformats.org/officeDocument/2006/relationships/image" Target="/ppt/media/image3.png" Id="R8416048e9d864233" /><Relationship Type="http://schemas.openxmlformats.org/officeDocument/2006/relationships/notesSlide" Target="/ppt/notesSlides/notesSlide6.xml" Id="R665083443d024e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50c38920de472f" /><Relationship Type="http://schemas.openxmlformats.org/officeDocument/2006/relationships/image" Target="/ppt/media/image4.png" Id="R28ed17a96f5849ca" /><Relationship Type="http://schemas.openxmlformats.org/officeDocument/2006/relationships/notesSlide" Target="/ppt/notesSlides/notesSlide7.xml" Id="R94c3a5d5dd1840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8fcf03f14a41bc" /><Relationship Type="http://schemas.openxmlformats.org/officeDocument/2006/relationships/chart" Target="/ppt/slides/charts/chart1.xml" Id="R9f8ad9886c9d4045" /><Relationship Type="http://schemas.openxmlformats.org/officeDocument/2006/relationships/notesSlide" Target="/ppt/notesSlides/notesSlide8.xml" Id="Rfbe12edc727a44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7727db1e5b46ab" /><Relationship Type="http://schemas.openxmlformats.org/officeDocument/2006/relationships/notesSlide" Target="/ppt/notesSlides/notesSlide9.xml" Id="R3c2cd4e3f30f43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fa0e5237c04672" /><Relationship Type="http://schemas.openxmlformats.org/officeDocument/2006/relationships/notesSlide" Target="/ppt/notesSlides/notesSlide10.xml" Id="Rb7f91ea8b7e04b72" /></Relationships>
</file>

<file path=ppt/slides/charts/chart1.xml><?xml version="1.0" encoding="utf-8"?>
<c:chartSpace xmlns:c="http://schemas.openxmlformats.org/drawingml/2006/chart">
  <c:lang val="en-US"/>
  <c:chart>
    <c:plotArea>
      <c:barChart>
        <c:barDir val="col"/>
        <c:grouping val="clustered"/>
        <c:varyColors val="0"/>
        <c:ser>
          <c:idx val="0"/>
          <c:order val="0"/>
          <c:tx>
            <c:v>B · Flash off</c:v>
          </c:tx>
          <c:spPr>
            <a:solidFill xmlns:a="http://schemas.openxmlformats.org/drawingml/2006/main">
              <a:srgbClr val="6DCBF4"/>
            </a:solidFill>
          </c:spPr>
          <c:cat>
            <c:strLit>
              <c:ptCount val="2"/>
              <c:pt idx="0">
                <c:v>C1 throughput</c:v>
              </c:pt>
              <c:pt idx="1">
                <c:v>C4 throughput</c:v>
              </c:pt>
            </c:strLit>
          </c:cat>
          <c:val>
            <c:numLit>
              <c:formatCode>0.0</c:formatCode>
              <c:ptCount val="2"/>
              <c:pt idx="0">
                <c:v>100</c:v>
              </c:pt>
              <c:pt idx="1">
                <c:v>100</c:v>
              </c:pt>
            </c:numLit>
          </c:val>
        </c:ser>
        <c:ser>
          <c:idx val="1"/>
          <c:order val="1"/>
          <c:tx>
            <c:v>C · Flash on</c:v>
          </c:tx>
          <c:spPr>
            <a:solidFill xmlns:a="http://schemas.openxmlformats.org/drawingml/2006/main">
              <a:srgbClr val="3D8DFF"/>
            </a:solidFill>
          </c:spPr>
          <c:cat>
            <c:strLit>
              <c:ptCount val="2"/>
              <c:pt idx="0">
                <c:v>C1 throughput</c:v>
              </c:pt>
              <c:pt idx="1">
                <c:v>C4 throughput</c:v>
              </c:pt>
            </c:strLit>
          </c:cat>
          <c:val>
            <c:numLit>
              <c:formatCode>0.0</c:formatCode>
              <c:ptCount val="2"/>
              <c:pt idx="0">
                <c:v>106.455</c:v>
              </c:pt>
              <c:pt idx="1">
                <c:v>106.491</c:v>
              </c:pt>
            </c:numLit>
          </c:val>
        </c:ser>
        <c:dLbls>
          <c:txPr>
            <a:bodyPr xmlns:a="http://schemas.openxmlformats.org/drawingml/2006/main" anchorCtr="1"/>
            <a:lstStyle xmlns:a="http://schemas.openxmlformats.org/drawingml/2006/main"/>
            <a:p xmlns:a="http://schemas.openxmlformats.org/drawingml/2006/main">
              <a:pPr>
                <a:defRPr sz="975" b="1">
                  <a:solidFill>
                    <a:srgbClr val="000000"/>
                  </a:solidFil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00000"/>
                </a:solidFill>
              </a:defRPr>
            </a:pPr>
          </a:p>
        </c:txPr>
        <c:crossAx val="48672768"/>
      </c:catAx>
      <c:valAx>
        <c:axId val="48672768"/>
        <c:scaling>
          <c:orientation val="minMax"/>
          <c:max val="115"/>
          <c:min val="0"/>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F6368"/>
                    </a:solidFill>
                  </a:rPr>
                  <a:t>Relative throughput · B = 100</a:t>
                </a:r>
              </a:p>
            </c:rich>
          </c:tx>
          <c:overlay val="0"/>
          <c:txPr>
            <a:bodyPr xmlns:a="http://schemas.openxmlformats.org/drawingml/2006/main" anchorCtr="1"/>
            <a:lstStyle xmlns:a="http://schemas.openxmlformats.org/drawingml/2006/main"/>
            <a:p xmlns:a="http://schemas.openxmlformats.org/drawingml/2006/main">
              <a:pPr>
                <a:defRPr sz="1050">
                  <a:solidFill>
                    <a:srgbClr val="5F6368"/>
                  </a:solidFill>
                </a:defRPr>
              </a:pPr>
            </a:p>
          </c:txPr>
        </c:title>
        <c:numFmt formatCode="0.0"/>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5F6368"/>
                </a:solidFill>
              </a:defRPr>
            </a:pPr>
          </a:p>
        </c:txPr>
        <c:crossAx val="48650112"/>
        <c:crossBetween val="between"/>
        <c:majorUnit val="25"/>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F6368"/>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759EDE-7610-47C7-ADEF-A1B38DDD9E80}"/>
              </a:ext>
            </a:extLst>
          </p:cNvPr>
          <p:cNvSpPr>
            <a:spLocks xmlns:a="http://schemas.openxmlformats.org/drawingml/2006/main" noGrp="1"/>
          </p:cNvSpPr>
          <p:nvPr/>
        </p:nvSpPr>
        <p:spPr>
          <a:xfrm xmlns:a="http://schemas.openxmlformats.org/drawingml/2006/main">
            <a:off x="400050" y="4000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AMD RADEON + ROCm · TRACK 2</a:t>
            </a:r>
          </a:p>
        </p:txBody>
      </p:sp>
      <p:sp>
        <p:nvSpPr>
          <p:cNvPr id="2" name="">
            <a:extLst xmlns:a="http://schemas.openxmlformats.org/drawingml/2006/main">
              <a:ext uri="{FF2B5EF4-FFF2-40B4-BE49-F238E27FC236}">
                <a16:creationId xmlns:a16="http://schemas.microsoft.com/office/drawing/2014/main" id="{B2646375-8FBD-418E-8B8E-3D53F70FDEC6}"/>
              </a:ext>
            </a:extLst>
          </p:cNvPr>
          <p:cNvSpPr>
            <a:spLocks xmlns:a="http://schemas.openxmlformats.org/drawingml/2006/main" noGrp="1"/>
          </p:cNvSpPr>
          <p:nvPr/>
        </p:nvSpPr>
        <p:spPr>
          <a:xfrm xmlns:a="http://schemas.openxmlformats.org/drawingml/2006/main">
            <a:off x="400050" y="16954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a:solidFill>
                  <a:srgbClr val="000000"/>
                </a:solidFill>
                <a:latin typeface="Helvetica Neue"/>
                <a:ea typeface="Helvetica Neue"/>
                <a:cs typeface="Helvetica Neue"/>
              </a:defRPr>
            </a:pPr>
            <a:r>
              <a:rPr sz="4800" b="1">
                <a:solidFill>
                  <a:srgbClr val="000000"/>
                </a:solidFill>
                <a:latin typeface="Helvetica Neue"/>
                <a:ea typeface="Helvetica Neue"/>
                <a:cs typeface="Helvetica Neue"/>
              </a:rPr>
              <a:t>RadeonHotel</a:t>
            </a:r>
          </a:p>
        </p:txBody>
      </p:sp>
      <p:sp>
        <p:nvSpPr>
          <p:cNvPr id="3" name="">
            <a:extLst xmlns:a="http://schemas.openxmlformats.org/drawingml/2006/main">
              <a:ext uri="{FF2B5EF4-FFF2-40B4-BE49-F238E27FC236}">
                <a16:creationId xmlns:a16="http://schemas.microsoft.com/office/drawing/2014/main" id="{CA7F7ABF-3EA1-44EE-BD5A-BF099FF7E8C0}"/>
              </a:ext>
            </a:extLst>
          </p:cNvPr>
          <p:cNvSpPr>
            <a:spLocks xmlns:a="http://schemas.openxmlformats.org/drawingml/2006/main" noGrp="1"/>
          </p:cNvSpPr>
          <p:nvPr/>
        </p:nvSpPr>
        <p:spPr>
          <a:xfrm xmlns:a="http://schemas.openxmlformats.org/drawingml/2006/main">
            <a:off x="400050" y="2628900"/>
            <a:ext cx="533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Private journey recovery, proven on Radeon</a:t>
            </a:r>
          </a:p>
        </p:txBody>
      </p:sp>
      <p:sp>
        <p:nvSpPr>
          <p:cNvPr id="4" name="">
            <a:extLst xmlns:a="http://schemas.openxmlformats.org/drawingml/2006/main">
              <a:ext uri="{FF2B5EF4-FFF2-40B4-BE49-F238E27FC236}">
                <a16:creationId xmlns:a16="http://schemas.microsoft.com/office/drawing/2014/main" id="{37855A66-C5F1-49A4-9A94-9753797E645F}"/>
              </a:ext>
            </a:extLst>
          </p:cNvPr>
          <p:cNvSpPr>
            <a:spLocks xmlns:a="http://schemas.openxmlformats.org/drawingml/2006/main" noGrp="1"/>
          </p:cNvSpPr>
          <p:nvPr/>
        </p:nvSpPr>
        <p:spPr>
          <a:xfrm xmlns:a="http://schemas.openxmlformats.org/drawingml/2006/main">
            <a:off x="400050" y="3857625"/>
            <a:ext cx="5286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Plans, quotes, confirms, recovers delays, protects private memory, and produces an auditable stay outcome—fully local.</a:t>
            </a:r>
          </a:p>
        </p:txBody>
      </p:sp>
      <p:sp>
        <p:nvSpPr>
          <p:cNvPr id="5" name="">
            <a:extLst xmlns:a="http://schemas.openxmlformats.org/drawingml/2006/main">
              <a:ext uri="{FF2B5EF4-FFF2-40B4-BE49-F238E27FC236}">
                <a16:creationId xmlns:a16="http://schemas.microsoft.com/office/drawing/2014/main" id="{C5CD64F8-0016-4120-9022-97573FDF9CD9}"/>
              </a:ext>
            </a:extLst>
          </p:cNvPr>
          <p:cNvSpPr>
            <a:spLocks xmlns:a="http://schemas.openxmlformats.org/drawingml/2006/main" noGrp="1"/>
          </p:cNvSpPr>
          <p:nvPr/>
        </p:nvSpPr>
        <p:spPr>
          <a:xfrm xmlns:a="http://schemas.openxmlformats.org/drawingml/2006/main">
            <a:off x="400050" y="5648325"/>
            <a:ext cx="528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RadeonStay implementation · C2 f7ba681 · Winner C</a:t>
            </a:r>
          </a:p>
        </p:txBody>
      </p:sp>
      <p:sp>
        <p:nvSpPr>
          <p:cNvPr id="6" name="">
            <a:extLst xmlns:a="http://schemas.openxmlformats.org/drawingml/2006/main">
              <a:ext uri="{FF2B5EF4-FFF2-40B4-BE49-F238E27FC236}">
                <a16:creationId xmlns:a16="http://schemas.microsoft.com/office/drawing/2014/main" id="{CC645B82-7740-4A38-AB11-ABA4B4ADC286}"/>
              </a:ext>
            </a:extLst>
          </p:cNvPr>
          <p:cNvSpPr>
            <a:spLocks xmlns:a="http://schemas.openxmlformats.org/drawingml/2006/main" noGrp="1"/>
          </p:cNvSpPr>
          <p:nvPr/>
        </p:nvSpPr>
        <p:spPr>
          <a:xfrm xmlns:a="http://schemas.openxmlformats.org/drawingml/2006/main">
            <a:off x="6267450" y="400050"/>
            <a:ext cx="5534025" cy="5600700"/>
          </a:xfrm>
          <a:prstGeom xmlns:a="http://schemas.openxmlformats.org/drawingml/2006/main" prst="roundRect">
            <a:avLst>
              <a:gd name="adj" fmla="val 2065"/>
            </a:avLst>
          </a:prstGeom>
          <a:solidFill xmlns:a="http://schemas.openxmlformats.org/drawingml/2006/main">
            <a:srgbClr val="EAF5FB"/>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e884aaecc6f4363"/>
          <a:srcRect xmlns:a="http://schemas.openxmlformats.org/drawingml/2006/main" l="595" t="0" r="595" b="0"/>
          <a:stretch xmlns:a="http://schemas.openxmlformats.org/drawingml/2006/main">
            <a:fillRect l="0" t="0" r="0" b="0"/>
          </a:stretch>
        </p:blipFill>
        <p:spPr>
          <a:xfrm xmlns:a="http://schemas.openxmlformats.org/drawingml/2006/main">
            <a:off x="6267450" y="400050"/>
            <a:ext cx="5534025" cy="5600700"/>
          </a:xfrm>
          <a:prstGeom xmlns:a="http://schemas.openxmlformats.org/drawingml/2006/main" prst="roundRect">
            <a:avLst>
              <a:gd name="adj" fmla="val 2065"/>
            </a:avLst>
          </a:prstGeom>
        </p:spPr>
      </p:pic>
    </p:spTree>
    <p:extLst>
      <p:ext uri="{BB962C8B-B14F-4D97-AF65-F5344CB8AC3E}">
        <p14:creationId xmlns:p14="http://schemas.microsoft.com/office/powerpoint/2010/main" val="544444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title">
            <a:extLst xmlns:a="http://schemas.openxmlformats.org/drawingml/2006/main">
              <a:ext uri="{FF2B5EF4-FFF2-40B4-BE49-F238E27FC236}">
                <a16:creationId xmlns:a16="http://schemas.microsoft.com/office/drawing/2014/main" id="{C3D7C36C-CF63-4DA6-811B-C2A6A9375082}"/>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One disrupted stay becomes one coordinated journey</a:t>
            </a:r>
          </a:p>
        </p:txBody>
      </p:sp>
      <p:sp>
        <p:nvSpPr>
          <p:cNvPr id="2" name="">
            <a:extLst xmlns:a="http://schemas.openxmlformats.org/drawingml/2006/main">
              <a:ext uri="{FF2B5EF4-FFF2-40B4-BE49-F238E27FC236}">
                <a16:creationId xmlns:a16="http://schemas.microsoft.com/office/drawing/2014/main" id="{442A51B2-7BCB-4C43-8D3C-75BB4F6ADA0A}"/>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15451A83-553A-4171-BDFC-520931AA7E52}"/>
              </a:ext>
            </a:extLst>
          </p:cNvPr>
          <p:cNvSpPr>
            <a:spLocks xmlns:a="http://schemas.openxmlformats.org/drawingml/2006/main" noGrp="1"/>
          </p:cNvSpPr>
          <p:nvPr/>
        </p:nvSpPr>
        <p:spPr>
          <a:xfrm xmlns:a="http://schemas.openxmlformats.org/drawingml/2006/main">
            <a:off x="400050" y="1381125"/>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The guest arrives late with a child, a severe allergy, a quiet-room preference, and an airport transfer already in motion.</a:t>
            </a:r>
          </a:p>
        </p:txBody>
      </p:sp>
      <p:sp>
        <p:nvSpPr>
          <p:cNvPr id="4" name="">
            <a:extLst xmlns:a="http://schemas.openxmlformats.org/drawingml/2006/main">
              <a:ext uri="{FF2B5EF4-FFF2-40B4-BE49-F238E27FC236}">
                <a16:creationId xmlns:a16="http://schemas.microsoft.com/office/drawing/2014/main" id="{FB80241B-9F8D-4FB3-82A1-4EFB264E1261}"/>
              </a:ext>
            </a:extLst>
          </p:cNvPr>
          <p:cNvSpPr>
            <a:spLocks xmlns:a="http://schemas.openxmlformats.org/drawingml/2006/main" noGrp="1"/>
          </p:cNvSpPr>
          <p:nvPr/>
        </p:nvSpPr>
        <p:spPr>
          <a:xfrm xmlns:a="http://schemas.openxmlformats.org/drawingml/2006/main">
            <a:off x="400050" y="30670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F6368"/>
                </a:solidFill>
                <a:latin typeface="Helvetica Neue"/>
                <a:ea typeface="Helvetica Neue"/>
                <a:cs typeface="Helvetica Neue"/>
              </a:defRPr>
            </a:pPr>
            <a:r>
              <a:rPr sz="1575" b="0">
                <a:solidFill>
                  <a:srgbClr val="5F6368"/>
                </a:solidFill>
                <a:latin typeface="Helvetica Neue"/>
                <a:ea typeface="Helvetica Neue"/>
                <a:cs typeface="Helvetica Neue"/>
              </a:rPr>
              <a:t>RadeonHotel turns that ambiguity into one reversible workflow:</a:t>
            </a:r>
          </a:p>
        </p:txBody>
      </p:sp>
      <p:sp>
        <p:nvSpPr>
          <p:cNvPr id="5" name="">
            <a:extLst xmlns:a="http://schemas.openxmlformats.org/drawingml/2006/main">
              <a:ext uri="{FF2B5EF4-FFF2-40B4-BE49-F238E27FC236}">
                <a16:creationId xmlns:a16="http://schemas.microsoft.com/office/drawing/2014/main" id="{C5AC2CAC-FE9C-4812-BC63-06FA164CD29D}"/>
              </a:ext>
            </a:extLst>
          </p:cNvPr>
          <p:cNvSpPr>
            <a:spLocks xmlns:a="http://schemas.openxmlformats.org/drawingml/2006/main" noGrp="1"/>
          </p:cNvSpPr>
          <p:nvPr/>
        </p:nvSpPr>
        <p:spPr>
          <a:xfrm xmlns:a="http://schemas.openxmlformats.org/drawingml/2006/main">
            <a:off x="400050" y="36766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78FD1EE-2EA8-4F30-A1B3-54245DC095FF}"/>
              </a:ext>
            </a:extLst>
          </p:cNvPr>
          <p:cNvSpPr>
            <a:spLocks xmlns:a="http://schemas.openxmlformats.org/drawingml/2006/main" noGrp="1"/>
          </p:cNvSpPr>
          <p:nvPr/>
        </p:nvSpPr>
        <p:spPr>
          <a:xfrm xmlns:a="http://schemas.openxmlformats.org/drawingml/2006/main">
            <a:off x="914400" y="36766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Ground policy and availability locally</a:t>
            </a:r>
          </a:p>
        </p:txBody>
      </p:sp>
      <p:sp>
        <p:nvSpPr>
          <p:cNvPr id="7" name="">
            <a:extLst xmlns:a="http://schemas.openxmlformats.org/drawingml/2006/main">
              <a:ext uri="{FF2B5EF4-FFF2-40B4-BE49-F238E27FC236}">
                <a16:creationId xmlns:a16="http://schemas.microsoft.com/office/drawing/2014/main" id="{17B100C0-F3AE-438D-94A8-75D8685C5A4F}"/>
              </a:ext>
            </a:extLst>
          </p:cNvPr>
          <p:cNvSpPr>
            <a:spLocks xmlns:a="http://schemas.openxmlformats.org/drawingml/2006/main" noGrp="1"/>
          </p:cNvSpPr>
          <p:nvPr/>
        </p:nvSpPr>
        <p:spPr>
          <a:xfrm xmlns:a="http://schemas.openxmlformats.org/drawingml/2006/main">
            <a:off x="400050" y="422910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EEA6D67A-E4AF-411E-989C-1400BA854375}"/>
              </a:ext>
            </a:extLst>
          </p:cNvPr>
          <p:cNvSpPr>
            <a:spLocks xmlns:a="http://schemas.openxmlformats.org/drawingml/2006/main" noGrp="1"/>
          </p:cNvSpPr>
          <p:nvPr/>
        </p:nvSpPr>
        <p:spPr>
          <a:xfrm xmlns:a="http://schemas.openxmlformats.org/drawingml/2006/main">
            <a:off x="914400" y="42291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Preview every consequential change</a:t>
            </a:r>
          </a:p>
        </p:txBody>
      </p:sp>
      <p:sp>
        <p:nvSpPr>
          <p:cNvPr id="9" name="">
            <a:extLst xmlns:a="http://schemas.openxmlformats.org/drawingml/2006/main">
              <a:ext uri="{FF2B5EF4-FFF2-40B4-BE49-F238E27FC236}">
                <a16:creationId xmlns:a16="http://schemas.microsoft.com/office/drawing/2014/main" id="{6F79DE3A-551D-4F32-A49B-D87F470BE92B}"/>
              </a:ext>
            </a:extLst>
          </p:cNvPr>
          <p:cNvSpPr>
            <a:spLocks xmlns:a="http://schemas.openxmlformats.org/drawingml/2006/main" noGrp="1"/>
          </p:cNvSpPr>
          <p:nvPr/>
        </p:nvSpPr>
        <p:spPr>
          <a:xfrm xmlns:a="http://schemas.openxmlformats.org/drawingml/2006/main">
            <a:off x="400050" y="47815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4AED013-02A0-4AA3-ACF8-CB200E447980}"/>
              </a:ext>
            </a:extLst>
          </p:cNvPr>
          <p:cNvSpPr>
            <a:spLocks xmlns:a="http://schemas.openxmlformats.org/drawingml/2006/main" noGrp="1"/>
          </p:cNvSpPr>
          <p:nvPr/>
        </p:nvSpPr>
        <p:spPr>
          <a:xfrm xmlns:a="http://schemas.openxmlformats.org/drawingml/2006/main">
            <a:off x="914400" y="47815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Recover stay and transfer independently</a:t>
            </a:r>
          </a:p>
        </p:txBody>
      </p:sp>
      <p:sp>
        <p:nvSpPr>
          <p:cNvPr id="11" name="">
            <a:extLst xmlns:a="http://schemas.openxmlformats.org/drawingml/2006/main">
              <a:ext uri="{FF2B5EF4-FFF2-40B4-BE49-F238E27FC236}">
                <a16:creationId xmlns:a16="http://schemas.microsoft.com/office/drawing/2014/main" id="{0284E7E7-2A42-46FD-9321-B50B27E7A232}"/>
              </a:ext>
            </a:extLst>
          </p:cNvPr>
          <p:cNvSpPr>
            <a:spLocks xmlns:a="http://schemas.openxmlformats.org/drawingml/2006/main" noGrp="1"/>
          </p:cNvSpPr>
          <p:nvPr/>
        </p:nvSpPr>
        <p:spPr>
          <a:xfrm xmlns:a="http://schemas.openxmlformats.org/drawingml/2006/main">
            <a:off x="400050" y="533400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67D52B96-931A-4ABC-B9BD-265780F44699}"/>
              </a:ext>
            </a:extLst>
          </p:cNvPr>
          <p:cNvSpPr>
            <a:spLocks xmlns:a="http://schemas.openxmlformats.org/drawingml/2006/main" noGrp="1"/>
          </p:cNvSpPr>
          <p:nvPr/>
        </p:nvSpPr>
        <p:spPr>
          <a:xfrm xmlns:a="http://schemas.openxmlformats.org/drawingml/2006/main">
            <a:off x="914400" y="53340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Escalate allergy handling to staff</a:t>
            </a:r>
          </a:p>
        </p:txBody>
      </p:sp>
      <p:sp>
        <p:nvSpPr>
          <p:cNvPr id="13" name="">
            <a:extLst xmlns:a="http://schemas.openxmlformats.org/drawingml/2006/main">
              <a:ext uri="{FF2B5EF4-FFF2-40B4-BE49-F238E27FC236}">
                <a16:creationId xmlns:a16="http://schemas.microsoft.com/office/drawing/2014/main" id="{3A3E8B13-DF12-43BB-AB49-8114E0CBF472}"/>
              </a:ext>
            </a:extLst>
          </p:cNvPr>
          <p:cNvSpPr>
            <a:spLocks xmlns:a="http://schemas.openxmlformats.org/drawingml/2006/main" noGrp="1"/>
          </p:cNvSpPr>
          <p:nvPr/>
        </p:nvSpPr>
        <p:spPr>
          <a:xfrm xmlns:a="http://schemas.openxmlformats.org/drawingml/2006/main">
            <a:off x="5905500" y="1752600"/>
            <a:ext cx="5905500" cy="3810000"/>
          </a:xfrm>
          <a:prstGeom xmlns:a="http://schemas.openxmlformats.org/drawingml/2006/main" prst="roundRect">
            <a:avLst>
              <a:gd name="adj" fmla="val 3000"/>
            </a:avLst>
          </a:prstGeom>
          <a:solidFill xmlns:a="http://schemas.openxmlformats.org/drawingml/2006/main">
            <a:srgbClr val="F7F7F7"/>
          </a:solidFill>
          <a:ln xmlns:a="http://schemas.openxmlformats.org/drawingml/2006/main" w="9525">
            <a:solidFill>
              <a:srgbClr val="B8BCC4"/>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8d67ec14c7b4d18"/>
          <a:stretch xmlns:a="http://schemas.openxmlformats.org/drawingml/2006/main"/>
        </p:blipFill>
        <p:spPr>
          <a:xfrm xmlns:a="http://schemas.openxmlformats.org/drawingml/2006/main">
            <a:off x="5905500" y="1928853"/>
            <a:ext cx="5905500" cy="3457494"/>
          </a:xfrm>
          <a:prstGeom xmlns:a="http://schemas.openxmlformats.org/drawingml/2006/main" prst="roundRect">
            <a:avLst>
              <a:gd name="adj" fmla="val 3000"/>
            </a:avLst>
          </a:prstGeom>
        </p:spPr>
      </p:pic>
      <p:sp>
        <p:nvSpPr>
          <p:cNvPr id="15" name="">
            <a:extLst xmlns:a="http://schemas.openxmlformats.org/drawingml/2006/main">
              <a:ext uri="{FF2B5EF4-FFF2-40B4-BE49-F238E27FC236}">
                <a16:creationId xmlns:a16="http://schemas.microsoft.com/office/drawing/2014/main" id="{85765A91-C849-49A9-B292-4F06A421D95C}"/>
              </a:ext>
            </a:extLst>
          </p:cNvPr>
          <p:cNvSpPr>
            <a:spLocks xmlns:a="http://schemas.openxmlformats.org/drawingml/2006/main" noGrp="1"/>
          </p:cNvSpPr>
          <p:nvPr/>
        </p:nvSpPr>
        <p:spPr>
          <a:xfrm xmlns:a="http://schemas.openxmlformats.org/drawingml/2006/main">
            <a:off x="6096000" y="57150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1">
                <a:solidFill>
                  <a:srgbClr val="5F6368"/>
                </a:solidFill>
                <a:latin typeface="Helvetica Neue"/>
                <a:ea typeface="Helvetica Neue"/>
                <a:cs typeface="Helvetica Neue"/>
              </a:defRPr>
            </a:pPr>
            <a:r>
              <a:rPr sz="1125" b="1">
                <a:solidFill>
                  <a:srgbClr val="5F6368"/>
                </a:solidFill>
                <a:latin typeface="Helvetica Neue"/>
                <a:ea typeface="Helvetica Neue"/>
                <a:cs typeface="Helvetica Neue"/>
              </a:rPr>
              <a:t>REAL UI · authoritative quote + one-time confirmation</a:t>
            </a:r>
          </a:p>
        </p:txBody>
      </p:sp>
    </p:spTree>
    <p:extLst>
      <p:ext uri="{BB962C8B-B14F-4D97-AF65-F5344CB8AC3E}">
        <p14:creationId xmlns:p14="http://schemas.microsoft.com/office/powerpoint/2010/main" val="3426819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3-title">
            <a:extLst xmlns:a="http://schemas.openxmlformats.org/drawingml/2006/main">
              <a:ext uri="{FF2B5EF4-FFF2-40B4-BE49-F238E27FC236}">
                <a16:creationId xmlns:a16="http://schemas.microsoft.com/office/drawing/2014/main" id="{ACB6BB55-136C-4405-9D83-EAF6498C20AB}"/>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model proposes; a deterministic control plane decides</a:t>
            </a:r>
          </a:p>
        </p:txBody>
      </p:sp>
      <p:sp>
        <p:nvSpPr>
          <p:cNvPr id="2" name="">
            <a:extLst xmlns:a="http://schemas.openxmlformats.org/drawingml/2006/main">
              <a:ext uri="{FF2B5EF4-FFF2-40B4-BE49-F238E27FC236}">
                <a16:creationId xmlns:a16="http://schemas.microsoft.com/office/drawing/2014/main" id="{AF178866-EC35-4E44-A4F3-FC4A7CB7395B}"/>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C256AA42-851C-411C-8419-238791F5DB1C}"/>
              </a:ext>
            </a:extLst>
          </p:cNvPr>
          <p:cNvSpPr>
            <a:spLocks xmlns:a="http://schemas.openxmlformats.org/drawingml/2006/main" noGrp="1"/>
          </p:cNvSpPr>
          <p:nvPr/>
        </p:nvSpPr>
        <p:spPr>
          <a:xfrm xmlns:a="http://schemas.openxmlformats.org/drawingml/2006/main">
            <a:off x="400050" y="11430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Every model output crosses typed validation, state preconditions, grounding, and confirmation before a domain write.</a:t>
            </a:r>
          </a:p>
        </p:txBody>
      </p:sp>
      <p:cxnSp>
        <p:nvCxnSpPr>
          <p:cNvPr id="37" name=""/>
          <p:cNvCxnSpPr/>
          <p:nvPr/>
        </p:nvCxnSpPr>
        <p:spPr>
          <a:xfrm xmlns:a="http://schemas.openxmlformats.org/drawingml/2006/main">
            <a:off x="2733675" y="3362325"/>
            <a:ext cx="5048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8" name=""/>
          <p:cNvCxnSpPr/>
          <p:nvPr/>
        </p:nvCxnSpPr>
        <p:spPr>
          <a:xfrm xmlns:a="http://schemas.openxmlformats.org/drawingml/2006/main">
            <a:off x="5810250" y="3362325"/>
            <a:ext cx="514350"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9" name=""/>
          <p:cNvCxnSpPr/>
          <p:nvPr/>
        </p:nvCxnSpPr>
        <p:spPr>
          <a:xfrm xmlns:a="http://schemas.openxmlformats.org/drawingml/2006/main">
            <a:off x="8848725" y="3362325"/>
            <a:ext cx="504825" cy="0"/>
          </a:xfrm>
          <a:prstGeom xmlns:a="http://schemas.openxmlformats.org/drawingml/2006/main" prst="straightConnector1">
            <a:avLst/>
          </a:prstGeom>
          <a:ln xmlns:a="http://schemas.openxmlformats.org/drawingml/2006/main" w="28575">
            <a:solidFill>
              <a:srgbClr val="3D8DFF"/>
            </a:solidFill>
            <a:prstDash val="solid"/>
          </a:ln>
        </p:spPr>
      </p:cxnSp>
      <p:sp>
        <p:nvSpPr>
          <p:cNvPr id="7" name="">
            <a:extLst xmlns:a="http://schemas.openxmlformats.org/drawingml/2006/main">
              <a:ext uri="{FF2B5EF4-FFF2-40B4-BE49-F238E27FC236}">
                <a16:creationId xmlns:a16="http://schemas.microsoft.com/office/drawing/2014/main" id="{5336BA63-AFC7-4521-8B5C-28E1B7749515}"/>
              </a:ext>
            </a:extLst>
          </p:cNvPr>
          <p:cNvSpPr>
            <a:spLocks xmlns:a="http://schemas.openxmlformats.org/drawingml/2006/main" noGrp="1"/>
          </p:cNvSpPr>
          <p:nvPr/>
        </p:nvSpPr>
        <p:spPr>
          <a:xfrm xmlns:a="http://schemas.openxmlformats.org/drawingml/2006/main">
            <a:off x="400050" y="2343150"/>
            <a:ext cx="2333625" cy="2095500"/>
          </a:xfrm>
          <a:prstGeom xmlns:a="http://schemas.openxmlformats.org/drawingml/2006/main" prst="roundRect">
            <a:avLst>
              <a:gd name="adj" fmla="val 5455"/>
            </a:avLst>
          </a:prstGeom>
          <a:solidFill xmlns:a="http://schemas.openxmlformats.org/drawingml/2006/main">
            <a:srgbClr val="F7F7F7"/>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0031C0FC-4A8C-4620-9A3C-0E65F8222963}"/>
              </a:ext>
            </a:extLst>
          </p:cNvPr>
          <p:cNvSpPr>
            <a:spLocks xmlns:a="http://schemas.openxmlformats.org/drawingml/2006/main" noGrp="1"/>
          </p:cNvSpPr>
          <p:nvPr/>
        </p:nvSpPr>
        <p:spPr>
          <a:xfrm xmlns:a="http://schemas.openxmlformats.org/drawingml/2006/main">
            <a:off x="609600" y="2647950"/>
            <a:ext cx="19145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Judge &amp; guest UI</a:t>
            </a:r>
          </a:p>
        </p:txBody>
      </p:sp>
      <p:sp>
        <p:nvSpPr>
          <p:cNvPr id="9" name="">
            <a:extLst xmlns:a="http://schemas.openxmlformats.org/drawingml/2006/main">
              <a:ext uri="{FF2B5EF4-FFF2-40B4-BE49-F238E27FC236}">
                <a16:creationId xmlns:a16="http://schemas.microsoft.com/office/drawing/2014/main" id="{5D4FC60B-6F1E-45B5-9204-5F5995DA452A}"/>
              </a:ext>
            </a:extLst>
          </p:cNvPr>
          <p:cNvSpPr>
            <a:spLocks xmlns:a="http://schemas.openxmlformats.org/drawingml/2006/main" noGrp="1"/>
          </p:cNvSpPr>
          <p:nvPr/>
        </p:nvSpPr>
        <p:spPr>
          <a:xfrm xmlns:a="http://schemas.openxmlformats.org/drawingml/2006/main">
            <a:off x="609600" y="3343275"/>
            <a:ext cx="19145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Gradio · unique CTA</a:t>
            </a:r>
          </a:p>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Journey rail · Trust Card</a:t>
            </a:r>
          </a:p>
        </p:txBody>
      </p:sp>
      <p:sp>
        <p:nvSpPr>
          <p:cNvPr id="10" name="">
            <a:extLst xmlns:a="http://schemas.openxmlformats.org/drawingml/2006/main">
              <a:ext uri="{FF2B5EF4-FFF2-40B4-BE49-F238E27FC236}">
                <a16:creationId xmlns:a16="http://schemas.microsoft.com/office/drawing/2014/main" id="{01B69208-779B-4D7F-B3FC-59D47D804BB8}"/>
              </a:ext>
            </a:extLst>
          </p:cNvPr>
          <p:cNvSpPr>
            <a:spLocks xmlns:a="http://schemas.openxmlformats.org/drawingml/2006/main" noGrp="1"/>
          </p:cNvSpPr>
          <p:nvPr/>
        </p:nvSpPr>
        <p:spPr>
          <a:xfrm xmlns:a="http://schemas.openxmlformats.org/drawingml/2006/main">
            <a:off x="3238500" y="2343150"/>
            <a:ext cx="2571750" cy="2095500"/>
          </a:xfrm>
          <a:prstGeom xmlns:a="http://schemas.openxmlformats.org/drawingml/2006/main" prst="roundRect">
            <a:avLst>
              <a:gd name="adj" fmla="val 5455"/>
            </a:avLst>
          </a:prstGeom>
          <a:solidFill xmlns:a="http://schemas.openxmlformats.org/drawingml/2006/main">
            <a:srgbClr val="EAF5FB"/>
          </a:solidFill>
          <a:ln xmlns:a="http://schemas.openxmlformats.org/drawingml/2006/main" w="19050">
            <a:solidFill>
              <a:srgbClr val="3D8DFF"/>
            </a:solidFill>
            <a:prstDash val="solid"/>
          </a:ln>
        </p:spPr>
      </p:sp>
      <p:sp>
        <p:nvSpPr>
          <p:cNvPr id="11" name="">
            <a:extLst xmlns:a="http://schemas.openxmlformats.org/drawingml/2006/main">
              <a:ext uri="{FF2B5EF4-FFF2-40B4-BE49-F238E27FC236}">
                <a16:creationId xmlns:a16="http://schemas.microsoft.com/office/drawing/2014/main" id="{87467DE8-BCB4-48C9-B5D1-7111B29972E6}"/>
              </a:ext>
            </a:extLst>
          </p:cNvPr>
          <p:cNvSpPr>
            <a:spLocks xmlns:a="http://schemas.openxmlformats.org/drawingml/2006/main" noGrp="1"/>
          </p:cNvSpPr>
          <p:nvPr/>
        </p:nvSpPr>
        <p:spPr>
          <a:xfrm xmlns:a="http://schemas.openxmlformats.org/drawingml/2006/main">
            <a:off x="3448050" y="26479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Agent control plane</a:t>
            </a:r>
          </a:p>
        </p:txBody>
      </p:sp>
      <p:sp>
        <p:nvSpPr>
          <p:cNvPr id="12" name="">
            <a:extLst xmlns:a="http://schemas.openxmlformats.org/drawingml/2006/main">
              <a:ext uri="{FF2B5EF4-FFF2-40B4-BE49-F238E27FC236}">
                <a16:creationId xmlns:a16="http://schemas.microsoft.com/office/drawing/2014/main" id="{02F803C7-F5BD-4AE6-BCC7-8C58EA46D19E}"/>
              </a:ext>
            </a:extLst>
          </p:cNvPr>
          <p:cNvSpPr>
            <a:spLocks xmlns:a="http://schemas.openxmlformats.org/drawingml/2006/main" noGrp="1"/>
          </p:cNvSpPr>
          <p:nvPr/>
        </p:nvSpPr>
        <p:spPr>
          <a:xfrm xmlns:a="http://schemas.openxmlformats.org/drawingml/2006/main">
            <a:off x="3448050" y="3343275"/>
            <a:ext cx="2152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PlanEnvelope · grounding gate</a:t>
            </a:r>
          </a:p>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confirmation state machine</a:t>
            </a:r>
          </a:p>
        </p:txBody>
      </p:sp>
      <p:sp>
        <p:nvSpPr>
          <p:cNvPr id="13" name="">
            <a:extLst xmlns:a="http://schemas.openxmlformats.org/drawingml/2006/main">
              <a:ext uri="{FF2B5EF4-FFF2-40B4-BE49-F238E27FC236}">
                <a16:creationId xmlns:a16="http://schemas.microsoft.com/office/drawing/2014/main" id="{6F07A3FB-6AA6-4B74-B0DA-BA39D9FFAEC2}"/>
              </a:ext>
            </a:extLst>
          </p:cNvPr>
          <p:cNvSpPr>
            <a:spLocks xmlns:a="http://schemas.openxmlformats.org/drawingml/2006/main" noGrp="1"/>
          </p:cNvSpPr>
          <p:nvPr/>
        </p:nvSpPr>
        <p:spPr>
          <a:xfrm xmlns:a="http://schemas.openxmlformats.org/drawingml/2006/main">
            <a:off x="6324600" y="2343150"/>
            <a:ext cx="2524125" cy="2095500"/>
          </a:xfrm>
          <a:prstGeom xmlns:a="http://schemas.openxmlformats.org/drawingml/2006/main" prst="roundRect">
            <a:avLst>
              <a:gd name="adj" fmla="val 5455"/>
            </a:avLst>
          </a:prstGeom>
          <a:solidFill xmlns:a="http://schemas.openxmlformats.org/drawingml/2006/main">
            <a:srgbClr val="F7F7F7"/>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43852D9E-48A5-47AC-8CE8-114AD1A2B3BF}"/>
              </a:ext>
            </a:extLst>
          </p:cNvPr>
          <p:cNvSpPr>
            <a:spLocks xmlns:a="http://schemas.openxmlformats.org/drawingml/2006/main" noGrp="1"/>
          </p:cNvSpPr>
          <p:nvPr/>
        </p:nvSpPr>
        <p:spPr>
          <a:xfrm xmlns:a="http://schemas.openxmlformats.org/drawingml/2006/main">
            <a:off x="6534150" y="2647950"/>
            <a:ext cx="2105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Local intelligence</a:t>
            </a:r>
          </a:p>
        </p:txBody>
      </p:sp>
      <p:sp>
        <p:nvSpPr>
          <p:cNvPr id="15" name="">
            <a:extLst xmlns:a="http://schemas.openxmlformats.org/drawingml/2006/main">
              <a:ext uri="{FF2B5EF4-FFF2-40B4-BE49-F238E27FC236}">
                <a16:creationId xmlns:a16="http://schemas.microsoft.com/office/drawing/2014/main" id="{90596019-DE8D-4F78-BCBA-FC469CDD2988}"/>
              </a:ext>
            </a:extLst>
          </p:cNvPr>
          <p:cNvSpPr>
            <a:spLocks xmlns:a="http://schemas.openxmlformats.org/drawingml/2006/main" noGrp="1"/>
          </p:cNvSpPr>
          <p:nvPr/>
        </p:nvSpPr>
        <p:spPr>
          <a:xfrm xmlns:a="http://schemas.openxmlformats.org/drawingml/2006/main">
            <a:off x="6534150" y="3343275"/>
            <a:ext cx="2105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Qwen3.6 via llama.cpp</a:t>
            </a:r>
          </a:p>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policy RAG · 13 typed tools</a:t>
            </a:r>
          </a:p>
        </p:txBody>
      </p:sp>
      <p:sp>
        <p:nvSpPr>
          <p:cNvPr id="16" name="">
            <a:extLst xmlns:a="http://schemas.openxmlformats.org/drawingml/2006/main">
              <a:ext uri="{FF2B5EF4-FFF2-40B4-BE49-F238E27FC236}">
                <a16:creationId xmlns:a16="http://schemas.microsoft.com/office/drawing/2014/main" id="{8BA3EB8E-085D-4830-A4FB-432892728E53}"/>
              </a:ext>
            </a:extLst>
          </p:cNvPr>
          <p:cNvSpPr>
            <a:spLocks xmlns:a="http://schemas.openxmlformats.org/drawingml/2006/main" noGrp="1"/>
          </p:cNvSpPr>
          <p:nvPr/>
        </p:nvSpPr>
        <p:spPr>
          <a:xfrm xmlns:a="http://schemas.openxmlformats.org/drawingml/2006/main">
            <a:off x="9353550" y="2343150"/>
            <a:ext cx="2447925" cy="2095500"/>
          </a:xfrm>
          <a:prstGeom xmlns:a="http://schemas.openxmlformats.org/drawingml/2006/main" prst="roundRect">
            <a:avLst>
              <a:gd name="adj" fmla="val 5455"/>
            </a:avLst>
          </a:prstGeom>
          <a:solidFill xmlns:a="http://schemas.openxmlformats.org/drawingml/2006/main">
            <a:srgbClr val="F7F7F7"/>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EA379F65-CD4D-4B0F-96D6-5DC8095006B7}"/>
              </a:ext>
            </a:extLst>
          </p:cNvPr>
          <p:cNvSpPr>
            <a:spLocks xmlns:a="http://schemas.openxmlformats.org/drawingml/2006/main" noGrp="1"/>
          </p:cNvSpPr>
          <p:nvPr/>
        </p:nvSpPr>
        <p:spPr>
          <a:xfrm xmlns:a="http://schemas.openxmlformats.org/drawingml/2006/main">
            <a:off x="9563100" y="2647950"/>
            <a:ext cx="20288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Private evidence</a:t>
            </a:r>
          </a:p>
        </p:txBody>
      </p:sp>
      <p:sp>
        <p:nvSpPr>
          <p:cNvPr id="18" name="">
            <a:extLst xmlns:a="http://schemas.openxmlformats.org/drawingml/2006/main">
              <a:ext uri="{FF2B5EF4-FFF2-40B4-BE49-F238E27FC236}">
                <a16:creationId xmlns:a16="http://schemas.microsoft.com/office/drawing/2014/main" id="{41164A10-A454-496E-A041-0D04A0EE6DDE}"/>
              </a:ext>
            </a:extLst>
          </p:cNvPr>
          <p:cNvSpPr>
            <a:spLocks xmlns:a="http://schemas.openxmlformats.org/drawingml/2006/main" noGrp="1"/>
          </p:cNvSpPr>
          <p:nvPr/>
        </p:nvSpPr>
        <p:spPr>
          <a:xfrm xmlns:a="http://schemas.openxmlformats.org/drawingml/2006/main">
            <a:off x="9563100" y="3343275"/>
            <a:ext cx="20288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SQLite JourneyState</a:t>
            </a:r>
          </a:p>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HMAC audit · runtime binding</a:t>
            </a:r>
          </a:p>
        </p:txBody>
      </p:sp>
      <p:sp>
        <p:nvSpPr>
          <p:cNvPr id="19" name="">
            <a:extLst xmlns:a="http://schemas.openxmlformats.org/drawingml/2006/main">
              <a:ext uri="{FF2B5EF4-FFF2-40B4-BE49-F238E27FC236}">
                <a16:creationId xmlns:a16="http://schemas.microsoft.com/office/drawing/2014/main" id="{24F023E6-5016-4993-AC45-6D02CE35B48D}"/>
              </a:ext>
            </a:extLst>
          </p:cNvPr>
          <p:cNvSpPr>
            <a:spLocks xmlns:a="http://schemas.openxmlformats.org/drawingml/2006/main" noGrp="1"/>
          </p:cNvSpPr>
          <p:nvPr/>
        </p:nvSpPr>
        <p:spPr>
          <a:xfrm xmlns:a="http://schemas.openxmlformats.org/drawingml/2006/main">
            <a:off x="400050" y="5029200"/>
            <a:ext cx="11401425"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0" name="">
            <a:extLst xmlns:a="http://schemas.openxmlformats.org/drawingml/2006/main">
              <a:ext uri="{FF2B5EF4-FFF2-40B4-BE49-F238E27FC236}">
                <a16:creationId xmlns:a16="http://schemas.microsoft.com/office/drawing/2014/main" id="{43D6C2B6-4CD9-4782-95D6-3DA067FB02C2}"/>
              </a:ext>
            </a:extLst>
          </p:cNvPr>
          <p:cNvSpPr>
            <a:spLocks xmlns:a="http://schemas.openxmlformats.org/drawingml/2006/main" noGrp="1"/>
          </p:cNvSpPr>
          <p:nvPr/>
        </p:nvSpPr>
        <p:spPr>
          <a:xfrm xmlns:a="http://schemas.openxmlformats.org/drawingml/2006/main">
            <a:off x="400050" y="52863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Base-100 local boundary</a:t>
            </a:r>
          </a:p>
        </p:txBody>
      </p:sp>
      <p:sp>
        <p:nvSpPr>
          <p:cNvPr id="21" name="">
            <a:extLst xmlns:a="http://schemas.openxmlformats.org/drawingml/2006/main">
              <a:ext uri="{FF2B5EF4-FFF2-40B4-BE49-F238E27FC236}">
                <a16:creationId xmlns:a16="http://schemas.microsoft.com/office/drawing/2014/main" id="{1BDEFC65-9009-40A8-947B-A343686DE66A}"/>
              </a:ext>
            </a:extLst>
          </p:cNvPr>
          <p:cNvSpPr>
            <a:spLocks xmlns:a="http://schemas.openxmlformats.org/drawingml/2006/main" noGrp="1"/>
          </p:cNvSpPr>
          <p:nvPr/>
        </p:nvSpPr>
        <p:spPr>
          <a:xfrm xmlns:a="http://schemas.openxmlformats.org/drawingml/2006/main">
            <a:off x="2857500" y="528637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F6368"/>
                </a:solidFill>
                <a:latin typeface="Helvetica Neue"/>
                <a:ea typeface="Helvetica Neue"/>
                <a:cs typeface="Helvetica Neue"/>
              </a:defRPr>
            </a:pPr>
            <a:r>
              <a:rPr sz="1425" b="0">
                <a:solidFill>
                  <a:srgbClr val="5F6368"/>
                </a:solidFill>
                <a:latin typeface="Helvetica Neue"/>
                <a:ea typeface="Helvetica Neue"/>
                <a:cs typeface="Helvetica Neue"/>
              </a:rPr>
              <a:t>Core path: no remote inference API · no arbitrary shell/network/SQL tools · no confirmation capability exposed to the browser</a:t>
            </a:r>
          </a:p>
        </p:txBody>
      </p:sp>
    </p:spTree>
    <p:extLst>
      <p:ext uri="{BB962C8B-B14F-4D97-AF65-F5344CB8AC3E}">
        <p14:creationId xmlns:p14="http://schemas.microsoft.com/office/powerpoint/2010/main" val="2043084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4-title">
            <a:extLst xmlns:a="http://schemas.openxmlformats.org/drawingml/2006/main">
              <a:ext uri="{FF2B5EF4-FFF2-40B4-BE49-F238E27FC236}">
                <a16:creationId xmlns:a16="http://schemas.microsoft.com/office/drawing/2014/main" id="{00C57E6A-E979-4FBC-BB02-642F740EFF14}"/>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Five Track 2 capabilities share one JourneyState</a:t>
            </a:r>
          </a:p>
        </p:txBody>
      </p:sp>
      <p:sp>
        <p:nvSpPr>
          <p:cNvPr id="2" name="">
            <a:extLst xmlns:a="http://schemas.openxmlformats.org/drawingml/2006/main">
              <a:ext uri="{FF2B5EF4-FFF2-40B4-BE49-F238E27FC236}">
                <a16:creationId xmlns:a16="http://schemas.microsoft.com/office/drawing/2014/main" id="{C1B3065A-D0C9-49CD-9F7D-AD112A0B8475}"/>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8A2CFEC3-5CF6-46EB-8D30-2F0F428A0269}"/>
              </a:ext>
            </a:extLst>
          </p:cNvPr>
          <p:cNvSpPr>
            <a:spLocks xmlns:a="http://schemas.openxmlformats.org/drawingml/2006/main" noGrp="1"/>
          </p:cNvSpPr>
          <p:nvPr/>
        </p:nvSpPr>
        <p:spPr>
          <a:xfrm xmlns:a="http://schemas.openxmlformats.org/drawingml/2006/main">
            <a:off x="4000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FCD1826-B6F0-4B20-ADA7-59C59F583B80}"/>
              </a:ext>
            </a:extLst>
          </p:cNvPr>
          <p:cNvSpPr>
            <a:spLocks xmlns:a="http://schemas.openxmlformats.org/drawingml/2006/main" noGrp="1"/>
          </p:cNvSpPr>
          <p:nvPr/>
        </p:nvSpPr>
        <p:spPr>
          <a:xfrm xmlns:a="http://schemas.openxmlformats.org/drawingml/2006/main">
            <a:off x="4000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Local RAG</a:t>
            </a:r>
          </a:p>
        </p:txBody>
      </p:sp>
      <p:sp>
        <p:nvSpPr>
          <p:cNvPr id="5" name="">
            <a:extLst xmlns:a="http://schemas.openxmlformats.org/drawingml/2006/main">
              <a:ext uri="{FF2B5EF4-FFF2-40B4-BE49-F238E27FC236}">
                <a16:creationId xmlns:a16="http://schemas.microsoft.com/office/drawing/2014/main" id="{85CC4315-AF3C-4ADD-AE4A-98C9A2755BDE}"/>
              </a:ext>
            </a:extLst>
          </p:cNvPr>
          <p:cNvSpPr>
            <a:spLocks xmlns:a="http://schemas.openxmlformats.org/drawingml/2006/main" noGrp="1"/>
          </p:cNvSpPr>
          <p:nvPr/>
        </p:nvSpPr>
        <p:spPr>
          <a:xfrm xmlns:a="http://schemas.openxmlformats.org/drawingml/2006/main">
            <a:off x="4000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Multilingual policy retrieval with stable chunk IDs and citation support.</a:t>
            </a:r>
          </a:p>
        </p:txBody>
      </p:sp>
      <p:sp>
        <p:nvSpPr>
          <p:cNvPr id="6" name="">
            <a:extLst xmlns:a="http://schemas.openxmlformats.org/drawingml/2006/main">
              <a:ext uri="{FF2B5EF4-FFF2-40B4-BE49-F238E27FC236}">
                <a16:creationId xmlns:a16="http://schemas.microsoft.com/office/drawing/2014/main" id="{78AD1360-3ACF-4D6A-A1A7-EF5BE6DFE7DA}"/>
              </a:ext>
            </a:extLst>
          </p:cNvPr>
          <p:cNvSpPr>
            <a:spLocks xmlns:a="http://schemas.openxmlformats.org/drawingml/2006/main" noGrp="1"/>
          </p:cNvSpPr>
          <p:nvPr/>
        </p:nvSpPr>
        <p:spPr>
          <a:xfrm xmlns:a="http://schemas.openxmlformats.org/drawingml/2006/main">
            <a:off x="25336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
            <a:extLst xmlns:a="http://schemas.openxmlformats.org/drawingml/2006/main">
              <a:ext uri="{FF2B5EF4-FFF2-40B4-BE49-F238E27FC236}">
                <a16:creationId xmlns:a16="http://schemas.microsoft.com/office/drawing/2014/main" id="{F4821B5E-7575-4958-831F-D2F92D769A5D}"/>
              </a:ext>
            </a:extLst>
          </p:cNvPr>
          <p:cNvSpPr>
            <a:spLocks xmlns:a="http://schemas.openxmlformats.org/drawingml/2006/main" noGrp="1"/>
          </p:cNvSpPr>
          <p:nvPr/>
        </p:nvSpPr>
        <p:spPr>
          <a:xfrm xmlns:a="http://schemas.openxmlformats.org/drawingml/2006/main">
            <a:off x="27241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DAF6396F-F13C-4190-89CC-F30358B49273}"/>
              </a:ext>
            </a:extLst>
          </p:cNvPr>
          <p:cNvSpPr>
            <a:spLocks xmlns:a="http://schemas.openxmlformats.org/drawingml/2006/main" noGrp="1"/>
          </p:cNvSpPr>
          <p:nvPr/>
        </p:nvSpPr>
        <p:spPr>
          <a:xfrm xmlns:a="http://schemas.openxmlformats.org/drawingml/2006/main">
            <a:off x="27241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Tool calling</a:t>
            </a:r>
          </a:p>
        </p:txBody>
      </p:sp>
      <p:sp>
        <p:nvSpPr>
          <p:cNvPr id="9" name="">
            <a:extLst xmlns:a="http://schemas.openxmlformats.org/drawingml/2006/main">
              <a:ext uri="{FF2B5EF4-FFF2-40B4-BE49-F238E27FC236}">
                <a16:creationId xmlns:a16="http://schemas.microsoft.com/office/drawing/2014/main" id="{E4155D09-CC64-4D33-B26D-E4B5017D7012}"/>
              </a:ext>
            </a:extLst>
          </p:cNvPr>
          <p:cNvSpPr>
            <a:spLocks xmlns:a="http://schemas.openxmlformats.org/drawingml/2006/main" noGrp="1"/>
          </p:cNvSpPr>
          <p:nvPr/>
        </p:nvSpPr>
        <p:spPr>
          <a:xfrm xmlns:a="http://schemas.openxmlformats.org/drawingml/2006/main">
            <a:off x="27241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13 allow-listed, strongly typed hotel, memory, and journey tools.</a:t>
            </a:r>
          </a:p>
        </p:txBody>
      </p:sp>
      <p:sp>
        <p:nvSpPr>
          <p:cNvPr id="10" name="">
            <a:extLst xmlns:a="http://schemas.openxmlformats.org/drawingml/2006/main">
              <a:ext uri="{FF2B5EF4-FFF2-40B4-BE49-F238E27FC236}">
                <a16:creationId xmlns:a16="http://schemas.microsoft.com/office/drawing/2014/main" id="{9428D28C-5ECF-40F3-9E67-4A97FAE80E61}"/>
              </a:ext>
            </a:extLst>
          </p:cNvPr>
          <p:cNvSpPr>
            <a:spLocks xmlns:a="http://schemas.openxmlformats.org/drawingml/2006/main" noGrp="1"/>
          </p:cNvSpPr>
          <p:nvPr/>
        </p:nvSpPr>
        <p:spPr>
          <a:xfrm xmlns:a="http://schemas.openxmlformats.org/drawingml/2006/main">
            <a:off x="48577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5D800D92-8F73-482A-8E4D-B7D8F50BC158}"/>
              </a:ext>
            </a:extLst>
          </p:cNvPr>
          <p:cNvSpPr>
            <a:spLocks xmlns:a="http://schemas.openxmlformats.org/drawingml/2006/main" noGrp="1"/>
          </p:cNvSpPr>
          <p:nvPr/>
        </p:nvSpPr>
        <p:spPr>
          <a:xfrm xmlns:a="http://schemas.openxmlformats.org/drawingml/2006/main">
            <a:off x="50482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563B32D3-3362-4F26-B05D-D8D76BCDBF43}"/>
              </a:ext>
            </a:extLst>
          </p:cNvPr>
          <p:cNvSpPr>
            <a:spLocks xmlns:a="http://schemas.openxmlformats.org/drawingml/2006/main" noGrp="1"/>
          </p:cNvSpPr>
          <p:nvPr/>
        </p:nvSpPr>
        <p:spPr>
          <a:xfrm xmlns:a="http://schemas.openxmlformats.org/drawingml/2006/main">
            <a:off x="50482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Multi-step planning</a:t>
            </a:r>
          </a:p>
        </p:txBody>
      </p:sp>
      <p:sp>
        <p:nvSpPr>
          <p:cNvPr id="13" name="">
            <a:extLst xmlns:a="http://schemas.openxmlformats.org/drawingml/2006/main">
              <a:ext uri="{FF2B5EF4-FFF2-40B4-BE49-F238E27FC236}">
                <a16:creationId xmlns:a16="http://schemas.microsoft.com/office/drawing/2014/main" id="{894C7674-D6B2-4B8E-871E-E2BDAB3AEEA9}"/>
              </a:ext>
            </a:extLst>
          </p:cNvPr>
          <p:cNvSpPr>
            <a:spLocks xmlns:a="http://schemas.openxmlformats.org/drawingml/2006/main" noGrp="1"/>
          </p:cNvSpPr>
          <p:nvPr/>
        </p:nvSpPr>
        <p:spPr>
          <a:xfrm xmlns:a="http://schemas.openxmlformats.org/drawingml/2006/main">
            <a:off x="50482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Schema-constrained plans with dependency and write-state validation.</a:t>
            </a:r>
          </a:p>
        </p:txBody>
      </p:sp>
      <p:sp>
        <p:nvSpPr>
          <p:cNvPr id="14" name="">
            <a:extLst xmlns:a="http://schemas.openxmlformats.org/drawingml/2006/main">
              <a:ext uri="{FF2B5EF4-FFF2-40B4-BE49-F238E27FC236}">
                <a16:creationId xmlns:a16="http://schemas.microsoft.com/office/drawing/2014/main" id="{26C2295F-B3F5-4FC2-B3FF-362C0A04F011}"/>
              </a:ext>
            </a:extLst>
          </p:cNvPr>
          <p:cNvSpPr>
            <a:spLocks xmlns:a="http://schemas.openxmlformats.org/drawingml/2006/main" noGrp="1"/>
          </p:cNvSpPr>
          <p:nvPr/>
        </p:nvSpPr>
        <p:spPr>
          <a:xfrm xmlns:a="http://schemas.openxmlformats.org/drawingml/2006/main">
            <a:off x="71818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3AA3F2B2-4CD7-4257-BD7A-8843AFAC005F}"/>
              </a:ext>
            </a:extLst>
          </p:cNvPr>
          <p:cNvSpPr>
            <a:spLocks xmlns:a="http://schemas.openxmlformats.org/drawingml/2006/main" noGrp="1"/>
          </p:cNvSpPr>
          <p:nvPr/>
        </p:nvSpPr>
        <p:spPr>
          <a:xfrm xmlns:a="http://schemas.openxmlformats.org/drawingml/2006/main">
            <a:off x="73723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6BCE6A8E-FD38-453D-A1F6-AE605A0AAE8A}"/>
              </a:ext>
            </a:extLst>
          </p:cNvPr>
          <p:cNvSpPr>
            <a:spLocks xmlns:a="http://schemas.openxmlformats.org/drawingml/2006/main" noGrp="1"/>
          </p:cNvSpPr>
          <p:nvPr/>
        </p:nvSpPr>
        <p:spPr>
          <a:xfrm xmlns:a="http://schemas.openxmlformats.org/drawingml/2006/main">
            <a:off x="73723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Local memory</a:t>
            </a:r>
          </a:p>
        </p:txBody>
      </p:sp>
      <p:sp>
        <p:nvSpPr>
          <p:cNvPr id="17" name="">
            <a:extLst xmlns:a="http://schemas.openxmlformats.org/drawingml/2006/main">
              <a:ext uri="{FF2B5EF4-FFF2-40B4-BE49-F238E27FC236}">
                <a16:creationId xmlns:a16="http://schemas.microsoft.com/office/drawing/2014/main" id="{C25E889C-A34A-4BFE-B199-DCF225066849}"/>
              </a:ext>
            </a:extLst>
          </p:cNvPr>
          <p:cNvSpPr>
            <a:spLocks xmlns:a="http://schemas.openxmlformats.org/drawingml/2006/main" noGrp="1"/>
          </p:cNvSpPr>
          <p:nvPr/>
        </p:nvSpPr>
        <p:spPr>
          <a:xfrm xmlns:a="http://schemas.openxmlformats.org/drawingml/2006/main">
            <a:off x="73723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Owner-scoped consent, save, read, revoke, and delete controls.</a:t>
            </a:r>
          </a:p>
        </p:txBody>
      </p:sp>
      <p:sp>
        <p:nvSpPr>
          <p:cNvPr id="18" name="">
            <a:extLst xmlns:a="http://schemas.openxmlformats.org/drawingml/2006/main">
              <a:ext uri="{FF2B5EF4-FFF2-40B4-BE49-F238E27FC236}">
                <a16:creationId xmlns:a16="http://schemas.microsoft.com/office/drawing/2014/main" id="{D0700C7D-5170-4E1D-9B79-E1F87DCE4D2E}"/>
              </a:ext>
            </a:extLst>
          </p:cNvPr>
          <p:cNvSpPr>
            <a:spLocks xmlns:a="http://schemas.openxmlformats.org/drawingml/2006/main" noGrp="1"/>
          </p:cNvSpPr>
          <p:nvPr/>
        </p:nvSpPr>
        <p:spPr>
          <a:xfrm xmlns:a="http://schemas.openxmlformats.org/drawingml/2006/main">
            <a:off x="95059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9" name="">
            <a:extLst xmlns:a="http://schemas.openxmlformats.org/drawingml/2006/main">
              <a:ext uri="{FF2B5EF4-FFF2-40B4-BE49-F238E27FC236}">
                <a16:creationId xmlns:a16="http://schemas.microsoft.com/office/drawing/2014/main" id="{8571E64C-D4D0-43CA-8869-28D96C0C9FFB}"/>
              </a:ext>
            </a:extLst>
          </p:cNvPr>
          <p:cNvSpPr>
            <a:spLocks xmlns:a="http://schemas.openxmlformats.org/drawingml/2006/main" noGrp="1"/>
          </p:cNvSpPr>
          <p:nvPr/>
        </p:nvSpPr>
        <p:spPr>
          <a:xfrm xmlns:a="http://schemas.openxmlformats.org/drawingml/2006/main">
            <a:off x="96964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05</a:t>
            </a:r>
          </a:p>
        </p:txBody>
      </p:sp>
      <p:sp>
        <p:nvSpPr>
          <p:cNvPr id="20" name="">
            <a:extLst xmlns:a="http://schemas.openxmlformats.org/drawingml/2006/main">
              <a:ext uri="{FF2B5EF4-FFF2-40B4-BE49-F238E27FC236}">
                <a16:creationId xmlns:a16="http://schemas.microsoft.com/office/drawing/2014/main" id="{DD2DC681-3AAF-4A00-93CF-8AFE676820DF}"/>
              </a:ext>
            </a:extLst>
          </p:cNvPr>
          <p:cNvSpPr>
            <a:spLocks xmlns:a="http://schemas.openxmlformats.org/drawingml/2006/main" noGrp="1"/>
          </p:cNvSpPr>
          <p:nvPr/>
        </p:nvSpPr>
        <p:spPr>
          <a:xfrm xmlns:a="http://schemas.openxmlformats.org/drawingml/2006/main">
            <a:off x="96964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Privacy &amp; access</a:t>
            </a:r>
          </a:p>
        </p:txBody>
      </p:sp>
      <p:sp>
        <p:nvSpPr>
          <p:cNvPr id="21" name="">
            <a:extLst xmlns:a="http://schemas.openxmlformats.org/drawingml/2006/main">
              <a:ext uri="{FF2B5EF4-FFF2-40B4-BE49-F238E27FC236}">
                <a16:creationId xmlns:a16="http://schemas.microsoft.com/office/drawing/2014/main" id="{46D86350-245C-4D00-B8A3-D40A1ED3AF4F}"/>
              </a:ext>
            </a:extLst>
          </p:cNvPr>
          <p:cNvSpPr>
            <a:spLocks xmlns:a="http://schemas.openxmlformats.org/drawingml/2006/main" noGrp="1"/>
          </p:cNvSpPr>
          <p:nvPr/>
        </p:nvSpPr>
        <p:spPr>
          <a:xfrm xmlns:a="http://schemas.openxmlformats.org/drawingml/2006/main">
            <a:off x="96964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Identity isolation, injection partitioning, zero cross-user results.</a:t>
            </a:r>
          </a:p>
        </p:txBody>
      </p:sp>
      <p:sp>
        <p:nvSpPr>
          <p:cNvPr id="22" name="">
            <a:extLst xmlns:a="http://schemas.openxmlformats.org/drawingml/2006/main">
              <a:ext uri="{FF2B5EF4-FFF2-40B4-BE49-F238E27FC236}">
                <a16:creationId xmlns:a16="http://schemas.microsoft.com/office/drawing/2014/main" id="{01D7B705-68A8-402E-A833-2F3D61017A3A}"/>
              </a:ext>
            </a:extLst>
          </p:cNvPr>
          <p:cNvSpPr>
            <a:spLocks xmlns:a="http://schemas.openxmlformats.org/drawingml/2006/main" noGrp="1"/>
          </p:cNvSpPr>
          <p:nvPr/>
        </p:nvSpPr>
        <p:spPr>
          <a:xfrm xmlns:a="http://schemas.openxmlformats.org/drawingml/2006/main">
            <a:off x="400050" y="5562600"/>
            <a:ext cx="11401425" cy="514350"/>
          </a:xfrm>
          <a:prstGeom xmlns:a="http://schemas.openxmlformats.org/drawingml/2006/main" prst="roundRect">
            <a:avLst>
              <a:gd name="adj" fmla="val 22222"/>
            </a:avLst>
          </a:prstGeom>
          <a:solidFill xmlns:a="http://schemas.openxmlformats.org/drawingml/2006/main">
            <a:srgbClr val="EAF5FB"/>
          </a:solidFill>
          <a:ln xmlns:a="http://schemas.openxmlformats.org/drawingml/2006/main" w="9525">
            <a:solidFill>
              <a:srgbClr val="EAF5FB"/>
            </a:solidFill>
            <a:prstDash val="solid"/>
          </a:ln>
        </p:spPr>
      </p:sp>
      <p:sp>
        <p:nvSpPr>
          <p:cNvPr id="23" name="">
            <a:extLst xmlns:a="http://schemas.openxmlformats.org/drawingml/2006/main">
              <a:ext uri="{FF2B5EF4-FFF2-40B4-BE49-F238E27FC236}">
                <a16:creationId xmlns:a16="http://schemas.microsoft.com/office/drawing/2014/main" id="{0E3631B2-27B8-4795-AF3B-328252C7559B}"/>
              </a:ext>
            </a:extLst>
          </p:cNvPr>
          <p:cNvSpPr>
            <a:spLocks xmlns:a="http://schemas.openxmlformats.org/drawingml/2006/main" noGrp="1"/>
          </p:cNvSpPr>
          <p:nvPr/>
        </p:nvSpPr>
        <p:spPr>
          <a:xfrm xmlns:a="http://schemas.openxmlformats.org/drawingml/2006/main">
            <a:off x="619125" y="56959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One JourneyState connects citations, tool receipts, confirmations, memory consent, and the final Stay Brief.</a:t>
            </a:r>
          </a:p>
        </p:txBody>
      </p:sp>
    </p:spTree>
    <p:extLst>
      <p:ext uri="{BB962C8B-B14F-4D97-AF65-F5344CB8AC3E}">
        <p14:creationId xmlns:p14="http://schemas.microsoft.com/office/powerpoint/2010/main" val="19080435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5-title">
            <a:extLst xmlns:a="http://schemas.openxmlformats.org/drawingml/2006/main">
              <a:ext uri="{FF2B5EF4-FFF2-40B4-BE49-F238E27FC236}">
                <a16:creationId xmlns:a16="http://schemas.microsoft.com/office/drawing/2014/main" id="{0EC872DD-85E3-4A9A-A83A-9B6A9DB15CA5}"/>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golden journey ends in a verified stay</a:t>
            </a:r>
          </a:p>
        </p:txBody>
      </p:sp>
      <p:sp>
        <p:nvSpPr>
          <p:cNvPr id="2" name="">
            <a:extLst xmlns:a="http://schemas.openxmlformats.org/drawingml/2006/main">
              <a:ext uri="{FF2B5EF4-FFF2-40B4-BE49-F238E27FC236}">
                <a16:creationId xmlns:a16="http://schemas.microsoft.com/office/drawing/2014/main" id="{F53D5A8D-EC05-41B9-B5C8-D6A9EB92F6F5}"/>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5</a:t>
            </a:r>
          </a:p>
        </p:txBody>
      </p:sp>
      <p:sp>
        <p:nvSpPr>
          <p:cNvPr id="3" name="">
            <a:extLst xmlns:a="http://schemas.openxmlformats.org/drawingml/2006/main">
              <a:ext uri="{FF2B5EF4-FFF2-40B4-BE49-F238E27FC236}">
                <a16:creationId xmlns:a16="http://schemas.microsoft.com/office/drawing/2014/main" id="{D9A217E6-8E78-49FD-9E83-4054E077EA41}"/>
              </a:ext>
            </a:extLst>
          </p:cNvPr>
          <p:cNvSpPr>
            <a:spLocks xmlns:a="http://schemas.openxmlformats.org/drawingml/2006/main" noGrp="1"/>
          </p:cNvSpPr>
          <p:nvPr/>
        </p:nvSpPr>
        <p:spPr>
          <a:xfrm xmlns:a="http://schemas.openxmlformats.org/drawingml/2006/main">
            <a:off x="400050" y="1257300"/>
            <a:ext cx="11401425" cy="3886200"/>
          </a:xfrm>
          <a:prstGeom xmlns:a="http://schemas.openxmlformats.org/drawingml/2006/main" prst="roundRect">
            <a:avLst>
              <a:gd name="adj" fmla="val 2941"/>
            </a:avLst>
          </a:prstGeom>
          <a:solidFill xmlns:a="http://schemas.openxmlformats.org/drawingml/2006/main">
            <a:srgbClr val="F7F7F7"/>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fd84bb72d8847a1"/>
          <a:srcRect xmlns:a="http://schemas.openxmlformats.org/drawingml/2006/main" l="0" t="150" r="0" b="150"/>
          <a:stretch xmlns:a="http://schemas.openxmlformats.org/drawingml/2006/main">
            <a:fillRect l="0" t="0" r="0" b="0"/>
          </a:stretch>
        </p:blipFill>
        <p:spPr>
          <a:xfrm xmlns:a="http://schemas.openxmlformats.org/drawingml/2006/main">
            <a:off x="400050" y="1257300"/>
            <a:ext cx="11401425" cy="3886200"/>
          </a:xfrm>
          <a:prstGeom xmlns:a="http://schemas.openxmlformats.org/drawingml/2006/main" prst="roundRect">
            <a:avLst>
              <a:gd name="adj" fmla="val 2941"/>
            </a:avLst>
          </a:prstGeom>
        </p:spPr>
      </p:pic>
      <p:sp>
        <p:nvSpPr>
          <p:cNvPr id="5" name="">
            <a:extLst xmlns:a="http://schemas.openxmlformats.org/drawingml/2006/main">
              <a:ext uri="{FF2B5EF4-FFF2-40B4-BE49-F238E27FC236}">
                <a16:creationId xmlns:a16="http://schemas.microsoft.com/office/drawing/2014/main" id="{AB05D177-526F-4D7B-846D-D05E4009188E}"/>
              </a:ext>
            </a:extLst>
          </p:cNvPr>
          <p:cNvSpPr>
            <a:spLocks xmlns:a="http://schemas.openxmlformats.org/drawingml/2006/main" noGrp="1"/>
          </p:cNvSpPr>
          <p:nvPr/>
        </p:nvSpPr>
        <p:spPr>
          <a:xfrm xmlns:a="http://schemas.openxmlformats.org/drawingml/2006/main">
            <a:off x="400050" y="5467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PLAN</a:t>
            </a:r>
          </a:p>
        </p:txBody>
      </p:sp>
      <p:sp>
        <p:nvSpPr>
          <p:cNvPr id="6" name="">
            <a:extLst xmlns:a="http://schemas.openxmlformats.org/drawingml/2006/main">
              <a:ext uri="{FF2B5EF4-FFF2-40B4-BE49-F238E27FC236}">
                <a16:creationId xmlns:a16="http://schemas.microsoft.com/office/drawing/2014/main" id="{7635D586-CD01-425C-BAAD-E651D93B8667}"/>
              </a:ext>
            </a:extLst>
          </p:cNvPr>
          <p:cNvSpPr>
            <a:spLocks xmlns:a="http://schemas.openxmlformats.org/drawingml/2006/main" noGrp="1"/>
          </p:cNvSpPr>
          <p:nvPr/>
        </p:nvSpPr>
        <p:spPr>
          <a:xfrm xmlns:a="http://schemas.openxmlformats.org/drawingml/2006/main">
            <a:off x="400050" y="5772150"/>
            <a:ext cx="3476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Policy → availability → authoritative quote → room preview</a:t>
            </a:r>
          </a:p>
        </p:txBody>
      </p:sp>
      <p:sp>
        <p:nvSpPr>
          <p:cNvPr id="7" name="">
            <a:extLst xmlns:a="http://schemas.openxmlformats.org/drawingml/2006/main">
              <a:ext uri="{FF2B5EF4-FFF2-40B4-BE49-F238E27FC236}">
                <a16:creationId xmlns:a16="http://schemas.microsoft.com/office/drawing/2014/main" id="{9287383D-2BF1-46C2-AD67-AEFBE0891BE2}"/>
              </a:ext>
            </a:extLst>
          </p:cNvPr>
          <p:cNvSpPr>
            <a:spLocks xmlns:a="http://schemas.openxmlformats.org/drawingml/2006/main" noGrp="1"/>
          </p:cNvSpPr>
          <p:nvPr/>
        </p:nvSpPr>
        <p:spPr>
          <a:xfrm xmlns:a="http://schemas.openxmlformats.org/drawingml/2006/main">
            <a:off x="4314825" y="5467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RECOVER</a:t>
            </a:r>
          </a:p>
        </p:txBody>
      </p:sp>
      <p:sp>
        <p:nvSpPr>
          <p:cNvPr id="8" name="">
            <a:extLst xmlns:a="http://schemas.openxmlformats.org/drawingml/2006/main">
              <a:ext uri="{FF2B5EF4-FFF2-40B4-BE49-F238E27FC236}">
                <a16:creationId xmlns:a16="http://schemas.microsoft.com/office/drawing/2014/main" id="{B1636B9F-5495-4A29-9509-D3B455527EAF}"/>
              </a:ext>
            </a:extLst>
          </p:cNvPr>
          <p:cNvSpPr>
            <a:spLocks xmlns:a="http://schemas.openxmlformats.org/drawingml/2006/main" noGrp="1"/>
          </p:cNvSpPr>
          <p:nvPr/>
        </p:nvSpPr>
        <p:spPr>
          <a:xfrm xmlns:a="http://schemas.openxmlformats.org/drawingml/2006/main">
            <a:off x="4314825" y="5772150"/>
            <a:ext cx="3476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Stay date + transfer update, each previewed and confirmed</a:t>
            </a:r>
          </a:p>
        </p:txBody>
      </p:sp>
      <p:sp>
        <p:nvSpPr>
          <p:cNvPr id="9" name="">
            <a:extLst xmlns:a="http://schemas.openxmlformats.org/drawingml/2006/main">
              <a:ext uri="{FF2B5EF4-FFF2-40B4-BE49-F238E27FC236}">
                <a16:creationId xmlns:a16="http://schemas.microsoft.com/office/drawing/2014/main" id="{96F13806-CB15-4890-B557-C0AD17065CDA}"/>
              </a:ext>
            </a:extLst>
          </p:cNvPr>
          <p:cNvSpPr>
            <a:spLocks xmlns:a="http://schemas.openxmlformats.org/drawingml/2006/main" noGrp="1"/>
          </p:cNvSpPr>
          <p:nvPr/>
        </p:nvSpPr>
        <p:spPr>
          <a:xfrm xmlns:a="http://schemas.openxmlformats.org/drawingml/2006/main">
            <a:off x="8229600" y="5467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PROVE</a:t>
            </a:r>
          </a:p>
        </p:txBody>
      </p:sp>
      <p:sp>
        <p:nvSpPr>
          <p:cNvPr id="10" name="">
            <a:extLst xmlns:a="http://schemas.openxmlformats.org/drawingml/2006/main">
              <a:ext uri="{FF2B5EF4-FFF2-40B4-BE49-F238E27FC236}">
                <a16:creationId xmlns:a16="http://schemas.microsoft.com/office/drawing/2014/main" id="{2F326AB2-EBAE-47E5-9944-0EFE2E035EF5}"/>
              </a:ext>
            </a:extLst>
          </p:cNvPr>
          <p:cNvSpPr>
            <a:spLocks xmlns:a="http://schemas.openxmlformats.org/drawingml/2006/main" noGrp="1"/>
          </p:cNvSpPr>
          <p:nvPr/>
        </p:nvSpPr>
        <p:spPr>
          <a:xfrm xmlns:a="http://schemas.openxmlformats.org/drawingml/2006/main">
            <a:off x="8229600" y="5772150"/>
            <a:ext cx="3476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Memory consent + injection isolation + staff safety handoff</a:t>
            </a:r>
          </a:p>
        </p:txBody>
      </p:sp>
    </p:spTree>
    <p:extLst>
      <p:ext uri="{BB962C8B-B14F-4D97-AF65-F5344CB8AC3E}">
        <p14:creationId xmlns:p14="http://schemas.microsoft.com/office/powerpoint/2010/main" val="8283482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6-title">
            <a:extLst xmlns:a="http://schemas.openxmlformats.org/drawingml/2006/main">
              <a:ext uri="{FF2B5EF4-FFF2-40B4-BE49-F238E27FC236}">
                <a16:creationId xmlns:a16="http://schemas.microsoft.com/office/drawing/2014/main" id="{A47BDCF8-795D-4393-BE97-AC5BDBE6AF76}"/>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Trust is enforced outside the model</a:t>
            </a:r>
          </a:p>
        </p:txBody>
      </p:sp>
      <p:sp>
        <p:nvSpPr>
          <p:cNvPr id="2" name="">
            <a:extLst xmlns:a="http://schemas.openxmlformats.org/drawingml/2006/main">
              <a:ext uri="{FF2B5EF4-FFF2-40B4-BE49-F238E27FC236}">
                <a16:creationId xmlns:a16="http://schemas.microsoft.com/office/drawing/2014/main" id="{85553DDD-6E95-46EE-A96F-1E666177963B}"/>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6</a:t>
            </a:r>
          </a:p>
        </p:txBody>
      </p:sp>
      <p:sp>
        <p:nvSpPr>
          <p:cNvPr id="3" name="">
            <a:extLst xmlns:a="http://schemas.openxmlformats.org/drawingml/2006/main">
              <a:ext uri="{FF2B5EF4-FFF2-40B4-BE49-F238E27FC236}">
                <a16:creationId xmlns:a16="http://schemas.microsoft.com/office/drawing/2014/main" id="{83B2BFD0-2D74-466F-B023-BADDFB270A4D}"/>
              </a:ext>
            </a:extLst>
          </p:cNvPr>
          <p:cNvSpPr>
            <a:spLocks xmlns:a="http://schemas.openxmlformats.org/drawingml/2006/main" noGrp="1"/>
          </p:cNvSpPr>
          <p:nvPr/>
        </p:nvSpPr>
        <p:spPr>
          <a:xfrm xmlns:a="http://schemas.openxmlformats.org/drawingml/2006/main">
            <a:off x="400050" y="107632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Consequential writes stay reversible; mixed-scope prompt injection is partitioned before retrieval, inference, or tools.</a:t>
            </a:r>
          </a:p>
        </p:txBody>
      </p:sp>
      <p:sp>
        <p:nvSpPr>
          <p:cNvPr id="4" name="">
            <a:extLst xmlns:a="http://schemas.openxmlformats.org/drawingml/2006/main">
              <a:ext uri="{FF2B5EF4-FFF2-40B4-BE49-F238E27FC236}">
                <a16:creationId xmlns:a16="http://schemas.microsoft.com/office/drawing/2014/main" id="{1852F65C-349E-4A2C-845C-B09048D3C8D5}"/>
              </a:ext>
            </a:extLst>
          </p:cNvPr>
          <p:cNvSpPr>
            <a:spLocks xmlns:a="http://schemas.openxmlformats.org/drawingml/2006/main" noGrp="1"/>
          </p:cNvSpPr>
          <p:nvPr/>
        </p:nvSpPr>
        <p:spPr>
          <a:xfrm xmlns:a="http://schemas.openxmlformats.org/drawingml/2006/main">
            <a:off x="400050" y="1857375"/>
            <a:ext cx="5467350" cy="3143250"/>
          </a:xfrm>
          <a:prstGeom xmlns:a="http://schemas.openxmlformats.org/drawingml/2006/main" prst="roundRect">
            <a:avLst>
              <a:gd name="adj" fmla="val 3636"/>
            </a:avLst>
          </a:prstGeom>
          <a:solidFill xmlns:a="http://schemas.openxmlformats.org/drawingml/2006/main">
            <a:srgbClr val="F7F7F7"/>
          </a:solidFill>
          <a:ln xmlns:a="http://schemas.openxmlformats.org/drawingml/2006/main" w="9525">
            <a:solidFill>
              <a:srgbClr val="B8BCC4"/>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80631ad1f814283"/>
          <a:srcRect xmlns:a="http://schemas.openxmlformats.org/drawingml/2006/main" l="0" t="902" r="0" b="902"/>
          <a:stretch xmlns:a="http://schemas.openxmlformats.org/drawingml/2006/main">
            <a:fillRect l="0" t="0" r="0" b="0"/>
          </a:stretch>
        </p:blipFill>
        <p:spPr>
          <a:xfrm xmlns:a="http://schemas.openxmlformats.org/drawingml/2006/main">
            <a:off x="400050" y="1857375"/>
            <a:ext cx="5467350" cy="3143250"/>
          </a:xfrm>
          <a:prstGeom xmlns:a="http://schemas.openxmlformats.org/drawingml/2006/main" prst="roundRect">
            <a:avLst>
              <a:gd name="adj" fmla="val 3636"/>
            </a:avLst>
          </a:prstGeom>
        </p:spPr>
      </p:pic>
      <p:sp>
        <p:nvSpPr>
          <p:cNvPr id="6" name="">
            <a:extLst xmlns:a="http://schemas.openxmlformats.org/drawingml/2006/main">
              <a:ext uri="{FF2B5EF4-FFF2-40B4-BE49-F238E27FC236}">
                <a16:creationId xmlns:a16="http://schemas.microsoft.com/office/drawing/2014/main" id="{79C676F4-A019-44C8-8A80-73E55655CAD0}"/>
              </a:ext>
            </a:extLst>
          </p:cNvPr>
          <p:cNvSpPr>
            <a:spLocks xmlns:a="http://schemas.openxmlformats.org/drawingml/2006/main" noGrp="1"/>
          </p:cNvSpPr>
          <p:nvPr/>
        </p:nvSpPr>
        <p:spPr>
          <a:xfrm xmlns:a="http://schemas.openxmlformats.org/drawingml/2006/main">
            <a:off x="6324600" y="1857375"/>
            <a:ext cx="5467350" cy="3143250"/>
          </a:xfrm>
          <a:prstGeom xmlns:a="http://schemas.openxmlformats.org/drawingml/2006/main" prst="roundRect">
            <a:avLst>
              <a:gd name="adj" fmla="val 3636"/>
            </a:avLst>
          </a:prstGeom>
          <a:solidFill xmlns:a="http://schemas.openxmlformats.org/drawingml/2006/main">
            <a:srgbClr val="F7F7F7"/>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416048e9d864233"/>
          <a:stretch xmlns:a="http://schemas.openxmlformats.org/drawingml/2006/main"/>
        </p:blipFill>
        <p:spPr>
          <a:xfrm xmlns:a="http://schemas.openxmlformats.org/drawingml/2006/main">
            <a:off x="6324600" y="1923498"/>
            <a:ext cx="5467350" cy="3011004"/>
          </a:xfrm>
          <a:prstGeom xmlns:a="http://schemas.openxmlformats.org/drawingml/2006/main" prst="roundRect">
            <a:avLst>
              <a:gd name="adj" fmla="val 3636"/>
            </a:avLst>
          </a:prstGeom>
        </p:spPr>
      </p:pic>
      <p:sp>
        <p:nvSpPr>
          <p:cNvPr id="8" name="">
            <a:extLst xmlns:a="http://schemas.openxmlformats.org/drawingml/2006/main">
              <a:ext uri="{FF2B5EF4-FFF2-40B4-BE49-F238E27FC236}">
                <a16:creationId xmlns:a16="http://schemas.microsoft.com/office/drawing/2014/main" id="{6ADA3E7D-7B3C-4FB6-B277-0E5FD0DAABBC}"/>
              </a:ext>
            </a:extLst>
          </p:cNvPr>
          <p:cNvSpPr>
            <a:spLocks xmlns:a="http://schemas.openxmlformats.org/drawingml/2006/main" noGrp="1"/>
          </p:cNvSpPr>
          <p:nvPr/>
        </p:nvSpPr>
        <p:spPr>
          <a:xfrm xmlns:a="http://schemas.openxmlformats.org/drawingml/2006/main">
            <a:off x="400050" y="5238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REVERSIBLE WRITE</a:t>
            </a:r>
          </a:p>
        </p:txBody>
      </p:sp>
      <p:sp>
        <p:nvSpPr>
          <p:cNvPr id="9" name="">
            <a:extLst xmlns:a="http://schemas.openxmlformats.org/drawingml/2006/main">
              <a:ext uri="{FF2B5EF4-FFF2-40B4-BE49-F238E27FC236}">
                <a16:creationId xmlns:a16="http://schemas.microsoft.com/office/drawing/2014/main" id="{2A66F065-A929-4B8E-8039-C95CA69424C5}"/>
              </a:ext>
            </a:extLst>
          </p:cNvPr>
          <p:cNvSpPr>
            <a:spLocks xmlns:a="http://schemas.openxmlformats.org/drawingml/2006/main" noGrp="1"/>
          </p:cNvSpPr>
          <p:nvPr/>
        </p:nvSpPr>
        <p:spPr>
          <a:xfrm xmlns:a="http://schemas.openxmlformats.org/drawingml/2006/main">
            <a:off x="400050" y="5572125"/>
            <a:ext cx="5467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One preview · one action · one confirmation</a:t>
            </a:r>
          </a:p>
        </p:txBody>
      </p:sp>
      <p:sp>
        <p:nvSpPr>
          <p:cNvPr id="10" name="">
            <a:extLst xmlns:a="http://schemas.openxmlformats.org/drawingml/2006/main">
              <a:ext uri="{FF2B5EF4-FFF2-40B4-BE49-F238E27FC236}">
                <a16:creationId xmlns:a16="http://schemas.microsoft.com/office/drawing/2014/main" id="{1BAF2C47-E95F-431B-BC2D-B92EB4A16FFD}"/>
              </a:ext>
            </a:extLst>
          </p:cNvPr>
          <p:cNvSpPr>
            <a:spLocks xmlns:a="http://schemas.openxmlformats.org/drawingml/2006/main" noGrp="1"/>
          </p:cNvSpPr>
          <p:nvPr/>
        </p:nvSpPr>
        <p:spPr>
          <a:xfrm xmlns:a="http://schemas.openxmlformats.org/drawingml/2006/main">
            <a:off x="6324600" y="5238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MIXED-SCOPE PRIVACY</a:t>
            </a:r>
          </a:p>
        </p:txBody>
      </p:sp>
      <p:sp>
        <p:nvSpPr>
          <p:cNvPr id="11" name="">
            <a:extLst xmlns:a="http://schemas.openxmlformats.org/drawingml/2006/main">
              <a:ext uri="{FF2B5EF4-FFF2-40B4-BE49-F238E27FC236}">
                <a16:creationId xmlns:a16="http://schemas.microsoft.com/office/drawing/2014/main" id="{73A0A6E6-4E7C-4005-A54B-AA868FFC5A4E}"/>
              </a:ext>
            </a:extLst>
          </p:cNvPr>
          <p:cNvSpPr>
            <a:spLocks xmlns:a="http://schemas.openxmlformats.org/drawingml/2006/main" noGrp="1"/>
          </p:cNvSpPr>
          <p:nvPr/>
        </p:nvSpPr>
        <p:spPr>
          <a:xfrm xmlns:a="http://schemas.openxmlformats.org/drawingml/2006/main">
            <a:off x="6324600" y="5572125"/>
            <a:ext cx="546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Unsafe scope refused · owner read completed · zero domain writes</a:t>
            </a:r>
          </a:p>
        </p:txBody>
      </p:sp>
    </p:spTree>
    <p:extLst>
      <p:ext uri="{BB962C8B-B14F-4D97-AF65-F5344CB8AC3E}">
        <p14:creationId xmlns:p14="http://schemas.microsoft.com/office/powerpoint/2010/main" val="13102968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7-title">
            <a:extLst xmlns:a="http://schemas.openxmlformats.org/drawingml/2006/main">
              <a:ext uri="{FF2B5EF4-FFF2-40B4-BE49-F238E27FC236}">
                <a16:creationId xmlns:a16="http://schemas.microsoft.com/office/drawing/2014/main" id="{4CD84810-8E4A-4FDD-88FC-D9D4353280AE}"/>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Core inference is bound to one Radeon process</a:t>
            </a:r>
          </a:p>
        </p:txBody>
      </p:sp>
      <p:sp>
        <p:nvSpPr>
          <p:cNvPr id="2" name="">
            <a:extLst xmlns:a="http://schemas.openxmlformats.org/drawingml/2006/main">
              <a:ext uri="{FF2B5EF4-FFF2-40B4-BE49-F238E27FC236}">
                <a16:creationId xmlns:a16="http://schemas.microsoft.com/office/drawing/2014/main" id="{F7F8C00F-DD17-47E2-A488-9DAFB02B3364}"/>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8145C6AA-E3C2-437E-AEAC-E6785023DAFB}"/>
              </a:ext>
            </a:extLst>
          </p:cNvPr>
          <p:cNvSpPr>
            <a:spLocks xmlns:a="http://schemas.openxmlformats.org/drawingml/2006/main" noGrp="1"/>
          </p:cNvSpPr>
          <p:nvPr/>
        </p:nvSpPr>
        <p:spPr>
          <a:xfrm xmlns:a="http://schemas.openxmlformats.org/drawingml/2006/main">
            <a:off x="400050" y="1095375"/>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The deployed C profile proves hardware, model, binary, request configuration, and accepted comparison identity on every request.</a:t>
            </a:r>
          </a:p>
        </p:txBody>
      </p:sp>
      <p:sp>
        <p:nvSpPr>
          <p:cNvPr id="4" name="">
            <a:extLst xmlns:a="http://schemas.openxmlformats.org/drawingml/2006/main">
              <a:ext uri="{FF2B5EF4-FFF2-40B4-BE49-F238E27FC236}">
                <a16:creationId xmlns:a16="http://schemas.microsoft.com/office/drawing/2014/main" id="{CF57C38A-053F-41AD-ADF0-5937C3899D96}"/>
              </a:ext>
            </a:extLst>
          </p:cNvPr>
          <p:cNvSpPr>
            <a:spLocks xmlns:a="http://schemas.openxmlformats.org/drawingml/2006/main" noGrp="1"/>
          </p:cNvSpPr>
          <p:nvPr/>
        </p:nvSpPr>
        <p:spPr>
          <a:xfrm xmlns:a="http://schemas.openxmlformats.org/drawingml/2006/main">
            <a:off x="400050" y="1952625"/>
            <a:ext cx="2571750" cy="1866900"/>
          </a:xfrm>
          <a:prstGeom xmlns:a="http://schemas.openxmlformats.org/drawingml/2006/main" prst="roundRect">
            <a:avLst>
              <a:gd name="adj" fmla="val 6122"/>
            </a:avLst>
          </a:prstGeom>
          <a:solidFill xmlns:a="http://schemas.openxmlformats.org/drawingml/2006/main">
            <a:srgbClr val="F7F7F7"/>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F86E742-3FAA-493A-8F2C-DA3FCC5CEC8E}"/>
              </a:ext>
            </a:extLst>
          </p:cNvPr>
          <p:cNvSpPr>
            <a:spLocks xmlns:a="http://schemas.openxmlformats.org/drawingml/2006/main" noGrp="1"/>
          </p:cNvSpPr>
          <p:nvPr/>
        </p:nvSpPr>
        <p:spPr>
          <a:xfrm xmlns:a="http://schemas.openxmlformats.org/drawingml/2006/main">
            <a:off x="609600" y="2190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ROCm</a:t>
            </a:r>
          </a:p>
        </p:txBody>
      </p:sp>
      <p:sp>
        <p:nvSpPr>
          <p:cNvPr id="6" name="">
            <a:extLst xmlns:a="http://schemas.openxmlformats.org/drawingml/2006/main">
              <a:ext uri="{FF2B5EF4-FFF2-40B4-BE49-F238E27FC236}">
                <a16:creationId xmlns:a16="http://schemas.microsoft.com/office/drawing/2014/main" id="{59A50F26-613C-487E-9672-9B52EE90874A}"/>
              </a:ext>
            </a:extLst>
          </p:cNvPr>
          <p:cNvSpPr>
            <a:spLocks xmlns:a="http://schemas.openxmlformats.org/drawingml/2006/main" noGrp="1"/>
          </p:cNvSpPr>
          <p:nvPr/>
        </p:nvSpPr>
        <p:spPr>
          <a:xfrm xmlns:a="http://schemas.openxmlformats.org/drawingml/2006/main">
            <a:off x="609600" y="2667000"/>
            <a:ext cx="214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7.2.1</a:t>
            </a:r>
          </a:p>
        </p:txBody>
      </p:sp>
      <p:sp>
        <p:nvSpPr>
          <p:cNvPr id="7" name="">
            <a:extLst xmlns:a="http://schemas.openxmlformats.org/drawingml/2006/main">
              <a:ext uri="{FF2B5EF4-FFF2-40B4-BE49-F238E27FC236}">
                <a16:creationId xmlns:a16="http://schemas.microsoft.com/office/drawing/2014/main" id="{B53606C1-BB4E-4613-822B-FF3F49D83B66}"/>
              </a:ext>
            </a:extLst>
          </p:cNvPr>
          <p:cNvSpPr>
            <a:spLocks xmlns:a="http://schemas.openxmlformats.org/drawingml/2006/main" noGrp="1"/>
          </p:cNvSpPr>
          <p:nvPr/>
        </p:nvSpPr>
        <p:spPr>
          <a:xfrm xmlns:a="http://schemas.openxmlformats.org/drawingml/2006/main">
            <a:off x="609600" y="3333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runtime</a:t>
            </a:r>
          </a:p>
        </p:txBody>
      </p:sp>
      <p:sp>
        <p:nvSpPr>
          <p:cNvPr id="8" name="">
            <a:extLst xmlns:a="http://schemas.openxmlformats.org/drawingml/2006/main">
              <a:ext uri="{FF2B5EF4-FFF2-40B4-BE49-F238E27FC236}">
                <a16:creationId xmlns:a16="http://schemas.microsoft.com/office/drawing/2014/main" id="{1A183489-F153-4C31-B89C-3FFAF1E7050C}"/>
              </a:ext>
            </a:extLst>
          </p:cNvPr>
          <p:cNvSpPr>
            <a:spLocks xmlns:a="http://schemas.openxmlformats.org/drawingml/2006/main" noGrp="1"/>
          </p:cNvSpPr>
          <p:nvPr/>
        </p:nvSpPr>
        <p:spPr>
          <a:xfrm xmlns:a="http://schemas.openxmlformats.org/drawingml/2006/main">
            <a:off x="3248025" y="1952625"/>
            <a:ext cx="2571750" cy="1866900"/>
          </a:xfrm>
          <a:prstGeom xmlns:a="http://schemas.openxmlformats.org/drawingml/2006/main" prst="roundRect">
            <a:avLst>
              <a:gd name="adj" fmla="val 6122"/>
            </a:avLst>
          </a:prstGeom>
          <a:solidFill xmlns:a="http://schemas.openxmlformats.org/drawingml/2006/main">
            <a:srgbClr val="F7F7F7"/>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B2352F8-A9F3-437F-9CE0-FC9BC948C604}"/>
              </a:ext>
            </a:extLst>
          </p:cNvPr>
          <p:cNvSpPr>
            <a:spLocks xmlns:a="http://schemas.openxmlformats.org/drawingml/2006/main" noGrp="1"/>
          </p:cNvSpPr>
          <p:nvPr/>
        </p:nvSpPr>
        <p:spPr>
          <a:xfrm xmlns:a="http://schemas.openxmlformats.org/drawingml/2006/main">
            <a:off x="3457575" y="2190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GPU arch</a:t>
            </a:r>
          </a:p>
        </p:txBody>
      </p:sp>
      <p:sp>
        <p:nvSpPr>
          <p:cNvPr id="10" name="">
            <a:extLst xmlns:a="http://schemas.openxmlformats.org/drawingml/2006/main">
              <a:ext uri="{FF2B5EF4-FFF2-40B4-BE49-F238E27FC236}">
                <a16:creationId xmlns:a16="http://schemas.microsoft.com/office/drawing/2014/main" id="{CCFAB69B-36CC-4BE8-BE85-0AE0775B5188}"/>
              </a:ext>
            </a:extLst>
          </p:cNvPr>
          <p:cNvSpPr>
            <a:spLocks xmlns:a="http://schemas.openxmlformats.org/drawingml/2006/main" noGrp="1"/>
          </p:cNvSpPr>
          <p:nvPr/>
        </p:nvSpPr>
        <p:spPr>
          <a:xfrm xmlns:a="http://schemas.openxmlformats.org/drawingml/2006/main">
            <a:off x="3457575" y="2667000"/>
            <a:ext cx="214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gfx1100</a:t>
            </a:r>
          </a:p>
        </p:txBody>
      </p:sp>
      <p:sp>
        <p:nvSpPr>
          <p:cNvPr id="11" name="">
            <a:extLst xmlns:a="http://schemas.openxmlformats.org/drawingml/2006/main">
              <a:ext uri="{FF2B5EF4-FFF2-40B4-BE49-F238E27FC236}">
                <a16:creationId xmlns:a16="http://schemas.microsoft.com/office/drawing/2014/main" id="{8C462471-51F9-4A00-BEFA-052F20698344}"/>
              </a:ext>
            </a:extLst>
          </p:cNvPr>
          <p:cNvSpPr>
            <a:spLocks xmlns:a="http://schemas.openxmlformats.org/drawingml/2006/main" noGrp="1"/>
          </p:cNvSpPr>
          <p:nvPr/>
        </p:nvSpPr>
        <p:spPr>
          <a:xfrm xmlns:a="http://schemas.openxmlformats.org/drawingml/2006/main">
            <a:off x="3457575" y="3333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96 CU</a:t>
            </a:r>
          </a:p>
        </p:txBody>
      </p:sp>
      <p:sp>
        <p:nvSpPr>
          <p:cNvPr id="12" name="">
            <a:extLst xmlns:a="http://schemas.openxmlformats.org/drawingml/2006/main">
              <a:ext uri="{FF2B5EF4-FFF2-40B4-BE49-F238E27FC236}">
                <a16:creationId xmlns:a16="http://schemas.microsoft.com/office/drawing/2014/main" id="{9B8313FD-4470-4229-9B5D-31E1EA488046}"/>
              </a:ext>
            </a:extLst>
          </p:cNvPr>
          <p:cNvSpPr>
            <a:spLocks xmlns:a="http://schemas.openxmlformats.org/drawingml/2006/main" noGrp="1"/>
          </p:cNvSpPr>
          <p:nvPr/>
        </p:nvSpPr>
        <p:spPr>
          <a:xfrm xmlns:a="http://schemas.openxmlformats.org/drawingml/2006/main">
            <a:off x="6096000" y="1952625"/>
            <a:ext cx="2571750" cy="1866900"/>
          </a:xfrm>
          <a:prstGeom xmlns:a="http://schemas.openxmlformats.org/drawingml/2006/main" prst="roundRect">
            <a:avLst>
              <a:gd name="adj" fmla="val 6122"/>
            </a:avLst>
          </a:prstGeom>
          <a:solidFill xmlns:a="http://schemas.openxmlformats.org/drawingml/2006/main">
            <a:srgbClr val="EAF5FB"/>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47793D97-24CA-435E-94E1-75E955C32D12}"/>
              </a:ext>
            </a:extLst>
          </p:cNvPr>
          <p:cNvSpPr>
            <a:spLocks xmlns:a="http://schemas.openxmlformats.org/drawingml/2006/main" noGrp="1"/>
          </p:cNvSpPr>
          <p:nvPr/>
        </p:nvSpPr>
        <p:spPr>
          <a:xfrm xmlns:a="http://schemas.openxmlformats.org/drawingml/2006/main">
            <a:off x="6305550" y="2190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GPU offload</a:t>
            </a:r>
          </a:p>
        </p:txBody>
      </p:sp>
      <p:sp>
        <p:nvSpPr>
          <p:cNvPr id="14" name="">
            <a:extLst xmlns:a="http://schemas.openxmlformats.org/drawingml/2006/main">
              <a:ext uri="{FF2B5EF4-FFF2-40B4-BE49-F238E27FC236}">
                <a16:creationId xmlns:a16="http://schemas.microsoft.com/office/drawing/2014/main" id="{D9393679-9219-469E-BFEF-C47008B3CFEE}"/>
              </a:ext>
            </a:extLst>
          </p:cNvPr>
          <p:cNvSpPr>
            <a:spLocks xmlns:a="http://schemas.openxmlformats.org/drawingml/2006/main" noGrp="1"/>
          </p:cNvSpPr>
          <p:nvPr/>
        </p:nvSpPr>
        <p:spPr>
          <a:xfrm xmlns:a="http://schemas.openxmlformats.org/drawingml/2006/main">
            <a:off x="6305550" y="2667000"/>
            <a:ext cx="214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41/41</a:t>
            </a:r>
          </a:p>
        </p:txBody>
      </p:sp>
      <p:sp>
        <p:nvSpPr>
          <p:cNvPr id="15" name="">
            <a:extLst xmlns:a="http://schemas.openxmlformats.org/drawingml/2006/main">
              <a:ext uri="{FF2B5EF4-FFF2-40B4-BE49-F238E27FC236}">
                <a16:creationId xmlns:a16="http://schemas.microsoft.com/office/drawing/2014/main" id="{AE396D9E-C68A-4442-BA51-F19FDDDF4C27}"/>
              </a:ext>
            </a:extLst>
          </p:cNvPr>
          <p:cNvSpPr>
            <a:spLocks xmlns:a="http://schemas.openxmlformats.org/drawingml/2006/main" noGrp="1"/>
          </p:cNvSpPr>
          <p:nvPr/>
        </p:nvSpPr>
        <p:spPr>
          <a:xfrm xmlns:a="http://schemas.openxmlformats.org/drawingml/2006/main">
            <a:off x="6305550" y="3333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layers</a:t>
            </a:r>
          </a:p>
        </p:txBody>
      </p:sp>
      <p:sp>
        <p:nvSpPr>
          <p:cNvPr id="16" name="">
            <a:extLst xmlns:a="http://schemas.openxmlformats.org/drawingml/2006/main">
              <a:ext uri="{FF2B5EF4-FFF2-40B4-BE49-F238E27FC236}">
                <a16:creationId xmlns:a16="http://schemas.microsoft.com/office/drawing/2014/main" id="{2755BA94-0689-46E0-917B-E2268CEE097B}"/>
              </a:ext>
            </a:extLst>
          </p:cNvPr>
          <p:cNvSpPr>
            <a:spLocks xmlns:a="http://schemas.openxmlformats.org/drawingml/2006/main" noGrp="1"/>
          </p:cNvSpPr>
          <p:nvPr/>
        </p:nvSpPr>
        <p:spPr>
          <a:xfrm xmlns:a="http://schemas.openxmlformats.org/drawingml/2006/main">
            <a:off x="8943975" y="1952625"/>
            <a:ext cx="2571750" cy="1866900"/>
          </a:xfrm>
          <a:prstGeom xmlns:a="http://schemas.openxmlformats.org/drawingml/2006/main" prst="roundRect">
            <a:avLst>
              <a:gd name="adj" fmla="val 6122"/>
            </a:avLst>
          </a:prstGeom>
          <a:solidFill xmlns:a="http://schemas.openxmlformats.org/drawingml/2006/main">
            <a:srgbClr val="F7F7F7"/>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8DEEE562-95E2-43AC-A091-7D72F73FCC76}"/>
              </a:ext>
            </a:extLst>
          </p:cNvPr>
          <p:cNvSpPr>
            <a:spLocks xmlns:a="http://schemas.openxmlformats.org/drawingml/2006/main" noGrp="1"/>
          </p:cNvSpPr>
          <p:nvPr/>
        </p:nvSpPr>
        <p:spPr>
          <a:xfrm xmlns:a="http://schemas.openxmlformats.org/drawingml/2006/main">
            <a:off x="9153525" y="2190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Peak GPU busy</a:t>
            </a:r>
          </a:p>
        </p:txBody>
      </p:sp>
      <p:sp>
        <p:nvSpPr>
          <p:cNvPr id="18" name="">
            <a:extLst xmlns:a="http://schemas.openxmlformats.org/drawingml/2006/main">
              <a:ext uri="{FF2B5EF4-FFF2-40B4-BE49-F238E27FC236}">
                <a16:creationId xmlns:a16="http://schemas.microsoft.com/office/drawing/2014/main" id="{61DFB3B4-BD50-4879-8C4C-0822DBBCCD08}"/>
              </a:ext>
            </a:extLst>
          </p:cNvPr>
          <p:cNvSpPr>
            <a:spLocks xmlns:a="http://schemas.openxmlformats.org/drawingml/2006/main" noGrp="1"/>
          </p:cNvSpPr>
          <p:nvPr/>
        </p:nvSpPr>
        <p:spPr>
          <a:xfrm xmlns:a="http://schemas.openxmlformats.org/drawingml/2006/main">
            <a:off x="9153525" y="2667000"/>
            <a:ext cx="214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100%</a:t>
            </a:r>
          </a:p>
        </p:txBody>
      </p:sp>
      <p:sp>
        <p:nvSpPr>
          <p:cNvPr id="19" name="">
            <a:extLst xmlns:a="http://schemas.openxmlformats.org/drawingml/2006/main">
              <a:ext uri="{FF2B5EF4-FFF2-40B4-BE49-F238E27FC236}">
                <a16:creationId xmlns:a16="http://schemas.microsoft.com/office/drawing/2014/main" id="{0C414D35-D7A9-403F-938D-914337D4C4C6}"/>
              </a:ext>
            </a:extLst>
          </p:cNvPr>
          <p:cNvSpPr>
            <a:spLocks xmlns:a="http://schemas.openxmlformats.org/drawingml/2006/main" noGrp="1"/>
          </p:cNvSpPr>
          <p:nvPr/>
        </p:nvSpPr>
        <p:spPr>
          <a:xfrm xmlns:a="http://schemas.openxmlformats.org/drawingml/2006/main">
            <a:off x="9153525" y="3333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B and C</a:t>
            </a:r>
          </a:p>
        </p:txBody>
      </p:sp>
      <p:sp>
        <p:nvSpPr>
          <p:cNvPr id="20" name="">
            <a:extLst xmlns:a="http://schemas.openxmlformats.org/drawingml/2006/main">
              <a:ext uri="{FF2B5EF4-FFF2-40B4-BE49-F238E27FC236}">
                <a16:creationId xmlns:a16="http://schemas.microsoft.com/office/drawing/2014/main" id="{C88AAEC9-8BF8-4DEA-A49A-D571D5773E93}"/>
              </a:ext>
            </a:extLst>
          </p:cNvPr>
          <p:cNvSpPr>
            <a:spLocks xmlns:a="http://schemas.openxmlformats.org/drawingml/2006/main" noGrp="1"/>
          </p:cNvSpPr>
          <p:nvPr/>
        </p:nvSpPr>
        <p:spPr>
          <a:xfrm xmlns:a="http://schemas.openxmlformats.org/drawingml/2006/main">
            <a:off x="400050" y="4267200"/>
            <a:ext cx="11401425" cy="1571625"/>
          </a:xfrm>
          <a:prstGeom xmlns:a="http://schemas.openxmlformats.org/drawingml/2006/main" prst="roundRect">
            <a:avLst>
              <a:gd name="adj" fmla="val 7273"/>
            </a:avLst>
          </a:prstGeom>
          <a:solidFill xmlns:a="http://schemas.openxmlformats.org/drawingml/2006/main">
            <a:srgbClr val="F7F7F7"/>
          </a:solidFill>
          <a:ln xmlns:a="http://schemas.openxmlformats.org/drawingml/2006/main" w="9525">
            <a:solidFill>
              <a:srgbClr val="B8BCC4"/>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8ed17a96f5849ca"/>
          <a:stretch xmlns:a="http://schemas.openxmlformats.org/drawingml/2006/main"/>
        </p:blipFill>
        <p:spPr>
          <a:xfrm xmlns:a="http://schemas.openxmlformats.org/drawingml/2006/main">
            <a:off x="3363093" y="4410075"/>
            <a:ext cx="5475339" cy="1285875"/>
          </a:xfrm>
          <a:prstGeom xmlns:a="http://schemas.openxmlformats.org/drawingml/2006/main" prst="roundRect">
            <a:avLst>
              <a:gd name="adj" fmla="val 8889"/>
            </a:avLst>
          </a:prstGeom>
        </p:spPr>
      </p:pic>
    </p:spTree>
    <p:extLst>
      <p:ext uri="{BB962C8B-B14F-4D97-AF65-F5344CB8AC3E}">
        <p14:creationId xmlns:p14="http://schemas.microsoft.com/office/powerpoint/2010/main" val="692254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8-title">
            <a:extLst xmlns:a="http://schemas.openxmlformats.org/drawingml/2006/main">
              <a:ext uri="{FF2B5EF4-FFF2-40B4-BE49-F238E27FC236}">
                <a16:creationId xmlns:a16="http://schemas.microsoft.com/office/drawing/2014/main" id="{A77DFA77-F433-432E-A6EF-7FF4E1F6E285}"/>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Flash Attention delivers an accepted win</a:t>
            </a:r>
          </a:p>
        </p:txBody>
      </p:sp>
      <p:sp>
        <p:nvSpPr>
          <p:cNvPr id="2" name="">
            <a:extLst xmlns:a="http://schemas.openxmlformats.org/drawingml/2006/main">
              <a:ext uri="{FF2B5EF4-FFF2-40B4-BE49-F238E27FC236}">
                <a16:creationId xmlns:a16="http://schemas.microsoft.com/office/drawing/2014/main" id="{FF9D9BD6-FDC3-4251-99D2-CC7801B4113A}"/>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A62F9D00-2F43-4036-BB03-85E055134646}"/>
              </a:ext>
            </a:extLst>
          </p:cNvPr>
          <p:cNvSpPr>
            <a:spLocks xmlns:a="http://schemas.openxmlformats.org/drawingml/2006/main" noGrp="1"/>
          </p:cNvSpPr>
          <p:nvPr/>
        </p:nvSpPr>
        <p:spPr>
          <a:xfrm xmlns:a="http://schemas.openxmlformats.org/drawingml/2006/main">
            <a:off x="400050" y="106680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F6368"/>
                </a:solidFill>
                <a:latin typeface="Helvetica Neue"/>
                <a:ea typeface="Helvetica Neue"/>
                <a:cs typeface="Helvetica Neue"/>
              </a:defRPr>
            </a:pPr>
            <a:r>
              <a:rPr sz="1575" b="0">
                <a:solidFill>
                  <a:srgbClr val="5F6368"/>
                </a:solidFill>
                <a:latin typeface="Helvetica Neue"/>
                <a:ea typeface="Helvetica Neue"/>
                <a:cs typeface="Helvetica Neue"/>
              </a:rPr>
              <a:t>Only Flash Attention changed: B = off, C = on. Model, source, corpus, suite, prompts, context, batch, and GPU stayed fixed.</a:t>
            </a:r>
          </a:p>
        </p:txBody>
      </p:sp>
      <p:graphicFrame>
        <p:nvGraphicFramePr>
          <p:cNvPr id="21" name="Chart"/>
          <p:cNvGraphicFramePr/>
          <p:nvPr/>
        </p:nvGraphicFramePr>
        <p:xfrm>
          <a:off xmlns:a="http://schemas.openxmlformats.org/drawingml/2006/main" x="400050" y="1847850"/>
          <a:ext xmlns:a="http://schemas.openxmlformats.org/drawingml/2006/main" cx="5953125" cy="3752850"/>
        </p:xfrm>
        <a:graphic xmlns:a="http://schemas.openxmlformats.org/drawingml/2006/main">
          <a:graphicData uri="http://schemas.openxmlformats.org/drawingml/2006/chart">
            <c:chart xmlns:r="http://schemas.openxmlformats.org/officeDocument/2006/relationships" xmlns:c="http://schemas.openxmlformats.org/drawingml/2006/chart" r:id="R9f8ad9886c9d4045"/>
          </a:graphicData>
        </a:graphic>
      </p:graphicFrame>
      <p:sp>
        <p:nvSpPr>
          <p:cNvPr id="5" name="">
            <a:extLst xmlns:a="http://schemas.openxmlformats.org/drawingml/2006/main">
              <a:ext uri="{FF2B5EF4-FFF2-40B4-BE49-F238E27FC236}">
                <a16:creationId xmlns:a16="http://schemas.microsoft.com/office/drawing/2014/main" id="{E1F3004F-8205-4DD9-8D9F-25E6E8029D6D}"/>
              </a:ext>
            </a:extLst>
          </p:cNvPr>
          <p:cNvSpPr>
            <a:spLocks xmlns:a="http://schemas.openxmlformats.org/drawingml/2006/main" noGrp="1"/>
          </p:cNvSpPr>
          <p:nvPr/>
        </p:nvSpPr>
        <p:spPr>
          <a:xfrm xmlns:a="http://schemas.openxmlformats.org/drawingml/2006/main">
            <a:off x="6800850" y="1847850"/>
            <a:ext cx="4991100" cy="1028700"/>
          </a:xfrm>
          <a:prstGeom xmlns:a="http://schemas.openxmlformats.org/drawingml/2006/main" prst="roundRect">
            <a:avLst>
              <a:gd name="adj" fmla="val 11111"/>
            </a:avLst>
          </a:prstGeom>
          <a:solidFill xmlns:a="http://schemas.openxmlformats.org/drawingml/2006/main">
            <a:srgbClr val="EAF5FB"/>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9F40283D-1FEB-4FDA-BC01-01E2DBB1E4AD}"/>
              </a:ext>
            </a:extLst>
          </p:cNvPr>
          <p:cNvSpPr>
            <a:spLocks xmlns:a="http://schemas.openxmlformats.org/drawingml/2006/main" noGrp="1"/>
          </p:cNvSpPr>
          <p:nvPr/>
        </p:nvSpPr>
        <p:spPr>
          <a:xfrm xmlns:a="http://schemas.openxmlformats.org/drawingml/2006/main">
            <a:off x="7048500" y="203835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+6.5%</a:t>
            </a:r>
          </a:p>
        </p:txBody>
      </p:sp>
      <p:sp>
        <p:nvSpPr>
          <p:cNvPr id="7" name="">
            <a:extLst xmlns:a="http://schemas.openxmlformats.org/drawingml/2006/main">
              <a:ext uri="{FF2B5EF4-FFF2-40B4-BE49-F238E27FC236}">
                <a16:creationId xmlns:a16="http://schemas.microsoft.com/office/drawing/2014/main" id="{65D4A15F-A961-43A0-B78A-DD60F6DC18D5}"/>
              </a:ext>
            </a:extLst>
          </p:cNvPr>
          <p:cNvSpPr>
            <a:spLocks xmlns:a="http://schemas.openxmlformats.org/drawingml/2006/main" noGrp="1"/>
          </p:cNvSpPr>
          <p:nvPr/>
        </p:nvSpPr>
        <p:spPr>
          <a:xfrm xmlns:a="http://schemas.openxmlformats.org/drawingml/2006/main">
            <a:off x="8763000" y="21431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C4 throughput</a:t>
            </a:r>
          </a:p>
        </p:txBody>
      </p:sp>
      <p:sp>
        <p:nvSpPr>
          <p:cNvPr id="8" name="">
            <a:extLst xmlns:a="http://schemas.openxmlformats.org/drawingml/2006/main">
              <a:ext uri="{FF2B5EF4-FFF2-40B4-BE49-F238E27FC236}">
                <a16:creationId xmlns:a16="http://schemas.microsoft.com/office/drawing/2014/main" id="{9E28BF35-3F44-4983-A152-D4E6BADC2D90}"/>
              </a:ext>
            </a:extLst>
          </p:cNvPr>
          <p:cNvSpPr>
            <a:spLocks xmlns:a="http://schemas.openxmlformats.org/drawingml/2006/main" noGrp="1"/>
          </p:cNvSpPr>
          <p:nvPr/>
        </p:nvSpPr>
        <p:spPr>
          <a:xfrm xmlns:a="http://schemas.openxmlformats.org/drawingml/2006/main">
            <a:off x="6800850" y="3105150"/>
            <a:ext cx="4991100" cy="1028700"/>
          </a:xfrm>
          <a:prstGeom xmlns:a="http://schemas.openxmlformats.org/drawingml/2006/main" prst="roundRect">
            <a:avLst>
              <a:gd name="adj" fmla="val 11111"/>
            </a:avLst>
          </a:prstGeom>
          <a:solidFill xmlns:a="http://schemas.openxmlformats.org/drawingml/2006/main">
            <a:srgbClr val="F7F7F7"/>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940F04F-DEC2-46F7-84DC-D2EA647BDD0A}"/>
              </a:ext>
            </a:extLst>
          </p:cNvPr>
          <p:cNvSpPr>
            <a:spLocks xmlns:a="http://schemas.openxmlformats.org/drawingml/2006/main" noGrp="1"/>
          </p:cNvSpPr>
          <p:nvPr/>
        </p:nvSpPr>
        <p:spPr>
          <a:xfrm xmlns:a="http://schemas.openxmlformats.org/drawingml/2006/main">
            <a:off x="7048500" y="329565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−5.4%</a:t>
            </a:r>
          </a:p>
        </p:txBody>
      </p:sp>
      <p:sp>
        <p:nvSpPr>
          <p:cNvPr id="10" name="">
            <a:extLst xmlns:a="http://schemas.openxmlformats.org/drawingml/2006/main">
              <a:ext uri="{FF2B5EF4-FFF2-40B4-BE49-F238E27FC236}">
                <a16:creationId xmlns:a16="http://schemas.microsoft.com/office/drawing/2014/main" id="{EB5BFEC4-E789-40C6-B012-BF8F0BB1EBC6}"/>
              </a:ext>
            </a:extLst>
          </p:cNvPr>
          <p:cNvSpPr>
            <a:spLocks xmlns:a="http://schemas.openxmlformats.org/drawingml/2006/main" noGrp="1"/>
          </p:cNvSpPr>
          <p:nvPr/>
        </p:nvSpPr>
        <p:spPr>
          <a:xfrm xmlns:a="http://schemas.openxmlformats.org/drawingml/2006/main">
            <a:off x="8763000" y="34004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C4 P95 latency</a:t>
            </a:r>
          </a:p>
        </p:txBody>
      </p:sp>
      <p:sp>
        <p:nvSpPr>
          <p:cNvPr id="11" name="">
            <a:extLst xmlns:a="http://schemas.openxmlformats.org/drawingml/2006/main">
              <a:ext uri="{FF2B5EF4-FFF2-40B4-BE49-F238E27FC236}">
                <a16:creationId xmlns:a16="http://schemas.microsoft.com/office/drawing/2014/main" id="{7E772B09-C6CD-418A-98EE-F52F3679E9F8}"/>
              </a:ext>
            </a:extLst>
          </p:cNvPr>
          <p:cNvSpPr>
            <a:spLocks xmlns:a="http://schemas.openxmlformats.org/drawingml/2006/main" noGrp="1"/>
          </p:cNvSpPr>
          <p:nvPr/>
        </p:nvSpPr>
        <p:spPr>
          <a:xfrm xmlns:a="http://schemas.openxmlformats.org/drawingml/2006/main">
            <a:off x="6800850" y="4362450"/>
            <a:ext cx="4991100" cy="1028700"/>
          </a:xfrm>
          <a:prstGeom xmlns:a="http://schemas.openxmlformats.org/drawingml/2006/main" prst="roundRect">
            <a:avLst>
              <a:gd name="adj" fmla="val 11111"/>
            </a:avLst>
          </a:prstGeom>
          <a:solidFill xmlns:a="http://schemas.openxmlformats.org/drawingml/2006/main">
            <a:srgbClr val="F7F7F7"/>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EDD5166B-811E-4FAC-8BD9-5469F8033177}"/>
              </a:ext>
            </a:extLst>
          </p:cNvPr>
          <p:cNvSpPr>
            <a:spLocks xmlns:a="http://schemas.openxmlformats.org/drawingml/2006/main" noGrp="1"/>
          </p:cNvSpPr>
          <p:nvPr/>
        </p:nvSpPr>
        <p:spPr>
          <a:xfrm xmlns:a="http://schemas.openxmlformats.org/drawingml/2006/main">
            <a:off x="7048500" y="455295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+13.0%</a:t>
            </a:r>
          </a:p>
        </p:txBody>
      </p:sp>
      <p:sp>
        <p:nvSpPr>
          <p:cNvPr id="13" name="">
            <a:extLst xmlns:a="http://schemas.openxmlformats.org/drawingml/2006/main">
              <a:ext uri="{FF2B5EF4-FFF2-40B4-BE49-F238E27FC236}">
                <a16:creationId xmlns:a16="http://schemas.microsoft.com/office/drawing/2014/main" id="{3CF17EC1-8B98-49CE-9503-10B8797BD8B9}"/>
              </a:ext>
            </a:extLst>
          </p:cNvPr>
          <p:cNvSpPr>
            <a:spLocks xmlns:a="http://schemas.openxmlformats.org/drawingml/2006/main" noGrp="1"/>
          </p:cNvSpPr>
          <p:nvPr/>
        </p:nvSpPr>
        <p:spPr>
          <a:xfrm xmlns:a="http://schemas.openxmlformats.org/drawingml/2006/main">
            <a:off x="8763000" y="4657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decode tokens/s</a:t>
            </a:r>
          </a:p>
        </p:txBody>
      </p:sp>
      <p:sp>
        <p:nvSpPr>
          <p:cNvPr id="14" name="">
            <a:extLst xmlns:a="http://schemas.openxmlformats.org/drawingml/2006/main">
              <a:ext uri="{FF2B5EF4-FFF2-40B4-BE49-F238E27FC236}">
                <a16:creationId xmlns:a16="http://schemas.microsoft.com/office/drawing/2014/main" id="{8911928C-85D9-42E4-B1CE-79D5CFD2E8EA}"/>
              </a:ext>
            </a:extLst>
          </p:cNvPr>
          <p:cNvSpPr>
            <a:spLocks xmlns:a="http://schemas.openxmlformats.org/drawingml/2006/main" noGrp="1"/>
          </p:cNvSpPr>
          <p:nvPr/>
        </p:nvSpPr>
        <p:spPr>
          <a:xfrm xmlns:a="http://schemas.openxmlformats.org/drawingml/2006/main">
            <a:off x="400050" y="5876925"/>
            <a:ext cx="11401425" cy="342900"/>
          </a:xfrm>
          <a:prstGeom xmlns:a="http://schemas.openxmlformats.org/drawingml/2006/main" prst="roundRect">
            <a:avLst>
              <a:gd name="adj" fmla="val 33333"/>
            </a:avLst>
          </a:prstGeom>
          <a:solidFill xmlns:a="http://schemas.openxmlformats.org/drawingml/2006/main">
            <a:srgbClr val="F7F7F7"/>
          </a:solidFill>
          <a:ln xmlns:a="http://schemas.openxmlformats.org/drawingml/2006/main" w="9525">
            <a:solidFill>
              <a:srgbClr val="F7F7F7"/>
            </a:solidFill>
            <a:prstDash val="solid"/>
          </a:ln>
        </p:spPr>
      </p:sp>
      <p:sp>
        <p:nvSpPr>
          <p:cNvPr id="15" name="">
            <a:extLst xmlns:a="http://schemas.openxmlformats.org/drawingml/2006/main">
              <a:ext uri="{FF2B5EF4-FFF2-40B4-BE49-F238E27FC236}">
                <a16:creationId xmlns:a16="http://schemas.microsoft.com/office/drawing/2014/main" id="{C54A812A-A4A3-405E-AB1B-2D0F4AF58FF5}"/>
              </a:ext>
            </a:extLst>
          </p:cNvPr>
          <p:cNvSpPr>
            <a:spLocks xmlns:a="http://schemas.openxmlformats.org/drawingml/2006/main" noGrp="1"/>
          </p:cNvSpPr>
          <p:nvPr/>
        </p:nvSpPr>
        <p:spPr>
          <a:xfrm xmlns:a="http://schemas.openxmlformats.org/drawingml/2006/main">
            <a:off x="590550" y="5943600"/>
            <a:ext cx="11001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Quality held constant: 100% request success, zero failed model calls, identical 15/16 citation-section projection.</a:t>
            </a:r>
          </a:p>
        </p:txBody>
      </p:sp>
    </p:spTree>
    <p:extLst>
      <p:ext uri="{BB962C8B-B14F-4D97-AF65-F5344CB8AC3E}">
        <p14:creationId xmlns:p14="http://schemas.microsoft.com/office/powerpoint/2010/main" val="20697219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4-title">
            <a:extLst xmlns:a="http://schemas.openxmlformats.org/drawingml/2006/main">
              <a:ext uri="{FF2B5EF4-FFF2-40B4-BE49-F238E27FC236}">
                <a16:creationId xmlns:a16="http://schemas.microsoft.com/office/drawing/2014/main" id="{00C57E6A-E979-4FBC-BB02-642F740EFF14}"/>
              </a:ext>
            </a:extLst>
          </p:cNvPr>
          <p:cNvSpPr>
            <a:spLocks xmlns:a="http://schemas.openxmlformats.org/drawingml/2006/main" noGrp="1"/>
          </p:cNvSpPr>
          <p:nvPr/>
        </p:nvSpPr>
        <p:spPr>
          <a:xfrm xmlns:a="http://schemas.openxmlformats.org/drawingml/2006/main">
            <a:off x="400050" y="3238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Radeon Cloud API support is isolated by design</a:t>
            </a:r>
          </a:p>
        </p:txBody>
      </p:sp>
      <p:sp>
        <p:nvSpPr>
          <p:cNvPr id="2" name="">
            <a:extLst xmlns:a="http://schemas.openxmlformats.org/drawingml/2006/main">
              <a:ext uri="{FF2B5EF4-FFF2-40B4-BE49-F238E27FC236}">
                <a16:creationId xmlns:a16="http://schemas.microsoft.com/office/drawing/2014/main" id="{C1B3065A-D0C9-49CD-9F7D-AD112A0B8475}"/>
              </a:ext>
            </a:extLst>
          </p:cNvPr>
          <p:cNvSpPr>
            <a:spLocks xmlns:a="http://schemas.openxmlformats.org/drawingml/2006/main" noGrp="1"/>
          </p:cNvSpPr>
          <p:nvPr/>
        </p:nvSpPr>
        <p:spPr>
          <a:xfrm xmlns:a="http://schemas.openxmlformats.org/drawingml/2006/main">
            <a:off x="11277600" y="62579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buNone/>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8A2CFEC3-5CF6-46EB-8D30-2F0F428A0269}"/>
              </a:ext>
            </a:extLst>
          </p:cNvPr>
          <p:cNvSpPr>
            <a:spLocks xmlns:a="http://schemas.openxmlformats.org/drawingml/2006/main" noGrp="1"/>
          </p:cNvSpPr>
          <p:nvPr/>
        </p:nvSpPr>
        <p:spPr>
          <a:xfrm xmlns:a="http://schemas.openxmlformats.org/drawingml/2006/main">
            <a:off x="4000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FCD1826-B6F0-4B20-ADA7-59C59F583B80}"/>
              </a:ext>
            </a:extLst>
          </p:cNvPr>
          <p:cNvSpPr>
            <a:spLocks xmlns:a="http://schemas.openxmlformats.org/drawingml/2006/main" noGrp="1"/>
          </p:cNvSpPr>
          <p:nvPr/>
        </p:nvSpPr>
        <p:spPr>
          <a:xfrm xmlns:a="http://schemas.openxmlformats.org/drawingml/2006/main">
            <a:off x="4000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Explicit opt-in</a:t>
            </a:r>
          </a:p>
        </p:txBody>
      </p:sp>
      <p:sp>
        <p:nvSpPr>
          <p:cNvPr id="5" name="">
            <a:extLst xmlns:a="http://schemas.openxmlformats.org/drawingml/2006/main">
              <a:ext uri="{FF2B5EF4-FFF2-40B4-BE49-F238E27FC236}">
                <a16:creationId xmlns:a16="http://schemas.microsoft.com/office/drawing/2014/main" id="{85CC4315-AF3C-4ADD-AE4A-98C9A2755BDE}"/>
              </a:ext>
            </a:extLst>
          </p:cNvPr>
          <p:cNvSpPr>
            <a:spLocks xmlns:a="http://schemas.openxmlformats.org/drawingml/2006/main" noGrp="1"/>
          </p:cNvSpPr>
          <p:nvPr/>
        </p:nvSpPr>
        <p:spPr>
          <a:xfrm xmlns:a="http://schemas.openxmlformats.org/drawingml/2006/main">
            <a:off x="4000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Off by default; radeon_cloud_free requires dedicated bonus mode.</a:t>
            </a:r>
          </a:p>
        </p:txBody>
      </p:sp>
      <p:sp>
        <p:nvSpPr>
          <p:cNvPr id="6" name="">
            <a:extLst xmlns:a="http://schemas.openxmlformats.org/drawingml/2006/main">
              <a:ext uri="{FF2B5EF4-FFF2-40B4-BE49-F238E27FC236}">
                <a16:creationId xmlns:a16="http://schemas.microsoft.com/office/drawing/2014/main" id="{78AD1360-3ACF-4D6A-A1A7-EF5BE6DFE7DA}"/>
              </a:ext>
            </a:extLst>
          </p:cNvPr>
          <p:cNvSpPr>
            <a:spLocks xmlns:a="http://schemas.openxmlformats.org/drawingml/2006/main" noGrp="1"/>
          </p:cNvSpPr>
          <p:nvPr/>
        </p:nvSpPr>
        <p:spPr>
          <a:xfrm xmlns:a="http://schemas.openxmlformats.org/drawingml/2006/main">
            <a:off x="25336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
            <a:extLst xmlns:a="http://schemas.openxmlformats.org/drawingml/2006/main">
              <a:ext uri="{FF2B5EF4-FFF2-40B4-BE49-F238E27FC236}">
                <a16:creationId xmlns:a16="http://schemas.microsoft.com/office/drawing/2014/main" id="{F4821B5E-7575-4958-831F-D2F92D769A5D}"/>
              </a:ext>
            </a:extLst>
          </p:cNvPr>
          <p:cNvSpPr>
            <a:spLocks xmlns:a="http://schemas.openxmlformats.org/drawingml/2006/main" noGrp="1"/>
          </p:cNvSpPr>
          <p:nvPr/>
        </p:nvSpPr>
        <p:spPr>
          <a:xfrm xmlns:a="http://schemas.openxmlformats.org/drawingml/2006/main">
            <a:off x="27241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DAF6396F-F13C-4190-89CC-F30358B49273}"/>
              </a:ext>
            </a:extLst>
          </p:cNvPr>
          <p:cNvSpPr>
            <a:spLocks xmlns:a="http://schemas.openxmlformats.org/drawingml/2006/main" noGrp="1"/>
          </p:cNvSpPr>
          <p:nvPr/>
        </p:nvSpPr>
        <p:spPr>
          <a:xfrm xmlns:a="http://schemas.openxmlformats.org/drawingml/2006/main">
            <a:off x="27241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Official API</a:t>
            </a:r>
          </a:p>
        </p:txBody>
      </p:sp>
      <p:sp>
        <p:nvSpPr>
          <p:cNvPr id="9" name="">
            <a:extLst xmlns:a="http://schemas.openxmlformats.org/drawingml/2006/main">
              <a:ext uri="{FF2B5EF4-FFF2-40B4-BE49-F238E27FC236}">
                <a16:creationId xmlns:a16="http://schemas.microsoft.com/office/drawing/2014/main" id="{E4155D09-CC64-4D33-B26D-E4B5017D7012}"/>
              </a:ext>
            </a:extLst>
          </p:cNvPr>
          <p:cNvSpPr>
            <a:spLocks xmlns:a="http://schemas.openxmlformats.org/drawingml/2006/main" noGrp="1"/>
          </p:cNvSpPr>
          <p:nvPr/>
        </p:nvSpPr>
        <p:spPr>
          <a:xfrm xmlns:a="http://schemas.openxmlformats.org/drawingml/2006/main">
            <a:off x="27241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Qwen3.6-35B-A3B through AMD Radeon Cloud Public Free Model API.</a:t>
            </a:r>
          </a:p>
        </p:txBody>
      </p:sp>
      <p:sp>
        <p:nvSpPr>
          <p:cNvPr id="10" name="">
            <a:extLst xmlns:a="http://schemas.openxmlformats.org/drawingml/2006/main">
              <a:ext uri="{FF2B5EF4-FFF2-40B4-BE49-F238E27FC236}">
                <a16:creationId xmlns:a16="http://schemas.microsoft.com/office/drawing/2014/main" id="{9428D28C-5ECF-40F3-9E67-4A97FAE80E61}"/>
              </a:ext>
            </a:extLst>
          </p:cNvPr>
          <p:cNvSpPr>
            <a:spLocks xmlns:a="http://schemas.openxmlformats.org/drawingml/2006/main" noGrp="1"/>
          </p:cNvSpPr>
          <p:nvPr/>
        </p:nvSpPr>
        <p:spPr>
          <a:xfrm xmlns:a="http://schemas.openxmlformats.org/drawingml/2006/main">
            <a:off x="48577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5D800D92-8F73-482A-8E4D-B7D8F50BC158}"/>
              </a:ext>
            </a:extLst>
          </p:cNvPr>
          <p:cNvSpPr>
            <a:spLocks xmlns:a="http://schemas.openxmlformats.org/drawingml/2006/main" noGrp="1"/>
          </p:cNvSpPr>
          <p:nvPr/>
        </p:nvSpPr>
        <p:spPr>
          <a:xfrm xmlns:a="http://schemas.openxmlformats.org/drawingml/2006/main">
            <a:off x="50482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563B32D3-3362-4F26-B05D-D8D76BCDBF43}"/>
              </a:ext>
            </a:extLst>
          </p:cNvPr>
          <p:cNvSpPr>
            <a:spLocks xmlns:a="http://schemas.openxmlformats.org/drawingml/2006/main" noGrp="1"/>
          </p:cNvSpPr>
          <p:nvPr/>
        </p:nvSpPr>
        <p:spPr>
          <a:xfrm xmlns:a="http://schemas.openxmlformats.org/drawingml/2006/main">
            <a:off x="50482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Other optimization</a:t>
            </a:r>
          </a:p>
        </p:txBody>
      </p:sp>
      <p:sp>
        <p:nvSpPr>
          <p:cNvPr id="13" name="">
            <a:extLst xmlns:a="http://schemas.openxmlformats.org/drawingml/2006/main">
              <a:ext uri="{FF2B5EF4-FFF2-40B4-BE49-F238E27FC236}">
                <a16:creationId xmlns:a16="http://schemas.microsoft.com/office/drawing/2014/main" id="{894C7674-D6B2-4B8E-871E-E2BDAB3AEEA9}"/>
              </a:ext>
            </a:extLst>
          </p:cNvPr>
          <p:cNvSpPr>
            <a:spLocks xmlns:a="http://schemas.openxmlformats.org/drawingml/2006/main" noGrp="1"/>
          </p:cNvSpPr>
          <p:nvPr/>
        </p:nvSpPr>
        <p:spPr>
          <a:xfrm xmlns:a="http://schemas.openxmlformats.org/drawingml/2006/main">
            <a:off x="50482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Fuse plan generation and evidence selection into one bounded model call.</a:t>
            </a:r>
          </a:p>
        </p:txBody>
      </p:sp>
      <p:sp>
        <p:nvSpPr>
          <p:cNvPr id="14" name="">
            <a:extLst xmlns:a="http://schemas.openxmlformats.org/drawingml/2006/main">
              <a:ext uri="{FF2B5EF4-FFF2-40B4-BE49-F238E27FC236}">
                <a16:creationId xmlns:a16="http://schemas.microsoft.com/office/drawing/2014/main" id="{26C2295F-B3F5-4FC2-B3FF-362C0A04F011}"/>
              </a:ext>
            </a:extLst>
          </p:cNvPr>
          <p:cNvSpPr>
            <a:spLocks xmlns:a="http://schemas.openxmlformats.org/drawingml/2006/main" noGrp="1"/>
          </p:cNvSpPr>
          <p:nvPr/>
        </p:nvSpPr>
        <p:spPr>
          <a:xfrm xmlns:a="http://schemas.openxmlformats.org/drawingml/2006/main">
            <a:off x="71818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3AA3F2B2-4CD7-4257-BD7A-8843AFAC005F}"/>
              </a:ext>
            </a:extLst>
          </p:cNvPr>
          <p:cNvSpPr>
            <a:spLocks xmlns:a="http://schemas.openxmlformats.org/drawingml/2006/main" noGrp="1"/>
          </p:cNvSpPr>
          <p:nvPr/>
        </p:nvSpPr>
        <p:spPr>
          <a:xfrm xmlns:a="http://schemas.openxmlformats.org/drawingml/2006/main">
            <a:off x="73723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6BCE6A8E-FD38-453D-A1F6-AE605A0AAE8A}"/>
              </a:ext>
            </a:extLst>
          </p:cNvPr>
          <p:cNvSpPr>
            <a:spLocks xmlns:a="http://schemas.openxmlformats.org/drawingml/2006/main" noGrp="1"/>
          </p:cNvSpPr>
          <p:nvPr/>
        </p:nvSpPr>
        <p:spPr>
          <a:xfrm xmlns:a="http://schemas.openxmlformats.org/drawingml/2006/main">
            <a:off x="73723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Fail closed</a:t>
            </a:r>
          </a:p>
        </p:txBody>
      </p:sp>
      <p:sp>
        <p:nvSpPr>
          <p:cNvPr id="17" name="">
            <a:extLst xmlns:a="http://schemas.openxmlformats.org/drawingml/2006/main">
              <a:ext uri="{FF2B5EF4-FFF2-40B4-BE49-F238E27FC236}">
                <a16:creationId xmlns:a16="http://schemas.microsoft.com/office/drawing/2014/main" id="{C25E889C-A34A-4BFE-B199-DCF225066849}"/>
              </a:ext>
            </a:extLst>
          </p:cNvPr>
          <p:cNvSpPr>
            <a:spLocks xmlns:a="http://schemas.openxmlformats.org/drawingml/2006/main" noGrp="1"/>
          </p:cNvSpPr>
          <p:nvPr/>
        </p:nvSpPr>
        <p:spPr>
          <a:xfrm xmlns:a="http://schemas.openxmlformats.org/drawingml/2006/main">
            <a:off x="73723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No silent local fallback, no mixed runtime proof, deterministic output validation.</a:t>
            </a:r>
          </a:p>
        </p:txBody>
      </p:sp>
      <p:sp>
        <p:nvSpPr>
          <p:cNvPr id="18" name="">
            <a:extLst xmlns:a="http://schemas.openxmlformats.org/drawingml/2006/main">
              <a:ext uri="{FF2B5EF4-FFF2-40B4-BE49-F238E27FC236}">
                <a16:creationId xmlns:a16="http://schemas.microsoft.com/office/drawing/2014/main" id="{D0700C7D-5170-4E1D-9B79-E1F87DCE4D2E}"/>
              </a:ext>
            </a:extLst>
          </p:cNvPr>
          <p:cNvSpPr>
            <a:spLocks xmlns:a="http://schemas.openxmlformats.org/drawingml/2006/main" noGrp="1"/>
          </p:cNvSpPr>
          <p:nvPr/>
        </p:nvSpPr>
        <p:spPr>
          <a:xfrm xmlns:a="http://schemas.openxmlformats.org/drawingml/2006/main">
            <a:off x="9505950" y="1781175"/>
            <a:ext cx="9525" cy="35623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9" name="">
            <a:extLst xmlns:a="http://schemas.openxmlformats.org/drawingml/2006/main">
              <a:ext uri="{FF2B5EF4-FFF2-40B4-BE49-F238E27FC236}">
                <a16:creationId xmlns:a16="http://schemas.microsoft.com/office/drawing/2014/main" id="{8571E64C-D4D0-43CA-8869-28D96C0C9FFB}"/>
              </a:ext>
            </a:extLst>
          </p:cNvPr>
          <p:cNvSpPr>
            <a:spLocks xmlns:a="http://schemas.openxmlformats.org/drawingml/2006/main" noGrp="1"/>
          </p:cNvSpPr>
          <p:nvPr/>
        </p:nvSpPr>
        <p:spPr>
          <a:xfrm xmlns:a="http://schemas.openxmlformats.org/drawingml/2006/main">
            <a:off x="9696450" y="17621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05</a:t>
            </a:r>
          </a:p>
        </p:txBody>
      </p:sp>
      <p:sp>
        <p:nvSpPr>
          <p:cNvPr id="20" name="">
            <a:extLst xmlns:a="http://schemas.openxmlformats.org/drawingml/2006/main">
              <a:ext uri="{FF2B5EF4-FFF2-40B4-BE49-F238E27FC236}">
                <a16:creationId xmlns:a16="http://schemas.microsoft.com/office/drawing/2014/main" id="{DD2DC681-3AAF-4A00-93CF-8AFE676820DF}"/>
              </a:ext>
            </a:extLst>
          </p:cNvPr>
          <p:cNvSpPr>
            <a:spLocks xmlns:a="http://schemas.openxmlformats.org/drawingml/2006/main" noGrp="1"/>
          </p:cNvSpPr>
          <p:nvPr/>
        </p:nvSpPr>
        <p:spPr>
          <a:xfrm xmlns:a="http://schemas.openxmlformats.org/drawingml/2006/main">
            <a:off x="9696450" y="2343150"/>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Synthetic only</a:t>
            </a:r>
          </a:p>
        </p:txBody>
      </p:sp>
      <p:sp>
        <p:nvSpPr>
          <p:cNvPr id="21" name="">
            <a:extLst xmlns:a="http://schemas.openxmlformats.org/drawingml/2006/main">
              <a:ext uri="{FF2B5EF4-FFF2-40B4-BE49-F238E27FC236}">
                <a16:creationId xmlns:a16="http://schemas.microsoft.com/office/drawing/2014/main" id="{46D86350-245C-4D00-B8A3-D40A1ED3AF4F}"/>
              </a:ext>
            </a:extLst>
          </p:cNvPr>
          <p:cNvSpPr>
            <a:spLocks xmlns:a="http://schemas.openxmlformats.org/drawingml/2006/main" noGrp="1"/>
          </p:cNvSpPr>
          <p:nvPr/>
        </p:nvSpPr>
        <p:spPr>
          <a:xfrm xmlns:a="http://schemas.openxmlformats.org/drawingml/2006/main">
            <a:off x="9696450" y="3257550"/>
            <a:ext cx="19240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API key stays private; real guest data and private state never leave.</a:t>
            </a:r>
          </a:p>
        </p:txBody>
      </p:sp>
      <p:sp>
        <p:nvSpPr>
          <p:cNvPr id="22" name="">
            <a:extLst xmlns:a="http://schemas.openxmlformats.org/drawingml/2006/main">
              <a:ext uri="{FF2B5EF4-FFF2-40B4-BE49-F238E27FC236}">
                <a16:creationId xmlns:a16="http://schemas.microsoft.com/office/drawing/2014/main" id="{01D7B705-68A8-402E-A833-2F3D61017A3A}"/>
              </a:ext>
            </a:extLst>
          </p:cNvPr>
          <p:cNvSpPr>
            <a:spLocks xmlns:a="http://schemas.openxmlformats.org/drawingml/2006/main" noGrp="1"/>
          </p:cNvSpPr>
          <p:nvPr/>
        </p:nvSpPr>
        <p:spPr>
          <a:xfrm xmlns:a="http://schemas.openxmlformats.org/drawingml/2006/main">
            <a:off x="400050" y="5562600"/>
            <a:ext cx="11401425" cy="514350"/>
          </a:xfrm>
          <a:prstGeom xmlns:a="http://schemas.openxmlformats.org/drawingml/2006/main" prst="roundRect">
            <a:avLst>
              <a:gd name="adj" fmla="val 22222"/>
            </a:avLst>
          </a:prstGeom>
          <a:solidFill xmlns:a="http://schemas.openxmlformats.org/drawingml/2006/main">
            <a:srgbClr val="EAF5FB"/>
          </a:solidFill>
          <a:ln xmlns:a="http://schemas.openxmlformats.org/drawingml/2006/main" w="9525">
            <a:solidFill>
              <a:srgbClr val="EAF5FB"/>
            </a:solidFill>
            <a:prstDash val="solid"/>
          </a:ln>
        </p:spPr>
      </p:sp>
      <p:sp>
        <p:nvSpPr>
          <p:cNvPr id="23" name="">
            <a:extLst xmlns:a="http://schemas.openxmlformats.org/drawingml/2006/main">
              <a:ext uri="{FF2B5EF4-FFF2-40B4-BE49-F238E27FC236}">
                <a16:creationId xmlns:a16="http://schemas.microsoft.com/office/drawing/2014/main" id="{0E3631B2-27B8-4795-AF3B-328252C7559B}"/>
              </a:ext>
            </a:extLst>
          </p:cNvPr>
          <p:cNvSpPr>
            <a:spLocks xmlns:a="http://schemas.openxmlformats.org/drawingml/2006/main" noGrp="1"/>
          </p:cNvSpPr>
          <p:nvPr/>
        </p:nvSpPr>
        <p:spPr>
          <a:xfrm xmlns:a="http://schemas.openxmlformats.org/drawingml/2006/main">
            <a:off x="619125" y="56959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Optional bonus path; the base-100 local Radeon deployment remains independent.</a:t>
            </a:r>
          </a:p>
        </p:txBody>
      </p:sp>
    </p:spTree>
    <p:extLst>
      <p:ext uri="{BB962C8B-B14F-4D97-AF65-F5344CB8AC3E}">
        <p14:creationId xmlns:p14="http://schemas.microsoft.com/office/powerpoint/2010/main" val="19080435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AE98F7-7BF8-42CA-AD69-6BBE6B317081}"/>
              </a:ext>
            </a:extLst>
          </p:cNvPr>
          <p:cNvSpPr>
            <a:spLocks xmlns:a="http://schemas.openxmlformats.org/drawingml/2006/main" noGrp="1"/>
          </p:cNvSpPr>
          <p:nvPr/>
        </p:nvSpPr>
        <p:spPr>
          <a:xfrm xmlns:a="http://schemas.openxmlformats.org/drawingml/2006/main">
            <a:off x="400050" y="4000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TRACK 2 · RADEONHOTEL</a:t>
            </a:r>
          </a:p>
        </p:txBody>
      </p:sp>
      <p:sp>
        <p:nvSpPr>
          <p:cNvPr id="2" name="">
            <a:extLst xmlns:a="http://schemas.openxmlformats.org/drawingml/2006/main">
              <a:ext uri="{FF2B5EF4-FFF2-40B4-BE49-F238E27FC236}">
                <a16:creationId xmlns:a16="http://schemas.microsoft.com/office/drawing/2014/main" id="{577713F9-EDC5-4976-904C-CF0CE4F86238}"/>
              </a:ext>
            </a:extLst>
          </p:cNvPr>
          <p:cNvSpPr>
            <a:spLocks xmlns:a="http://schemas.openxmlformats.org/drawingml/2006/main" noGrp="1"/>
          </p:cNvSpPr>
          <p:nvPr/>
        </p:nvSpPr>
        <p:spPr>
          <a:xfrm xmlns:a="http://schemas.openxmlformats.org/drawingml/2006/main">
            <a:off x="400050" y="1638300"/>
            <a:ext cx="9620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A private journey agent judges can verify end to end</a:t>
            </a:r>
          </a:p>
        </p:txBody>
      </p:sp>
      <p:sp>
        <p:nvSpPr>
          <p:cNvPr id="3" name="">
            <a:extLst xmlns:a="http://schemas.openxmlformats.org/drawingml/2006/main">
              <a:ext uri="{FF2B5EF4-FFF2-40B4-BE49-F238E27FC236}">
                <a16:creationId xmlns:a16="http://schemas.microsoft.com/office/drawing/2014/main" id="{BDC4202C-0065-4556-A3DE-2BB9C475E604}"/>
              </a:ext>
            </a:extLst>
          </p:cNvPr>
          <p:cNvSpPr>
            <a:spLocks xmlns:a="http://schemas.openxmlformats.org/drawingml/2006/main" noGrp="1"/>
          </p:cNvSpPr>
          <p:nvPr/>
        </p:nvSpPr>
        <p:spPr>
          <a:xfrm xmlns:a="http://schemas.openxmlformats.org/drawingml/2006/main">
            <a:off x="400050" y="4171950"/>
            <a:ext cx="11401425"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76C16EE5-9BCD-470B-BCD9-C7A5E4804AAA}"/>
              </a:ext>
            </a:extLst>
          </p:cNvPr>
          <p:cNvSpPr>
            <a:spLocks xmlns:a="http://schemas.openxmlformats.org/drawingml/2006/main" noGrp="1"/>
          </p:cNvSpPr>
          <p:nvPr/>
        </p:nvSpPr>
        <p:spPr>
          <a:xfrm xmlns:a="http://schemas.openxmlformats.org/drawingml/2006/main">
            <a:off x="400050" y="4686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LIVE DEMO</a:t>
            </a:r>
          </a:p>
        </p:txBody>
      </p:sp>
      <p:sp>
        <p:nvSpPr>
          <p:cNvPr id="5" name="">
            <a:extLst xmlns:a="http://schemas.openxmlformats.org/drawingml/2006/main">
              <a:ext uri="{FF2B5EF4-FFF2-40B4-BE49-F238E27FC236}">
                <a16:creationId xmlns:a16="http://schemas.microsoft.com/office/drawing/2014/main" id="{87534AD9-E8AE-4F01-A2E8-70C2B5321255}"/>
              </a:ext>
            </a:extLst>
          </p:cNvPr>
          <p:cNvSpPr>
            <a:spLocks xmlns:a="http://schemas.openxmlformats.org/drawingml/2006/main" noGrp="1"/>
          </p:cNvSpPr>
          <p:nvPr/>
        </p:nvSpPr>
        <p:spPr>
          <a:xfrm xmlns:a="http://schemas.openxmlformats.org/drawingml/2006/main">
            <a:off x="400050" y="50292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rc-5ec89b08f896792e.radeon.firstdg.ai</a:t>
            </a:r>
          </a:p>
        </p:txBody>
      </p:sp>
      <p:sp>
        <p:nvSpPr>
          <p:cNvPr id="6" name="">
            <a:extLst xmlns:a="http://schemas.openxmlformats.org/drawingml/2006/main">
              <a:ext uri="{FF2B5EF4-FFF2-40B4-BE49-F238E27FC236}">
                <a16:creationId xmlns:a16="http://schemas.microsoft.com/office/drawing/2014/main" id="{0C2F1CC4-B5EB-4D1C-B04F-68391AE6D6E2}"/>
              </a:ext>
            </a:extLst>
          </p:cNvPr>
          <p:cNvSpPr>
            <a:spLocks xmlns:a="http://schemas.openxmlformats.org/drawingml/2006/main" noGrp="1"/>
          </p:cNvSpPr>
          <p:nvPr/>
        </p:nvSpPr>
        <p:spPr>
          <a:xfrm xmlns:a="http://schemas.openxmlformats.org/drawingml/2006/main">
            <a:off x="581025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latin typeface="Helvetica Neue"/>
                <a:ea typeface="Helvetica Neue"/>
                <a:cs typeface="Helvetica Neue"/>
              </a:defRPr>
            </a:pPr>
            <a:r>
              <a:rPr sz="1350" b="1">
                <a:solidFill>
                  <a:srgbClr val="5F6368"/>
                </a:solidFill>
                <a:latin typeface="Helvetica Neue"/>
                <a:ea typeface="Helvetica Neue"/>
                <a:cs typeface="Helvetica Neue"/>
              </a:rPr>
              <a:t>SOURCE + EVIDENCE</a:t>
            </a:r>
          </a:p>
        </p:txBody>
      </p:sp>
      <p:sp>
        <p:nvSpPr>
          <p:cNvPr id="7" name="">
            <a:extLst xmlns:a="http://schemas.openxmlformats.org/drawingml/2006/main">
              <a:ext uri="{FF2B5EF4-FFF2-40B4-BE49-F238E27FC236}">
                <a16:creationId xmlns:a16="http://schemas.microsoft.com/office/drawing/2014/main" id="{868E72D7-2616-4BDC-A191-8E67DEAD2797}"/>
              </a:ext>
            </a:extLst>
          </p:cNvPr>
          <p:cNvSpPr>
            <a:spLocks xmlns:a="http://schemas.openxmlformats.org/drawingml/2006/main" noGrp="1"/>
          </p:cNvSpPr>
          <p:nvPr/>
        </p:nvSpPr>
        <p:spPr>
          <a:xfrm xmlns:a="http://schemas.openxmlformats.org/drawingml/2006/main">
            <a:off x="5810250" y="50292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C2 f7ba681 · report 7f85a614 · PR #192</a:t>
            </a:r>
          </a:p>
        </p:txBody>
      </p:sp>
      <p:sp>
        <p:nvSpPr>
          <p:cNvPr id="8" name="">
            <a:extLst xmlns:a="http://schemas.openxmlformats.org/drawingml/2006/main">
              <a:ext uri="{FF2B5EF4-FFF2-40B4-BE49-F238E27FC236}">
                <a16:creationId xmlns:a16="http://schemas.microsoft.com/office/drawing/2014/main" id="{57741A7E-C6FC-4515-907D-D46F755CBE51}"/>
              </a:ext>
            </a:extLst>
          </p:cNvPr>
          <p:cNvSpPr>
            <a:spLocks xmlns:a="http://schemas.openxmlformats.org/drawingml/2006/main" noGrp="1"/>
          </p:cNvSpPr>
          <p:nvPr/>
        </p:nvSpPr>
        <p:spPr>
          <a:xfrm xmlns:a="http://schemas.openxmlformats.org/drawingml/2006/main">
            <a:off x="400050" y="584835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F6368"/>
                </a:solidFill>
                <a:latin typeface="Helvetica Neue"/>
                <a:ea typeface="Helvetica Neue"/>
                <a:cs typeface="Helvetica Neue"/>
              </a:defRPr>
            </a:pPr>
            <a:r>
              <a:rPr sz="1575" b="0">
                <a:solidFill>
                  <a:srgbClr val="5F6368"/>
                </a:solidFill>
                <a:latin typeface="Helvetica Neue"/>
                <a:ea typeface="Helvetica Neue"/>
                <a:cs typeface="Helvetica Neue"/>
              </a:rPr>
              <a:t>Local Radeon proof · accepted Flash A/B · optional Cloud API route · deterministic authority</a:t>
            </a:r>
          </a:p>
        </p:txBody>
      </p:sp>
    </p:spTree>
    <p:extLst>
      <p:ext uri="{BB962C8B-B14F-4D97-AF65-F5344CB8AC3E}">
        <p14:creationId xmlns:p14="http://schemas.microsoft.com/office/powerpoint/2010/main" val="7551004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2026-08-06T13:19:39.3140000Z</dcterms:created>
  <dcterms:modified xsi:type="dcterms:W3CDTF">2026-08-06T13:19:39.3140000Z</dcterms:modified>
</coreProperties>
</file>