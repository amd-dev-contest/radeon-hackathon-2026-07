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ba33951636f49c6" /><Relationship Type="http://schemas.openxmlformats.org/officeDocument/2006/relationships/extended-properties" Target="/docProps/app.xml" Id="R0c92c16dca2a4752" /><Relationship Type="http://schemas.openxmlformats.org/officeDocument/2006/relationships/officeDocument" Target="/ppt/presentation.xml" Id="Ra17f7123c5264ac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20d3e862dd5404a"/>
  </p:sldMasterIdLst>
  <p:notesMasterIdLst>
    <p:notesMasterId xmlns:r="http://schemas.openxmlformats.org/officeDocument/2006/relationships" r:id="R2d616da13bee4498"/>
  </p:notesMasterIdLst>
  <p:sldIdLst>
    <p:sldId xmlns:r="http://schemas.openxmlformats.org/officeDocument/2006/relationships" id="256" r:id="R7e4802f5fe144bb1"/>
    <p:sldId xmlns:r="http://schemas.openxmlformats.org/officeDocument/2006/relationships" id="257" r:id="R9a3b5ac9c03249d1"/>
    <p:sldId xmlns:r="http://schemas.openxmlformats.org/officeDocument/2006/relationships" id="258" r:id="R433b65c8e07a49b1"/>
    <p:sldId xmlns:r="http://schemas.openxmlformats.org/officeDocument/2006/relationships" id="259" r:id="R2213a90be08b48e6"/>
    <p:sldId xmlns:r="http://schemas.openxmlformats.org/officeDocument/2006/relationships" id="260" r:id="R34cc7e5220fa4116"/>
    <p:sldId xmlns:r="http://schemas.openxmlformats.org/officeDocument/2006/relationships" id="261" r:id="R8d0d7e8bc1324d7d"/>
    <p:sldId xmlns:r="http://schemas.openxmlformats.org/officeDocument/2006/relationships" id="262" r:id="R3d6dd5889a8b43da"/>
    <p:sldId xmlns:r="http://schemas.openxmlformats.org/officeDocument/2006/relationships" id="263" r:id="Rc7140f77fc04464d"/>
    <p:sldId xmlns:r="http://schemas.openxmlformats.org/officeDocument/2006/relationships" id="264" r:id="R4e9fee409d344a0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341741c9ad4054" /><Relationship Type="http://schemas.openxmlformats.org/officeDocument/2006/relationships/slideMaster" Target="/ppt/slideMasters/slideMaster1.xml" Id="R820d3e862dd5404a" /><Relationship Type="http://schemas.openxmlformats.org/officeDocument/2006/relationships/notesMaster" Target="/ppt/notesMasters/notesMaster1.xml" Id="R2d616da13bee4498" /><Relationship Type="http://schemas.openxmlformats.org/officeDocument/2006/relationships/presProps" Target="/ppt/presProps.xml" Id="R5e4c76c00a13479f" /><Relationship Type="http://schemas.openxmlformats.org/officeDocument/2006/relationships/tableStyles" Target="/ppt/tableStyles.xml" Id="R891ed66d2f604d1a" /><Relationship Type="http://schemas.openxmlformats.org/officeDocument/2006/relationships/slide" Target="/ppt/slides/slide1.xml" Id="R7e4802f5fe144bb1" /><Relationship Type="http://schemas.openxmlformats.org/officeDocument/2006/relationships/slide" Target="/ppt/slides/slide2.xml" Id="R9a3b5ac9c03249d1" /><Relationship Type="http://schemas.openxmlformats.org/officeDocument/2006/relationships/slide" Target="/ppt/slides/slide3.xml" Id="R433b65c8e07a49b1" /><Relationship Type="http://schemas.openxmlformats.org/officeDocument/2006/relationships/slide" Target="/ppt/slides/slide4.xml" Id="R2213a90be08b48e6" /><Relationship Type="http://schemas.openxmlformats.org/officeDocument/2006/relationships/slide" Target="/ppt/slides/slide5.xml" Id="R34cc7e5220fa4116" /><Relationship Type="http://schemas.openxmlformats.org/officeDocument/2006/relationships/slide" Target="/ppt/slides/slide6.xml" Id="R8d0d7e8bc1324d7d" /><Relationship Type="http://schemas.openxmlformats.org/officeDocument/2006/relationships/slide" Target="/ppt/slides/slide7.xml" Id="R3d6dd5889a8b43da" /><Relationship Type="http://schemas.openxmlformats.org/officeDocument/2006/relationships/slide" Target="/ppt/slides/slide8.xml" Id="Rc7140f77fc04464d" /><Relationship Type="http://schemas.openxmlformats.org/officeDocument/2006/relationships/slide" Target="/ppt/slides/slide9.xml" Id="R4e9fee409d344a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a1f618a01ef46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448057798c4ad8" /><Relationship Type="http://schemas.openxmlformats.org/officeDocument/2006/relationships/notesMaster" Target="/ppt/notesMasters/notesMaster1.xml" Id="R92f2e703707a45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ca83dacd3e4ec4" /><Relationship Type="http://schemas.openxmlformats.org/officeDocument/2006/relationships/notesMaster" Target="/ppt/notesMasters/notesMaster1.xml" Id="Rc9e8b8ddbb1843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a8bd79955014a62" /><Relationship Type="http://schemas.openxmlformats.org/officeDocument/2006/relationships/notesMaster" Target="/ppt/notesMasters/notesMaster1.xml" Id="Rf4ac822656ae495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4d47d0b1c244909" /><Relationship Type="http://schemas.openxmlformats.org/officeDocument/2006/relationships/notesMaster" Target="/ppt/notesMasters/notesMaster1.xml" Id="R64def5a8245d4cd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5fbc513ab94824" /><Relationship Type="http://schemas.openxmlformats.org/officeDocument/2006/relationships/notesMaster" Target="/ppt/notesMasters/notesMaster1.xml" Id="R85d6cbc3b00c453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b8a3a20f63046cd" /><Relationship Type="http://schemas.openxmlformats.org/officeDocument/2006/relationships/notesMaster" Target="/ppt/notesMasters/notesMaster1.xml" Id="R60402556e20b4fc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b693f27ee5044cb" /><Relationship Type="http://schemas.openxmlformats.org/officeDocument/2006/relationships/notesMaster" Target="/ppt/notesMasters/notesMaster1.xml" Id="R8ecbfd087c624d6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05c8a30fc8749cb" /><Relationship Type="http://schemas.openxmlformats.org/officeDocument/2006/relationships/notesMaster" Target="/ppt/notesMasters/notesMaster1.xml" Id="Rb0d350897bdf48d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622e184aa544f2d" /><Relationship Type="http://schemas.openxmlformats.org/officeDocument/2006/relationships/notesMaster" Target="/ppt/notesMasters/notesMaster1.xml" Id="Rd97b07ded4d14e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outcome: a complete private journey agent, not a chatbot demo.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Live Radeon deployment screenshot captured from the C profile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the business problem first. The agent coordinates hotel operations without merging their authority boundaries.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docs/project-specification.md</a:t>
            </a:r>
          </a:p>
          <a:p xmlns:a="http://schemas.openxmlformats.org/drawingml/2006/main">
            <a:r>
              <a:t>- Sanitized quote-confirmation screenshot from the live C deployment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Emphasize that the local LLM is powerful but never authoritative over hotel state.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Architecture and safety controls</a:t>
            </a:r>
          </a:p>
          <a:p xmlns:a="http://schemas.openxmlformats.org/drawingml/2006/main">
            <a:r>
              <a:t>- docs/project-specification.md — Agent architecture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each required capability to the same business journey; this is not a checklist of disconnected demos.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Track 2 capability map</a:t>
            </a:r>
          </a:p>
          <a:p xmlns:a="http://schemas.openxmlformats.org/drawingml/2006/main">
            <a:r>
              <a:t>- src/radeonstay — implemented local Agent capabilities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rail to compress the demo story. The final result is derived from verified JourneyState, not chat history.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C deployment screenshot captured after the final safety handoff</a:t>
            </a:r>
          </a:p>
          <a:p xmlns:a="http://schemas.openxmlformats.org/drawingml/2006/main">
            <a:r>
              <a:t>- docs/demo-script.md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out that capability tokens never reach the browser and the privacy proof reports zero cross-user data and zero writes.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quote confirmation screenshot</a:t>
            </a:r>
          </a:p>
          <a:p xmlns:a="http://schemas.openxmlformats.org/drawingml/2006/main">
            <a:r>
              <a:t>- Live Privacy Proof screenshot</a:t>
            </a:r>
          </a:p>
          <a:p xmlns:a="http://schemas.openxmlformats.org/drawingml/2006/main">
            <a:r>
              <a:t>- README.md — Confirmation, privacy, and grounding controls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proof row left to right: ROCm, architecture, full offload, process binding, request binding, winner, gain, and immutable hashes.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docs/evidence/c3min-f7ba681-bc-comparison.json</a:t>
            </a:r>
          </a:p>
          <a:p xmlns:a="http://schemas.openxmlformats.org/drawingml/2006/main">
            <a:r>
              <a:t>- Live Request Trust Card screenshot from winner 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experimental contract before the gains. The result is accepted because quality is unchanged and multiple core metrics improve without a five-percent regression.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docs/evidence/c3min-f7ba681-bc-comparison.json</a:t>
            </a:r>
          </a:p>
          <a:p xmlns:a="http://schemas.openxmlformats.org/drawingml/2006/main">
            <a:r>
              <a:t>- Accepted comparison SHA256 7f85a614a31da10e5484ee41034282210ac44caf84012617dea5c786c0f03f59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returning to verifiability. Invite judges to open the live demo, follow the unique CTA, and inspect Advanced Proof.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docs/evidence-index.md</a:t>
            </a:r>
          </a:p>
          <a:p xmlns:a="http://schemas.openxmlformats.org/drawingml/2006/main">
            <a:r>
              <a:t>- https://rc-5ec89b08f896792e.radeon.firstdg.ai/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134b1d7a0644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05f1101aecb441c" /><Relationship Type="http://schemas.openxmlformats.org/officeDocument/2006/relationships/slideLayout" Target="/ppt/slideLayouts/slideLayout1.xml" Id="Re75d67e0e0d2439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5d67e0e0d2439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335765e1814637" /><Relationship Type="http://schemas.openxmlformats.org/officeDocument/2006/relationships/image" Target="/ppt/media/image.png" Id="Ra70f38c6f5f64fc3" /><Relationship Type="http://schemas.openxmlformats.org/officeDocument/2006/relationships/notesSlide" Target="/ppt/notesSlides/notesSlide1.xml" Id="Rb7dd6f00d10240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939d81f42343c7" /><Relationship Type="http://schemas.openxmlformats.org/officeDocument/2006/relationships/image" Target="/ppt/media/image.jpeg" Id="R8a62a95f1c684de1" /><Relationship Type="http://schemas.openxmlformats.org/officeDocument/2006/relationships/notesSlide" Target="/ppt/notesSlides/notesSlide2.xml" Id="R0a4c0256c81841b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b7fda30b5e4a94" /><Relationship Type="http://schemas.openxmlformats.org/officeDocument/2006/relationships/notesSlide" Target="/ppt/notesSlides/notesSlide3.xml" Id="Re03976843c1b4c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770d39ae6342e0" /><Relationship Type="http://schemas.openxmlformats.org/officeDocument/2006/relationships/notesSlide" Target="/ppt/notesSlides/notesSlide4.xml" Id="Rc36dee40972441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7a938aa15c4d4d" /><Relationship Type="http://schemas.openxmlformats.org/officeDocument/2006/relationships/image" Target="/ppt/media/image2.png" Id="R32426ef12f9e487a" /><Relationship Type="http://schemas.openxmlformats.org/officeDocument/2006/relationships/notesSlide" Target="/ppt/notesSlides/notesSlide5.xml" Id="Rf7129c29398f400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0b4e2d9c16471f" /><Relationship Type="http://schemas.openxmlformats.org/officeDocument/2006/relationships/image" Target="/ppt/media/image2.jpeg" Id="R6cc59d5c19a3413d" /><Relationship Type="http://schemas.openxmlformats.org/officeDocument/2006/relationships/image" Target="/ppt/media/image3.png" Id="Ra6f010a49a87408c" /><Relationship Type="http://schemas.openxmlformats.org/officeDocument/2006/relationships/notesSlide" Target="/ppt/notesSlides/notesSlide6.xml" Id="R9d57495d722447b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7d7e9694b048dc" /><Relationship Type="http://schemas.openxmlformats.org/officeDocument/2006/relationships/image" Target="/ppt/media/image4.png" Id="R41fd5a0c19b64c47" /><Relationship Type="http://schemas.openxmlformats.org/officeDocument/2006/relationships/notesSlide" Target="/ppt/notesSlides/notesSlide7.xml" Id="Rf8fa21aba898437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62a32b405543f6" /><Relationship Type="http://schemas.openxmlformats.org/officeDocument/2006/relationships/chart" Target="/ppt/slides/charts/chart1.xml" Id="R9c858f6e63074613" /><Relationship Type="http://schemas.openxmlformats.org/officeDocument/2006/relationships/notesSlide" Target="/ppt/notesSlides/notesSlide8.xml" Id="R9132106f5659492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d5c6c021864e78" /><Relationship Type="http://schemas.openxmlformats.org/officeDocument/2006/relationships/notesSlide" Target="/ppt/notesSlides/notesSlide9.xml" Id="Rf9d89c16ca7640ec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B · Flash off</c:v>
          </c:tx>
          <c:spPr>
            <a:solidFill xmlns:a="http://schemas.openxmlformats.org/drawingml/2006/main">
              <a:srgbClr val="6DCBF4"/>
            </a:solidFill>
          </c:spPr>
          <c:cat>
            <c:strLit>
              <c:ptCount val="2"/>
              <c:pt idx="0">
                <c:v>C1 throughput</c:v>
              </c:pt>
              <c:pt idx="1">
                <c:v>C4 throughput</c:v>
              </c:pt>
            </c:strLit>
          </c:cat>
          <c:val>
            <c:numLit>
              <c:formatCode>0.0</c:formatCode>
              <c:ptCount val="2"/>
              <c:pt idx="0">
                <c:v>100</c:v>
              </c:pt>
              <c:pt idx="1">
                <c:v>100</c:v>
              </c:pt>
            </c:numLit>
          </c:val>
        </c:ser>
        <c:ser>
          <c:idx val="1"/>
          <c:order val="1"/>
          <c:tx>
            <c:v>C · Flash on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2"/>
              <c:pt idx="0">
                <c:v>C1 throughput</c:v>
              </c:pt>
              <c:pt idx="1">
                <c:v>C4 throughput</c:v>
              </c:pt>
            </c:strLit>
          </c:cat>
          <c:val>
            <c:numLit>
              <c:formatCode>0.0</c:formatCode>
              <c:ptCount val="2"/>
              <c:pt idx="0">
                <c:v>106.455</c:v>
              </c:pt>
              <c:pt idx="1">
                <c:v>106.491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00000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1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050">
                    <a:solidFill>
                      <a:srgbClr val="5F6368"/>
                    </a:solidFill>
                  </a:rPr>
                  <a:t>Relative throughput · B = 100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5F6368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F6368"/>
                </a:solidFill>
              </a:defRPr>
            </a:pPr>
          </a:p>
        </c:txPr>
        <c:crossAx val="48650112"/>
        <c:crossBetween val="between"/>
        <c:majorUnit val="25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5F6368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759EDE-7610-47C7-ADEF-A1B38DDD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AMD RADEON + ROCm · TRACK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646375-8FBD-418E-8B8E-3D53F70F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5334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RadeonHotel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7F7ABF-3EA1-44EE-BD5A-BF099FF7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28900"/>
            <a:ext cx="5334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Private journey recovery, proven on Radeon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855A66-C5F1-49A4-9A94-9753797E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57625"/>
            <a:ext cx="52863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Plans, quotes, confirms, recovers delays, protects private memory, and produces an auditable stay outcome—fully local.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CD64F8-0016-4120-9022-97573FDF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48325"/>
            <a:ext cx="528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RadeonStay implementation · C2 f7ba681 · Winner 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645B82-7740-4A38-AB11-ABA4B4AD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34025" cy="5600700"/>
          </a:xfrm>
          <a:prstGeom xmlns:a="http://schemas.openxmlformats.org/drawingml/2006/main" prst="roundRect">
            <a:avLst>
              <a:gd name="adj" fmla="val 2065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0f38c6f5f64fc3"/>
          <a:srcRect xmlns:a="http://schemas.openxmlformats.org/drawingml/2006/main" l="595" t="0" r="59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34025" cy="5600700"/>
          </a:xfrm>
          <a:prstGeom xmlns:a="http://schemas.openxmlformats.org/drawingml/2006/main" prst="roundRect">
            <a:avLst>
              <a:gd name="adj" fmla="val 2065"/>
            </a:avLst>
          </a:prstGeom>
        </p:spPr>
      </p:pic>
    </p:spTree>
    <p:extLst>
      <p:ext uri="{BB962C8B-B14F-4D97-AF65-F5344CB8AC3E}">
        <p14:creationId xmlns:p14="http://schemas.microsoft.com/office/powerpoint/2010/main" val="5444442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C3D7C36C-CF63-4DA6-811B-C2A6A9375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disrupted stay becomes one coordinated journey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2A51B2-7BCB-4C43-8D3C-75BB4F6AD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5792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451A83-553A-4171-BDFC-520931AA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guest arrives late with a child, a severe allergy, a quiet-room preference, and an airport transfer already in motion.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80241B-9F8D-4FB3-82A1-4EFB264E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670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RadeonHotel turns that ambiguity into one reversible workflow: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AC2CAC-FE9C-4812-BC63-06FA164C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76650"/>
            <a:ext cx="419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8FD1EE-2EA8-4F30-A1B3-54245DC0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Ground policy and availability locally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100C0-F3AE-438D-94A8-75D8685C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29100"/>
            <a:ext cx="419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A6D67A-E4AF-411E-989C-1400BA854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2910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Preview every consequential change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79DE3A-551D-4F32-A49B-D87F470BE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81550"/>
            <a:ext cx="419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AED013-02A0-4AA3-ACF8-CB200E447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815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Recover stay and transfer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84E7E7-2A42-46FD-9321-B50B27E7A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419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52B96-931A-4ABC-B9BD-265780F44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Escalate allergy handling to staff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3E8B13-DF12-43BB-AB49-8114E0CBF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52600"/>
            <a:ext cx="5905500" cy="3810000"/>
          </a:xfrm>
          <a:prstGeom xmlns:a="http://schemas.openxmlformats.org/drawingml/2006/main" prst="roundRect">
            <a:avLst>
              <a:gd name="adj" fmla="val 3000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62a95f1c684de1"/>
          <a:stretch xmlns:a="http://schemas.openxmlformats.org/drawingml/2006/main"/>
        </p:blipFill>
        <p:spPr>
          <a:xfrm xmlns:a="http://schemas.openxmlformats.org/drawingml/2006/main">
            <a:off x="5905500" y="1928853"/>
            <a:ext cx="5905500" cy="3457494"/>
          </a:xfrm>
          <a:prstGeom xmlns:a="http://schemas.openxmlformats.org/drawingml/2006/main" prst="roundRect">
            <a:avLst>
              <a:gd name="adj" fmla="val 3000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765A91-C849-49A9-B292-4F06A421D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15000"/>
            <a:ext cx="542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REAL UI · authoritative quote + one-time confirmation</a:t>
            </a:r>
          </a:p>
        </p:txBody>
      </p:sp>
    </p:spTree>
    <p:extLst>
      <p:ext uri="{BB962C8B-B14F-4D97-AF65-F5344CB8AC3E}">
        <p14:creationId xmlns:p14="http://schemas.microsoft.com/office/powerpoint/2010/main" val="3426819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ACB6BB55-136C-4405-9D83-EAF6498C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model proposes; a deterministic control plane decides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178866-EC35-4E44-A4F3-FC4A7CB7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5792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56AA42-851C-411C-8419-238791F5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4300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Every model output crosses typed validation, state preconditions, grounding, and confirmation before a domain write.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2733675" y="3362325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D8DFF"/>
            </a:solidFill>
            <a:prstDash val="solid"/>
          </a:ln>
        </p:spPr>
      </p:cxnSp>
      <p:cxnSp>
        <p:nvCxnSpPr>
          <p:cNvPr id="26" name=""/>
          <p:cNvCxnSpPr/>
          <p:nvPr/>
        </p:nvCxnSpPr>
        <p:spPr>
          <a:xfrm xmlns:a="http://schemas.openxmlformats.org/drawingml/2006/main">
            <a:off x="5810250" y="336232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D8DFF"/>
            </a:solidFill>
            <a:prstDash val="solid"/>
          </a:ln>
        </p:spPr>
      </p:cxnSp>
      <p:cxnSp>
        <p:nvCxnSpPr>
          <p:cNvPr id="27" name=""/>
          <p:cNvCxnSpPr/>
          <p:nvPr/>
        </p:nvCxnSpPr>
        <p:spPr>
          <a:xfrm xmlns:a="http://schemas.openxmlformats.org/drawingml/2006/main">
            <a:off x="8848725" y="3362325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D8DFF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36BA63-AFC7-4521-8B5C-28E1B774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43150"/>
            <a:ext cx="2333625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31C0FC-4A8C-4620-9A3C-0E65F822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19145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Judge &amp; guest UI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4FC60B-6F1E-45B5-9204-5F5995DA4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19145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Gradio · unique CTA</a:t>
            </a:r>
          </a:p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Journey rail · Trust Card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B69208-779B-4D7F-B3FC-59D47D80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43150"/>
            <a:ext cx="25717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467DE8-BCB4-48C9-B5D1-7111B2997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4795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Agent control plane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F803C7-F5BD-4AE6-BCC7-8C58EA46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343275"/>
            <a:ext cx="2152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PlanEnvelope · grounding gate</a:t>
            </a:r>
          </a:p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confirmation state machine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07A3FB-6AA6-4B74-B0DA-BA39D9FFA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2524125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852D9E-48A5-47AC-8CE8-114AD1A2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7950"/>
            <a:ext cx="21050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Local intelligence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596019-DE8D-4F78-BCBA-FC469CDD2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43275"/>
            <a:ext cx="21050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Qwen3.6 via llama.cpp</a:t>
            </a:r>
          </a:p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policy RAG · 13 typed tools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A3EB8E-085D-4830-A4FB-43289272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43150"/>
            <a:ext cx="2447925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379F65-CD4D-4B0F-96D6-5DC80950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647950"/>
            <a:ext cx="2028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Private 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164A10-A454-496E-A041-0D04A0EE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343275"/>
            <a:ext cx="2028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SQLite JourneyState</a:t>
            </a:r>
          </a:p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HMAC audit · runtime binding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F023E6-5016-4993-AC45-6D02CE35B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29200"/>
            <a:ext cx="114014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D6C2B6-4CD9-4782-95D6-3DA067FB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8637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Local-only boundary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DEFC65-9009-40A8-947B-A343686DE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286375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No remote inference API · no arbitrary shell/network/SQL tools · no confirmation capability exposed to the browser</a:t>
            </a:r>
          </a:p>
        </p:txBody>
      </p:sp>
    </p:spTree>
    <p:extLst>
      <p:ext uri="{BB962C8B-B14F-4D97-AF65-F5344CB8AC3E}">
        <p14:creationId xmlns:p14="http://schemas.microsoft.com/office/powerpoint/2010/main" val="20430841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00C57E6A-E979-4FBC-BB02-642F740EF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Five Track 2 capabilities share one JourneyState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B3065A-D0C9-49CD-9F7D-AD112A0B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5792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2CFEC3-5CF6-46EB-8D30-2F0F428A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62125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D1826-B6F0-4B20-ADA7-59C59F583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43150"/>
            <a:ext cx="1952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Local RAG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CC4315-AF3C-4ADD-AE4A-98C9A275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57550"/>
            <a:ext cx="19240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Multilingual policy retrieval with stable chunk IDs and citation support.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AD1360-3ACF-4D6A-A1A7-EF5BE6DFE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781175"/>
            <a:ext cx="9525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821B5E-7575-4958-831F-D2F92D769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762125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F6396F-F13C-4190-89CC-F30358B4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43150"/>
            <a:ext cx="1952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 calling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155D09-CC64-4D33-B26D-E4B5017D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257550"/>
            <a:ext cx="19240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13 allow-listed, strongly typed hotel, memory, and journey tools.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28D28C-5ECF-40F3-9E67-4A97FAE80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781175"/>
            <a:ext cx="9525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800D92-8F73-482A-8E4D-B7D8F50B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762125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3B32D3-3362-4F26-B05D-D8D76BCD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343150"/>
            <a:ext cx="1952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Multi-step planning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4C7674-D6B2-4B8E-871E-E2BDAB3AE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57550"/>
            <a:ext cx="19240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Schema-constrained plans with dependency and write-state validation.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C2295F-B3F5-4FC2-B3FF-362C0A04F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781175"/>
            <a:ext cx="9525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A3F2B2-4CD7-4257-BD7A-8843AFAC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762125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CE6A8E-FD38-453D-A1F6-AE605A0AA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43150"/>
            <a:ext cx="1952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Local 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5E889C-A34A-4BFE-B199-DCF22506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257550"/>
            <a:ext cx="19240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Owner-scoped consent, save, read, revoke, and delete controls.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700C7D-5170-4E1D-9B79-E1F87DCE4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781175"/>
            <a:ext cx="9525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71E64C-D4D0-43CA-8869-28D96C0C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62125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2DC681-3AAF-4A00-93CF-8AFE6768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43150"/>
            <a:ext cx="1952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Privacy &amp; access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D86350-245C-4D00-B8A3-D40A1ED3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257550"/>
            <a:ext cx="19240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Identity isolation, injection partitioning, zero cross-user results.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D7B705-68A8-402E-A833-2F3D61017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11401425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EAF5F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3631B2-27B8-4795-AF3B-328252C7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9595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JourneyState connects citations, tool receipts, confirmations, memory consent, and the final Stay Brief.</a:t>
            </a:r>
          </a:p>
        </p:txBody>
      </p:sp>
    </p:spTree>
    <p:extLst>
      <p:ext uri="{BB962C8B-B14F-4D97-AF65-F5344CB8AC3E}">
        <p14:creationId xmlns:p14="http://schemas.microsoft.com/office/powerpoint/2010/main" val="19080435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0EC872DD-85E3-4A9A-A83A-9B6A9DB15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golden journey ends in a verified stay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3D5A8D-EC05-41B9-B5C8-D6A9EB92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5792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A217E6-8E78-49FD-9E83-4054E077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1401425" cy="38862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426ef12f9e487a"/>
          <a:srcRect xmlns:a="http://schemas.openxmlformats.org/drawingml/2006/main" l="0" t="150" r="0" b="1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257300"/>
            <a:ext cx="11401425" cy="3886200"/>
          </a:xfrm>
          <a:prstGeom xmlns:a="http://schemas.openxmlformats.org/drawingml/2006/main" prst="roundRect">
            <a:avLst>
              <a:gd name="adj" fmla="val 294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05D177-526F-4D7B-846D-D05E4009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67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PLAN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35D586-CD01-425C-BAAD-E651D93B8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3476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Policy → availability → authoritative quote → room preview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87383D-2BF1-46C2-AD67-AEFBE089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467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RECOVER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636B9F-5495-4A29-9509-D3B45552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772150"/>
            <a:ext cx="3476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Stay date + transfer update, each previewed and confirmed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F13806-CB15-4890-B557-C0AD17065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467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PROVE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326AB2-EBAE-47E5-9944-0EFE2E03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772150"/>
            <a:ext cx="3476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Memory consent + injection isolation + staff safety handoff</a:t>
            </a:r>
          </a:p>
        </p:txBody>
      </p:sp>
    </p:spTree>
    <p:extLst>
      <p:ext uri="{BB962C8B-B14F-4D97-AF65-F5344CB8AC3E}">
        <p14:creationId xmlns:p14="http://schemas.microsoft.com/office/powerpoint/2010/main" val="8283482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A47BDCF8-795D-4393-BE97-AC5BDBE6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Trust is enforced outside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553DDD-6E95-46EE-A96F-1E6661779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5792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B2BFD0-2D74-466F-B023-BADDFB27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763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Consequential writes stay reversible; mixed-scope prompt injection is partitioned before retrieval, inference, or tools.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52F65C-349E-4A2C-845C-B09048D3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57375"/>
            <a:ext cx="54673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c59d5c19a3413d"/>
          <a:srcRect xmlns:a="http://schemas.openxmlformats.org/drawingml/2006/main" l="0" t="902" r="0" b="9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857375"/>
            <a:ext cx="54673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C676F4-A019-44C8-8A80-73E55655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57375"/>
            <a:ext cx="54673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f010a49a87408c"/>
          <a:stretch xmlns:a="http://schemas.openxmlformats.org/drawingml/2006/main"/>
        </p:blipFill>
        <p:spPr>
          <a:xfrm xmlns:a="http://schemas.openxmlformats.org/drawingml/2006/main">
            <a:off x="6324600" y="1923498"/>
            <a:ext cx="5467350" cy="3011004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DA3E7D-7B3C-4FB6-B277-0E5FD0DA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387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REVERSIBLE WRITE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66F065-A929-4B8E-8039-C95CA694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72125"/>
            <a:ext cx="5467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preview · one action · one confirmation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AF2C47-E95F-431B-BC2D-B92EB4A1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387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MIXED-SCOPE PRIVACY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A0A6E6-4E7C-4005-A54B-AA868FFC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572125"/>
            <a:ext cx="5467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Unsafe scope refused · owner read completed · zero domain writes</a:t>
            </a:r>
          </a:p>
        </p:txBody>
      </p:sp>
    </p:spTree>
    <p:extLst>
      <p:ext uri="{BB962C8B-B14F-4D97-AF65-F5344CB8AC3E}">
        <p14:creationId xmlns:p14="http://schemas.microsoft.com/office/powerpoint/2010/main" val="13102968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4CD84810-8E4A-4FDD-88FC-D9D43532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inference is bound to one Radeon process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F8C00F-DD17-47E2-A488-9DAFB02B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5792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45C6AA-E3C2-437E-AEAC-E6785023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953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The deployed C profile proves hardware, model, binary, request configuration, and accepted comparison identity on every request.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57C38A-053F-41AD-ADF0-5937C3899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257175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86E742-3FAA-493A-8F2C-DA3FCC5C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ROCm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A50F26-613C-487E-9672-9B52EE90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7.2.1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3606C1-BB4E-4613-822B-FF3F49D8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runtime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183489-F153-4C31-B89C-3FFAF1E7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1952625"/>
            <a:ext cx="257175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2352F8-A9F3-437F-9CE0-FC9BC948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190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GPU arch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FAB69B-36CC-4BE8-BE85-0AE0775B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66700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gfx1100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462471-51F9-4A00-BEFA-052F20698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3337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96 CU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8313FD-4470-4229-9B5D-31E1EA488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257175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793D97-24CA-435E-94E1-75E955C3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190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GPU offload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393679-9219-469E-BFEF-C47008B3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6700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41/41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396D9E-C68A-4442-BA51-F19FDDDF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3337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layers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55BA94-0689-46E0-917B-E2268CEE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1952625"/>
            <a:ext cx="257175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EEE562-95E2-43AC-A091-7D72F73FC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190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Peak GPU busy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DFB3B4-BD50-4879-8C4C-0822DBBCC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66700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100%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414D35-D7A9-403F-938D-914337D4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3337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B and 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8AAEC9-8BF8-4DEA-A49A-D571D577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67200"/>
            <a:ext cx="11401425" cy="1571625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fd5a0c19b64c47"/>
          <a:stretch xmlns:a="http://schemas.openxmlformats.org/drawingml/2006/main"/>
        </p:blipFill>
        <p:spPr>
          <a:xfrm xmlns:a="http://schemas.openxmlformats.org/drawingml/2006/main">
            <a:off x="3363093" y="4410075"/>
            <a:ext cx="5475339" cy="1285875"/>
          </a:xfrm>
          <a:prstGeom xmlns:a="http://schemas.openxmlformats.org/drawingml/2006/main" prst="roundRect">
            <a:avLst>
              <a:gd name="adj" fmla="val 8889"/>
            </a:avLst>
          </a:prstGeom>
        </p:spPr>
      </p:pic>
    </p:spTree>
    <p:extLst>
      <p:ext uri="{BB962C8B-B14F-4D97-AF65-F5344CB8AC3E}">
        <p14:creationId xmlns:p14="http://schemas.microsoft.com/office/powerpoint/2010/main" val="6922546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A77DFA77-F433-432E-A6EF-7FF4E1F6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Flash Attention delivers an accepted win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9D9BD6-FDC3-4251-99D2-CC7801B41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5792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F9D00-2F43-4036-BB03-85E05513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104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Only Flash Attention changed: B = off, C = on. Model, source, corpus, suite, prompts, context, batch, and GPU stayed fixed.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400050" y="1847850"/>
          <a:ext xmlns:a="http://schemas.openxmlformats.org/drawingml/2006/main" cx="5953125" cy="3752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c858f6e6307461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F3004F-8205-4DD9-8D9F-25E6E802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847850"/>
            <a:ext cx="49911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40283D-1FEB-4FDA-BC01-01E2DBB1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38350"/>
            <a:ext cx="1571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+6.5%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D4A15F-A961-43A0-B78A-DD60F6DC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1431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C4 throughput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28BF35-3F44-4983-A152-D4E6BADC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05150"/>
            <a:ext cx="49911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40F04F-DEC2-46F7-84DC-D2EA647B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95650"/>
            <a:ext cx="1571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−5.4%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5BFEC4-E789-40C6-B012-BF8F0BB1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4004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C4 P95 latency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772B09-C6CD-418A-98EE-F52F3679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49911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D5166B-811E-4FAC-8BD9-5469F803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552950"/>
            <a:ext cx="1571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+13.0%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F17EC1-8B98-49CE-9503-10B8797B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577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decode tokens/s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11928C-85D9-42E4-B1CE-79D5CFD2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76925"/>
            <a:ext cx="11401425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F7F7F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4A812A-A4A3-405E-AB1B-2D0F4AF58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43600"/>
            <a:ext cx="1100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Quality held constant: 100% request success, zero failed model calls, identical 15/16 citation-section projection.</a:t>
            </a:r>
          </a:p>
        </p:txBody>
      </p:sp>
    </p:spTree>
    <p:extLst>
      <p:ext uri="{BB962C8B-B14F-4D97-AF65-F5344CB8AC3E}">
        <p14:creationId xmlns:p14="http://schemas.microsoft.com/office/powerpoint/2010/main" val="20697219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AE98F7-7BF8-42CA-AD69-6BBE6B31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TRACK 2 · RADEONHOTEL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713F9-EDC5-4976-904C-CF0CE4F86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9620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private journey agent judges can verify end to end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C4202C-0065-4556-A3DE-2BB9C475E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71950"/>
            <a:ext cx="114014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C16EE5-9BCD-470B-BCD9-C7A5E480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863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LIVE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534AD9-E8AE-4F01-A2E8-70C2B532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29200"/>
            <a:ext cx="504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rc-5ec89b08f896792e.radeon.firstdg.ai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2F1CC4-B5EB-4D1C-B04F-68391AE6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863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IMMUTABLE SOURCE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8E72D7-2616-4BDC-A191-8E67DEAD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029200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C2 f7ba681 · accepted report 7f85a614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741A7E-C6FC-4515-907D-D46F755C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48350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Local inference · reversible writes · owner-scoped memory · grounded answers · hash-bound Radeon evidence</a:t>
            </a:r>
          </a:p>
        </p:txBody>
      </p:sp>
    </p:spTree>
    <p:extLst>
      <p:ext uri="{BB962C8B-B14F-4D97-AF65-F5344CB8AC3E}">
        <p14:creationId xmlns:p14="http://schemas.microsoft.com/office/powerpoint/2010/main" val="7551004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2026-08-06T12:15:21.7690000Z</dcterms:created>
  <dcterms:modified xsi:type="dcterms:W3CDTF">2026-08-06T12:15:21.7690000Z</dcterms:modified>
</coreProperties>
</file>