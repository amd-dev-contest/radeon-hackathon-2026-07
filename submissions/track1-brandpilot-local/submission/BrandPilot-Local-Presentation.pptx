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95a285412438d" /><Relationship Type="http://schemas.openxmlformats.org/officeDocument/2006/relationships/extended-properties" Target="/docProps/app.xml" Id="R3a09cc6873b942fa" /><Relationship Type="http://schemas.openxmlformats.org/officeDocument/2006/relationships/officeDocument" Target="/ppt/presentation.xml" Id="R83aa399936804b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89e24ae414027"/>
  </p:sldMasterIdLst>
  <p:notesMasterIdLst>
    <p:notesMasterId xmlns:r="http://schemas.openxmlformats.org/officeDocument/2006/relationships" r:id="Rd37419a022f2497d"/>
  </p:notesMasterIdLst>
  <p:sldIdLst>
    <p:sldId xmlns:r="http://schemas.openxmlformats.org/officeDocument/2006/relationships" id="256" r:id="Rf3eb5e8f88b04770"/>
    <p:sldId xmlns:r="http://schemas.openxmlformats.org/officeDocument/2006/relationships" id="257" r:id="R8715c31639504cc4"/>
    <p:sldId xmlns:r="http://schemas.openxmlformats.org/officeDocument/2006/relationships" id="258" r:id="R3faa4f75ce85498c"/>
    <p:sldId xmlns:r="http://schemas.openxmlformats.org/officeDocument/2006/relationships" id="259" r:id="R6645abd124744ebe"/>
    <p:sldId xmlns:r="http://schemas.openxmlformats.org/officeDocument/2006/relationships" id="260" r:id="Rf04932ec3d7043df"/>
    <p:sldId xmlns:r="http://schemas.openxmlformats.org/officeDocument/2006/relationships" id="261" r:id="R37b8c75d855a46ad"/>
    <p:sldId xmlns:r="http://schemas.openxmlformats.org/officeDocument/2006/relationships" id="262" r:id="R6450440744044dfe"/>
    <p:sldId xmlns:r="http://schemas.openxmlformats.org/officeDocument/2006/relationships" id="263" r:id="Rd4cf784761d84bd2"/>
    <p:sldId xmlns:r="http://schemas.openxmlformats.org/officeDocument/2006/relationships" id="264" r:id="R64654c36fa6449cc"/>
    <p:sldId xmlns:r="http://schemas.openxmlformats.org/officeDocument/2006/relationships" id="265" r:id="R29363669399747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b3148e337401c" /><Relationship Type="http://schemas.openxmlformats.org/officeDocument/2006/relationships/slideMaster" Target="/ppt/slideMasters/slideMaster1.xml" Id="R5c089e24ae414027" /><Relationship Type="http://schemas.openxmlformats.org/officeDocument/2006/relationships/notesMaster" Target="/ppt/notesMasters/notesMaster1.xml" Id="Rd37419a022f2497d" /><Relationship Type="http://schemas.openxmlformats.org/officeDocument/2006/relationships/presProps" Target="/ppt/presProps.xml" Id="R9b6f1e10f011485c" /><Relationship Type="http://schemas.openxmlformats.org/officeDocument/2006/relationships/tableStyles" Target="/ppt/tableStyles.xml" Id="R791c6e4fe9544ded" /><Relationship Type="http://schemas.openxmlformats.org/officeDocument/2006/relationships/slide" Target="/ppt/slides/slide1.xml" Id="Rf3eb5e8f88b04770" /><Relationship Type="http://schemas.openxmlformats.org/officeDocument/2006/relationships/slide" Target="/ppt/slides/slide2.xml" Id="R8715c31639504cc4" /><Relationship Type="http://schemas.openxmlformats.org/officeDocument/2006/relationships/slide" Target="/ppt/slides/slide3.xml" Id="R3faa4f75ce85498c" /><Relationship Type="http://schemas.openxmlformats.org/officeDocument/2006/relationships/slide" Target="/ppt/slides/slide4.xml" Id="R6645abd124744ebe" /><Relationship Type="http://schemas.openxmlformats.org/officeDocument/2006/relationships/slide" Target="/ppt/slides/slide5.xml" Id="Rf04932ec3d7043df" /><Relationship Type="http://schemas.openxmlformats.org/officeDocument/2006/relationships/slide" Target="/ppt/slides/slide6.xml" Id="R37b8c75d855a46ad" /><Relationship Type="http://schemas.openxmlformats.org/officeDocument/2006/relationships/slide" Target="/ppt/slides/slide7.xml" Id="R6450440744044dfe" /><Relationship Type="http://schemas.openxmlformats.org/officeDocument/2006/relationships/slide" Target="/ppt/slides/slide8.xml" Id="Rd4cf784761d84bd2" /><Relationship Type="http://schemas.openxmlformats.org/officeDocument/2006/relationships/slide" Target="/ppt/slides/slide9.xml" Id="R64654c36fa6449cc" /><Relationship Type="http://schemas.openxmlformats.org/officeDocument/2006/relationships/slide" Target="/ppt/slides/slide10.xml" Id="R293636693997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0016a08aa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465f304b7d4262" /><Relationship Type="http://schemas.openxmlformats.org/officeDocument/2006/relationships/notesMaster" Target="/ppt/notesMasters/notesMaster1.xml" Id="R8324fbcc185d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0b31d820dc45bf" /><Relationship Type="http://schemas.openxmlformats.org/officeDocument/2006/relationships/notesMaster" Target="/ppt/notesMasters/notesMaster1.xml" Id="Ra627c633b91944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da11beed242f8" /><Relationship Type="http://schemas.openxmlformats.org/officeDocument/2006/relationships/notesMaster" Target="/ppt/notesMasters/notesMaster1.xml" Id="R5814d1562e69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c63bc756474255" /><Relationship Type="http://schemas.openxmlformats.org/officeDocument/2006/relationships/notesMaster" Target="/ppt/notesMasters/notesMaster1.xml" Id="Rcd47280cb1ec46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be6a97c3e409d" /><Relationship Type="http://schemas.openxmlformats.org/officeDocument/2006/relationships/notesMaster" Target="/ppt/notesMasters/notesMaster1.xml" Id="R3729510bb2a34a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afc47a2694a2f" /><Relationship Type="http://schemas.openxmlformats.org/officeDocument/2006/relationships/notesMaster" Target="/ppt/notesMasters/notesMaster1.xml" Id="R1e867fc10d9f4f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b2ab14b2104ef6" /><Relationship Type="http://schemas.openxmlformats.org/officeDocument/2006/relationships/notesMaster" Target="/ppt/notesMasters/notesMaster1.xml" Id="R1094d956c0cf40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8758992f34e97" /><Relationship Type="http://schemas.openxmlformats.org/officeDocument/2006/relationships/notesMaster" Target="/ppt/notesMasters/notesMaster1.xml" Id="Rb7f3a8139f59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c69916fdf2423c" /><Relationship Type="http://schemas.openxmlformats.org/officeDocument/2006/relationships/notesMaster" Target="/ppt/notesMasters/notesMaster1.xml" Id="R9a7196a0fece4d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d66ff4ca064daa" /><Relationship Type="http://schemas.openxmlformats.org/officeDocument/2006/relationships/notesMaster" Target="/ppt/notesMasters/notesMaster1.xml" Id="R8dd7b3f5dd3c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customer problem and the product's honest verification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docs/final-claim-audit.md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fragmented workflow and why a campaign system is more valuable than another prompt 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README.md#the-problem</a:t>
            </a:r>
          </a:p>
          <a:p xmlns:a="http://schemas.openxmlformats.org/drawingml/2006/main">
            <a:r>
              <a:t>- submission/project-profile.md#problem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product stages. Clarify that the screenshot shows the local mock-first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frontend/app/studio/page.tsx</a:t>
            </a:r>
          </a:p>
          <a:p xmlns:a="http://schemas.openxmlformats.org/drawingml/2006/main">
            <a:r>
              <a:t>- evidence/final-submission/screenshots/studio-desktop.png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mock disclosure and the Approved state. The local browser refresh reloaded the stored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evidence/final-submission/screenshots/results-desktop.png</a:t>
            </a:r>
          </a:p>
          <a:p xmlns:a="http://schemas.openxmlformats.org/drawingml/2006/main">
            <a:r>
              <a:t>- evidence/final-submission/screenshots/review-approved.png</a:t>
            </a:r>
          </a:p>
          <a:p xmlns:a="http://schemas.openxmlformats.org/drawingml/2006/main">
            <a:r>
              <a:t>- backend/tests/test_api.py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left to right. The Radeon branch is explicit and temporary; the mock product remains useful without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backend/app/core/config.py</a:t>
            </a:r>
          </a:p>
          <a:p xmlns:a="http://schemas.openxmlformats.org/drawingml/2006/main">
            <a:r>
              <a:t>- frontend/lib/experimental.ts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explicitly that the output is recorded evidence, not a live generation in this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docs/radeon-session-1-results.md</a:t>
            </a:r>
          </a:p>
          <a:p xmlns:a="http://schemas.openxmlformats.org/drawingml/2006/main">
            <a:r>
              <a:t>- evidence/radeon-session-1/generation-metadata.json</a:t>
            </a:r>
          </a:p>
          <a:p xmlns:a="http://schemas.openxmlformats.org/drawingml/2006/main">
            <a:r>
              <a:t>- evidence/radeon-session-1/generated-output.png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one controlled Session 1 run's measured values. Do not describe them as a benchmark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evidence/radeon-session-1/generation-metadata.json</a:t>
            </a:r>
          </a:p>
          <a:p xmlns:a="http://schemas.openxmlformats.org/drawingml/2006/main">
            <a:r>
              <a:t>- docs/radeon-session-1-results.md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2b reached project upload through the official edge. The final retry ended earlier at DNS and loaded no model. Every instance was destroyed.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docs/radeon-session-2b-results.md</a:t>
            </a:r>
          </a:p>
          <a:p xmlns:a="http://schemas.openxmlformats.org/drawingml/2006/main">
            <a:r>
              <a:t>- docs/radeon-session-3-results.md</a:t>
            </a:r>
          </a:p>
          <a:p xmlns:a="http://schemas.openxmlformats.org/drawingml/2006/main">
            <a:r>
              <a:t>- evidence/radeon-session-3/dns-python-final.json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product to the 80-point value/innovation criteria: complete workflow, practical scenarios, and human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README.md#the-solution</a:t>
            </a:r>
          </a:p>
          <a:p xmlns:a="http://schemas.openxmlformats.org/drawingml/2006/main">
            <a:r>
              <a:t>- docs/judging-evidence-map.md</a:t>
            </a:r>
          </a:p>
          <a:p xmlns:a="http://schemas.openxmlformats.org/drawingml/2006/main">
            <a:r>
              <a:t>- evidence/final-submission/screenshots/home-mobile.png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what is verified, the honest limitation, and the next measurable research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docs/final-claim-audit.md</a:t>
            </a:r>
          </a:p>
          <a:p xmlns:a="http://schemas.openxmlformats.org/drawingml/2006/main">
            <a:r>
              <a:t>- 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33610209148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6a03e9cd942ca" /><Relationship Type="http://schemas.openxmlformats.org/officeDocument/2006/relationships/slideLayout" Target="/ppt/slideLayouts/slideLayout1.xml" Id="R4de16a34111c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16a34111c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7d578f8be4a11" /><Relationship Type="http://schemas.openxmlformats.org/officeDocument/2006/relationships/image" Target="/ppt/media/image.jpeg" Id="Rb08666443a5f45b9" /><Relationship Type="http://schemas.openxmlformats.org/officeDocument/2006/relationships/notesSlide" Target="/ppt/notesSlides/notesSlide1.xml" Id="Rc41c42ac6562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aa72c36bc48b4" /><Relationship Type="http://schemas.openxmlformats.org/officeDocument/2006/relationships/notesSlide" Target="/ppt/notesSlides/notesSlide2.xml" Id="R4b4f576df1ac4e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3e72edafa4f15" /><Relationship Type="http://schemas.openxmlformats.org/officeDocument/2006/relationships/image" Target="/ppt/media/image2.jpeg" Id="Re67889d96b0f479e" /><Relationship Type="http://schemas.openxmlformats.org/officeDocument/2006/relationships/notesSlide" Target="/ppt/notesSlides/notesSlide3.xml" Id="R06ecadc7f7df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3db9e7f04485" /><Relationship Type="http://schemas.openxmlformats.org/officeDocument/2006/relationships/image" Target="/ppt/media/image3.jpeg" Id="R2f6e67686a644e1f" /><Relationship Type="http://schemas.openxmlformats.org/officeDocument/2006/relationships/image" Target="/ppt/media/image.png" Id="R75acf67ef0c34fec" /><Relationship Type="http://schemas.openxmlformats.org/officeDocument/2006/relationships/notesSlide" Target="/ppt/notesSlides/notesSlide4.xml" Id="Rbaa15491f3a04d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00fd3e2024e1e" /><Relationship Type="http://schemas.openxmlformats.org/officeDocument/2006/relationships/notesSlide" Target="/ppt/notesSlides/notesSlide5.xml" Id="Rf252b00d425146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363a9e967462c" /><Relationship Type="http://schemas.openxmlformats.org/officeDocument/2006/relationships/image" Target="/ppt/media/image2.png" Id="R02ab794228c94c0d" /><Relationship Type="http://schemas.openxmlformats.org/officeDocument/2006/relationships/image" Target="/ppt/media/image3.png" Id="R9b83b763c408409d" /><Relationship Type="http://schemas.openxmlformats.org/officeDocument/2006/relationships/notesSlide" Target="/ppt/notesSlides/notesSlide6.xml" Id="R74c9428ca752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7ea1cd4c34fa0" /><Relationship Type="http://schemas.openxmlformats.org/officeDocument/2006/relationships/notesSlide" Target="/ppt/notesSlides/notesSlide7.xml" Id="Rbefbdb243663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f5dadde294af2" /><Relationship Type="http://schemas.openxmlformats.org/officeDocument/2006/relationships/image" Target="/ppt/media/image4.png" Id="R540058c9c54e4bd7" /><Relationship Type="http://schemas.openxmlformats.org/officeDocument/2006/relationships/notesSlide" Target="/ppt/notesSlides/notesSlide8.xml" Id="R2aa34470e487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3b7e0b8fe4cd9" /><Relationship Type="http://schemas.openxmlformats.org/officeDocument/2006/relationships/image" Target="/ppt/media/image4.jpeg" Id="R8b42806d2cb24fc7" /><Relationship Type="http://schemas.openxmlformats.org/officeDocument/2006/relationships/image" Target="/ppt/media/image5.jpeg" Id="Rd1114ce73afb402d" /><Relationship Type="http://schemas.openxmlformats.org/officeDocument/2006/relationships/notesSlide" Target="/ppt/notesSlides/notesSlide9.xml" Id="R3695d11f15054f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68268eb3143da" /><Relationship Type="http://schemas.openxmlformats.org/officeDocument/2006/relationships/notesSlide" Target="/ppt/notesSlides/notesSlide10.xml" Id="R2cec45b24e1344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666443a5f45b9"/>
          <a:srcRect xmlns:a="http://schemas.openxmlformats.org/drawingml/2006/main" l="0" t="25287" r="0" b="25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1E35C-A577-4F35-9225-D09C8C23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6611B-F8C2-47DF-8E41-3707277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1905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B7048-081C-45F2-AAE4-E1676B2E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AMD AI DEVMASTER - TRACK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2127A-47A5-4987-AA02-51DD530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6F3F2"/>
                </a:solidFill>
              </a:defRPr>
            </a:pPr>
            <a:r>
              <a:rPr sz="5700" b="1">
                <a:solidFill>
                  <a:srgbClr val="F6F3F2"/>
                </a:solidFill>
              </a:rPr>
              <a:t>BrandPilot</a:t>
            </a:r>
          </a:p>
          <a:p xmlns:a="http://schemas.openxmlformats.org/drawingml/2006/main">
            <a:pPr algn="l">
              <a:defRPr sz="5700" b="1">
                <a:solidFill>
                  <a:srgbClr val="F6F3F2"/>
                </a:solidFill>
              </a:defRPr>
            </a:pPr>
            <a:r>
              <a:rPr sz="5700" b="1">
                <a:solidFill>
                  <a:srgbClr val="F6F3F2"/>
                </a:solidFill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631B4-AC15-4B5A-9993-01F6281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5AEAC"/>
                </a:solidFill>
              </a:defRPr>
            </a:pPr>
            <a:r>
              <a:rPr sz="2250" b="0">
                <a:solidFill>
                  <a:srgbClr val="B5AEAC"/>
                </a:solidFill>
              </a:rPr>
              <a:t>One product image. One campaign system. One accountable human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344C6-063B-4A99-A4BE-A711479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38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7FB9E-3AA5-41CD-B631-DE8E733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624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D6A5"/>
                </a:solidFill>
              </a:defRPr>
            </a:pPr>
            <a:r>
              <a:rPr sz="1200" b="1">
                <a:solidFill>
                  <a:srgbClr val="67D6A5"/>
                </a:solidFill>
              </a:rPr>
              <a:t>MOCK-FIRST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1CB2D-1E57-4030-8F06-6830D01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3F2"/>
                </a:solidFill>
              </a:defRPr>
            </a:pPr>
            <a:r>
              <a:rPr sz="1800" b="1">
                <a:solidFill>
                  <a:srgbClr val="F6F3F2"/>
                </a:solidFill>
              </a:rPr>
              <a:t>Talal Khawaja  |  Aqeela Urooj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CC797-03C5-484E-A34F-76C6B422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5AEAC"/>
                </a:solidFill>
              </a:defRPr>
            </a:pPr>
            <a:r>
              <a:rPr sz="1500" b="0">
                <a:solidFill>
                  <a:srgbClr val="B5AEAC"/>
                </a:solidFill>
              </a:rPr>
              <a:t>AMD Radeon + ROCm evidence, without overstating the public edge</a:t>
            </a:r>
          </a:p>
        </p:txBody>
      </p:sp>
    </p:spTree>
    <p:extLst>
      <p:ext uri="{BB962C8B-B14F-4D97-AF65-F5344CB8AC3E}">
        <p14:creationId xmlns:p14="http://schemas.microsoft.com/office/powerpoint/2010/main" val="525643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97440-8038-40E2-90A0-9DE8AC5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299D-7C1A-4879-945C-E560880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CD57C-BAEB-4DC4-A254-3E2AD5ED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Campaign creation is fragmented by default.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E5084-38A9-4E71-A97A-6CFE9D2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C8432-A682-412C-9DB6-B79EA5B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29B3-F399-4113-9BA9-53CF0A3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3F2"/>
                </a:solidFill>
              </a:defRPr>
            </a:pPr>
            <a:r>
              <a:rPr sz="1800" b="0">
                <a:solidFill>
                  <a:srgbClr val="F6F3F2"/>
                </a:solidFill>
              </a:rPr>
              <a:t>A visual idea without brand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4D58E-2974-4C72-B249-F4D46AA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98F32-0C21-495C-A8EC-3572ED7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FFB18-9249-4E33-AB1A-6815104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86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3F2"/>
                </a:solidFill>
              </a:defRPr>
            </a:pPr>
            <a:r>
              <a:rPr sz="1800" b="0">
                <a:solidFill>
                  <a:srgbClr val="F6F3F2"/>
                </a:solidFill>
              </a:rPr>
              <a:t>Formats and composition split elsewhere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47564-2F2D-4A29-A21C-88FE42A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6F46-0B09-427F-95F8-D2F8294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2BAC7-2B02-40D2-A817-4DC943C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3F2"/>
                </a:solidFill>
              </a:defRPr>
            </a:pPr>
            <a:r>
              <a:rPr sz="1800" b="0">
                <a:solidFill>
                  <a:srgbClr val="F6F3F2"/>
                </a:solidFill>
              </a:rPr>
              <a:t>Claims and calls-to-action drift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97E94-9530-4975-9197-32A6DB56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3D362-B205-48D7-B563-502821E2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509A0-DEA6-4F0E-A45B-B3D706D5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3F2"/>
                </a:solidFill>
              </a:defRPr>
            </a:pPr>
            <a:r>
              <a:rPr sz="1800" b="0">
                <a:solidFill>
                  <a:srgbClr val="F6F3F2"/>
                </a:solidFill>
              </a:rPr>
              <a:t>Decisions disappear into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F185F-E27C-4807-AE60-E2678999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3434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70786-1768-48B1-A41E-344337C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The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6F742-FD9B-459A-A35D-18AC743B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333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Slow iteration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Weak traceability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Unnecessary asset exposure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Review without accountability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26ED7-172F-4210-840B-77A9BF6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4A2B1-DF0F-433A-B68B-541C603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1633734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528F3-1B4F-44C4-9F16-DDF2DA8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D3C5-FB7F-4317-B66F-AC1FA699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C0F73-D8F1-40CC-93A6-12931642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One asset becomes an accountable campaign.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F0A8A-2A35-43FA-9F87-96440EC7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69B6F-A9C4-4359-9866-8683D2E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3340"/>
                </a:solidFill>
              </a:defRPr>
            </a:pPr>
            <a:r>
              <a:rPr sz="1800" b="1">
                <a:solidFill>
                  <a:srgbClr val="EF334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8BF29-B884-41B8-B8D9-443A75F5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F8A4-5452-40F3-A9FC-4BC8EAF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Validated product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48A56-43D1-4C80-ADE2-DF7F81E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52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9A1A-288C-4ECB-8F67-D85E6F9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3340"/>
                </a:solidFill>
              </a:defRPr>
            </a:pPr>
            <a:r>
              <a:rPr sz="1800" b="1">
                <a:solidFill>
                  <a:srgbClr val="EF334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A3986-1E01-408B-A0DA-BD605D54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D642F-C1A4-4D48-889C-538349F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Audience, brand, formats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15A40-EEA2-4DEB-ADF0-2D10123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52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E845D-77BC-4862-8CCC-5A6634F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3340"/>
                </a:solidFill>
              </a:defRPr>
            </a:pPr>
            <a:r>
              <a:rPr sz="1800" b="1">
                <a:solidFill>
                  <a:srgbClr val="EF334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664AC-90D0-4313-ABC0-5EB8F32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DB8B4-7196-4497-A4C2-A57C0DC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Four labelled concepts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0DDE3-1D94-43B1-A343-871F61CE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52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2570-0700-447A-AAEC-E12D3D17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3340"/>
                </a:solidFill>
              </a:defRPr>
            </a:pPr>
            <a:r>
              <a:rPr sz="1800" b="1">
                <a:solidFill>
                  <a:srgbClr val="EF334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0D971-6A0F-4028-8C78-34D4CB83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0F25D-863F-40F2-BA48-CBA9BE7D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Persisted human decision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889d96b0f479e"/>
          <a:srcRect xmlns:a="http://schemas.openxmlformats.org/drawingml/2006/main" l="0" t="27720" r="0" b="27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981450"/>
            <a:ext cx="109728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E0FBF-7871-4C93-9B20-DD480703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038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64F05-8303-445C-9017-C91BE3D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767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D6A5"/>
                </a:solidFill>
              </a:defRPr>
            </a:pPr>
            <a:r>
              <a:rPr sz="1200" b="1">
                <a:solidFill>
                  <a:srgbClr val="67D6A5"/>
                </a:solidFill>
              </a:rPr>
              <a:t>LOCAL UI DEMONSTRATION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C4A2F-B7CE-40E6-AB55-D4B687D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E579F-C3E7-4292-8BC3-B9D3CBD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1734645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AD516-2CB1-4821-BCA2-00317969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387B1-1D21-4A71-9D8E-B82B6CD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D8125-87E2-494F-8713-53EDD6E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The review board makes provenance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1BA52-9972-4F04-A538-81B7853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e67686a644e1f"/>
          <a:srcRect xmlns:a="http://schemas.openxmlformats.org/drawingml/2006/main" l="10239" t="0" r="10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95500"/>
            <a:ext cx="68199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cf67ef0c34f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2095500"/>
            <a:ext cx="3886200" cy="2428875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E7925-E9ED-4287-80F9-B3DA0B98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38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7B39-A2DF-4666-AD91-33C3E6B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907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5A"/>
                </a:solidFill>
              </a:defRPr>
            </a:pPr>
            <a:r>
              <a:rPr sz="1200" b="1">
                <a:solidFill>
                  <a:srgbClr val="F4B85A"/>
                </a:solidFill>
              </a:rPr>
              <a:t>MOCK CAMPAIGN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90CF8-5687-4605-9955-A3B61995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3F2"/>
                </a:solidFill>
              </a:defRPr>
            </a:pPr>
            <a:r>
              <a:rPr sz="2250" b="1">
                <a:solidFill>
                  <a:srgbClr val="F6F3F2"/>
                </a:solidFill>
              </a:rPr>
              <a:t>Mock stays labelled.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509E9-8820-499C-84F4-ADD72DB7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578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Approve, reject, request changes, edit copy, regenerate, and refresh without losing the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CF977-3E6C-41FB-BF9E-A5252DE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9EC2E-78B2-4E77-B133-EB6E248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1500279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39763F-8124-4733-955D-F577BFA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DD2A-DC0B-4391-A409-1AECA6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0C27A-6585-4495-8173-0D97739F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Mock remains default. Radeon remains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F3F2-E0A7-4B39-B5C6-EDD03AE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CB547-D42F-4574-8BA0-D41D83F3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47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BA68C-D03A-43CF-B023-7EF01284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PRODUCT +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4F13D-CC90-4B2A-BDDF-5E40C7B6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Validated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1467-1514-411B-8E50-462E45F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AC79-E077-426D-88AE-C9F65A1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847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1DF60-6CEB-4F70-9407-3B24A11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3F2"/>
                </a:solidFill>
              </a:defRPr>
            </a:pPr>
            <a:r>
              <a:rPr sz="1350" b="1">
                <a:solidFill>
                  <a:srgbClr val="F6F3F2"/>
                </a:solidFill>
              </a:rPr>
              <a:t>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1D367-A7B4-4394-B5AD-96F75D32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Responsive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52E47-87B1-4DE0-8654-D02220A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6E2A3-D10B-4D3B-B156-7EB6E825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1847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52B11-1364-4BD4-822E-2F0BEC46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3F2"/>
                </a:solidFill>
              </a:defRPr>
            </a:pPr>
            <a:r>
              <a:rPr sz="1350" b="1">
                <a:solidFill>
                  <a:srgbClr val="F6F3F2"/>
                </a:solidFill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89234-76B5-446A-9314-D87353B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Persistence +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A7B24-1E4D-4CBA-B575-47A5F3F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8C9BC-6DE1-41FD-B06C-9EAD958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1847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1C10F-A6E3-4696-B902-388006B3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85A"/>
                </a:solidFill>
              </a:defRPr>
            </a:pPr>
            <a:r>
              <a:rPr sz="1350" b="1">
                <a:solidFill>
                  <a:srgbClr val="F4B85A"/>
                </a:solidFill>
              </a:rPr>
              <a:t>ROCM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695D1-B3E2-468B-B074-9A359DE6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Single lazy GPU 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D0052-41D4-417E-B224-CB76629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BE6E3-81C4-4B38-987F-182F5952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847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CA2E0-EF60-4165-AB6E-9F31B3B4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D6A5"/>
                </a:solidFill>
              </a:defRPr>
            </a:pPr>
            <a:r>
              <a:rPr sz="1350" b="1">
                <a:solidFill>
                  <a:srgbClr val="67D6A5"/>
                </a:solidFill>
              </a:rPr>
              <a:t>AMD RADEON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257BE-A128-4A66-9C7A-F74CCB7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SDXL via PyTorch/HIP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EEA34-600E-4BB6-80D5-6AAF9D46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643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013"/>
          </a:solidFill>
          <a:ln xmlns:a="http://schemas.openxmlformats.org/drawingml/2006/main" w="9525">
            <a:solidFill>
              <a:srgbClr val="3A2A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E0193-60DA-422D-A600-108E3B74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62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85A"/>
                </a:solidFill>
              </a:defRPr>
            </a:pPr>
            <a:r>
              <a:rPr sz="1350" b="1">
                <a:solidFill>
                  <a:srgbClr val="F4B85A"/>
                </a:solidFill>
              </a:rPr>
              <a:t>EXPERIMENTAL OPT-IN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DF460A-23D8-4F06-86AD-9EE10B3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244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3F2"/>
                </a:solidFill>
              </a:defRPr>
            </a:pPr>
            <a:r>
              <a:rPr sz="1650" b="0">
                <a:solidFill>
                  <a:srgbClr val="F6F3F2"/>
                </a:solidFill>
              </a:rPr>
              <a:t>Bearer auth · explicit CORS · loopback bind · one job · no CPU/mock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7810C-30B5-43AD-8D7D-FBB72D8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D6A5"/>
                </a:solidFill>
              </a:defRPr>
            </a:pPr>
            <a:r>
              <a:rPr sz="2400" b="1">
                <a:solidFill>
                  <a:srgbClr val="67D6A5"/>
                </a:solidFill>
              </a:rPr>
              <a:t>Mock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B5F57C-58B7-4581-936E-E8AEB44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Always available</a:t>
            </a:r>
          </a:p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No GPU dependency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2B9EC-EA60-45F1-8F46-9D3B77E7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9ED38-C4A7-4564-99A3-8F32D28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647748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0008D-C1F5-40B4-98A4-03417D0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DD516-4521-4328-BF87-6013BA13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AMD RADEON + ROCM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BE4E8-FBE8-434C-ADDA-B046FBB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Real SDXL image-to-image completed on Radeon.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1C75C-968F-4354-93EF-8B6F8EC5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794228c94c0d"/>
          <a:stretch xmlns:a="http://schemas.openxmlformats.org/drawingml/2006/main"/>
        </p:blipFill>
        <p:spPr>
          <a:xfrm xmlns:a="http://schemas.openxmlformats.org/drawingml/2006/main">
            <a:off x="826068" y="2095500"/>
            <a:ext cx="511061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3b763c408409d"/>
          <a:stretch xmlns:a="http://schemas.openxmlformats.org/drawingml/2006/main"/>
        </p:blipFill>
        <p:spPr>
          <a:xfrm xmlns:a="http://schemas.openxmlformats.org/drawingml/2006/main">
            <a:off x="7048500" y="200025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35788-2A47-42CF-BEFC-90C449E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38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5C2F6-857A-4730-B3F8-8FF52CC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D6A5"/>
                </a:solidFill>
              </a:defRPr>
            </a:pPr>
            <a:r>
              <a:rPr sz="1200" b="1">
                <a:solidFill>
                  <a:srgbClr val="67D6A5"/>
                </a:solidFill>
              </a:rPr>
              <a:t>RECORDED RADEON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423B8-9D23-4329-80BD-C2070B0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3F2"/>
                </a:solidFill>
              </a:defRPr>
            </a:pPr>
            <a:r>
              <a:rPr sz="2850" b="1">
                <a:solidFill>
                  <a:srgbClr val="F6F3F2"/>
                </a:solidFill>
              </a:rPr>
              <a:t>gfx1100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521E6-39CE-4F56-80CA-1418127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3F2"/>
                </a:solidFill>
              </a:defRPr>
            </a:pPr>
            <a:r>
              <a:rPr sz="2250" b="1">
                <a:solidFill>
                  <a:srgbClr val="F6F3F2"/>
                </a:solidFill>
              </a:rPr>
              <a:t>48 GiB reported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CF21E-9E40-4014-8A3A-5E8FD147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3F2"/>
                </a:solidFill>
              </a:defRPr>
            </a:pPr>
            <a:r>
              <a:rPr sz="2250" b="1">
                <a:solidFill>
                  <a:srgbClr val="F6F3F2"/>
                </a:solidFill>
              </a:rPr>
              <a:t>HIP 7.2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790D6-2E61-4A7F-BEA7-19F5C07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158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3F2"/>
                </a:solidFill>
              </a:defRPr>
            </a:pPr>
            <a:r>
              <a:rPr sz="1800" b="1">
                <a:solidFill>
                  <a:srgbClr val="F6F3F2"/>
                </a:solidFill>
              </a:rPr>
              <a:t>SDXL base 1.0</a:t>
            </a:r>
          </a:p>
          <a:p xmlns:a="http://schemas.openxmlformats.org/drawingml/2006/main">
            <a:pPr algn="l">
              <a:defRPr sz="1800" b="1">
                <a:solidFill>
                  <a:srgbClr val="F6F3F2"/>
                </a:solidFill>
              </a:defRPr>
            </a:pPr>
            <a:r>
              <a:rPr sz="1800" b="1">
                <a:solidFill>
                  <a:srgbClr val="F6F3F2"/>
                </a:solidFill>
              </a:rPr>
              <a:t>exact revision pinned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75F60-D73E-413F-BF9E-ADC8FCFF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768 × 768</a:t>
            </a:r>
          </a:p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15 steps</a:t>
            </a:r>
          </a:p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fp16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802D0-B3B1-48F3-8CAC-522CA6B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The real image shown here was generated during the verified cloud session.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02987-150F-45CD-9506-4C514F67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ACD02-5C3D-4109-956B-28D3E22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190202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ABC48-B477-486D-B602-D55305D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BB8C6-3A45-44CC-929E-D856580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MEASURED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657DA-A303-485F-9BE3-42800CF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The evidence records time, memory, and integrity.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D47D8-54BC-4D91-851D-A1ADD5E5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16BD1-589F-4F2C-8D0C-07F345E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3F2"/>
                </a:solidFill>
              </a:defRPr>
            </a:pPr>
            <a:r>
              <a:rPr sz="3150" b="1">
                <a:solidFill>
                  <a:srgbClr val="F6F3F2"/>
                </a:solidFill>
              </a:rPr>
              <a:t>132.295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C3F1-CDB0-4DF9-8901-B90D7CC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cold model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1FE38-B55D-46FE-BC77-B96875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907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3F2"/>
                </a:solidFill>
              </a:defRPr>
            </a:pPr>
            <a:r>
              <a:rPr sz="3150" b="1">
                <a:solidFill>
                  <a:srgbClr val="F6F3F2"/>
                </a:solidFill>
              </a:rPr>
              <a:t>222.111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76DD7-0DA4-43DB-B3E2-904C34F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A2DDA-F92B-49D5-BBF5-B91B299B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7D6A5"/>
                </a:solidFill>
              </a:defRPr>
            </a:pPr>
            <a:r>
              <a:rPr sz="3150" b="1">
                <a:solidFill>
                  <a:srgbClr val="67D6A5"/>
                </a:solidFill>
              </a:rPr>
              <a:t>13.41 GiB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BED61-985E-467B-83D6-AA36C1F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peak allocated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95305-C036-4352-AE3B-2247BC0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81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7D6A5"/>
                </a:solidFill>
              </a:defRPr>
            </a:pPr>
            <a:r>
              <a:rPr sz="3150" b="1">
                <a:solidFill>
                  <a:srgbClr val="67D6A5"/>
                </a:solidFill>
              </a:rPr>
              <a:t>14.31 GiB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AF123-E536-4C8F-B4CF-D8F3C7A7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peak reserved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34776-FD7E-4C8F-9640-CD6DA67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36957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1417"/>
          </a:solidFill>
          <a:ln xmlns:a="http://schemas.openxmlformats.org/drawingml/2006/main" w="9525">
            <a:solidFill>
              <a:srgbClr val="3030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EA891-1335-4711-ABB0-6C23E26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3F2"/>
                </a:solidFill>
              </a:defRPr>
            </a:pPr>
            <a:r>
              <a:rPr sz="2400" b="1">
                <a:solidFill>
                  <a:srgbClr val="F6F3F2"/>
                </a:solidFill>
              </a:rPr>
              <a:t>Pinned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66300-E19D-4C5F-8B15-390F008E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768 × 768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15 steps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strength 0.35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guidance 6.5</a:t>
            </a:r>
          </a:p>
          <a:p xmlns:a="http://schemas.openxmlformats.org/drawingml/2006/main">
            <a:pPr algn="l">
              <a:defRPr sz="2100" b="0">
                <a:solidFill>
                  <a:srgbClr val="B5AEAC"/>
                </a:solidFill>
              </a:defRPr>
            </a:pPr>
            <a:r>
              <a:rPr sz="2100" b="0">
                <a:solidFill>
                  <a:srgbClr val="B5AEAC"/>
                </a:solidFill>
              </a:rPr>
              <a:t>seed 20260725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B96BB-70D1-44C7-8A76-A87E2CD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Output SHA-256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604E4-B58C-4631-A17E-521B697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3F2"/>
                </a:solidFill>
              </a:defRPr>
            </a:pPr>
            <a:r>
              <a:rPr sz="1500" b="0">
                <a:solidFill>
                  <a:srgbClr val="F6F3F2"/>
                </a:solidFill>
              </a:rPr>
              <a:t>bce21d016a8179ac4ddabcbf5869a71eacf03565948d0d1f97d24e279b125452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CF0A3-C6B4-42BB-884D-005338C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8B492-C3A4-4CB6-880E-63623CBB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Session 1 measured values</a:t>
            </a:r>
          </a:p>
        </p:txBody>
      </p:sp>
    </p:spTree>
    <p:extLst>
      <p:ext uri="{BB962C8B-B14F-4D97-AF65-F5344CB8AC3E}">
        <p14:creationId xmlns:p14="http://schemas.microsoft.com/office/powerpoint/2010/main" val="123812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E4DD2-F1A8-42A7-B44C-C6D0728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11D5F-461B-40FD-A0A6-84E55CD5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HONEST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71749-EF37-4BA0-B888-FF66C0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Public browser edge stopped at DNS.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5E9F9-A023-4089-8DD9-091AA7E3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058c9c54e4bd7"/>
          <a:stretch xmlns:a="http://schemas.openxmlformats.org/drawingml/2006/main"/>
        </p:blipFill>
        <p:spPr>
          <a:xfrm xmlns:a="http://schemas.openxmlformats.org/drawingml/2006/main">
            <a:off x="615950" y="2057400"/>
            <a:ext cx="680720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C3B4-9EC3-4515-8BB7-321927FE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AEAC"/>
                </a:solidFill>
              </a:defRPr>
            </a:pPr>
            <a:r>
              <a:rPr sz="1575" b="0">
                <a:solidFill>
                  <a:srgbClr val="B5AEAC"/>
                </a:solidFill>
              </a:rPr>
              <a:t>Standalone SDXL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93EE6-5805-4B05-9153-89DCC44F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526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7D6A5"/>
                </a:solidFill>
              </a:defRPr>
            </a:pPr>
            <a:r>
              <a:rPr sz="1500" b="1">
                <a:solidFill>
                  <a:srgbClr val="67D6A5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EB8FB-45BD-4608-A8FB-A76B72B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3B046-F890-4F6E-94B1-B55EB77B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AEAC"/>
                </a:solidFill>
              </a:defRPr>
            </a:pPr>
            <a:r>
              <a:rPr sz="1575" b="0">
                <a:solidFill>
                  <a:srgbClr val="B5AEAC"/>
                </a:solidFill>
              </a:rPr>
              <a:t>FastAPI loopback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46F40-57CB-4117-AB9B-E16EBD8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384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7D6A5"/>
                </a:solidFill>
              </a:defRPr>
            </a:pPr>
            <a:r>
              <a:rPr sz="1500" b="1">
                <a:solidFill>
                  <a:srgbClr val="67D6A5"/>
                </a:solidFill>
              </a:rPr>
              <a:t>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5DF4D-3295-4133-BB5A-7EA11A6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0D770-19BC-4582-8F36-667CE1A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AEAC"/>
                </a:solidFill>
              </a:defRPr>
            </a:pPr>
            <a:r>
              <a:rPr sz="1575" b="0">
                <a:solidFill>
                  <a:srgbClr val="B5AEAC"/>
                </a:solidFill>
              </a:rPr>
              <a:t>rc-tunnel 0.3.0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6D580-9977-4C85-ABCB-85E7636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242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7D6A5"/>
                </a:solidFill>
              </a:defRPr>
            </a:pPr>
            <a:r>
              <a:rPr sz="1500" b="1">
                <a:solidFill>
                  <a:srgbClr val="67D6A5"/>
                </a:solidFill>
              </a:rPr>
              <a:t>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90F6C-B817-4029-A2D0-448D5B7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BA62C-5A06-423B-9313-301135A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AEAC"/>
                </a:solidFill>
              </a:defRPr>
            </a:pPr>
            <a:r>
              <a:rPr sz="1575" b="0">
                <a:solidFill>
                  <a:srgbClr val="B5AEAC"/>
                </a:solidFill>
              </a:rPr>
              <a:t>Chrome TLS/auth/CORS/upload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C3EA5-F2F0-4F77-8D7C-89F2E5F5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100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7D6A5"/>
                </a:solidFill>
              </a:defRPr>
            </a:pPr>
            <a:r>
              <a:rPr sz="1500" b="1">
                <a:solidFill>
                  <a:srgbClr val="67D6A5"/>
                </a:solidFill>
              </a:rPr>
              <a:t>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697C9-E8A6-4C79-8CD7-80384CF1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F99D2-142D-4C75-803B-B4AE901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AEAC"/>
                </a:solidFill>
              </a:defRPr>
            </a:pPr>
            <a:r>
              <a:rPr sz="1575" b="0">
                <a:solidFill>
                  <a:srgbClr val="B5AEAC"/>
                </a:solidFill>
              </a:rPr>
              <a:t>Protected output through 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493A9-91AE-4D68-AA30-6EFD26E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95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F3340"/>
                </a:solidFill>
              </a:defRPr>
            </a:pPr>
            <a:r>
              <a:rPr sz="1500" b="1">
                <a:solidFill>
                  <a:srgbClr val="EF3340"/>
                </a:solidFill>
              </a:rPr>
              <a:t>BLOCKED - DNS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160E5-B043-4503-A247-7FCD3E4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3F2"/>
                </a:solidFill>
              </a:defRPr>
            </a:pPr>
            <a:r>
              <a:rPr sz="1425" b="1">
                <a:solidFill>
                  <a:srgbClr val="F6F3F2"/>
                </a:solidFill>
              </a:rPr>
              <a:t>No unofficial tunnel. No TLS bypass. No fabricated success.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62E1B-F932-470E-849E-71E649E2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0E7F3-041E-42CA-805E-09F0A12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1875884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E9A95-2131-4162-9053-53D22810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743DD-D4D4-4098-BB11-DB2B0DF8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3340"/>
                </a:solidFill>
              </a:defRPr>
            </a:pPr>
            <a:r>
              <a:rPr sz="1350" b="1">
                <a:solidFill>
                  <a:srgbClr val="EF3340"/>
                </a:solidFill>
              </a:rPr>
              <a:t>PRACTICAL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8281-FCE4-4732-8DBA-4C92254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3F2"/>
                </a:solidFill>
              </a:defRPr>
            </a:pPr>
            <a:r>
              <a:rPr sz="3750" b="1">
                <a:solidFill>
                  <a:srgbClr val="F6F3F2"/>
                </a:solidFill>
              </a:rPr>
              <a:t>Generation becomes a reviewable brand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3D137-71AC-4F6D-B1DE-AE3A387F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6A6A"/>
                </a:solidFill>
              </a:defRPr>
            </a:pPr>
            <a:r>
              <a:rPr sz="1350" b="1">
                <a:solidFill>
                  <a:srgbClr val="6F6A6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9F4DD-A076-4CA6-927E-45C91DE4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F2"/>
                </a:solidFill>
              </a:defRPr>
            </a:pPr>
            <a:r>
              <a:rPr sz="2100" b="1">
                <a:solidFill>
                  <a:srgbClr val="F6F3F2"/>
                </a:solidFill>
              </a:rPr>
              <a:t>Independent brands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09140-2E5F-4E25-9A13-393192B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Launch concepts without a fragmented toolchain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67457-07ED-4364-A36A-9ADF69B3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F2"/>
                </a:solidFill>
              </a:defRPr>
            </a:pPr>
            <a:r>
              <a:rPr sz="2100" b="1">
                <a:solidFill>
                  <a:srgbClr val="F6F3F2"/>
                </a:solidFill>
              </a:rPr>
              <a:t>In-house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AB0B8-DFA3-4A42-9347-3809A1AB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Adapt one campaign across formats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09D72-0570-43CB-AFEB-C7D25C4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F2"/>
                </a:solidFill>
              </a:defRPr>
            </a:pPr>
            <a:r>
              <a:rPr sz="2100" b="1">
                <a:solidFill>
                  <a:srgbClr val="F6F3F2"/>
                </a:solidFill>
              </a:rPr>
              <a:t>Creative studios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E04AB-7EEB-4AB6-A26E-9FCDE0DF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Explore directions before 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62EE1-676C-4A16-B901-6E4901B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F2"/>
                </a:solidFill>
              </a:defRPr>
            </a:pPr>
            <a:r>
              <a:rPr sz="2100" b="1">
                <a:solidFill>
                  <a:srgbClr val="F6F3F2"/>
                </a:solidFill>
              </a:rPr>
              <a:t>Privacy-conscious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44F4-6AD4-41E0-B360-401FC09F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2440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Keep the default workflow controlled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2806d2cb24fc7"/>
          <a:srcRect xmlns:a="http://schemas.openxmlformats.org/drawingml/2006/main" l="11252" t="0" r="112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2057400"/>
            <a:ext cx="1619250" cy="3524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14ce73afb402d"/>
          <a:srcRect xmlns:a="http://schemas.openxmlformats.org/drawingml/2006/main" l="11252" t="0" r="112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057400"/>
            <a:ext cx="1619250" cy="3524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21E04-FCB2-444D-95A4-CE6236D3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293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7D6A5"/>
                </a:solidFill>
              </a:defRPr>
            </a:pPr>
            <a:r>
              <a:rPr sz="2250" b="1">
                <a:solidFill>
                  <a:srgbClr val="67D6A5"/>
                </a:solidFill>
              </a:rPr>
              <a:t>Responsive by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23D18-6143-4CF6-9726-9CD711D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77273"/>
                </a:solidFill>
              </a:defRPr>
            </a:pPr>
            <a:r>
              <a:rPr sz="1200" b="1">
                <a:solidFill>
                  <a:srgbClr val="777273"/>
                </a:solidFill>
              </a:rPr>
              <a:t>BrandPilot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22F98-59B8-46B9-A44E-5FDC0E0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77273"/>
                </a:solidFill>
              </a:defRPr>
            </a:pPr>
            <a:r>
              <a:rPr sz="1200" b="0">
                <a:solidFill>
                  <a:srgbClr val="777273"/>
                </a:solidFill>
              </a:rPr>
              <a:t>AMD AI DevMaster - Track 1</a:t>
            </a:r>
          </a:p>
        </p:txBody>
      </p:sp>
    </p:spTree>
    <p:extLst>
      <p:ext uri="{BB962C8B-B14F-4D97-AF65-F5344CB8AC3E}">
        <p14:creationId xmlns:p14="http://schemas.microsoft.com/office/powerpoint/2010/main" val="850171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C7B3D-C600-4CB5-88A9-22833B94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E158C-03A2-4AAB-AAF8-44AAFA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3340"/>
                </a:solidFill>
              </a:defRPr>
            </a:pPr>
            <a:r>
              <a:rPr sz="1500" b="1">
                <a:solidFill>
                  <a:srgbClr val="EF3340"/>
                </a:solidFill>
              </a:rPr>
              <a:t>BRANDPILOT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DF902-3544-4A06-9786-D3D1198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6F3F2"/>
                </a:solidFill>
              </a:defRPr>
            </a:pPr>
            <a:r>
              <a:rPr sz="4650" b="1">
                <a:solidFill>
                  <a:srgbClr val="F6F3F2"/>
                </a:solidFill>
              </a:rPr>
              <a:t>Practical today.</a:t>
            </a:r>
          </a:p>
          <a:p xmlns:a="http://schemas.openxmlformats.org/drawingml/2006/main">
            <a:pPr algn="l">
              <a:defRPr sz="4650" b="1">
                <a:solidFill>
                  <a:srgbClr val="F6F3F2"/>
                </a:solidFill>
              </a:defRPr>
            </a:pPr>
            <a:r>
              <a:rPr sz="4650" b="1">
                <a:solidFill>
                  <a:srgbClr val="F6F3F2"/>
                </a:solidFill>
              </a:rPr>
              <a:t>Disciplined about tomorrow.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0C80C-4BAF-4B2C-898C-F4873F3D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D6A5"/>
                </a:solidFill>
              </a:defRPr>
            </a:pPr>
            <a:r>
              <a:rPr sz="2250" b="1">
                <a:solidFill>
                  <a:srgbClr val="67D6A5"/>
                </a:solidFill>
              </a:rPr>
              <a:t>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39F06-888E-4DD5-B0ED-0E87B742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Real SDXL on Radeon + ROCm</a:t>
            </a:r>
          </a:p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Authenticated FastAPI loopback generation</a:t>
            </a:r>
          </a:p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Human review and responsive product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42EB8-B5BB-4498-882B-010E6420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85A"/>
                </a:solidFill>
              </a:defRPr>
            </a:pPr>
            <a:r>
              <a:rPr sz="2250" b="1">
                <a:solidFill>
                  <a:srgbClr val="F4B85A"/>
                </a:solidFill>
              </a:rPr>
              <a:t>Next measured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BFC29-5256-43F2-8778-A030DD9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5AEAC"/>
                </a:solidFill>
              </a:defRPr>
            </a:pPr>
            <a:r>
              <a:rPr sz="1800" b="0">
                <a:solidFill>
                  <a:srgbClr val="B5AEAC"/>
                </a:solidFill>
              </a:rPr>
              <a:t>Compare base SDXL with IP-Adapter plus masking/compositing for product preservation - only after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52FDF-3047-4450-BA4C-85D39D4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2BE3-F0FB-4D50-8A52-A5D70D7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3F2"/>
                </a:solidFill>
              </a:defRPr>
            </a:pPr>
            <a:r>
              <a:rPr sz="1950" b="1">
                <a:solidFill>
                  <a:srgbClr val="F6F3F2"/>
                </a:solidFill>
              </a:rPr>
              <a:t>Talal Khawaja  |  Aqeela Urooj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21B8-BBA3-4739-859C-8F74172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5AEAC"/>
                </a:solidFill>
              </a:defRPr>
            </a:pPr>
            <a:r>
              <a:rPr sz="1650" b="0">
                <a:solidFill>
                  <a:srgbClr val="B5AEAC"/>
                </a:solidFill>
              </a:rPr>
              <a:t>github.com/kmt9967/brandpilot-local</a:t>
            </a:r>
          </a:p>
        </p:txBody>
      </p:sp>
    </p:spTree>
    <p:extLst>
      <p:ext uri="{BB962C8B-B14F-4D97-AF65-F5344CB8AC3E}">
        <p14:creationId xmlns:p14="http://schemas.microsoft.com/office/powerpoint/2010/main" val="609027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2026-08-04T09:30:34.1230000Z</dcterms:created>
  <dcterms:modified xsi:type="dcterms:W3CDTF">2026-08-04T09:30:34.1230000Z</dcterms:modified>
</coreProperties>
</file>