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21e198ccab84720" /><Relationship Type="http://schemas.openxmlformats.org/officeDocument/2006/relationships/extended-properties" Target="/docProps/app.xml" Id="R475c862066084c48" /><Relationship Type="http://schemas.openxmlformats.org/officeDocument/2006/relationships/officeDocument" Target="/ppt/presentation.xml" Id="R01d9329acf024e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afe5abda5f422f"/>
  </p:sldMasterIdLst>
  <p:notesMasterIdLst>
    <p:notesMasterId xmlns:r="http://schemas.openxmlformats.org/officeDocument/2006/relationships" r:id="Rf60a52ec1e314b64"/>
  </p:notesMasterIdLst>
  <p:sldIdLst>
    <p:sldId xmlns:r="http://schemas.openxmlformats.org/officeDocument/2006/relationships" id="256" r:id="R789c6e17c7a8498e"/>
    <p:sldId xmlns:r="http://schemas.openxmlformats.org/officeDocument/2006/relationships" id="257" r:id="R94f80ac983524268"/>
    <p:sldId xmlns:r="http://schemas.openxmlformats.org/officeDocument/2006/relationships" id="258" r:id="R4a195e20b5ff4ee6"/>
    <p:sldId xmlns:r="http://schemas.openxmlformats.org/officeDocument/2006/relationships" id="259" r:id="Reb097229ba224b33"/>
    <p:sldId xmlns:r="http://schemas.openxmlformats.org/officeDocument/2006/relationships" id="260" r:id="Radb604f67c2846ad"/>
    <p:sldId xmlns:r="http://schemas.openxmlformats.org/officeDocument/2006/relationships" id="261" r:id="R279f21909e1f4cb3"/>
    <p:sldId xmlns:r="http://schemas.openxmlformats.org/officeDocument/2006/relationships" id="262" r:id="R4f92ff48461645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8d7ef3d304256" /><Relationship Type="http://schemas.openxmlformats.org/officeDocument/2006/relationships/slideMaster" Target="/ppt/slideMasters/slideMaster1.xml" Id="R5fafe5abda5f422f" /><Relationship Type="http://schemas.openxmlformats.org/officeDocument/2006/relationships/notesMaster" Target="/ppt/notesMasters/notesMaster1.xml" Id="Rf60a52ec1e314b64" /><Relationship Type="http://schemas.openxmlformats.org/officeDocument/2006/relationships/presProps" Target="/ppt/presProps.xml" Id="Racd2efb0e3814527" /><Relationship Type="http://schemas.openxmlformats.org/officeDocument/2006/relationships/tableStyles" Target="/ppt/tableStyles.xml" Id="R511da2c6fa774619" /><Relationship Type="http://schemas.openxmlformats.org/officeDocument/2006/relationships/slide" Target="/ppt/slides/slide1.xml" Id="R789c6e17c7a8498e" /><Relationship Type="http://schemas.openxmlformats.org/officeDocument/2006/relationships/slide" Target="/ppt/slides/slide2.xml" Id="R94f80ac983524268" /><Relationship Type="http://schemas.openxmlformats.org/officeDocument/2006/relationships/slide" Target="/ppt/slides/slide3.xml" Id="R4a195e20b5ff4ee6" /><Relationship Type="http://schemas.openxmlformats.org/officeDocument/2006/relationships/slide" Target="/ppt/slides/slide4.xml" Id="Reb097229ba224b33" /><Relationship Type="http://schemas.openxmlformats.org/officeDocument/2006/relationships/slide" Target="/ppt/slides/slide5.xml" Id="Radb604f67c2846ad" /><Relationship Type="http://schemas.openxmlformats.org/officeDocument/2006/relationships/slide" Target="/ppt/slides/slide6.xml" Id="R279f21909e1f4cb3" /><Relationship Type="http://schemas.openxmlformats.org/officeDocument/2006/relationships/slide" Target="/ppt/slides/slide7.xml" Id="R4f92ff48461645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24b769e74c4f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43009a30f442c6" /><Relationship Type="http://schemas.openxmlformats.org/officeDocument/2006/relationships/notesMaster" Target="/ppt/notesMasters/notesMaster1.xml" Id="Re0c75d8f0b2345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cdeca058340d3" /><Relationship Type="http://schemas.openxmlformats.org/officeDocument/2006/relationships/notesMaster" Target="/ppt/notesMasters/notesMaster1.xml" Id="R258559714c5240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07ea24fbe24d67" /><Relationship Type="http://schemas.openxmlformats.org/officeDocument/2006/relationships/notesMaster" Target="/ppt/notesMasters/notesMaster1.xml" Id="R0b2f6547f7c24f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7c57e524704ae6" /><Relationship Type="http://schemas.openxmlformats.org/officeDocument/2006/relationships/notesMaster" Target="/ppt/notesMasters/notesMaster1.xml" Id="Rfa35f962a57d43f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91a354394a423f" /><Relationship Type="http://schemas.openxmlformats.org/officeDocument/2006/relationships/notesMaster" Target="/ppt/notesMasters/notesMaster1.xml" Id="Rbdec0529af26413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aa20d691284c5e" /><Relationship Type="http://schemas.openxmlformats.org/officeDocument/2006/relationships/notesMaster" Target="/ppt/notesMasters/notesMaster1.xml" Id="R787ad864b07a4e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24f0ce8da14769" /><Relationship Type="http://schemas.openxmlformats.org/officeDocument/2006/relationships/notesMaster" Target="/ppt/notesMasters/notesMaster1.xml" Id="R3a70e68a20474cf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79bc5279f343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bd2fa1d9ad4642" /><Relationship Type="http://schemas.openxmlformats.org/officeDocument/2006/relationships/slideLayout" Target="/ppt/slideLayouts/slideLayout1.xml" Id="R587c09855398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7c09855398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e6454c48b4c0f" /><Relationship Type="http://schemas.openxmlformats.org/officeDocument/2006/relationships/image" Target="/ppt/media/image.png" Id="R61ee6bfa7a7b4187" /><Relationship Type="http://schemas.openxmlformats.org/officeDocument/2006/relationships/notesSlide" Target="/ppt/notesSlides/notesSlide1.xml" Id="Rebf96033a4734b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8574a7d41f4713" /><Relationship Type="http://schemas.openxmlformats.org/officeDocument/2006/relationships/notesSlide" Target="/ppt/notesSlides/notesSlide2.xml" Id="Rc5d63d47189d40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2fd00c1224596" /><Relationship Type="http://schemas.openxmlformats.org/officeDocument/2006/relationships/notesSlide" Target="/ppt/notesSlides/notesSlide3.xml" Id="R99de9dbeb6a746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f6c8248364df9" /><Relationship Type="http://schemas.openxmlformats.org/officeDocument/2006/relationships/notesSlide" Target="/ppt/notesSlides/notesSlide4.xml" Id="Reb1a979aab144c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233fdb45a4f48" /><Relationship Type="http://schemas.openxmlformats.org/officeDocument/2006/relationships/notesSlide" Target="/ppt/notesSlides/notesSlide5.xml" Id="R3046506651ea44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af1873f144f55" /><Relationship Type="http://schemas.openxmlformats.org/officeDocument/2006/relationships/notesSlide" Target="/ppt/notesSlides/notesSlide6.xml" Id="Rd3d616732fea40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1121536e5478c" /><Relationship Type="http://schemas.openxmlformats.org/officeDocument/2006/relationships/notesSlide" Target="/ppt/notesSlides/notesSlide7.xml" Id="R4e9b59cf285842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ee6bfa7a7b418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8464E29-6A2B-4CD7-8594-A7EBC379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C5FF"/>
                </a:solidFill>
              </a:defRPr>
            </a:pPr>
            <a:r>
              <a:rPr sz="1350" b="1">
                <a:solidFill>
                  <a:srgbClr val="9BC5FF"/>
                </a:solidFill>
              </a:rPr>
              <a:t>AMD AI DEVMASTER HACKATHON 2026  |  TRACK 2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7151FB5-0C1E-47DB-B066-CB0C29E8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Work</a:t>
            </a:r>
          </a:p>
          <a:p xmlns:a="http://schemas.openxmlformats.org/drawingml/2006/main">
            <a:pPr>
              <a:defRPr sz="5400" b="1">
                <a:solidFill>
                  <a:srgbClr val="FFFFFF"/>
                </a:solidFill>
              </a:defRPr>
            </a:pPr>
            <a:r>
              <a:rPr sz="5400" b="1">
                <a:solidFill>
                  <a:srgbClr val="FFFFFF"/>
                </a:solidFill>
              </a:rPr>
              <a:t>Assistant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C9694DA-773A-4D9C-AAD7-78141F07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D6E4FF"/>
                </a:solidFill>
              </a:defRPr>
            </a:pPr>
            <a:r>
              <a:rPr sz="2100">
                <a:solidFill>
                  <a:srgbClr val="D6E4FF"/>
                </a:solidFill>
              </a:rPr>
              <a:t>A local-first workspace for recovering Code Agent context</a:t>
            </a:r>
          </a:p>
        </p:txBody>
      </p:sp>
      <p:sp>
        <p:nvSpPr>
          <p:cNvPr id="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E5D796B7-EA82-4C20-8B24-0BCB39EA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D6E4FF"/>
                </a:solidFill>
              </a:defRPr>
            </a:pPr>
            <a:r>
              <a:rPr sz="1425">
                <a:solidFill>
                  <a:srgbClr val="D6E4FF"/>
                </a:solidFill>
              </a:rPr>
              <a:t>Liu Haoran  |  Qwen3-14B on AMD Radeon Cloud</a:t>
            </a:r>
          </a:p>
        </p:txBody>
      </p:sp>
    </p:spTree>
    <p:extLst>
      <p:ext uri="{BB962C8B-B14F-4D97-AF65-F5344CB8AC3E}">
        <p14:creationId xmlns:p14="http://schemas.microsoft.com/office/powerpoint/2010/main" val="64747927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6980B83-FF19-4FB4-860A-862F56E3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75A7696-E247-465B-A52D-0F292EF2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challenge is fragmented development context, not a lack of AI tools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BD4B518B-40BC-4EF1-B3B5-78EB7768D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Scattered history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Codex, Claude, Git, files, and terminals each hold part of the story.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97F7190-B426-478A-A406-7BE20EFB4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Lost continuity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After an interruption, the origin, status, and next action are hard to recover.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3FD9FDB4-8CC7-4FD2-AFD2-655E873E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 Assistant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Unifies local conversations, work items, and project evidence.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119E6B6-2A06-454E-A257-44D6E793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Practical outcome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Developers resume quickly with traceable, evidence-grounded context.</a:t>
            </a:r>
          </a:p>
        </p:txBody>
      </p:sp>
      <p:sp>
        <p:nvSpPr>
          <p:cNvPr id="7" name="footer-2">
            <a:extLst xmlns:a="http://schemas.openxmlformats.org/drawingml/2006/main">
              <a:ext uri="{FF2B5EF4-FFF2-40B4-BE49-F238E27FC236}">
                <a16:creationId xmlns:a16="http://schemas.microsoft.com/office/drawing/2014/main" id="{05AD2DC3-15B3-48A4-8BB4-3385C998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AMD AI DevMaster Hackathon 2026  |  Track 2  |  2</a:t>
            </a:r>
          </a:p>
        </p:txBody>
      </p:sp>
    </p:spTree>
    <p:extLst>
      <p:ext uri="{BB962C8B-B14F-4D97-AF65-F5344CB8AC3E}">
        <p14:creationId xmlns:p14="http://schemas.microsoft.com/office/powerpoint/2010/main" val="329229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3B7B989-5A4B-4603-8BC7-E88FADBED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947D9EF-02AB-46B2-BD5F-6ED78180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grounds project conclusions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C9050D8E-5375-4047-8BF9-72CC0D03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F23BA514-A5BA-4248-A6AD-6BA616513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LangGraph orchestrates the workflow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 Git metadata and file changes feed task planning, project assessment, and progress analysis. The LLM returns plans, risks, and next steps grounded in the actual project state.</a:t>
            </a:r>
          </a:p>
        </p:txBody>
      </p:sp>
      <p:sp>
        <p:nvSpPr>
          <p:cNvPr id="6" name="evidence-flow-node-1">
            <a:extLst xmlns:a="http://schemas.openxmlformats.org/drawingml/2006/main">
              <a:ext uri="{FF2B5EF4-FFF2-40B4-BE49-F238E27FC236}">
                <a16:creationId xmlns:a16="http://schemas.microsoft.com/office/drawing/2014/main" id="{9A3C2C51-D91B-4274-92A4-9F0EDC26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668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evidence-flow-label-1">
            <a:extLst xmlns:a="http://schemas.openxmlformats.org/drawingml/2006/main">
              <a:ext uri="{FF2B5EF4-FFF2-40B4-BE49-F238E27FC236}">
                <a16:creationId xmlns:a16="http://schemas.microsoft.com/office/drawing/2014/main" id="{2F1E7149-E688-414C-BAF6-FBCCAC14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2287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EVIDENCE</a:t>
            </a:r>
          </a:p>
        </p:txBody>
      </p:sp>
      <p:sp>
        <p:nvSpPr>
          <p:cNvPr id="8" name="evidence-flow-arrow-1">
            <a:extLst xmlns:a="http://schemas.openxmlformats.org/drawingml/2006/main">
              <a:ext uri="{FF2B5EF4-FFF2-40B4-BE49-F238E27FC236}">
                <a16:creationId xmlns:a16="http://schemas.microsoft.com/office/drawing/2014/main" id="{FDF01BA3-AEE8-4EB1-A6EF-94B5DEBA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9" name="evidence-flow-node-2">
            <a:extLst xmlns:a="http://schemas.openxmlformats.org/drawingml/2006/main">
              <a:ext uri="{FF2B5EF4-FFF2-40B4-BE49-F238E27FC236}">
                <a16:creationId xmlns:a16="http://schemas.microsoft.com/office/drawing/2014/main" id="{FE97E515-FF71-4A60-BA23-647506A4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evidence-flow-label-2">
            <a:extLst xmlns:a="http://schemas.openxmlformats.org/drawingml/2006/main">
              <a:ext uri="{FF2B5EF4-FFF2-40B4-BE49-F238E27FC236}">
                <a16:creationId xmlns:a16="http://schemas.microsoft.com/office/drawing/2014/main" id="{D900C73F-C45A-4A35-BC51-380C3702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193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LANGGRAPH WORKFLOW</a:t>
            </a:r>
          </a:p>
        </p:txBody>
      </p:sp>
      <p:sp>
        <p:nvSpPr>
          <p:cNvPr id="11" name="evidence-flow-arrow-2">
            <a:extLst xmlns:a="http://schemas.openxmlformats.org/drawingml/2006/main">
              <a:ext uri="{FF2B5EF4-FFF2-40B4-BE49-F238E27FC236}">
                <a16:creationId xmlns:a16="http://schemas.microsoft.com/office/drawing/2014/main" id="{33234F46-E2E1-460D-9D55-FA92A0BC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12" name="evidence-flow-node-3">
            <a:extLst xmlns:a="http://schemas.openxmlformats.org/drawingml/2006/main">
              <a:ext uri="{FF2B5EF4-FFF2-40B4-BE49-F238E27FC236}">
                <a16:creationId xmlns:a16="http://schemas.microsoft.com/office/drawing/2014/main" id="{13371FC2-380C-4205-919F-BCE2E901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evidence-flow-label-3">
            <a:extLst xmlns:a="http://schemas.openxmlformats.org/drawingml/2006/main">
              <a:ext uri="{FF2B5EF4-FFF2-40B4-BE49-F238E27FC236}">
                <a16:creationId xmlns:a16="http://schemas.microsoft.com/office/drawing/2014/main" id="{74951E29-86D3-4F13-AB59-91BF8085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099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LLM INFERENCE</a:t>
            </a:r>
          </a:p>
        </p:txBody>
      </p:sp>
      <p:sp>
        <p:nvSpPr>
          <p:cNvPr id="14" name="evidence-flow-arrow-3">
            <a:extLst xmlns:a="http://schemas.openxmlformats.org/drawingml/2006/main">
              <a:ext uri="{FF2B5EF4-FFF2-40B4-BE49-F238E27FC236}">
                <a16:creationId xmlns:a16="http://schemas.microsoft.com/office/drawing/2014/main" id="{BE7F5E2E-7274-410A-9E9F-F30943F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15" name="evidence-flow-node-4">
            <a:extLst xmlns:a="http://schemas.openxmlformats.org/drawingml/2006/main">
              <a:ext uri="{FF2B5EF4-FFF2-40B4-BE49-F238E27FC236}">
                <a16:creationId xmlns:a16="http://schemas.microsoft.com/office/drawing/2014/main" id="{8EE6879D-12D4-4029-A437-44FF36DC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386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evidence-flow-label-4">
            <a:extLst xmlns:a="http://schemas.openxmlformats.org/drawingml/2006/main">
              <a:ext uri="{FF2B5EF4-FFF2-40B4-BE49-F238E27FC236}">
                <a16:creationId xmlns:a16="http://schemas.microsoft.com/office/drawing/2014/main" id="{664D3587-B546-4164-AAA1-E3BF534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005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GROUNDED OUTPUT</a:t>
            </a:r>
          </a:p>
        </p:txBody>
      </p:sp>
      <p:sp>
        <p:nvSpPr>
          <p:cNvPr id="17" name="footer-3">
            <a:extLst xmlns:a="http://schemas.openxmlformats.org/drawingml/2006/main">
              <a:ext uri="{FF2B5EF4-FFF2-40B4-BE49-F238E27FC236}">
                <a16:creationId xmlns:a16="http://schemas.microsoft.com/office/drawing/2014/main" id="{50C5E950-0AE6-4D40-9C2D-C9206182B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AMD AI DevMaster Hackathon 2026  |  Track 2  |  3</a:t>
            </a:r>
          </a:p>
        </p:txBody>
      </p:sp>
    </p:spTree>
    <p:extLst>
      <p:ext uri="{BB962C8B-B14F-4D97-AF65-F5344CB8AC3E}">
        <p14:creationId xmlns:p14="http://schemas.microsoft.com/office/powerpoint/2010/main" val="1160402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BF006D6-A24A-424F-9030-C4A9F8B9B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1F8BFD5C-2474-467A-B6F6-059F4B94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Incremental RAG limits repeat work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D182FCB6-7051-4E28-8DCC-E3EF72E5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A7C3F7BA-2A2A-4F8E-88F9-5A94160A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Process only what changed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workspace analyzes new or changed conversation segments, retrieves relevant local context, and applies hierarchical summaries. Every discovered work item retains a source conversation.</a:t>
            </a:r>
          </a:p>
        </p:txBody>
      </p:sp>
      <p:sp>
        <p:nvSpPr>
          <p:cNvPr id="6" name="rag-flow-node-1">
            <a:extLst xmlns:a="http://schemas.openxmlformats.org/drawingml/2006/main">
              <a:ext uri="{FF2B5EF4-FFF2-40B4-BE49-F238E27FC236}">
                <a16:creationId xmlns:a16="http://schemas.microsoft.com/office/drawing/2014/main" id="{757CAE07-8604-49AF-9A90-6EFE8FAC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0668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7" name="rag-flow-label-1">
            <a:extLst xmlns:a="http://schemas.openxmlformats.org/drawingml/2006/main">
              <a:ext uri="{FF2B5EF4-FFF2-40B4-BE49-F238E27FC236}">
                <a16:creationId xmlns:a16="http://schemas.microsoft.com/office/drawing/2014/main" id="{E5D052E6-48AB-4454-A051-D05B470A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12287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HISTORY</a:t>
            </a:r>
          </a:p>
        </p:txBody>
      </p:sp>
      <p:sp>
        <p:nvSpPr>
          <p:cNvPr id="8" name="rag-flow-arrow-1">
            <a:extLst xmlns:a="http://schemas.openxmlformats.org/drawingml/2006/main">
              <a:ext uri="{FF2B5EF4-FFF2-40B4-BE49-F238E27FC236}">
                <a16:creationId xmlns:a16="http://schemas.microsoft.com/office/drawing/2014/main" id="{F9A9DAE6-7FEB-4BC8-9094-71FD48310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95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9" name="rag-flow-node-2">
            <a:extLst xmlns:a="http://schemas.openxmlformats.org/drawingml/2006/main">
              <a:ext uri="{FF2B5EF4-FFF2-40B4-BE49-F238E27FC236}">
                <a16:creationId xmlns:a16="http://schemas.microsoft.com/office/drawing/2014/main" id="{491C759A-B5AC-4316-A749-69BB46546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0" name="rag-flow-label-2">
            <a:extLst xmlns:a="http://schemas.openxmlformats.org/drawingml/2006/main">
              <a:ext uri="{FF2B5EF4-FFF2-40B4-BE49-F238E27FC236}">
                <a16:creationId xmlns:a16="http://schemas.microsoft.com/office/drawing/2014/main" id="{E8765A8A-C734-4422-B7DF-99F0031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2193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NEW OR CHANGED SEGMENTS</a:t>
            </a:r>
          </a:p>
        </p:txBody>
      </p:sp>
      <p:sp>
        <p:nvSpPr>
          <p:cNvPr id="11" name="rag-flow-arrow-2">
            <a:extLst xmlns:a="http://schemas.openxmlformats.org/drawingml/2006/main">
              <a:ext uri="{FF2B5EF4-FFF2-40B4-BE49-F238E27FC236}">
                <a16:creationId xmlns:a16="http://schemas.microsoft.com/office/drawing/2014/main" id="{5DC7A0ED-7081-4CE2-915E-D39E108B5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860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12" name="rag-flow-node-3">
            <a:extLst xmlns:a="http://schemas.openxmlformats.org/drawingml/2006/main">
              <a:ext uri="{FF2B5EF4-FFF2-40B4-BE49-F238E27FC236}">
                <a16:creationId xmlns:a16="http://schemas.microsoft.com/office/drawing/2014/main" id="{E9EB3E91-EA68-4412-9B48-243167E0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480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3" name="rag-flow-label-3">
            <a:extLst xmlns:a="http://schemas.openxmlformats.org/drawingml/2006/main">
              <a:ext uri="{FF2B5EF4-FFF2-40B4-BE49-F238E27FC236}">
                <a16:creationId xmlns:a16="http://schemas.microsoft.com/office/drawing/2014/main" id="{18B9E1E4-9B4A-4D54-A093-554ECF60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2099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RELEVANT RETRIEVAL</a:t>
            </a:r>
          </a:p>
        </p:txBody>
      </p:sp>
      <p:sp>
        <p:nvSpPr>
          <p:cNvPr id="14" name="rag-flow-arrow-3">
            <a:extLst xmlns:a="http://schemas.openxmlformats.org/drawingml/2006/main">
              <a:ext uri="{FF2B5EF4-FFF2-40B4-BE49-F238E27FC236}">
                <a16:creationId xmlns:a16="http://schemas.microsoft.com/office/drawing/2014/main" id="{886B2BAE-6BB5-43A3-BBE2-08DFA076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↓</a:t>
            </a:r>
          </a:p>
        </p:txBody>
      </p:sp>
      <p:sp>
        <p:nvSpPr>
          <p:cNvPr id="15" name="rag-flow-node-4">
            <a:extLst xmlns:a="http://schemas.openxmlformats.org/drawingml/2006/main">
              <a:ext uri="{FF2B5EF4-FFF2-40B4-BE49-F238E27FC236}">
                <a16:creationId xmlns:a16="http://schemas.microsoft.com/office/drawing/2014/main" id="{9CDBB6FC-8E14-48BF-932F-AF73B417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38600"/>
            <a:ext cx="40005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  <a:prstDash val="solid"/>
          </a:ln>
        </p:spPr>
      </p:sp>
      <p:sp>
        <p:nvSpPr>
          <p:cNvPr id="16" name="rag-flow-label-4">
            <a:extLst xmlns:a="http://schemas.openxmlformats.org/drawingml/2006/main">
              <a:ext uri="{FF2B5EF4-FFF2-40B4-BE49-F238E27FC236}">
                <a16:creationId xmlns:a16="http://schemas.microsoft.com/office/drawing/2014/main" id="{B4600567-1D19-4E5F-B015-7797732C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200525"/>
            <a:ext cx="365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SOURCE-LINKED SUMMARY</a:t>
            </a:r>
          </a:p>
        </p:txBody>
      </p:sp>
      <p:sp>
        <p:nvSpPr>
          <p:cNvPr id="17" name="footer-4">
            <a:extLst xmlns:a="http://schemas.openxmlformats.org/drawingml/2006/main">
              <a:ext uri="{FF2B5EF4-FFF2-40B4-BE49-F238E27FC236}">
                <a16:creationId xmlns:a16="http://schemas.microsoft.com/office/drawing/2014/main" id="{DB91B43A-2941-4777-AB37-7B0E61EB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AMD AI DevMaster Hackathon 2026  |  Track 2  |  4</a:t>
            </a:r>
          </a:p>
        </p:txBody>
      </p:sp>
    </p:spTree>
    <p:extLst>
      <p:ext uri="{BB962C8B-B14F-4D97-AF65-F5344CB8AC3E}">
        <p14:creationId xmlns:p14="http://schemas.microsoft.com/office/powerpoint/2010/main" val="16303656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EF05787A-E07B-4E02-B2A0-A552B826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5A9E527A-746A-450B-8DAC-5A52D9CB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B878DFD8-9577-493C-8288-73CEB512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3DC31B89-C363-4EE6-80DA-411CA161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57ECAC37-ADB7-4094-AAFF-7483F62E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AMD Radeon Cloud turns the model endpoint into a controlled part of the workflow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CAFB54-6F66-4EC8-9A92-1D46C12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served model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DB93E39-ED29-4AC4-91C2-6944B045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average end-to-end
latency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6106E66C-7177-4D9D-B119-DE69C2E3A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99479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completion rate
(128-token runs)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FB219472-ADAC-4E2B-9BD6-76CE3170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Qwen3-14B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85E27195-8875-41C1-AD7B-B6456BC5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14.15 tok/s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6640628-3F89-4E72-AAE8-DBFAFBFE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9.04 s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7A78663-3FCB-499D-88F0-5880072B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Deployment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dedicated AMD Radeon Cloud GPU instance serves Qwen/Qwen3-14B through ROCm 7.2.1, vLLM 0.16.0, and an OpenAI-compatible interface.</a:t>
            </a:r>
          </a:p>
        </p:txBody>
      </p:sp>
      <p:sp>
        <p:nvSpPr>
          <p:cNvPr id="13" name="footer-5">
            <a:extLst xmlns:a="http://schemas.openxmlformats.org/drawingml/2006/main">
              <a:ext uri="{FF2B5EF4-FFF2-40B4-BE49-F238E27FC236}">
                <a16:creationId xmlns:a16="http://schemas.microsoft.com/office/drawing/2014/main" id="{955D6517-6A7E-4BFA-95D9-56B13C03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AMD AI DevMaster Hackathon 2026  |  Track 2  |  5</a:t>
            </a:r>
          </a:p>
        </p:txBody>
      </p:sp>
    </p:spTree>
    <p:extLst>
      <p:ext uri="{BB962C8B-B14F-4D97-AF65-F5344CB8AC3E}">
        <p14:creationId xmlns:p14="http://schemas.microsoft.com/office/powerpoint/2010/main" val="6375463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E44F33C-1945-45B4-A0DE-2A949871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07908AB-74C1-449C-879B-6C867024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demo follows a developer from a new request to recoverable project context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0B8492D-74A8-483C-9672-14F01FCDD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1. Discover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Sync a new Codex conversation and identify a candidate work item.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27E9908-F008-4858-A81B-B388E6E0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 Trace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the originating conversation to recall the requirement and goal.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1E9E5D74-CC22-42A2-9341-E18673B3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3. Continue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Export a continuation prompt for another Code Agent when needed.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0C1AA51-0316-48A0-88B2-914443B6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4. Assess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Mark confirmed work complete and combine it with Git and file evidence.</a:t>
            </a:r>
          </a:p>
        </p:txBody>
      </p:sp>
      <p:sp>
        <p:nvSpPr>
          <p:cNvPr id="7" name="footer-6">
            <a:extLst xmlns:a="http://schemas.openxmlformats.org/drawingml/2006/main">
              <a:ext uri="{FF2B5EF4-FFF2-40B4-BE49-F238E27FC236}">
                <a16:creationId xmlns:a16="http://schemas.microsoft.com/office/drawing/2014/main" id="{2C2CA2E7-8B62-4BBB-A820-BBD6EFA3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AMD AI DevMaster Hackathon 2026  |  Track 2  |  6</a:t>
            </a:r>
          </a:p>
        </p:txBody>
      </p:sp>
    </p:spTree>
    <p:extLst>
      <p:ext uri="{BB962C8B-B14F-4D97-AF65-F5344CB8AC3E}">
        <p14:creationId xmlns:p14="http://schemas.microsoft.com/office/powerpoint/2010/main" val="250274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40065AE3-5C46-40B1-A475-032A535E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Recover context.
Keep building.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8D02253-6097-4F80-8178-F3A1E0B1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Local-first workspace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Evidence-grounded analysis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AMD Radeon Cloud inference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9DAF4E0-9591-4325-AE8F-5AE76504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 ASSISTANT</a:t>
            </a:r>
          </a:p>
        </p:txBody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05686843-B590-4D88-B507-FC74DBFF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667085"/>
                </a:solidFill>
              </a:defRPr>
            </a:pPr>
            <a:r>
              <a:rPr sz="975">
                <a:solidFill>
                  <a:srgbClr val="667085"/>
                </a:solidFill>
              </a:rPr>
              <a:t>AMD AI DevMaster Hackathon 2026  |  Track 2  |  7</a:t>
            </a:r>
          </a:p>
        </p:txBody>
      </p:sp>
    </p:spTree>
    <p:extLst>
      <p:ext uri="{BB962C8B-B14F-4D97-AF65-F5344CB8AC3E}">
        <p14:creationId xmlns:p14="http://schemas.microsoft.com/office/powerpoint/2010/main" val="2723544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2026-08-06T08:56:50.4520000Z</dcterms:created>
  <dcterms:modified xsi:type="dcterms:W3CDTF">2026-08-06T08:56:50.4520000Z</dcterms:modified>
</coreProperties>
</file>