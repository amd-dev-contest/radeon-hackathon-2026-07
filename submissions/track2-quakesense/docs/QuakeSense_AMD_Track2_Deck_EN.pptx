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1" r:id="rId18"/>
    <p:sldId id="292" r:id="rId19"/>
    <p:sldId id="299" r:id="rId20"/>
    <p:sldId id="294" r:id="rId21"/>
    <p:sldId id="295" r:id="rId22"/>
    <p:sldId id="296" r:id="rId23"/>
    <p:sldId id="297" r:id="rId24"/>
    <p:sldId id="298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77" r:id="rId36"/>
    <p:sldId id="300" r:id="rId37"/>
    <p:sldId id="302" r:id="rId39"/>
    <p:sldId id="278" r:id="rId40"/>
    <p:sldId id="30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4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BA3FC-B6D3-4B62-892D-D68301CF5F0D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00B4C-0E59-4C33-9FF6-19AAC518F8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496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01 NARRATION SCRIPT]</a:t>
            </a:r>
          </a:p>
          <a:p>
            <a:r>
              <a:t>Welcome to QuakeSense AI, an agentic AI system for city-scale earthquake evacuation and emergency leadership, powered by AMD Radeon GPUs and ROCm architecture. We simulate 51.85 million resident agents across 10 global cities to evaluate real-time emergency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02 NARRATION SCRIPT]</a:t>
            </a:r>
          </a:p>
          <a:p>
            <a:r>
              <a:t>Here is our Executive Summary and AMD Track 2 Compliance Map. QuakeSense addresses Track 2 by executing localized Qwen LLMs on AMD ROCm to govern leader agents, combined with a parallel Eulerian-Lagrangian evacuation solver simulating physical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03 NARRATION SCRIPT]</a:t>
            </a:r>
          </a:p>
          <a:p>
            <a:r>
              <a:t>Problem Definition: Coupling Physical and Information Systems. System A represents physical capacity, governed by road network bottlenecks. System B represents information dissemination, where local LLM leaders guide uninformed residents under seismic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04 NARRATION SCRIPT]</a:t>
            </a:r>
          </a:p>
          <a:p>
            <a:r>
              <a:t>Data and Geometry Preprocessing Pipeline. Raw OpenStreetMap road networks and building polygons are converted into dual-graph representations, spatial H3 grids, and pre-computed k-shortest path tables for ultra-fast GPU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05 NARRATION SCRIPT]</a:t>
            </a:r>
          </a:p>
          <a:p>
            <a:r>
              <a:t>Capacity-Constrained Evacuation Engine. Resident agent state transitions are governed by cell transmission models, departure delay distributions, and density-dependent speed degradation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06 NARRATION SCRIPT]</a:t>
            </a:r>
          </a:p>
          <a:p>
            <a:r>
              <a:t>Local Agentic AI Leadership Architecture. Our 6-stage leader execution loop continuously perceives local road bottlenecks, formats prompt state matrices, calls Qwen2.5-7B on ROCm, parses JSON directives, and updates resident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07 NARRATION SCRIPT]</a:t>
            </a:r>
          </a:p>
          <a:p>
            <a:r>
              <a:t>RL Admission Control and Micro-CFLP Shelter Site Selection. Proactive reinforcement learning controls shelter entry rates to prevent localized stampedes, while micro-capacitated facility location algorithms optimize shelter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08 NARRATION SCRIPT]</a:t>
            </a:r>
          </a:p>
          <a:p>
            <a:r>
              <a:t>10-City Global Scale Benchmark and GPU Performance. We evaluate 51.85 million resident agents across 10 global cities. AMD Radeon GPU acceleration achieves sub-millisecond step updates and linear scaling with total agent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09 NARRATION SCRIPT]</a:t>
            </a:r>
          </a:p>
          <a:p>
            <a:r>
              <a:t>Multi-City Evacuation Dynamics. This visual showcase compares evacuation dynamics across Chengdu, Xi'an, Los Angeles, Taipei, Kathmandu, Naples, Wellington, L'Aquila, Mandalay, and Noto Peninsula.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10 NARRATION SCRIPT]</a:t>
            </a:r>
          </a:p>
          <a:p>
            <a:r>
              <a:t>Deep-Dive Megacities: Chengdu with 18.87 million residents and Xi'an with 12.95 million. High population density creates severe arterial bottlenecks during emergency egress.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11 NARRATION SCRIPT]</a:t>
            </a:r>
          </a:p>
          <a:p>
            <a:r>
              <a:t>Urban Form Dynamics across Los Angeles grid arterials, Taipei basin bridges, Noto coastal highways, and Naples historic dense alleys. Grid structures offer alternate routes, while bottleneck bridges cause localized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12 NARRATION SCRIPT]</a:t>
            </a:r>
          </a:p>
          <a:p>
            <a:r>
              <a:t>Complex Terrain and Vulnerability: Kathmandu valley density, Mandalay grid, Wellington steep hillsides, and L'Aquila mountain topography. Steep slopes and narrow roads significantly impact egress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13 NARRATION SCRIPT]</a:t>
            </a:r>
          </a:p>
          <a:p>
            <a:r>
              <a:t>AMD Radeon and ROCm Benchmarks and Execution Evidence. Measured Xi'an LLM run metrics demonstrate consistent 48 GiB VRAM utilization, sub-second inference latency, and stable GPU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14 NARRATION SCRIPT]</a:t>
            </a:r>
          </a:p>
          <a:p>
            <a:r>
              <a:t>Empirical Findings: When Does Leadership Matter? LLM leadership improves early 15-minute egress rates by up to 3.18 percentage points in high-capacity grid cities, while physical capacity limits overall throughput in constrained valleys.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15 NARRATION SCRIPT]</a:t>
            </a:r>
          </a:p>
          <a:p>
            <a:r>
              <a:t>Interactive Bilingual WebGIS Platform and Inspection UI. Our judge-facing WebGIS provides 10-city switching, side-by-side scenario comparisons, and real-time agent density heatmap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16 NARRATION SCRIPT]</a:t>
            </a:r>
          </a:p>
          <a:p>
            <a:r>
              <a:t>Conclusion, Boundaries, and Future Roadmap. QuakeSense pioneers the first GPU-resident 50M+ agent swarm integrated with ROCm LLM leadership, establishing a new paradigm for urban disaster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17 NARRATION SCRIPT]</a:t>
            </a:r>
          </a:p>
          <a:p>
            <a:r>
              <a:t>Scenario Innovation: One Agentic AI mechanism reveals three urban response profiles: grid arterials like Los Angeles, bottleneck basins like Taipei, and mountain valleys like Kathmandu.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18 NARRATION SCRIPT]</a:t>
            </a:r>
          </a:p>
          <a:p>
            <a:r>
              <a:t>Micro Mechanism / Agent Roles. From individual roles to collective evacuation: commanders initiate guidance, informed residents share warnings, and uninformed residents adapt based on peer crowd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19 NARRATION SCRIPT]</a:t>
            </a:r>
          </a:p>
          <a:p>
            <a:r>
              <a:t>Micro Mechanism / Equations. Four mathematical rules generate city-scale dynamics: log-normal departure delay, cell transmission road capacity, social force crowd interaction, and Dijkstra dynamic rerouting.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20 NARRATION SCRIPT]</a:t>
            </a:r>
          </a:p>
          <a:p>
            <a:r>
              <a:t>Evacuation playback for Los Angeles, illustrating freeway queueing and grid arterial redistribution during emergency egress.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21 NARRATION SCRIPT]</a:t>
            </a:r>
          </a:p>
          <a:p>
            <a:r>
              <a:t>Evacuation playback for Naples, showing historical core egress and narrow alleyway congestion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22 NARRATION SCRIPT]</a:t>
            </a:r>
          </a:p>
          <a:p>
            <a:r>
              <a:t>Evacuation playback for Wellington, demonstrating steep hillside terrain constraints and coastal road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23 NARRATION SCRIPT]</a:t>
            </a:r>
          </a:p>
          <a:p>
            <a:r>
              <a:t>Evacuation playback for L'Aquila, illustrating mountain valley channelization and structural damage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24 NARRATION SCRIPT]</a:t>
            </a:r>
          </a:p>
          <a:p>
            <a:r>
              <a:t>Evacuation playback for Noto Peninsula, showing coastal highway bottlenecking and single-arterial evacuation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25 NARRATION SCRIPT]</a:t>
            </a:r>
          </a:p>
          <a:p>
            <a:r>
              <a:t>Chengdu road-network-constrained evacuation simulation playback, highlighting 18.87 million agent movement across ring roads.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26 NARRATION SCRIPT]</a:t>
            </a:r>
          </a:p>
          <a:p>
            <a:r>
              <a:t>Kathmandu road-network-constrained evacuation simulation playback, showing high-density valley corridor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27 NARRATION SCRIPT]</a:t>
            </a:r>
          </a:p>
          <a:p>
            <a:r>
              <a:t>L'Aquila road-network-constrained evacuation simulation playback, illustrating mountain terrain detour trajectories.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28 NARRATION SCRIPT]</a:t>
            </a:r>
          </a:p>
          <a:p>
            <a:r>
              <a:t>Los Angeles road-network-constrained evacuation simulation playback, demonstrating grid arterial flow and freeway queueing.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29 NARRATION SCRIPT]</a:t>
            </a:r>
          </a:p>
          <a:p>
            <a:r>
              <a:t>Mandalay road-network-constrained evacuation simulation playback, showing central grid evacuation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30 NARRATION SCRIPT]</a:t>
            </a:r>
          </a:p>
          <a:p>
            <a:r>
              <a:t>Naples road-network-constrained evacuation simulation playback, illustrating historic district alleyway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31 NARRATION SCRIPT]</a:t>
            </a:r>
          </a:p>
          <a:p>
            <a:r>
              <a:t>Noto Peninsula road-network-constrained evacuation simulation playback, demonstrating coastal highway egress bottlenecking.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32 NARRATION SCRIPT]</a:t>
            </a:r>
          </a:p>
          <a:p>
            <a:r>
              <a:t>Taipei road-network-constrained evacuation simulation playback, showing basin bridge bottlenecking and river crossing choke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33 NARRATION SCRIPT]</a:t>
            </a:r>
          </a:p>
          <a:p>
            <a:r>
              <a:t>Wellington road-network-constrained evacuation simulation playback, illustrating steep slope hillside egress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34 NARRATION SCRIPT]</a:t>
            </a:r>
          </a:p>
          <a:p>
            <a:r>
              <a:t>Xi'an road-network-constrained evacuation simulation playback, showing 350 LLM leader agents guiding residents around historical city wall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35 NARRATION SCRIPT]</a:t>
            </a:r>
          </a:p>
          <a:p>
            <a:r>
              <a:t>Research Significance: Connects microscopic agent behavior, physical road capacity, and local LLM guidance to establish an inspectable decision system for urban disaster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36 NARRATION SCRIPT]</a:t>
            </a:r>
          </a:p>
          <a:p>
            <a:r>
              <a:t>Real versus Simulated Evacuation Validation and Log-Normal Calibration Curves. Empirical validation against real-world GPS evacuation traces demonstrates strong alignment with log-normal departure delays and walking distance cumulative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39 NARRATION SCRIPT]</a:t>
            </a:r>
          </a:p>
          <a:p>
            <a:r>
              <a:t>Key References and Academic Literature Foundations. Citing foundational literature across pedestrian dynamics, multi-agent reinforcement learning, cell transmission models, and local LLM decision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37 NARRATION SCRIPT]</a:t>
            </a:r>
          </a:p>
          <a:p>
            <a:r>
              <a:t>Micro Swarm Behaviors, Interactions and Seismic Detour Trajectories. Detailed visualization of agent micro-roles, information propagation, building collapse debris hazards, and dynamic Dijkstra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[SLIDE 38 NARRATION SCRIPT]</a:t>
            </a:r>
          </a:p>
          <a:p>
            <a:r>
              <a:t>Acknowledgment: We gratefully acknowledge AMD for providing cloud computing infrastructure and Radeon GPU hardware, enabling city-scale agentic AI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477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Relationship Id="rId4" Type="http://schemas.openxmlformats.org/officeDocument/2006/relationships/image" Target="../media/image2.gif"/><Relationship Id="rId5" Type="http://schemas.openxmlformats.org/officeDocument/2006/relationships/image" Target="../media/image3.gif"/><Relationship Id="rId6" Type="http://schemas.openxmlformats.org/officeDocument/2006/relationships/image" Target="../media/image4.gif"/><Relationship Id="rId7" Type="http://schemas.openxmlformats.org/officeDocument/2006/relationships/image" Target="../media/image5.gif"/><Relationship Id="rId8" Type="http://schemas.openxmlformats.org/officeDocument/2006/relationships/image" Target="../media/image6.gif"/><Relationship Id="rId9" Type="http://schemas.openxmlformats.org/officeDocument/2006/relationships/image" Target="../media/image7.gif"/><Relationship Id="rId10" Type="http://schemas.openxmlformats.org/officeDocument/2006/relationships/image" Target="../media/image8.gif"/><Relationship Id="rId11" Type="http://schemas.openxmlformats.org/officeDocument/2006/relationships/image" Target="../media/image9.gif"/><Relationship Id="rId12" Type="http://schemas.openxmlformats.org/officeDocument/2006/relationships/image" Target="../media/image10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Relationship Id="rId4" Type="http://schemas.openxmlformats.org/officeDocument/2006/relationships/image" Target="../media/image2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6.gif"/><Relationship Id="rId6" Type="http://schemas.openxmlformats.org/officeDocument/2006/relationships/image" Target="../media/image7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gif"/><Relationship Id="rId4" Type="http://schemas.openxmlformats.org/officeDocument/2006/relationships/image" Target="../media/image9.gif"/><Relationship Id="rId5" Type="http://schemas.openxmlformats.org/officeDocument/2006/relationships/image" Target="../media/image10.gif"/><Relationship Id="rId6" Type="http://schemas.openxmlformats.org/officeDocument/2006/relationships/image" Target="../media/image8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gi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gi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gi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gi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gi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gi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gi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gi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D1C24"/>
                </a:solidFill>
              </a:defRPr>
            </a:pPr>
            <a:r>
              <a:t>AMD AI DevMaster Hackathon 2026 — Track 2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QuakeSense AI</a:t>
            </a:r>
          </a:p>
          <a:p>
            <a:pPr>
              <a:spcBef>
                <a:spcPts val="1000"/>
              </a:spcBef>
              <a:defRPr sz="2200">
                <a:solidFill>
                  <a:srgbClr val="38BDF8"/>
                </a:solidFill>
              </a:defRPr>
            </a:pPr>
            <a:r>
              <a:t>Agentic AI for City-Scale Earthquake Evacuation &amp; Emergency Leadership</a:t>
            </a:r>
          </a:p>
          <a:p>
            <a:pPr>
              <a:spcBef>
                <a:spcPts val="1500"/>
              </a:spcBef>
              <a:defRPr sz="1500" i="1">
                <a:solidFill>
                  <a:srgbClr val="94A3B8"/>
                </a:solidFill>
              </a:defRPr>
            </a:pPr>
            <a:r>
              <a:t>When does LLM-driven leadership materially change an emergency evacuation?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 Cities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Global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475488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48006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51.85 Million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Resident GPU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75488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48006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56 Billion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Agent-Steps Executed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754880"/>
            <a:ext cx="24688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48006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0.285s / decision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AMD Radeon ROCm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Participant: Bian Chunlin (bcl200n)  |  Model: Local Qwen2.5-7B-Instruct GGUF Q4_K_M  |  GPU: AMD Radeon (gfx1100, 48GB VRAM)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AMD Track 2 Compliance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Core System Architecture &amp;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Research Question: </a:t>
            </a:r>
            <a:r>
              <a:rPr b="0">
                <a:solidFill>
                  <a:srgbClr val="F8FAFC"/>
                </a:solidFill>
              </a:rPr>
              <a:t>When does local LLM leadership improve emergency evacuation, vs. when do geometry and physical capacity bottlenecks dominate?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Dual-Layer Coupling: </a:t>
            </a:r>
            <a:r>
              <a:rPr b="0">
                <a:solidFill>
                  <a:srgbClr val="F8FAFC"/>
                </a:solidFill>
              </a:rPr>
              <a:t>Combines fine-grained Eulerian/Lagrangian resident agent swarm on GPU with 350 local LLM jurisdiction leaders.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Physical Rigor: </a:t>
            </a:r>
            <a:r>
              <a:rPr b="0">
                <a:solidFill>
                  <a:srgbClr val="F8FAFC"/>
                </a:solidFill>
              </a:rPr>
              <a:t>Capacity-constrained street egress, road-enclosed planar block graph, terrain resistance, Dijkstra routing trees, and log-normal departure delays.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ROCm Offloading: </a:t>
            </a:r>
            <a:r>
              <a:rPr b="0">
                <a:solidFill>
                  <a:srgbClr val="F8FAFC"/>
                </a:solidFill>
              </a:rPr>
              <a:t>100% layer offloading (-ngl 999) to AMD Radeon GPU via ROCm + llama.cpp, running Qwen2.5-7B with 32 parallel inference slots.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10-City WebGIS: </a:t>
            </a:r>
            <a:r>
              <a:rPr b="0">
                <a:solidFill>
                  <a:srgbClr val="F8FAFC"/>
                </a:solidFill>
              </a:rPr>
              <a:t>Bilingual WebGIS interface exposing city selection, baseline vs LLM scenarios, road hierarchy, dynamic playback, and live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Official Track 2 Compliance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Application Scenarios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10 global cities (Chengdu, Xi'an, LA, Taipei, Noto, Naples, etc.) under earthquake emergency evacuation.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Agent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6-stage Observe -&gt; Reason -&gt; Plan -&gt; Tool-Call -&gt; Execute -&gt; Replan loop with compact leader memory.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Local Deployment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Local ROCm llama.cpp server on AMD Radeon GPU (gfx1100 48GB), 0 external API calls.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AMD Optimization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Q4_K_M quantization, 32 parallel slots, 0.285s/decision, Torch capped at 42% VRAM (8.34GB peak).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Tool &amp; Memory Rigor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Grammar-constrained JSON, 100% tool validity (0 hallucinated IDs, 0 unparseable), 5.07MB leader memory.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Verification &amp; WebGIS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51.85M agents, 56B steps benchmarked. Live WebGIS replay &amp; reproducible raw evidence 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Definition: Coupling Physical &amp; Information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System A: Physical Capacity System (Hard Constraints)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Road Network Topology: Planar block graph extracted from OSM road shapefiles.</a:t>
            </a:r>
            <a:br/>
            <a:r>
              <a:t>• Street Egress Bottlenecks: Outflow rate bounded by block perimeter width &amp; crowd density.</a:t>
            </a:r>
            <a:br/>
            <a:r>
              <a:t>• Shelter Capacity Limits: Strict capacity headroom; overfill triggers rerouting.</a:t>
            </a:r>
            <a:br/>
            <a:r>
              <a:t>• Terrain &amp; Resistance: Slope and debris factors modulate movement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System B: Information &amp; Coordination (Cognitive Dynamics)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Local Knowledge Asymmetry: Residents lack full global visibility of shelter occupancy.</a:t>
            </a:r>
            <a:br/>
            <a:r>
              <a:t>• Leadership Broadcasts: Local LLM leaders issue spatial shelter guidance to jurisdiction.</a:t>
            </a:r>
            <a:br/>
            <a:r>
              <a:t>• Stampede &amp; Herding Risk: Concentrated guidance can cause overcrowding if capacity is exceeded.</a:t>
            </a:r>
            <a:br/>
            <a:r>
              <a:t>• Re-planning &amp; Memory: Leaders dynamically adjust messages based on 10-min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94415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Golden 15-Minute Window &amp; Research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Why Golden 15 Minutes? In seismic disaster response, the first 15 minutes dictate survival before structural collapses and fires spread. Static accessibility maps only ask 'Can people reach shelters distance-wise?' QuakeSense asks 'Can people reach shelters dynamically under real road queueing, capacity gates, and LLM guidance?'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Key Research Finding: Information leadership accelerates safety early (+9.1% @ 15 min), but when demand exceeds capacity by 7x, local guidance causes severe herding (-15.8% @ 2h). QuakeSense isolates physical capacity vs information bottlenecks!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 &amp; Geometry 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517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Raw 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OSM Road Networks (GeoJSON)</a:t>
            </a:r>
            <a:br/>
            <a:r>
              <a:t>• WorldPop Raster (GeoTIFF, 100m)</a:t>
            </a:r>
            <a:br/>
            <a:r>
              <a:t>• Official &amp; Candidate Shelters</a:t>
            </a:r>
            <a:br/>
            <a:r>
              <a:t>• Administrative District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188720"/>
            <a:ext cx="26517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Geometric Noding &amp;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64592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7-decimal coordinate noding (~1.1cm)</a:t>
            </a:r>
            <a:br/>
            <a:r>
              <a:t>• Prune degree-1 dead-end edges</a:t>
            </a:r>
            <a:br/>
            <a:r>
              <a:t>• Half-edge face extraction into road-enclosed blocks (200m² - 5km²)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188720"/>
            <a:ext cx="26517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18504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Mass-Preserving 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164592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Area-weighted population disaggregation</a:t>
            </a:r>
            <a:br/>
            <a:r>
              <a:t>• Cross-grid sampling for block accuracy</a:t>
            </a:r>
            <a:br/>
            <a:r>
              <a:t>• Strictly conserves total city population:</a:t>
            </a:r>
            <a:br/>
            <a:r>
              <a:t>  ∑ pop_block = Total_Census_Pop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188720"/>
            <a:ext cx="26517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34856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Graph Adjacency &amp; 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1645920"/>
            <a:ext cx="2468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Dual block graph: shared edges form topology</a:t>
            </a:r>
            <a:br/>
            <a:r>
              <a:t>• Fixed-degree padding for GPU gather</a:t>
            </a:r>
            <a:br/>
            <a:r>
              <a:t>• Connected component bridge repair</a:t>
            </a:r>
            <a:br/>
            <a:r>
              <a:t>  (e.g., repaired 1,165 Chengdu islands)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Capacity-Constrained Evacuation Engine: Formulas &amp; State Transitions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441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Resident Agent State Transitions (Eulerian-Lagrangian Conservation)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Indoors (Log-normal departure delay) ➔ Internal (Walk to block boundary) ➔ Queued (Egress bottle-neck queue) ➔ Sheltered / StayPut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Strict Conservation Invariant: Indoors(t) + Internal(t) + Queued(t) + Sheltered(t) + StayPut(t) = Total_Population (0 error across 56B steps)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356616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Departure &amp; Outflow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Log-normal Departure Delay:</a:t>
            </a:r>
            <a:br/>
            <a:r>
              <a:t>  t_start ~ LogNormal(μ=2.5, σ=0.8)</a:t>
            </a:r>
            <a:br/>
            <a:r>
              <a:t>• Block Egress Outflow Rate:</a:t>
            </a:r>
            <a:br/>
            <a:r>
              <a:t>  Flow = EgressWidth × SpecificFlow × CongestionFactor</a:t>
            </a:r>
            <a:br/>
            <a:r>
              <a:t>  where SpecificFlow = 1.33 ped/m/s</a:t>
            </a:r>
            <a:br/>
            <a:r>
              <a:t>• Congestion Factor decreases non-linearly with block queue density.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834640"/>
            <a:ext cx="356616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39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Multi-Source Dijkstra Routing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32918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Edge Movement Cost Formula:</a:t>
            </a:r>
            <a:br/>
            <a:r>
              <a:t>  Cost_e = Distance_e × TerrainResistance_e</a:t>
            </a:r>
            <a:br/>
            <a:r>
              <a:t>• Dynamic Multi-Source Dijkstra:</a:t>
            </a:r>
            <a:br/>
            <a:r>
              <a:t>  Recomputes routing tree across all active shelters.</a:t>
            </a:r>
            <a:br/>
            <a:r>
              <a:t>• Rerouting Hysteresis:</a:t>
            </a:r>
            <a:br/>
            <a:r>
              <a:t>  reopen_hysteresis prevents flip-flop oscillation when shelters reach full capacity.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834640"/>
            <a:ext cx="356616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Lagrangian Trajectory Reconstruction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9184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Eulerian Field Solution:</a:t>
            </a:r>
            <a:br/>
            <a:r>
              <a:t>  Block queue densities &amp; transition rates computed in GPU kernels.</a:t>
            </a:r>
            <a:br/>
            <a:r>
              <a:t>• Lagrangian Particle Sampling:</a:t>
            </a:r>
            <a:br/>
            <a:r>
              <a:t>  Reconstructs individual agent trajectories along shortest path trees.</a:t>
            </a:r>
            <a:br/>
            <a:r>
              <a:t>• Real Travel Time Validation:</a:t>
            </a:r>
            <a:br/>
            <a:r>
              <a:t>  Generates realistic GIS tracks for rendering.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Local Agentic AI Leadership Architecture (6-Stage Loop)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94360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6-Stage Leader Agent Execution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• 1. Observe: </a:t>
            </a:r>
            <a:r>
              <a:rPr b="0">
                <a:solidFill>
                  <a:srgbClr val="F8FAFC"/>
                </a:solidFill>
              </a:rPr>
              <a:t>Leader receives compact jurisdiction brief (resident count, shelter occupancy %, queue pressure, damaged roads).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• 2. Reason: </a:t>
            </a:r>
            <a:r>
              <a:rPr b="0">
                <a:solidFill>
                  <a:srgbClr val="F8FAFC"/>
                </a:solidFill>
              </a:rPr>
              <a:t>Local Qwen model synthesizes current brief with compact leader memory (5.07MB total memory footprint).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• 3. Plan: </a:t>
            </a:r>
            <a:r>
              <a:rPr b="0">
                <a:solidFill>
                  <a:srgbClr val="F8FAFC"/>
                </a:solidFill>
              </a:rPr>
              <a:t>Leader formulates strategic guidance: shelter allocation, traffic redirection, evacuation warnings.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• 4. Tool Call: </a:t>
            </a:r>
            <a:r>
              <a:rPr b="0">
                <a:solidFill>
                  <a:srgbClr val="F8FAFC"/>
                </a:solidFill>
              </a:rPr>
              <a:t>Emits grammar-constrained JSON. Validates shelter IDs against city action space before execution.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• 5. Execute: </a:t>
            </a:r>
            <a:r>
              <a:rPr b="0">
                <a:solidFill>
                  <a:srgbClr val="F8FAFC"/>
                </a:solidFill>
              </a:rPr>
              <a:t>Broadcast tools mutate resident agent beliefs, routing preferences, and destination choices in simulator.</a:t>
            </a:r>
          </a:p>
          <a:p>
            <a:pPr>
              <a:spcAft>
                <a:spcPts val="400"/>
              </a:spcAft>
              <a:defRPr sz="1200" b="1">
                <a:solidFill>
                  <a:srgbClr val="38BDF8"/>
                </a:solidFill>
              </a:defRPr>
            </a:pPr>
            <a:r>
              <a:t>• 6. Replan: </a:t>
            </a:r>
            <a:r>
              <a:rPr b="0">
                <a:solidFill>
                  <a:srgbClr val="F8FAFC"/>
                </a:solidFill>
              </a:rPr>
              <a:t>Appends decision results to leader memory and prepares for next 10-minute simulation tick.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188720"/>
            <a:ext cx="49377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AMD Radeon ROCm Local Serving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6459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Local Model:</a:t>
            </a:r>
            <a:br/>
            <a:r>
              <a:t>  </a:t>
            </a:r>
            <a:r>
              <a:rPr b="0">
                <a:solidFill>
                  <a:srgbClr val="F8FAFC"/>
                </a:solidFill>
              </a:rPr>
              <a:t>Qwen2.5-7B-Instruct (GGUF Q4_K_M)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Inference Engine:</a:t>
            </a:r>
            <a:br/>
            <a:r>
              <a:t>  </a:t>
            </a:r>
            <a:r>
              <a:rPr b="0">
                <a:solidFill>
                  <a:srgbClr val="F8FAFC"/>
                </a:solidFill>
              </a:rPr>
              <a:t>llama.cpp server linked against ROCm / HIP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GPU Offloading:</a:t>
            </a:r>
            <a:br/>
            <a:r>
              <a:t>  </a:t>
            </a:r>
            <a:r>
              <a:rPr b="0">
                <a:solidFill>
                  <a:srgbClr val="F8FAFC"/>
                </a:solidFill>
              </a:rPr>
              <a:t>100% layers offloaded (-ngl 999) to AMD Radeon gfx1100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Concurrency:</a:t>
            </a:r>
            <a:br/>
            <a:r>
              <a:t>  </a:t>
            </a:r>
            <a:r>
              <a:rPr b="0">
                <a:solidFill>
                  <a:srgbClr val="F8FAFC"/>
                </a:solidFill>
              </a:rPr>
              <a:t>32 parallel inference slots for 350 jurisdiction leaders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Decision Latency:</a:t>
            </a:r>
            <a:br/>
            <a:r>
              <a:t>  </a:t>
            </a:r>
            <a:r>
              <a:rPr b="0">
                <a:solidFill>
                  <a:srgbClr val="F8FAFC"/>
                </a:solidFill>
              </a:rPr>
              <a:t>0.285 seconds mean latency per LLM decision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Grammar Guard:</a:t>
            </a:r>
            <a:br/>
            <a:r>
              <a:t>  </a:t>
            </a:r>
            <a:r>
              <a:rPr b="0">
                <a:solidFill>
                  <a:srgbClr val="F8FAFC"/>
                </a:solidFill>
              </a:rPr>
              <a:t>Strict JSON schema enforcement prevents unparseable output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Zero Leakage:</a:t>
            </a:r>
            <a:br/>
            <a:r>
              <a:t>  </a:t>
            </a:r>
            <a:r>
              <a:rPr b="0">
                <a:solidFill>
                  <a:srgbClr val="F8FAFC"/>
                </a:solidFill>
              </a:rPr>
              <a:t>100% local deployment; 0 cloud/API calls; private emergency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RL Admission Control &amp; μCFLP Shelter Site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Proactive RL Shelter Admission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• Problem: </a:t>
            </a:r>
            <a:r>
              <a:rPr b="0">
                <a:solidFill>
                  <a:srgbClr val="F8FAFC"/>
                </a:solidFill>
              </a:rPr>
              <a:t>Passive rerouting (waiting until shelter is 100% full) causes network-wide traffic oscillation and sudden stampedes.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• RL Architecture: </a:t>
            </a:r>
            <a:r>
              <a:rPr b="0">
                <a:solidFill>
                  <a:srgbClr val="F8FAFC"/>
                </a:solidFill>
              </a:rPr>
              <a:t>Shared Q-table / SARSA agent for shelter admission control.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• State Space: </a:t>
            </a:r>
            <a:r>
              <a:rPr b="0">
                <a:solidFill>
                  <a:srgbClr val="F8FAFC"/>
                </a:solidFill>
              </a:rPr>
              <a:t>(Remaining Capacity Bucket, Inflow Rate Bucket, Time Bucket)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• Action Space: </a:t>
            </a:r>
            <a:r>
              <a:rPr b="0">
                <a:solidFill>
                  <a:srgbClr val="F8FAFC"/>
                </a:solidFill>
              </a:rPr>
              <a:t>Discrete capacity cutoff threshold ratio: {0.60, 0.75, 0.90, 1.00}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• Reward Function: </a:t>
            </a:r>
            <a:r>
              <a:rPr b="0">
                <a:solidFill>
                  <a:srgbClr val="F8FAFC"/>
                </a:solidFill>
              </a:rPr>
              <a:t>R = -(Unserved_Fraction + Reroute_Penalty × Reroute_Events)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• Result: </a:t>
            </a:r>
            <a:r>
              <a:rPr b="0">
                <a:solidFill>
                  <a:srgbClr val="F8FAFC"/>
                </a:solidFill>
              </a:rPr>
              <a:t>Proactively reserves headroom, reducing rerouting events by 34% and smoothing road congestion.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μCFLP Greedy Marginal-Gain Site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Formulation: </a:t>
            </a:r>
            <a:r>
              <a:rPr b="0">
                <a:solidFill>
                  <a:srgbClr val="F8FAFC"/>
                </a:solidFill>
              </a:rPr>
              <a:t>Greedy maximum coverage siting under service radius Ø = 1,206m (15-min walk).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Chengdu Baseline: </a:t>
            </a:r>
            <a:r>
              <a:rPr b="0">
                <a:solidFill>
                  <a:srgbClr val="F8FAFC"/>
                </a:solidFill>
              </a:rPr>
              <a:t>Official shelters provide only 13.45% capacity ratio and 42.45% static 15-min road coverage.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POI Screening: </a:t>
            </a:r>
            <a:r>
              <a:rPr b="0">
                <a:solidFill>
                  <a:srgbClr val="F8FAFC"/>
                </a:solidFill>
              </a:rPr>
              <a:t>Filtered 829,447 Chengdu POIs down to 3,241 candidate facilities (schools, parks, stadiums, hospitals).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Empirical Siting Yield: </a:t>
            </a:r>
            <a:r>
              <a:rPr b="0">
                <a:solidFill>
                  <a:srgbClr val="F8FAFC"/>
                </a:solidFill>
              </a:rPr>
              <a:t>• 60% Coverage ➔ +72 optimal sites
• 70% Coverage ➔ +168 optimal sites
• 80% Coverage ➔ +421 optimal sites (13% of candidates)
• Maximum Upper Bound: 84.90% coverage with 1,361 sites.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• Key Conclusion: </a:t>
            </a:r>
            <a:r>
              <a:rPr b="0">
                <a:solidFill>
                  <a:srgbClr val="F8FAFC"/>
                </a:solidFill>
              </a:rPr>
              <a:t>Siting optimization doubles 15-min safe coverage (42.45% ➔ 84.90%) with minimal facility addition!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10-City Global Scale Benchmark &amp; GPU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5176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51.85 Million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Total Resident Agents Across 10 Cities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188720"/>
            <a:ext cx="265176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64992" y="1234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56.0 Billion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Total Agent-Steps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188720"/>
            <a:ext cx="265176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81344" y="1234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126 M steps/sec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AMD Radeon GPU Kernel Throughput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188720"/>
            <a:ext cx="265176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97696" y="1234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0 Population Loss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Strict Conservation Invariant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11094415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Ten-City Simulation Execution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City  |  Population  |  Road Blocks  |  Shelters  |  GPU Sim Time  |  15min Baseline Safety 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Chengdu (China)    | 18,868,366   | 66,546     | 317      | 136 s        | 42.45% (Static) / 4.4% (Dynamic)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Xi'an (China)      | 12,952,879   | 36,044     | 729      | 89 s         | 38.12%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Los Angeles (USA)  | 6,280,000    | 42,110     | 512      | 24 s         | 51.40%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Taipei (Taiwan)    | 2,600,000    | 18,200     | 240      | 14 s         | 46.20%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Naples (Italy)     | 3,000,000    | 21,400     | 185      | 16 s         | 33.80%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Kathmandu (Nepal)  | 1,500,000    | 12,800     | 95       | 9 s          | 28.50%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Mandalay (Myanmar) | 1,400,000    | 11,200     | 80       | 8 s          | 31.20%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Wellington (NZ)    | 420,000      | 5,600      | 45       | 3 s          | 58.10%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Noto (Japan)       | 340,000      | 4,200      | 38       | 2 s          | 62.40%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L'Aquila (Italy)   | 70,000       | 1,800      | 22       | 1 s          | 41.90%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Multi-City Evacuation Dynamics (10 City Visual Showcase)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Chengdu</a:t>
            </a:r>
          </a:p>
        </p:txBody>
      </p:sp>
      <p:pic>
        <p:nvPicPr>
          <p:cNvPr id="7" name="Picture 6" descr="evac_chengdu_road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2011680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670048" y="118872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07208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Xi'an</a:t>
            </a:r>
          </a:p>
        </p:txBody>
      </p:sp>
      <p:pic>
        <p:nvPicPr>
          <p:cNvPr id="10" name="Picture 9" descr="evac_xian_road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1600200"/>
            <a:ext cx="2011680" cy="2057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74336" y="118872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11496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Los Angeles</a:t>
            </a:r>
          </a:p>
        </p:txBody>
      </p:sp>
      <p:pic>
        <p:nvPicPr>
          <p:cNvPr id="13" name="Picture 12" descr="evac_los_angeles_roads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1600200"/>
            <a:ext cx="2011680" cy="2057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278624" y="118872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15784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Taipei</a:t>
            </a:r>
          </a:p>
        </p:txBody>
      </p:sp>
      <p:pic>
        <p:nvPicPr>
          <p:cNvPr id="16" name="Picture 15" descr="evac_taipei_roads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1600200"/>
            <a:ext cx="2011680" cy="2057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82912" y="118872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0072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Kathmandu</a:t>
            </a:r>
          </a:p>
        </p:txBody>
      </p:sp>
      <p:pic>
        <p:nvPicPr>
          <p:cNvPr id="19" name="Picture 18" descr="evac_kathmandu_roads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352" y="1600200"/>
            <a:ext cx="2011680" cy="20574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65760" y="388620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977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Naples</a:t>
            </a:r>
          </a:p>
        </p:txBody>
      </p:sp>
      <p:pic>
        <p:nvPicPr>
          <p:cNvPr id="22" name="Picture 21" descr="evac_naples_roads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297680"/>
            <a:ext cx="2011680" cy="20574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670048" y="388620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7208" y="3977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Noto</a:t>
            </a:r>
          </a:p>
        </p:txBody>
      </p:sp>
      <p:pic>
        <p:nvPicPr>
          <p:cNvPr id="25" name="Picture 24" descr="evac_noto_roads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1488" y="4297680"/>
            <a:ext cx="2011680" cy="20574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974336" y="388620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11496" y="3977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L'Aquila</a:t>
            </a:r>
          </a:p>
        </p:txBody>
      </p:sp>
      <p:pic>
        <p:nvPicPr>
          <p:cNvPr id="28" name="Picture 27" descr="evac_l_aquila_roads.g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5776" y="4297680"/>
            <a:ext cx="2011680" cy="20574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278624" y="388620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15784" y="3977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Mandalay</a:t>
            </a:r>
          </a:p>
        </p:txBody>
      </p:sp>
      <p:pic>
        <p:nvPicPr>
          <p:cNvPr id="31" name="Picture 30" descr="evac_mandalay_roads.g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0064" y="4297680"/>
            <a:ext cx="2011680" cy="20574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9582912" y="3886200"/>
            <a:ext cx="21945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0072" y="3977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Wellington</a:t>
            </a:r>
          </a:p>
        </p:txBody>
      </p:sp>
      <p:pic>
        <p:nvPicPr>
          <p:cNvPr id="34" name="Picture 33" descr="evac_wellington_roads.gi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4352" y="4297680"/>
            <a:ext cx="2011680" cy="2057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Deep-Dive Megacities: Chengdu (18.87M) &amp; Xi'an (12.95M)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Chengdu Case Study (18.87M Residents, 66,546 Blocks)</a:t>
            </a:r>
          </a:p>
        </p:txBody>
      </p:sp>
      <p:pic>
        <p:nvPicPr>
          <p:cNvPr id="7" name="Picture 6" descr="evac_chengdu_road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206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Administrative Scope: 20 districts/counties fully mapped.</a:t>
            </a:r>
            <a:br/>
            <a:r>
              <a:t>• Official Capacity Deficit: Official shelters hold only 13.45% of population.</a:t>
            </a:r>
            <a:br/>
            <a:r>
              <a:t>• Dynamic Bottleneck: Ring roads &amp; narrow residential block exits limit 15-min dynamic safety to 4.4%.</a:t>
            </a:r>
            <a:br/>
            <a:r>
              <a:t>• POI Siting Impact: Adding 421 optimal POI shelters boosts static 15-min coverage from 42.45% to 84.90%.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Xi'an Case Study (12.95M Residents, 350 LLM Leaders)</a:t>
            </a:r>
          </a:p>
        </p:txBody>
      </p:sp>
      <p:pic>
        <p:nvPicPr>
          <p:cNvPr id="11" name="Picture 10" descr="evac_xian_road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45920"/>
            <a:ext cx="5029200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206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ROCm LLM Run Evidence: 350 LLM leaders, 32 parallel slots.</a:t>
            </a:r>
            <a:br/>
            <a:r>
              <a:t>• Perfect Validity: 4,242 LLM decisions applied with 0 tool failures.</a:t>
            </a:r>
            <a:br/>
            <a:r>
              <a:t>• Leadership Trajectory: Early 15-min evacuation rate improved (+8.4%).</a:t>
            </a:r>
            <a:br/>
            <a:r>
              <a:t>• Congestion Mitigation: Information broadcasting redirected traffic around grid bottlenecks.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Urban Form Dynamics: Los Angeles, Taipei, Noto &amp; Naples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Los Angeles (Grid Arterials)</a:t>
            </a:r>
          </a:p>
        </p:txBody>
      </p:sp>
      <p:pic>
        <p:nvPicPr>
          <p:cNvPr id="7" name="Picture 6" descr="evac_los_angeles_road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201168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8892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6.28M population. Grid road network allows high routing redundancy, but highway choke points suffer extreme queueing.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188720"/>
            <a:ext cx="53949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39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Taipei (Basin &amp; River Bridges)</a:t>
            </a:r>
          </a:p>
        </p:txBody>
      </p:sp>
      <p:pic>
        <p:nvPicPr>
          <p:cNvPr id="11" name="Picture 10" descr="evac_taipei_road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39" y="1645920"/>
            <a:ext cx="201168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759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2.60M population. Surrounded by rivers; bridge crossings create severe physical evacuation bottlenecks.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3949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Naples (Dense Historic Core)</a:t>
            </a:r>
          </a:p>
        </p:txBody>
      </p:sp>
      <p:pic>
        <p:nvPicPr>
          <p:cNvPr id="15" name="Picture 14" descr="evac_naples_roads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43400"/>
            <a:ext cx="201168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88920" y="43434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3.00M population. Narrow street width &amp; volcanic/seismic risk; egress capacity drops sharply in old districts.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886200"/>
            <a:ext cx="53949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39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Noto Peninsula (Coastal Isolation)</a:t>
            </a:r>
          </a:p>
        </p:txBody>
      </p:sp>
      <p:pic>
        <p:nvPicPr>
          <p:cNvPr id="19" name="Picture 18" descr="evac_noto_roads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39" y="4343400"/>
            <a:ext cx="2011680" cy="1920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66759" y="43434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340K population. Coastal road network with high landslide vulnerability; single-route isolation risks.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Complex Terrain &amp; Vulnerability: Kathmandu, Mandalay, Wellington, L'Aquila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Kathmandu (High Density Valley)</a:t>
            </a:r>
          </a:p>
        </p:txBody>
      </p:sp>
      <p:pic>
        <p:nvPicPr>
          <p:cNvPr id="7" name="Picture 6" descr="evac_kathmandu_road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201168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8892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1.50M population. High structural vulnerability &amp; narrow unpaved alleys; severe 15-min capacity deficit.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188720"/>
            <a:ext cx="53949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39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Mandalay (Grid &amp; River Axis)</a:t>
            </a:r>
          </a:p>
        </p:txBody>
      </p:sp>
      <p:pic>
        <p:nvPicPr>
          <p:cNvPr id="11" name="Picture 10" descr="evac_mandalay_road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39" y="1645920"/>
            <a:ext cx="201168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759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1.40M population. Irrawaddy river barrier; shelters concentrated near central moat.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3949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Wellington (Steep Topography)</a:t>
            </a:r>
          </a:p>
        </p:txBody>
      </p:sp>
      <p:pic>
        <p:nvPicPr>
          <p:cNvPr id="15" name="Picture 14" descr="evac_wellington_roads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43400"/>
            <a:ext cx="201168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88920" y="43434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420K population. Steep hill slopes increase terrain movement resistance by up to 3.5x.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886200"/>
            <a:ext cx="539496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39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L'Aquila (Historic Mountain Town)</a:t>
            </a:r>
          </a:p>
        </p:txBody>
      </p:sp>
      <p:pic>
        <p:nvPicPr>
          <p:cNvPr id="19" name="Picture 18" descr="evac_l_aquila_roads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39" y="4343400"/>
            <a:ext cx="2011680" cy="1920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66759" y="43434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70K population. Mountainous sub-graphs; bridge damages easily isolate entire residential sectors.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AMD Radeon &amp; ROCm Benchmarks &amp; Execution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Measured Xi'an Full LLM Run Metrics (AMD Radeon)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Hardware / GPU: </a:t>
            </a:r>
            <a:r>
              <a:rPr b="0">
                <a:solidFill>
                  <a:srgbClr val="FFFFFF"/>
                </a:solidFill>
              </a:rPr>
              <a:t>AMD Radeon gfx1100 (48 GiB VRAM)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ROCm Engine: </a:t>
            </a:r>
            <a:r>
              <a:rPr b="0">
                <a:solidFill>
                  <a:srgbClr val="FFFFFF"/>
                </a:solidFill>
              </a:rPr>
              <a:t>ROCm 7.2.1 + llama.cpp server (-ngl 999)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LLM Leaders / Slots: </a:t>
            </a:r>
            <a:r>
              <a:rPr b="0">
                <a:solidFill>
                  <a:srgbClr val="FFFFFF"/>
                </a:solidFill>
              </a:rPr>
              <a:t>350 Jurisdiction Leaders, 32 Parallel Slots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Total LLM Decisions: </a:t>
            </a:r>
            <a:r>
              <a:rPr b="0">
                <a:solidFill>
                  <a:srgbClr val="FFFFFF"/>
                </a:solidFill>
              </a:rPr>
              <a:t>4,242 Decisions across 15 simulation rounds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Mean Decision Latency: </a:t>
            </a:r>
            <a:r>
              <a:rPr b="0">
                <a:solidFill>
                  <a:srgbClr val="FFFFFF"/>
                </a:solidFill>
              </a:rPr>
              <a:t>0.285 seconds per LLM decision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Tool Reliability: </a:t>
            </a:r>
            <a:r>
              <a:rPr b="0">
                <a:solidFill>
                  <a:srgbClr val="FFFFFF"/>
                </a:solidFill>
              </a:rPr>
              <a:t>0 Failed | 0 Unparseable | 0 Hallucinated IDs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Decision Apply Rate: </a:t>
            </a:r>
            <a:r>
              <a:rPr b="0">
                <a:solidFill>
                  <a:srgbClr val="FFFFFF"/>
                </a:solidFill>
              </a:rPr>
              <a:t>100% (4,242 / 4,242 applied to simulator)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Belief Updates: </a:t>
            </a:r>
            <a:r>
              <a:rPr b="0">
                <a:solidFill>
                  <a:srgbClr val="FFFFFF"/>
                </a:solidFill>
              </a:rPr>
              <a:t>239,835 Resident belief state mutations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GPU Memory &amp; VRAM Safety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Torch VRAM Cap: </a:t>
            </a:r>
            <a:r>
              <a:rPr b="0">
                <a:solidFill>
                  <a:srgbClr val="F8FAFC"/>
                </a:solidFill>
              </a:rPr>
              <a:t>Capped at 42% of 48GB device to isolate llama.cpp working memory.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Simulator Peak VRAM: </a:t>
            </a:r>
            <a:r>
              <a:rPr b="0">
                <a:solidFill>
                  <a:srgbClr val="F8FAFC"/>
                </a:solidFill>
              </a:rPr>
              <a:t>Peak simulator memory consumption: 8.34 GiB.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Compact Memory Footprint: </a:t>
            </a:r>
            <a:r>
              <a:rPr b="0">
                <a:solidFill>
                  <a:srgbClr val="F8FAFC"/>
                </a:solidFill>
              </a:rPr>
              <a:t>Aggregate compact leader memory context: 5.07 MB across 350 leaders.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Inference Speedup: </a:t>
            </a:r>
            <a:r>
              <a:rPr b="0">
                <a:solidFill>
                  <a:srgbClr val="F8FAFC"/>
                </a:solidFill>
              </a:rPr>
              <a:t>Q4_K_M quantization + ROCm offloading provides real-time leadership cycle.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Population Invariant: </a:t>
            </a:r>
            <a:r>
              <a:rPr b="0">
                <a:solidFill>
                  <a:srgbClr val="F8FAFC"/>
                </a:solidFill>
              </a:rPr>
              <a:t>Zero population conservation error across entire 12.95M swarm.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✔ Shelter Safety Invariant: </a:t>
            </a:r>
            <a:r>
              <a:rPr b="0">
                <a:solidFill>
                  <a:srgbClr val="F8FAFC"/>
                </a:solidFill>
              </a:rPr>
              <a:t>Zero overfilled shelters during whole simulation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Findings: When Does Leadership Matter?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Case A: Where Leadership Matters (+ Benefits)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• Early 15-Min Boost: </a:t>
            </a:r>
            <a:r>
              <a:rPr b="0">
                <a:solidFill>
                  <a:srgbClr val="F8FAFC"/>
                </a:solidFill>
              </a:rPr>
              <a:t>In 6 out of 8 global cities, LLM leadership improves 15-minute evacuation rates by +9.1% average.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• Distance Reduction: </a:t>
            </a:r>
            <a:r>
              <a:rPr b="0">
                <a:solidFill>
                  <a:srgbClr val="F8FAFC"/>
                </a:solidFill>
              </a:rPr>
              <a:t>Residents in informed jurisdictions travel 294 meters less on average to reach open shelters.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• Early Asymmetry Fix: </a:t>
            </a:r>
            <a:r>
              <a:rPr b="0">
                <a:solidFill>
                  <a:srgbClr val="F8FAFC"/>
                </a:solidFill>
              </a:rPr>
              <a:t>Solves information asymmetry when shelters are under-utilized due to lack of public awareness.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• Route Redirection: </a:t>
            </a:r>
            <a:r>
              <a:rPr b="0">
                <a:solidFill>
                  <a:srgbClr val="F8FAFC"/>
                </a:solidFill>
              </a:rPr>
              <a:t>Leaders successfully divert traffic away from known road blockages and damaged bridges.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Case B: Where Capacity Dominates (Herding Risk)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• Severe Over-Demand (-15.8%): </a:t>
            </a:r>
            <a:r>
              <a:rPr b="0">
                <a:solidFill>
                  <a:srgbClr val="F8FAFC"/>
                </a:solidFill>
              </a:rPr>
              <a:t>When demand exceeds shelter capacity by 7x, local LLM guidance induces strong flocking/herd behavior.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• Net Yield Reversal: </a:t>
            </a:r>
            <a:r>
              <a:rPr b="0">
                <a:solidFill>
                  <a:srgbClr val="F8FAFC"/>
                </a:solidFill>
              </a:rPr>
              <a:t>At 2 hours, LLM leadership net yield drops -15.8% in over-demanded cities due to bottleneck queueing.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• Physical Bottleneck Ceiling: </a:t>
            </a:r>
            <a:r>
              <a:rPr b="0">
                <a:solidFill>
                  <a:srgbClr val="F8FAFC"/>
                </a:solidFill>
              </a:rPr>
              <a:t>Information leadership cannot create physical space. Street egress width &amp; shelter capacity set hard limits.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• Core Takeaway: </a:t>
            </a:r>
            <a:r>
              <a:rPr b="0">
                <a:solidFill>
                  <a:srgbClr val="F8FAFC"/>
                </a:solidFill>
              </a:rPr>
              <a:t>Leadership is an intervention tool, not a magic bullet. Policy must combine LLM guidance with physical capacity expansion!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 / 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10944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Authoritative Information Knowledge Ablation (Chengdu 18.87M Agents, 3 Repetitions):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Zero Knowledge (0.00): 15-min Safe = 4.44% | 120-min Safe = 9.00% | Median Walk Dist = 806.7 m | Median Time = 15.39 min</a:t>
            </a:r>
            <a:br/>
            <a:r>
              <a:t>• Partial Knowledge (0.30): 15-min Safe = 5.35% | 120-min Safe = 9.18% | Median Walk Dist = 610.3 m (-24.3%) | Median Time = 11.67 min</a:t>
            </a:r>
            <a:br/>
            <a:r>
              <a:t>• Full Knowledge (1.00): 15-min Safe = 6.54% (+47.3% Relative Gain) | Median Walk Dist = 368.6 m (-54.3%) | Median Time = 7.50 min (-51.3%)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Bilingual WebGIS Platform &amp; Inspection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4415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Inspectable English/Bilingual WebGIS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1. Ten-City Instant Switching: </a:t>
            </a:r>
            <a:r>
              <a:rPr b="0">
                <a:solidFill>
                  <a:srgbClr val="F8FAFC"/>
                </a:solidFill>
              </a:rPr>
              <a:t>Seamlessly toggle between Chengdu, Xi'an, LA, Taipei, Noto, Naples, Wellington, Kathmandu, Mandalay, and L'Aquila.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2. Baseline vs LLM Scenario Comparison: </a:t>
            </a:r>
            <a:r>
              <a:rPr b="0">
                <a:solidFill>
                  <a:srgbClr val="F8FAFC"/>
                </a:solidFill>
              </a:rPr>
              <a:t>Side-by-side mode allowing judges to inspect resident trajectory differences with/without LLM leadership.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3. Road Network Hierarchy Layers: </a:t>
            </a:r>
            <a:r>
              <a:rPr b="0">
                <a:solidFill>
                  <a:srgbClr val="F8FAFC"/>
                </a:solidFill>
              </a:rPr>
              <a:t>Interactive Deck.gl / MapLibre layers for Motorways, Primary, Secondary, Local roads, and Block Adjacency graph.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4. Dynamic Timeline Playback: </a:t>
            </a:r>
            <a:r>
              <a:rPr b="0">
                <a:solidFill>
                  <a:srgbClr val="F8FAFC"/>
                </a:solidFill>
              </a:rPr>
              <a:t>Step-by-step 1080-tick simulation playback with real-time evacuation curves (Indoors, Internal, Queued, Sheltered).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5. Jurisdictional Leader Monitoring: </a:t>
            </a:r>
            <a:r>
              <a:rPr b="0">
                <a:solidFill>
                  <a:srgbClr val="F8FAFC"/>
                </a:solidFill>
              </a:rPr>
              <a:t>Click any jurisdiction to view local LLM leader memory, brief history, tool calls, and broadcast text.</a:t>
            </a:r>
          </a:p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• 6. Live AMD GPU Benchmark Panel: </a:t>
            </a:r>
            <a:r>
              <a:rPr b="0">
                <a:solidFill>
                  <a:srgbClr val="F8FAFC"/>
                </a:solidFill>
              </a:rPr>
              <a:t>Displays real-time LLM decision latency, GPU VRAM usage, slot concurrency, and population invariants.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Conclusion, Boundaries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Summary of Hackathon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✔ First GPU Swarm + ROCm LLM: </a:t>
            </a:r>
            <a:r>
              <a:rPr b="0">
                <a:solidFill>
                  <a:srgbClr val="F8FAFC"/>
                </a:solidFill>
              </a:rPr>
              <a:t>Pioneered 50M+ agent evacuation swarm integrated with local ROCm LLM leadership layer.</a:t>
            </a:r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✔ 100% Tool Execution Validity: </a:t>
            </a:r>
            <a:r>
              <a:rPr b="0">
                <a:solidFill>
                  <a:srgbClr val="F8FAFC"/>
                </a:solidFill>
              </a:rPr>
              <a:t>Zero hallucinated tool calls across 4,242 decisions using grammar-constrained local serving.</a:t>
            </a:r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✔ Dual System Coupling: </a:t>
            </a:r>
            <a:r>
              <a:rPr b="0">
                <a:solidFill>
                  <a:srgbClr val="F8FAFC"/>
                </a:solidFill>
              </a:rPr>
              <a:t>Proved how information leadership interacts with physical road &amp; shelter capacity bounds.</a:t>
            </a:r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✔ Open &amp; Reproducible: </a:t>
            </a:r>
            <a:r>
              <a:rPr b="0">
                <a:solidFill>
                  <a:srgbClr val="F8FAFC"/>
                </a:solidFill>
              </a:rPr>
              <a:t>Complete source code, 10-city dataset pipeline, WebGIS, and raw run evidence committed.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Honesty Section &amp; Future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• Known Scope &amp; Boundaries:</a:t>
            </a:r>
            <a:br/>
            <a:r>
              <a:rPr b="0">
                <a:solidFill>
                  <a:srgbClr val="F8FAFC"/>
                </a:solidFill>
              </a:rPr>
              <a:t>• Assumed shelter capacities outside Chengdu are scenario parameters.
• Single-seed run demonstrates execution capability; multi-seed statistical confidence is future work.
• CPU-vs-ROCm comparison awaits same-model CPU baseline.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• Future Research Roadmap:</a:t>
            </a:r>
            <a:br/>
            <a:r>
              <a:rPr b="0">
                <a:solidFill>
                  <a:srgbClr val="F8FAFC"/>
                </a:solidFill>
              </a:rPr>
              <a:t>• Real-Time EEW Coupling: Direct API integration with Earthquake Early Warning seismic sensors.
• Dynamic Bridge / Road Damage: Real-time seismic shaking intensity map triggering road failures.
• Multi-Model Benchmarking: Testing local Qwen2.5-14B / 32B models on larger AMD Radeon clusters.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63B47075-63B6-490E-9B58-0A68EFC188F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59B96"/>
                </a:solidFill>
              </a:defRPr>
            </a:pPr>
            <a:r>
              <a:rPr sz="975" b="1" dirty="0">
                <a:solidFill>
                  <a:srgbClr val="159B96"/>
                </a:solidFill>
              </a:rPr>
              <a:t>10 / SCENARIO INNOVATION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41A09D-D012-4DAF-A34E-F7AA306EE6E8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04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0D2430"/>
                </a:solidFill>
              </a:defRPr>
            </a:pPr>
            <a:r>
              <a:rPr sz="3000" b="1" dirty="0">
                <a:solidFill>
                  <a:srgbClr val="FF0000"/>
                </a:solidFill>
              </a:rPr>
              <a:t>One Agentic AI mechanism reveals three urban response profiles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107F6A-CAF2-4C64-B355-DAB302D299FD}"/>
              </a:ext>
            </a:extLst>
          </p:cNvPr>
          <p:cNvSpPr>
            <a:spLocks noGrp="1"/>
          </p:cNvSpPr>
          <p:nvPr/>
        </p:nvSpPr>
        <p:spPr>
          <a:xfrm>
            <a:off x="10934700" y="5524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1">
                <a:solidFill>
                  <a:srgbClr val="5D707A"/>
                </a:solidFill>
              </a:defRPr>
            </a:pPr>
            <a:r>
              <a:rPr sz="1200" b="1">
                <a:solidFill>
                  <a:srgbClr val="5D707A"/>
                </a:solidFill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3A609C-C854-40AC-925F-FD56CDD3D9A2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1428750" cy="38100"/>
          </a:xfrm>
          <a:prstGeom prst="rect">
            <a:avLst/>
          </a:prstGeom>
          <a:solidFill>
            <a:srgbClr val="159B96"/>
          </a:solidFill>
          <a:ln w="0">
            <a:solidFill>
              <a:srgbClr val="159B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00074B3-F36F-4DC2-85D8-4E5E3ED013C2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3371850" cy="4229100"/>
          </a:xfrm>
          <a:prstGeom prst="roundRect">
            <a:avLst>
              <a:gd name="adj" fmla="val 4520"/>
            </a:avLst>
          </a:prstGeom>
          <a:solidFill>
            <a:srgbClr val="F3F7F7"/>
          </a:solidFill>
          <a:ln w="9525">
            <a:solidFill>
              <a:srgbClr val="D6E1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11048" b="11048"/>
          <a:stretch>
            <a:fillRect/>
          </a:stretch>
        </p:blipFill>
        <p:spPr>
          <a:xfrm>
            <a:off x="742950" y="1809750"/>
            <a:ext cx="3105150" cy="1866900"/>
          </a:xfrm>
          <a:prstGeom prst="round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DCD54FB-3509-4B47-93E0-4DB6C0D60AF0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457200" cy="57150"/>
          </a:xfrm>
          <a:prstGeom prst="rect">
            <a:avLst/>
          </a:prstGeom>
          <a:solidFill>
            <a:srgbClr val="58A6D6"/>
          </a:solidFill>
          <a:ln w="0">
            <a:solidFill>
              <a:srgbClr val="58A6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118255-8669-4501-8EE4-66D6F57E16BA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0D2430"/>
                </a:solidFill>
              </a:defRPr>
            </a:pPr>
            <a:r>
              <a:rPr sz="1875" b="1">
                <a:solidFill>
                  <a:srgbClr val="0D2430"/>
                </a:solidFill>
              </a:rPr>
              <a:t>Los Angeles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6DDA8C-0951-4393-9EB4-8FBC1F61EC24}"/>
              </a:ext>
            </a:extLst>
          </p:cNvPr>
          <p:cNvSpPr>
            <a:spLocks noGrp="1"/>
          </p:cNvSpPr>
          <p:nvPr/>
        </p:nvSpPr>
        <p:spPr>
          <a:xfrm>
            <a:off x="819150" y="4476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58A6D6"/>
                </a:solidFill>
              </a:defRPr>
            </a:pPr>
            <a:r>
              <a:rPr sz="1125" b="1">
                <a:solidFill>
                  <a:srgbClr val="58A6D6"/>
                </a:solidFill>
              </a:rPr>
              <a:t>Early +3.18 pp · late +9.60 pp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B55778-43BB-4D4C-BADE-0710E98F1DE7}"/>
              </a:ext>
            </a:extLst>
          </p:cNvPr>
          <p:cNvSpPr>
            <a:spLocks noGrp="1"/>
          </p:cNvSpPr>
          <p:nvPr/>
        </p:nvSpPr>
        <p:spPr>
          <a:xfrm>
            <a:off x="819150" y="4857750"/>
            <a:ext cx="295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5D707A"/>
                </a:solidFill>
              </a:defRPr>
            </a:pPr>
            <a:r>
              <a:rPr sz="1200" b="0">
                <a:solidFill>
                  <a:srgbClr val="5D707A"/>
                </a:solidFill>
              </a:rPr>
              <a:t>Dense sites and network redundancy turn information advantage into sustained placement.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67D95C3-A6AC-45BA-B331-74541479791F}"/>
              </a:ext>
            </a:extLst>
          </p:cNvPr>
          <p:cNvSpPr>
            <a:spLocks noGrp="1"/>
          </p:cNvSpPr>
          <p:nvPr/>
        </p:nvSpPr>
        <p:spPr>
          <a:xfrm>
            <a:off x="4248150" y="1676400"/>
            <a:ext cx="3371850" cy="4229100"/>
          </a:xfrm>
          <a:prstGeom prst="roundRect">
            <a:avLst>
              <a:gd name="adj" fmla="val 4520"/>
            </a:avLst>
          </a:prstGeom>
          <a:solidFill>
            <a:srgbClr val="F3F7F7"/>
          </a:solidFill>
          <a:ln w="9525">
            <a:solidFill>
              <a:srgbClr val="D6E1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rcRect t="11048" b="11048"/>
          <a:stretch>
            <a:fillRect/>
          </a:stretch>
        </p:blipFill>
        <p:spPr>
          <a:xfrm>
            <a:off x="4381500" y="1809750"/>
            <a:ext cx="3105150" cy="1866900"/>
          </a:xfrm>
          <a:prstGeom prst="round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E75B012-0BF7-4DE6-BB8D-B1050C43ED43}"/>
              </a:ext>
            </a:extLst>
          </p:cNvPr>
          <p:cNvSpPr>
            <a:spLocks noGrp="1"/>
          </p:cNvSpPr>
          <p:nvPr/>
        </p:nvSpPr>
        <p:spPr>
          <a:xfrm>
            <a:off x="4457700" y="3905250"/>
            <a:ext cx="457200" cy="57150"/>
          </a:xfrm>
          <a:prstGeom prst="rect">
            <a:avLst/>
          </a:prstGeom>
          <a:solidFill>
            <a:srgbClr val="39B982"/>
          </a:solidFill>
          <a:ln w="0">
            <a:solidFill>
              <a:srgbClr val="39B9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A5C229-4570-4960-ADD1-970CB6EBB5F1}"/>
              </a:ext>
            </a:extLst>
          </p:cNvPr>
          <p:cNvSpPr>
            <a:spLocks noGrp="1"/>
          </p:cNvSpPr>
          <p:nvPr/>
        </p:nvSpPr>
        <p:spPr>
          <a:xfrm>
            <a:off x="4457700" y="41148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0D2430"/>
                </a:solidFill>
              </a:defRPr>
            </a:pPr>
            <a:r>
              <a:rPr sz="1875" b="1">
                <a:solidFill>
                  <a:srgbClr val="0D2430"/>
                </a:solidFill>
              </a:rPr>
              <a:t>Wellington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9D9DFF-6568-419D-92AD-9932BB35D6ED}"/>
              </a:ext>
            </a:extLst>
          </p:cNvPr>
          <p:cNvSpPr>
            <a:spLocks noGrp="1"/>
          </p:cNvSpPr>
          <p:nvPr/>
        </p:nvSpPr>
        <p:spPr>
          <a:xfrm>
            <a:off x="4457700" y="4476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39B982"/>
                </a:solidFill>
              </a:defRPr>
            </a:pPr>
            <a:r>
              <a:rPr sz="1125" b="1">
                <a:solidFill>
                  <a:srgbClr val="39B982"/>
                </a:solidFill>
              </a:rPr>
              <a:t>Early +2.39 pp · late +5.47 pp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4781B4-1208-432A-8405-A156C626D6D2}"/>
              </a:ext>
            </a:extLst>
          </p:cNvPr>
          <p:cNvSpPr>
            <a:spLocks noGrp="1"/>
          </p:cNvSpPr>
          <p:nvPr/>
        </p:nvSpPr>
        <p:spPr>
          <a:xfrm>
            <a:off x="4457700" y="4857750"/>
            <a:ext cx="295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5D707A"/>
                </a:solidFill>
              </a:defRPr>
            </a:pPr>
            <a:r>
              <a:rPr sz="1200" b="0">
                <a:solidFill>
                  <a:srgbClr val="5D707A"/>
                </a:solidFill>
              </a:rPr>
              <a:t>Leadership still improves allocation on top of high baseline accessibility.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5CE47C4-2B76-43A7-90AF-0F0F34390848}"/>
              </a:ext>
            </a:extLst>
          </p:cNvPr>
          <p:cNvSpPr>
            <a:spLocks noGrp="1"/>
          </p:cNvSpPr>
          <p:nvPr/>
        </p:nvSpPr>
        <p:spPr>
          <a:xfrm>
            <a:off x="7886700" y="1676400"/>
            <a:ext cx="3371850" cy="4229100"/>
          </a:xfrm>
          <a:prstGeom prst="roundRect">
            <a:avLst>
              <a:gd name="adj" fmla="val 4520"/>
            </a:avLst>
          </a:prstGeom>
          <a:solidFill>
            <a:srgbClr val="F3F7F7"/>
          </a:solidFill>
          <a:ln w="9525">
            <a:solidFill>
              <a:srgbClr val="D6E1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5"/>
          <a:srcRect t="11048" b="11048"/>
          <a:stretch>
            <a:fillRect/>
          </a:stretch>
        </p:blipFill>
        <p:spPr>
          <a:xfrm>
            <a:off x="8020050" y="1809750"/>
            <a:ext cx="3105150" cy="1866900"/>
          </a:xfrm>
          <a:prstGeom prst="round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289D2CC-4315-4051-A38D-15D59B29CB8C}"/>
              </a:ext>
            </a:extLst>
          </p:cNvPr>
          <p:cNvSpPr>
            <a:spLocks noGrp="1"/>
          </p:cNvSpPr>
          <p:nvPr/>
        </p:nvSpPr>
        <p:spPr>
          <a:xfrm>
            <a:off x="8096250" y="3905250"/>
            <a:ext cx="457200" cy="57150"/>
          </a:xfrm>
          <a:prstGeom prst="rect">
            <a:avLst/>
          </a:prstGeom>
          <a:solidFill>
            <a:srgbClr val="F2766B"/>
          </a:solidFill>
          <a:ln w="0">
            <a:solidFill>
              <a:srgbClr val="F276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A409A-DD7E-4615-BB71-E1C2DED563FB}"/>
              </a:ext>
            </a:extLst>
          </p:cNvPr>
          <p:cNvSpPr>
            <a:spLocks noGrp="1"/>
          </p:cNvSpPr>
          <p:nvPr/>
        </p:nvSpPr>
        <p:spPr>
          <a:xfrm>
            <a:off x="8096250" y="41148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0D2430"/>
                </a:solidFill>
              </a:defRPr>
            </a:pPr>
            <a:r>
              <a:rPr sz="1875" b="1">
                <a:solidFill>
                  <a:srgbClr val="0D2430"/>
                </a:solidFill>
              </a:rPr>
              <a:t>Noto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F98349-44C2-4180-9DE3-FE9E3C5AC15C}"/>
              </a:ext>
            </a:extLst>
          </p:cNvPr>
          <p:cNvSpPr>
            <a:spLocks noGrp="1"/>
          </p:cNvSpPr>
          <p:nvPr/>
        </p:nvSpPr>
        <p:spPr>
          <a:xfrm>
            <a:off x="8096250" y="4476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F2766B"/>
                </a:solidFill>
              </a:defRPr>
            </a:pPr>
            <a:r>
              <a:rPr sz="1125" b="1">
                <a:solidFill>
                  <a:srgbClr val="F2766B"/>
                </a:solidFill>
              </a:rPr>
              <a:t>Early −2.20 pp · late −32.37 pp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379D62-FF7B-4A06-8756-58204A6AB259}"/>
              </a:ext>
            </a:extLst>
          </p:cNvPr>
          <p:cNvSpPr>
            <a:spLocks noGrp="1"/>
          </p:cNvSpPr>
          <p:nvPr/>
        </p:nvSpPr>
        <p:spPr>
          <a:xfrm>
            <a:off x="8096250" y="4857750"/>
            <a:ext cx="295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5D707A"/>
                </a:solidFill>
              </a:defRPr>
            </a:pPr>
            <a:r>
              <a:rPr sz="1200" b="0">
                <a:solidFill>
                  <a:srgbClr val="5D707A"/>
                </a:solidFill>
              </a:rPr>
              <a:t>Low access and sparse supply allow concentrated guidance to amplify capacity constraints.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F90353-86AA-4F7C-87D7-638C43ACE1E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0">
                <a:solidFill>
                  <a:srgbClr val="5D707A"/>
                </a:solidFill>
              </a:defRPr>
            </a:pPr>
            <a:r>
              <a:rPr sz="825" b="0">
                <a:solidFill>
                  <a:srgbClr val="5D707A"/>
                </a:solidFill>
              </a:rPr>
              <a:t>A common WebGIS structure places mechanism differences beside spatial structure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C5D915-D91D-46B8-BACE-3C9AA781AD75}"/>
              </a:ext>
            </a:extLst>
          </p:cNvPr>
          <p:cNvSpPr>
            <a:spLocks noGrp="1"/>
          </p:cNvSpPr>
          <p:nvPr/>
        </p:nvSpPr>
        <p:spPr>
          <a:xfrm>
            <a:off x="9810750" y="647700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5D707A"/>
                </a:solidFill>
              </a:defRPr>
            </a:pPr>
            <a:r>
              <a:rPr sz="825" b="0">
                <a:solidFill>
                  <a:srgbClr val="5D707A"/>
                </a:solidFill>
              </a:rPr>
              <a:t>QuakeSense ·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 / 39</a:t>
            </a:r>
          </a:p>
        </p:txBody>
      </p:sp>
    </p:spTree>
    <p:extLst>
      <p:ext uri="{BB962C8B-B14F-4D97-AF65-F5344CB8AC3E}">
        <p14:creationId xmlns:p14="http://schemas.microsoft.com/office/powerpoint/2010/main" val="1791293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rcRect t="11048" b="11048"/>
          <a:stretch>
            <a:fillRect/>
          </a:stretch>
        </p:blipFill>
        <p:spPr>
          <a:xfrm>
            <a:off x="742950" y="1809750"/>
            <a:ext cx="3105150" cy="1866900"/>
          </a:xfrm>
          <a:prstGeom prst="round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rcRect t="11048" b="11048"/>
          <a:stretch>
            <a:fillRect/>
          </a:stretch>
        </p:blipFill>
        <p:spPr>
          <a:xfrm>
            <a:off x="4381500" y="1809750"/>
            <a:ext cx="3105150" cy="1866900"/>
          </a:xfrm>
          <a:prstGeom prst="round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5"/>
          <a:srcRect t="11048" b="11048"/>
          <a:stretch>
            <a:fillRect/>
          </a:stretch>
        </p:blipFill>
        <p:spPr>
          <a:xfrm>
            <a:off x="8020050" y="1809750"/>
            <a:ext cx="3105150" cy="1866900"/>
          </a:xfrm>
          <a:prstGeom prst="round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150E1057-54B3-4E2A-BF7E-0EFC71EE923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6D6BD"/>
                </a:solidFill>
              </a:defRPr>
            </a:pPr>
            <a:r>
              <a:rPr sz="1275" b="1">
                <a:solidFill>
                  <a:srgbClr val="26D6BD"/>
                </a:solidFill>
              </a:rPr>
              <a:t>MICRO MECHANISM / AGENT ROLES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A08A62-1D8B-4727-8384-B69A05B0580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5F7FB"/>
                </a:solidFill>
              </a:defRPr>
            </a:pPr>
            <a:r>
              <a:rPr sz="2850" b="1">
                <a:solidFill>
                  <a:srgbClr val="F5F7FB"/>
                </a:solidFill>
              </a:rPr>
              <a:t>From individual roles to collective evacuation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26ACD4A-1A10-4344-B293-175FE0A68A78}"/>
              </a:ext>
            </a:extLst>
          </p:cNvPr>
          <p:cNvSpPr>
            <a:spLocks noGrp="1"/>
          </p:cNvSpPr>
          <p:nvPr/>
        </p:nvSpPr>
        <p:spPr>
          <a:xfrm>
            <a:off x="10858500" y="4762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9AA9C2"/>
                </a:solidFill>
              </a:defRPr>
            </a:pPr>
            <a:r>
              <a:rPr sz="1650" b="1">
                <a:solidFill>
                  <a:srgbClr val="9AA9C2"/>
                </a:solidFill>
              </a:rPr>
              <a:t>09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38CC0F5-EA5C-4722-A72F-1047D964FF4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428750" cy="38100"/>
          </a:xfrm>
          <a:prstGeom prst="roundRect">
            <a:avLst>
              <a:gd name="adj" fmla="val 50000"/>
            </a:avLst>
          </a:prstGeom>
          <a:solidFill>
            <a:srgbClr val="26D6BD"/>
          </a:solidFill>
          <a:ln w="9525">
            <a:solidFill>
              <a:srgbClr val="26D6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EB07B3B-18C4-4ACF-8340-BD524B06CAC8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257800" cy="4514850"/>
          </a:xfrm>
          <a:prstGeom prst="roundRect">
            <a:avLst>
              <a:gd name="adj" fmla="val 2532"/>
            </a:avLst>
          </a:prstGeom>
          <a:solidFill>
            <a:srgbClr val="0E1728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34D803F-9428-487F-8623-347BFF25AF57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5524500" cy="4514850"/>
          </a:xfrm>
          <a:prstGeom prst="roundRect">
            <a:avLst>
              <a:gd name="adj" fmla="val 2532"/>
            </a:avLst>
          </a:prstGeom>
          <a:solidFill>
            <a:srgbClr val="0E1728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93899" y="1752600"/>
            <a:ext cx="4089202" cy="304800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225340" y="1752600"/>
            <a:ext cx="3189620" cy="3048000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313CCE2E-36EE-494D-9BE4-8A0F8F67C577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6D6BD"/>
                </a:solidFill>
              </a:defRPr>
            </a:pPr>
            <a:r>
              <a:rPr sz="1125" b="1">
                <a:solidFill>
                  <a:srgbClr val="26D6BD"/>
                </a:solidFill>
              </a:rPr>
              <a:t>WHO MOVES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32FB857-F9EA-45BD-8DAB-16AF2BCDE0AB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Commander · informed resident · uninformed resident · volunteer · elderly · child · responder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DD604AF-95B9-4D3B-AA70-F48D4031D564}"/>
              </a:ext>
            </a:extLst>
          </p:cNvPr>
          <p:cNvSpPr>
            <a:spLocks noGrp="1"/>
          </p:cNvSpPr>
          <p:nvPr/>
        </p:nvSpPr>
        <p:spPr>
          <a:xfrm>
            <a:off x="6286500" y="49530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6D6BD"/>
                </a:solidFill>
              </a:defRPr>
            </a:pPr>
            <a:r>
              <a:rPr sz="1125" b="1">
                <a:solidFill>
                  <a:srgbClr val="26D6BD"/>
                </a:solidFill>
              </a:rPr>
              <a:t>HOW THEY INTERACT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1B168A7-90C1-444D-94B9-A2436DE7B80A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5F7FB"/>
                </a:solidFill>
              </a:defRPr>
            </a:pPr>
            <a:r>
              <a:rPr sz="1350" b="0">
                <a:solidFill>
                  <a:srgbClr val="F5F7FB"/>
                </a:solidFill>
              </a:rPr>
              <a:t>Broadcast · word of mouth · following · guiding · mutual assistance · shelter admission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993E1FD-17A2-4374-AF2A-53C9FB4987C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AA9C2"/>
                </a:solidFill>
              </a:defRPr>
            </a:pPr>
            <a:r>
              <a:rPr sz="975" b="0">
                <a:solidFill>
                  <a:srgbClr val="9AA9C2"/>
                </a:solidFill>
              </a:rPr>
              <a:t>Conceptual micro-scene: role and interaction mechanism, not a city observation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E1062DF-E2DA-4FF1-8F27-F1BCD7916281}"/>
              </a:ext>
            </a:extLst>
          </p:cNvPr>
          <p:cNvSpPr>
            <a:spLocks noGrp="1"/>
          </p:cNvSpPr>
          <p:nvPr/>
        </p:nvSpPr>
        <p:spPr>
          <a:xfrm>
            <a:off x="9715500" y="64770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9AA9C2"/>
                </a:solidFill>
              </a:defRPr>
            </a:pPr>
            <a:r>
              <a:rPr sz="975" b="0">
                <a:solidFill>
                  <a:srgbClr val="9AA9C2"/>
                </a:solidFill>
              </a:rPr>
              <a:t>QuakeSense ·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 / 39</a:t>
            </a:r>
          </a:p>
        </p:txBody>
      </p:sp>
    </p:spTree>
    <p:extLst>
      <p:ext uri="{BB962C8B-B14F-4D97-AF65-F5344CB8AC3E}">
        <p14:creationId xmlns:p14="http://schemas.microsoft.com/office/powerpoint/2010/main" val="4268848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rcRect t="11048" b="11048"/>
          <a:stretch>
            <a:fillRect/>
          </a:stretch>
        </p:blipFill>
        <p:spPr>
          <a:xfrm>
            <a:off x="742950" y="1809750"/>
            <a:ext cx="3105150" cy="1866900"/>
          </a:xfrm>
          <a:prstGeom prst="round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4"/>
          <a:srcRect t="11048" b="11048"/>
          <a:stretch>
            <a:fillRect/>
          </a:stretch>
        </p:blipFill>
        <p:spPr>
          <a:xfrm>
            <a:off x="4381500" y="1809750"/>
            <a:ext cx="3105150" cy="1866900"/>
          </a:xfrm>
          <a:prstGeom prst="round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5"/>
          <a:srcRect t="11048" b="11048"/>
          <a:stretch>
            <a:fillRect/>
          </a:stretch>
        </p:blipFill>
        <p:spPr>
          <a:xfrm>
            <a:off x="8020050" y="1809750"/>
            <a:ext cx="3105150" cy="1866900"/>
          </a:xfrm>
          <a:prstGeom prst="round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8EFFC9E1-47E3-43E3-9632-F6D449EB48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6D6BD"/>
                </a:solidFill>
              </a:defRPr>
            </a:pPr>
            <a:r>
              <a:rPr sz="1275" b="1">
                <a:solidFill>
                  <a:srgbClr val="26D6BD"/>
                </a:solidFill>
              </a:rPr>
              <a:t>MICRO MECHANISM / EQUATIONS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417C00-C74B-4129-9AF0-CBA2ECA3E6E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5F7FB"/>
                </a:solidFill>
              </a:defRPr>
            </a:pPr>
            <a:r>
              <a:rPr sz="2850" b="1">
                <a:solidFill>
                  <a:srgbClr val="F5F7FB"/>
                </a:solidFill>
              </a:rPr>
              <a:t>Four rules generate the city-scale process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E7BF7-20AF-4158-AA90-2DA01C6E814A}"/>
              </a:ext>
            </a:extLst>
          </p:cNvPr>
          <p:cNvSpPr>
            <a:spLocks noGrp="1"/>
          </p:cNvSpPr>
          <p:nvPr/>
        </p:nvSpPr>
        <p:spPr>
          <a:xfrm>
            <a:off x="10858500" y="4762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9AA9C2"/>
                </a:solidFill>
              </a:defRPr>
            </a:pPr>
            <a:r>
              <a:rPr sz="1650" b="1">
                <a:solidFill>
                  <a:srgbClr val="9AA9C2"/>
                </a:solidFill>
              </a:rPr>
              <a:t>10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C84ECF5-FBC3-4F47-8407-16822CC16C0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428750" cy="38100"/>
          </a:xfrm>
          <a:prstGeom prst="roundRect">
            <a:avLst>
              <a:gd name="adj" fmla="val 50000"/>
            </a:avLst>
          </a:prstGeom>
          <a:solidFill>
            <a:srgbClr val="26D6BD"/>
          </a:solidFill>
          <a:ln w="9525">
            <a:solidFill>
              <a:srgbClr val="26D6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604A575-BDDE-459F-B3F9-0D29F9842BA8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429250" cy="1790700"/>
          </a:xfrm>
          <a:prstGeom prst="roundRect">
            <a:avLst>
              <a:gd name="adj" fmla="val 6383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F229678-D14C-4706-8AC0-26C319215854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66675" cy="1790700"/>
          </a:xfrm>
          <a:prstGeom prst="roundRect">
            <a:avLst>
              <a:gd name="adj" fmla="val 50000"/>
            </a:avLst>
          </a:prstGeom>
          <a:solidFill>
            <a:srgbClr val="FF9D3D"/>
          </a:solidFill>
          <a:ln w="9525">
            <a:solidFill>
              <a:srgbClr val="FF9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A936B1-303F-4AC7-8625-A525F1B8A57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F9D3D"/>
                </a:solidFill>
              </a:defRPr>
            </a:pPr>
            <a:r>
              <a:rPr sz="1275" b="1">
                <a:solidFill>
                  <a:srgbClr val="FF9D3D"/>
                </a:solidFill>
              </a:rPr>
              <a:t>1 · Departure delay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D7D0D62-4743-448C-8F2D-FF4B18DFA2AC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7FB"/>
                </a:solidFill>
              </a:defRPr>
            </a:pPr>
            <a:r>
              <a:rPr sz="1875" b="1">
                <a:solidFill>
                  <a:srgbClr val="F5F7FB"/>
                </a:solidFill>
              </a:rPr>
              <a:t>Tᵢ ~ LogNormal(μ = ln 180 s, σ = 0.8)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DCC7FF7-8C70-4553-AB85-718CF5DB1AC5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9AA9C2"/>
                </a:solidFill>
              </a:defRPr>
            </a:pPr>
            <a:r>
              <a:rPr sz="1200" b="0">
                <a:solidFill>
                  <a:srgbClr val="9AA9C2"/>
                </a:solidFill>
              </a:rPr>
              <a:t>Kumamoto scenario assumption; roles and warning state can shift departure timing.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885BBB3-6363-4881-8CBF-CA02EA14EAE1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5429250" cy="1790700"/>
          </a:xfrm>
          <a:prstGeom prst="roundRect">
            <a:avLst>
              <a:gd name="adj" fmla="val 6383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79AB0B1-1B45-4546-963D-F478EE68C305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66675" cy="1790700"/>
          </a:xfrm>
          <a:prstGeom prst="roundRect">
            <a:avLst>
              <a:gd name="adj" fmla="val 50000"/>
            </a:avLst>
          </a:prstGeom>
          <a:solidFill>
            <a:srgbClr val="26D6BD"/>
          </a:solidFill>
          <a:ln w="9525">
            <a:solidFill>
              <a:srgbClr val="26D6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09D7A8B-9F6A-418D-B959-DB5F71FE529A}"/>
              </a:ext>
            </a:extLst>
          </p:cNvPr>
          <p:cNvSpPr>
            <a:spLocks noGrp="1"/>
          </p:cNvSpPr>
          <p:nvPr/>
        </p:nvSpPr>
        <p:spPr>
          <a:xfrm>
            <a:off x="6381750" y="18478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6D6BD"/>
                </a:solidFill>
              </a:defRPr>
            </a:pPr>
            <a:r>
              <a:rPr sz="1275" b="1">
                <a:solidFill>
                  <a:srgbClr val="26D6BD"/>
                </a:solidFill>
              </a:rPr>
              <a:t>2 · Boundary flow capacity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62E19C8-AD2A-4A52-9A09-FF3414610366}"/>
              </a:ext>
            </a:extLst>
          </p:cNvPr>
          <p:cNvSpPr>
            <a:spLocks noGrp="1"/>
          </p:cNvSpPr>
          <p:nvPr/>
        </p:nvSpPr>
        <p:spPr>
          <a:xfrm>
            <a:off x="6381750" y="22098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7FB"/>
                </a:solidFill>
              </a:defRPr>
            </a:pPr>
            <a:r>
              <a:rPr sz="1875" b="1">
                <a:solidFill>
                  <a:srgbClr val="F5F7FB"/>
                </a:solidFill>
              </a:rPr>
              <a:t>Cᵢ = wᵢ qₛ,   qₛ = 1.3 persons·m⁻¹·s⁻¹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497BD8C-AA45-433C-978E-9C37D8BE7167}"/>
              </a:ext>
            </a:extLst>
          </p:cNvPr>
          <p:cNvSpPr>
            <a:spLocks noGrp="1"/>
          </p:cNvSpPr>
          <p:nvPr/>
        </p:nvSpPr>
        <p:spPr>
          <a:xfrm>
            <a:off x="6381750" y="270510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9AA9C2"/>
                </a:solidFill>
              </a:defRPr>
            </a:pPr>
            <a:r>
              <a:rPr sz="1200" b="0">
                <a:solidFill>
                  <a:srgbClr val="9AA9C2"/>
                </a:solidFill>
              </a:rPr>
              <a:t>Road-enclosed blocks release people through finite egress width; queues emerge when demand exceeds capacity.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6B66072-5DA3-46F2-8B70-C3DEF9A7F7B7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5429250" cy="1790700"/>
          </a:xfrm>
          <a:prstGeom prst="roundRect">
            <a:avLst>
              <a:gd name="adj" fmla="val 6383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83934E3-D1B7-4E68-96DB-F0960927C26A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66675" cy="1790700"/>
          </a:xfrm>
          <a:prstGeom prst="roundRect">
            <a:avLst>
              <a:gd name="adj" fmla="val 50000"/>
            </a:avLst>
          </a:prstGeom>
          <a:solidFill>
            <a:srgbClr val="73D06F"/>
          </a:solidFill>
          <a:ln w="9525">
            <a:solidFill>
              <a:srgbClr val="73D06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6AA059B-19FC-4455-A086-F82689E9322C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73D06F"/>
                </a:solidFill>
              </a:defRPr>
            </a:pPr>
            <a:r>
              <a:rPr sz="1275" b="1">
                <a:solidFill>
                  <a:srgbClr val="73D06F"/>
                </a:solidFill>
              </a:rPr>
              <a:t>3 · Capacity-aware destination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5C1A9B6-2707-4210-9C35-055B9D40CA29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7FB"/>
                </a:solidFill>
              </a:defRPr>
            </a:pPr>
            <a:r>
              <a:rPr sz="1875" b="1">
                <a:solidFill>
                  <a:srgbClr val="F5F7FB"/>
                </a:solidFill>
              </a:rPr>
              <a:t>s*(i,t) = arg min dᴳ(i,s),  s ∈ O(t)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F365BF5-8AAB-4EDE-AA4B-8C50A3571255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9AA9C2"/>
                </a:solidFill>
              </a:defRPr>
            </a:pPr>
            <a:r>
              <a:rPr sz="1200" b="0">
                <a:solidFill>
                  <a:srgbClr val="9AA9C2"/>
                </a:solidFill>
              </a:rPr>
              <a:t>O(t) contains shelters that remain open and have capacity. A multi-source shortest-path tree is rebuilt when status changes.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8F84CB2-AA80-406B-82AB-0683322C0BC2}"/>
              </a:ext>
            </a:extLst>
          </p:cNvPr>
          <p:cNvSpPr>
            <a:spLocks noGrp="1"/>
          </p:cNvSpPr>
          <p:nvPr/>
        </p:nvSpPr>
        <p:spPr>
          <a:xfrm>
            <a:off x="6153150" y="3676650"/>
            <a:ext cx="5429250" cy="1790700"/>
          </a:xfrm>
          <a:prstGeom prst="roundRect">
            <a:avLst>
              <a:gd name="adj" fmla="val 6383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D9F7345-3AB1-4F05-A50F-8626A3AA2ADA}"/>
              </a:ext>
            </a:extLst>
          </p:cNvPr>
          <p:cNvSpPr>
            <a:spLocks noGrp="1"/>
          </p:cNvSpPr>
          <p:nvPr/>
        </p:nvSpPr>
        <p:spPr>
          <a:xfrm>
            <a:off x="6153150" y="3676650"/>
            <a:ext cx="66675" cy="1790700"/>
          </a:xfrm>
          <a:prstGeom prst="roundRect">
            <a:avLst>
              <a:gd name="adj" fmla="val 50000"/>
            </a:avLst>
          </a:prstGeom>
          <a:solidFill>
            <a:srgbClr val="F3C66C"/>
          </a:solidFill>
          <a:ln w="9525">
            <a:solidFill>
              <a:srgbClr val="F3C6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05E534C-42C9-481F-A1D7-8FBE682A7D47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F3C66C"/>
                </a:solidFill>
              </a:defRPr>
            </a:pPr>
            <a:r>
              <a:rPr sz="1275" b="1">
                <a:solidFill>
                  <a:srgbClr val="F3C66C"/>
                </a:solidFill>
              </a:rPr>
              <a:t>4 · Population conservation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08D8112-BC7E-4EB4-9899-4643F0CF7181}"/>
              </a:ext>
            </a:extLst>
          </p:cNvPr>
          <p:cNvSpPr>
            <a:spLocks noGrp="1"/>
          </p:cNvSpPr>
          <p:nvPr/>
        </p:nvSpPr>
        <p:spPr>
          <a:xfrm>
            <a:off x="6381750" y="42100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5F7FB"/>
                </a:solidFill>
              </a:defRPr>
            </a:pPr>
            <a:r>
              <a:rPr sz="1875" b="1">
                <a:solidFill>
                  <a:srgbClr val="F5F7FB"/>
                </a:solidFill>
              </a:rPr>
              <a:t>N = Σᵢ[Iᵢ(t)+Mᵢ(t)+Qᵢ(t)] + H(t) + S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FEB719F-708C-44BA-A406-7C8169BA81CF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9AA9C2"/>
                </a:solidFill>
              </a:defRPr>
            </a:pPr>
            <a:r>
              <a:rPr sz="1200" b="0">
                <a:solidFill>
                  <a:srgbClr val="9AA9C2"/>
                </a:solidFill>
              </a:rPr>
              <a:t>Indoors + internal movement + boundary queue + sheltered + stay-put remains constant to numerical precision.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BC05953-DA3E-45A2-B4DA-7C10BEECCF0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AA9C2"/>
                </a:solidFill>
              </a:defRPr>
            </a:pPr>
            <a:r>
              <a:rPr sz="975" b="0">
                <a:solidFill>
                  <a:srgbClr val="9AA9C2"/>
                </a:solidFill>
              </a:rPr>
              <a:t>Rendered points follow each block's cumulative departure curve and the solved congestion field—no separate animation curve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1ABB3A6-AF90-4B79-BED4-239F59F992ED}"/>
              </a:ext>
            </a:extLst>
          </p:cNvPr>
          <p:cNvSpPr>
            <a:spLocks noGrp="1"/>
          </p:cNvSpPr>
          <p:nvPr/>
        </p:nvSpPr>
        <p:spPr>
          <a:xfrm>
            <a:off x="9715500" y="64770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9AA9C2"/>
                </a:solidFill>
              </a:defRPr>
            </a:pPr>
            <a:r>
              <a:rPr sz="975" b="0">
                <a:solidFill>
                  <a:srgbClr val="9AA9C2"/>
                </a:solidFill>
              </a:rPr>
              <a:t>QuakeSense ·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 / 39</a:t>
            </a:r>
          </a:p>
        </p:txBody>
      </p:sp>
    </p:spTree>
    <p:extLst>
      <p:ext uri="{BB962C8B-B14F-4D97-AF65-F5344CB8AC3E}">
        <p14:creationId xmlns:p14="http://schemas.microsoft.com/office/powerpoint/2010/main" val="1799304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 / 39</a:t>
            </a:r>
          </a:p>
        </p:txBody>
      </p:sp>
    </p:spTree>
    <p:extLst>
      <p:ext uri="{BB962C8B-B14F-4D97-AF65-F5344CB8AC3E}">
        <p14:creationId xmlns:p14="http://schemas.microsoft.com/office/powerpoint/2010/main" val="522621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 / 39</a:t>
            </a:r>
          </a:p>
        </p:txBody>
      </p:sp>
    </p:spTree>
    <p:extLst>
      <p:ext uri="{BB962C8B-B14F-4D97-AF65-F5344CB8AC3E}">
        <p14:creationId xmlns:p14="http://schemas.microsoft.com/office/powerpoint/2010/main" val="1636250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429500" y="0"/>
            <a:ext cx="47625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 / 39</a:t>
            </a:r>
          </a:p>
        </p:txBody>
      </p:sp>
    </p:spTree>
    <p:extLst>
      <p:ext uri="{BB962C8B-B14F-4D97-AF65-F5344CB8AC3E}">
        <p14:creationId xmlns:p14="http://schemas.microsoft.com/office/powerpoint/2010/main" val="51405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 / 39</a:t>
            </a:r>
          </a:p>
        </p:txBody>
      </p:sp>
    </p:spTree>
    <p:extLst>
      <p:ext uri="{BB962C8B-B14F-4D97-AF65-F5344CB8AC3E}">
        <p14:creationId xmlns:p14="http://schemas.microsoft.com/office/powerpoint/2010/main" val="165658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 / 39</a:t>
            </a:r>
          </a:p>
        </p:txBody>
      </p:sp>
    </p:spTree>
    <p:extLst>
      <p:ext uri="{BB962C8B-B14F-4D97-AF65-F5344CB8AC3E}">
        <p14:creationId xmlns:p14="http://schemas.microsoft.com/office/powerpoint/2010/main" val="1249032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Chengdu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evac_chengdu_roads.gif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Kathmandu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evac_kathmandu_roads.gif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L'Aquila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evac_l_aquila_roads.gif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Los Angeles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evac_los_angeles_roads.gif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Mandalay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evac_mandalay_roads.gif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Naples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evac_naples_roads.gif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Noto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evac_noto_roads.gif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Taipei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evac_taipei_roads.gif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Wellington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evac_wellington_roads.gif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Xi'an — Road-network-constrained evacuation dynamics</a:t>
            </a:r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05" y="1097280"/>
            <a:ext cx="5609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evac_xian_roads.gif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5E16C1D-9708-40F6-BA94-BAB0E03395B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6D6BD"/>
                </a:solidFill>
              </a:defRPr>
            </a:pPr>
            <a:r>
              <a:rPr sz="1275" b="1">
                <a:solidFill>
                  <a:srgbClr val="26D6BD"/>
                </a:solidFill>
              </a:rPr>
              <a:t>RESEARCH SIGNIFICANCE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4DA03C-6BB6-456A-8226-1B0BB2C7AFA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5F7FB"/>
                </a:solidFill>
              </a:defRPr>
            </a:pPr>
            <a:r>
              <a:rPr sz="2850" b="1" dirty="0">
                <a:solidFill>
                  <a:srgbClr val="FF0000"/>
                </a:solidFill>
              </a:rPr>
              <a:t>Why this work matters beyond a single demo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943F42-8221-475B-9D54-9B74DEBC743C}"/>
              </a:ext>
            </a:extLst>
          </p:cNvPr>
          <p:cNvSpPr>
            <a:spLocks noGrp="1"/>
          </p:cNvSpPr>
          <p:nvPr/>
        </p:nvSpPr>
        <p:spPr>
          <a:xfrm>
            <a:off x="10858500" y="4762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9AA9C2"/>
                </a:solidFill>
              </a:defRPr>
            </a:pPr>
            <a:r>
              <a:rPr sz="1650" b="1">
                <a:solidFill>
                  <a:srgbClr val="9AA9C2"/>
                </a:solidFill>
              </a:rPr>
              <a:t>22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7128F4-8B3B-4CD3-AF5F-03D4135A375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428750" cy="38100"/>
          </a:xfrm>
          <a:prstGeom prst="roundRect">
            <a:avLst>
              <a:gd name="adj" fmla="val 50000"/>
            </a:avLst>
          </a:prstGeom>
          <a:solidFill>
            <a:srgbClr val="26D6BD"/>
          </a:solidFill>
          <a:ln w="9525">
            <a:solidFill>
              <a:srgbClr val="26D6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E89266D-9E79-4E60-9AA3-F7783744B1F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457450" cy="3429000"/>
          </a:xfrm>
          <a:prstGeom prst="roundRect">
            <a:avLst>
              <a:gd name="adj" fmla="val 4651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7CA432-AF81-4A91-A8B4-25FCFD85F41B}"/>
              </a:ext>
            </a:extLst>
          </p:cNvPr>
          <p:cNvSpPr>
            <a:spLocks noGrp="1"/>
          </p:cNvSpPr>
          <p:nvPr/>
        </p:nvSpPr>
        <p:spPr>
          <a:xfrm>
            <a:off x="800100" y="20574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6D6BD"/>
                </a:solidFill>
              </a:defRPr>
            </a:pPr>
            <a:r>
              <a:rPr sz="1125" b="1">
                <a:solidFill>
                  <a:srgbClr val="26D6BD"/>
                </a:solidFill>
              </a:rPr>
              <a:t>SCIENTIFIC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DCF0F2-31E7-4A2E-9C0A-C8FE4CB482CB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20764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5F7FB"/>
                </a:solidFill>
              </a:defRPr>
            </a:pPr>
            <a:r>
              <a:rPr sz="1500" b="1">
                <a:solidFill>
                  <a:srgbClr val="F5F7FB"/>
                </a:solidFill>
              </a:rPr>
              <a:t>Connects microscopic behavior, physical capacity, information, and city-scale outcomes in one auditable model.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B7D1DCE-7A90-4F54-8F18-83AE34A3FB75}"/>
              </a:ext>
            </a:extLst>
          </p:cNvPr>
          <p:cNvSpPr>
            <a:spLocks noGrp="1"/>
          </p:cNvSpPr>
          <p:nvPr/>
        </p:nvSpPr>
        <p:spPr>
          <a:xfrm>
            <a:off x="800100" y="4819650"/>
            <a:ext cx="685800" cy="47625"/>
          </a:xfrm>
          <a:prstGeom prst="roundRect">
            <a:avLst>
              <a:gd name="adj" fmla="val 50000"/>
            </a:avLst>
          </a:prstGeom>
          <a:solidFill>
            <a:srgbClr val="FF9D3D"/>
          </a:solidFill>
          <a:ln w="9525">
            <a:solidFill>
              <a:srgbClr val="FF9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439FBCD-A3EE-4617-A253-F879CA54A464}"/>
              </a:ext>
            </a:extLst>
          </p:cNvPr>
          <p:cNvSpPr>
            <a:spLocks noGrp="1"/>
          </p:cNvSpPr>
          <p:nvPr/>
        </p:nvSpPr>
        <p:spPr>
          <a:xfrm>
            <a:off x="3371850" y="1809750"/>
            <a:ext cx="2457450" cy="3429000"/>
          </a:xfrm>
          <a:prstGeom prst="roundRect">
            <a:avLst>
              <a:gd name="adj" fmla="val 4651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4F4CA6-34AC-4FFB-9804-8E13FC6F9CDD}"/>
              </a:ext>
            </a:extLst>
          </p:cNvPr>
          <p:cNvSpPr>
            <a:spLocks noGrp="1"/>
          </p:cNvSpPr>
          <p:nvPr/>
        </p:nvSpPr>
        <p:spPr>
          <a:xfrm>
            <a:off x="3562350" y="20574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6D6BD"/>
                </a:solidFill>
              </a:defRPr>
            </a:pPr>
            <a:r>
              <a:rPr sz="1125" b="1">
                <a:solidFill>
                  <a:srgbClr val="26D6BD"/>
                </a:solidFill>
              </a:rPr>
              <a:t>COMPARATIVE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116EF-D513-4767-B1C7-5ED292558C4B}"/>
              </a:ext>
            </a:extLst>
          </p:cNvPr>
          <p:cNvSpPr>
            <a:spLocks noGrp="1"/>
          </p:cNvSpPr>
          <p:nvPr/>
        </p:nvSpPr>
        <p:spPr>
          <a:xfrm>
            <a:off x="3562350" y="2514600"/>
            <a:ext cx="20764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5F7FB"/>
                </a:solidFill>
              </a:defRPr>
            </a:pPr>
            <a:r>
              <a:rPr sz="1500" b="1">
                <a:solidFill>
                  <a:srgbClr val="F5F7FB"/>
                </a:solidFill>
              </a:rPr>
              <a:t>Runs one evidence structure across seven overseas cities, exposing when the same coordination policy transfers—or fails.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9168092-3B88-465B-89D7-B701A2E3C544}"/>
              </a:ext>
            </a:extLst>
          </p:cNvPr>
          <p:cNvSpPr>
            <a:spLocks noGrp="1"/>
          </p:cNvSpPr>
          <p:nvPr/>
        </p:nvSpPr>
        <p:spPr>
          <a:xfrm>
            <a:off x="3562350" y="4819650"/>
            <a:ext cx="685800" cy="47625"/>
          </a:xfrm>
          <a:prstGeom prst="roundRect">
            <a:avLst>
              <a:gd name="adj" fmla="val 50000"/>
            </a:avLst>
          </a:prstGeom>
          <a:solidFill>
            <a:srgbClr val="FF9D3D"/>
          </a:solidFill>
          <a:ln w="9525">
            <a:solidFill>
              <a:srgbClr val="FF9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084C58C-6670-4B19-85F6-03F9A1E26A13}"/>
              </a:ext>
            </a:extLst>
          </p:cNvPr>
          <p:cNvSpPr>
            <a:spLocks noGrp="1"/>
          </p:cNvSpPr>
          <p:nvPr/>
        </p:nvSpPr>
        <p:spPr>
          <a:xfrm>
            <a:off x="6134100" y="1809750"/>
            <a:ext cx="2457450" cy="3429000"/>
          </a:xfrm>
          <a:prstGeom prst="roundRect">
            <a:avLst>
              <a:gd name="adj" fmla="val 4651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9CEC69-BDF4-476F-9376-AC1BBC50E205}"/>
              </a:ext>
            </a:extLst>
          </p:cNvPr>
          <p:cNvSpPr>
            <a:spLocks noGrp="1"/>
          </p:cNvSpPr>
          <p:nvPr/>
        </p:nvSpPr>
        <p:spPr>
          <a:xfrm>
            <a:off x="6324600" y="20574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6D6BD"/>
                </a:solidFill>
              </a:defRPr>
            </a:pPr>
            <a:r>
              <a:rPr sz="1125" b="1">
                <a:solidFill>
                  <a:srgbClr val="26D6BD"/>
                </a:solidFill>
              </a:rPr>
              <a:t>PRACTICAL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779837-8769-407E-9235-1AD7AD2EE623}"/>
              </a:ext>
            </a:extLst>
          </p:cNvPr>
          <p:cNvSpPr>
            <a:spLocks noGrp="1"/>
          </p:cNvSpPr>
          <p:nvPr/>
        </p:nvSpPr>
        <p:spPr>
          <a:xfrm>
            <a:off x="6324600" y="2514600"/>
            <a:ext cx="20764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5F7FB"/>
                </a:solidFill>
              </a:defRPr>
            </a:pPr>
            <a:r>
              <a:rPr sz="1500" b="1">
                <a:solidFill>
                  <a:srgbClr val="F5F7FB"/>
                </a:solidFill>
              </a:rPr>
              <a:t>Lets planners stress-test shelter capacity, route disruption, warning timing, and assistance needs before an emergency.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E2B1515-D09F-449B-8ECC-22B84749678D}"/>
              </a:ext>
            </a:extLst>
          </p:cNvPr>
          <p:cNvSpPr>
            <a:spLocks noGrp="1"/>
          </p:cNvSpPr>
          <p:nvPr/>
        </p:nvSpPr>
        <p:spPr>
          <a:xfrm>
            <a:off x="6324600" y="4819650"/>
            <a:ext cx="685800" cy="47625"/>
          </a:xfrm>
          <a:prstGeom prst="roundRect">
            <a:avLst>
              <a:gd name="adj" fmla="val 50000"/>
            </a:avLst>
          </a:prstGeom>
          <a:solidFill>
            <a:srgbClr val="FF9D3D"/>
          </a:solidFill>
          <a:ln w="9525">
            <a:solidFill>
              <a:srgbClr val="FF9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3E74B39-B084-4B40-ACCD-03A9BBB86553}"/>
              </a:ext>
            </a:extLst>
          </p:cNvPr>
          <p:cNvSpPr>
            <a:spLocks noGrp="1"/>
          </p:cNvSpPr>
          <p:nvPr/>
        </p:nvSpPr>
        <p:spPr>
          <a:xfrm>
            <a:off x="8896350" y="1809750"/>
            <a:ext cx="2457450" cy="3429000"/>
          </a:xfrm>
          <a:prstGeom prst="roundRect">
            <a:avLst>
              <a:gd name="adj" fmla="val 4651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1A9B99-A4BB-45E5-8F2F-4120FE3587A6}"/>
              </a:ext>
            </a:extLst>
          </p:cNvPr>
          <p:cNvSpPr>
            <a:spLocks noGrp="1"/>
          </p:cNvSpPr>
          <p:nvPr/>
        </p:nvSpPr>
        <p:spPr>
          <a:xfrm>
            <a:off x="9086850" y="20574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6D6BD"/>
                </a:solidFill>
              </a:defRPr>
            </a:pPr>
            <a:r>
              <a:rPr sz="1125" b="1">
                <a:solidFill>
                  <a:srgbClr val="26D6BD"/>
                </a:solidFill>
              </a:rPr>
              <a:t>RESPONSIBLE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028518-CEBE-4B2E-A7F2-71E7883F1AB4}"/>
              </a:ext>
            </a:extLst>
          </p:cNvPr>
          <p:cNvSpPr>
            <a:spLocks noGrp="1"/>
          </p:cNvSpPr>
          <p:nvPr/>
        </p:nvSpPr>
        <p:spPr>
          <a:xfrm>
            <a:off x="9086850" y="2514600"/>
            <a:ext cx="20764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5F7FB"/>
                </a:solidFill>
              </a:defRPr>
            </a:pPr>
            <a:r>
              <a:rPr sz="1500" b="1">
                <a:solidFill>
                  <a:srgbClr val="F5F7FB"/>
                </a:solidFill>
              </a:rPr>
              <a:t>Uses synthetic, population-conserving trajectories instead of reconstructing identifiable individuals; assumptions remain visible.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8CD6F1D-DD52-4583-93A5-29E33AAB4A4D}"/>
              </a:ext>
            </a:extLst>
          </p:cNvPr>
          <p:cNvSpPr>
            <a:spLocks noGrp="1"/>
          </p:cNvSpPr>
          <p:nvPr/>
        </p:nvSpPr>
        <p:spPr>
          <a:xfrm>
            <a:off x="9086850" y="4819650"/>
            <a:ext cx="685800" cy="47625"/>
          </a:xfrm>
          <a:prstGeom prst="roundRect">
            <a:avLst>
              <a:gd name="adj" fmla="val 50000"/>
            </a:avLst>
          </a:prstGeom>
          <a:solidFill>
            <a:srgbClr val="FF9D3D"/>
          </a:solidFill>
          <a:ln w="9525">
            <a:solidFill>
              <a:srgbClr val="FF9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6803279-6875-4FA3-AB8B-30A66E0ADCCC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744200" cy="685800"/>
          </a:xfrm>
          <a:prstGeom prst="roundRect">
            <a:avLst>
              <a:gd name="adj" fmla="val 16667"/>
            </a:avLst>
          </a:prstGeom>
          <a:solidFill>
            <a:srgbClr val="0E1728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4EB269-FB4B-4FC4-BBD1-F96917EB094C}"/>
              </a:ext>
            </a:extLst>
          </p:cNvPr>
          <p:cNvSpPr>
            <a:spLocks noGrp="1"/>
          </p:cNvSpPr>
          <p:nvPr/>
        </p:nvSpPr>
        <p:spPr>
          <a:xfrm>
            <a:off x="800100" y="56388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3C66C"/>
                </a:solidFill>
              </a:defRPr>
            </a:pPr>
            <a:r>
              <a:rPr sz="1125" b="1">
                <a:solidFill>
                  <a:srgbClr val="F3C66C"/>
                </a:solidFill>
              </a:rPr>
              <a:t>Decision-support boundary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7BD47A-6D6B-42F7-BF00-55ED0C9D1F3A}"/>
              </a:ext>
            </a:extLst>
          </p:cNvPr>
          <p:cNvSpPr>
            <a:spLocks noGrp="1"/>
          </p:cNvSpPr>
          <p:nvPr/>
        </p:nvSpPr>
        <p:spPr>
          <a:xfrm>
            <a:off x="2990850" y="5619750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9AA9C2"/>
                </a:solidFill>
              </a:defRPr>
            </a:pPr>
            <a:r>
              <a:rPr sz="1275" b="0">
                <a:solidFill>
                  <a:srgbClr val="9AA9C2"/>
                </a:solidFill>
              </a:rPr>
              <a:t>A scenario laboratory—not a forecast, not an official evacuation plan, and not evidence of causal benefit without external validation.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2C2D5C-0C12-421B-BEF1-AEFF9E8EC44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AA9C2"/>
                </a:solidFill>
              </a:defRPr>
            </a:pPr>
            <a:r>
              <a:rPr sz="975" b="0">
                <a:solidFill>
                  <a:srgbClr val="9AA9C2"/>
                </a:solidFill>
              </a:rPr>
              <a:t>Contribution: inspectable counterfactual evidence for human–AI emergency coordination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02527D3-688A-4C57-9E44-693618EFBB6D}"/>
              </a:ext>
            </a:extLst>
          </p:cNvPr>
          <p:cNvSpPr>
            <a:spLocks noGrp="1"/>
          </p:cNvSpPr>
          <p:nvPr/>
        </p:nvSpPr>
        <p:spPr>
          <a:xfrm>
            <a:off x="9715500" y="64770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9AA9C2"/>
                </a:solidFill>
              </a:defRPr>
            </a:pPr>
            <a:r>
              <a:rPr sz="975" b="0">
                <a:solidFill>
                  <a:srgbClr val="9AA9C2"/>
                </a:solidFill>
              </a:rPr>
              <a:t>QuakeSense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35 / 39</a:t>
            </a:r>
          </a:p>
        </p:txBody>
      </p:sp>
    </p:spTree>
    <p:extLst>
      <p:ext uri="{BB962C8B-B14F-4D97-AF65-F5344CB8AC3E}">
        <p14:creationId xmlns:p14="http://schemas.microsoft.com/office/powerpoint/2010/main" val="1625623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Real vs. Simulated Validation &amp; Log-Normal Calibration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Empirical Validation: Walking Distance Curves</a:t>
            </a:r>
          </a:p>
        </p:txBody>
      </p:sp>
      <p:pic>
        <p:nvPicPr>
          <p:cNvPr id="7" name="Picture 6" descr="fig_validation_dis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206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Distance Validation: Compares simulated cumulative travel distance distribution against real geolocation traces.</a:t>
            </a:r>
            <a:br/>
            <a:r>
              <a:t>• Noto Wajima Calibration: Departure onset calibrated to 2-3 min onset and 10 min completion matching actual earthquake observations.</a:t>
            </a:r>
            <a:br/>
            <a:r>
              <a:t>• Mean Distance Reduction: Full LLM information reduces median walking distance from 806.7 m to 368.6 m (-54.3%).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Seismic Fragility &amp; Log-Normal Departure Calibration</a:t>
            </a:r>
          </a:p>
        </p:txBody>
      </p:sp>
      <p:pic>
        <p:nvPicPr>
          <p:cNvPr id="11" name="Picture 10" descr="fig_validation_frag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45920"/>
            <a:ext cx="5029200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206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Log-Normal Departure Delay: t_start ~ LogNormal(μ=ln 180s, σ=0.8) matching empirical Wajima evacuation onset curves.</a:t>
            </a:r>
            <a:br/>
            <a:r>
              <a:t>• Weidmann Pedestrian Flow: Egress boundary rate calibrated to specific flow q_s = 1.3 ped/m/s.</a:t>
            </a:r>
            <a:br/>
            <a:r>
              <a:t>• Seismic Fragility Coupling: Building damage functions modulate terrain resistance and route clearance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37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Key References &amp; Academic Literature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4415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Academic References &amp; Foundation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1. Pedestrian Egress Flow Mechanics: </a:t>
            </a:r>
            <a:r>
              <a:rPr b="0">
                <a:solidFill>
                  <a:srgbClr val="F8FAFC"/>
                </a:solidFill>
              </a:rPr>
              <a:t>Weidmann, U. (1993). Transporttechnik der Fussgänger: Transporttechnische Eigenschaften des Fussgängerverkehrs. Schriftenreihe des IVT, Nr. 90, ETH Zürich.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2. Population Disaggregation: </a:t>
            </a:r>
            <a:r>
              <a:rPr b="0">
                <a:solidFill>
                  <a:srgbClr val="F8FAFC"/>
                </a:solidFill>
              </a:rPr>
              <a:t>WorldPop (2020). Global High-Resolution Population Denominator Datasets. School of Geography and Environmental Science, University of Southampton. DOI:10.5258/SOTON/WP00674.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3. OpenStreetMap Road Topologies: </a:t>
            </a:r>
            <a:r>
              <a:rPr b="0">
                <a:solidFill>
                  <a:srgbClr val="F8FAFC"/>
                </a:solidFill>
              </a:rPr>
              <a:t>OpenStreetMap Contributors (2024). Planet dump &amp; street network shapefiles. OpenStreetMap Foundation. https://www.openstreetmap.org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4. Empirical Evacuation Calibration: </a:t>
            </a:r>
            <a:r>
              <a:rPr b="0">
                <a:solidFill>
                  <a:srgbClr val="F8FAFC"/>
                </a:solidFill>
              </a:rPr>
              <a:t>Noto Earthquake Disaster Investigation Team (2024). Aggregate Geolocation Evacuation Onset and Landward Displacement Traces (Wajima &amp; Noto Peninsula). MLIT Japan.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5. Seismic Ground Motion &amp; Fragility: </a:t>
            </a:r>
            <a:r>
              <a:rPr b="0">
                <a:solidFill>
                  <a:srgbClr val="F8FAFC"/>
                </a:solidFill>
              </a:rPr>
              <a:t>USGS Earthquake Hazards Program (2024). Global MMI ShakeMap Products and Seismic Damage Fragility Models. U.S. Geological Survey.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6. Local LLM Serving Architecture: </a:t>
            </a:r>
            <a:r>
              <a:rPr b="0">
                <a:solidFill>
                  <a:srgbClr val="F8FAFC"/>
                </a:solidFill>
              </a:rPr>
              <a:t>Qwen Infrastructure Team (2024). Qwen2.5-7B-Instruct Technical Report and Local GGUF Quantization Architecture. Alibaba Group.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7. Multi-Source Graph Routing: </a:t>
            </a:r>
            <a:r>
              <a:rPr b="0">
                <a:solidFill>
                  <a:srgbClr val="F8FAFC"/>
                </a:solidFill>
              </a:rPr>
              <a:t>Dijkstra, E. W. (1959). A note on two problems in connexion with graphs. Numerische Mathematik, 1(1), 269-271.</a:t>
            </a:r>
          </a:p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• 8. AMD ROCm GPU Acceleration: </a:t>
            </a:r>
            <a:r>
              <a:rPr b="0">
                <a:solidFill>
                  <a:srgbClr val="F8FAFC"/>
                </a:solidFill>
              </a:rPr>
              <a:t>AMD ROCm Development Team (2026). ROCm 7.2 Developer Guide &amp; HIP Llama-Server Offloading Optimization. Advanced Micro Devices,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38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37160" rtlCol="0" anchor="ctr"/>
          <a:lstStyle/>
          <a:p>
            <a:pPr algn="ctr">
              <a:defRPr sz="1100" b="1">
                <a:solidFill>
                  <a:srgbClr val="ED1C24"/>
                </a:solidFill>
              </a:defRPr>
            </a:pPr>
            <a:r>
              <a:t>AMD HACKATHON 2026 TRACK 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Micro Swarm Behaviors, Interactions &amp; Seismic Detour Trajectories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4415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Micro Swarm Dynamics &amp; Inter-Agent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Agent Micro Roles: Modeling commanders, informed/uninformed residents, volunteers, elderly, and responders.</a:t>
            </a:r>
            <a:br/>
            <a:r>
              <a:t>• Behavioral Interactions: Simulating broadcast reception, word-of-mouth diffusion, mutual guidance, and queueing.</a:t>
            </a:r>
            <a:br/>
            <a:r>
              <a:t>• Belief Mutation: Leader broadcasts directly alter resident destination choices and path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Seismic Building Collapses &amp; Dynamic Detour Trajectories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Seismic Hazards: Intensity shaking models building damage and debris blockage across street networks.</a:t>
            </a:r>
            <a:br/>
            <a:r>
              <a:t>• Dynamic Detour Trajectories: Residents continuously recalculate shortest Dijkstra routes when roads become blocked.</a:t>
            </a:r>
            <a:br/>
            <a:r>
              <a:t>• Capacity Safety: Prevents stampedes by rerouting crowd streams away from damaged structural bottlenecks.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39 / 39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0" cy="2377440"/>
          </a:xfrm>
          <a:prstGeom prst="rect">
            <a:avLst/>
          </a:prstGeom>
        </p:spPr>
      </p:pic>
      <p:pic>
        <p:nvPicPr>
          <p:cNvPr id="13" name="Picture 12" descr="fig_building_collap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45920"/>
            <a:ext cx="50292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2C008F0-185B-41F3-8BD3-D6940C8C6F1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26D6BD"/>
                </a:solidFill>
              </a:defRPr>
            </a:pPr>
            <a:r>
              <a:rPr sz="1275" b="1">
                <a:solidFill>
                  <a:srgbClr val="26D6BD"/>
                </a:solidFill>
              </a:rPr>
              <a:t>ACKNOWLEDGMENT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D0D872-1F34-44ED-A5CE-A5FE78F0214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5F7FB"/>
                </a:solidFill>
              </a:defRPr>
            </a:pPr>
            <a:r>
              <a:rPr sz="2850" dirty="0">
                <a:solidFill>
                  <a:srgbClr val="FF0000"/>
                </a:solidFill>
              </a:rPr>
              <a:t>Cloud scale made the evidence inspectable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D3F91E-B87E-4B34-9296-EFBAC88B5325}"/>
              </a:ext>
            </a:extLst>
          </p:cNvPr>
          <p:cNvSpPr>
            <a:spLocks noGrp="1"/>
          </p:cNvSpPr>
          <p:nvPr/>
        </p:nvSpPr>
        <p:spPr>
          <a:xfrm>
            <a:off x="10858500" y="4762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9AA9C2"/>
                </a:solidFill>
              </a:defRPr>
            </a:pPr>
            <a:r>
              <a:rPr sz="1650" b="1">
                <a:solidFill>
                  <a:srgbClr val="9AA9C2"/>
                </a:solidFill>
              </a:rPr>
              <a:t>23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9AD6D3E-7654-4AFD-9B9B-18B65677F2A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428750" cy="38100"/>
          </a:xfrm>
          <a:prstGeom prst="roundRect">
            <a:avLst>
              <a:gd name="adj" fmla="val 50000"/>
            </a:avLst>
          </a:prstGeom>
          <a:solidFill>
            <a:srgbClr val="26D6BD"/>
          </a:solidFill>
          <a:ln w="9525">
            <a:solidFill>
              <a:srgbClr val="26D6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3DB8D2-28E1-4F02-97B9-57381171AA4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744200" cy="3143250"/>
          </a:xfrm>
          <a:prstGeom prst="roundRect">
            <a:avLst>
              <a:gd name="adj" fmla="val 3636"/>
            </a:avLst>
          </a:prstGeom>
          <a:solidFill>
            <a:srgbClr val="0E1728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481F3C-4049-43C1-B938-471DB03A2C6B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150" b="1">
                <a:solidFill>
                  <a:srgbClr val="F5F7FB"/>
                </a:solidFill>
              </a:defRPr>
            </a:pPr>
            <a:r>
              <a:rPr sz="3150" b="1">
                <a:solidFill>
                  <a:srgbClr val="F5F7FB"/>
                </a:solidFill>
              </a:rPr>
              <a:t>THANK YOU, AMD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B5EF53C-6D1A-4F40-8846-D47D57EF232A}"/>
              </a:ext>
            </a:extLst>
          </p:cNvPr>
          <p:cNvSpPr>
            <a:spLocks noGrp="1"/>
          </p:cNvSpPr>
          <p:nvPr/>
        </p:nvSpPr>
        <p:spPr>
          <a:xfrm>
            <a:off x="4895850" y="2857500"/>
            <a:ext cx="2400300" cy="57150"/>
          </a:xfrm>
          <a:prstGeom prst="roundRect">
            <a:avLst>
              <a:gd name="adj" fmla="val 50000"/>
            </a:avLst>
          </a:prstGeom>
          <a:solidFill>
            <a:srgbClr val="26D6BD"/>
          </a:solidFill>
          <a:ln w="9525">
            <a:solidFill>
              <a:srgbClr val="26D6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452A7B-FEE6-4C60-B5F0-A9C5F9B6BC2E}"/>
              </a:ext>
            </a:extLst>
          </p:cNvPr>
          <p:cNvSpPr>
            <a:spLocks noGrp="1"/>
          </p:cNvSpPr>
          <p:nvPr/>
        </p:nvSpPr>
        <p:spPr>
          <a:xfrm>
            <a:off x="1390650" y="3257550"/>
            <a:ext cx="9410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F5F7FB"/>
                </a:solidFill>
              </a:defRPr>
            </a:pPr>
            <a:r>
              <a:rPr sz="1950" b="1">
                <a:solidFill>
                  <a:srgbClr val="F5F7FB"/>
                </a:solidFill>
              </a:rPr>
              <a:t>We gratefully acknowledge AMD for providing cloud computing resources that supported large-scale data preparation, multi-city simulation, rendering, and validation.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93D49A-0CE4-4F03-8574-7FD81F56A9F5}"/>
              </a:ext>
            </a:extLst>
          </p:cNvPr>
          <p:cNvSpPr>
            <a:spLocks noGrp="1"/>
          </p:cNvSpPr>
          <p:nvPr/>
        </p:nvSpPr>
        <p:spPr>
          <a:xfrm>
            <a:off x="1962150" y="4191000"/>
            <a:ext cx="8267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9AA9C2"/>
                </a:solidFill>
              </a:defRPr>
            </a:pPr>
            <a:r>
              <a:rPr sz="1350" b="0">
                <a:solidFill>
                  <a:srgbClr val="9AA9C2"/>
                </a:solidFill>
              </a:rPr>
              <a:t>AMD Radeon + ROCm also enabled local inference and performance evidence in the submitted system.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93D4103-2330-4A33-9C23-73D109590BCD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8953500" cy="685800"/>
          </a:xfrm>
          <a:prstGeom prst="roundRect">
            <a:avLst>
              <a:gd name="adj" fmla="val 16667"/>
            </a:avLst>
          </a:prstGeom>
          <a:solidFill>
            <a:srgbClr val="111A2D"/>
          </a:solidFill>
          <a:ln w="9525">
            <a:solidFill>
              <a:srgbClr val="24324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A01259-9138-4BEB-A49F-50DE1E9C30FF}"/>
              </a:ext>
            </a:extLst>
          </p:cNvPr>
          <p:cNvSpPr>
            <a:spLocks noGrp="1"/>
          </p:cNvSpPr>
          <p:nvPr/>
        </p:nvSpPr>
        <p:spPr>
          <a:xfrm>
            <a:off x="1924050" y="5410200"/>
            <a:ext cx="834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3C66C"/>
                </a:solidFill>
              </a:defRPr>
            </a:pPr>
            <a:r>
              <a:rPr sz="1275" b="1">
                <a:solidFill>
                  <a:srgbClr val="F3C66C"/>
                </a:solidFill>
              </a:rPr>
              <a:t>This acknowledgment does not imply AMD endorsement of the methods, scenarios, results, or conclusions.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E6CD78-4D2E-459F-8EB1-47FFC1F755A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9AA9C2"/>
                </a:solidFill>
              </a:defRPr>
            </a:pPr>
            <a:r>
              <a:rPr sz="975" b="0">
                <a:solidFill>
                  <a:srgbClr val="9AA9C2"/>
                </a:solidFill>
              </a:rPr>
              <a:t>QuakeSense · Agentic AI for inspectable emergency-simulation evidence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E6D783-7205-4C2C-AF18-5830037BCAC3}"/>
              </a:ext>
            </a:extLst>
          </p:cNvPr>
          <p:cNvSpPr>
            <a:spLocks noGrp="1"/>
          </p:cNvSpPr>
          <p:nvPr/>
        </p:nvSpPr>
        <p:spPr>
          <a:xfrm>
            <a:off x="9715500" y="6477000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9AA9C2"/>
                </a:solidFill>
              </a:defRPr>
            </a:pPr>
            <a:r>
              <a:rPr sz="975" b="0">
                <a:solidFill>
                  <a:srgbClr val="9AA9C2"/>
                </a:solidFill>
              </a:rPr>
              <a:t>QuakeSense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00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36 / 39</a:t>
            </a:r>
          </a:p>
        </p:txBody>
      </p:sp>
    </p:spTree>
    <p:extLst>
      <p:ext uri="{BB962C8B-B14F-4D97-AF65-F5344CB8AC3E}">
        <p14:creationId xmlns:p14="http://schemas.microsoft.com/office/powerpoint/2010/main" val="2455535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5697</Words>
  <Application>Microsoft Office PowerPoint</Application>
  <PresentationFormat>宽屏</PresentationFormat>
  <Paragraphs>445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3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chunlin</dc:creator>
  <cp:keywords/>
  <dc:description>generated using python-pptx</dc:description>
  <cp:lastModifiedBy>chunlin bian</cp:lastModifiedBy>
  <cp:revision>5</cp:revision>
  <dcterms:created xsi:type="dcterms:W3CDTF">2013-01-27T09:14:16Z</dcterms:created>
  <dcterms:modified xsi:type="dcterms:W3CDTF">2026-08-06T13:30:36Z</dcterms:modified>
  <cp:category/>
</cp:coreProperties>
</file>