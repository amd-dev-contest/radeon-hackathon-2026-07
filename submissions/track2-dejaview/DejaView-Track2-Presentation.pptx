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3cc1badd834cea" /><Relationship Type="http://schemas.openxmlformats.org/officeDocument/2006/relationships/extended-properties" Target="/docProps/app.xml" Id="R4cabf0d865e7408a" /><Relationship Type="http://schemas.openxmlformats.org/officeDocument/2006/relationships/officeDocument" Target="/ppt/presentation.xml" Id="Rfc64236e508845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bae36bdfa04329"/>
  </p:sldMasterIdLst>
  <p:notesMasterIdLst>
    <p:notesMasterId xmlns:r="http://schemas.openxmlformats.org/officeDocument/2006/relationships" r:id="R7e6c67989c184476"/>
  </p:notesMasterIdLst>
  <p:sldIdLst>
    <p:sldId xmlns:r="http://schemas.openxmlformats.org/officeDocument/2006/relationships" id="256" r:id="R57c16bb093234a68"/>
    <p:sldId xmlns:r="http://schemas.openxmlformats.org/officeDocument/2006/relationships" id="257" r:id="R46a75e4e22d944f6"/>
    <p:sldId xmlns:r="http://schemas.openxmlformats.org/officeDocument/2006/relationships" id="258" r:id="R1a8a1880d0674116"/>
    <p:sldId xmlns:r="http://schemas.openxmlformats.org/officeDocument/2006/relationships" id="259" r:id="R0c800a8941d247e0"/>
    <p:sldId xmlns:r="http://schemas.openxmlformats.org/officeDocument/2006/relationships" id="260" r:id="R16f3f698820e46db"/>
    <p:sldId xmlns:r="http://schemas.openxmlformats.org/officeDocument/2006/relationships" id="261" r:id="R7bcd2aa7ec254664"/>
    <p:sldId xmlns:r="http://schemas.openxmlformats.org/officeDocument/2006/relationships" id="262" r:id="R7b179e88943a4a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3988544abd4522" /><Relationship Type="http://schemas.openxmlformats.org/officeDocument/2006/relationships/slideMaster" Target="/ppt/slideMasters/slideMaster1.xml" Id="Rf5bae36bdfa04329" /><Relationship Type="http://schemas.openxmlformats.org/officeDocument/2006/relationships/notesMaster" Target="/ppt/notesMasters/notesMaster1.xml" Id="R7e6c67989c184476" /><Relationship Type="http://schemas.openxmlformats.org/officeDocument/2006/relationships/presProps" Target="/ppt/presProps.xml" Id="Red9527a06bce4284" /><Relationship Type="http://schemas.openxmlformats.org/officeDocument/2006/relationships/tableStyles" Target="/ppt/tableStyles.xml" Id="R17935ed9a78b4e81" /><Relationship Type="http://schemas.openxmlformats.org/officeDocument/2006/relationships/slide" Target="/ppt/slides/slide1.xml" Id="R57c16bb093234a68" /><Relationship Type="http://schemas.openxmlformats.org/officeDocument/2006/relationships/slide" Target="/ppt/slides/slide2.xml" Id="R46a75e4e22d944f6" /><Relationship Type="http://schemas.openxmlformats.org/officeDocument/2006/relationships/slide" Target="/ppt/slides/slide3.xml" Id="R1a8a1880d0674116" /><Relationship Type="http://schemas.openxmlformats.org/officeDocument/2006/relationships/slide" Target="/ppt/slides/slide4.xml" Id="R0c800a8941d247e0" /><Relationship Type="http://schemas.openxmlformats.org/officeDocument/2006/relationships/slide" Target="/ppt/slides/slide5.xml" Id="R16f3f698820e46db" /><Relationship Type="http://schemas.openxmlformats.org/officeDocument/2006/relationships/slide" Target="/ppt/slides/slide6.xml" Id="R7bcd2aa7ec254664" /><Relationship Type="http://schemas.openxmlformats.org/officeDocument/2006/relationships/slide" Target="/ppt/slides/slide7.xml" Id="R7b179e88943a4a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f2940c00684a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5991d832cb4681" /><Relationship Type="http://schemas.openxmlformats.org/officeDocument/2006/relationships/notesMaster" Target="/ppt/notesMasters/notesMaster1.xml" Id="R06c6977e955f41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9243b8b524492f" /><Relationship Type="http://schemas.openxmlformats.org/officeDocument/2006/relationships/notesMaster" Target="/ppt/notesMasters/notesMaster1.xml" Id="R92564a6b2c2843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71c323583146d8" /><Relationship Type="http://schemas.openxmlformats.org/officeDocument/2006/relationships/notesMaster" Target="/ppt/notesMasters/notesMaster1.xml" Id="R150941648d5c44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3f93949bcf4be0" /><Relationship Type="http://schemas.openxmlformats.org/officeDocument/2006/relationships/notesMaster" Target="/ppt/notesMasters/notesMaster1.xml" Id="R97d32352fcdf4f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58f9d863ea4d01" /><Relationship Type="http://schemas.openxmlformats.org/officeDocument/2006/relationships/notesMaster" Target="/ppt/notesMasters/notesMaster1.xml" Id="R98fb5565a8914c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d40bf45fc9420a" /><Relationship Type="http://schemas.openxmlformats.org/officeDocument/2006/relationships/notesMaster" Target="/ppt/notesMasters/notesMaster1.xml" Id="Rf9b5b20c4cac43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799d5235e745a1" /><Relationship Type="http://schemas.openxmlformats.org/officeDocument/2006/relationships/notesMaster" Target="/ppt/notesMasters/notesMaster1.xml" Id="R4651073f0f1c44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product promise: DejaView remembers permitted screen activity, then shows the evidence behind every memory claim.</a:t>
            </a:r>
          </a:p>
          <a:p xmlns:a="http://schemas.openxmlformats.org/drawingml/2006/main">
            <a:r>
              <a:t>The current capture client is macOS-only. Windows remains an architecture target, not a shipped client.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lines 1–23 and 72–88</a:t>
            </a:r>
          </a:p>
          <a:p xmlns:a="http://schemas.openxmlformats.org/drawingml/2006/main">
            <a:r>
              <a:t>- docs/submission/PROJECT_SPECIFICATION.md, sections 1–3 and 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distinction concrete: the safety decision precedes document creation, and a citation is accepted only if the same request's tools returned that event.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docs/submission/PROJECT_SPECIFICATION.md, section 3</a:t>
            </a:r>
          </a:p>
          <a:p xmlns:a="http://schemas.openxmlformats.org/drawingml/2006/main">
            <a:r>
              <a:t>- README.md, lines 12–23 and 182–195</a:t>
            </a:r>
          </a:p>
          <a:p xmlns:a="http://schemas.openxmlformats.org/drawingml/2006/main">
            <a:r>
              <a:t>- docs/verification-log.md, lines 447–451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important point is not just local storage; it is that Sentinel owns the first decision over raw pixels.</a:t>
            </a:r>
          </a:p>
          <a:p xmlns:a="http://schemas.openxmlformats.org/drawingml/2006/main">
            <a:r>
              <a:t>The daily capture implementation is macOS-only. A Windows sovereign plane is a target, not current functionality.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lines 27–65 and 182–195</a:t>
            </a:r>
          </a:p>
          <a:p xmlns:a="http://schemas.openxmlformats.org/drawingml/2006/main">
            <a:r>
              <a:t>- services/memoryd/src/memoryd/pipeline.py, lines 43–66</a:t>
            </a:r>
          </a:p>
          <a:p xmlns:a="http://schemas.openxmlformats.org/drawingml/2006/main">
            <a:r>
              <a:t>- docs/submission/PROJECT_SPECIFICATION.md, sections 4 and 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the model names a routing contract. Do not say all five weight sets are resident in every topology.</a:t>
            </a:r>
          </a:p>
          <a:p xmlns:a="http://schemas.openxmlformats.org/drawingml/2006/main">
            <a:r>
              <a:t>P3.1 brain/perceive cells were exclusive; the separate small-role capture is historical context and cannot be added into an unmeasured co-tenant claim.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lines 158–178</a:t>
            </a:r>
          </a:p>
          <a:p xmlns:a="http://schemas.openxmlformats.org/drawingml/2006/main">
            <a:r>
              <a:t>- docs/model-manifest.md, lines 19–35</a:t>
            </a:r>
          </a:p>
          <a:p xmlns:a="http://schemas.openxmlformats.org/drawingml/2006/main">
            <a:r>
              <a:t>- docs/benchmarks.md, lines 261–281 and 357–380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two independent fail-closed boundaries: Sentinel before memory, then strict payload validation before Honcho network delivery.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services/memoryd/src/memoryd/pipeline.py, lines 43–66</a:t>
            </a:r>
          </a:p>
          <a:p xmlns:a="http://schemas.openxmlformats.org/drawingml/2006/main">
            <a:r>
              <a:t>- services/memoryd/src/memoryd/honcho_projection.py, lines 55–77 and 163–197</a:t>
            </a:r>
          </a:p>
          <a:p xmlns:a="http://schemas.openxmlformats.org/drawingml/2006/main">
            <a:r>
              <a:t>- docs/verification-log.md, lines 471–508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evidence proves the tested cells, not a universal speedup. The narrow compliance gates are not general reasoning or VLM-accuracy benchmarks.</a:t>
            </a:r>
          </a:p>
          <a:p xmlns:a="http://schemas.openxmlformats.org/drawingml/2006/main">
            <a:r>
              <a:t>Selected production policy: Q6_K; enable MTP only for an exclusive or positively headroom-checked brain session.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docs/benchmarks.md, lines 202–259, 261–339 and 341–355</a:t>
            </a:r>
          </a:p>
          <a:p xmlns:a="http://schemas.openxmlformats.org/drawingml/2006/main">
            <a:r>
              <a:t>- docs/benchmark-evidence/p31/p31-w7900d-20260728T075653Z/</a:t>
            </a:r>
          </a:p>
          <a:p xmlns:a="http://schemas.openxmlformats.org/drawingml/2006/main">
            <a:r>
              <a:t>- docs/submission/PROJECT_SPECIFICATION.md, section 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proof: a working macOS capture and evidence UI, a formal W7900D ROCm matrix, and local private state that remains intact when the compute link is lost.</a:t>
            </a:r>
          </a:p>
          <a:p xmlns:a="http://schemas.openxmlformats.org/drawingml/2006/main">
            <a:r>
              <a:t>Then name the limits in the small line: screen-only, macOS capture only with Windows not implemented, separate hardware checks, and the 3:15 English-primary demo.</a:t>
            </a:r>
          </a:p>
          <a:p xmlns:a="http://schemas.openxmlformats.org/drawingml/2006/main">
            <a:r>
              <a:t>Official submission guidance recommends a 3–5 minute demo. The immutable accepted evidence cut remains 2:37 (157.2 seconds); the English-primary submission cut is 3:15.2 and is within the official window.</a:t>
            </a:r>
          </a:p>
          <a:p xmlns:a="http://schemas.openxmlformats.org/drawingml/2006/main">
            <a:r>
              <a:t>Current limitations: screen frames only, macOS capture only, no universal simultaneous-residency claim, and no unmeasured performance benefit claim.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docs/submission/PROJECT_SPECIFICATION.md, sections 9–13</a:t>
            </a:r>
          </a:p>
          <a:p xmlns:a="http://schemas.openxmlformats.org/drawingml/2006/main">
            <a:r>
              <a:t>- docs/assets/demo/p34-video-manifest.json</a:t>
            </a:r>
          </a:p>
          <a:p xmlns:a="http://schemas.openxmlformats.org/drawingml/2006/main">
            <a:r>
              <a:t>- Official submission guidance, as provided by the team on 2026-08-03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56c6658a1843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446b8c504a4476" /><Relationship Type="http://schemas.openxmlformats.org/officeDocument/2006/relationships/slideLayout" Target="/ppt/slideLayouts/slideLayout1.xml" Id="Rdedb690cd45d4f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db690cd45d4f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139bbab81425b" /><Relationship Type="http://schemas.openxmlformats.org/officeDocument/2006/relationships/notesSlide" Target="/ppt/notesSlides/notesSlide1.xml" Id="R221fbb241bbe4c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f6db645ce402a" /><Relationship Type="http://schemas.openxmlformats.org/officeDocument/2006/relationships/notesSlide" Target="/ppt/notesSlides/notesSlide2.xml" Id="Rdc1a73371ccd40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8250019c94196" /><Relationship Type="http://schemas.openxmlformats.org/officeDocument/2006/relationships/notesSlide" Target="/ppt/notesSlides/notesSlide3.xml" Id="R45cf2ea2086d48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82f51256b4955" /><Relationship Type="http://schemas.openxmlformats.org/officeDocument/2006/relationships/notesSlide" Target="/ppt/notesSlides/notesSlide4.xml" Id="R8dc26abd3ddd44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2a1393f8b4d38" /><Relationship Type="http://schemas.openxmlformats.org/officeDocument/2006/relationships/notesSlide" Target="/ppt/notesSlides/notesSlide5.xml" Id="Ra61f85d66d6943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fe68e0c7f4cf5" /><Relationship Type="http://schemas.openxmlformats.org/officeDocument/2006/relationships/notesSlide" Target="/ppt/notesSlides/notesSlide6.xml" Id="Rfdc90e2527bd41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4f51b45d64b28" /><Relationship Type="http://schemas.openxmlformats.org/officeDocument/2006/relationships/notesSlide" Target="/ppt/notesSlides/notesSlide7.xml" Id="R9abfae613be34d2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042C63D-82FD-480A-8C21-603B262A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DejaView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F8DCDD1-DA33-4F58-8ACC-68DE8406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sovereign digital memory that keeps private pixels local — and answers with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D7BCC472-2EAF-44B2-B47C-DD51AD71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AMD AI DevMaster Hackathon · Track 2</a:t>
            </a:r>
          </a:p>
        </p:txBody>
      </p:sp>
    </p:spTree>
    <p:extLst>
      <p:ext uri="{BB962C8B-B14F-4D97-AF65-F5344CB8AC3E}">
        <p14:creationId xmlns:p14="http://schemas.microsoft.com/office/powerpoint/2010/main" val="14721180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9E632EA-F81E-4E5C-BA67-24D26DE2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00E7510-1829-4725-9D43-E5EFE2AB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Screen memory solves what ordinary RAG assumes away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B38571F3-417C-465F-AF3D-320CF4F5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Ordinary RAG
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Starts with a curated corpus. Retrieves chunks. Produces a plausible answer. Privacy, provenance and temporal merging are outside the core pattern.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AD2C5A7F-8204-4162-822A-85AA38CC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DejaView
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Decides whether a frame may become memory. Builds temporal events. Calls retrieval and profile tools. Validates every event citation before answering.</a:t>
            </a:r>
          </a:p>
        </p:txBody>
      </p:sp>
    </p:spTree>
    <p:extLst>
      <p:ext uri="{BB962C8B-B14F-4D97-AF65-F5344CB8AC3E}">
        <p14:creationId xmlns:p14="http://schemas.microsoft.com/office/powerpoint/2010/main" val="20183367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4B70852-781C-4138-8924-C502978E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C9B7FC97-AA6D-46B5-9C46-CB7D0FAB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privacy boundary is an ordering guarantee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3256A2DD-52FA-43E8-8917-D33EB63F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960A879-6F33-437F-8824-EB6FC46C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8D97440A-4CF2-473F-A292-A5184904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38E761EC-50DB-400A-80F5-926CC44A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 · CAPTURE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8DA24E3B-06BA-4CE4-BD5D-EF7D6A49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 · SOVEREIGN MEMORY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0F4531D2-8756-4345-8607-41F07808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 · AMD COMPUTE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889946EC-CA20-449F-8C1B-34BB24AF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Sentinel first
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BLOCK ends the path. ALLOW continues to OCR, storage and the minimized Honcho outbox.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F2DE2875-06CB-42EC-8260-767F9D17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Memory-only pixels
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macOS capture posts a frame, records the outcome, then discards the buffer.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C8BC0BB3-A6AF-4DB1-95AC-C510CF27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Stateless inference
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Only allowed transient requests reach a loopback-bound Radeon gateway.</a:t>
            </a:r>
          </a:p>
        </p:txBody>
      </p:sp>
    </p:spTree>
    <p:extLst>
      <p:ext uri="{BB962C8B-B14F-4D97-AF65-F5344CB8AC3E}">
        <p14:creationId xmlns:p14="http://schemas.microsoft.com/office/powerpoint/2010/main" val="19593596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7FB82C98-5690-491A-A55C-EB560652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B719A22-DC31-4B3F-9D19-BD087430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4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Five logical roles — not five universally resident models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1F56E88F-19A8-48E8-8C4C-0EAD948A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embed
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Qwen3 0.6B
1024-d vectors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BFC7CE02-FC8B-4285-A85D-B178C408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ocrd
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PP-OCR / RapidOCR
not an LLM role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EA4993B4-BF6B-4746-8600-9B011E08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daily split
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Sentinel stays with the sovereign data plane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DA1DDC42-6B86-4F75-BA67-794960B2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residency rule
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Start on demand; check VRAM before co-tenancy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F8DCF7BB-7D8A-44B6-90BD-45FBBF3F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brain
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ThinkingCap-27B
reason · plan · write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727AE233-5CF4-4DD2-8B17-7AF14FA9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perceive
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Gemma 4 E4B
read the screen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2BA5088A-166A-49DD-8E5A-81B4FB27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sentinel
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MiniCPM-V
privacy gate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1DE4F795-567A-4DCF-90B5-B76C512F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fast
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MiniCPM5-1B
novelty · tags</a:t>
            </a:r>
          </a:p>
        </p:txBody>
      </p:sp>
    </p:spTree>
    <p:extLst>
      <p:ext uri="{BB962C8B-B14F-4D97-AF65-F5344CB8AC3E}">
        <p14:creationId xmlns:p14="http://schemas.microsoft.com/office/powerpoint/2010/main" val="9167757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A3D5F59-FF72-4A78-BFB4-232CD27A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AF959DB-12E8-42E2-A914-3F08254F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Privacy blocks first; Honcho receives only six fields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A33D2651-D662-4398-A5D1-0A378113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trust rule:
raw pixels earn permission before memory.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CFA0C19-80FA-4348-8A61-B9BA8D19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OCR after BLOCK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87F27753-0441-45F4-A94F-6DC45037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4F4BB9D7-95C1-4863-8E4B-786EB7B2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Malformed, unknown, low-confidence and unavailable Sentinel results all BLOCK. A stored event enters an atomic local outbox; Honcho failure never rolls back the timeline.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exact projection is: schema · event_id · occurred_at · app_context · activity · topics.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70855802-9536-45DA-9F56-D3DD7F24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blocked pixels stored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63941F8D-47C1-451E-BA93-E77381B8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3E65F322-DB12-484E-8E44-4F625670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private fields in Honcho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895D8346-E127-4D42-9C92-0CCF2AA6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304AFE5B-6040-457C-9A3E-8A0EBE71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Retry · pause · deduplicate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592FDE17-71C9-44D2-A78D-9A188936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E5536D7C-0EDA-4DC0-88E9-E01B3DE6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Unverified stays unverified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38344411-F80E-4322-A131-BB2F62B8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3254070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A4484C8D-1A15-43AE-B8C8-D183B03D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1F424F72-EBB3-4546-A519-918B6153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B418F867-515B-4BE6-87F7-A8D65A93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A0FF5071-7894-4F87-950E-B01D8FE0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7E3BCB1C-940B-48CE-88FD-678AB650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ROCm proof is measured and bounded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40AE705-5B59-48EB-993A-D0776373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brain cells
quant × MTP × concurrency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07DD954-54F9-4A65-8CF2-8B59ED7C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MTP resident-VRAM cost
for each tested brain quant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CA63C71B-BE3D-4624-BAE2-4E2B49E9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perceive cells
slots/concurrency 1 · 2 · 4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62A4679D-8A04-466B-8924-A128E700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2AEE2CD1-9ACC-42B9-BB58-E8ECA72F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91A410DE-A3BF-467F-83AE-37FA234E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4.95 GiB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03B5DC0A-37AA-48FC-AAE5-661E13E7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Formal run · p31-w7900d-20260728T075653Z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Radeon PRO W7900D · gfx1100 · ROCm 7.2.1 · llama.cpp HIP. One excluded warm-up plus three measured batches per cell; synthetic prompts and images only.</a:t>
            </a:r>
          </a:p>
        </p:txBody>
      </p:sp>
    </p:spTree>
    <p:extLst>
      <p:ext uri="{BB962C8B-B14F-4D97-AF65-F5344CB8AC3E}">
        <p14:creationId xmlns:p14="http://schemas.microsoft.com/office/powerpoint/2010/main" val="7379065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AA082840-CAAF-45AB-95CA-5E95D606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Ready to judge — proof before promises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151E4090-E722-4A97-B4FA-083CABCA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10125"/>
            <a:ext cx="49530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Working macOS capture + evidence UI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Formal W7900D ROCm matrix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Private state survives compute-link loss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BE9F773-83AF-4FD0-A313-B2D70BF7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RELEASE TRUTH</a:t>
            </a:r>
          </a:p>
        </p:txBody>
      </p:sp>
      <p:sp>
        <p:nvSpPr>
          <p:cNvPr id="4" name="release-limitations">
            <a:extLst xmlns:a="http://schemas.openxmlformats.org/drawingml/2006/main">
              <a:ext uri="{FF2B5EF4-FFF2-40B4-BE49-F238E27FC236}">
                <a16:creationId xmlns:a16="http://schemas.microsoft.com/office/drawing/2014/main" id="{7870749B-9E04-41BE-B029-2F552AA6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95875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screen-only today · macOS capture only; Windows not implemented · hardware checks separate · 3:15 English-primary demo</a:t>
            </a:r>
          </a:p>
        </p:txBody>
      </p:sp>
    </p:spTree>
    <p:extLst>
      <p:ext uri="{BB962C8B-B14F-4D97-AF65-F5344CB8AC3E}">
        <p14:creationId xmlns:p14="http://schemas.microsoft.com/office/powerpoint/2010/main" val="6554182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2026-08-02T20:04:58.1540000Z</dcterms:created>
  <dcterms:modified xsi:type="dcterms:W3CDTF">2026-08-02T20:04:58.1540000Z</dcterms:modified>
</coreProperties>
</file>