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30" d="100"/>
          <a:sy n="130" d="100"/>
        </p:scale>
        <p:origin x="42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34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Open with the product thesis, not the toolkit. Emphasize private local inference and evidence-bounded scientific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Explain why a local Agent matters: private data, real scientific tools, and receipts. Avoid claiming this replaces experimental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Walk top to bottom. Stress the core safety split: the model can recommend and summarize, but only auditable tools can mutate artifacts or stage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Use this slide as the core demo map. Each later demo screenshot should map back to one state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This is the anti-overclaiming slide. Name the boundary after each stage so judges see that the system is useful without fabricating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Show OpenCode WAITING_APPROVAL if available. Tie ShadowPlan to native one-time approval and the acceptance receipt after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This slide protects against the “docking wrapper” critique by showing where the Agent adds safety and where deterministic science tools own the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Show rocm-smi/gfx1100 screenshot if available. Mention the exactness gate before any acceleration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Lead with reliability metrics, then latency/throughput/VRAM. Be explicit that routing compression is a prompt/schema benefit and the latency ratio is exploratory.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Say this explicitly in the pitch. Judges will trust a system that refuses to pretend that docking is an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This is the product path beyond a demo. Mention assay import and explicit fits, while preserving the “not proof of mechanism”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End with the closing line exactly. Keep the demo as proof of workflow: local GPU, approvals, receipts, and conservative scientific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i_tech_digital_illustration_cg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Shape 1"/>
          <p:cNvSpPr/>
          <p:nvPr/>
        </p:nvSpPr>
        <p:spPr>
          <a:xfrm>
            <a:off x="594360" y="502920"/>
            <a:ext cx="2971800" cy="256032"/>
          </a:xfrm>
          <a:prstGeom prst="roundRect">
            <a:avLst>
              <a:gd name="adj" fmla="val 28571"/>
            </a:avLst>
          </a:prstGeom>
          <a:solidFill>
            <a:srgbClr val="FF3B3B">
              <a:alpha val="26000"/>
            </a:srgbClr>
          </a:solidFill>
          <a:ln w="1270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" name="Text 2"/>
          <p:cNvSpPr/>
          <p:nvPr/>
        </p:nvSpPr>
        <p:spPr>
          <a:xfrm>
            <a:off x="667512" y="553212"/>
            <a:ext cx="282549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2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5029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ProtBind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048256"/>
            <a:ext cx="4572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local-private protein–ligand research Agent on AMD Radeon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658368" y="2962656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Qwen inference · ROCm/HIP tools · audited scientific state</a:t>
            </a:r>
            <a:endParaRPr lang="en-US" sz="1270" dirty="0"/>
          </a:p>
        </p:txBody>
      </p:sp>
      <p:sp>
        <p:nvSpPr>
          <p:cNvPr id="9" name="Shape 6"/>
          <p:cNvSpPr/>
          <p:nvPr/>
        </p:nvSpPr>
        <p:spPr>
          <a:xfrm>
            <a:off x="640080" y="5102352"/>
            <a:ext cx="4526280" cy="676656"/>
          </a:xfrm>
          <a:prstGeom prst="roundRect">
            <a:avLst>
              <a:gd name="adj" fmla="val 10811"/>
            </a:avLst>
          </a:prstGeom>
          <a:solidFill>
            <a:srgbClr val="0D1117">
              <a:alpha val="88000"/>
            </a:srgbClr>
          </a:solidFill>
          <a:ln w="12700">
            <a:solidFill>
              <a:srgbClr val="2A3342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Text 7"/>
          <p:cNvSpPr/>
          <p:nvPr/>
        </p:nvSpPr>
        <p:spPr>
          <a:xfrm>
            <a:off x="850392" y="5285232"/>
            <a:ext cx="4160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Huang Siming — Solo Participant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6016752"/>
            <a:ext cx="47548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thesis: private, auditable research collaboration without pretending that a model score is an experiment.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research gap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research teams need an auditable workstation workflow, not a persuasive cloud chat wrapper.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10698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Protein–ligand research crosses private compounds, structures, docking, papers and assay measurements. The failure mode is not just wrong text — it is lost provenance.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8"/>
          <p:cNvSpPr/>
          <p:nvPr/>
        </p:nvSpPr>
        <p:spPr>
          <a:xfrm>
            <a:off x="850392" y="2359152"/>
            <a:ext cx="402336" cy="402336"/>
          </a:xfrm>
          <a:prstGeom prst="ellipse">
            <a:avLst/>
          </a:prstGeom>
          <a:solidFill>
            <a:srgbClr val="FF3B3B">
              <a:alpha val="18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1380744" y="2267712"/>
            <a:ext cx="2423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data leaves the workstation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0744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sequences, compounds, assay tables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4480560" y="21488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Shape 13"/>
          <p:cNvSpPr/>
          <p:nvPr/>
        </p:nvSpPr>
        <p:spPr>
          <a:xfrm>
            <a:off x="4645152" y="2359152"/>
            <a:ext cx="402336" cy="402336"/>
          </a:xfrm>
          <a:prstGeom prst="ellipse">
            <a:avLst/>
          </a:prstGeom>
          <a:solidFill>
            <a:srgbClr val="FFB020">
              <a:alpha val="18000"/>
            </a:srgbClr>
          </a:solidFill>
          <a:ln w="1524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4"/>
          <p:cNvSpPr/>
          <p:nvPr/>
        </p:nvSpPr>
        <p:spPr>
          <a:xfrm>
            <a:off x="4645152" y="2414114"/>
            <a:ext cx="40233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75504" y="2267712"/>
            <a:ext cx="2423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prose becomes false evidence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5504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get confused with experiments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8275320" y="21488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Shape 18"/>
          <p:cNvSpPr/>
          <p:nvPr/>
        </p:nvSpPr>
        <p:spPr>
          <a:xfrm>
            <a:off x="8439912" y="2359152"/>
            <a:ext cx="402336" cy="402336"/>
          </a:xfrm>
          <a:prstGeom prst="ellipse">
            <a:avLst/>
          </a:prstGeom>
          <a:solidFill>
            <a:srgbClr val="8B5CF6">
              <a:alpha val="18000"/>
            </a:srgbClr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8439912" y="2455262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↯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70264" y="2267712"/>
            <a:ext cx="2423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workflows lose state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70264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artifacts, failures and approvals vanish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685800" y="4251960"/>
            <a:ext cx="10972800" cy="1298448"/>
          </a:xfrm>
          <a:prstGeom prst="roundRect">
            <a:avLst>
              <a:gd name="adj" fmla="val 5634"/>
            </a:avLst>
          </a:prstGeom>
          <a:solidFill>
            <a:srgbClr val="0E151A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932688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4498848"/>
            <a:ext cx="402336" cy="402336"/>
          </a:xfrm>
          <a:prstGeom prst="ellipse">
            <a:avLst/>
          </a:prstGeom>
          <a:solidFill>
            <a:srgbClr val="2DE2E6">
              <a:alpha val="12000"/>
            </a:srgbClr>
          </a:solidFill>
          <a:ln w="1524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Text 25"/>
          <p:cNvSpPr/>
          <p:nvPr/>
        </p:nvSpPr>
        <p:spPr>
          <a:xfrm>
            <a:off x="2560320" y="4576572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035808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biotech or academic labs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32120" y="4498848"/>
            <a:ext cx="402336" cy="402336"/>
          </a:xfrm>
          <a:prstGeom prst="ellipse">
            <a:avLst/>
          </a:prstGeom>
          <a:solidFill>
            <a:srgbClr val="2DE2E6">
              <a:alpha val="12000"/>
            </a:srgbClr>
          </a:solidFill>
          <a:ln w="1524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Text 28"/>
          <p:cNvSpPr/>
          <p:nvPr/>
        </p:nvSpPr>
        <p:spPr>
          <a:xfrm>
            <a:off x="5532120" y="458571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07608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chemists using local GPUs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498848"/>
            <a:ext cx="402336" cy="402336"/>
          </a:xfrm>
          <a:prstGeom prst="ellipse">
            <a:avLst/>
          </a:prstGeom>
          <a:solidFill>
            <a:srgbClr val="2DE2E6">
              <a:alpha val="12000"/>
            </a:srgbClr>
          </a:solidFill>
          <a:ln w="1524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Text 31"/>
          <p:cNvSpPr/>
          <p:nvPr/>
        </p:nvSpPr>
        <p:spPr>
          <a:xfrm>
            <a:off x="8503920" y="458571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79408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teams that need a reproducible handoff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5897880"/>
            <a:ext cx="10332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goal: keep reasoning helpful, computation reproducible, data local, and evidence honest.</a:t>
            </a:r>
            <a:endParaRPr lang="en-US" sz="1600" dirty="0"/>
          </a:p>
        </p:txBody>
      </p:sp>
      <p:pic>
        <p:nvPicPr>
          <p:cNvPr id="37" name="圖形 36" descr="鎖定 以實心填滿">
            <a:extLst>
              <a:ext uri="{FF2B5EF4-FFF2-40B4-BE49-F238E27FC236}">
                <a16:creationId xmlns:a16="http://schemas.microsoft.com/office/drawing/2014/main" id="{904041CD-4EE9-22D7-4A4B-79C1AFE1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828" y="2404872"/>
            <a:ext cx="28346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Four-layer Agent architecture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proposes and explains actions; deterministic tools alone change scientific state.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10208785" cy="713232"/>
          </a:xfrm>
          <a:prstGeom prst="roundRect">
            <a:avLst>
              <a:gd name="adj" fmla="val 10256"/>
            </a:avLst>
          </a:prstGeom>
          <a:solidFill>
            <a:srgbClr val="0D151A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960120" y="1636776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DE2E6">
              <a:alpha val="24000"/>
            </a:srgbClr>
          </a:solidFill>
          <a:ln w="1270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1033272" y="1687068"/>
            <a:ext cx="11795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560320" y="1609344"/>
            <a:ext cx="8183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OpenCode · local Web UI · CLI · local Qwen model served by HipFire</a:t>
            </a:r>
            <a:endParaRPr lang="en-US" sz="1560" dirty="0"/>
          </a:p>
        </p:txBody>
      </p:sp>
      <p:sp>
        <p:nvSpPr>
          <p:cNvPr id="12" name="Shape 10"/>
          <p:cNvSpPr/>
          <p:nvPr/>
        </p:nvSpPr>
        <p:spPr>
          <a:xfrm>
            <a:off x="713232" y="246888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10141C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960120" y="2688336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1033272" y="2738628"/>
            <a:ext cx="11795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560320" y="2660904"/>
            <a:ext cx="8183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MCP tools · ShadowPlan previews · one-time approvals · scientific gates</a:t>
            </a:r>
            <a:endParaRPr lang="en-US" sz="1560" dirty="0"/>
          </a:p>
        </p:txBody>
      </p:sp>
      <p:sp>
        <p:nvSpPr>
          <p:cNvPr id="16" name="Shape 14"/>
          <p:cNvSpPr/>
          <p:nvPr/>
        </p:nvSpPr>
        <p:spPr>
          <a:xfrm>
            <a:off x="713232" y="352044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0D151A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5"/>
          <p:cNvSpPr/>
          <p:nvPr/>
        </p:nvSpPr>
        <p:spPr>
          <a:xfrm>
            <a:off x="960120" y="3739896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35D07F">
              <a:alpha val="24000"/>
            </a:srgbClr>
          </a:solidFill>
          <a:ln w="1270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1033272" y="3790188"/>
            <a:ext cx="11795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560320" y="3712464"/>
            <a:ext cx="8183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 · Meeko/Vina · PoseBusters · local retrieval · assay fitting · optional DrutAI</a:t>
            </a:r>
            <a:endParaRPr lang="en-US" sz="1560" dirty="0"/>
          </a:p>
        </p:txBody>
      </p:sp>
      <p:sp>
        <p:nvSpPr>
          <p:cNvPr id="20" name="Shape 18"/>
          <p:cNvSpPr/>
          <p:nvPr/>
        </p:nvSpPr>
        <p:spPr>
          <a:xfrm>
            <a:off x="713232" y="4572000"/>
            <a:ext cx="10208785" cy="713232"/>
          </a:xfrm>
          <a:prstGeom prst="roundRect">
            <a:avLst>
              <a:gd name="adj" fmla="val 10256"/>
            </a:avLst>
          </a:prstGeom>
          <a:solidFill>
            <a:srgbClr val="10141C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Shape 19"/>
          <p:cNvSpPr/>
          <p:nvPr/>
        </p:nvSpPr>
        <p:spPr>
          <a:xfrm>
            <a:off x="960120" y="4791456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3B3B">
              <a:alpha val="24000"/>
            </a:srgbClr>
          </a:solidFill>
          <a:ln w="1270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1033272" y="4841748"/>
            <a:ext cx="11795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560320" y="4764024"/>
            <a:ext cx="8183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Hash-bound manifests · immutable artifacts · stage receipts · bounded reports</a:t>
            </a:r>
            <a:endParaRPr lang="en-US" sz="1560" dirty="0"/>
          </a:p>
        </p:txBody>
      </p:sp>
      <p:sp>
        <p:nvSpPr>
          <p:cNvPr id="25" name="Shape 23"/>
          <p:cNvSpPr/>
          <p:nvPr/>
        </p:nvSpPr>
        <p:spPr>
          <a:xfrm>
            <a:off x="3913632" y="5650992"/>
            <a:ext cx="4343400" cy="438912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A3342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Text 24"/>
          <p:cNvSpPr/>
          <p:nvPr/>
        </p:nvSpPr>
        <p:spPr>
          <a:xfrm>
            <a:off x="4096512" y="5760720"/>
            <a:ext cx="39776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Boundary: tool receipts, not LLM prose, advance the run state</a:t>
            </a:r>
            <a:endParaRPr lang="en-US" sz="1080" dirty="0"/>
          </a:p>
        </p:txBody>
      </p:sp>
      <p:sp>
        <p:nvSpPr>
          <p:cNvPr id="32" name="弧線 31">
            <a:extLst>
              <a:ext uri="{FF2B5EF4-FFF2-40B4-BE49-F238E27FC236}">
                <a16:creationId xmlns:a16="http://schemas.microsoft.com/office/drawing/2014/main" id="{B62F86D8-742E-439A-3FC2-B0DF47489202}"/>
              </a:ext>
            </a:extLst>
          </p:cNvPr>
          <p:cNvSpPr/>
          <p:nvPr/>
        </p:nvSpPr>
        <p:spPr>
          <a:xfrm rot="155577">
            <a:off x="10934051" y="1210068"/>
            <a:ext cx="855455" cy="4136111"/>
          </a:xfrm>
          <a:prstGeom prst="arc">
            <a:avLst>
              <a:gd name="adj1" fmla="val 16392280"/>
              <a:gd name="adj2" fmla="val 5179489"/>
            </a:avLst>
          </a:prstGeom>
          <a:ln w="762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39496 w 855455"/>
                      <a:gd name="connsiteY0" fmla="*/ 71853 h 4136111"/>
                      <a:gd name="connsiteX1" fmla="*/ 855456 w 855455"/>
                      <a:gd name="connsiteY1" fmla="*/ 2066860 h 4136111"/>
                      <a:gd name="connsiteX2" fmla="*/ 549826 w 855455"/>
                      <a:gd name="connsiteY2" fmla="*/ 4050064 h 4136111"/>
                      <a:gd name="connsiteX3" fmla="*/ 427728 w 855455"/>
                      <a:gd name="connsiteY3" fmla="*/ 2068056 h 4136111"/>
                      <a:gd name="connsiteX4" fmla="*/ 539496 w 855455"/>
                      <a:gd name="connsiteY4" fmla="*/ 71853 h 4136111"/>
                      <a:gd name="connsiteX0" fmla="*/ 539496 w 855455"/>
                      <a:gd name="connsiteY0" fmla="*/ 71853 h 4136111"/>
                      <a:gd name="connsiteX1" fmla="*/ 855456 w 855455"/>
                      <a:gd name="connsiteY1" fmla="*/ 2066860 h 4136111"/>
                      <a:gd name="connsiteX2" fmla="*/ 549826 w 855455"/>
                      <a:gd name="connsiteY2" fmla="*/ 4050064 h 4136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55455" h="4136111" stroke="0" extrusionOk="0">
                        <a:moveTo>
                          <a:pt x="539496" y="71853"/>
                        </a:moveTo>
                        <a:cubicBezTo>
                          <a:pt x="682055" y="288775"/>
                          <a:pt x="800602" y="1153817"/>
                          <a:pt x="855456" y="2066860"/>
                        </a:cubicBezTo>
                        <a:cubicBezTo>
                          <a:pt x="877050" y="2986606"/>
                          <a:pt x="712230" y="3789412"/>
                          <a:pt x="549826" y="4050064"/>
                        </a:cubicBezTo>
                        <a:cubicBezTo>
                          <a:pt x="366463" y="3262639"/>
                          <a:pt x="640027" y="2957695"/>
                          <a:pt x="427728" y="2068056"/>
                        </a:cubicBezTo>
                        <a:cubicBezTo>
                          <a:pt x="427840" y="1704946"/>
                          <a:pt x="376027" y="263846"/>
                          <a:pt x="539496" y="71853"/>
                        </a:cubicBezTo>
                        <a:close/>
                      </a:path>
                      <a:path w="855455" h="4136111" fill="none" extrusionOk="0">
                        <a:moveTo>
                          <a:pt x="539496" y="71853"/>
                        </a:moveTo>
                        <a:cubicBezTo>
                          <a:pt x="711814" y="181682"/>
                          <a:pt x="830448" y="1167870"/>
                          <a:pt x="855456" y="2066860"/>
                        </a:cubicBezTo>
                        <a:cubicBezTo>
                          <a:pt x="880045" y="2995787"/>
                          <a:pt x="745475" y="3792229"/>
                          <a:pt x="549826" y="4050064"/>
                        </a:cubicBezTo>
                      </a:path>
                      <a:path w="855455" h="4136111" fill="none" stroke="0" extrusionOk="0">
                        <a:moveTo>
                          <a:pt x="539496" y="71853"/>
                        </a:moveTo>
                        <a:cubicBezTo>
                          <a:pt x="776389" y="321798"/>
                          <a:pt x="922100" y="995888"/>
                          <a:pt x="855456" y="2066860"/>
                        </a:cubicBezTo>
                        <a:cubicBezTo>
                          <a:pt x="835710" y="2979042"/>
                          <a:pt x="708023" y="3810668"/>
                          <a:pt x="549826" y="405006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docking workflow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 machine with explicit inputs, evidence, gates and receipts.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1563624" y="2002535"/>
            <a:ext cx="320040" cy="9143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2834640" y="2002536"/>
            <a:ext cx="429768" cy="9142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8"/>
          <p:cNvSpPr/>
          <p:nvPr/>
        </p:nvSpPr>
        <p:spPr>
          <a:xfrm flipV="1">
            <a:off x="4215384" y="2002535"/>
            <a:ext cx="566928" cy="1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5861304" y="2002536"/>
            <a:ext cx="329184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10"/>
          <p:cNvSpPr/>
          <p:nvPr/>
        </p:nvSpPr>
        <p:spPr>
          <a:xfrm>
            <a:off x="7150608" y="2395728"/>
            <a:ext cx="0" cy="128016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3099816" y="4105656"/>
            <a:ext cx="539496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12"/>
          <p:cNvSpPr/>
          <p:nvPr/>
        </p:nvSpPr>
        <p:spPr>
          <a:xfrm>
            <a:off x="4626864" y="4105656"/>
            <a:ext cx="548640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Shape 13"/>
          <p:cNvSpPr/>
          <p:nvPr/>
        </p:nvSpPr>
        <p:spPr>
          <a:xfrm>
            <a:off x="6163056" y="4105656"/>
            <a:ext cx="548640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4"/>
          <p:cNvSpPr/>
          <p:nvPr/>
        </p:nvSpPr>
        <p:spPr>
          <a:xfrm>
            <a:off x="475488" y="1609344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5"/>
          <p:cNvSpPr/>
          <p:nvPr/>
        </p:nvSpPr>
        <p:spPr>
          <a:xfrm>
            <a:off x="548640" y="1737360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48640" y="2048256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opened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83664" y="162763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1956816" y="175564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956816" y="206654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case, files, privacy, hashes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64408" y="162763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3337560" y="175564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337560" y="206654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receptor + fixed site/box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82312" y="162763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Text 24"/>
          <p:cNvSpPr/>
          <p:nvPr/>
        </p:nvSpPr>
        <p:spPr>
          <a:xfrm>
            <a:off x="4855464" y="175564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855464" y="206654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library + TriPharm SQLite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90488" y="1613664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7"/>
          <p:cNvSpPr/>
          <p:nvPr/>
        </p:nvSpPr>
        <p:spPr>
          <a:xfrm>
            <a:off x="6263640" y="1741680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SCREENED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6263640" y="2052576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 high-recall CPU/HIP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48840" y="373075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Text 30"/>
          <p:cNvSpPr/>
          <p:nvPr/>
        </p:nvSpPr>
        <p:spPr>
          <a:xfrm>
            <a:off x="2221992" y="385876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2221992" y="416966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quick-Vina pruning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75888" y="373075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Text 33"/>
          <p:cNvSpPr/>
          <p:nvPr/>
        </p:nvSpPr>
        <p:spPr>
          <a:xfrm>
            <a:off x="3749040" y="385876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DOCKED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3749040" y="416966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Vina rerun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212080" y="373075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8" name="Text 36"/>
          <p:cNvSpPr/>
          <p:nvPr/>
        </p:nvSpPr>
        <p:spPr>
          <a:xfrm>
            <a:off x="5285232" y="385876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5285232" y="416966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PoseBusters + geometry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48272" y="3730752"/>
            <a:ext cx="1078992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1" name="Text 39"/>
          <p:cNvSpPr/>
          <p:nvPr/>
        </p:nvSpPr>
        <p:spPr>
          <a:xfrm>
            <a:off x="6821424" y="3858768"/>
            <a:ext cx="93268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6821424" y="4169664"/>
            <a:ext cx="9326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+ next wet-lab work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732520" y="1481328"/>
            <a:ext cx="2651760" cy="3401568"/>
          </a:xfrm>
          <a:prstGeom prst="roundRect">
            <a:avLst>
              <a:gd name="adj" fmla="val 2759"/>
            </a:avLst>
          </a:prstGeom>
          <a:solidFill>
            <a:srgbClr val="0F1219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4" name="Text 42"/>
          <p:cNvSpPr/>
          <p:nvPr/>
        </p:nvSpPr>
        <p:spPr>
          <a:xfrm>
            <a:off x="9006840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transition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098280" y="2240280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17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6" name="Text 44"/>
          <p:cNvSpPr/>
          <p:nvPr/>
        </p:nvSpPr>
        <p:spPr>
          <a:xfrm>
            <a:off x="9171432" y="2290572"/>
            <a:ext cx="17739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PREFLIGHT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10058400" y="2505456"/>
            <a:ext cx="0" cy="73152"/>
          </a:xfrm>
          <a:prstGeom prst="line">
            <a:avLst/>
          </a:prstGeom>
          <a:noFill/>
          <a:ln w="1143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8" name="Shape 46"/>
          <p:cNvSpPr/>
          <p:nvPr/>
        </p:nvSpPr>
        <p:spPr>
          <a:xfrm>
            <a:off x="9098280" y="2624328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2DE2E6">
              <a:alpha val="17000"/>
            </a:srgbClr>
          </a:solidFill>
          <a:ln w="1270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9" name="Text 47"/>
          <p:cNvSpPr/>
          <p:nvPr/>
        </p:nvSpPr>
        <p:spPr>
          <a:xfrm>
            <a:off x="9171432" y="2674620"/>
            <a:ext cx="17739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continuation token</a:t>
            </a:r>
            <a:endParaRPr lang="en-US" sz="790" dirty="0"/>
          </a:p>
        </p:txBody>
      </p:sp>
      <p:sp>
        <p:nvSpPr>
          <p:cNvPr id="50" name="Shape 48"/>
          <p:cNvSpPr/>
          <p:nvPr/>
        </p:nvSpPr>
        <p:spPr>
          <a:xfrm>
            <a:off x="10058400" y="2889504"/>
            <a:ext cx="0" cy="73152"/>
          </a:xfrm>
          <a:prstGeom prst="line">
            <a:avLst/>
          </a:prstGeom>
          <a:noFill/>
          <a:ln w="1143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1" name="Shape 49"/>
          <p:cNvSpPr/>
          <p:nvPr/>
        </p:nvSpPr>
        <p:spPr>
          <a:xfrm>
            <a:off x="9098280" y="3008376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2DE2E6">
              <a:alpha val="17000"/>
            </a:srgbClr>
          </a:solidFill>
          <a:ln w="1270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2" name="Text 50"/>
          <p:cNvSpPr/>
          <p:nvPr/>
        </p:nvSpPr>
        <p:spPr>
          <a:xfrm>
            <a:off x="9171432" y="3058668"/>
            <a:ext cx="17739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approval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10058400" y="3273552"/>
            <a:ext cx="0" cy="73152"/>
          </a:xfrm>
          <a:prstGeom prst="line">
            <a:avLst/>
          </a:prstGeom>
          <a:noFill/>
          <a:ln w="1143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4" name="Shape 52"/>
          <p:cNvSpPr/>
          <p:nvPr/>
        </p:nvSpPr>
        <p:spPr>
          <a:xfrm>
            <a:off x="9098280" y="3392424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2DE2E6">
              <a:alpha val="17000"/>
            </a:srgbClr>
          </a:solidFill>
          <a:ln w="12700">
            <a:solidFill>
              <a:srgbClr val="2DE2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5" name="Text 53"/>
          <p:cNvSpPr/>
          <p:nvPr/>
        </p:nvSpPr>
        <p:spPr>
          <a:xfrm>
            <a:off x="9171432" y="3442716"/>
            <a:ext cx="17739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one-stage execution</a:t>
            </a:r>
            <a:endParaRPr lang="en-US" sz="790" dirty="0"/>
          </a:p>
        </p:txBody>
      </p:sp>
      <p:sp>
        <p:nvSpPr>
          <p:cNvPr id="56" name="Shape 54"/>
          <p:cNvSpPr/>
          <p:nvPr/>
        </p:nvSpPr>
        <p:spPr>
          <a:xfrm>
            <a:off x="10058400" y="3657600"/>
            <a:ext cx="0" cy="73152"/>
          </a:xfrm>
          <a:prstGeom prst="line">
            <a:avLst/>
          </a:prstGeom>
          <a:noFill/>
          <a:ln w="1143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7" name="Shape 55"/>
          <p:cNvSpPr/>
          <p:nvPr/>
        </p:nvSpPr>
        <p:spPr>
          <a:xfrm>
            <a:off x="9098280" y="377647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17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8" name="Text 56"/>
          <p:cNvSpPr/>
          <p:nvPr/>
        </p:nvSpPr>
        <p:spPr>
          <a:xfrm>
            <a:off x="9171432" y="3826764"/>
            <a:ext cx="17739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POSTFLIGHT audit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10058400" y="4041648"/>
            <a:ext cx="0" cy="73152"/>
          </a:xfrm>
          <a:prstGeom prst="line">
            <a:avLst/>
          </a:prstGeom>
          <a:noFill/>
          <a:ln w="1143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0" name="Shape 58"/>
          <p:cNvSpPr/>
          <p:nvPr/>
        </p:nvSpPr>
        <p:spPr>
          <a:xfrm>
            <a:off x="9098280" y="4160520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F3B3B">
              <a:alpha val="17000"/>
            </a:srgbClr>
          </a:solidFill>
          <a:ln w="1270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1" name="Text 59"/>
          <p:cNvSpPr/>
          <p:nvPr/>
        </p:nvSpPr>
        <p:spPr>
          <a:xfrm>
            <a:off x="9171432" y="4210812"/>
            <a:ext cx="17739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receipt</a:t>
            </a:r>
            <a:endParaRPr lang="en-US" sz="790" dirty="0"/>
          </a:p>
        </p:txBody>
      </p:sp>
      <p:sp>
        <p:nvSpPr>
          <p:cNvPr id="62" name="Text 60"/>
          <p:cNvSpPr/>
          <p:nvPr/>
        </p:nvSpPr>
        <p:spPr>
          <a:xfrm>
            <a:off x="758952" y="1325880"/>
            <a:ext cx="33832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 + receptor + candidate library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outputs and evidence boundaries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stage has a result, but not every result is evidence of binding.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86384" y="1353312"/>
            <a:ext cx="1828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353312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checked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353312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68512" y="1353312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682496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Text 11"/>
          <p:cNvSpPr/>
          <p:nvPr/>
        </p:nvSpPr>
        <p:spPr>
          <a:xfrm>
            <a:off x="841248" y="1892808"/>
            <a:ext cx="1691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INPUT_VALIDATED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788920" y="1865376"/>
            <a:ext cx="2880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schema, input files, privacy policy, SHA-256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6035040" y="1865376"/>
            <a:ext cx="2057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input-validation receipt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8668512" y="1865376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Executable inputs; not binding evidence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40080" y="2633472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841248" y="2843784"/>
            <a:ext cx="1691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35D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RECEPTOR_READY / INDEXED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788920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 preparation, fixed site/box, frozen library/index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6035040" y="2816352"/>
            <a:ext cx="2057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receptor + SQLite index receipts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668512" y="2816352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candidate space; not affinity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40080" y="3584448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841248" y="3794760"/>
            <a:ext cx="1691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SCREENED / SELECTED / DOCKED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788920" y="3767328"/>
            <a:ext cx="2880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 high-recall hits, quick-Vina pruning, production Vina poses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035040" y="3767328"/>
            <a:ext cx="2057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hits, selected set, Vina poses/scores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8668512" y="3767328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hypotheses; scores are not experiments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40080" y="4535424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841248" y="4745736"/>
            <a:ext cx="1691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/ REPORTED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2788920" y="4718304"/>
            <a:ext cx="2880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QA, box containment, clashes, geometry, failures and unknowns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6035040" y="4718304"/>
            <a:ext cx="2057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per-pose QA + report/dossier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8668512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validity; not biological activity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3456432" y="5797296"/>
            <a:ext cx="5285232" cy="256032"/>
          </a:xfrm>
          <a:prstGeom prst="roundRect">
            <a:avLst>
              <a:gd name="adj" fmla="val 28571"/>
            </a:avLst>
          </a:prstGeom>
          <a:solidFill>
            <a:srgbClr val="FF3B3B">
              <a:alpha val="18000"/>
            </a:srgbClr>
          </a:solidFill>
          <a:ln w="1270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Text 31"/>
          <p:cNvSpPr/>
          <p:nvPr/>
        </p:nvSpPr>
        <p:spPr>
          <a:xfrm>
            <a:off x="3529584" y="5847588"/>
            <a:ext cx="51389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preserves uncertainty: failures and unknowns remain visible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ShadowPlan and stage-gated execution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Preview, approve, execute one stage, audit, then bind the result to a receipt.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1764792" y="2340864"/>
            <a:ext cx="310896" cy="0"/>
          </a:xfrm>
          <a:prstGeom prst="line">
            <a:avLst/>
          </a:prstGeom>
          <a:noFill/>
          <a:ln w="1397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3063240" y="2340864"/>
            <a:ext cx="310896" cy="0"/>
          </a:xfrm>
          <a:prstGeom prst="line">
            <a:avLst/>
          </a:prstGeom>
          <a:noFill/>
          <a:ln w="1397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8"/>
          <p:cNvSpPr/>
          <p:nvPr/>
        </p:nvSpPr>
        <p:spPr>
          <a:xfrm>
            <a:off x="4361688" y="2340864"/>
            <a:ext cx="310896" cy="0"/>
          </a:xfrm>
          <a:prstGeom prst="line">
            <a:avLst/>
          </a:prstGeom>
          <a:noFill/>
          <a:ln w="1397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5660136" y="2340864"/>
            <a:ext cx="310896" cy="0"/>
          </a:xfrm>
          <a:prstGeom prst="line">
            <a:avLst/>
          </a:prstGeom>
          <a:noFill/>
          <a:ln w="1397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10"/>
          <p:cNvSpPr/>
          <p:nvPr/>
        </p:nvSpPr>
        <p:spPr>
          <a:xfrm>
            <a:off x="6958584" y="2340864"/>
            <a:ext cx="310896" cy="0"/>
          </a:xfrm>
          <a:prstGeom prst="line">
            <a:avLst/>
          </a:prstGeom>
          <a:noFill/>
          <a:ln w="1397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1883664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868680" y="2084832"/>
            <a:ext cx="859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PREFLIGHT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86968" y="2377440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next transition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103120" y="1883664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5"/>
          <p:cNvSpPr/>
          <p:nvPr/>
        </p:nvSpPr>
        <p:spPr>
          <a:xfrm>
            <a:off x="2167128" y="2084832"/>
            <a:ext cx="859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2185416" y="2377440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+ manifest + policy hash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401568" y="1883664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3465576" y="2084832"/>
            <a:ext cx="859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483864" y="2377440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user decision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700016" y="1883664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4764024" y="2084832"/>
            <a:ext cx="859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5D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782312" y="2377440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deterministic stage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998464" y="1883664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Text 24"/>
          <p:cNvSpPr/>
          <p:nvPr/>
        </p:nvSpPr>
        <p:spPr>
          <a:xfrm>
            <a:off x="6062472" y="2084832"/>
            <a:ext cx="859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POSTFLIGHT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080760" y="2377440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audit + status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7296912" y="1883664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7"/>
          <p:cNvSpPr/>
          <p:nvPr/>
        </p:nvSpPr>
        <p:spPr>
          <a:xfrm>
            <a:off x="7360920" y="2084832"/>
            <a:ext cx="859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379208" y="2377440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acceptance record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60120" y="3886200"/>
            <a:ext cx="4251960" cy="1536192"/>
          </a:xfrm>
          <a:prstGeom prst="roundRect">
            <a:avLst>
              <a:gd name="adj" fmla="val 4762"/>
            </a:avLst>
          </a:prstGeom>
          <a:solidFill>
            <a:srgbClr val="0E151A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Text 30"/>
          <p:cNvSpPr/>
          <p:nvPr/>
        </p:nvSpPr>
        <p:spPr>
          <a:xfrm>
            <a:off x="118872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ShadowPlan preview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4462272"/>
            <a:ext cx="36118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 · receptor, index, manifest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· next-stage artifacts only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 · unsupported chemistry, worker failure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· retry from last accepted receipt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5577840" y="38862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121018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Text 33"/>
          <p:cNvSpPr/>
          <p:nvPr/>
        </p:nvSpPr>
        <p:spPr>
          <a:xfrm>
            <a:off x="5833872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Fail-closed behavior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33872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tokens, changed artifacts, invalid geometry, unsupported chemistry, or worker crashes cannot be silently converted into success.</a:t>
            </a:r>
            <a:endParaRPr lang="en-US" sz="13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responsibility boundaries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tools, four roles — and clear claims they are not allowed to make.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03504" y="1481328"/>
            <a:ext cx="2542032" cy="3840480"/>
          </a:xfrm>
          <a:prstGeom prst="roundRect">
            <a:avLst>
              <a:gd name="adj" fmla="val 2878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1426464" y="1755648"/>
            <a:ext cx="868680" cy="868680"/>
          </a:xfrm>
          <a:prstGeom prst="ellipse">
            <a:avLst/>
          </a:prstGeom>
          <a:solidFill>
            <a:srgbClr val="35D07F">
              <a:alpha val="28000"/>
            </a:srgbClr>
          </a:solidFill>
          <a:ln w="1524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1426464" y="208330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5D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3246120"/>
            <a:ext cx="204825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High-recall pharmacophore prefilter; HIP output must match CPU complete ordering.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50976" y="4434840"/>
            <a:ext cx="1847088" cy="18288"/>
          </a:xfrm>
          <a:prstGeom prst="rect">
            <a:avLst/>
          </a:prstGeom>
          <a:solidFill>
            <a:srgbClr val="35D0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850392" y="4617720"/>
            <a:ext cx="20482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Hits are hypotheses, not activity.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483864" y="1481328"/>
            <a:ext cx="2542032" cy="3840480"/>
          </a:xfrm>
          <a:prstGeom prst="roundRect">
            <a:avLst>
              <a:gd name="adj" fmla="val 2878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4"/>
          <p:cNvSpPr/>
          <p:nvPr/>
        </p:nvSpPr>
        <p:spPr>
          <a:xfrm>
            <a:off x="4306824" y="1755648"/>
            <a:ext cx="868680" cy="868680"/>
          </a:xfrm>
          <a:prstGeom prst="ellipse">
            <a:avLst/>
          </a:prstGeom>
          <a:solidFill>
            <a:srgbClr val="FFB020">
              <a:alpha val="28000"/>
            </a:srgbClr>
          </a:solidFill>
          <a:ln w="1524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 dirty="0"/>
          </a:p>
        </p:txBody>
      </p:sp>
      <p:sp>
        <p:nvSpPr>
          <p:cNvPr id="17" name="Text 15"/>
          <p:cNvSpPr/>
          <p:nvPr/>
        </p:nvSpPr>
        <p:spPr>
          <a:xfrm>
            <a:off x="4320540" y="207568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12464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quick-Vina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730752" y="3246120"/>
            <a:ext cx="204825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coarse ranking to shrink the formal docking set.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831336" y="4434840"/>
            <a:ext cx="1847088" cy="18288"/>
          </a:xfrm>
          <a:prstGeom prst="rect">
            <a:avLst/>
          </a:prstGeom>
          <a:solidFill>
            <a:srgbClr val="FFB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3730752" y="4617720"/>
            <a:ext cx="20482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final docking evidence.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364224" y="1481328"/>
            <a:ext cx="2542032" cy="3840480"/>
          </a:xfrm>
          <a:prstGeom prst="roundRect">
            <a:avLst>
              <a:gd name="adj" fmla="val 2878"/>
            </a:avLst>
          </a:prstGeom>
          <a:solidFill>
            <a:srgbClr val="161B22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21"/>
          <p:cNvSpPr/>
          <p:nvPr/>
        </p:nvSpPr>
        <p:spPr>
          <a:xfrm>
            <a:off x="7187184" y="1755648"/>
            <a:ext cx="868680" cy="868680"/>
          </a:xfrm>
          <a:prstGeom prst="ellipse">
            <a:avLst/>
          </a:prstGeom>
          <a:solidFill>
            <a:srgbClr val="5B8CFF">
              <a:alpha val="28000"/>
            </a:srgbClr>
          </a:solidFill>
          <a:ln w="1524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7187184" y="208330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92824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Vina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611112" y="3246120"/>
            <a:ext cx="204825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Rerun selected candidates in a fixed, hash-bound environment.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711696" y="4434840"/>
            <a:ext cx="1847088" cy="18288"/>
          </a:xfrm>
          <a:prstGeom prst="rect">
            <a:avLst/>
          </a:prstGeom>
          <a:solidFill>
            <a:srgbClr val="5B8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6611112" y="4617720"/>
            <a:ext cx="20482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are ranking estimates, not affinity.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244584" y="1481328"/>
            <a:ext cx="2542032" cy="3840480"/>
          </a:xfrm>
          <a:prstGeom prst="roundRect">
            <a:avLst>
              <a:gd name="adj" fmla="val 2878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Shape 28"/>
          <p:cNvSpPr/>
          <p:nvPr/>
        </p:nvSpPr>
        <p:spPr>
          <a:xfrm>
            <a:off x="10067544" y="1755648"/>
            <a:ext cx="868680" cy="868680"/>
          </a:xfrm>
          <a:prstGeom prst="ellipse">
            <a:avLst/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Text 29"/>
          <p:cNvSpPr/>
          <p:nvPr/>
        </p:nvSpPr>
        <p:spPr>
          <a:xfrm>
            <a:off x="10067544" y="2071116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73184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PoseBusters + geometry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491472" y="3246120"/>
            <a:ext cx="204825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box containment, atom distances, clashes and pose plausibility.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9592056" y="4434840"/>
            <a:ext cx="1847088" cy="1828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Text 33"/>
          <p:cNvSpPr/>
          <p:nvPr/>
        </p:nvSpPr>
        <p:spPr>
          <a:xfrm>
            <a:off x="9491472" y="4617720"/>
            <a:ext cx="20482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QA is not biological validation.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68680" y="5833872"/>
            <a:ext cx="10469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can route, explain and summarize. It cannot fabricate a score, pose, QA result, receipt, or wet-lab conclusion.</a:t>
            </a:r>
            <a:endParaRPr lang="en-US" sz="1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AMD Radeon / ROCm implementation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inference and scientific tools run on a private workstation path.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13232" y="1463040"/>
            <a:ext cx="3977640" cy="4315968"/>
          </a:xfrm>
          <a:prstGeom prst="roundRect">
            <a:avLst>
              <a:gd name="adj" fmla="val 1839"/>
            </a:avLst>
          </a:prstGeom>
          <a:solidFill>
            <a:srgbClr val="10131A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Agent lane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212848"/>
            <a:ext cx="3246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Qwen3.6-27B via HipFire</a:t>
            </a:r>
            <a:endParaRPr lang="en-US" sz="1520" dirty="0"/>
          </a:p>
          <a:p>
            <a:pPr marL="0" indent="0" algn="l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Pro W7900 · gfx1100</a:t>
            </a:r>
            <a:endParaRPr lang="en-US" sz="1520" dirty="0"/>
          </a:p>
          <a:p>
            <a:pPr marL="0" indent="0" algn="l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loopback-only inference endpoint</a:t>
            </a:r>
            <a:endParaRPr lang="en-US" sz="1520" dirty="0"/>
          </a:p>
          <a:p>
            <a:pPr marL="0" indent="0" algn="l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OpenCode / Web UI / CLI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1005840" y="379476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35D07F">
              <a:alpha val="18000"/>
            </a:srgbClr>
          </a:solidFill>
          <a:ln w="1270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1078992" y="3845052"/>
            <a:ext cx="19568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data stays local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005840" y="416052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210812"/>
            <a:ext cx="21854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does not own state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74920" y="1463040"/>
            <a:ext cx="6355080" cy="4315968"/>
          </a:xfrm>
          <a:prstGeom prst="roundRect">
            <a:avLst>
              <a:gd name="adj" fmla="val 1695"/>
            </a:avLst>
          </a:prstGeom>
          <a:solidFill>
            <a:srgbClr val="0E151A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4"/>
          <p:cNvSpPr/>
          <p:nvPr/>
        </p:nvSpPr>
        <p:spPr>
          <a:xfrm>
            <a:off x="5413248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ROCm/HIP science lane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0" y="2258568"/>
            <a:ext cx="402336" cy="402336"/>
          </a:xfrm>
          <a:prstGeom prst="ellipse">
            <a:avLst/>
          </a:prstGeom>
          <a:solidFill>
            <a:srgbClr val="35D07F">
              <a:alpha val="14000"/>
            </a:srgbClr>
          </a:solidFill>
          <a:ln w="1524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5486400" y="2340864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89320" y="2286000"/>
            <a:ext cx="4892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 HIP prefilter with CPU reference parity gate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2825496"/>
            <a:ext cx="402336" cy="402336"/>
          </a:xfrm>
          <a:prstGeom prst="ellipse">
            <a:avLst/>
          </a:prstGeom>
          <a:solidFill>
            <a:srgbClr val="35D07F">
              <a:alpha val="14000"/>
            </a:srgbClr>
          </a:solidFill>
          <a:ln w="1524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5989320" y="2852928"/>
            <a:ext cx="4892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reference finalizer keeps ranking exactness before speed claims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3392424"/>
            <a:ext cx="402336" cy="402336"/>
          </a:xfrm>
          <a:prstGeom prst="ellipse">
            <a:avLst/>
          </a:prstGeom>
          <a:solidFill>
            <a:srgbClr val="5B8CFF">
              <a:alpha val="14000"/>
            </a:srgbClr>
          </a:solidFill>
          <a:ln w="15240">
            <a:solidFill>
              <a:srgbClr val="5B8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5989320" y="3419856"/>
            <a:ext cx="4892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Hash-fixed Vina, Meeko, RDKit, PoseBusters and workers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3959352"/>
            <a:ext cx="402336" cy="402336"/>
          </a:xfrm>
          <a:prstGeom prst="ellipse">
            <a:avLst/>
          </a:prstGeom>
          <a:solidFill>
            <a:srgbClr val="FFB020">
              <a:alpha val="14000"/>
            </a:srgbClr>
          </a:solidFill>
          <a:ln w="1524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5989320" y="3986784"/>
            <a:ext cx="4892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GPU lanes can isolate inference from scientific compute; single-GPU hosts can time-slice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31536" y="5193792"/>
            <a:ext cx="5257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performance statement: fast exact HIP prefilter demonstrated; no end-to-end screening speedup claim while CPU finalizer dominates.</a:t>
            </a:r>
            <a:endParaRPr lang="en-US" sz="112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39CF2A97-7E28-5852-1696-96528B97B3C6}"/>
              </a:ext>
            </a:extLst>
          </p:cNvPr>
          <p:cNvSpPr/>
          <p:nvPr/>
        </p:nvSpPr>
        <p:spPr>
          <a:xfrm>
            <a:off x="5486400" y="291693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1728EAD5-90DE-ED9A-0790-9E1FB1687A86}"/>
              </a:ext>
            </a:extLst>
          </p:cNvPr>
          <p:cNvSpPr/>
          <p:nvPr/>
        </p:nvSpPr>
        <p:spPr>
          <a:xfrm>
            <a:off x="5515574" y="3483864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A967EF6-E726-34C6-7961-77F3E9DB9164}"/>
              </a:ext>
            </a:extLst>
          </p:cNvPr>
          <p:cNvSpPr/>
          <p:nvPr/>
        </p:nvSpPr>
        <p:spPr>
          <a:xfrm>
            <a:off x="5486400" y="4050792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W7900 evidence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Agent benchmark: one warm-up plus three measured runs.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76656" y="1417320"/>
            <a:ext cx="187452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822960" y="1563624"/>
            <a:ext cx="158191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D0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158191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tool-sequence pass rate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743200" y="1417320"/>
            <a:ext cx="187452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2889504" y="1563624"/>
            <a:ext cx="158191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D0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89504" y="1965960"/>
            <a:ext cx="158191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tool-call success rate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809744" y="1417320"/>
            <a:ext cx="187452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4956048" y="1563624"/>
            <a:ext cx="158191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D0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56048" y="1965960"/>
            <a:ext cx="158191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artifact-citation pass rate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76288" y="1417320"/>
            <a:ext cx="210312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7022592" y="1563624"/>
            <a:ext cx="181051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E2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7.271 GB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22592" y="1965960"/>
            <a:ext cx="181051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peak Radeon VRAM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9217152" y="14173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9363456" y="1563624"/>
            <a:ext cx="1719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16.552 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63456" y="1965960"/>
            <a:ext cx="171907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end-to-end latency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76656" y="2880360"/>
            <a:ext cx="3749040" cy="2340864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950976" y="3163824"/>
            <a:ext cx="2103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path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7552" y="3602736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TTFT p50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14600" y="354787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9.605 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7552" y="3995928"/>
            <a:ext cx="1920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throughput p50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05456" y="4315968"/>
            <a:ext cx="135331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33.139 tok/s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87552" y="4709160"/>
            <a:ext cx="2971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values are scoped to the local W7900 Agent benchmark.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2880360"/>
            <a:ext cx="6446520" cy="2340864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Text 29"/>
          <p:cNvSpPr/>
          <p:nvPr/>
        </p:nvSpPr>
        <p:spPr>
          <a:xfrm>
            <a:off x="5074920" y="3163824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79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compression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4920" y="3630168"/>
            <a:ext cx="1325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exposed tools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565392" y="3657600"/>
            <a:ext cx="2926080" cy="109728"/>
          </a:xfrm>
          <a:prstGeom prst="rect">
            <a:avLst/>
          </a:prstGeom>
          <a:solidFill>
            <a:srgbClr val="FF6B6B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4" name="Shape 32"/>
          <p:cNvSpPr/>
          <p:nvPr/>
        </p:nvSpPr>
        <p:spPr>
          <a:xfrm>
            <a:off x="6565392" y="3803904"/>
            <a:ext cx="234086" cy="109728"/>
          </a:xfrm>
          <a:prstGeom prst="rect">
            <a:avLst/>
          </a:prstGeom>
          <a:solidFill>
            <a:srgbClr val="35D07F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Text 33"/>
          <p:cNvSpPr/>
          <p:nvPr/>
        </p:nvSpPr>
        <p:spPr>
          <a:xfrm>
            <a:off x="9692640" y="3611880"/>
            <a:ext cx="1051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→ 2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074920" y="4050792"/>
            <a:ext cx="1325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bytes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565392" y="4078224"/>
            <a:ext cx="2926080" cy="109728"/>
          </a:xfrm>
          <a:prstGeom prst="rect">
            <a:avLst/>
          </a:prstGeom>
          <a:solidFill>
            <a:srgbClr val="2DE2E6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8" name="Shape 36"/>
          <p:cNvSpPr/>
          <p:nvPr/>
        </p:nvSpPr>
        <p:spPr>
          <a:xfrm>
            <a:off x="6565392" y="4224528"/>
            <a:ext cx="135638" cy="109728"/>
          </a:xfrm>
          <a:prstGeom prst="rect">
            <a:avLst/>
          </a:prstGeom>
          <a:solidFill>
            <a:srgbClr val="35D07F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9" name="Text 37"/>
          <p:cNvSpPr/>
          <p:nvPr/>
        </p:nvSpPr>
        <p:spPr>
          <a:xfrm>
            <a:off x="9692640" y="4032504"/>
            <a:ext cx="1051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9794 → 454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074920" y="4471416"/>
            <a:ext cx="1325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prompt tokens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565392" y="4498848"/>
            <a:ext cx="2926080" cy="109728"/>
          </a:xfrm>
          <a:prstGeom prst="rect">
            <a:avLst/>
          </a:prstGeom>
          <a:solidFill>
            <a:srgbClr val="FFB020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2" name="Shape 40"/>
          <p:cNvSpPr/>
          <p:nvPr/>
        </p:nvSpPr>
        <p:spPr>
          <a:xfrm>
            <a:off x="6565392" y="4645152"/>
            <a:ext cx="1319909" cy="109728"/>
          </a:xfrm>
          <a:prstGeom prst="rect">
            <a:avLst/>
          </a:prstGeom>
          <a:solidFill>
            <a:srgbClr val="35D07F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3" name="Text 41"/>
          <p:cNvSpPr/>
          <p:nvPr/>
        </p:nvSpPr>
        <p:spPr>
          <a:xfrm>
            <a:off x="9692640" y="4453128"/>
            <a:ext cx="1051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10406.7 → 4694.3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5074920" y="4809744"/>
            <a:ext cx="5577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ratio is exploratory: prefix-cache and thermal effects were not fully isolated.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Scientific validation without overclaiming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should reward honesty: supported, bounded, and not claimed are separate.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3401568" cy="4224528"/>
          </a:xfrm>
          <a:prstGeom prst="roundRect">
            <a:avLst>
              <a:gd name="adj" fmla="val 2151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1188720" y="1737360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35D07F">
              <a:alpha val="22000"/>
            </a:srgbClr>
          </a:solidFill>
          <a:ln w="1270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1261872" y="1787652"/>
            <a:ext cx="213969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331720"/>
            <a:ext cx="402336" cy="402336"/>
          </a:xfrm>
          <a:prstGeom prst="ellipse">
            <a:avLst/>
          </a:prstGeom>
          <a:solidFill>
            <a:srgbClr val="35D07F">
              <a:alpha val="12000"/>
            </a:srgbClr>
          </a:solidFill>
          <a:ln w="1524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44752" y="2350008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W7900/gfx1100 Agent receipts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60120" y="2852928"/>
            <a:ext cx="402336" cy="402336"/>
          </a:xfrm>
          <a:prstGeom prst="ellipse">
            <a:avLst/>
          </a:prstGeom>
          <a:solidFill>
            <a:srgbClr val="35D07F">
              <a:alpha val="12000"/>
            </a:srgbClr>
          </a:solidFill>
          <a:ln w="1524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4"/>
          <p:cNvSpPr/>
          <p:nvPr/>
        </p:nvSpPr>
        <p:spPr>
          <a:xfrm>
            <a:off x="1444752" y="2871216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required tool/citation pass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960120" y="3374136"/>
            <a:ext cx="402336" cy="402336"/>
          </a:xfrm>
          <a:prstGeom prst="ellipse">
            <a:avLst/>
          </a:prstGeom>
          <a:solidFill>
            <a:srgbClr val="35D07F">
              <a:alpha val="12000"/>
            </a:srgbClr>
          </a:solidFill>
          <a:ln w="1524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Text 17"/>
          <p:cNvSpPr/>
          <p:nvPr/>
        </p:nvSpPr>
        <p:spPr>
          <a:xfrm>
            <a:off x="1444752" y="3392424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 HIP complete-order parity with CPU reference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453128" y="1444752"/>
            <a:ext cx="3401568" cy="4224528"/>
          </a:xfrm>
          <a:prstGeom prst="roundRect">
            <a:avLst>
              <a:gd name="adj" fmla="val 2151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Shape 19"/>
          <p:cNvSpPr/>
          <p:nvPr/>
        </p:nvSpPr>
        <p:spPr>
          <a:xfrm>
            <a:off x="5001768" y="1737360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FFB020">
              <a:alpha val="22000"/>
            </a:srgbClr>
          </a:solidFill>
          <a:ln w="1270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5074920" y="1787652"/>
            <a:ext cx="213969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331720"/>
            <a:ext cx="402336" cy="402336"/>
          </a:xfrm>
          <a:prstGeom prst="ellipse">
            <a:avLst/>
          </a:prstGeom>
          <a:solidFill>
            <a:srgbClr val="FFB020">
              <a:alpha val="12000"/>
            </a:srgbClr>
          </a:solidFill>
          <a:ln w="1524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4773168" y="2418588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257800" y="2350008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redocking revision: 9/10 on same already-observed fixed-ten set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773168" y="2852928"/>
            <a:ext cx="402336" cy="402336"/>
          </a:xfrm>
          <a:prstGeom prst="ellipse">
            <a:avLst/>
          </a:prstGeom>
          <a:solidFill>
            <a:srgbClr val="FFB020">
              <a:alpha val="12000"/>
            </a:srgbClr>
          </a:solidFill>
          <a:ln w="1524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5257800" y="2871216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Pharmer remains an independent CPU baseline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4773168" y="3374136"/>
            <a:ext cx="402336" cy="402336"/>
          </a:xfrm>
          <a:prstGeom prst="ellipse">
            <a:avLst/>
          </a:prstGeom>
          <a:solidFill>
            <a:srgbClr val="FFB020">
              <a:alpha val="12000"/>
            </a:srgbClr>
          </a:solidFill>
          <a:ln w="1524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Text 29"/>
          <p:cNvSpPr/>
          <p:nvPr/>
        </p:nvSpPr>
        <p:spPr>
          <a:xfrm>
            <a:off x="5257800" y="3392424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depends on target and workflow scope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8266176" y="1444752"/>
            <a:ext cx="3401568" cy="4224528"/>
          </a:xfrm>
          <a:prstGeom prst="roundRect">
            <a:avLst>
              <a:gd name="adj" fmla="val 2151"/>
            </a:avLst>
          </a:prstGeom>
          <a:solidFill>
            <a:srgbClr val="161B22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Shape 31"/>
          <p:cNvSpPr/>
          <p:nvPr/>
        </p:nvSpPr>
        <p:spPr>
          <a:xfrm>
            <a:off x="8814816" y="1737360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FF3B3B">
              <a:alpha val="22000"/>
            </a:srgbClr>
          </a:solidFill>
          <a:ln w="1270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4" name="Text 32"/>
          <p:cNvSpPr/>
          <p:nvPr/>
        </p:nvSpPr>
        <p:spPr>
          <a:xfrm>
            <a:off x="8887968" y="1787652"/>
            <a:ext cx="213969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claimed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86216" y="2331720"/>
            <a:ext cx="402336" cy="402336"/>
          </a:xfrm>
          <a:prstGeom prst="ellipse">
            <a:avLst/>
          </a:prstGeom>
          <a:solidFill>
            <a:srgbClr val="FF3B3B">
              <a:alpha val="12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6" name="Text 34"/>
          <p:cNvSpPr/>
          <p:nvPr/>
        </p:nvSpPr>
        <p:spPr>
          <a:xfrm>
            <a:off x="8586216" y="2418588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070848" y="2350008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Vina score ≠ binding affinity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86216" y="2852928"/>
            <a:ext cx="402336" cy="402336"/>
          </a:xfrm>
          <a:prstGeom prst="ellipse">
            <a:avLst/>
          </a:prstGeom>
          <a:solidFill>
            <a:srgbClr val="FF3B3B">
              <a:alpha val="12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0" name="Text 38"/>
          <p:cNvSpPr/>
          <p:nvPr/>
        </p:nvSpPr>
        <p:spPr>
          <a:xfrm>
            <a:off x="9070848" y="2871216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PoseBusters ≠ biological 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86216" y="3374136"/>
            <a:ext cx="402336" cy="402336"/>
          </a:xfrm>
          <a:prstGeom prst="ellipse">
            <a:avLst/>
          </a:prstGeom>
          <a:solidFill>
            <a:srgbClr val="FF3B3B">
              <a:alpha val="12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3" name="Text 41"/>
          <p:cNvSpPr/>
          <p:nvPr/>
        </p:nvSpPr>
        <p:spPr>
          <a:xfrm>
            <a:off x="9070848" y="3392424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broad superiority over Pharmer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86216" y="3895344"/>
            <a:ext cx="402336" cy="402336"/>
          </a:xfrm>
          <a:prstGeom prst="ellipse">
            <a:avLst/>
          </a:prstGeom>
          <a:solidFill>
            <a:srgbClr val="FF3B3B">
              <a:alpha val="12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6" name="Text 44"/>
          <p:cNvSpPr/>
          <p:nvPr/>
        </p:nvSpPr>
        <p:spPr>
          <a:xfrm>
            <a:off x="9070848" y="3913632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end-to-end TriPharm speedup while CPU finalizer dominates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86216" y="4416552"/>
            <a:ext cx="402336" cy="402336"/>
          </a:xfrm>
          <a:prstGeom prst="ellipse">
            <a:avLst/>
          </a:prstGeom>
          <a:solidFill>
            <a:srgbClr val="FF3B3B">
              <a:alpha val="12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9" name="Text 47"/>
          <p:cNvSpPr/>
          <p:nvPr/>
        </p:nvSpPr>
        <p:spPr>
          <a:xfrm>
            <a:off x="9070848" y="4434840"/>
            <a:ext cx="222199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1S19/MC9 known-site control ≠ blind discovery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computational outputs are hypotheses until wet-lab data are imported and reviewed.</a:t>
            </a:r>
            <a:endParaRPr lang="en-US" sz="1480" dirty="0"/>
          </a:p>
        </p:txBody>
      </p:sp>
      <p:sp>
        <p:nvSpPr>
          <p:cNvPr id="51" name="Text 34">
            <a:extLst>
              <a:ext uri="{FF2B5EF4-FFF2-40B4-BE49-F238E27FC236}">
                <a16:creationId xmlns:a16="http://schemas.microsoft.com/office/drawing/2014/main" id="{4C1DE1E9-E735-11FA-5F03-E88C1E604957}"/>
              </a:ext>
            </a:extLst>
          </p:cNvPr>
          <p:cNvSpPr/>
          <p:nvPr/>
        </p:nvSpPr>
        <p:spPr>
          <a:xfrm>
            <a:off x="8586216" y="2971800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dirty="0"/>
          </a:p>
        </p:txBody>
      </p:sp>
      <p:sp>
        <p:nvSpPr>
          <p:cNvPr id="52" name="Text 34">
            <a:extLst>
              <a:ext uri="{FF2B5EF4-FFF2-40B4-BE49-F238E27FC236}">
                <a16:creationId xmlns:a16="http://schemas.microsoft.com/office/drawing/2014/main" id="{171996CE-F9BE-9ED1-661F-A0EB71EE0624}"/>
              </a:ext>
            </a:extLst>
          </p:cNvPr>
          <p:cNvSpPr/>
          <p:nvPr/>
        </p:nvSpPr>
        <p:spPr>
          <a:xfrm>
            <a:off x="8586216" y="348843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dirty="0"/>
          </a:p>
        </p:txBody>
      </p:sp>
      <p:sp>
        <p:nvSpPr>
          <p:cNvPr id="53" name="Text 34">
            <a:extLst>
              <a:ext uri="{FF2B5EF4-FFF2-40B4-BE49-F238E27FC236}">
                <a16:creationId xmlns:a16="http://schemas.microsoft.com/office/drawing/2014/main" id="{E68E8DF4-2523-6A4F-C026-712DDA756F50}"/>
              </a:ext>
            </a:extLst>
          </p:cNvPr>
          <p:cNvSpPr/>
          <p:nvPr/>
        </p:nvSpPr>
        <p:spPr>
          <a:xfrm>
            <a:off x="8586216" y="4011930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dirty="0"/>
          </a:p>
        </p:txBody>
      </p:sp>
      <p:sp>
        <p:nvSpPr>
          <p:cNvPr id="54" name="Text 34">
            <a:extLst>
              <a:ext uri="{FF2B5EF4-FFF2-40B4-BE49-F238E27FC236}">
                <a16:creationId xmlns:a16="http://schemas.microsoft.com/office/drawing/2014/main" id="{AA9AAB26-6606-AFE1-11CA-1D21A422645F}"/>
              </a:ext>
            </a:extLst>
          </p:cNvPr>
          <p:cNvSpPr/>
          <p:nvPr/>
        </p:nvSpPr>
        <p:spPr>
          <a:xfrm>
            <a:off x="8586216" y="453999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AFE36DFE-8FCF-B2AB-AD3A-86F41B4C85A9}"/>
              </a:ext>
            </a:extLst>
          </p:cNvPr>
          <p:cNvSpPr/>
          <p:nvPr/>
        </p:nvSpPr>
        <p:spPr>
          <a:xfrm>
            <a:off x="4773168" y="293979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700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B9FECE25-C084-8475-B578-0B20660DFAAA}"/>
              </a:ext>
            </a:extLst>
          </p:cNvPr>
          <p:cNvSpPr/>
          <p:nvPr/>
        </p:nvSpPr>
        <p:spPr>
          <a:xfrm>
            <a:off x="4773168" y="346557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7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E068B6DA-60FC-C812-77CF-FF474B6B1211}"/>
              </a:ext>
            </a:extLst>
          </p:cNvPr>
          <p:cNvSpPr/>
          <p:nvPr/>
        </p:nvSpPr>
        <p:spPr>
          <a:xfrm>
            <a:off x="960120" y="2944368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91D066BB-D097-B4FD-728D-9E7D1697460F}"/>
              </a:ext>
            </a:extLst>
          </p:cNvPr>
          <p:cNvSpPr/>
          <p:nvPr/>
        </p:nvSpPr>
        <p:spPr>
          <a:xfrm>
            <a:off x="960120" y="3465576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Wet-lab data closes the loop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ProtBind can carry hypotheses into experiments, then import real assay evidence without changing its evidence rules.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319272" y="2194560"/>
            <a:ext cx="868680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6766560" y="2194560"/>
            <a:ext cx="978408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8"/>
          <p:cNvSpPr/>
          <p:nvPr/>
        </p:nvSpPr>
        <p:spPr>
          <a:xfrm flipH="1">
            <a:off x="9069494" y="2596896"/>
            <a:ext cx="6774" cy="1993392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8366760" y="5102352"/>
            <a:ext cx="0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10"/>
          <p:cNvSpPr/>
          <p:nvPr/>
        </p:nvSpPr>
        <p:spPr>
          <a:xfrm>
            <a:off x="4389120" y="5102352"/>
            <a:ext cx="0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1508760" y="4617720"/>
            <a:ext cx="0" cy="0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12"/>
          <p:cNvSpPr/>
          <p:nvPr/>
        </p:nvSpPr>
        <p:spPr>
          <a:xfrm>
            <a:off x="713232" y="1737360"/>
            <a:ext cx="2606040" cy="877824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868680" y="1883664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hypotheses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226771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· dock · validate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HYPOTHESIS_ONLY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187952" y="1737360"/>
            <a:ext cx="2606040" cy="877824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5D07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4343400" y="1883664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D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194560"/>
            <a:ext cx="226771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Co-IP · CETSA · SPR/BLI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enzyme · dose response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2606040" cy="877824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7927848" y="1883664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import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27848" y="2194560"/>
            <a:ext cx="226771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+ canonical tables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metadata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772400" y="4590288"/>
            <a:ext cx="2606040" cy="877824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7927848" y="4736592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fits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27848" y="5047488"/>
            <a:ext cx="226771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4PL · one-site binding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flags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187952" y="4590288"/>
            <a:ext cx="2606040" cy="877824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Text 25"/>
          <p:cNvSpPr/>
          <p:nvPr/>
        </p:nvSpPr>
        <p:spPr>
          <a:xfrm>
            <a:off x="4343400" y="4736592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learning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43400" y="5047488"/>
            <a:ext cx="226771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preferences and failures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old conclusions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13232" y="4590288"/>
            <a:ext cx="2606040" cy="877824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Text 28"/>
          <p:cNvSpPr/>
          <p:nvPr/>
        </p:nvSpPr>
        <p:spPr>
          <a:xfrm>
            <a:off x="868680" y="4736592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update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047488"/>
            <a:ext cx="226771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· what failed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 unknown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868680" y="5833872"/>
            <a:ext cx="10287000" cy="420624"/>
          </a:xfrm>
          <a:prstGeom prst="roundRect">
            <a:avLst>
              <a:gd name="adj" fmla="val 17391"/>
            </a:avLst>
          </a:prstGeom>
          <a:solidFill>
            <a:srgbClr val="121018"/>
          </a:solidFill>
          <a:ln w="12700">
            <a:solidFill>
              <a:srgbClr val="2A3342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Text 31"/>
          <p:cNvSpPr/>
          <p:nvPr/>
        </p:nvSpPr>
        <p:spPr>
          <a:xfrm>
            <a:off x="1097280" y="5943600"/>
            <a:ext cx="9829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i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DrutAI is annotation-only; curve-fit quality does not prove direct binding or mechanism.</a:t>
            </a:r>
            <a:endParaRPr lang="en-US" sz="112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2B4994AD-A3D6-5334-CF99-A20D34670A32}"/>
              </a:ext>
            </a:extLst>
          </p:cNvPr>
          <p:cNvSpPr/>
          <p:nvPr/>
        </p:nvSpPr>
        <p:spPr>
          <a:xfrm flipH="1">
            <a:off x="6793992" y="5047486"/>
            <a:ext cx="950976" cy="2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0953E65C-3DF7-3E12-43CE-2B4BB7CB41D0}"/>
              </a:ext>
            </a:extLst>
          </p:cNvPr>
          <p:cNvSpPr/>
          <p:nvPr/>
        </p:nvSpPr>
        <p:spPr>
          <a:xfrm flipH="1">
            <a:off x="3319272" y="5047483"/>
            <a:ext cx="868680" cy="9139"/>
          </a:xfrm>
          <a:prstGeom prst="line">
            <a:avLst/>
          </a:prstGeom>
          <a:noFill/>
          <a:ln w="15240">
            <a:solidFill>
              <a:srgbClr val="3B4556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HK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E2E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— Track 2: Agentic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7498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story and closing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deck plus a short recording to prove the local, auditable workflow.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800600" cy="4389120"/>
          </a:xfrm>
          <a:prstGeom prst="roundRect">
            <a:avLst>
              <a:gd name="adj" fmla="val 1667"/>
            </a:avLst>
          </a:prstGeom>
          <a:solidFill>
            <a:srgbClr val="161B22"/>
          </a:solidFill>
          <a:ln w="1270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932688" y="1700784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recording / screenshots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212848"/>
            <a:ext cx="402336" cy="402336"/>
          </a:xfrm>
          <a:prstGeom prst="ellipse">
            <a:avLst/>
          </a:prstGeom>
          <a:solidFill>
            <a:srgbClr val="FF3B3B">
              <a:alpha val="12000"/>
            </a:srgbClr>
          </a:solidFill>
          <a:ln w="15240">
            <a:solidFill>
              <a:srgbClr val="FF3B3B">
                <a:alpha val="85000"/>
              </a:srgbClr>
            </a:solidFill>
            <a:prstDash val="solid"/>
          </a:ln>
        </p:spPr>
        <p:txBody>
          <a:bodyPr/>
          <a:lstStyle/>
          <a:p>
            <a:pPr algn="ctr"/>
            <a:endParaRPr lang="zh-HK" altLang="en-US" dirty="0"/>
          </a:p>
        </p:txBody>
      </p:sp>
      <p:sp>
        <p:nvSpPr>
          <p:cNvPr id="11" name="Text 9"/>
          <p:cNvSpPr/>
          <p:nvPr/>
        </p:nvSpPr>
        <p:spPr>
          <a:xfrm>
            <a:off x="960120" y="2296610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249424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rocm-smi + W7900/gfx1100 + loopback HipFire endpoint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60120" y="2715768"/>
            <a:ext cx="402336" cy="402336"/>
          </a:xfrm>
          <a:prstGeom prst="ellipse">
            <a:avLst/>
          </a:prstGeom>
          <a:solidFill>
            <a:srgbClr val="8B5CF6">
              <a:alpha val="12000"/>
            </a:srgbClr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798064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752344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OpenCode WAITING_APPROVAL, ShadowPlan, one-time approval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60120" y="3218688"/>
            <a:ext cx="402336" cy="402336"/>
          </a:xfrm>
          <a:prstGeom prst="ellipse">
            <a:avLst/>
          </a:prstGeom>
          <a:solidFill>
            <a:srgbClr val="35D07F">
              <a:alpha val="12000"/>
            </a:srgbClr>
          </a:solidFill>
          <a:ln w="1524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310128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255264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TriPharm CPU/HIP parity receipt and timings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60120" y="3721608"/>
            <a:ext cx="402336" cy="402336"/>
          </a:xfrm>
          <a:prstGeom prst="ellipse">
            <a:avLst/>
          </a:prstGeom>
          <a:solidFill>
            <a:srgbClr val="5B8CFF">
              <a:alpha val="12000"/>
            </a:srgbClr>
          </a:solidFill>
          <a:ln w="15240">
            <a:solidFill>
              <a:srgbClr val="5B8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960120" y="3813393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758184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DOCKED + VALIDATED acceptance receipts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60120" y="4224528"/>
            <a:ext cx="402336" cy="402336"/>
          </a:xfrm>
          <a:prstGeom prst="ellipse">
            <a:avLst/>
          </a:prstGeom>
          <a:solidFill>
            <a:srgbClr val="FFB020">
              <a:alpha val="12000"/>
            </a:srgbClr>
          </a:solidFill>
          <a:ln w="15240">
            <a:solidFill>
              <a:srgbClr val="FFB02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960120" y="4306824"/>
            <a:ext cx="402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/demo, /poses and /dossiers pages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779008" y="14173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0E151A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Text 24"/>
          <p:cNvSpPr/>
          <p:nvPr/>
        </p:nvSpPr>
        <p:spPr>
          <a:xfrm>
            <a:off x="6080760" y="1700784"/>
            <a:ext cx="3840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judges should remember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080760" y="2157984"/>
            <a:ext cx="48920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ProtBind turns a local Radeon GPU into a private, auditable research collaborator without pretending that a model score is an experiment.</a:t>
            </a:r>
            <a:endParaRPr lang="en-US" sz="1720" dirty="0"/>
          </a:p>
        </p:txBody>
      </p:sp>
      <p:sp>
        <p:nvSpPr>
          <p:cNvPr id="28" name="Shape 26"/>
          <p:cNvSpPr/>
          <p:nvPr/>
        </p:nvSpPr>
        <p:spPr>
          <a:xfrm>
            <a:off x="5779008" y="3611880"/>
            <a:ext cx="562356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A3342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7"/>
          <p:cNvSpPr/>
          <p:nvPr/>
        </p:nvSpPr>
        <p:spPr>
          <a:xfrm>
            <a:off x="6080760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E2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package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0760" y="4315968"/>
            <a:ext cx="47548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#72 · source repository · contest fork · project specification PDF · pitch deck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080760" y="4846320"/>
            <a:ext cx="4892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github.com/AMD-DEV-CONTEST/Radeon-hackathon-2026-07/pull/72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9D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github.com/HUSRCF/hackathon/tree/submission/protbind-amd-devmaster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68680" y="6199632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1728</Words>
  <Application>Microsoft Macintosh PowerPoint</Application>
  <PresentationFormat>寬螢幕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AMD AI DevMaster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ProtBind — Local-Private Protein–Ligand Research Agent</dc:title>
  <dc:subject>ProtBind polished pitch deck</dc:subject>
  <dc:creator>Huang Siming / OpenAI draft polish</dc:creator>
  <cp:lastModifiedBy>Siming HUANG</cp:lastModifiedBy>
  <cp:revision>2</cp:revision>
  <dcterms:created xsi:type="dcterms:W3CDTF">2026-08-06T15:00:41Z</dcterms:created>
  <dcterms:modified xsi:type="dcterms:W3CDTF">2026-08-06T15:40:38Z</dcterms:modified>
</cp:coreProperties>
</file>