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-3-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-6-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0F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98448" y="2258568"/>
            <a:ext cx="310896" cy="310896"/>
          </a:xfrm>
          <a:prstGeom prst="rect">
            <a:avLst/>
          </a:prstGeom>
          <a:solidFill>
            <a:srgbClr val="ED1C24"/>
          </a:solidFill>
          <a:ln/>
        </p:spPr>
      </p:sp>
      <p:sp>
        <p:nvSpPr>
          <p:cNvPr id="3" name="Text 1"/>
          <p:cNvSpPr/>
          <p:nvPr/>
        </p:nvSpPr>
        <p:spPr>
          <a:xfrm>
            <a:off x="1783080" y="1572768"/>
            <a:ext cx="98755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spc="10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FOUNDRY</a:t>
            </a:r>
            <a:endParaRPr lang="en-US" sz="8800" dirty="0"/>
          </a:p>
        </p:txBody>
      </p:sp>
      <p:sp>
        <p:nvSpPr>
          <p:cNvPr id="4" name="Text 2"/>
          <p:cNvSpPr/>
          <p:nvPr/>
        </p:nvSpPr>
        <p:spPr>
          <a:xfrm>
            <a:off x="1810512" y="3310128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A9AF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autonomous model-distillation agent on a single AMD Radeon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810512" y="461772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0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AMD AI DevMaster Hackathon — Track 2 (Agentic AI)  ·  Solo entry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0F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D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</a:t>
            </a:r>
            <a:pPr algn="l" indent="0" marL="0">
              <a:buNone/>
            </a:pPr>
            <a:r>
              <a:rPr lang="en-US" sz="1100" b="1" spc="300" kern="0" dirty="0">
                <a:solidFill>
                  <a:srgbClr val="A9AF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972800" y="641908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0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13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75488" y="960120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0" b="1" dirty="0">
                <a:solidFill>
                  <a:srgbClr val="ED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endParaRPr lang="en-US" sz="8400" dirty="0"/>
          </a:p>
        </p:txBody>
      </p:sp>
      <p:sp>
        <p:nvSpPr>
          <p:cNvPr id="5" name="Text 3"/>
          <p:cNvSpPr/>
          <p:nvPr/>
        </p:nvSpPr>
        <p:spPr>
          <a:xfrm>
            <a:off x="566928" y="1965960"/>
            <a:ext cx="53492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2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Everyone wants small private models; the pipeline between ‘I need X’ and a model file is expert work.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446520" y="1207008"/>
            <a:ext cx="5166360" cy="566928"/>
          </a:xfrm>
          <a:prstGeom prst="roundRect">
            <a:avLst>
              <a:gd name="adj" fmla="val 8065"/>
            </a:avLst>
          </a:prstGeom>
          <a:solidFill>
            <a:srgbClr val="17181B"/>
          </a:solidFill>
          <a:ln w="9525">
            <a:solidFill>
              <a:srgbClr val="2A2C31"/>
            </a:solidFill>
          </a:ln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D1C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  </a:t>
            </a:r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design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46520" y="1933956"/>
            <a:ext cx="5166360" cy="566928"/>
          </a:xfrm>
          <a:prstGeom prst="roundRect">
            <a:avLst>
              <a:gd name="adj" fmla="val 8065"/>
            </a:avLst>
          </a:prstGeom>
          <a:solidFill>
            <a:srgbClr val="17181B"/>
          </a:solidFill>
          <a:ln w="9525">
            <a:solidFill>
              <a:srgbClr val="2A2C31"/>
            </a:solidFill>
          </a:ln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D1C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  </a:t>
            </a:r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 generation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46520" y="2660904"/>
            <a:ext cx="5166360" cy="566928"/>
          </a:xfrm>
          <a:prstGeom prst="roundRect">
            <a:avLst>
              <a:gd name="adj" fmla="val 8065"/>
            </a:avLst>
          </a:prstGeom>
          <a:solidFill>
            <a:srgbClr val="17181B"/>
          </a:solidFill>
          <a:ln w="9525">
            <a:solidFill>
              <a:srgbClr val="2A2C31"/>
            </a:solidFill>
          </a:ln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D1C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  </a:t>
            </a:r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46520" y="3387852"/>
            <a:ext cx="5166360" cy="566928"/>
          </a:xfrm>
          <a:prstGeom prst="roundRect">
            <a:avLst>
              <a:gd name="adj" fmla="val 8065"/>
            </a:avLst>
          </a:prstGeom>
          <a:solidFill>
            <a:srgbClr val="17181B"/>
          </a:solidFill>
          <a:ln w="9525">
            <a:solidFill>
              <a:srgbClr val="2A2C31"/>
            </a:solidFill>
          </a:ln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D1C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  </a:t>
            </a:r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46520" y="4114800"/>
            <a:ext cx="5166360" cy="566928"/>
          </a:xfrm>
          <a:prstGeom prst="roundRect">
            <a:avLst>
              <a:gd name="adj" fmla="val 8065"/>
            </a:avLst>
          </a:prstGeom>
          <a:solidFill>
            <a:srgbClr val="17181B"/>
          </a:solidFill>
          <a:ln w="9525">
            <a:solidFill>
              <a:srgbClr val="2A2C31"/>
            </a:solidFill>
          </a:ln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D1C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  </a:t>
            </a:r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analysis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46520" y="4841748"/>
            <a:ext cx="5166360" cy="566928"/>
          </a:xfrm>
          <a:prstGeom prst="roundRect">
            <a:avLst>
              <a:gd name="adj" fmla="val 8065"/>
            </a:avLst>
          </a:prstGeom>
          <a:solidFill>
            <a:srgbClr val="17181B"/>
          </a:solidFill>
          <a:ln w="9525">
            <a:solidFill>
              <a:srgbClr val="2A2C31"/>
            </a:solidFill>
          </a:ln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D1C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  </a:t>
            </a:r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quantization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46520" y="5687568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A70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wall of steps a human must do today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0F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D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</a:t>
            </a:r>
            <a:pPr algn="l" indent="0" marL="0">
              <a:buNone/>
            </a:pPr>
            <a:r>
              <a:rPr lang="en-US" sz="1100" b="1" spc="300" kern="0" dirty="0">
                <a:solidFill>
                  <a:srgbClr val="A9AF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PRODUCT IN ONE SENTENCE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972800" y="641908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0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13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2148840"/>
            <a:ext cx="5257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4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 in </a:t>
            </a:r>
            <a:pPr indent="0" marL="0">
              <a:lnSpc>
                <a:spcPct val="115000"/>
              </a:lnSpc>
              <a:buNone/>
            </a:pPr>
            <a:r>
              <a:rPr lang="en-US" sz="4100" b="1" dirty="0">
                <a:solidFill>
                  <a:srgbClr val="ED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pPr indent="0" marL="0">
              <a:lnSpc>
                <a:spcPct val="115000"/>
              </a:lnSpc>
              <a:buNone/>
            </a:pPr>
            <a:r>
              <a:rPr lang="en-US" sz="4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model file out.</a:t>
            </a:r>
            <a:endParaRPr lang="en-US" sz="4100" dirty="0"/>
          </a:p>
        </p:txBody>
      </p:sp>
      <p:sp>
        <p:nvSpPr>
          <p:cNvPr id="5" name="Text 3"/>
          <p:cNvSpPr/>
          <p:nvPr/>
        </p:nvSpPr>
        <p:spPr>
          <a:xfrm>
            <a:off x="566928" y="46177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A9AF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output is a model file, not chat answers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263640" y="1188720"/>
            <a:ext cx="5349240" cy="4572000"/>
          </a:xfrm>
          <a:prstGeom prst="rect">
            <a:avLst/>
          </a:prstGeom>
          <a:solidFill>
            <a:srgbClr val="131418"/>
          </a:solidFill>
          <a:ln w="15875">
            <a:solidFill>
              <a:srgbClr val="3C4046"/>
            </a:solidFill>
          </a:ln>
        </p:spPr>
        <p:txBody>
          <a:bodyPr wrap="square" rtlCol="0" anchor="ctr"/>
          <a:lstStyle/>
          <a:p>
            <a:endParaRPr lang="en-US" dirty="0"/>
          </a:p>
        </p:txBody>
      </p:sp>
      <p:pic>
        <p:nvPicPr>
          <p:cNvPr id="90" name="Image 90" descr="image-3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1149" y="1371600"/>
            <a:ext cx="4914221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0F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D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</a:t>
            </a:r>
            <a:pPr algn="l" indent="0" marL="0">
              <a:buNone/>
            </a:pPr>
            <a:r>
              <a:rPr lang="en-US" sz="1100" b="1" spc="300" kern="0" dirty="0">
                <a:solidFill>
                  <a:srgbClr val="A9AF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CAN’T BE AN API WRAPPER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972800" y="641908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0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13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123444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ED1C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600200" y="1234440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needs local weights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600200" y="1673352"/>
            <a:ext cx="9784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A9AF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fine-tuning cannot happen over an inference API — producing new weights requires local training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66928" y="2624328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ED1C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600200" y="2624328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Datagen is where iteration cost lives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600200" y="3063240"/>
            <a:ext cx="9784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A9AF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1,000-example build passes roughly two million tokens through the teacher, and iteration scales that linearly — on the Radeon the marginal cost is zero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66928" y="4014216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ED1C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600200" y="4014216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 docs never leave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600200" y="4453128"/>
            <a:ext cx="9784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A9AF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 is structural — the seed documents that ground the labels never leave the machine, and neither does the data derived from them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66928" y="56235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D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</a:t>
            </a:r>
            <a:pPr algn="l" indent="0" marL="0">
              <a:buNone/>
            </a:pPr>
            <a:r>
              <a:rPr lang="en-US" sz="1250" i="1" dirty="0">
                <a:solidFill>
                  <a:srgbClr val="A9AF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2’s rule that “core inference processes shall be executed locally on AMD Radeon GPU” is, for Foundry, simply a description of the product.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0F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D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</a:t>
            </a:r>
            <a:pPr algn="l" indent="0" marL="0">
              <a:buNone/>
            </a:pPr>
            <a:r>
              <a:rPr lang="en-US" sz="1100" b="1" spc="300" kern="0" dirty="0">
                <a:solidFill>
                  <a:srgbClr val="A9AF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972800" y="641908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0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13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148840"/>
            <a:ext cx="1389888" cy="868680"/>
          </a:xfrm>
          <a:prstGeom prst="roundRect">
            <a:avLst>
              <a:gd name="adj" fmla="val 7368"/>
            </a:avLst>
          </a:prstGeom>
          <a:solidFill>
            <a:srgbClr val="17181B"/>
          </a:solidFill>
          <a:ln w="12700">
            <a:solidFill>
              <a:srgbClr val="2A2C3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1965960" y="2583180"/>
            <a:ext cx="164592" cy="0"/>
          </a:xfrm>
          <a:prstGeom prst="line">
            <a:avLst/>
          </a:prstGeom>
          <a:noFill/>
          <a:ln w="22225">
            <a:solidFill>
              <a:srgbClr val="6A7076"/>
            </a:solidFill>
            <a:prstDash val="solid"/>
            <a:tailEnd type="triangle"/>
          </a:ln>
        </p:spPr>
      </p:sp>
      <p:sp>
        <p:nvSpPr>
          <p:cNvPr id="6" name="Text 4"/>
          <p:cNvSpPr/>
          <p:nvPr/>
        </p:nvSpPr>
        <p:spPr>
          <a:xfrm>
            <a:off x="2157984" y="2148840"/>
            <a:ext cx="1389888" cy="868680"/>
          </a:xfrm>
          <a:prstGeom prst="roundRect">
            <a:avLst>
              <a:gd name="adj" fmla="val 7368"/>
            </a:avLst>
          </a:prstGeom>
          <a:solidFill>
            <a:srgbClr val="17181B"/>
          </a:solidFill>
          <a:ln w="12700">
            <a:solidFill>
              <a:srgbClr val="2A2C3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575304" y="2583180"/>
            <a:ext cx="164592" cy="0"/>
          </a:xfrm>
          <a:prstGeom prst="line">
            <a:avLst/>
          </a:prstGeom>
          <a:noFill/>
          <a:ln w="22225">
            <a:solidFill>
              <a:srgbClr val="6A7076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3767328" y="2148840"/>
            <a:ext cx="1389888" cy="868680"/>
          </a:xfrm>
          <a:prstGeom prst="roundRect">
            <a:avLst>
              <a:gd name="adj" fmla="val 7368"/>
            </a:avLst>
          </a:prstGeom>
          <a:solidFill>
            <a:srgbClr val="17181B"/>
          </a:solidFill>
          <a:ln w="12700">
            <a:solidFill>
              <a:srgbClr val="2A2C3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184648" y="2583180"/>
            <a:ext cx="164592" cy="0"/>
          </a:xfrm>
          <a:prstGeom prst="line">
            <a:avLst/>
          </a:prstGeom>
          <a:noFill/>
          <a:ln w="22225">
            <a:solidFill>
              <a:srgbClr val="6A7076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5376672" y="2148840"/>
            <a:ext cx="1389888" cy="868680"/>
          </a:xfrm>
          <a:prstGeom prst="roundRect">
            <a:avLst>
              <a:gd name="adj" fmla="val 7368"/>
            </a:avLst>
          </a:prstGeom>
          <a:solidFill>
            <a:srgbClr val="17181B"/>
          </a:solidFill>
          <a:ln w="12700">
            <a:solidFill>
              <a:srgbClr val="2A2C3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793992" y="2583180"/>
            <a:ext cx="164592" cy="0"/>
          </a:xfrm>
          <a:prstGeom prst="line">
            <a:avLst/>
          </a:prstGeom>
          <a:noFill/>
          <a:ln w="22225">
            <a:solidFill>
              <a:srgbClr val="6A7076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6986016" y="2148840"/>
            <a:ext cx="1389888" cy="868680"/>
          </a:xfrm>
          <a:prstGeom prst="roundRect">
            <a:avLst>
              <a:gd name="adj" fmla="val 7368"/>
            </a:avLst>
          </a:prstGeom>
          <a:solidFill>
            <a:srgbClr val="17181B"/>
          </a:solidFill>
          <a:ln w="12700">
            <a:solidFill>
              <a:srgbClr val="2A2C3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403336" y="2583180"/>
            <a:ext cx="164592" cy="0"/>
          </a:xfrm>
          <a:prstGeom prst="line">
            <a:avLst/>
          </a:prstGeom>
          <a:noFill/>
          <a:ln w="22225">
            <a:solidFill>
              <a:srgbClr val="6A7076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8595360" y="2148840"/>
            <a:ext cx="1389888" cy="868680"/>
          </a:xfrm>
          <a:prstGeom prst="roundRect">
            <a:avLst>
              <a:gd name="adj" fmla="val 7368"/>
            </a:avLst>
          </a:prstGeom>
          <a:solidFill>
            <a:srgbClr val="17181B"/>
          </a:solidFill>
          <a:ln w="12700">
            <a:solidFill>
              <a:srgbClr val="2A2C3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REGENERATE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10012680" y="2583180"/>
            <a:ext cx="164592" cy="0"/>
          </a:xfrm>
          <a:prstGeom prst="line">
            <a:avLst/>
          </a:prstGeom>
          <a:noFill/>
          <a:ln w="22225">
            <a:solidFill>
              <a:srgbClr val="6A7076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10204704" y="2148840"/>
            <a:ext cx="1389888" cy="868680"/>
          </a:xfrm>
          <a:prstGeom prst="roundRect">
            <a:avLst>
              <a:gd name="adj" fmla="val 7368"/>
            </a:avLst>
          </a:prstGeom>
          <a:solidFill>
            <a:srgbClr val="ED1C24"/>
          </a:solidFill>
          <a:ln w="12700">
            <a:solidFill>
              <a:srgbClr val="ED1C24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157984" y="3090672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A70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RAG on seed docs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9290304" y="3054096"/>
            <a:ext cx="0" cy="621792"/>
          </a:xfrm>
          <a:prstGeom prst="line">
            <a:avLst/>
          </a:prstGeom>
          <a:noFill/>
          <a:ln w="25400">
            <a:solidFill>
              <a:srgbClr val="ED1C2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62272" y="3675888"/>
            <a:ext cx="4828032" cy="0"/>
          </a:xfrm>
          <a:prstGeom prst="line">
            <a:avLst/>
          </a:prstGeom>
          <a:noFill/>
          <a:ln w="25400">
            <a:solidFill>
              <a:srgbClr val="ED1C2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462272" y="3072384"/>
            <a:ext cx="0" cy="603504"/>
          </a:xfrm>
          <a:prstGeom prst="line">
            <a:avLst/>
          </a:prstGeom>
          <a:noFill/>
          <a:ln w="25400">
            <a:solidFill>
              <a:srgbClr val="ED1C24"/>
            </a:solidFill>
            <a:prstDash val="solid"/>
            <a:headEnd type="triangle"/>
          </a:ln>
        </p:spPr>
      </p:sp>
      <p:sp>
        <p:nvSpPr>
          <p:cNvPr id="21" name="Text 19"/>
          <p:cNvSpPr/>
          <p:nvPr/>
        </p:nvSpPr>
        <p:spPr>
          <a:xfrm>
            <a:off x="6327648" y="37216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D1C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retrain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48640" y="4956048"/>
            <a:ext cx="2212848" cy="493776"/>
          </a:xfrm>
          <a:prstGeom prst="roundRect">
            <a:avLst>
              <a:gd name="adj" fmla="val 12963"/>
            </a:avLst>
          </a:prstGeom>
          <a:solidFill>
            <a:srgbClr val="17181B"/>
          </a:solidFill>
          <a:ln w="9525">
            <a:solidFill>
              <a:srgbClr val="2A2C31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ED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</a:t>
            </a:r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decomposition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017520" y="4956048"/>
            <a:ext cx="1938528" cy="493776"/>
          </a:xfrm>
          <a:prstGeom prst="roundRect">
            <a:avLst>
              <a:gd name="adj" fmla="val 12963"/>
            </a:avLst>
          </a:prstGeom>
          <a:solidFill>
            <a:srgbClr val="17181B"/>
          </a:solidFill>
          <a:ln w="9525">
            <a:solidFill>
              <a:srgbClr val="2A2C31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ED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</a:t>
            </a:r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invocation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212080" y="4956048"/>
            <a:ext cx="3200400" cy="493776"/>
          </a:xfrm>
          <a:prstGeom prst="roundRect">
            <a:avLst>
              <a:gd name="adj" fmla="val 12963"/>
            </a:avLst>
          </a:prstGeom>
          <a:solidFill>
            <a:srgbClr val="17181B"/>
          </a:solidFill>
          <a:ln w="9525">
            <a:solidFill>
              <a:srgbClr val="2A2C31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ED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</a:t>
            </a:r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Retrieval-grounded generation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8668512" y="4956048"/>
            <a:ext cx="2212848" cy="493776"/>
          </a:xfrm>
          <a:prstGeom prst="roundRect">
            <a:avLst>
              <a:gd name="adj" fmla="val 12963"/>
            </a:avLst>
          </a:prstGeom>
          <a:solidFill>
            <a:srgbClr val="17181B"/>
          </a:solidFill>
          <a:ln w="9525">
            <a:solidFill>
              <a:srgbClr val="2A2C31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ED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</a:t>
            </a:r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management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48640" y="57150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A70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capabilities — in Track 2’s own words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0F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D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</a:t>
            </a:r>
            <a:pPr algn="l" indent="0" marL="0">
              <a:buNone/>
            </a:pPr>
            <a:r>
              <a:rPr lang="en-US" sz="1100" b="1" spc="300" kern="0" dirty="0">
                <a:solidFill>
                  <a:srgbClr val="A9AF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RUNS ON ONE RADEON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972800" y="641908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0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13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1920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0" b="1" dirty="0">
                <a:solidFill>
                  <a:srgbClr val="ED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0" dirty="0"/>
          </a:p>
        </p:txBody>
      </p:sp>
      <p:sp>
        <p:nvSpPr>
          <p:cNvPr id="5" name="Text 3"/>
          <p:cNvSpPr/>
          <p:nvPr/>
        </p:nvSpPr>
        <p:spPr>
          <a:xfrm>
            <a:off x="2514600" y="1481328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 workloads timesharing one card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66928" y="352044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AF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gfx1100 · 48 GB · ROCm 7.2.4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66928" y="4114800"/>
            <a:ext cx="2834640" cy="512064"/>
          </a:xfrm>
          <a:prstGeom prst="roundRect">
            <a:avLst>
              <a:gd name="adj" fmla="val 12500"/>
            </a:avLst>
          </a:prstGeom>
          <a:solidFill>
            <a:srgbClr val="17181B"/>
          </a:solidFill>
          <a:ln w="9525">
            <a:solidFill>
              <a:srgbClr val="2A2C31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D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</a:t>
            </a:r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30B teacher serving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66928" y="4846320"/>
            <a:ext cx="2834640" cy="512064"/>
          </a:xfrm>
          <a:prstGeom prst="roundRect">
            <a:avLst>
              <a:gd name="adj" fmla="val 12500"/>
            </a:avLst>
          </a:prstGeom>
          <a:solidFill>
            <a:srgbClr val="17181B"/>
          </a:solidFill>
          <a:ln w="9525">
            <a:solidFill>
              <a:srgbClr val="2A2C31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D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</a:t>
            </a:r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LoRA training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66928" y="5577840"/>
            <a:ext cx="2834640" cy="512064"/>
          </a:xfrm>
          <a:prstGeom prst="roundRect">
            <a:avLst>
              <a:gd name="adj" fmla="val 12500"/>
            </a:avLst>
          </a:prstGeom>
          <a:solidFill>
            <a:srgbClr val="17181B"/>
          </a:solidFill>
          <a:ln w="9525">
            <a:solidFill>
              <a:srgbClr val="2A2C31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D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</a:t>
            </a:r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serving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459980" y="1188720"/>
            <a:ext cx="2956560" cy="4937760"/>
          </a:xfrm>
          <a:prstGeom prst="rect">
            <a:avLst/>
          </a:prstGeom>
          <a:solidFill>
            <a:srgbClr val="131418"/>
          </a:solidFill>
          <a:ln w="15875">
            <a:solidFill>
              <a:srgbClr val="3C4046"/>
            </a:solidFill>
          </a:ln>
        </p:spPr>
        <p:txBody>
          <a:bodyPr wrap="square" rtlCol="0" anchor="ctr"/>
          <a:lstStyle/>
          <a:p>
            <a:endParaRPr lang="en-US" dirty="0"/>
          </a:p>
        </p:txBody>
      </p:sp>
      <p:pic>
        <p:nvPicPr>
          <p:cNvPr id="91" name="Image 91" descr="image-6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2860" y="1371600"/>
            <a:ext cx="25908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0F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D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</a:t>
            </a:r>
            <a:pPr algn="l" indent="0" marL="0">
              <a:buNone/>
            </a:pPr>
            <a:r>
              <a:rPr lang="en-US" sz="1100" b="1" spc="300" kern="0" dirty="0">
                <a:solidFill>
                  <a:srgbClr val="A9AF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HEADLINE RESULT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972800" y="641908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0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13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117043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A9AF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0.15 →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1554480"/>
            <a:ext cx="74066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0" b="1" dirty="0">
                <a:solidFill>
                  <a:srgbClr val="ED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0.97</a:t>
            </a:r>
            <a:endParaRPr lang="en-US" sz="22000" dirty="0"/>
          </a:p>
        </p:txBody>
      </p:sp>
      <p:sp>
        <p:nvSpPr>
          <p:cNvPr id="6" name="Text 4"/>
          <p:cNvSpPr/>
          <p:nvPr/>
        </p:nvSpPr>
        <p:spPr>
          <a:xfrm>
            <a:off x="566928" y="502920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 match · n=100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66928" y="562356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70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granted Radeon — gfx1100 48 GB · ROCm 7.2.4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229600" y="4667211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9AF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0.15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8366760" y="5170131"/>
            <a:ext cx="1188720" cy="636309"/>
          </a:xfrm>
          <a:prstGeom prst="roundRect">
            <a:avLst>
              <a:gd name="adj" fmla="val 6467"/>
            </a:avLst>
          </a:prstGeom>
          <a:solidFill>
            <a:srgbClr val="3F434A"/>
          </a:solidFill>
          <a:ln/>
        </p:spPr>
      </p:sp>
      <p:sp>
        <p:nvSpPr>
          <p:cNvPr id="10" name="Text 8"/>
          <p:cNvSpPr/>
          <p:nvPr/>
        </p:nvSpPr>
        <p:spPr>
          <a:xfrm>
            <a:off x="10104120" y="11887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0.97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10241280" y="1691640"/>
            <a:ext cx="1188720" cy="4114800"/>
          </a:xfrm>
          <a:prstGeom prst="roundRect">
            <a:avLst>
              <a:gd name="adj" fmla="val 3462"/>
            </a:avLst>
          </a:prstGeom>
          <a:solidFill>
            <a:srgbClr val="ED1C24"/>
          </a:solidFill>
          <a:ln/>
        </p:spPr>
      </p:sp>
      <p:sp>
        <p:nvSpPr>
          <p:cNvPr id="12" name="Shape 10"/>
          <p:cNvSpPr/>
          <p:nvPr/>
        </p:nvSpPr>
        <p:spPr>
          <a:xfrm>
            <a:off x="8001000" y="5806440"/>
            <a:ext cx="3611880" cy="0"/>
          </a:xfrm>
          <a:prstGeom prst="line">
            <a:avLst/>
          </a:prstGeom>
          <a:noFill/>
          <a:ln w="19050">
            <a:solidFill>
              <a:srgbClr val="4A4E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01000" y="591616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A70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Qwen3-0.6B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9921240" y="59161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Foundry student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0F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D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</a:t>
            </a:r>
            <a:pPr algn="l" indent="0" marL="0">
              <a:buNone/>
            </a:pPr>
            <a:r>
              <a:rPr lang="en-US" sz="1100" b="1" spc="300" kern="0" dirty="0">
                <a:solidFill>
                  <a:srgbClr val="A9AF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QUANT LADDER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972800" y="641908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0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 13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705356" y="1097280"/>
            <a:ext cx="8778240" cy="3703320"/>
          </a:xfrm>
          <a:prstGeom prst="roundRect">
            <a:avLst>
              <a:gd name="adj" fmla="val 1975"/>
            </a:avLst>
          </a:prstGeom>
          <a:solidFill>
            <a:srgbClr val="FFFFFF"/>
          </a:solidFill>
          <a:ln/>
        </p:spPr>
      </p:sp>
      <p:pic>
        <p:nvPicPr>
          <p:cNvPr id="5" name="Image 0" descr="bench_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8236" y="1362456"/>
            <a:ext cx="8412480" cy="31821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69848" y="4956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A70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bench_chart.png · Radeon run · accuracy measured through llama-server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12648" y="53492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D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</a:t>
            </a:r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costs 5 points; </a:t>
            </a:r>
            <a:pPr algn="ctr" indent="0" marL="0">
              <a:buNone/>
            </a:pPr>
            <a:r>
              <a:rPr lang="en-US" sz="3000" b="1" dirty="0">
                <a:solidFill>
                  <a:srgbClr val="ED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Q5</a:t>
            </a:r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costs nothing.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1069848" y="610819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9AF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Q5_K_M up, served accuracy equals the full-precision checkpoint’s on this task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0F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D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</a:t>
            </a:r>
            <a:pPr algn="l" indent="0" marL="0">
              <a:buNone/>
            </a:pPr>
            <a:r>
              <a:rPr lang="en-US" sz="1100" b="1" spc="300" kern="0" dirty="0">
                <a:solidFill>
                  <a:srgbClr val="A9AF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VS TEACHER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972800" y="641908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0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/ 13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10789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50" kern="0" dirty="0">
                <a:solidFill>
                  <a:srgbClr val="6A70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709160" y="10789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50" kern="0" dirty="0">
                <a:solidFill>
                  <a:srgbClr val="6A70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GENERATION SPEED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869680" y="10789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50" kern="0" dirty="0">
                <a:solidFill>
                  <a:srgbClr val="6A70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AGREEMENT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481328"/>
            <a:ext cx="2286000" cy="2286000"/>
          </a:xfrm>
          <a:prstGeom prst="rect">
            <a:avLst/>
          </a:prstGeom>
          <a:solidFill>
            <a:srgbClr val="3F434A"/>
          </a:solidFill>
          <a:ln/>
        </p:spPr>
      </p:sp>
      <p:sp>
        <p:nvSpPr>
          <p:cNvPr id="8" name="Shape 6"/>
          <p:cNvSpPr/>
          <p:nvPr/>
        </p:nvSpPr>
        <p:spPr>
          <a:xfrm>
            <a:off x="3063240" y="3414591"/>
            <a:ext cx="352737" cy="352737"/>
          </a:xfrm>
          <a:prstGeom prst="rect">
            <a:avLst/>
          </a:prstGeom>
          <a:solidFill>
            <a:srgbClr val="ED1C24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88620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A9AF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30B Q4_K_M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A9AF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17,697 MB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017520" y="388620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Q5_K_M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424 MB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09160" y="151790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Foundry student · 283.4 tok/s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09160" y="1828800"/>
            <a:ext cx="3291840" cy="475488"/>
          </a:xfrm>
          <a:prstGeom prst="roundRect">
            <a:avLst>
              <a:gd name="adj" fmla="val 8654"/>
            </a:avLst>
          </a:prstGeom>
          <a:solidFill>
            <a:srgbClr val="ED1C24"/>
          </a:solidFill>
          <a:ln/>
        </p:spPr>
      </p:sp>
      <p:sp>
        <p:nvSpPr>
          <p:cNvPr id="13" name="Text 11"/>
          <p:cNvSpPr/>
          <p:nvPr/>
        </p:nvSpPr>
        <p:spPr>
          <a:xfrm>
            <a:off x="4709160" y="25786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AF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30B · 110.2 tok/s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09160" y="2889504"/>
            <a:ext cx="1280031" cy="475488"/>
          </a:xfrm>
          <a:prstGeom prst="roundRect">
            <a:avLst>
              <a:gd name="adj" fmla="val 8654"/>
            </a:avLst>
          </a:prstGeom>
          <a:solidFill>
            <a:srgbClr val="3F434A"/>
          </a:solidFill>
          <a:ln/>
        </p:spPr>
      </p:sp>
      <p:sp>
        <p:nvSpPr>
          <p:cNvPr id="15" name="Shape 13"/>
          <p:cNvSpPr/>
          <p:nvPr/>
        </p:nvSpPr>
        <p:spPr>
          <a:xfrm>
            <a:off x="8869680" y="148132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16" name="Shape 14"/>
          <p:cNvSpPr/>
          <p:nvPr/>
        </p:nvSpPr>
        <p:spPr>
          <a:xfrm>
            <a:off x="9029700" y="148132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17" name="Shape 15"/>
          <p:cNvSpPr/>
          <p:nvPr/>
        </p:nvSpPr>
        <p:spPr>
          <a:xfrm>
            <a:off x="9189720" y="148132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18" name="Shape 16"/>
          <p:cNvSpPr/>
          <p:nvPr/>
        </p:nvSpPr>
        <p:spPr>
          <a:xfrm>
            <a:off x="9349740" y="148132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19" name="Shape 17"/>
          <p:cNvSpPr/>
          <p:nvPr/>
        </p:nvSpPr>
        <p:spPr>
          <a:xfrm>
            <a:off x="9509760" y="148132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20" name="Shape 18"/>
          <p:cNvSpPr/>
          <p:nvPr/>
        </p:nvSpPr>
        <p:spPr>
          <a:xfrm>
            <a:off x="9669780" y="148132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21" name="Shape 19"/>
          <p:cNvSpPr/>
          <p:nvPr/>
        </p:nvSpPr>
        <p:spPr>
          <a:xfrm>
            <a:off x="9829800" y="148132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22" name="Shape 20"/>
          <p:cNvSpPr/>
          <p:nvPr/>
        </p:nvSpPr>
        <p:spPr>
          <a:xfrm>
            <a:off x="9989820" y="148132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23" name="Shape 21"/>
          <p:cNvSpPr/>
          <p:nvPr/>
        </p:nvSpPr>
        <p:spPr>
          <a:xfrm>
            <a:off x="10149840" y="148132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24" name="Shape 22"/>
          <p:cNvSpPr/>
          <p:nvPr/>
        </p:nvSpPr>
        <p:spPr>
          <a:xfrm>
            <a:off x="10309860" y="148132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25" name="Shape 23"/>
          <p:cNvSpPr/>
          <p:nvPr/>
        </p:nvSpPr>
        <p:spPr>
          <a:xfrm>
            <a:off x="8869680" y="164134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26" name="Shape 24"/>
          <p:cNvSpPr/>
          <p:nvPr/>
        </p:nvSpPr>
        <p:spPr>
          <a:xfrm>
            <a:off x="9029700" y="164134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27" name="Shape 25"/>
          <p:cNvSpPr/>
          <p:nvPr/>
        </p:nvSpPr>
        <p:spPr>
          <a:xfrm>
            <a:off x="9189720" y="164134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28" name="Shape 26"/>
          <p:cNvSpPr/>
          <p:nvPr/>
        </p:nvSpPr>
        <p:spPr>
          <a:xfrm>
            <a:off x="9349740" y="164134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29" name="Shape 27"/>
          <p:cNvSpPr/>
          <p:nvPr/>
        </p:nvSpPr>
        <p:spPr>
          <a:xfrm>
            <a:off x="9509760" y="164134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30" name="Shape 28"/>
          <p:cNvSpPr/>
          <p:nvPr/>
        </p:nvSpPr>
        <p:spPr>
          <a:xfrm>
            <a:off x="9669780" y="164134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31" name="Shape 29"/>
          <p:cNvSpPr/>
          <p:nvPr/>
        </p:nvSpPr>
        <p:spPr>
          <a:xfrm>
            <a:off x="9829800" y="164134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32" name="Shape 30"/>
          <p:cNvSpPr/>
          <p:nvPr/>
        </p:nvSpPr>
        <p:spPr>
          <a:xfrm>
            <a:off x="9989820" y="164134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33" name="Shape 31"/>
          <p:cNvSpPr/>
          <p:nvPr/>
        </p:nvSpPr>
        <p:spPr>
          <a:xfrm>
            <a:off x="10149840" y="164134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34" name="Shape 32"/>
          <p:cNvSpPr/>
          <p:nvPr/>
        </p:nvSpPr>
        <p:spPr>
          <a:xfrm>
            <a:off x="10309860" y="164134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35" name="Shape 33"/>
          <p:cNvSpPr/>
          <p:nvPr/>
        </p:nvSpPr>
        <p:spPr>
          <a:xfrm>
            <a:off x="8869680" y="180136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36" name="Shape 34"/>
          <p:cNvSpPr/>
          <p:nvPr/>
        </p:nvSpPr>
        <p:spPr>
          <a:xfrm>
            <a:off x="9029700" y="180136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37" name="Shape 35"/>
          <p:cNvSpPr/>
          <p:nvPr/>
        </p:nvSpPr>
        <p:spPr>
          <a:xfrm>
            <a:off x="9189720" y="180136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38" name="Shape 36"/>
          <p:cNvSpPr/>
          <p:nvPr/>
        </p:nvSpPr>
        <p:spPr>
          <a:xfrm>
            <a:off x="9349740" y="180136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39" name="Shape 37"/>
          <p:cNvSpPr/>
          <p:nvPr/>
        </p:nvSpPr>
        <p:spPr>
          <a:xfrm>
            <a:off x="9509760" y="180136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40" name="Shape 38"/>
          <p:cNvSpPr/>
          <p:nvPr/>
        </p:nvSpPr>
        <p:spPr>
          <a:xfrm>
            <a:off x="9669780" y="180136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41" name="Shape 39"/>
          <p:cNvSpPr/>
          <p:nvPr/>
        </p:nvSpPr>
        <p:spPr>
          <a:xfrm>
            <a:off x="9829800" y="180136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42" name="Shape 40"/>
          <p:cNvSpPr/>
          <p:nvPr/>
        </p:nvSpPr>
        <p:spPr>
          <a:xfrm>
            <a:off x="9989820" y="180136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43" name="Shape 41"/>
          <p:cNvSpPr/>
          <p:nvPr/>
        </p:nvSpPr>
        <p:spPr>
          <a:xfrm>
            <a:off x="10149840" y="180136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44" name="Shape 42"/>
          <p:cNvSpPr/>
          <p:nvPr/>
        </p:nvSpPr>
        <p:spPr>
          <a:xfrm>
            <a:off x="10309860" y="180136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45" name="Shape 43"/>
          <p:cNvSpPr/>
          <p:nvPr/>
        </p:nvSpPr>
        <p:spPr>
          <a:xfrm>
            <a:off x="8869680" y="196138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46" name="Shape 44"/>
          <p:cNvSpPr/>
          <p:nvPr/>
        </p:nvSpPr>
        <p:spPr>
          <a:xfrm>
            <a:off x="9029700" y="196138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47" name="Shape 45"/>
          <p:cNvSpPr/>
          <p:nvPr/>
        </p:nvSpPr>
        <p:spPr>
          <a:xfrm>
            <a:off x="9189720" y="196138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48" name="Shape 46"/>
          <p:cNvSpPr/>
          <p:nvPr/>
        </p:nvSpPr>
        <p:spPr>
          <a:xfrm>
            <a:off x="9349740" y="196138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49" name="Shape 47"/>
          <p:cNvSpPr/>
          <p:nvPr/>
        </p:nvSpPr>
        <p:spPr>
          <a:xfrm>
            <a:off x="9509760" y="196138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50" name="Shape 48"/>
          <p:cNvSpPr/>
          <p:nvPr/>
        </p:nvSpPr>
        <p:spPr>
          <a:xfrm>
            <a:off x="9669780" y="196138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51" name="Shape 49"/>
          <p:cNvSpPr/>
          <p:nvPr/>
        </p:nvSpPr>
        <p:spPr>
          <a:xfrm>
            <a:off x="9829800" y="196138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52" name="Shape 50"/>
          <p:cNvSpPr/>
          <p:nvPr/>
        </p:nvSpPr>
        <p:spPr>
          <a:xfrm>
            <a:off x="9989820" y="196138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53" name="Shape 51"/>
          <p:cNvSpPr/>
          <p:nvPr/>
        </p:nvSpPr>
        <p:spPr>
          <a:xfrm>
            <a:off x="10149840" y="196138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54" name="Shape 52"/>
          <p:cNvSpPr/>
          <p:nvPr/>
        </p:nvSpPr>
        <p:spPr>
          <a:xfrm>
            <a:off x="10309860" y="196138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55" name="Shape 53"/>
          <p:cNvSpPr/>
          <p:nvPr/>
        </p:nvSpPr>
        <p:spPr>
          <a:xfrm>
            <a:off x="8869680" y="212140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56" name="Shape 54"/>
          <p:cNvSpPr/>
          <p:nvPr/>
        </p:nvSpPr>
        <p:spPr>
          <a:xfrm>
            <a:off x="9029700" y="212140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57" name="Shape 55"/>
          <p:cNvSpPr/>
          <p:nvPr/>
        </p:nvSpPr>
        <p:spPr>
          <a:xfrm>
            <a:off x="9189720" y="212140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58" name="Shape 56"/>
          <p:cNvSpPr/>
          <p:nvPr/>
        </p:nvSpPr>
        <p:spPr>
          <a:xfrm>
            <a:off x="9349740" y="212140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59" name="Shape 57"/>
          <p:cNvSpPr/>
          <p:nvPr/>
        </p:nvSpPr>
        <p:spPr>
          <a:xfrm>
            <a:off x="9509760" y="212140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60" name="Shape 58"/>
          <p:cNvSpPr/>
          <p:nvPr/>
        </p:nvSpPr>
        <p:spPr>
          <a:xfrm>
            <a:off x="9669780" y="212140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61" name="Shape 59"/>
          <p:cNvSpPr/>
          <p:nvPr/>
        </p:nvSpPr>
        <p:spPr>
          <a:xfrm>
            <a:off x="9829800" y="212140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62" name="Shape 60"/>
          <p:cNvSpPr/>
          <p:nvPr/>
        </p:nvSpPr>
        <p:spPr>
          <a:xfrm>
            <a:off x="9989820" y="212140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63" name="Shape 61"/>
          <p:cNvSpPr/>
          <p:nvPr/>
        </p:nvSpPr>
        <p:spPr>
          <a:xfrm>
            <a:off x="10149840" y="212140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64" name="Shape 62"/>
          <p:cNvSpPr/>
          <p:nvPr/>
        </p:nvSpPr>
        <p:spPr>
          <a:xfrm>
            <a:off x="10309860" y="212140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65" name="Shape 63"/>
          <p:cNvSpPr/>
          <p:nvPr/>
        </p:nvSpPr>
        <p:spPr>
          <a:xfrm>
            <a:off x="8869680" y="228142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66" name="Shape 64"/>
          <p:cNvSpPr/>
          <p:nvPr/>
        </p:nvSpPr>
        <p:spPr>
          <a:xfrm>
            <a:off x="9029700" y="228142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67" name="Shape 65"/>
          <p:cNvSpPr/>
          <p:nvPr/>
        </p:nvSpPr>
        <p:spPr>
          <a:xfrm>
            <a:off x="9189720" y="228142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68" name="Shape 66"/>
          <p:cNvSpPr/>
          <p:nvPr/>
        </p:nvSpPr>
        <p:spPr>
          <a:xfrm>
            <a:off x="9349740" y="228142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69" name="Shape 67"/>
          <p:cNvSpPr/>
          <p:nvPr/>
        </p:nvSpPr>
        <p:spPr>
          <a:xfrm>
            <a:off x="9509760" y="228142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70" name="Shape 68"/>
          <p:cNvSpPr/>
          <p:nvPr/>
        </p:nvSpPr>
        <p:spPr>
          <a:xfrm>
            <a:off x="9669780" y="228142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71" name="Shape 69"/>
          <p:cNvSpPr/>
          <p:nvPr/>
        </p:nvSpPr>
        <p:spPr>
          <a:xfrm>
            <a:off x="9829800" y="228142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72" name="Shape 70"/>
          <p:cNvSpPr/>
          <p:nvPr/>
        </p:nvSpPr>
        <p:spPr>
          <a:xfrm>
            <a:off x="9989820" y="228142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73" name="Shape 71"/>
          <p:cNvSpPr/>
          <p:nvPr/>
        </p:nvSpPr>
        <p:spPr>
          <a:xfrm>
            <a:off x="10149840" y="228142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74" name="Shape 72"/>
          <p:cNvSpPr/>
          <p:nvPr/>
        </p:nvSpPr>
        <p:spPr>
          <a:xfrm>
            <a:off x="10309860" y="228142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75" name="Shape 73"/>
          <p:cNvSpPr/>
          <p:nvPr/>
        </p:nvSpPr>
        <p:spPr>
          <a:xfrm>
            <a:off x="8869680" y="244144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76" name="Shape 74"/>
          <p:cNvSpPr/>
          <p:nvPr/>
        </p:nvSpPr>
        <p:spPr>
          <a:xfrm>
            <a:off x="9029700" y="244144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77" name="Shape 75"/>
          <p:cNvSpPr/>
          <p:nvPr/>
        </p:nvSpPr>
        <p:spPr>
          <a:xfrm>
            <a:off x="9189720" y="244144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78" name="Shape 76"/>
          <p:cNvSpPr/>
          <p:nvPr/>
        </p:nvSpPr>
        <p:spPr>
          <a:xfrm>
            <a:off x="9349740" y="244144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79" name="Shape 77"/>
          <p:cNvSpPr/>
          <p:nvPr/>
        </p:nvSpPr>
        <p:spPr>
          <a:xfrm>
            <a:off x="9509760" y="244144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80" name="Shape 78"/>
          <p:cNvSpPr/>
          <p:nvPr/>
        </p:nvSpPr>
        <p:spPr>
          <a:xfrm>
            <a:off x="9669780" y="244144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81" name="Shape 79"/>
          <p:cNvSpPr/>
          <p:nvPr/>
        </p:nvSpPr>
        <p:spPr>
          <a:xfrm>
            <a:off x="9829800" y="244144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82" name="Shape 80"/>
          <p:cNvSpPr/>
          <p:nvPr/>
        </p:nvSpPr>
        <p:spPr>
          <a:xfrm>
            <a:off x="9989820" y="244144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83" name="Shape 81"/>
          <p:cNvSpPr/>
          <p:nvPr/>
        </p:nvSpPr>
        <p:spPr>
          <a:xfrm>
            <a:off x="10149840" y="244144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84" name="Shape 82"/>
          <p:cNvSpPr/>
          <p:nvPr/>
        </p:nvSpPr>
        <p:spPr>
          <a:xfrm>
            <a:off x="10309860" y="244144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85" name="Shape 83"/>
          <p:cNvSpPr/>
          <p:nvPr/>
        </p:nvSpPr>
        <p:spPr>
          <a:xfrm>
            <a:off x="8869680" y="260146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86" name="Shape 84"/>
          <p:cNvSpPr/>
          <p:nvPr/>
        </p:nvSpPr>
        <p:spPr>
          <a:xfrm>
            <a:off x="9029700" y="260146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87" name="Shape 85"/>
          <p:cNvSpPr/>
          <p:nvPr/>
        </p:nvSpPr>
        <p:spPr>
          <a:xfrm>
            <a:off x="9189720" y="260146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88" name="Shape 86"/>
          <p:cNvSpPr/>
          <p:nvPr/>
        </p:nvSpPr>
        <p:spPr>
          <a:xfrm>
            <a:off x="9349740" y="260146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89" name="Shape 87"/>
          <p:cNvSpPr/>
          <p:nvPr/>
        </p:nvSpPr>
        <p:spPr>
          <a:xfrm>
            <a:off x="9509760" y="260146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90" name="Shape 88"/>
          <p:cNvSpPr/>
          <p:nvPr/>
        </p:nvSpPr>
        <p:spPr>
          <a:xfrm>
            <a:off x="9669780" y="260146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91" name="Shape 89"/>
          <p:cNvSpPr/>
          <p:nvPr/>
        </p:nvSpPr>
        <p:spPr>
          <a:xfrm>
            <a:off x="9829800" y="260146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92" name="Shape 90"/>
          <p:cNvSpPr/>
          <p:nvPr/>
        </p:nvSpPr>
        <p:spPr>
          <a:xfrm>
            <a:off x="9989820" y="260146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93" name="Shape 91"/>
          <p:cNvSpPr/>
          <p:nvPr/>
        </p:nvSpPr>
        <p:spPr>
          <a:xfrm>
            <a:off x="10149840" y="260146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94" name="Shape 92"/>
          <p:cNvSpPr/>
          <p:nvPr/>
        </p:nvSpPr>
        <p:spPr>
          <a:xfrm>
            <a:off x="10309860" y="260146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95" name="Shape 93"/>
          <p:cNvSpPr/>
          <p:nvPr/>
        </p:nvSpPr>
        <p:spPr>
          <a:xfrm>
            <a:off x="8869680" y="276148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96" name="Shape 94"/>
          <p:cNvSpPr/>
          <p:nvPr/>
        </p:nvSpPr>
        <p:spPr>
          <a:xfrm>
            <a:off x="9029700" y="276148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97" name="Shape 95"/>
          <p:cNvSpPr/>
          <p:nvPr/>
        </p:nvSpPr>
        <p:spPr>
          <a:xfrm>
            <a:off x="9189720" y="276148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98" name="Shape 96"/>
          <p:cNvSpPr/>
          <p:nvPr/>
        </p:nvSpPr>
        <p:spPr>
          <a:xfrm>
            <a:off x="9349740" y="276148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99" name="Shape 97"/>
          <p:cNvSpPr/>
          <p:nvPr/>
        </p:nvSpPr>
        <p:spPr>
          <a:xfrm>
            <a:off x="9509760" y="276148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100" name="Shape 98"/>
          <p:cNvSpPr/>
          <p:nvPr/>
        </p:nvSpPr>
        <p:spPr>
          <a:xfrm>
            <a:off x="9669780" y="276148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101" name="Shape 99"/>
          <p:cNvSpPr/>
          <p:nvPr/>
        </p:nvSpPr>
        <p:spPr>
          <a:xfrm>
            <a:off x="9829800" y="276148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102" name="Shape 100"/>
          <p:cNvSpPr/>
          <p:nvPr/>
        </p:nvSpPr>
        <p:spPr>
          <a:xfrm>
            <a:off x="9989820" y="276148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103" name="Shape 101"/>
          <p:cNvSpPr/>
          <p:nvPr/>
        </p:nvSpPr>
        <p:spPr>
          <a:xfrm>
            <a:off x="10149840" y="276148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104" name="Shape 102"/>
          <p:cNvSpPr/>
          <p:nvPr/>
        </p:nvSpPr>
        <p:spPr>
          <a:xfrm>
            <a:off x="10309860" y="276148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105" name="Shape 103"/>
          <p:cNvSpPr/>
          <p:nvPr/>
        </p:nvSpPr>
        <p:spPr>
          <a:xfrm>
            <a:off x="8869680" y="292150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106" name="Shape 104"/>
          <p:cNvSpPr/>
          <p:nvPr/>
        </p:nvSpPr>
        <p:spPr>
          <a:xfrm>
            <a:off x="9029700" y="292150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107" name="Shape 105"/>
          <p:cNvSpPr/>
          <p:nvPr/>
        </p:nvSpPr>
        <p:spPr>
          <a:xfrm>
            <a:off x="9189720" y="292150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108" name="Shape 106"/>
          <p:cNvSpPr/>
          <p:nvPr/>
        </p:nvSpPr>
        <p:spPr>
          <a:xfrm>
            <a:off x="9349740" y="292150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109" name="Shape 107"/>
          <p:cNvSpPr/>
          <p:nvPr/>
        </p:nvSpPr>
        <p:spPr>
          <a:xfrm>
            <a:off x="9509760" y="292150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110" name="Shape 108"/>
          <p:cNvSpPr/>
          <p:nvPr/>
        </p:nvSpPr>
        <p:spPr>
          <a:xfrm>
            <a:off x="9669780" y="292150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111" name="Shape 109"/>
          <p:cNvSpPr/>
          <p:nvPr/>
        </p:nvSpPr>
        <p:spPr>
          <a:xfrm>
            <a:off x="9829800" y="2921508"/>
            <a:ext cx="105156" cy="105156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112" name="Shape 110"/>
          <p:cNvSpPr/>
          <p:nvPr/>
        </p:nvSpPr>
        <p:spPr>
          <a:xfrm>
            <a:off x="9989820" y="2921508"/>
            <a:ext cx="105156" cy="105156"/>
          </a:xfrm>
          <a:prstGeom prst="ellipse">
            <a:avLst/>
          </a:prstGeom>
          <a:solidFill>
            <a:srgbClr val="3F434A"/>
          </a:solidFill>
          <a:ln/>
        </p:spPr>
      </p:sp>
      <p:sp>
        <p:nvSpPr>
          <p:cNvPr id="113" name="Shape 111"/>
          <p:cNvSpPr/>
          <p:nvPr/>
        </p:nvSpPr>
        <p:spPr>
          <a:xfrm>
            <a:off x="10149840" y="2921508"/>
            <a:ext cx="105156" cy="105156"/>
          </a:xfrm>
          <a:prstGeom prst="ellipse">
            <a:avLst/>
          </a:prstGeom>
          <a:solidFill>
            <a:srgbClr val="3F434A"/>
          </a:solidFill>
          <a:ln/>
        </p:spPr>
      </p:sp>
      <p:sp>
        <p:nvSpPr>
          <p:cNvPr id="114" name="Shape 112"/>
          <p:cNvSpPr/>
          <p:nvPr/>
        </p:nvSpPr>
        <p:spPr>
          <a:xfrm>
            <a:off x="10309860" y="2921508"/>
            <a:ext cx="105156" cy="105156"/>
          </a:xfrm>
          <a:prstGeom prst="ellipse">
            <a:avLst/>
          </a:prstGeom>
          <a:solidFill>
            <a:srgbClr val="3F434A"/>
          </a:solidFill>
          <a:ln/>
        </p:spPr>
      </p:sp>
      <p:sp>
        <p:nvSpPr>
          <p:cNvPr id="115" name="Text 113"/>
          <p:cNvSpPr/>
          <p:nvPr/>
        </p:nvSpPr>
        <p:spPr>
          <a:xfrm>
            <a:off x="8869680" y="3246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F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held-out examples · n=100</a:t>
            </a:r>
            <a:endParaRPr lang="en-US" sz="1100" dirty="0"/>
          </a:p>
        </p:txBody>
      </p:sp>
      <p:sp>
        <p:nvSpPr>
          <p:cNvPr id="116" name="Text 114"/>
          <p:cNvSpPr/>
          <p:nvPr/>
        </p:nvSpPr>
        <p:spPr>
          <a:xfrm>
            <a:off x="548640" y="4370832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D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1/42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size</a:t>
            </a:r>
            <a:endParaRPr lang="en-US" sz="5400" dirty="0"/>
          </a:p>
        </p:txBody>
      </p:sp>
      <p:sp>
        <p:nvSpPr>
          <p:cNvPr id="117" name="Text 115"/>
          <p:cNvSpPr/>
          <p:nvPr/>
        </p:nvSpPr>
        <p:spPr>
          <a:xfrm>
            <a:off x="548640" y="53949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70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424 MB vs 17,697 MB</a:t>
            </a:r>
            <a:endParaRPr lang="en-US" sz="1050" dirty="0"/>
          </a:p>
        </p:txBody>
      </p:sp>
      <p:sp>
        <p:nvSpPr>
          <p:cNvPr id="118" name="Text 116"/>
          <p:cNvSpPr/>
          <p:nvPr/>
        </p:nvSpPr>
        <p:spPr>
          <a:xfrm>
            <a:off x="4709160" y="4370832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D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2.6×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faster generation</a:t>
            </a:r>
            <a:endParaRPr lang="en-US" sz="5400" dirty="0"/>
          </a:p>
        </p:txBody>
      </p:sp>
      <p:sp>
        <p:nvSpPr>
          <p:cNvPr id="119" name="Text 117"/>
          <p:cNvSpPr/>
          <p:nvPr/>
        </p:nvSpPr>
        <p:spPr>
          <a:xfrm>
            <a:off x="4709160" y="53949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70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tg tok/s · single-stream llama-bench</a:t>
            </a:r>
            <a:endParaRPr lang="en-US" sz="1050" dirty="0"/>
          </a:p>
        </p:txBody>
      </p:sp>
      <p:sp>
        <p:nvSpPr>
          <p:cNvPr id="120" name="Text 118"/>
          <p:cNvSpPr/>
          <p:nvPr/>
        </p:nvSpPr>
        <p:spPr>
          <a:xfrm>
            <a:off x="8869680" y="4370832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D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97%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agreement</a:t>
            </a:r>
            <a:endParaRPr lang="en-US" sz="5400" dirty="0"/>
          </a:p>
        </p:txBody>
      </p:sp>
      <p:sp>
        <p:nvSpPr>
          <p:cNvPr id="121" name="Text 119"/>
          <p:cNvSpPr/>
          <p:nvPr/>
        </p:nvSpPr>
        <p:spPr>
          <a:xfrm>
            <a:off x="8869680" y="53949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70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 match with the teacher</a:t>
            </a:r>
            <a:endParaRPr lang="en-US" sz="1050" dirty="0"/>
          </a:p>
        </p:txBody>
      </p:sp>
      <p:sp>
        <p:nvSpPr>
          <p:cNvPr id="122" name="Text 120"/>
          <p:cNvSpPr/>
          <p:nvPr/>
        </p:nvSpPr>
        <p:spPr>
          <a:xfrm>
            <a:off x="548640" y="592531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</a:t>
            </a:r>
            <a:pPr indent="0" marL="0">
              <a:buNone/>
            </a:pPr>
            <a:r>
              <a:rPr lang="en-US" sz="1300" dirty="0">
                <a:solidFill>
                  <a:srgbClr val="A9AF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against blind policy ground truth: student 0.95 / teacher 0.95 — both 1.00 on unambiguous tickets (n=92)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0F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D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</a:t>
            </a:r>
            <a:pPr algn="l" indent="0" marL="0">
              <a:buNone/>
            </a:pPr>
            <a:r>
              <a:rPr lang="en-US" sz="1100" b="1" spc="300" kern="0" dirty="0">
                <a:solidFill>
                  <a:srgbClr val="A9AF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VS TEACHER — A MEASURED DECISION, NOT A GUESS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972800" y="641908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0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13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10789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50" kern="0" dirty="0">
                <a:solidFill>
                  <a:srgbClr val="6A70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RIGHT-SIZING — 1.7B RERUN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0" y="10789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50" kern="0" dirty="0">
                <a:solidFill>
                  <a:srgbClr val="6A70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 DEPLOYABILITY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366760" y="10789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50" kern="0" dirty="0">
                <a:solidFill>
                  <a:srgbClr val="6A70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A/B — §4.6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D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3×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size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548640" y="239572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AF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the same accuracy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0" y="141732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D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89.5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tok/s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4572000" y="239572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AF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a server CPU — no GPU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366760" y="141732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D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</a:t>
            </a:r>
            <a:pPr indent="0" marL="0">
              <a:buNone/>
            </a:pPr>
            <a:r>
              <a:rPr lang="en-US" sz="2600" b="1" dirty="0">
                <a:solidFill>
                  <a:srgbClr val="A9AF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vs 0.92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8366760" y="239572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AF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vs policy truth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2926080"/>
            <a:ext cx="3611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A9AF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1.7B student measured 0.95 exact — the same accuracy band as the 0.6B (0.95–0.97 across runs) at ~25% lower GPU throughput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4005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70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Q5: 1,200 MB / 213 tok/s vs 424 MB / 283 tok/s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72000" y="292608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A9AF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0.6B Q4_K_M on the EPYC 9334 host CPU; 64.2 tok/s on a laptop i7-14650HX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0" y="400507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70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llama-bench, no GPU</a:t>
            </a:r>
            <a:endParaRPr lang="en-US" sz="9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66760" y="2852928"/>
          <a:ext cx="329184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868680"/>
                <a:gridCol w="73152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6A70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Teacher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25400" cap="flat" cmpd="sng" algn="ctr">
                      <a:solidFill>
                        <a:srgbClr val="0E0F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0F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0F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0F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81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6A70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Datagen (1K)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25400" cap="flat" cmpd="sng" algn="ctr">
                      <a:solidFill>
                        <a:srgbClr val="0E0F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0F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0F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0F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81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6A70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vs truth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25400" cap="flat" cmpd="sng" algn="ctr">
                      <a:solidFill>
                        <a:srgbClr val="0E0F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0F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0F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0F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81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Qwen3-30B-A3B (ours)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25400" cap="flat" cmpd="sng" algn="ctr">
                      <a:solidFill>
                        <a:srgbClr val="0E0F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0F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0F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0F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81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17.6 min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25400" cap="flat" cmpd="sng" algn="ctr">
                      <a:solidFill>
                        <a:srgbClr val="0E0F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0F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0F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0F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81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ED1C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25400" cap="flat" cmpd="sng" algn="ctr">
                      <a:solidFill>
                        <a:srgbClr val="0E0F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0F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0F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0F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81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A9AFB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Qwen3.6-35B-A3B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25400" cap="flat" cmpd="sng" algn="ctr">
                      <a:solidFill>
                        <a:srgbClr val="0E0F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0F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0F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0F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81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A9AFB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42.4 min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25400" cap="flat" cmpd="sng" algn="ctr">
                      <a:solidFill>
                        <a:srgbClr val="0E0F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0F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0F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0F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81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A9AFB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25400" cap="flat" cmpd="sng" algn="ctr">
                      <a:solidFill>
                        <a:srgbClr val="0E0F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0F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0F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0F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81B"/>
                    </a:solidFill>
                  </a:tcPr>
                </a:tc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8366760" y="40050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70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same spec, same student, same recipe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548640" y="4617720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D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</a:t>
            </a:r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0.6B is the measured pick, not a guess.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572000" y="4617720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D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</a:t>
            </a:r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GPU needed to serve the product.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8366760" y="4617720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D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</a:t>
            </a:r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swap is one config line.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548640" y="562356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i="1" dirty="0">
                <a:solidFill>
                  <a:srgbClr val="A9AF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“Leaderboard rank does not decide distillation quality — a measured afternoon does, and the factory is the instrument that measures it.”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0F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D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</a:t>
            </a:r>
            <a:pPr algn="l" indent="0" marL="0">
              <a:buNone/>
            </a:pPr>
            <a:r>
              <a:rPr lang="en-US" sz="1100" b="1" spc="300" kern="0" dirty="0">
                <a:solidFill>
                  <a:srgbClr val="A9AF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IMPROVEMENT LOOP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972800" y="641908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0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/ 13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7772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A9AF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0.667</a:t>
            </a:r>
            <a:pPr indent="0" marL="0">
              <a:buNone/>
            </a:pPr>
            <a:r>
              <a:rPr lang="en-US" sz="6600" b="1" dirty="0">
                <a:solidFill>
                  <a:srgbClr val="6A70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</a:t>
            </a:r>
            <a:pPr indent="0" marL="0">
              <a:buNone/>
            </a:pPr>
            <a:r>
              <a:rPr lang="en-US" sz="6600" b="1" dirty="0">
                <a:solidFill>
                  <a:srgbClr val="ED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0.833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7863840" y="1572768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9AF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 match · same frozen holdout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3383280" cy="2286000"/>
          </a:xfrm>
          <a:prstGeom prst="roundRect">
            <a:avLst>
              <a:gd name="adj" fmla="val 3200"/>
            </a:avLst>
          </a:prstGeom>
          <a:solidFill>
            <a:srgbClr val="17181B"/>
          </a:solidFill>
          <a:ln w="9525">
            <a:solidFill>
              <a:srgbClr val="2A2C3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9718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A70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3401568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feature_request</a:t>
            </a:r>
            <a:endParaRPr lang="en-US" sz="1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recall 0.667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777240" y="44348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A9AF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confusion with technical_issue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005072" y="3886200"/>
            <a:ext cx="274320" cy="0"/>
          </a:xfrm>
          <a:prstGeom prst="line">
            <a:avLst/>
          </a:prstGeom>
          <a:noFill/>
          <a:ln w="25400">
            <a:solidFill>
              <a:srgbClr val="ED1C24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352544" y="2743200"/>
            <a:ext cx="3383280" cy="2286000"/>
          </a:xfrm>
          <a:prstGeom prst="roundRect">
            <a:avLst>
              <a:gd name="adj" fmla="val 3200"/>
            </a:avLst>
          </a:prstGeom>
          <a:solidFill>
            <a:srgbClr val="17181B"/>
          </a:solidFill>
          <a:ln w="9525">
            <a:solidFill>
              <a:srgbClr val="2A2C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81144" y="29718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A70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TARGETED REGENERATION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81144" y="3401568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 set 59 → 141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581144" y="44348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A9AF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focused on the weak class · holdout frozen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808976" y="3886200"/>
            <a:ext cx="274320" cy="0"/>
          </a:xfrm>
          <a:prstGeom prst="line">
            <a:avLst/>
          </a:prstGeom>
          <a:noFill/>
          <a:ln w="25400">
            <a:solidFill>
              <a:srgbClr val="ED1C24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156448" y="2743200"/>
            <a:ext cx="3383280" cy="2286000"/>
          </a:xfrm>
          <a:prstGeom prst="roundRect">
            <a:avLst>
              <a:gd name="adj" fmla="val 3200"/>
            </a:avLst>
          </a:prstGeom>
          <a:solidFill>
            <a:srgbClr val="17181B"/>
          </a:solidFill>
          <a:ln w="9525">
            <a:solidFill>
              <a:srgbClr val="2A2C3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85048" y="29718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A70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RETRAIN + RE-EVALUATE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385048" y="3401568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category 0.917 → 1.00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385048" y="44348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A9AF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 match 0.667 → 0.833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5532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A70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a rehearsal round that produced no gain, the agent reported “no measurable gain” — rather than inflating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0F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D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</a:t>
            </a:r>
            <a:pPr indent="0" marL="0">
              <a:buNone/>
            </a:pPr>
            <a:r>
              <a:rPr lang="en-US" sz="1100" b="1" spc="300" kern="0" dirty="0">
                <a:solidFill>
                  <a:srgbClr val="A9AF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GENERALITY — A SECOND DOMAIN, BUILT LIVE ON THE RADEON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641908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0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10789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50" kern="0" dirty="0">
                <a:solidFill>
                  <a:srgbClr val="6A70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BUILD — EXPENSE ROUTING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0" y="10789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50" kern="0" dirty="0">
                <a:solidFill>
                  <a:srgbClr val="6A70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VS TEACHER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366760" y="10789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50" kern="0" dirty="0">
                <a:solidFill>
                  <a:srgbClr val="6A70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IMPROVEMENT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D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0.24 → 0.88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0" y="141732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D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378 MB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at 305 tok/s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8366760" y="141732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D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augmentation round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548640" y="239572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AF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 match · n=100 · 900 train / 100 holdout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0" y="239572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AF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the 17.7 GB teacher at 112 tok/s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366760" y="239572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AF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found its own weak class — equipment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2926080"/>
            <a:ext cx="3611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A9AF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sentence in — no file paths, no config: </a:t>
            </a:r>
            <a:pPr indent="0" marL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“Can you make me a little AI that reads a claim and tells me what kind of expense it is and what should happen to it?”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0" y="2926080"/>
            <a:ext cx="3520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A9AF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Q4_K_M student, benchmarked on-device through llama-server — the file that actually ships.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366760" y="2926080"/>
            <a:ext cx="3520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A9AF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diagnosed equipment as the weak class, generated 100 focused examples, retrained and re-evaluated — nobody asked.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4005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70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read the three policy documents itself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72000" y="4005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70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card, same session as the build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366760" y="4005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70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holdout frozen throughout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48640" y="4617720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D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</a:t>
            </a:r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conversation. No file paths.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0" y="4617720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D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</a:t>
            </a:r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code changes — the same factory.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366760" y="4617720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D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</a:t>
            </a:r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registry resumes builds across sessions.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48640" y="562356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i="1" dirty="0">
                <a:solidFill>
                  <a:srgbClr val="A9AF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approval gate is enforced by the dispatcher, not the prompt — in the recorded build it refused to generate data until sign-off, and waited.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0F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0" y="641908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0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/ 13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984748" y="1600200"/>
            <a:ext cx="219456" cy="219456"/>
          </a:xfrm>
          <a:prstGeom prst="rect">
            <a:avLst/>
          </a:prstGeom>
          <a:solidFill>
            <a:srgbClr val="ED1C24"/>
          </a:solidFill>
          <a:ln/>
        </p:spPr>
      </p:sp>
      <p:sp>
        <p:nvSpPr>
          <p:cNvPr id="4" name="Text 2"/>
          <p:cNvSpPr/>
          <p:nvPr/>
        </p:nvSpPr>
        <p:spPr>
          <a:xfrm>
            <a:off x="1069848" y="2331720"/>
            <a:ext cx="10058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models, made to order, on your Radeon.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069848" y="42062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9AF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ROCm 7.2.4 · llama.cpp · PyTorch-ROCm · peft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69848" y="48006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A70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repo: github.com/abidedavana/foundry-amd-hackathon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69848" y="54406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9AF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abidedavana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Foundry — AMD AI DevMaster Hackathon, Track 2</dc:title>
  <dc:subject>AMD AI DevMaster Hackathon — Track 2</dc:subject>
  <dc:creator>abidedavana</dc:creator>
  <cp:lastModifiedBy>abidedavana</cp:lastModifiedBy>
  <cp:revision>1</cp:revision>
  <dcterms:created xsi:type="dcterms:W3CDTF">2026-07-29T18:50:50Z</dcterms:created>
  <dcterms:modified xsi:type="dcterms:W3CDTF">2026-07-29T18:50:50Z</dcterms:modified>
</cp:coreProperties>
</file>