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98448" y="2258568"/>
            <a:ext cx="310896" cy="31089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1783080" y="1572768"/>
            <a:ext cx="9875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10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1810512" y="331012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model-distillation agent on a single AMD Radeon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10512" y="4617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AMD AI DevMaster Hackathon — Track 2 (Agentic AI)  ·  Solo entry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75488" y="960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349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wants small private models; the pipeline between ‘I need X’ and a model file is expert work.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46520" y="1207008"/>
            <a:ext cx="5166360" cy="566928"/>
          </a:xfrm>
          <a:prstGeom prst="roundRect">
            <a:avLst>
              <a:gd name="adj" fmla="val 8065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design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46520" y="1933956"/>
            <a:ext cx="5166360" cy="566928"/>
          </a:xfrm>
          <a:prstGeom prst="roundRect">
            <a:avLst>
              <a:gd name="adj" fmla="val 8065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generation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2660904"/>
            <a:ext cx="5166360" cy="566928"/>
          </a:xfrm>
          <a:prstGeom prst="roundRect">
            <a:avLst>
              <a:gd name="adj" fmla="val 8065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3387852"/>
            <a:ext cx="5166360" cy="566928"/>
          </a:xfrm>
          <a:prstGeom prst="roundRect">
            <a:avLst>
              <a:gd name="adj" fmla="val 8065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4114800"/>
            <a:ext cx="5166360" cy="566928"/>
          </a:xfrm>
          <a:prstGeom prst="roundRect">
            <a:avLst>
              <a:gd name="adj" fmla="val 8065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4841748"/>
            <a:ext cx="5166360" cy="566928"/>
          </a:xfrm>
          <a:prstGeom prst="roundRect">
            <a:avLst>
              <a:gd name="adj" fmla="val 8065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568756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wall of steps a human must do today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IN ONE SENTENCE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2148840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in </a:t>
            </a:r>
            <a:pPr indent="0" marL="0">
              <a:lnSpc>
                <a:spcPct val="115000"/>
              </a:lnSpc>
              <a:buNone/>
            </a:pPr>
            <a:r>
              <a:rPr lang="en-US" sz="41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lnSpc>
                <a:spcPct val="115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file out.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566928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is a model file, not chat answers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63640" y="1188720"/>
            <a:ext cx="5349240" cy="4572000"/>
          </a:xfrm>
          <a:prstGeom prst="rect">
            <a:avLst/>
          </a:prstGeom>
          <a:solidFill>
            <a:srgbClr val="131418"/>
          </a:solidFill>
          <a:ln w="15875">
            <a:solidFill>
              <a:srgbClr val="3C4046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9AF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screenshot: chat + tool chips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message · agent plan · tool chips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CAN’T BE AN API WRAPPER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12344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needs local weights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00200" y="1673352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cannot happen over an inference API — producing new weights requires local training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262432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00200" y="26243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Datagen is where iteration cost lives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00200" y="30632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1,000-example build passes roughly two million tokens through the teacher, and iteration scales that linearly — on the Radeon the marginal cost is zero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4014216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00200" y="40142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docs never leave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00200" y="4453128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is structural — the seed documents that ground the labels never leave the machine, and neither does the data derived from them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6928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250" i="1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2’s rule that “core inference processes shall be executed locally on AMD Radeon GPU” is, for Foundry, simply a description of the product.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389888" cy="868680"/>
          </a:xfrm>
          <a:prstGeom prst="roundRect">
            <a:avLst>
              <a:gd name="adj" fmla="val 7368"/>
            </a:avLst>
          </a:prstGeom>
          <a:solidFill>
            <a:srgbClr val="17181B"/>
          </a:solidFill>
          <a:ln w="12700">
            <a:solidFill>
              <a:srgbClr val="2A2C3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965960" y="2583180"/>
            <a:ext cx="164592" cy="0"/>
          </a:xfrm>
          <a:prstGeom prst="line">
            <a:avLst/>
          </a:prstGeom>
          <a:noFill/>
          <a:ln w="22225">
            <a:solidFill>
              <a:srgbClr val="6A7076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157984" y="2148840"/>
            <a:ext cx="1389888" cy="868680"/>
          </a:xfrm>
          <a:prstGeom prst="roundRect">
            <a:avLst>
              <a:gd name="adj" fmla="val 7368"/>
            </a:avLst>
          </a:prstGeom>
          <a:solidFill>
            <a:srgbClr val="17181B"/>
          </a:solidFill>
          <a:ln w="12700">
            <a:solidFill>
              <a:srgbClr val="2A2C3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75304" y="2583180"/>
            <a:ext cx="164592" cy="0"/>
          </a:xfrm>
          <a:prstGeom prst="line">
            <a:avLst/>
          </a:prstGeom>
          <a:noFill/>
          <a:ln w="22225">
            <a:solidFill>
              <a:srgbClr val="6A707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67328" y="2148840"/>
            <a:ext cx="1389888" cy="868680"/>
          </a:xfrm>
          <a:prstGeom prst="roundRect">
            <a:avLst>
              <a:gd name="adj" fmla="val 7368"/>
            </a:avLst>
          </a:prstGeom>
          <a:solidFill>
            <a:srgbClr val="17181B"/>
          </a:solidFill>
          <a:ln w="12700">
            <a:solidFill>
              <a:srgbClr val="2A2C3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84648" y="2583180"/>
            <a:ext cx="164592" cy="0"/>
          </a:xfrm>
          <a:prstGeom prst="line">
            <a:avLst/>
          </a:prstGeom>
          <a:noFill/>
          <a:ln w="22225">
            <a:solidFill>
              <a:srgbClr val="6A707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376672" y="2148840"/>
            <a:ext cx="1389888" cy="868680"/>
          </a:xfrm>
          <a:prstGeom prst="roundRect">
            <a:avLst>
              <a:gd name="adj" fmla="val 7368"/>
            </a:avLst>
          </a:prstGeom>
          <a:solidFill>
            <a:srgbClr val="17181B"/>
          </a:solidFill>
          <a:ln w="12700">
            <a:solidFill>
              <a:srgbClr val="2A2C3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93992" y="2583180"/>
            <a:ext cx="164592" cy="0"/>
          </a:xfrm>
          <a:prstGeom prst="line">
            <a:avLst/>
          </a:prstGeom>
          <a:noFill/>
          <a:ln w="22225">
            <a:solidFill>
              <a:srgbClr val="6A7076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986016" y="2148840"/>
            <a:ext cx="1389888" cy="868680"/>
          </a:xfrm>
          <a:prstGeom prst="roundRect">
            <a:avLst>
              <a:gd name="adj" fmla="val 7368"/>
            </a:avLst>
          </a:prstGeom>
          <a:solidFill>
            <a:srgbClr val="17181B"/>
          </a:solidFill>
          <a:ln w="12700">
            <a:solidFill>
              <a:srgbClr val="2A2C3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03336" y="2583180"/>
            <a:ext cx="164592" cy="0"/>
          </a:xfrm>
          <a:prstGeom prst="line">
            <a:avLst/>
          </a:prstGeom>
          <a:noFill/>
          <a:ln w="22225">
            <a:solidFill>
              <a:srgbClr val="6A707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595360" y="2148840"/>
            <a:ext cx="1389888" cy="868680"/>
          </a:xfrm>
          <a:prstGeom prst="roundRect">
            <a:avLst>
              <a:gd name="adj" fmla="val 7368"/>
            </a:avLst>
          </a:prstGeom>
          <a:solidFill>
            <a:srgbClr val="17181B"/>
          </a:solidFill>
          <a:ln w="12700">
            <a:solidFill>
              <a:srgbClr val="2A2C3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12680" y="2583180"/>
            <a:ext cx="164592" cy="0"/>
          </a:xfrm>
          <a:prstGeom prst="line">
            <a:avLst/>
          </a:prstGeom>
          <a:noFill/>
          <a:ln w="22225">
            <a:solidFill>
              <a:srgbClr val="6A707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204704" y="2148840"/>
            <a:ext cx="1389888" cy="868680"/>
          </a:xfrm>
          <a:prstGeom prst="roundRect">
            <a:avLst>
              <a:gd name="adj" fmla="val 7368"/>
            </a:avLst>
          </a:prstGeom>
          <a:solidFill>
            <a:srgbClr val="ED1C24"/>
          </a:solidFill>
          <a:ln w="12700">
            <a:solidFill>
              <a:srgbClr val="ED1C2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57984" y="30906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on seed docs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290304" y="3054096"/>
            <a:ext cx="0" cy="621792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62272" y="3675888"/>
            <a:ext cx="4828032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62272" y="3072384"/>
            <a:ext cx="0" cy="603504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  <a:headEnd type="triangle"/>
          </a:ln>
        </p:spPr>
      </p:sp>
      <p:sp>
        <p:nvSpPr>
          <p:cNvPr id="21" name="Text 19"/>
          <p:cNvSpPr/>
          <p:nvPr/>
        </p:nvSpPr>
        <p:spPr>
          <a:xfrm>
            <a:off x="6327648" y="3721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retrain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956048"/>
            <a:ext cx="2212848" cy="493776"/>
          </a:xfrm>
          <a:prstGeom prst="roundRect">
            <a:avLst>
              <a:gd name="adj" fmla="val 12963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decomposition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017520" y="4956048"/>
            <a:ext cx="1938528" cy="493776"/>
          </a:xfrm>
          <a:prstGeom prst="roundRect">
            <a:avLst>
              <a:gd name="adj" fmla="val 12963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invocation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12080" y="4956048"/>
            <a:ext cx="3200400" cy="493776"/>
          </a:xfrm>
          <a:prstGeom prst="roundRect">
            <a:avLst>
              <a:gd name="adj" fmla="val 12963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Retrieval-grounded generation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68512" y="4956048"/>
            <a:ext cx="2212848" cy="493776"/>
          </a:xfrm>
          <a:prstGeom prst="roundRect">
            <a:avLst>
              <a:gd name="adj" fmla="val 12963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management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capabilities — in Track 2’s own words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ON ONE RADEON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2514600" y="1481328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workloads timesharing one card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3520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F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gfx1100 · 48 GB · ROCm 7.2.4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4114800"/>
            <a:ext cx="2834640" cy="512064"/>
          </a:xfrm>
          <a:prstGeom prst="roundRect">
            <a:avLst>
              <a:gd name="adj" fmla="val 12500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30B teacher serving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4846320"/>
            <a:ext cx="2834640" cy="512064"/>
          </a:xfrm>
          <a:prstGeom prst="roundRect">
            <a:avLst>
              <a:gd name="adj" fmla="val 12500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training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5577840"/>
            <a:ext cx="2834640" cy="512064"/>
          </a:xfrm>
          <a:prstGeom prst="roundRect">
            <a:avLst>
              <a:gd name="adj" fmla="val 12500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serving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1188720"/>
            <a:ext cx="5349240" cy="4937760"/>
          </a:xfrm>
          <a:prstGeom prst="rect">
            <a:avLst/>
          </a:prstGeom>
          <a:solidFill>
            <a:srgbClr val="131418"/>
          </a:solidFill>
          <a:ln w="15875">
            <a:solidFill>
              <a:srgbClr val="3C4046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9AF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screenshot: GPU telemetry card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rocm-smi / UI telemetry during a build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0.15 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7406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· n=100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5623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granted Radeon — gfx1100 48 GB · ROCm 7.2.4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0" y="4667211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366760" y="5170131"/>
            <a:ext cx="1188720" cy="636309"/>
          </a:xfrm>
          <a:prstGeom prst="roundRect">
            <a:avLst>
              <a:gd name="adj" fmla="val 6467"/>
            </a:avLst>
          </a:prstGeom>
          <a:solidFill>
            <a:srgbClr val="3F434A"/>
          </a:solidFill>
          <a:ln/>
        </p:spPr>
      </p:sp>
      <p:sp>
        <p:nvSpPr>
          <p:cNvPr id="10" name="Text 8"/>
          <p:cNvSpPr/>
          <p:nvPr/>
        </p:nvSpPr>
        <p:spPr>
          <a:xfrm>
            <a:off x="1010412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241280" y="1691640"/>
            <a:ext cx="1188720" cy="4114800"/>
          </a:xfrm>
          <a:prstGeom prst="roundRect">
            <a:avLst>
              <a:gd name="adj" fmla="val 3462"/>
            </a:avLst>
          </a:prstGeom>
          <a:solidFill>
            <a:srgbClr val="ED1C24"/>
          </a:solidFill>
          <a:ln/>
        </p:spPr>
      </p:sp>
      <p:sp>
        <p:nvSpPr>
          <p:cNvPr id="12" name="Shape 10"/>
          <p:cNvSpPr/>
          <p:nvPr/>
        </p:nvSpPr>
        <p:spPr>
          <a:xfrm>
            <a:off x="8001000" y="5806440"/>
            <a:ext cx="3611880" cy="0"/>
          </a:xfrm>
          <a:prstGeom prst="line">
            <a:avLst/>
          </a:prstGeom>
          <a:noFill/>
          <a:ln w="19050">
            <a:solidFill>
              <a:srgbClr val="4A4E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59161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Qwen3-0.6B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921240" y="5916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student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QUANT LADDER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705356" y="1097280"/>
            <a:ext cx="877824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</p:spPr>
      </p:sp>
      <p:pic>
        <p:nvPicPr>
          <p:cNvPr id="5" name="Image 0" descr="bench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236" y="1362456"/>
            <a:ext cx="8412480" cy="3182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4956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bench_chart.png · Radeon run · accuracy measured through llama-server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12648" y="5349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costs 5 points; </a:t>
            </a:r>
            <a:pPr algn="ctr" indent="0" marL="0">
              <a:buNone/>
            </a:pPr>
            <a:r>
              <a:rPr lang="en-US" sz="30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costs nothing.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69848" y="61081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Q5_K_M up, served accuracy equals the full-precision checkpoint’s on this task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VS TEACHER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0916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SPEED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86968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2286000" cy="2286000"/>
          </a:xfrm>
          <a:prstGeom prst="rect">
            <a:avLst/>
          </a:prstGeom>
          <a:solidFill>
            <a:srgbClr val="3F434A"/>
          </a:solidFill>
          <a:ln/>
        </p:spPr>
      </p:sp>
      <p:sp>
        <p:nvSpPr>
          <p:cNvPr id="8" name="Shape 6"/>
          <p:cNvSpPr/>
          <p:nvPr/>
        </p:nvSpPr>
        <p:spPr>
          <a:xfrm>
            <a:off x="3063240" y="3414591"/>
            <a:ext cx="352737" cy="352737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86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30B Q4_K_M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17,697 MB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38862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Q5_K_M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424 MB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517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student · 283.4 tok/s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3291840" cy="475488"/>
          </a:xfrm>
          <a:prstGeom prst="roundRect">
            <a:avLst>
              <a:gd name="adj" fmla="val 8654"/>
            </a:avLst>
          </a:prstGeom>
          <a:solidFill>
            <a:srgbClr val="ED1C24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578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30B · 110.2 tok/s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889504"/>
            <a:ext cx="1280031" cy="475488"/>
          </a:xfrm>
          <a:prstGeom prst="roundRect">
            <a:avLst>
              <a:gd name="adj" fmla="val 8654"/>
            </a:avLst>
          </a:prstGeom>
          <a:solidFill>
            <a:srgbClr val="3F4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6" name="Shape 14"/>
          <p:cNvSpPr/>
          <p:nvPr/>
        </p:nvSpPr>
        <p:spPr>
          <a:xfrm>
            <a:off x="902970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7" name="Shape 15"/>
          <p:cNvSpPr/>
          <p:nvPr/>
        </p:nvSpPr>
        <p:spPr>
          <a:xfrm>
            <a:off x="918972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8" name="Shape 16"/>
          <p:cNvSpPr/>
          <p:nvPr/>
        </p:nvSpPr>
        <p:spPr>
          <a:xfrm>
            <a:off x="934974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9" name="Shape 17"/>
          <p:cNvSpPr/>
          <p:nvPr/>
        </p:nvSpPr>
        <p:spPr>
          <a:xfrm>
            <a:off x="950976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0" name="Shape 18"/>
          <p:cNvSpPr/>
          <p:nvPr/>
        </p:nvSpPr>
        <p:spPr>
          <a:xfrm>
            <a:off x="966978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1" name="Shape 19"/>
          <p:cNvSpPr/>
          <p:nvPr/>
        </p:nvSpPr>
        <p:spPr>
          <a:xfrm>
            <a:off x="982980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2" name="Shape 20"/>
          <p:cNvSpPr/>
          <p:nvPr/>
        </p:nvSpPr>
        <p:spPr>
          <a:xfrm>
            <a:off x="998982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4984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0986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5" name="Shape 23"/>
          <p:cNvSpPr/>
          <p:nvPr/>
        </p:nvSpPr>
        <p:spPr>
          <a:xfrm>
            <a:off x="886968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6" name="Shape 24"/>
          <p:cNvSpPr/>
          <p:nvPr/>
        </p:nvSpPr>
        <p:spPr>
          <a:xfrm>
            <a:off x="902970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7" name="Shape 25"/>
          <p:cNvSpPr/>
          <p:nvPr/>
        </p:nvSpPr>
        <p:spPr>
          <a:xfrm>
            <a:off x="918972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8" name="Shape 26"/>
          <p:cNvSpPr/>
          <p:nvPr/>
        </p:nvSpPr>
        <p:spPr>
          <a:xfrm>
            <a:off x="934974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9" name="Shape 27"/>
          <p:cNvSpPr/>
          <p:nvPr/>
        </p:nvSpPr>
        <p:spPr>
          <a:xfrm>
            <a:off x="950976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0" name="Shape 28"/>
          <p:cNvSpPr/>
          <p:nvPr/>
        </p:nvSpPr>
        <p:spPr>
          <a:xfrm>
            <a:off x="966978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1" name="Shape 29"/>
          <p:cNvSpPr/>
          <p:nvPr/>
        </p:nvSpPr>
        <p:spPr>
          <a:xfrm>
            <a:off x="982980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2" name="Shape 30"/>
          <p:cNvSpPr/>
          <p:nvPr/>
        </p:nvSpPr>
        <p:spPr>
          <a:xfrm>
            <a:off x="998982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4984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0986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5" name="Shape 33"/>
          <p:cNvSpPr/>
          <p:nvPr/>
        </p:nvSpPr>
        <p:spPr>
          <a:xfrm>
            <a:off x="886968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6" name="Shape 34"/>
          <p:cNvSpPr/>
          <p:nvPr/>
        </p:nvSpPr>
        <p:spPr>
          <a:xfrm>
            <a:off x="902970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7" name="Shape 35"/>
          <p:cNvSpPr/>
          <p:nvPr/>
        </p:nvSpPr>
        <p:spPr>
          <a:xfrm>
            <a:off x="918972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8" name="Shape 36"/>
          <p:cNvSpPr/>
          <p:nvPr/>
        </p:nvSpPr>
        <p:spPr>
          <a:xfrm>
            <a:off x="934974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9" name="Shape 37"/>
          <p:cNvSpPr/>
          <p:nvPr/>
        </p:nvSpPr>
        <p:spPr>
          <a:xfrm>
            <a:off x="950976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0" name="Shape 38"/>
          <p:cNvSpPr/>
          <p:nvPr/>
        </p:nvSpPr>
        <p:spPr>
          <a:xfrm>
            <a:off x="966978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1" name="Shape 39"/>
          <p:cNvSpPr/>
          <p:nvPr/>
        </p:nvSpPr>
        <p:spPr>
          <a:xfrm>
            <a:off x="982980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2" name="Shape 40"/>
          <p:cNvSpPr/>
          <p:nvPr/>
        </p:nvSpPr>
        <p:spPr>
          <a:xfrm>
            <a:off x="998982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3" name="Shape 41"/>
          <p:cNvSpPr/>
          <p:nvPr/>
        </p:nvSpPr>
        <p:spPr>
          <a:xfrm>
            <a:off x="1014984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4" name="Shape 42"/>
          <p:cNvSpPr/>
          <p:nvPr/>
        </p:nvSpPr>
        <p:spPr>
          <a:xfrm>
            <a:off x="1030986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5" name="Shape 43"/>
          <p:cNvSpPr/>
          <p:nvPr/>
        </p:nvSpPr>
        <p:spPr>
          <a:xfrm>
            <a:off x="886968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6" name="Shape 44"/>
          <p:cNvSpPr/>
          <p:nvPr/>
        </p:nvSpPr>
        <p:spPr>
          <a:xfrm>
            <a:off x="902970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7" name="Shape 45"/>
          <p:cNvSpPr/>
          <p:nvPr/>
        </p:nvSpPr>
        <p:spPr>
          <a:xfrm>
            <a:off x="918972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8" name="Shape 46"/>
          <p:cNvSpPr/>
          <p:nvPr/>
        </p:nvSpPr>
        <p:spPr>
          <a:xfrm>
            <a:off x="934974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9" name="Shape 47"/>
          <p:cNvSpPr/>
          <p:nvPr/>
        </p:nvSpPr>
        <p:spPr>
          <a:xfrm>
            <a:off x="950976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0" name="Shape 48"/>
          <p:cNvSpPr/>
          <p:nvPr/>
        </p:nvSpPr>
        <p:spPr>
          <a:xfrm>
            <a:off x="966978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1" name="Shape 49"/>
          <p:cNvSpPr/>
          <p:nvPr/>
        </p:nvSpPr>
        <p:spPr>
          <a:xfrm>
            <a:off x="982980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2" name="Shape 50"/>
          <p:cNvSpPr/>
          <p:nvPr/>
        </p:nvSpPr>
        <p:spPr>
          <a:xfrm>
            <a:off x="998982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3" name="Shape 51"/>
          <p:cNvSpPr/>
          <p:nvPr/>
        </p:nvSpPr>
        <p:spPr>
          <a:xfrm>
            <a:off x="1014984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4" name="Shape 52"/>
          <p:cNvSpPr/>
          <p:nvPr/>
        </p:nvSpPr>
        <p:spPr>
          <a:xfrm>
            <a:off x="1030986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5" name="Shape 53"/>
          <p:cNvSpPr/>
          <p:nvPr/>
        </p:nvSpPr>
        <p:spPr>
          <a:xfrm>
            <a:off x="886968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6" name="Shape 54"/>
          <p:cNvSpPr/>
          <p:nvPr/>
        </p:nvSpPr>
        <p:spPr>
          <a:xfrm>
            <a:off x="902970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7" name="Shape 55"/>
          <p:cNvSpPr/>
          <p:nvPr/>
        </p:nvSpPr>
        <p:spPr>
          <a:xfrm>
            <a:off x="918972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8" name="Shape 56"/>
          <p:cNvSpPr/>
          <p:nvPr/>
        </p:nvSpPr>
        <p:spPr>
          <a:xfrm>
            <a:off x="934974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9" name="Shape 57"/>
          <p:cNvSpPr/>
          <p:nvPr/>
        </p:nvSpPr>
        <p:spPr>
          <a:xfrm>
            <a:off x="950976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0" name="Shape 58"/>
          <p:cNvSpPr/>
          <p:nvPr/>
        </p:nvSpPr>
        <p:spPr>
          <a:xfrm>
            <a:off x="966978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1" name="Shape 59"/>
          <p:cNvSpPr/>
          <p:nvPr/>
        </p:nvSpPr>
        <p:spPr>
          <a:xfrm>
            <a:off x="982980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2" name="Shape 60"/>
          <p:cNvSpPr/>
          <p:nvPr/>
        </p:nvSpPr>
        <p:spPr>
          <a:xfrm>
            <a:off x="998982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3" name="Shape 61"/>
          <p:cNvSpPr/>
          <p:nvPr/>
        </p:nvSpPr>
        <p:spPr>
          <a:xfrm>
            <a:off x="1014984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4" name="Shape 62"/>
          <p:cNvSpPr/>
          <p:nvPr/>
        </p:nvSpPr>
        <p:spPr>
          <a:xfrm>
            <a:off x="1030986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5" name="Shape 63"/>
          <p:cNvSpPr/>
          <p:nvPr/>
        </p:nvSpPr>
        <p:spPr>
          <a:xfrm>
            <a:off x="886968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6" name="Shape 64"/>
          <p:cNvSpPr/>
          <p:nvPr/>
        </p:nvSpPr>
        <p:spPr>
          <a:xfrm>
            <a:off x="902970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7" name="Shape 65"/>
          <p:cNvSpPr/>
          <p:nvPr/>
        </p:nvSpPr>
        <p:spPr>
          <a:xfrm>
            <a:off x="918972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8" name="Shape 66"/>
          <p:cNvSpPr/>
          <p:nvPr/>
        </p:nvSpPr>
        <p:spPr>
          <a:xfrm>
            <a:off x="934974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9" name="Shape 67"/>
          <p:cNvSpPr/>
          <p:nvPr/>
        </p:nvSpPr>
        <p:spPr>
          <a:xfrm>
            <a:off x="950976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0" name="Shape 68"/>
          <p:cNvSpPr/>
          <p:nvPr/>
        </p:nvSpPr>
        <p:spPr>
          <a:xfrm>
            <a:off x="966978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1" name="Shape 69"/>
          <p:cNvSpPr/>
          <p:nvPr/>
        </p:nvSpPr>
        <p:spPr>
          <a:xfrm>
            <a:off x="982980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2" name="Shape 70"/>
          <p:cNvSpPr/>
          <p:nvPr/>
        </p:nvSpPr>
        <p:spPr>
          <a:xfrm>
            <a:off x="998982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3" name="Shape 71"/>
          <p:cNvSpPr/>
          <p:nvPr/>
        </p:nvSpPr>
        <p:spPr>
          <a:xfrm>
            <a:off x="1014984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4" name="Shape 72"/>
          <p:cNvSpPr/>
          <p:nvPr/>
        </p:nvSpPr>
        <p:spPr>
          <a:xfrm>
            <a:off x="1030986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5" name="Shape 73"/>
          <p:cNvSpPr/>
          <p:nvPr/>
        </p:nvSpPr>
        <p:spPr>
          <a:xfrm>
            <a:off x="886968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6" name="Shape 74"/>
          <p:cNvSpPr/>
          <p:nvPr/>
        </p:nvSpPr>
        <p:spPr>
          <a:xfrm>
            <a:off x="902970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7" name="Shape 75"/>
          <p:cNvSpPr/>
          <p:nvPr/>
        </p:nvSpPr>
        <p:spPr>
          <a:xfrm>
            <a:off x="918972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8" name="Shape 76"/>
          <p:cNvSpPr/>
          <p:nvPr/>
        </p:nvSpPr>
        <p:spPr>
          <a:xfrm>
            <a:off x="934974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9" name="Shape 77"/>
          <p:cNvSpPr/>
          <p:nvPr/>
        </p:nvSpPr>
        <p:spPr>
          <a:xfrm>
            <a:off x="950976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0" name="Shape 78"/>
          <p:cNvSpPr/>
          <p:nvPr/>
        </p:nvSpPr>
        <p:spPr>
          <a:xfrm>
            <a:off x="966978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1" name="Shape 79"/>
          <p:cNvSpPr/>
          <p:nvPr/>
        </p:nvSpPr>
        <p:spPr>
          <a:xfrm>
            <a:off x="982980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2" name="Shape 80"/>
          <p:cNvSpPr/>
          <p:nvPr/>
        </p:nvSpPr>
        <p:spPr>
          <a:xfrm>
            <a:off x="998982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3" name="Shape 81"/>
          <p:cNvSpPr/>
          <p:nvPr/>
        </p:nvSpPr>
        <p:spPr>
          <a:xfrm>
            <a:off x="1014984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4" name="Shape 82"/>
          <p:cNvSpPr/>
          <p:nvPr/>
        </p:nvSpPr>
        <p:spPr>
          <a:xfrm>
            <a:off x="1030986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5" name="Shape 83"/>
          <p:cNvSpPr/>
          <p:nvPr/>
        </p:nvSpPr>
        <p:spPr>
          <a:xfrm>
            <a:off x="886968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6" name="Shape 84"/>
          <p:cNvSpPr/>
          <p:nvPr/>
        </p:nvSpPr>
        <p:spPr>
          <a:xfrm>
            <a:off x="902970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7" name="Shape 85"/>
          <p:cNvSpPr/>
          <p:nvPr/>
        </p:nvSpPr>
        <p:spPr>
          <a:xfrm>
            <a:off x="918972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8" name="Shape 86"/>
          <p:cNvSpPr/>
          <p:nvPr/>
        </p:nvSpPr>
        <p:spPr>
          <a:xfrm>
            <a:off x="934974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9" name="Shape 87"/>
          <p:cNvSpPr/>
          <p:nvPr/>
        </p:nvSpPr>
        <p:spPr>
          <a:xfrm>
            <a:off x="950976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0" name="Shape 88"/>
          <p:cNvSpPr/>
          <p:nvPr/>
        </p:nvSpPr>
        <p:spPr>
          <a:xfrm>
            <a:off x="966978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1" name="Shape 89"/>
          <p:cNvSpPr/>
          <p:nvPr/>
        </p:nvSpPr>
        <p:spPr>
          <a:xfrm>
            <a:off x="982980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2" name="Shape 90"/>
          <p:cNvSpPr/>
          <p:nvPr/>
        </p:nvSpPr>
        <p:spPr>
          <a:xfrm>
            <a:off x="998982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3" name="Shape 91"/>
          <p:cNvSpPr/>
          <p:nvPr/>
        </p:nvSpPr>
        <p:spPr>
          <a:xfrm>
            <a:off x="1014984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4" name="Shape 92"/>
          <p:cNvSpPr/>
          <p:nvPr/>
        </p:nvSpPr>
        <p:spPr>
          <a:xfrm>
            <a:off x="1030986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5" name="Shape 93"/>
          <p:cNvSpPr/>
          <p:nvPr/>
        </p:nvSpPr>
        <p:spPr>
          <a:xfrm>
            <a:off x="886968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6" name="Shape 94"/>
          <p:cNvSpPr/>
          <p:nvPr/>
        </p:nvSpPr>
        <p:spPr>
          <a:xfrm>
            <a:off x="902970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7" name="Shape 95"/>
          <p:cNvSpPr/>
          <p:nvPr/>
        </p:nvSpPr>
        <p:spPr>
          <a:xfrm>
            <a:off x="918972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8" name="Shape 96"/>
          <p:cNvSpPr/>
          <p:nvPr/>
        </p:nvSpPr>
        <p:spPr>
          <a:xfrm>
            <a:off x="934974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9" name="Shape 97"/>
          <p:cNvSpPr/>
          <p:nvPr/>
        </p:nvSpPr>
        <p:spPr>
          <a:xfrm>
            <a:off x="950976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0" name="Shape 98"/>
          <p:cNvSpPr/>
          <p:nvPr/>
        </p:nvSpPr>
        <p:spPr>
          <a:xfrm>
            <a:off x="966978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1" name="Shape 99"/>
          <p:cNvSpPr/>
          <p:nvPr/>
        </p:nvSpPr>
        <p:spPr>
          <a:xfrm>
            <a:off x="982980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98982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14984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30986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869680" y="29215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029700" y="29215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189720" y="29215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349740" y="29215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509760" y="29215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669780" y="29215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829800" y="29215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12" name="Shape 110"/>
          <p:cNvSpPr/>
          <p:nvPr/>
        </p:nvSpPr>
        <p:spPr>
          <a:xfrm>
            <a:off x="9989820" y="2921508"/>
            <a:ext cx="105156" cy="105156"/>
          </a:xfrm>
          <a:prstGeom prst="ellipse">
            <a:avLst/>
          </a:prstGeom>
          <a:solidFill>
            <a:srgbClr val="3F434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149840" y="2921508"/>
            <a:ext cx="105156" cy="105156"/>
          </a:xfrm>
          <a:prstGeom prst="ellipse">
            <a:avLst/>
          </a:prstGeom>
          <a:solidFill>
            <a:srgbClr val="3F434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309860" y="2921508"/>
            <a:ext cx="105156" cy="105156"/>
          </a:xfrm>
          <a:prstGeom prst="ellipse">
            <a:avLst/>
          </a:prstGeom>
          <a:solidFill>
            <a:srgbClr val="3F434A"/>
          </a:solidFill>
          <a:ln/>
        </p:spPr>
      </p:sp>
      <p:sp>
        <p:nvSpPr>
          <p:cNvPr id="115" name="Text 113"/>
          <p:cNvSpPr/>
          <p:nvPr/>
        </p:nvSpPr>
        <p:spPr>
          <a:xfrm>
            <a:off x="88696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examples · n=100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548640" y="457200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1/42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size</a:t>
            </a:r>
            <a:endParaRPr lang="en-US" sz="5400" dirty="0"/>
          </a:p>
        </p:txBody>
      </p:sp>
      <p:sp>
        <p:nvSpPr>
          <p:cNvPr id="117" name="Text 115"/>
          <p:cNvSpPr/>
          <p:nvPr/>
        </p:nvSpPr>
        <p:spPr>
          <a:xfrm>
            <a:off x="548640" y="5596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424 MB vs 17,697 MB</a:t>
            </a:r>
            <a:endParaRPr lang="en-US" sz="1050" dirty="0"/>
          </a:p>
        </p:txBody>
      </p:sp>
      <p:sp>
        <p:nvSpPr>
          <p:cNvPr id="118" name="Text 116"/>
          <p:cNvSpPr/>
          <p:nvPr/>
        </p:nvSpPr>
        <p:spPr>
          <a:xfrm>
            <a:off x="4709160" y="457200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2.6×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faster generation</a:t>
            </a:r>
            <a:endParaRPr lang="en-US" sz="5400" dirty="0"/>
          </a:p>
        </p:txBody>
      </p:sp>
      <p:sp>
        <p:nvSpPr>
          <p:cNvPr id="119" name="Text 117"/>
          <p:cNvSpPr/>
          <p:nvPr/>
        </p:nvSpPr>
        <p:spPr>
          <a:xfrm>
            <a:off x="4709160" y="5596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 tok/s · single-stream llama-bench</a:t>
            </a:r>
            <a:endParaRPr lang="en-US" sz="1050" dirty="0"/>
          </a:p>
        </p:txBody>
      </p:sp>
      <p:sp>
        <p:nvSpPr>
          <p:cNvPr id="120" name="Text 118"/>
          <p:cNvSpPr/>
          <p:nvPr/>
        </p:nvSpPr>
        <p:spPr>
          <a:xfrm>
            <a:off x="8869680" y="457200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agreement</a:t>
            </a:r>
            <a:endParaRPr lang="en-US" sz="5400" dirty="0"/>
          </a:p>
        </p:txBody>
      </p:sp>
      <p:sp>
        <p:nvSpPr>
          <p:cNvPr id="121" name="Text 119"/>
          <p:cNvSpPr/>
          <p:nvPr/>
        </p:nvSpPr>
        <p:spPr>
          <a:xfrm>
            <a:off x="8869680" y="5596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with the teacher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IMPROVEMENT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0.667</a:t>
            </a:r>
            <a:pPr indent="0" marL="0">
              <a:buNone/>
            </a:pPr>
            <a:r>
              <a:rPr lang="en-US" sz="6600" b="1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buNone/>
            </a:pPr>
            <a:r>
              <a:rPr lang="en-US" sz="66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0.833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863840" y="15727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· same frozen holdout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7181B"/>
          </a:solidFill>
          <a:ln w="9525">
            <a:solidFill>
              <a:srgbClr val="2A2C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4015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feature_request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 0.667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with technical_issue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05072" y="3886200"/>
            <a:ext cx="27432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52544" y="27432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7181B"/>
          </a:solidFill>
          <a:ln w="9525">
            <a:solidFill>
              <a:srgbClr val="2A2C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REGENERATION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81144" y="34015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set 59 → 141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81144" y="4434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on the weak class · holdout frozen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08976" y="3886200"/>
            <a:ext cx="27432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56448" y="27432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7181B"/>
          </a:solidFill>
          <a:ln w="9525">
            <a:solidFill>
              <a:srgbClr val="2A2C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+ RE-EVALUATE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85048" y="34015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0.917 → 1.00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85048" y="4434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0.667 → 0.833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rehearsal round that produced no gain, the agent reported “no measurable gain” — rather than inflating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GENERALITY + MEMORY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5669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code changes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566928" y="32918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domain — expense routing — from a new policy doc, one conversation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F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routing_decision × spending_category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48920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registry resumes builds across sessions — “continue yesterday’s model”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1188720"/>
            <a:ext cx="5349240" cy="4937760"/>
          </a:xfrm>
          <a:prstGeom prst="rect">
            <a:avLst/>
          </a:prstGeom>
          <a:solidFill>
            <a:srgbClr val="131418"/>
          </a:solidFill>
          <a:ln w="15875">
            <a:solidFill>
              <a:srgbClr val="3C4046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9AF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screenshot: registry rail — both tasks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resumable builds · triage + expense routing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984748" y="1600200"/>
            <a:ext cx="219456" cy="21945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4" name="Text 2"/>
          <p:cNvSpPr/>
          <p:nvPr/>
        </p:nvSpPr>
        <p:spPr>
          <a:xfrm>
            <a:off x="1069848" y="233172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models, made to order, on your Radeon.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69848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AF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ROCm 7.2.4 · llama.cpp · PyTorch-ROCm · peft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9848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repo: [ placeholder — add link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9848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abidedavana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Foundry — AMD AI DevMaster Hackathon, Track 2</dc:title>
  <dc:subject>AMD AI DevMaster Hackathon — Track 2</dc:subject>
  <dc:creator>abidedavana</dc:creator>
  <cp:lastModifiedBy>abidedavana</cp:lastModifiedBy>
  <cp:revision>1</cp:revision>
  <dcterms:created xsi:type="dcterms:W3CDTF">2026-07-28T05:33:41Z</dcterms:created>
  <dcterms:modified xsi:type="dcterms:W3CDTF">2026-07-28T05:33:41Z</dcterms:modified>
</cp:coreProperties>
</file>