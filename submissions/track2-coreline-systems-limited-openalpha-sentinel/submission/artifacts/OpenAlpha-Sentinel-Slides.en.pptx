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26679" y="0"/>
            <a:ext cx="4465015" cy="6858000"/>
          </a:xfrm>
          <a:prstGeom prst="rect">
            <a:avLst/>
          </a:prstGeom>
          <a:solidFill>
            <a:srgbClr val="173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566928"/>
            <a:ext cx="658368" cy="91440"/>
          </a:xfrm>
          <a:prstGeom prst="rect">
            <a:avLst/>
          </a:prstGeom>
          <a:solidFill>
            <a:srgbClr val="D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95528"/>
            <a:ext cx="63550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73039"/>
                </a:solidFill>
                <a:latin typeface="Arial"/>
              </a:rPr>
              <a:t>OpenAlpha 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91056"/>
            <a:ext cx="6355080" cy="7863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000" b="1">
                <a:solidFill>
                  <a:srgbClr val="0F6254"/>
                </a:solidFill>
                <a:latin typeface="Arial"/>
              </a:rPr>
              <a:t>Open-source strategy intelligence, collected continuously and answered locally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24328"/>
            <a:ext cx="5989320" cy="1463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29454D"/>
                </a:solidFill>
                <a:latin typeface="Arial"/>
              </a:rPr>
              <a:t>Track 2: Private AI Agent Development and Local Deployment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29454D"/>
                </a:solidFill>
                <a:latin typeface="Arial"/>
              </a:rPr>
              <a:t>AMD Radeon + ROCm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29454D"/>
                </a:solidFill>
                <a:latin typeface="Arial"/>
              </a:rPr>
              <a:t>Coreline Systems Limited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29454D"/>
                </a:solidFill>
                <a:latin typeface="Arial"/>
              </a:rPr>
              <a:t>Zeng Baocheng (曾宝成) and Yang Jinhao (杨锦皓)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080760"/>
            <a:ext cx="6126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0">
                <a:solidFill>
                  <a:srgbClr val="64767B"/>
                </a:solidFill>
                <a:latin typeface="Arial"/>
              </a:rPr>
              <a:t>Research and education only · AMD Radeon + ROCm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143000"/>
            <a:ext cx="1261872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1188720"/>
            <a:ext cx="126187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73039"/>
                </a:solidFill>
                <a:latin typeface="Arial"/>
              </a:rPr>
              <a:t>GitHub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82328" y="1408176"/>
            <a:ext cx="658368" cy="36576"/>
          </a:xfrm>
          <a:prstGeom prst="rect">
            <a:avLst/>
          </a:prstGeom>
          <a:solidFill>
            <a:srgbClr val="C79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2194560"/>
            <a:ext cx="1261872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2240279"/>
            <a:ext cx="126187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73039"/>
                </a:solidFill>
                <a:latin typeface="Arial"/>
              </a:rPr>
              <a:t>RSS / Atom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82328" y="2459736"/>
            <a:ext cx="658368" cy="36576"/>
          </a:xfrm>
          <a:prstGeom prst="rect">
            <a:avLst/>
          </a:prstGeom>
          <a:solidFill>
            <a:srgbClr val="C79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65008" y="3246120"/>
            <a:ext cx="1261872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3291839"/>
            <a:ext cx="1261872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73039"/>
                </a:solidFill>
                <a:latin typeface="Arial"/>
              </a:rPr>
              <a:t>Snapshot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82328" y="3511296"/>
            <a:ext cx="658368" cy="36576"/>
          </a:xfrm>
          <a:prstGeom prst="rect">
            <a:avLst/>
          </a:prstGeom>
          <a:solidFill>
            <a:srgbClr val="C79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49840" y="1527048"/>
            <a:ext cx="1572768" cy="2212848"/>
          </a:xfrm>
          <a:prstGeom prst="round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1901952"/>
            <a:ext cx="1389888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Strategy
Cards
+
Evidence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4645152"/>
            <a:ext cx="3154680" cy="73152"/>
          </a:xfrm>
          <a:prstGeom prst="rect">
            <a:avLst/>
          </a:prstGeom>
          <a:solidFill>
            <a:srgbClr val="D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4892040"/>
            <a:ext cx="331927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LOCAL RAG · CITED ANSWERS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669280"/>
            <a:ext cx="32918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900" b="0">
                <a:solidFill>
                  <a:srgbClr val="B9CAC6"/>
                </a:solidFill>
                <a:latin typeface="Arial"/>
              </a:rPr>
              <a:t>TRACK 2 · PRIVATE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0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0F6254"/>
                </a:solidFill>
                <a:latin typeface="Arial"/>
              </a:rPr>
              <a:t>OPENALPHA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103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0">
                <a:solidFill>
                  <a:srgbClr val="64767B"/>
                </a:solidFill>
                <a:latin typeface="Arial"/>
              </a:rPr>
              <a:t>TRACK 2 · PRIVATE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2179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3039"/>
                </a:solidFill>
                <a:latin typeface="Arial"/>
              </a:rPr>
              <a:t>The Research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252728"/>
            <a:ext cx="11201400" cy="13716"/>
          </a:xfrm>
          <a:prstGeom prst="rect">
            <a:avLst/>
          </a:prstGeom>
          <a:solidFill>
            <a:srgbClr val="CCD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51967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60" b="0">
                <a:solidFill>
                  <a:srgbClr val="64767B"/>
                </a:solidFill>
                <a:latin typeface="Arial"/>
              </a:rPr>
              <a:t>Research and education only · AMD Radeon + ROCm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1">
                <a:solidFill>
                  <a:srgbClr val="167A68"/>
                </a:solidFill>
                <a:latin typeface="Arial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517904"/>
            <a:ext cx="54864" cy="265176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81328"/>
            <a:ext cx="55869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29454D"/>
                </a:solidFill>
                <a:latin typeface="Arial"/>
              </a:rPr>
              <a:t>Open-source strategies are available, but usable evidence is fragmented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892807"/>
            <a:ext cx="5623560" cy="4069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600" b="1">
                <a:solidFill>
                  <a:srgbClr val="167A68"/>
                </a:solidFill>
                <a:latin typeface="Arial"/>
              </a:rPr>
              <a:t>• </a:t>
            </a:r>
            <a:r>
              <a:rPr sz="1600" b="0">
                <a:solidFill>
                  <a:srgbClr val="173039"/>
                </a:solidFill>
                <a:latin typeface="Arial"/>
              </a:rPr>
              <a:t>Code, README files, articles, and feeds live in different places.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600" b="1">
                <a:solidFill>
                  <a:srgbClr val="167A68"/>
                </a:solidFill>
                <a:latin typeface="Arial"/>
              </a:rPr>
              <a:t>• </a:t>
            </a:r>
            <a:r>
              <a:rPr sz="1600" b="0">
                <a:solidFill>
                  <a:srgbClr val="173039"/>
                </a:solidFill>
                <a:latin typeface="Arial"/>
              </a:rPr>
              <a:t>Names, markets, time frames, and metrics are inconsistent.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600" b="1">
                <a:solidFill>
                  <a:srgbClr val="167A68"/>
                </a:solidFill>
                <a:latin typeface="Arial"/>
              </a:rPr>
              <a:t>• </a:t>
            </a:r>
            <a:r>
              <a:rPr sz="1600" b="0">
                <a:solidFill>
                  <a:srgbClr val="173039"/>
                </a:solidFill>
                <a:latin typeface="Arial"/>
              </a:rPr>
              <a:t>Cost, slippage, test-period, and benchmark disclosures are often incomplete.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600" b="1">
                <a:solidFill>
                  <a:srgbClr val="167A68"/>
                </a:solidFill>
                <a:latin typeface="Arial"/>
              </a:rPr>
              <a:t>• </a:t>
            </a:r>
            <a:r>
              <a:rPr sz="1600" b="0">
                <a:solidFill>
                  <a:srgbClr val="173039"/>
                </a:solidFill>
                <a:latin typeface="Arial"/>
              </a:rPr>
              <a:t>A summary without a source revision is difficult to verify later.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600" b="1">
                <a:solidFill>
                  <a:srgbClr val="167A68"/>
                </a:solidFill>
                <a:latin typeface="Arial"/>
              </a:rPr>
              <a:t>• </a:t>
            </a:r>
            <a:r>
              <a:rPr sz="1600" b="0">
                <a:solidFill>
                  <a:srgbClr val="173039"/>
                </a:solidFill>
                <a:latin typeface="Arial"/>
              </a:rPr>
              <a:t>Researchers may not want to send watch lists and questions to hosted models.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572768"/>
            <a:ext cx="4663440" cy="4315968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59168" y="1938528"/>
            <a:ext cx="1225296" cy="512064"/>
          </a:xfrm>
          <a:prstGeom prst="rect">
            <a:avLst/>
          </a:prstGeom>
          <a:solidFill>
            <a:srgbClr val="DD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975104"/>
            <a:ext cx="1225296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73039"/>
                </a:solidFill>
                <a:latin typeface="Arial"/>
              </a:rPr>
              <a:t>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0768" y="2167128"/>
            <a:ext cx="731520" cy="32004"/>
          </a:xfrm>
          <a:prstGeom prst="rect">
            <a:avLst/>
          </a:prstGeom>
          <a:solidFill>
            <a:srgbClr val="CCD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59168" y="2871216"/>
            <a:ext cx="1225296" cy="512064"/>
          </a:xfrm>
          <a:prstGeom prst="rect">
            <a:avLst/>
          </a:prstGeom>
          <a:solidFill>
            <a:srgbClr val="F5E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2907792"/>
            <a:ext cx="1225296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73039"/>
                </a:solidFill>
                <a:latin typeface="Arial"/>
              </a:rPr>
              <a:t>README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30768" y="3099816"/>
            <a:ext cx="731520" cy="32004"/>
          </a:xfrm>
          <a:prstGeom prst="rect">
            <a:avLst/>
          </a:prstGeom>
          <a:solidFill>
            <a:srgbClr val="CCD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59168" y="3803904"/>
            <a:ext cx="1225296" cy="512064"/>
          </a:xfrm>
          <a:prstGeom prst="rect">
            <a:avLst/>
          </a:prstGeom>
          <a:solidFill>
            <a:srgbClr val="F7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3840480"/>
            <a:ext cx="1225296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173039"/>
                </a:solidFill>
                <a:latin typeface="Arial"/>
              </a:rPr>
              <a:t>Feeds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0768" y="4032504"/>
            <a:ext cx="731520" cy="32004"/>
          </a:xfrm>
          <a:prstGeom prst="rect">
            <a:avLst/>
          </a:prstGeom>
          <a:solidFill>
            <a:srgbClr val="CCD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08592" y="2103120"/>
            <a:ext cx="1691640" cy="2011680"/>
          </a:xfrm>
          <a:prstGeom prst="roundRect">
            <a:avLst/>
          </a:prstGeom>
          <a:solidFill>
            <a:srgbClr val="173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523744"/>
            <a:ext cx="1389888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INCONSISTENT
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4782312"/>
            <a:ext cx="391363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400" b="1">
                <a:solidFill>
                  <a:srgbClr val="D85D4D"/>
                </a:solidFill>
                <a:latin typeface="Arial"/>
              </a:rPr>
              <a:t>Links are not a research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0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0F6254"/>
                </a:solidFill>
                <a:latin typeface="Arial"/>
              </a:rPr>
              <a:t>OPENALPHA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103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0">
                <a:solidFill>
                  <a:srgbClr val="64767B"/>
                </a:solidFill>
                <a:latin typeface="Arial"/>
              </a:rPr>
              <a:t>TRACK 2 · PRIVATE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2179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3039"/>
                </a:solidFill>
                <a:latin typeface="Arial"/>
              </a:rPr>
              <a:t>Our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252728"/>
            <a:ext cx="11201400" cy="13716"/>
          </a:xfrm>
          <a:prstGeom prst="rect">
            <a:avLst/>
          </a:prstGeom>
          <a:solidFill>
            <a:srgbClr val="CCD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51967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60" b="0">
                <a:solidFill>
                  <a:srgbClr val="64767B"/>
                </a:solidFill>
                <a:latin typeface="Arial"/>
              </a:rPr>
              <a:t>Research and education only · AMD Radeon + ROCm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1">
                <a:solidFill>
                  <a:srgbClr val="167A68"/>
                </a:solidFill>
                <a:latin typeface="Arial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481328"/>
            <a:ext cx="54864" cy="265176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44752"/>
            <a:ext cx="108447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29454D"/>
                </a:solidFill>
                <a:latin typeface="Arial"/>
              </a:rPr>
              <a:t>A 24x7-capable, evidence-first local research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938528"/>
            <a:ext cx="3310128" cy="1060704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" y="1938528"/>
            <a:ext cx="493776" cy="1060704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267712"/>
            <a:ext cx="34747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2103120"/>
            <a:ext cx="245059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173039"/>
                </a:solidFill>
                <a:latin typeface="Arial"/>
              </a:rPr>
              <a:t>Discover configured public GitHub repositories and RSS/Atom feeds.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8536" y="1938528"/>
            <a:ext cx="3310128" cy="1060704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8536" y="1938528"/>
            <a:ext cx="493776" cy="1060704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2267712"/>
            <a:ext cx="34747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6903" y="2103120"/>
            <a:ext cx="245059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173039"/>
                </a:solidFill>
                <a:latin typeface="Arial"/>
              </a:rPr>
              <a:t>Normalize, hash, deduplicate, and track revisions.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6" y="1938528"/>
            <a:ext cx="3310128" cy="1060704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91856" y="1938528"/>
            <a:ext cx="493776" cy="1060704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2267712"/>
            <a:ext cx="34747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224" y="2103120"/>
            <a:ext cx="245059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173039"/>
                </a:solidFill>
                <a:latin typeface="Arial"/>
              </a:rPr>
              <a:t>Extract versioned StrategyCard records.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3419856"/>
            <a:ext cx="3310128" cy="1060704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" y="3419856"/>
            <a:ext cx="493776" cy="1060704"/>
          </a:xfrm>
          <a:prstGeom prst="rect">
            <a:avLst/>
          </a:prstGeom>
          <a:solidFill>
            <a:srgbClr val="D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749040"/>
            <a:ext cx="34747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584" y="3584448"/>
            <a:ext cx="245059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173039"/>
                </a:solidFill>
                <a:latin typeface="Arial"/>
              </a:rPr>
              <a:t>Store cards and evidence in a local retrieval system.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88536" y="3419856"/>
            <a:ext cx="3310128" cy="1060704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88536" y="3419856"/>
            <a:ext cx="493776" cy="1060704"/>
          </a:xfrm>
          <a:prstGeom prst="rect">
            <a:avLst/>
          </a:prstGeom>
          <a:solidFill>
            <a:srgbClr val="D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3749040"/>
            <a:ext cx="34747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46903" y="3584448"/>
            <a:ext cx="245059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173039"/>
                </a:solidFill>
                <a:latin typeface="Arial"/>
              </a:rPr>
              <a:t>Answer and compare with citations.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91856" y="3419856"/>
            <a:ext cx="3310128" cy="1060704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91856" y="3419856"/>
            <a:ext cx="493776" cy="1060704"/>
          </a:xfrm>
          <a:prstGeom prst="rect">
            <a:avLst/>
          </a:prstGeom>
          <a:solidFill>
            <a:srgbClr val="D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8" y="3749040"/>
            <a:ext cx="34747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0224" y="3584448"/>
            <a:ext cx="2450592" cy="7132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173039"/>
                </a:solidFill>
                <a:latin typeface="Arial"/>
              </a:rPr>
              <a:t>Re-run saved watch rules while the server process is active.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0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0F6254"/>
                </a:solidFill>
                <a:latin typeface="Arial"/>
              </a:rPr>
              <a:t>OPENALPHA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103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0">
                <a:solidFill>
                  <a:srgbClr val="64767B"/>
                </a:solidFill>
                <a:latin typeface="Arial"/>
              </a:rPr>
              <a:t>TRACK 2 · PRIVATE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2179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3039"/>
                </a:solidFill>
                <a:latin typeface="Arial"/>
              </a:rPr>
              <a:t>Product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252728"/>
            <a:ext cx="11201400" cy="13716"/>
          </a:xfrm>
          <a:prstGeom prst="rect">
            <a:avLst/>
          </a:prstGeom>
          <a:solidFill>
            <a:srgbClr val="CCD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51967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60" b="0">
                <a:solidFill>
                  <a:srgbClr val="64767B"/>
                </a:solidFill>
                <a:latin typeface="Arial"/>
              </a:rPr>
              <a:t>Research and education only · AMD Radeon + ROCm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1">
                <a:solidFill>
                  <a:srgbClr val="167A68"/>
                </a:solidFill>
                <a:latin typeface="Arial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481328"/>
            <a:ext cx="54864" cy="265176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44752"/>
            <a:ext cx="108447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29454D"/>
                </a:solidFill>
                <a:latin typeface="Arial"/>
              </a:rPr>
              <a:t>One local workbench for repeated research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1965960"/>
            <a:ext cx="3310128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2148840"/>
            <a:ext cx="640080" cy="640080"/>
          </a:xfrm>
          <a:prstGeom prst="round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286000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6" y="2130552"/>
            <a:ext cx="2121408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173039"/>
                </a:solidFill>
                <a:latin typeface="Arial"/>
              </a:rPr>
              <a:t>Overview: corpus, source, job, and watch 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8536" y="1965960"/>
            <a:ext cx="3310128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3127" y="2148840"/>
            <a:ext cx="640080" cy="640080"/>
          </a:xfrm>
          <a:prstGeom prst="roundRect">
            <a:avLst/>
          </a:prstGeom>
          <a:solidFill>
            <a:srgbClr val="D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7" y="2286000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SC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5" y="2130552"/>
            <a:ext cx="2121408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173039"/>
                </a:solidFill>
                <a:latin typeface="Arial"/>
              </a:rPr>
              <a:t>Strategy Cards: normalized rules, disclosures, risks, and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6" y="1965960"/>
            <a:ext cx="3310128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56448" y="2148840"/>
            <a:ext cx="640080" cy="640080"/>
          </a:xfrm>
          <a:prstGeom prst="roundRect">
            <a:avLst/>
          </a:prstGeom>
          <a:solidFill>
            <a:srgbClr val="C79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2286000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1976" y="2130552"/>
            <a:ext cx="2121408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173039"/>
                </a:solidFill>
                <a:latin typeface="Arial"/>
              </a:rPr>
              <a:t>Agent Chat: retrieval-backed questions and follow-ups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3566160"/>
            <a:ext cx="3310128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3749039"/>
            <a:ext cx="640080" cy="640080"/>
          </a:xfrm>
          <a:prstGeom prst="round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886200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SR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45336" y="3730752"/>
            <a:ext cx="2121408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173039"/>
                </a:solidFill>
                <a:latin typeface="Arial"/>
              </a:rPr>
              <a:t>Sources: origin visibility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88536" y="3566160"/>
            <a:ext cx="3310128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53127" y="3749039"/>
            <a:ext cx="640080" cy="640080"/>
          </a:xfrm>
          <a:prstGeom prst="roundRect">
            <a:avLst/>
          </a:prstGeom>
          <a:solidFill>
            <a:srgbClr val="D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7" y="3886200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JB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8655" y="3730752"/>
            <a:ext cx="2121408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173039"/>
                </a:solidFill>
                <a:latin typeface="Arial"/>
              </a:rPr>
              <a:t>Jobs: ingestion status and failure visibility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91856" y="3566160"/>
            <a:ext cx="3310128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56448" y="3749039"/>
            <a:ext cx="640080" cy="640080"/>
          </a:xfrm>
          <a:prstGeom prst="roundRect">
            <a:avLst/>
          </a:prstGeom>
          <a:solidFill>
            <a:srgbClr val="C79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6448" y="3886200"/>
            <a:ext cx="640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WR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3730752"/>
            <a:ext cx="2121408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173039"/>
                </a:solidFill>
                <a:latin typeface="Arial"/>
              </a:rPr>
              <a:t>Watch Rules: recurring research criteria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5285232"/>
            <a:ext cx="10652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300" b="1">
                <a:solidFill>
                  <a:srgbClr val="0F6254"/>
                </a:solidFill>
                <a:latin typeface="Arial"/>
              </a:rPr>
              <a:t>One local workbench · no frontend build step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0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0F6254"/>
                </a:solidFill>
                <a:latin typeface="Arial"/>
              </a:rPr>
              <a:t>OPENALPHA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103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0">
                <a:solidFill>
                  <a:srgbClr val="64767B"/>
                </a:solidFill>
                <a:latin typeface="Arial"/>
              </a:rPr>
              <a:t>TRACK 2 · PRIVATE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2179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3039"/>
                </a:solidFill>
                <a:latin typeface="Arial"/>
              </a:rPr>
              <a:t>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252728"/>
            <a:ext cx="11201400" cy="13716"/>
          </a:xfrm>
          <a:prstGeom prst="rect">
            <a:avLst/>
          </a:prstGeom>
          <a:solidFill>
            <a:srgbClr val="CCD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51967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60" b="0">
                <a:solidFill>
                  <a:srgbClr val="64767B"/>
                </a:solidFill>
                <a:latin typeface="Arial"/>
              </a:rPr>
              <a:t>Research and education only · AMD Radeon + ROCm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1">
                <a:solidFill>
                  <a:srgbClr val="167A68"/>
                </a:solidFill>
                <a:latin typeface="Arial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554480"/>
            <a:ext cx="6537960" cy="4507992"/>
          </a:xfrm>
          <a:prstGeom prst="roundRect">
            <a:avLst/>
          </a:prstGeom>
          <a:solidFill>
            <a:srgbClr val="173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10512"/>
            <a:ext cx="5989320" cy="3931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>Browser Workbench
       |
Local Python API + Bounded Agent Workflow
       |                         |
GitHub / RSS / Snapshot          Local llama.cpp Runtime
       |                         |  LLM + Embeddings
       +------------+------------+
                    |
SQLite + FTS / Vector Index
Cards | Evidence | Jobs | Watches | Memory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1618488"/>
            <a:ext cx="54864" cy="265176"/>
          </a:xfrm>
          <a:prstGeom prst="rect">
            <a:avLst/>
          </a:prstGeom>
          <a:solidFill>
            <a:srgbClr val="D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0376" y="1581912"/>
            <a:ext cx="394106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29454D"/>
                </a:solidFill>
                <a:latin typeface="Arial"/>
              </a:rPr>
              <a:t>Local by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057400"/>
            <a:ext cx="3794760" cy="3840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450" b="1">
                <a:solidFill>
                  <a:srgbClr val="D85D4D"/>
                </a:solidFill>
                <a:latin typeface="Arial"/>
              </a:rPr>
              <a:t>• </a:t>
            </a:r>
            <a:r>
              <a:rPr sz="1450" b="0">
                <a:solidFill>
                  <a:srgbClr val="173039"/>
                </a:solidFill>
                <a:latin typeface="Arial"/>
              </a:rPr>
              <a:t>Public network access is used to collect source material.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450" b="1">
                <a:solidFill>
                  <a:srgbClr val="D85D4D"/>
                </a:solidFill>
                <a:latin typeface="Arial"/>
              </a:rPr>
              <a:t>• </a:t>
            </a:r>
            <a:r>
              <a:rPr sz="1450" b="0">
                <a:solidFill>
                  <a:srgbClr val="173039"/>
                </a:solidFill>
                <a:latin typeface="Arial"/>
              </a:rPr>
              <a:t>Core extraction, retrieval, memory, and generation stay local.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450" b="1">
                <a:solidFill>
                  <a:srgbClr val="D85D4D"/>
                </a:solidFill>
                <a:latin typeface="Arial"/>
              </a:rPr>
              <a:t>• </a:t>
            </a:r>
            <a:r>
              <a:rPr sz="1450" b="0">
                <a:solidFill>
                  <a:srgbClr val="173039"/>
                </a:solidFill>
                <a:latin typeface="Arial"/>
              </a:rPr>
              <a:t>The model provider can move from a development backend to Radeon llama.cpp without changing the data pipeline.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450" b="1">
                <a:solidFill>
                  <a:srgbClr val="D85D4D"/>
                </a:solidFill>
                <a:latin typeface="Arial"/>
              </a:rPr>
              <a:t>• </a:t>
            </a:r>
            <a:r>
              <a:rPr sz="1450" b="0">
                <a:solidFill>
                  <a:srgbClr val="173039"/>
                </a:solidFill>
                <a:latin typeface="Arial"/>
              </a:rPr>
              <a:t>Codex is a development tool, not the product runtime.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0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0F6254"/>
                </a:solidFill>
                <a:latin typeface="Arial"/>
              </a:rPr>
              <a:t>OPENALPHA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103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0">
                <a:solidFill>
                  <a:srgbClr val="64767B"/>
                </a:solidFill>
                <a:latin typeface="Arial"/>
              </a:rPr>
              <a:t>TRACK 2 · PRIVATE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2179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3039"/>
                </a:solidFill>
                <a:latin typeface="Arial"/>
              </a:rPr>
              <a:t>Track 2 Agent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252728"/>
            <a:ext cx="11201400" cy="13716"/>
          </a:xfrm>
          <a:prstGeom prst="rect">
            <a:avLst/>
          </a:prstGeom>
          <a:solidFill>
            <a:srgbClr val="CCD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51967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60" b="0">
                <a:solidFill>
                  <a:srgbClr val="64767B"/>
                </a:solidFill>
                <a:latin typeface="Arial"/>
              </a:rPr>
              <a:t>Research and education only · AMD Radeon + ROCm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1">
                <a:solidFill>
                  <a:srgbClr val="167A68"/>
                </a:solidFill>
                <a:latin typeface="Arial"/>
              </a:rPr>
              <a:t>06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572768"/>
          <a:ext cx="1101852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260"/>
                <a:gridCol w="5509260"/>
              </a:tblGrid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Required capability</a:t>
                      </a:r>
                    </a:p>
                  </a:txBody>
                  <a:tcPr marL="64008" marR="64008" marT="32004" marB="32004" anchor="ctr">
                    <a:solidFill>
                      <a:srgbClr val="1730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Demonstration</a:t>
                      </a:r>
                    </a:p>
                  </a:txBody>
                  <a:tcPr marL="64008" marR="64008" marT="32004" marB="32004" anchor="ctr">
                    <a:solidFill>
                      <a:srgbClr val="17303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3039"/>
                          </a:solidFill>
                          <a:latin typeface="Arial"/>
                        </a:rPr>
                        <a:t>Local RAG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3039"/>
                          </a:solidFill>
                          <a:latin typeface="Arial"/>
                        </a:rPr>
                        <a:t>Indexed cards and evidence drive cited answers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3039"/>
                          </a:solidFill>
                          <a:latin typeface="Arial"/>
                        </a:rPr>
                        <a:t>Tool use</a:t>
                      </a:r>
                    </a:p>
                  </a:txBody>
                  <a:tcPr marL="64008" marR="64008" marT="32004" marB="32004" anchor="ctr"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3039"/>
                          </a:solidFill>
                          <a:latin typeface="Arial"/>
                        </a:rPr>
                        <a:t>GitHub discovery, RSS ingestion, retrieval, watch creation</a:t>
                      </a:r>
                    </a:p>
                  </a:txBody>
                  <a:tcPr marL="64008" marR="64008" marT="32004" marB="32004" anchor="ctr">
                    <a:solidFill>
                      <a:srgbClr val="F4F7F5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3039"/>
                          </a:solidFill>
                          <a:latin typeface="Arial"/>
                        </a:rPr>
                        <a:t>Multi-step planning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3039"/>
                          </a:solidFill>
                          <a:latin typeface="Arial"/>
                        </a:rPr>
                        <a:t>Bounded discover-to-index workflow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3039"/>
                          </a:solidFill>
                          <a:latin typeface="Arial"/>
                        </a:rPr>
                        <a:t>Local multi-turn memory</a:t>
                      </a:r>
                    </a:p>
                  </a:txBody>
                  <a:tcPr marL="64008" marR="64008" marT="32004" marB="32004" anchor="ctr"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3039"/>
                          </a:solidFill>
                          <a:latin typeface="Arial"/>
                        </a:rPr>
                        <a:t>Follow-up filtering and local research context</a:t>
                      </a:r>
                    </a:p>
                  </a:txBody>
                  <a:tcPr marL="64008" marR="64008" marT="32004" marB="32004" anchor="ctr">
                    <a:solidFill>
                      <a:srgbClr val="F4F7F5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3039"/>
                          </a:solidFill>
                          <a:latin typeface="Arial"/>
                        </a:rPr>
                        <a:t>Permission/privacy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73039"/>
                          </a:solidFill>
                          <a:latin typeface="Arial"/>
                        </a:rPr>
                        <a:t>Explicit sources, separated collection/inference, offline indexed workflow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66928" y="5961888"/>
            <a:ext cx="11018520" cy="384048"/>
          </a:xfrm>
          <a:prstGeom prst="rect">
            <a:avLst/>
          </a:prstGeom>
          <a:solidFill>
            <a:srgbClr val="DD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698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b="1">
                <a:solidFill>
                  <a:srgbClr val="0F6254"/>
                </a:solidFill>
                <a:latin typeface="Arial"/>
              </a:rPr>
              <a:t>5 capabilities designed · competition minimum: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0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0F6254"/>
                </a:solidFill>
                <a:latin typeface="Arial"/>
              </a:rPr>
              <a:t>OPENALPHA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103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0">
                <a:solidFill>
                  <a:srgbClr val="64767B"/>
                </a:solidFill>
                <a:latin typeface="Arial"/>
              </a:rPr>
              <a:t>TRACK 2 · PRIVATE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2179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3039"/>
                </a:solidFill>
                <a:latin typeface="Arial"/>
              </a:rPr>
              <a:t>Evidence Before Confidence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252728"/>
            <a:ext cx="11201400" cy="13716"/>
          </a:xfrm>
          <a:prstGeom prst="rect">
            <a:avLst/>
          </a:prstGeom>
          <a:solidFill>
            <a:srgbClr val="CCD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51967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60" b="0">
                <a:solidFill>
                  <a:srgbClr val="64767B"/>
                </a:solidFill>
                <a:latin typeface="Arial"/>
              </a:rPr>
              <a:t>Research and education only · AMD Radeon + ROCm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1">
                <a:solidFill>
                  <a:srgbClr val="167A68"/>
                </a:solidFill>
                <a:latin typeface="Arial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481328"/>
            <a:ext cx="54864" cy="265176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44752"/>
            <a:ext cx="517550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29454D"/>
                </a:solidFill>
                <a:latin typeface="Arial"/>
              </a:rPr>
              <a:t>Every useful answer should survive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56231"/>
            <a:ext cx="4956048" cy="4069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167A68"/>
                </a:solidFill>
                <a:latin typeface="Arial"/>
              </a:rPr>
              <a:t>• </a:t>
            </a:r>
            <a:r>
              <a:rPr sz="1450" b="0">
                <a:solidFill>
                  <a:srgbClr val="173039"/>
                </a:solidFill>
                <a:latin typeface="Arial"/>
              </a:rPr>
              <a:t>Source URL, repository/author, collection time, and revision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167A68"/>
                </a:solidFill>
                <a:latin typeface="Arial"/>
              </a:rPr>
              <a:t>• </a:t>
            </a:r>
            <a:r>
              <a:rPr sz="1450" b="0">
                <a:solidFill>
                  <a:srgbClr val="173039"/>
                </a:solidFill>
                <a:latin typeface="Arial"/>
              </a:rPr>
              <a:t>License state and uncertainty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167A68"/>
                </a:solidFill>
                <a:latin typeface="Arial"/>
              </a:rPr>
              <a:t>• </a:t>
            </a:r>
            <a:r>
              <a:rPr sz="1450" b="0">
                <a:solidFill>
                  <a:srgbClr val="173039"/>
                </a:solidFill>
                <a:latin typeface="Arial"/>
              </a:rPr>
              <a:t>Strategy rules and required data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167A68"/>
                </a:solidFill>
                <a:latin typeface="Arial"/>
              </a:rPr>
              <a:t>• </a:t>
            </a:r>
            <a:r>
              <a:rPr sz="1450" b="0">
                <a:solidFill>
                  <a:srgbClr val="173039"/>
                </a:solidFill>
                <a:latin typeface="Arial"/>
              </a:rPr>
              <a:t>Author-reported evaluation details, clearly labeled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167A68"/>
                </a:solidFill>
                <a:latin typeface="Arial"/>
              </a:rPr>
              <a:t>• </a:t>
            </a:r>
            <a:r>
              <a:rPr sz="1450" b="0">
                <a:solidFill>
                  <a:srgbClr val="173039"/>
                </a:solidFill>
                <a:latin typeface="Arial"/>
              </a:rPr>
              <a:t>Risk/disclosure flags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167A68"/>
                </a:solidFill>
                <a:latin typeface="Arial"/>
              </a:rPr>
              <a:t>• </a:t>
            </a:r>
            <a:r>
              <a:rPr sz="1450" b="0">
                <a:solidFill>
                  <a:srgbClr val="173039"/>
                </a:solidFill>
                <a:latin typeface="Arial"/>
              </a:rPr>
              <a:t>Evidence links for supported fields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450" b="1">
                <a:solidFill>
                  <a:srgbClr val="167A68"/>
                </a:solidFill>
                <a:latin typeface="Arial"/>
              </a:rPr>
              <a:t>• </a:t>
            </a:r>
            <a:r>
              <a:rPr sz="1450" b="0">
                <a:solidFill>
                  <a:srgbClr val="173039"/>
                </a:solidFill>
                <a:latin typeface="Arial"/>
              </a:rPr>
              <a:t>Explicit unknown when support is missing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554480"/>
            <a:ext cx="5266944" cy="4407408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783080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0F6254"/>
                </a:solidFill>
                <a:latin typeface="Arial"/>
              </a:rPr>
              <a:t>STRATEGY CARD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359152"/>
            <a:ext cx="1417320" cy="384048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95728"/>
            <a:ext cx="1234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64767B"/>
                </a:solidFill>
                <a:latin typeface="Arial"/>
              </a:rPr>
              <a:t>Source revision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2377440"/>
            <a:ext cx="28803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173039"/>
                </a:solidFill>
                <a:latin typeface="Arial"/>
              </a:rPr>
              <a:t>commit / immutable URL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935224"/>
            <a:ext cx="1417320" cy="384048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71800"/>
            <a:ext cx="1234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64767B"/>
                </a:solidFill>
                <a:latin typeface="Arial"/>
              </a:rPr>
              <a:t>License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2953512"/>
            <a:ext cx="28803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173039"/>
                </a:solidFill>
                <a:latin typeface="Arial"/>
              </a:rPr>
              <a:t>SPDX + confidence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511296"/>
            <a:ext cx="1417320" cy="384048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547872"/>
            <a:ext cx="1234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64767B"/>
                </a:solidFill>
                <a:latin typeface="Arial"/>
              </a:rPr>
              <a:t>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3529584"/>
            <a:ext cx="28803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173039"/>
                </a:solidFill>
                <a:latin typeface="Arial"/>
              </a:rPr>
              <a:t>entry / exit / timeframe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087368"/>
            <a:ext cx="1417320" cy="384048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123944"/>
            <a:ext cx="1234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64767B"/>
                </a:solidFill>
                <a:latin typeface="Arial"/>
              </a:rPr>
              <a:t>Disclosure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2" y="4105656"/>
            <a:ext cx="28803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173039"/>
                </a:solidFill>
                <a:latin typeface="Arial"/>
              </a:rPr>
              <a:t>costs / slippage / period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663440"/>
            <a:ext cx="1417320" cy="384048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700016"/>
            <a:ext cx="1234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64767B"/>
                </a:solidFill>
                <a:latin typeface="Arial"/>
              </a:rPr>
              <a:t>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2" y="4681727"/>
            <a:ext cx="28803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>
                <a:solidFill>
                  <a:srgbClr val="173039"/>
                </a:solidFill>
                <a:latin typeface="Arial"/>
              </a:rPr>
              <a:t>field -&gt; source fragment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0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0F6254"/>
                </a:solidFill>
                <a:latin typeface="Arial"/>
              </a:rPr>
              <a:t>OPENALPHA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103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0">
                <a:solidFill>
                  <a:srgbClr val="64767B"/>
                </a:solidFill>
                <a:latin typeface="Arial"/>
              </a:rPr>
              <a:t>TRACK 2 · PRIVATE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2179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3039"/>
                </a:solidFill>
                <a:latin typeface="Arial"/>
              </a:rPr>
              <a:t>AMD Radeon + ROCm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252728"/>
            <a:ext cx="11201400" cy="13716"/>
          </a:xfrm>
          <a:prstGeom prst="rect">
            <a:avLst/>
          </a:prstGeom>
          <a:solidFill>
            <a:srgbClr val="CCD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51967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60" b="0">
                <a:solidFill>
                  <a:srgbClr val="64767B"/>
                </a:solidFill>
                <a:latin typeface="Arial"/>
              </a:rPr>
              <a:t>Research and education only · AMD Radeon + ROCm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1">
                <a:solidFill>
                  <a:srgbClr val="167A68"/>
                </a:solidFill>
                <a:latin typeface="Arial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5230368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5230368" cy="530352"/>
          </a:xfrm>
          <a:prstGeom prst="rect">
            <a:avLst/>
          </a:prstGeom>
          <a:solidFill>
            <a:srgbClr val="DD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664208"/>
            <a:ext cx="48280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167A68"/>
                </a:solidFill>
                <a:latin typeface="Arial"/>
              </a:rPr>
              <a:t>Verified on the Radeon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304288"/>
            <a:ext cx="4754880" cy="34472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00" b="1">
                <a:solidFill>
                  <a:srgbClr val="167A68"/>
                </a:solidFill>
                <a:latin typeface="Arial"/>
              </a:rPr>
              <a:t>• </a:t>
            </a:r>
            <a:r>
              <a:rPr sz="1100" b="0">
                <a:solidFill>
                  <a:srgbClr val="173039"/>
                </a:solidFill>
                <a:latin typeface="Arial"/>
              </a:rPr>
              <a:t>AMD OneClick Base, Ubuntu 24.04.4, ROCm 7.2.1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00" b="1">
                <a:solidFill>
                  <a:srgbClr val="167A68"/>
                </a:solidFill>
                <a:latin typeface="Arial"/>
              </a:rPr>
              <a:t>• </a:t>
            </a:r>
            <a:r>
              <a:rPr sz="1100" b="0">
                <a:solidFill>
                  <a:srgbClr val="173039"/>
                </a:solidFill>
                <a:latin typeface="Arial"/>
              </a:rPr>
              <a:t>gfx1100, approximately 48 GiB reported VRAM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00" b="1">
                <a:solidFill>
                  <a:srgbClr val="167A68"/>
                </a:solidFill>
                <a:latin typeface="Arial"/>
              </a:rPr>
              <a:t>• </a:t>
            </a:r>
            <a:r>
              <a:rPr sz="1100" b="0">
                <a:solidFill>
                  <a:srgbClr val="173039"/>
                </a:solidFill>
                <a:latin typeface="Arial"/>
              </a:rPr>
              <a:t>HIP 7.2.53211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00" b="1">
                <a:solidFill>
                  <a:srgbClr val="167A68"/>
                </a:solidFill>
                <a:latin typeface="Arial"/>
              </a:rPr>
              <a:t>• </a:t>
            </a:r>
            <a:r>
              <a:rPr sz="1100" b="0">
                <a:solidFill>
                  <a:srgbClr val="173039"/>
                </a:solidFill>
                <a:latin typeface="Arial"/>
              </a:rPr>
              <a:t>ROCm/llama.cpp commit 1b99711a... built successfully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00" b="1">
                <a:solidFill>
                  <a:srgbClr val="167A68"/>
                </a:solidFill>
                <a:latin typeface="Arial"/>
              </a:rPr>
              <a:t>• </a:t>
            </a:r>
            <a:r>
              <a:rPr sz="1100" b="0">
                <a:solidFill>
                  <a:srgbClr val="173039"/>
                </a:solidFill>
                <a:latin typeface="Arial"/>
              </a:rPr>
              <a:t>One Radeon device detected by the ROCm backend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00" b="1">
                <a:solidFill>
                  <a:srgbClr val="167A68"/>
                </a:solidFill>
                <a:latin typeface="Arial"/>
              </a:rPr>
              <a:t>• </a:t>
            </a:r>
            <a:r>
              <a:rPr sz="1100" b="0">
                <a:solidFill>
                  <a:srgbClr val="173039"/>
                </a:solidFill>
                <a:latin typeface="Arial"/>
              </a:rPr>
              <a:t>Qwen3-8B Q4_K_M hash verified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00" b="1">
                <a:solidFill>
                  <a:srgbClr val="167A68"/>
                </a:solidFill>
                <a:latin typeface="Arial"/>
              </a:rPr>
              <a:t>• </a:t>
            </a:r>
            <a:r>
              <a:rPr sz="1100" b="0">
                <a:solidFill>
                  <a:srgbClr val="173039"/>
                </a:solidFill>
                <a:latin typeface="Arial"/>
              </a:rPr>
              <a:t>Clean runtime commit 8f9aad7a206287b2158f0fccb7a70c4a7373aa87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00" b="1">
                <a:solidFill>
                  <a:srgbClr val="167A68"/>
                </a:solidFill>
                <a:latin typeface="Arial"/>
              </a:rPr>
              <a:t>• </a:t>
            </a:r>
            <a:r>
              <a:rPr sz="1100" b="0">
                <a:solidFill>
                  <a:srgbClr val="173039"/>
                </a:solidFill>
                <a:latin typeface="Arial"/>
              </a:rPr>
              <a:t>Clean offload-validation commit 25129cdd853a4fe5a258386350d933339b381028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00" b="1">
                <a:solidFill>
                  <a:srgbClr val="167A68"/>
                </a:solidFill>
                <a:latin typeface="Arial"/>
              </a:rPr>
              <a:t>• </a:t>
            </a:r>
            <a:r>
              <a:rPr sz="1100" b="0">
                <a:solidFill>
                  <a:srgbClr val="173039"/>
                </a:solidFill>
                <a:latin typeface="Arial"/>
              </a:rPr>
              <a:t>35 tests passed on the Radeon host with Python 3.12.3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00" b="1">
                <a:solidFill>
                  <a:srgbClr val="167A68"/>
                </a:solidFill>
                <a:latin typeface="Arial"/>
              </a:rPr>
              <a:t>• </a:t>
            </a:r>
            <a:r>
              <a:rPr sz="1100" b="0">
                <a:solidFill>
                  <a:srgbClr val="173039"/>
                </a:solidFill>
                <a:latin typeface="Arial"/>
              </a:rPr>
              <a:t>Separate real CLI and loopback HTTP 200 responses report llama.cpp-rocm and a commit-pinned citation to lines 8-28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00" b="1">
                <a:solidFill>
                  <a:srgbClr val="167A68"/>
                </a:solidFill>
                <a:latin typeface="Arial"/>
              </a:rPr>
              <a:t>• </a:t>
            </a:r>
            <a:r>
              <a:rPr sz="1100" b="0">
                <a:solidFill>
                  <a:srgbClr val="173039"/>
                </a:solidFill>
                <a:latin typeface="Arial"/>
              </a:rPr>
              <a:t>ROCm llama-bench snapshot configured with ngl=99; independent load trace records 37/37 layers on ROCm0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00" b="1">
                <a:solidFill>
                  <a:srgbClr val="167A68"/>
                </a:solidFill>
                <a:latin typeface="Arial"/>
              </a:rPr>
              <a:t>• </a:t>
            </a:r>
            <a:r>
              <a:rPr sz="1100" b="0">
                <a:solidFill>
                  <a:srgbClr val="173039"/>
                </a:solidFill>
                <a:latin typeface="Arial"/>
              </a:rPr>
              <a:t>tg256: 93.47 +/- 0.08 tok/s across five repetitions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00" b="1">
                <a:solidFill>
                  <a:srgbClr val="167A68"/>
                </a:solidFill>
                <a:latin typeface="Arial"/>
              </a:rPr>
              <a:t>• </a:t>
            </a:r>
            <a:r>
              <a:rPr sz="1100" b="0">
                <a:solidFill>
                  <a:srgbClr val="173039"/>
                </a:solidFill>
                <a:latin typeface="Arial"/>
              </a:rPr>
              <a:t>One capture-time GPU-wide snapshot: 63% use and 6,642,937,856 bytes used; not a peak or model-resident measurement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100" b="1">
                <a:solidFill>
                  <a:srgbClr val="167A68"/>
                </a:solidFill>
                <a:latin typeface="Arial"/>
              </a:rPr>
              <a:t>• </a:t>
            </a:r>
            <a:r>
              <a:rPr sz="1100" b="0">
                <a:solidFill>
                  <a:srgbClr val="173039"/>
                </a:solidFill>
                <a:latin typeface="Arial"/>
              </a:rPr>
              <a:t>Controlled restart changed all three PIDs and preserved core counts, notifications, and database integrity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572768"/>
            <a:ext cx="5230368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572768"/>
            <a:ext cx="5230368" cy="530352"/>
          </a:xfrm>
          <a:prstGeom prst="rect">
            <a:avLst/>
          </a:prstGeom>
          <a:solidFill>
            <a:srgbClr val="F7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664208"/>
            <a:ext cx="48280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D85D4D"/>
                </a:solidFill>
                <a:latin typeface="Arial"/>
              </a:rPr>
              <a:t>Evidence still to 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304288"/>
            <a:ext cx="4754880" cy="34472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Structured LLM extraction through localhost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Active peak-VRAM trace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Comparable CPU/Radeon optimized results and TTFT percentiles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0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0F6254"/>
                </a:solidFill>
                <a:latin typeface="Arial"/>
              </a:rPr>
              <a:t>OPENALPHA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103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0">
                <a:solidFill>
                  <a:srgbClr val="64767B"/>
                </a:solidFill>
                <a:latin typeface="Arial"/>
              </a:rPr>
              <a:t>TRACK 2 · PRIVATE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2179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3039"/>
                </a:solidFill>
                <a:latin typeface="Arial"/>
              </a:rPr>
              <a:t>Measured Radeon Snapshot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252728"/>
            <a:ext cx="11201400" cy="13716"/>
          </a:xfrm>
          <a:prstGeom prst="rect">
            <a:avLst/>
          </a:prstGeom>
          <a:solidFill>
            <a:srgbClr val="CCD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51967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60" b="0">
                <a:solidFill>
                  <a:srgbClr val="64767B"/>
                </a:solidFill>
                <a:latin typeface="Arial"/>
              </a:rPr>
              <a:t>Research and education only · AMD Radeon + ROCm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1">
                <a:solidFill>
                  <a:srgbClr val="167A68"/>
                </a:solidFill>
                <a:latin typeface="Arial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453896"/>
            <a:ext cx="54864" cy="265176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17320"/>
            <a:ext cx="108447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29454D"/>
                </a:solidFill>
                <a:latin typeface="Arial"/>
              </a:rPr>
              <a:t>Saved measurements and explicit gaps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1847088"/>
          <a:ext cx="10991088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7772"/>
                <a:gridCol w="2747772"/>
                <a:gridCol w="2747772"/>
                <a:gridCol w="2747772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64008" marR="64008" marT="32004" marB="32004" anchor="ctr">
                    <a:solidFill>
                      <a:srgbClr val="1730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CPU</a:t>
                      </a:r>
                    </a:p>
                  </a:txBody>
                  <a:tcPr marL="64008" marR="64008" marT="32004" marB="32004" anchor="ctr">
                    <a:solidFill>
                      <a:srgbClr val="1730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Radeon baseline</a:t>
                      </a:r>
                    </a:p>
                  </a:txBody>
                  <a:tcPr marL="64008" marR="64008" marT="32004" marB="32004" anchor="ctr">
                    <a:solidFill>
                      <a:srgbClr val="1730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Radeon optimized</a:t>
                      </a:r>
                    </a:p>
                  </a:txBody>
                  <a:tcPr marL="64008" marR="64008" marT="32004" marB="32004" anchor="ctr">
                    <a:solidFill>
                      <a:srgbClr val="17303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TTFT P50/P95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Decode tokens/s</a:t>
                      </a:r>
                    </a:p>
                  </a:txBody>
                  <a:tcPr marL="64008" marR="64008" marT="32004" marB="32004" anchor="ctr"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64008" marR="64008" marT="32004" marB="32004" anchor="ctr"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93.47 +/- 0.08</a:t>
                      </a:r>
                    </a:p>
                  </a:txBody>
                  <a:tcPr marL="64008" marR="64008" marT="32004" marB="32004" anchor="ctr"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Not separately measured</a:t>
                      </a:r>
                    </a:p>
                  </a:txBody>
                  <a:tcPr marL="64008" marR="64008" marT="32004" marB="32004" anchor="ctr">
                    <a:solidFill>
                      <a:srgbClr val="F4F7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Cold-cache docs/min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Peak VRAM</a:t>
                      </a:r>
                    </a:p>
                  </a:txBody>
                  <a:tcPr marL="64008" marR="64008" marT="32004" marB="32004" anchor="ctr"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64008" marR="64008" marT="32004" marB="32004" anchor="ctr"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64008" marR="64008" marT="32004" marB="32004" anchor="ctr"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64008" marR="64008" marT="32004" marB="32004" anchor="ctr">
                    <a:solidFill>
                      <a:srgbClr val="F4F7F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Extraction quality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039"/>
                          </a:solidFill>
                          <a:latin typeface="Arial"/>
                        </a:rPr>
                        <a:t>Not measured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4462272"/>
            <a:ext cx="10991088" cy="658368"/>
          </a:xfrm>
          <a:prstGeom prst="rect">
            <a:avLst/>
          </a:prstGeom>
          <a:solidFill>
            <a:srgbClr val="DD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562856"/>
            <a:ext cx="10625328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000" b="1">
                <a:solidFill>
                  <a:srgbClr val="0F6254"/>
                </a:solidFill>
                <a:latin typeface="Arial"/>
              </a:rPr>
              <a:t>Quantization, text trimming, batching, content-hash caching, bounded queues, and constrained structured output. Headline result No cold-cache throughput improvement or quality-change percentage is claimed because a comparable CPU/Radeon optimization study was not run. Visual Use the saved llama-bench terminal excerpt and a compact evidence-status matrix. Do not imply a CPU/Radeon improvement that was not measured.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0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0F6254"/>
                </a:solidFill>
                <a:latin typeface="Arial"/>
              </a:rPr>
              <a:t>OPENALPHA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103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0">
                <a:solidFill>
                  <a:srgbClr val="64767B"/>
                </a:solidFill>
                <a:latin typeface="Arial"/>
              </a:rPr>
              <a:t>TRACK 2 · PRIVATE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2179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3039"/>
                </a:solidFill>
                <a:latin typeface="Arial"/>
              </a:rPr>
              <a:t>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252728"/>
            <a:ext cx="11201400" cy="13716"/>
          </a:xfrm>
          <a:prstGeom prst="rect">
            <a:avLst/>
          </a:prstGeom>
          <a:solidFill>
            <a:srgbClr val="CCD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51967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60" b="0">
                <a:solidFill>
                  <a:srgbClr val="64767B"/>
                </a:solidFill>
                <a:latin typeface="Arial"/>
              </a:rPr>
              <a:t>Research and education only · AMD Radeon + ROCm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1">
                <a:solidFill>
                  <a:srgbClr val="167A68"/>
                </a:solidFill>
                <a:latin typeface="Arial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5230368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5230368" cy="530352"/>
          </a:xfrm>
          <a:prstGeom prst="rect">
            <a:avLst/>
          </a:prstGeom>
          <a:solidFill>
            <a:srgbClr val="DD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664208"/>
            <a:ext cx="48280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167A68"/>
                </a:solidFill>
                <a:latin typeface="Arial"/>
              </a:rPr>
              <a:t>Demonstrated locally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304288"/>
            <a:ext cx="4754880" cy="34472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167A68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Runnable browser and API MVP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167A68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Deterministic demo corpus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167A68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GitHub/RSS source workflows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167A68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Strategy cards with source evidence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167A68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Retrieval-backed chat and follow-up workflow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500" b="1">
                <a:solidFill>
                  <a:srgbClr val="167A68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Jobs and recurring watch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572768"/>
            <a:ext cx="5230368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572768"/>
            <a:ext cx="5230368" cy="530352"/>
          </a:xfrm>
          <a:prstGeom prst="rect">
            <a:avLst/>
          </a:prstGeom>
          <a:solidFill>
            <a:srgbClr val="F7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664208"/>
            <a:ext cx="48280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D85D4D"/>
                </a:solidFill>
                <a:latin typeface="Arial"/>
              </a:rPr>
              <a:t>Final release 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304288"/>
            <a:ext cx="4754880" cy="34472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Fixed quality and performance evaluation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Active peak-VRAM trace and TTFT percentiles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Public video upload and anonymous-access verification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Optional 24-hour continuous-run soak test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Reproduction from a clean environment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0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0F6254"/>
                </a:solidFill>
                <a:latin typeface="Arial"/>
              </a:rPr>
              <a:t>OPENALPHA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103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0">
                <a:solidFill>
                  <a:srgbClr val="64767B"/>
                </a:solidFill>
                <a:latin typeface="Arial"/>
              </a:rPr>
              <a:t>TRACK 2 · PRIVATE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2179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3039"/>
                </a:solidFill>
                <a:latin typeface="Arial"/>
              </a:rPr>
              <a:t>Application Value and Boundaries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252728"/>
            <a:ext cx="11201400" cy="13716"/>
          </a:xfrm>
          <a:prstGeom prst="rect">
            <a:avLst/>
          </a:prstGeom>
          <a:solidFill>
            <a:srgbClr val="CCD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51967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60" b="0">
                <a:solidFill>
                  <a:srgbClr val="64767B"/>
                </a:solidFill>
                <a:latin typeface="Arial"/>
              </a:rPr>
              <a:t>Research and education only · AMD Radeon + ROCm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1">
                <a:solidFill>
                  <a:srgbClr val="167A68"/>
                </a:solidFill>
                <a:latin typeface="Arial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72768"/>
            <a:ext cx="5230368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72768"/>
            <a:ext cx="5230368" cy="530352"/>
          </a:xfrm>
          <a:prstGeom prst="rect">
            <a:avLst/>
          </a:prstGeom>
          <a:solidFill>
            <a:srgbClr val="DD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664208"/>
            <a:ext cx="48280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167A68"/>
                </a:solidFill>
                <a:latin typeface="Arial"/>
              </a:rPr>
              <a:t>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304288"/>
            <a:ext cx="4754880" cy="34472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167A68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Less time monitoring scattered projects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167A68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Faster comparison of rules and disclosure quality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167A68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Verifiable links instead of ungrounded summaries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167A68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Private local research interests and conversation state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167A68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Incremental tracking instead of repeated manual searches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572768"/>
            <a:ext cx="5230368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CCD7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572768"/>
            <a:ext cx="5230368" cy="530352"/>
          </a:xfrm>
          <a:prstGeom prst="rect">
            <a:avLst/>
          </a:prstGeom>
          <a:solidFill>
            <a:srgbClr val="F7E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664208"/>
            <a:ext cx="482803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D85D4D"/>
                </a:solidFill>
                <a:latin typeface="Arial"/>
              </a:rPr>
              <a:t>Boundaries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304288"/>
            <a:ext cx="4754880" cy="34472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No broker or exchange account connection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No automatic trading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No return promises or personalized buy/sell advice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No execution of third-party repository code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500" b="1">
                <a:solidFill>
                  <a:srgbClr val="D85D4D"/>
                </a:solidFill>
                <a:latin typeface="Arial"/>
              </a:rPr>
              <a:t>• </a:t>
            </a:r>
            <a:r>
              <a:rPr sz="1500" b="0">
                <a:solidFill>
                  <a:srgbClr val="173039"/>
                </a:solidFill>
                <a:latin typeface="Arial"/>
              </a:rPr>
              <a:t>No claim to cover the entire internet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0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1">
                <a:solidFill>
                  <a:srgbClr val="0F6254"/>
                </a:solidFill>
                <a:latin typeface="Arial"/>
              </a:rPr>
              <a:t>OPENALPHA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103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0">
                <a:solidFill>
                  <a:srgbClr val="64767B"/>
                </a:solidFill>
                <a:latin typeface="Arial"/>
              </a:rPr>
              <a:t>TRACK 2 · PRIVATE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21792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3039"/>
                </a:solidFill>
                <a:latin typeface="Arial"/>
              </a:rPr>
              <a:t>Team and Links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252728"/>
            <a:ext cx="11201400" cy="13716"/>
          </a:xfrm>
          <a:prstGeom prst="rect">
            <a:avLst/>
          </a:prstGeom>
          <a:solidFill>
            <a:srgbClr val="CCD7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519672"/>
            <a:ext cx="5943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760" b="0">
                <a:solidFill>
                  <a:srgbClr val="64767B"/>
                </a:solidFill>
                <a:latin typeface="Arial"/>
              </a:rPr>
              <a:t>Research and education only · AMD Radeon + ROCm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2000"/>
              </a:lnSpc>
            </a:pPr>
            <a:r>
              <a:rPr sz="900" b="1">
                <a:solidFill>
                  <a:srgbClr val="167A68"/>
                </a:solidFill>
                <a:latin typeface="Arial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453896"/>
            <a:ext cx="54864" cy="265176"/>
          </a:xfrm>
          <a:prstGeom prst="rect">
            <a:avLst/>
          </a:prstGeom>
          <a:solidFill>
            <a:srgbClr val="167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17320"/>
            <a:ext cx="535838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29454D"/>
                </a:solidFill>
                <a:latin typeface="Arial"/>
              </a:rPr>
              <a:t>Team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1847088"/>
          <a:ext cx="54864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Member</a:t>
                      </a:r>
                    </a:p>
                  </a:txBody>
                  <a:tcPr marL="64008" marR="64008" marT="32004" marB="32004" anchor="ctr">
                    <a:solidFill>
                      <a:srgbClr val="1730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Role and contribution</a:t>
                      </a:r>
                    </a:p>
                  </a:txBody>
                  <a:tcPr marL="64008" marR="64008" marT="32004" marB="32004" anchor="ctr">
                    <a:solidFill>
                      <a:srgbClr val="17303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73039"/>
                          </a:solidFill>
                          <a:latin typeface="Arial"/>
                        </a:rPr>
                        <a:t>Zeng Baocheng (曾宝成) / csaizbc (https://github.com/csaizbc) / 1154375864@qq.com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73039"/>
                          </a:solidFill>
                          <a:latin typeface="Arial"/>
                        </a:rPr>
                        <a:t>Project lead; application design and implementation; disposable Radeon deployment; benchmarking and evidence; submission engineering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73039"/>
                          </a:solidFill>
                          <a:latin typeface="Arial"/>
                        </a:rPr>
                        <a:t>Yang Jinhao (杨锦皓) / yangjinhao06-droid (https://github.com/yangjinhao06-droid) / yangjinhao06@gmail.com</a:t>
                      </a:r>
                    </a:p>
                  </a:txBody>
                  <a:tcPr marL="64008" marR="64008" marT="32004" marB="32004" anchor="ctr"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73039"/>
                          </a:solidFill>
                          <a:latin typeface="Arial"/>
                        </a:rPr>
                        <a:t>ROCm validation research; test-evidence documentation; review</a:t>
                      </a:r>
                    </a:p>
                  </a:txBody>
                  <a:tcPr marL="64008" marR="64008" marT="32004" marB="32004" anchor="ctr">
                    <a:solidFill>
                      <a:srgbClr val="F4F7F5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46520" y="1453896"/>
            <a:ext cx="54864" cy="265176"/>
          </a:xfrm>
          <a:prstGeom prst="rect">
            <a:avLst/>
          </a:prstGeom>
          <a:solidFill>
            <a:srgbClr val="D85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1417320"/>
            <a:ext cx="4809744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1">
                <a:solidFill>
                  <a:srgbClr val="29454D"/>
                </a:solidFill>
                <a:latin typeface="Arial"/>
              </a:rPr>
              <a:t>Links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856231"/>
            <a:ext cx="4663440" cy="2697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 b="1">
                <a:solidFill>
                  <a:srgbClr val="D85D4D"/>
                </a:solidFill>
                <a:latin typeface="Arial"/>
              </a:rPr>
              <a:t>• </a:t>
            </a:r>
            <a:r>
              <a:rPr sz="1300" b="0">
                <a:solidFill>
                  <a:srgbClr val="173039"/>
                </a:solidFill>
                <a:latin typeface="Arial"/>
              </a:rPr>
              <a:t>Repository: https://github.com/coreline-systems/AMD-AI-DevMaster-Hackathon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 b="1">
                <a:solidFill>
                  <a:srgbClr val="D85D4D"/>
                </a:solidFill>
                <a:latin typeface="Arial"/>
              </a:rPr>
              <a:t>• </a:t>
            </a:r>
            <a:r>
              <a:rPr sz="1300" b="0">
                <a:solidFill>
                  <a:srgbClr val="173039"/>
                </a:solidFill>
                <a:latin typeface="Arial"/>
              </a:rPr>
              <a:t>Demo video: Pending publication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 b="1">
                <a:solidFill>
                  <a:srgbClr val="D85D4D"/>
                </a:solidFill>
                <a:latin typeface="Arial"/>
              </a:rPr>
              <a:t>• </a:t>
            </a:r>
            <a:r>
              <a:rPr sz="1300" b="0">
                <a:solidFill>
                  <a:srgbClr val="173039"/>
                </a:solidFill>
                <a:latin typeface="Arial"/>
              </a:rPr>
              <a:t>Benchmark report: https://github.com/coreline-systems/AMD-AI-DevMaster-Hackathon/blob/main/docs/submission/BENCHMARK_REPORT.en.md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 b="1">
                <a:solidFill>
                  <a:srgbClr val="D85D4D"/>
                </a:solidFill>
                <a:latin typeface="Arial"/>
              </a:rPr>
              <a:t>• </a:t>
            </a:r>
            <a:r>
              <a:rPr sz="1300" b="0">
                <a:solidFill>
                  <a:srgbClr val="173039"/>
                </a:solidFill>
                <a:latin typeface="Arial"/>
              </a:rPr>
              <a:t>Project report: https://github.com/coreline-systems/AMD-AI-DevMaster-Hackathon/blob/main/docs/submission/generated/OpenAlpha-Sentinel-Project-Report.en.docx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956048"/>
            <a:ext cx="10991088" cy="969264"/>
          </a:xfrm>
          <a:prstGeom prst="rect">
            <a:avLst/>
          </a:prstGeom>
          <a:solidFill>
            <a:srgbClr val="173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202936"/>
            <a:ext cx="10479024" cy="4937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2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OpenAlpha Sentinel - Submission Slides</dc:title>
  <dc:subject>AMD AI DevMaster Hackathon Track 2</dc:subject>
  <dc:creator>Coreline Systems Limited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