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e2df1b3b5e4308" /><Relationship Type="http://schemas.openxmlformats.org/officeDocument/2006/relationships/extended-properties" Target="/docProps/app.xml" Id="R22eae42609f744f2" /><Relationship Type="http://schemas.openxmlformats.org/officeDocument/2006/relationships/officeDocument" Target="/ppt/presentation.xml" Id="R1b224346bdca46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5a025a5a764014"/>
  </p:sldMasterIdLst>
  <p:notesMasterIdLst>
    <p:notesMasterId xmlns:r="http://schemas.openxmlformats.org/officeDocument/2006/relationships" r:id="Rc015f1184f224f81"/>
  </p:notesMasterIdLst>
  <p:sldIdLst>
    <p:sldId xmlns:r="http://schemas.openxmlformats.org/officeDocument/2006/relationships" id="256" r:id="Rc6b6789fd54d4266"/>
    <p:sldId xmlns:r="http://schemas.openxmlformats.org/officeDocument/2006/relationships" id="257" r:id="R58c710c32b7b4399"/>
    <p:sldId xmlns:r="http://schemas.openxmlformats.org/officeDocument/2006/relationships" id="258" r:id="Rcf9c311232d94775"/>
    <p:sldId xmlns:r="http://schemas.openxmlformats.org/officeDocument/2006/relationships" id="259" r:id="Ra6fb1dee0d004ba8"/>
    <p:sldId xmlns:r="http://schemas.openxmlformats.org/officeDocument/2006/relationships" id="260" r:id="Rd0ba7f75e2344b5d"/>
    <p:sldId xmlns:r="http://schemas.openxmlformats.org/officeDocument/2006/relationships" id="261" r:id="R7648324e6d4f4dfd"/>
    <p:sldId xmlns:r="http://schemas.openxmlformats.org/officeDocument/2006/relationships" id="262" r:id="R86aad28d86114ee6"/>
    <p:sldId xmlns:r="http://schemas.openxmlformats.org/officeDocument/2006/relationships" id="263" r:id="R699a43dfdde646ff"/>
    <p:sldId xmlns:r="http://schemas.openxmlformats.org/officeDocument/2006/relationships" id="264" r:id="R197ee5cd1c0e46c0"/>
    <p:sldId xmlns:r="http://schemas.openxmlformats.org/officeDocument/2006/relationships" id="265" r:id="R2e063183a39144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7b794004064809" /><Relationship Type="http://schemas.openxmlformats.org/officeDocument/2006/relationships/slideMaster" Target="/ppt/slideMasters/slideMaster1.xml" Id="R835a025a5a764014" /><Relationship Type="http://schemas.openxmlformats.org/officeDocument/2006/relationships/notesMaster" Target="/ppt/notesMasters/notesMaster1.xml" Id="Rc015f1184f224f81" /><Relationship Type="http://schemas.openxmlformats.org/officeDocument/2006/relationships/presProps" Target="/ppt/presProps.xml" Id="R4e856559b61b4f80" /><Relationship Type="http://schemas.openxmlformats.org/officeDocument/2006/relationships/tableStyles" Target="/ppt/tableStyles.xml" Id="Rb9526dc220bb46a1" /><Relationship Type="http://schemas.openxmlformats.org/officeDocument/2006/relationships/slide" Target="/ppt/slides/slide1.xml" Id="Rc6b6789fd54d4266" /><Relationship Type="http://schemas.openxmlformats.org/officeDocument/2006/relationships/slide" Target="/ppt/slides/slide2.xml" Id="R58c710c32b7b4399" /><Relationship Type="http://schemas.openxmlformats.org/officeDocument/2006/relationships/slide" Target="/ppt/slides/slide3.xml" Id="Rcf9c311232d94775" /><Relationship Type="http://schemas.openxmlformats.org/officeDocument/2006/relationships/slide" Target="/ppt/slides/slide4.xml" Id="Ra6fb1dee0d004ba8" /><Relationship Type="http://schemas.openxmlformats.org/officeDocument/2006/relationships/slide" Target="/ppt/slides/slide5.xml" Id="Rd0ba7f75e2344b5d" /><Relationship Type="http://schemas.openxmlformats.org/officeDocument/2006/relationships/slide" Target="/ppt/slides/slide6.xml" Id="R7648324e6d4f4dfd" /><Relationship Type="http://schemas.openxmlformats.org/officeDocument/2006/relationships/slide" Target="/ppt/slides/slide7.xml" Id="R86aad28d86114ee6" /><Relationship Type="http://schemas.openxmlformats.org/officeDocument/2006/relationships/slide" Target="/ppt/slides/slide8.xml" Id="R699a43dfdde646ff" /><Relationship Type="http://schemas.openxmlformats.org/officeDocument/2006/relationships/slide" Target="/ppt/slides/slide9.xml" Id="R197ee5cd1c0e46c0" /><Relationship Type="http://schemas.openxmlformats.org/officeDocument/2006/relationships/slide" Target="/ppt/slides/slide10.xml" Id="R2e063183a39144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e38de3750e4b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07b558c70b4ca5" /><Relationship Type="http://schemas.openxmlformats.org/officeDocument/2006/relationships/notesMaster" Target="/ppt/notesMasters/notesMaster1.xml" Id="Rc95ccaacdcae4f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e20fc7edc049ec" /><Relationship Type="http://schemas.openxmlformats.org/officeDocument/2006/relationships/notesMaster" Target="/ppt/notesMasters/notesMaster1.xml" Id="Rce5fcb07bf8146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28f2ebb8384014" /><Relationship Type="http://schemas.openxmlformats.org/officeDocument/2006/relationships/notesMaster" Target="/ppt/notesMasters/notesMaster1.xml" Id="Rc4ed398688e34b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d932fe3afc4dd2" /><Relationship Type="http://schemas.openxmlformats.org/officeDocument/2006/relationships/notesMaster" Target="/ppt/notesMasters/notesMaster1.xml" Id="R90d4e96c6ffe44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24f5f827fb4b1c" /><Relationship Type="http://schemas.openxmlformats.org/officeDocument/2006/relationships/notesMaster" Target="/ppt/notesMasters/notesMaster1.xml" Id="R5a37c287407741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4752983b644b8c" /><Relationship Type="http://schemas.openxmlformats.org/officeDocument/2006/relationships/notesMaster" Target="/ppt/notesMasters/notesMaster1.xml" Id="Rbc31605176e143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112258e33f474d" /><Relationship Type="http://schemas.openxmlformats.org/officeDocument/2006/relationships/notesMaster" Target="/ppt/notesMasters/notesMaster1.xml" Id="R145c94dc34c54b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32ffad93554441" /><Relationship Type="http://schemas.openxmlformats.org/officeDocument/2006/relationships/notesMaster" Target="/ppt/notesMasters/notesMaster1.xml" Id="R488cb1615adb47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0b102b534f4405" /><Relationship Type="http://schemas.openxmlformats.org/officeDocument/2006/relationships/notesMaster" Target="/ppt/notesMasters/notesMaster1.xml" Id="R9f1ef570abb14c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bebacf8f2547a5" /><Relationship Type="http://schemas.openxmlformats.org/officeDocument/2006/relationships/notesMaster" Target="/ppt/notesMasters/notesMaster1.xml" Id="R58deec3975c04f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user's permission insight: useful AI needs access, but access must not become silent control.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https://github.com/AMD-DEV-CONTEST/Radeon-hackathon-2026-07/blob/main/README.md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real dual-mode UI. Local ROCm restores the loopback Qwen defaults without requiring a key; Remote model retains a separate development profile.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official video uses the Radeon project surface. Windows inspection is a separate genuine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differentiator is not another chat UI; it is an observable execution trace.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rules require at least two capabilities. PrivateOps deliberately implements all five so functionality and trust reinforce each other.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https://github.com/AMD-DEV-CONTEST/Radeon-hackathon-2026-07/blob/main/README.md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LLM is only one component. Retrieval, planning, permissions, tools, memory, audit, and evidence recording remain local and inspectable.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captured instance ran PrivateOps and vLLM together. The UI can switch to a separate Remote model profile, but only Local ROCm uses this same-instance loopback path.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https://docs.vllm.ai/en/latest/getting_started/quickstart/</a:t>
            </a:r>
          </a:p>
          <a:p xmlns:a="http://schemas.openxmlformats.org/drawingml/2006/main">
            <a:r>
              <a:t>- https://huggingface.co/Qwen/Qwen2.5-7B-Instruct</a:t>
            </a:r>
          </a:p>
          <a:p xmlns:a="http://schemas.openxmlformats.org/drawingml/2006/main">
            <a:r>
              <a:t>- https://github.com/AMD-DEV-CONTEST/Radeon-hackathon-2026-07/blob/main/Radeon-Cloud-User%20Guide/README.md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values are already captured in immutable machine evidence. No unmeasured speedup, P95, VRAM peak, or concurrency result is claimed.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https://docs.vllm.ai/en/latest/getting_started/quickstart/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Radeon evidence and public demonstration video are complete. Only the official account-bound Fork/PR remains.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differentiator and move directly into the live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3ee953282b42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56affecdf34d1c" /><Relationship Type="http://schemas.openxmlformats.org/officeDocument/2006/relationships/slideLayout" Target="/ppt/slideLayouts/slideLayout1.xml" Id="Re2460b1706b64e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460b1706b64e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0d8ca900d4c3f" /><Relationship Type="http://schemas.openxmlformats.org/officeDocument/2006/relationships/notesSlide" Target="/ppt/notesSlides/notesSlide1.xml" Id="R71312f93fa914e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cd21c183f4cb9" /><Relationship Type="http://schemas.openxmlformats.org/officeDocument/2006/relationships/image" Target="/ppt/media/image.jpeg" Id="R65a137372f684ace" /><Relationship Type="http://schemas.openxmlformats.org/officeDocument/2006/relationships/notesSlide" Target="/ppt/notesSlides/notesSlide2.xml" Id="R34fbf63e75cd48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287529c294b01" /><Relationship Type="http://schemas.openxmlformats.org/officeDocument/2006/relationships/notesSlide" Target="/ppt/notesSlides/notesSlide3.xml" Id="Rac91fee0a0074c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3b8047d7a484e" /><Relationship Type="http://schemas.openxmlformats.org/officeDocument/2006/relationships/notesSlide" Target="/ppt/notesSlides/notesSlide4.xml" Id="R39cd43c687d545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7fed1035049ad" /><Relationship Type="http://schemas.openxmlformats.org/officeDocument/2006/relationships/notesSlide" Target="/ppt/notesSlides/notesSlide5.xml" Id="Rb89bf5bf32ca45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9d36fd1f947c5" /><Relationship Type="http://schemas.openxmlformats.org/officeDocument/2006/relationships/image" Target="/ppt/media/image.png" Id="R2e47effca2a3440d" /><Relationship Type="http://schemas.openxmlformats.org/officeDocument/2006/relationships/notesSlide" Target="/ppt/notesSlides/notesSlide6.xml" Id="R20b6b9f8625f4a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b6052f2204fe6" /><Relationship Type="http://schemas.openxmlformats.org/officeDocument/2006/relationships/notesSlide" Target="/ppt/notesSlides/notesSlide7.xml" Id="R2f0f8e70493448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91213506a4e96" /><Relationship Type="http://schemas.openxmlformats.org/officeDocument/2006/relationships/notesSlide" Target="/ppt/notesSlides/notesSlide8.xml" Id="Rb1ea582622fe4b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75756c59341bc" /><Relationship Type="http://schemas.openxmlformats.org/officeDocument/2006/relationships/notesSlide" Target="/ppt/notesSlides/notesSlide9.xml" Id="R069fb96277af4a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2e43bd6e34719" /><Relationship Type="http://schemas.openxmlformats.org/officeDocument/2006/relationships/notesSlide" Target="/ppt/notesSlides/notesSlide10.xml" Id="Rd543b435d59d42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F92AB4-2DB8-46A8-8C84-D7CC1647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762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13D"/>
          </a:solidFill>
          <a:ln xmlns:a="http://schemas.openxmlformats.org/drawingml/2006/main" w="9525">
            <a:solidFill>
              <a:srgbClr val="1621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3E9BE-A125-44D9-86D9-5230BBB9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2533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CC2FF"/>
                </a:solidFill>
              </a:defRPr>
            </a:pPr>
            <a:r>
              <a:rPr sz="825" b="1">
                <a:solidFill>
                  <a:srgbClr val="9CC2FF"/>
                </a:solidFill>
              </a:rPr>
              <a:t>AMD AI DEVMASTER 2026 • TRACK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5BED3-1291-4CD0-A684-8DAFDCBD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Permission before 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13710-E467-4854-93BB-81068C39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9CC2FF"/>
                </a:solidFill>
              </a:defRPr>
            </a:pPr>
            <a:r>
              <a:rPr sz="2250" b="1">
                <a:solidFill>
                  <a:srgbClr val="9CC2FF"/>
                </a:solidFill>
              </a:rPr>
              <a:t>PrivateOps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B6288-7442-49B2-92AC-5C357EFB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AD5E7"/>
                </a:solidFill>
              </a:defRPr>
            </a:pPr>
            <a:r>
              <a:rPr sz="1650" b="0">
                <a:solidFill>
                  <a:srgbClr val="CAD5E7"/>
                </a:solidFill>
              </a:rPr>
              <a:t>A private computer AI with broad supported visibility, deliberate action, exact confirmation, and evidence for every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0BBF5-809E-4321-836A-9074A0A3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A853A5-DF99-424D-AE76-BD3974C6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959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LangChain 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60EFA2-6D00-47BD-B070-6138194C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219700"/>
            <a:ext cx="876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A2924-797F-463B-B7BC-8986F522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29590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vLLM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D17C04-8CC2-48F0-AE92-9E7B2358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21970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1D18"/>
          </a:solidFill>
          <a:ln xmlns:a="http://schemas.openxmlformats.org/drawingml/2006/main" w="9525">
            <a:solidFill>
              <a:srgbClr val="2A1D1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7C735B-2DFA-42B7-8DEC-318F0800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959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B277"/>
                </a:solidFill>
              </a:defRPr>
            </a:pPr>
            <a:r>
              <a:rPr sz="825" b="1">
                <a:solidFill>
                  <a:srgbClr val="FFB277"/>
                </a:solidFill>
              </a:rPr>
              <a:t>ROCm + Radeon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9F06C8-EC92-4891-A406-1CCC53E0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391A8"/>
                </a:solidFill>
              </a:defRPr>
            </a:pPr>
            <a:r>
              <a:rPr sz="825" b="1">
                <a:solidFill>
                  <a:srgbClr val="8391A8"/>
                </a:solidFill>
              </a:rPr>
              <a:t>BROAD VISIBILITY. DELIBERATE ACTION. EVIDENCE FOR EVERY DECISION.</a:t>
            </a:r>
          </a:p>
        </p:txBody>
      </p:sp>
    </p:spTree>
    <p:extLst>
      <p:ext uri="{BB962C8B-B14F-4D97-AF65-F5344CB8AC3E}">
        <p14:creationId xmlns:p14="http://schemas.microsoft.com/office/powerpoint/2010/main" val="4248726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B77B0C-77A3-4FEC-91DF-90D8AA4E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THE PERMISSION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327CD-8A00-4642-8FC8-7EFCDE3C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020"/>
                </a:solidFill>
              </a:defRPr>
            </a:pPr>
            <a:r>
              <a:rPr sz="2550" b="1">
                <a:solidFill>
                  <a:srgbClr val="0B1020"/>
                </a:solidFill>
              </a:rPr>
              <a:t>Giving AI access must not mean giving up control.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8D35A-CA78-421B-9996-6B34A9B5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1339D-6900-4961-8F59-5E908D85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257A0-AB63-45D8-AD22-788A15B0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B1020"/>
                </a:solidFill>
              </a:defRPr>
            </a:pPr>
            <a:r>
              <a:rPr sz="1725" b="0">
                <a:solidFill>
                  <a:srgbClr val="0B1020"/>
                </a:solidFill>
              </a:rPr>
              <a:t>If AI is going to take work away from people, it needs permission. PrivateOps makes that permission bounded, visible, and reviewable before 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B9A2A-E330-4B56-9BE4-3A69C4E5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40957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BA3C3-E125-4CF8-96D2-000BFEFD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020"/>
                </a:solidFill>
              </a:defRPr>
            </a:pPr>
            <a:r>
              <a:rPr sz="1350" b="1">
                <a:solidFill>
                  <a:srgbClr val="0B1020"/>
                </a:solidFill>
              </a:rPr>
              <a:t>See broadly. Act deliberately.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85B02B-CE2A-4227-97AE-AFD4612E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Read-only by default • exact confirmation • blocked exfiltration • local audit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B259B8-FDAA-4D08-8787-6355745D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64960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137372f684ace"/>
          <a:stretch xmlns:a="http://schemas.openxmlformats.org/drawingml/2006/main"/>
        </p:blipFill>
        <p:spPr>
          <a:xfrm xmlns:a="http://schemas.openxmlformats.org/drawingml/2006/main">
            <a:off x="5238750" y="1907096"/>
            <a:ext cx="6191250" cy="3481959"/>
          </a:xfrm>
          <a:prstGeom xmlns:a="http://schemas.openxmlformats.org/drawingml/2006/main" prst="roundRect">
            <a:avLst>
              <a:gd name="adj" fmla="val 2116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AA2979-C724-427D-88D4-DEDEA19A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PRIVATEOPS AGENT  /  TRACK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BAE55F-98DC-4306-85A6-E2383B37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38900"/>
            <a:ext cx="3486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PERMISSION-FIRST • LOCAL • AUDITABLE</a:t>
            </a:r>
          </a:p>
        </p:txBody>
      </p:sp>
    </p:spTree>
    <p:extLst>
      <p:ext uri="{BB962C8B-B14F-4D97-AF65-F5344CB8AC3E}">
        <p14:creationId xmlns:p14="http://schemas.microsoft.com/office/powerpoint/2010/main" val="17143103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E24A23-CC90-429C-9B30-7D37A2A3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FOCUSED SCENARIO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F1699-98C9-46E3-8F07-A597AEBE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020"/>
                </a:solidFill>
              </a:defRPr>
            </a:pPr>
            <a:r>
              <a:rPr sz="2550" b="1">
                <a:solidFill>
                  <a:srgbClr val="0B1020"/>
                </a:solidFill>
              </a:rPr>
              <a:t>One permission kernel, two truthful observation surfaces.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54EC6-D266-4A21-AA43-1141C247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8F5D4-BEA7-40C0-8570-81F2F63F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249A7F-11EF-4E1A-B7B6-FFB194DA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33718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55752-D575-4259-97D1-C24F76F1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ED41EF-A108-4C3B-AFF7-778E34E5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020"/>
                </a:solidFill>
              </a:defRPr>
            </a:pPr>
            <a:r>
              <a:rPr sz="1875" b="1">
                <a:solidFill>
                  <a:srgbClr val="0B1020"/>
                </a:solidFill>
              </a:rPr>
              <a:t>Windows computer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4634B-30FB-43BA-B9A3-3E5C4EAE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29146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Seven fixed read-only collectors inspect startup, processes, services, tasks, ports, hardware, and security.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C00AA2-2A5D-4D5C-A3BE-0FB1B5B2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47850"/>
            <a:ext cx="33718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E7CF9-5689-45A4-B0E2-1DEF4711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955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6C8B13-8CA6-47F8-B4A9-C442FE17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289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020"/>
                </a:solidFill>
              </a:defRPr>
            </a:pPr>
            <a:r>
              <a:rPr sz="1875" b="1">
                <a:solidFill>
                  <a:srgbClr val="0B1020"/>
                </a:solidFill>
              </a:rPr>
              <a:t>Radeon project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F2A17E-6761-4E71-8F07-8C56FEEC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29000"/>
            <a:ext cx="29146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Same-instance tools inspect private knowledge, files, tests, submission readiness, GPU, and ROCm state.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5FB095-E2D3-4902-90AC-09B3EA20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47850"/>
            <a:ext cx="33718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64BCD5-CEB0-436F-8B6A-0786DD94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D7D31"/>
                </a:solidFill>
              </a:defRPr>
            </a:pPr>
            <a:r>
              <a:rPr sz="1125" b="1">
                <a:solidFill>
                  <a:srgbClr val="ED7D31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6806C3-FE4E-44AF-A9C4-423344AA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289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020"/>
                </a:solidFill>
              </a:defRPr>
            </a:pPr>
            <a:r>
              <a:rPr sz="1875" b="1">
                <a:solidFill>
                  <a:srgbClr val="0B1020"/>
                </a:solidFill>
              </a:rPr>
              <a:t>Permission proof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56301B-464A-40C7-AA38-0A11E58F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29000"/>
            <a:ext cx="29146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Return evidence, plan, tool results, memory, confirmation state, and a redacted audit export.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DA4285-E30D-44A0-A427-745847CA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19750"/>
            <a:ext cx="8001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7A89B4-E359-4333-AE2D-9C677FE4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695950"/>
            <a:ext cx="7772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Whole-computer permission means broad supported observation—not arbitrary admin access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335C9E-C534-42AE-A4B4-4E720877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PRIVATEOPS AGENT  /  TRACK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CBF032-292A-4E3B-89B6-6915464D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38900"/>
            <a:ext cx="3486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PERMISSION-FIRST • LOCAL • AUDITABLE</a:t>
            </a:r>
          </a:p>
        </p:txBody>
      </p:sp>
    </p:spTree>
    <p:extLst>
      <p:ext uri="{BB962C8B-B14F-4D97-AF65-F5344CB8AC3E}">
        <p14:creationId xmlns:p14="http://schemas.microsoft.com/office/powerpoint/2010/main" val="16767570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6F2887-BB1C-4C9B-B007-6095E218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AGENT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7E65A-F253-4242-8CDD-02F54EAA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020"/>
                </a:solidFill>
              </a:defRPr>
            </a:pPr>
            <a:r>
              <a:rPr sz="2550" b="1">
                <a:solidFill>
                  <a:srgbClr val="0B1020"/>
                </a:solidFill>
              </a:rPr>
              <a:t>One request becomes an inspectable execution trace.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E952E-8525-48A1-995F-B4EC73D3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92B9E-A8CF-4F5E-B6D1-38D53002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056D5-EDFF-434E-B4D3-24C62A3C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1EFD8-DC0B-4B66-822A-58960265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438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083168-7496-4C3A-B49C-B1E69549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C79CB-ED56-4A84-B887-AEF4E1D4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020"/>
                </a:solidFill>
              </a:defRPr>
            </a:pPr>
            <a:r>
              <a:rPr sz="1875" b="1">
                <a:solidFill>
                  <a:srgbClr val="0B1020"/>
                </a:solidFill>
              </a:rPr>
              <a:t>Observe + retrieve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F75F5C-FCF0-4375-9C08-3AA87292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285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Fixed tools and 14 bilingual RAG sources return bounded evidence with stable IDs.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13EE3C-CF70-4DA9-B068-8AFE0EAD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1432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D06F48-F45C-447E-8964-1E795F83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00250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7CDF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E51E93-9506-4818-BAAC-B6175999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47900"/>
            <a:ext cx="438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AED1F5-4417-4773-82BD-51E7CD8F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2410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BB62D4-EE03-48F6-94E5-AC397B4A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384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020"/>
                </a:solidFill>
              </a:defRPr>
            </a:pPr>
            <a:r>
              <a:rPr sz="1875" b="1">
                <a:solidFill>
                  <a:srgbClr val="0B1020"/>
                </a:solidFill>
              </a:rPr>
              <a:t>Plan + guard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4E4571-82FD-4F43-B6C3-D211A4F5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29000"/>
            <a:ext cx="285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Every request is classified safe, exact-confirmation, or blocked before tool execution.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7422A5-1F70-4E5F-84B6-F8DF35C1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1432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4E9FF2-CD14-4FB5-9752-C1038952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00250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5EF92B-43EF-41FA-A785-8C29FE15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47900"/>
            <a:ext cx="438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F1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512CD6-7740-4017-994C-CA387A52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2410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D7D31"/>
                </a:solidFill>
              </a:defRPr>
            </a:pPr>
            <a:r>
              <a:rPr sz="825" b="1">
                <a:solidFill>
                  <a:srgbClr val="ED7D31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C513BB-26A4-4324-BEEE-1355CD34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384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020"/>
                </a:solidFill>
              </a:defRPr>
            </a:pPr>
            <a:r>
              <a:rPr sz="1875" b="1">
                <a:solidFill>
                  <a:srgbClr val="0B1020"/>
                </a:solidFill>
              </a:rPr>
              <a:t>Synthesize + audit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6BF1ED-6E64-4A9F-9459-C42C579A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29000"/>
            <a:ext cx="285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The local Radeon model explains observed results; memory and audit remain inspectable.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900401-CF1B-48E9-A05D-B3401B4E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95900"/>
            <a:ext cx="7239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01A31"/>
          </a:solidFill>
          <a:ln xmlns:a="http://schemas.openxmlformats.org/drawingml/2006/main" w="9525">
            <a:solidFill>
              <a:srgbClr val="101A3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59BDD5-979E-44EE-9457-7273582D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467350"/>
            <a:ext cx="655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REQUEST  →  EVIDENCE  →  PLAN  →  PERMISSION  →  TOOL  →  AUDIT 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431A4E-C272-432D-B028-957795A2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PRIVATEOPS AGENT  /  TRACK 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8F90BA-0451-4A97-8F11-C31B4793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38900"/>
            <a:ext cx="3486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PERMISSION-FIRST • LOCAL • AUDITABLE</a:t>
            </a:r>
          </a:p>
        </p:txBody>
      </p:sp>
    </p:spTree>
    <p:extLst>
      <p:ext uri="{BB962C8B-B14F-4D97-AF65-F5344CB8AC3E}">
        <p14:creationId xmlns:p14="http://schemas.microsoft.com/office/powerpoint/2010/main" val="17760534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26C36F-D331-401D-9C15-8015B2BB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TRACK 2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BE854-7ACC-4ACE-8801-7EFF9C7D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020"/>
                </a:solidFill>
              </a:defRPr>
            </a:pPr>
            <a:r>
              <a:rPr sz="2550" b="1">
                <a:solidFill>
                  <a:srgbClr val="0B1020"/>
                </a:solidFill>
              </a:rPr>
              <a:t>All five minimum-capability categories are implemented.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FACB77-F3E9-47A8-8A24-C3FDC1AC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E5E45-1032-4659-BEB9-B5C48E40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859D1-4ABA-47A5-9C74-D5A29BAC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3718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A58C8D-D493-4BD3-A591-2D4B9936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8EF"/>
          </a:solidFill>
          <a:ln xmlns:a="http://schemas.openxmlformats.org/drawingml/2006/main" w="9525">
            <a:solidFill>
              <a:srgbClr val="E9F8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54A1C9-26D8-4D7C-BD43-83D5B60C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5803D"/>
                </a:solidFill>
              </a:defRPr>
            </a:pPr>
            <a:r>
              <a:rPr sz="825" b="1">
                <a:solidFill>
                  <a:srgbClr val="15803D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26628B-D74F-4D4E-B87B-9C886062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383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020"/>
                </a:solidFill>
              </a:defRPr>
            </a:pPr>
            <a:r>
              <a:rPr sz="1500" b="1">
                <a:solidFill>
                  <a:srgbClr val="0B1020"/>
                </a:solidFill>
              </a:rPr>
              <a:t>Local RAG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457B92-4381-4E1A-9954-618F9554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14 bilingual sources + stable IDs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D8DB3C-38FB-4E9C-ADAE-1A93D8D8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33718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9E4133-E640-46EE-9503-4FEE580A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8EF"/>
          </a:solidFill>
          <a:ln xmlns:a="http://schemas.openxmlformats.org/drawingml/2006/main" w="9525">
            <a:solidFill>
              <a:srgbClr val="E9F8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40EA6F-55DF-4387-9736-3634E476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764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5803D"/>
                </a:solidFill>
              </a:defRPr>
            </a:pPr>
            <a:r>
              <a:rPr sz="825" b="1">
                <a:solidFill>
                  <a:srgbClr val="15803D"/>
                </a:solidFill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D43283-DE12-4DF5-BBC2-462D0D69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383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020"/>
                </a:solidFill>
              </a:defRPr>
            </a:pPr>
            <a:r>
              <a:rPr sz="1500" b="1">
                <a:solidFill>
                  <a:srgbClr val="0B1020"/>
                </a:solidFill>
              </a:rPr>
              <a:t>Tool calling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DC3626-297F-432F-BDEC-C0771A21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860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Project + Windows StructuredTool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D8FBCD-579A-4F2C-A1CD-B724FE06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09750"/>
            <a:ext cx="33718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7DAB55-BD06-461A-BBFB-570A3ECF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0025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8EF"/>
          </a:solidFill>
          <a:ln xmlns:a="http://schemas.openxmlformats.org/drawingml/2006/main" w="9525">
            <a:solidFill>
              <a:srgbClr val="E9F8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6C8A86-F23F-4D92-89F9-439C7A60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764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5803D"/>
                </a:solidFill>
              </a:defRPr>
            </a:pPr>
            <a:r>
              <a:rPr sz="825" b="1">
                <a:solidFill>
                  <a:srgbClr val="15803D"/>
                </a:solidFill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FD96D3-F805-47FB-8799-779B3576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383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020"/>
                </a:solidFill>
              </a:defRPr>
            </a:pPr>
            <a:r>
              <a:rPr sz="1500" b="1">
                <a:solidFill>
                  <a:srgbClr val="0B1020"/>
                </a:solidFill>
              </a:rPr>
              <a:t>Multi-step planning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CAB31C-13F6-4F19-B400-0B622FF9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860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Visible retrieve / inspect / synthesize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C265A9-A01F-4C64-B87D-AB602633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867150"/>
            <a:ext cx="52197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00C18F-8FEC-4E11-884E-552FB79A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05765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8EF"/>
          </a:solidFill>
          <a:ln xmlns:a="http://schemas.openxmlformats.org/drawingml/2006/main" w="9525">
            <a:solidFill>
              <a:srgbClr val="E9F8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27F28A-FD47-442C-9178-6A9C692D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1338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5803D"/>
                </a:solidFill>
              </a:defRPr>
            </a:pPr>
            <a:r>
              <a:rPr sz="825" b="1">
                <a:solidFill>
                  <a:srgbClr val="15803D"/>
                </a:solidFill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CA923B-B4D5-45DA-981E-8BCB8F18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0957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020"/>
                </a:solidFill>
              </a:defRPr>
            </a:pPr>
            <a:r>
              <a:rPr sz="1500" b="1">
                <a:solidFill>
                  <a:srgbClr val="0B1020"/>
                </a:solidFill>
              </a:rPr>
              <a:t>Local memory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4DF5BE-67B7-47C6-BB11-11E91071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743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Atomic JSON persistence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4ECEA3-7380-4C56-8410-0989044C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867150"/>
            <a:ext cx="52197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50229B-6C9A-458B-87B6-3A4135FF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05765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8EF"/>
          </a:solidFill>
          <a:ln xmlns:a="http://schemas.openxmlformats.org/drawingml/2006/main" w="9525">
            <a:solidFill>
              <a:srgbClr val="E9F8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54ACC8-5C1F-4DD9-BBAF-2D6AF786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1338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5803D"/>
                </a:solidFill>
              </a:defRPr>
            </a:pPr>
            <a:r>
              <a:rPr sz="825" b="1">
                <a:solidFill>
                  <a:srgbClr val="15803D"/>
                </a:solidFill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5576A0-4ED9-4773-A6DE-EE39A596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0957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020"/>
                </a:solidFill>
              </a:defRPr>
            </a:pPr>
            <a:r>
              <a:rPr sz="1500" b="1">
                <a:solidFill>
                  <a:srgbClr val="0B1020"/>
                </a:solidFill>
              </a:rPr>
              <a:t>Permission + privacy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BEB674-5C8D-4B7C-8C1A-357C6E67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743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Path confinement, tokens, redaction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B11689-52FC-4DCE-BDC6-6845082A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PRIVATEOPS AGENT  /  TRACK 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02193E-89A4-4ED7-85E2-C53643B5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38900"/>
            <a:ext cx="3486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PERMISSION-FIRST • LOCAL • AUDITABLE</a:t>
            </a:r>
          </a:p>
        </p:txBody>
      </p:sp>
    </p:spTree>
    <p:extLst>
      <p:ext uri="{BB962C8B-B14F-4D97-AF65-F5344CB8AC3E}">
        <p14:creationId xmlns:p14="http://schemas.microsoft.com/office/powerpoint/2010/main" val="6413056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285357-DC89-44B3-91C5-311E7C1D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92868-F75C-40F1-B574-9E38EAFD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020"/>
                </a:solidFill>
              </a:defRPr>
            </a:pPr>
            <a:r>
              <a:rPr sz="2550" b="1">
                <a:solidFill>
                  <a:srgbClr val="0B1020"/>
                </a:solidFill>
              </a:rPr>
              <a:t>The model proposes; the local control plane decides and records.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CE4C27-9A5D-4CDC-905D-B8E9D328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F5C69-CF04-4369-A185-F2E127DE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A4261-D193-410A-A3EA-0D23D5A1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7658100" cy="41719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47effca2a3440d"/>
          <a:stretch xmlns:a="http://schemas.openxmlformats.org/drawingml/2006/main"/>
        </p:blipFill>
        <p:spPr>
          <a:xfrm xmlns:a="http://schemas.openxmlformats.org/drawingml/2006/main">
            <a:off x="1251260" y="1905000"/>
            <a:ext cx="6374780" cy="37338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2C476A-27E6-43D6-8BE1-44CED9D1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95450"/>
            <a:ext cx="3009900" cy="417195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101A31"/>
          </a:solidFill>
          <a:ln xmlns:a="http://schemas.openxmlformats.org/drawingml/2006/main" w="9525">
            <a:solidFill>
              <a:srgbClr val="101A3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7CB5C-01D4-4E72-B851-FBAEE491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002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Non-negotiable boundaries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E1E32-ED7A-42BF-BA6F-F31021B0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19400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1D18"/>
          </a:solidFill>
          <a:ln xmlns:a="http://schemas.openxmlformats.org/drawingml/2006/main" w="9525">
            <a:solidFill>
              <a:srgbClr val="2A1D1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E7D765-A1CE-4588-99F8-68341042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956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B277"/>
                </a:solidFill>
              </a:defRPr>
            </a:pPr>
            <a:r>
              <a:rPr sz="825" b="1">
                <a:solidFill>
                  <a:srgbClr val="FFB277"/>
                </a:solidFill>
              </a:rPr>
              <a:t>LOOPBACK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24A96-E300-47F7-937F-1CCF556F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38450"/>
            <a:ext cx="137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5DEED"/>
                </a:solidFill>
              </a:defRPr>
            </a:pPr>
            <a:r>
              <a:rPr sz="975" b="0">
                <a:solidFill>
                  <a:srgbClr val="D5DEED"/>
                </a:solidFill>
              </a:rPr>
              <a:t>Core inference never needs a remote API.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E4BEED-97F4-4777-B33E-AA02A4F6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05200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13D"/>
          </a:solidFill>
          <a:ln xmlns:a="http://schemas.openxmlformats.org/drawingml/2006/main" w="9525">
            <a:solidFill>
              <a:srgbClr val="1621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2DC929-F938-407A-B003-B1FEFA0D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814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CC2FF"/>
                </a:solidFill>
              </a:defRPr>
            </a:pPr>
            <a:r>
              <a:rPr sz="825" b="1">
                <a:solidFill>
                  <a:srgbClr val="9CC2FF"/>
                </a:solidFill>
              </a:rPr>
              <a:t>WORKSPACE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5515FE-3D24-4948-8B33-C461A11E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524250"/>
            <a:ext cx="137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5DEED"/>
                </a:solidFill>
              </a:defRPr>
            </a:pPr>
            <a:r>
              <a:rPr sz="975" b="0">
                <a:solidFill>
                  <a:srgbClr val="D5DEED"/>
                </a:solidFill>
              </a:rPr>
              <a:t>Tools resolve paths inside one configured root.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EDEA16-175D-411A-A3D7-763E6FA3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91000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13D"/>
          </a:solidFill>
          <a:ln xmlns:a="http://schemas.openxmlformats.org/drawingml/2006/main" w="9525">
            <a:solidFill>
              <a:srgbClr val="1621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D22254-3CB2-4230-A0B5-4D649BDE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672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CC2FF"/>
                </a:solidFill>
              </a:defRPr>
            </a:pPr>
            <a:r>
              <a:rPr sz="825" b="1">
                <a:solidFill>
                  <a:srgbClr val="9CC2FF"/>
                </a:solidFill>
              </a:rPr>
              <a:t>NO FALLBACK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3B11BC-97C8-45ED-AD1F-D080CE4D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210050"/>
            <a:ext cx="137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5DEED"/>
                </a:solidFill>
              </a:defRPr>
            </a:pPr>
            <a:r>
              <a:rPr sz="975" b="0">
                <a:solidFill>
                  <a:srgbClr val="D5DEED"/>
                </a:solidFill>
              </a:rPr>
              <a:t>ROCm mode fails visibly if local inference fails.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13F58E-986F-432D-9E69-E8E78D48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876800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13D"/>
          </a:solidFill>
          <a:ln xmlns:a="http://schemas.openxmlformats.org/drawingml/2006/main" w="9525">
            <a:solidFill>
              <a:srgbClr val="1621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9783CD-3535-4771-806F-58FC348B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530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CC2FF"/>
                </a:solidFill>
              </a:defRPr>
            </a:pPr>
            <a:r>
              <a:rPr sz="825" b="1">
                <a:solidFill>
                  <a:srgbClr val="9CC2FF"/>
                </a:solidFill>
              </a:rPr>
              <a:t>REDACTION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508BF8-7FA5-48F0-98C4-0555F40B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895850"/>
            <a:ext cx="137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D5DEED"/>
                </a:solidFill>
              </a:defRPr>
            </a:pPr>
            <a:r>
              <a:rPr sz="975" b="0">
                <a:solidFill>
                  <a:srgbClr val="D5DEED"/>
                </a:solidFill>
              </a:rPr>
              <a:t>Secrets are removed from audit exports.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E6A2F9-4C7F-40C9-86DC-03DF60EA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PRIVATEOPS AGENT  /  TRACK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790AF9-4C1D-49D4-8AF4-F916C3E8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38900"/>
            <a:ext cx="3486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PERMISSION-FIRST • LOCAL • AUDITABLE</a:t>
            </a:r>
          </a:p>
        </p:txBody>
      </p:sp>
    </p:spTree>
    <p:extLst>
      <p:ext uri="{BB962C8B-B14F-4D97-AF65-F5344CB8AC3E}">
        <p14:creationId xmlns:p14="http://schemas.microsoft.com/office/powerpoint/2010/main" val="10856978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BD4852-2513-4E73-9C8B-280A2464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RADEON DEPLOYMENT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79707-4152-493D-8B52-76E43AB4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020"/>
                </a:solidFill>
              </a:defRPr>
            </a:pPr>
            <a:r>
              <a:rPr sz="2550" b="1">
                <a:solidFill>
                  <a:srgbClr val="0B1020"/>
                </a:solidFill>
              </a:rPr>
              <a:t>Local ROCm keeps PrivateOps and vLLM on one loopback boundary.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714503-9EA1-4081-8A14-E12581AE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FFDC9E-4194-4FE0-BCE4-5EBAF1C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4B504-76C5-4E5E-B5BA-D9F7BF97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4003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71BC15-F001-4746-B697-7C8FCEDA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F1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343DD9-9A73-4388-983E-0F4B4423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D7D31"/>
                </a:solidFill>
              </a:defRPr>
            </a:pPr>
            <a:r>
              <a:rPr sz="825" b="1">
                <a:solidFill>
                  <a:srgbClr val="ED7D31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077DD-D8BE-433E-AA82-4BA95A74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020"/>
                </a:solidFill>
              </a:defRPr>
            </a:pPr>
            <a:r>
              <a:rPr sz="1575" b="1">
                <a:solidFill>
                  <a:srgbClr val="0B1020"/>
                </a:solidFill>
              </a:rPr>
              <a:t>Radeon GPU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C750B-E046-448F-B5C7-01ECD30B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ROCm image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B9543E-537B-4A54-B926-4BEF8726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718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DBFEA8-B207-49E7-AB32-F66CD0FE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66950"/>
            <a:ext cx="24003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98F1A8-4599-46E7-9AFB-9D251802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384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826664-A431-4B68-A3AE-9653B9AA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146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64E000-2075-4F3A-A9F1-0FFD9670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9085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020"/>
                </a:solidFill>
              </a:defRPr>
            </a:pPr>
            <a:r>
              <a:rPr sz="1575" b="1">
                <a:solidFill>
                  <a:srgbClr val="0B1020"/>
                </a:solidFill>
              </a:rPr>
              <a:t>vLLM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E97342-09D0-4FDD-B955-50CBB6A5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4805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OpenAI-compatible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B568E1-2D47-49DB-AFCF-6AE085DA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718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F2B17E-DF7C-41F3-8F29-6E52E891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66950"/>
            <a:ext cx="24003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177430-8154-414A-89F9-FA63C298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384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48E41A-B7E9-41B2-BD48-047C7334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563EB"/>
                </a:solidFill>
              </a:defRPr>
            </a:pPr>
            <a:r>
              <a:rPr sz="825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18ADFD-7678-4669-9911-EB635864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9085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020"/>
                </a:solidFill>
              </a:defRPr>
            </a:pPr>
            <a:r>
              <a:rPr sz="1575" b="1">
                <a:solidFill>
                  <a:srgbClr val="0B1020"/>
                </a:solidFill>
              </a:rPr>
              <a:t>Qwen2.5 7B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086C13-1B43-4824-B885-14144B9F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4805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8,192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85590E-A412-4576-91B8-049DAFA2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718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B20BC0-B5C1-453E-8DE3-F399E39B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66950"/>
            <a:ext cx="24003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519B5B-9C51-4CFD-87AF-88E7DDB1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38400"/>
            <a:ext cx="400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506500-43C7-4B69-B1E9-97512EA3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146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5803D"/>
                </a:solidFill>
              </a:defRPr>
            </a:pPr>
            <a:r>
              <a:rPr sz="825" b="1">
                <a:solidFill>
                  <a:srgbClr val="15803D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B426A6-ED67-401C-A1AA-6CD9F449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9085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020"/>
                </a:solidFill>
              </a:defRPr>
            </a:pPr>
            <a:r>
              <a:rPr sz="1575" b="1">
                <a:solidFill>
                  <a:srgbClr val="0B1020"/>
                </a:solidFill>
              </a:rPr>
              <a:t>PrivateOps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B206D7-7C9A-4957-8A80-E06B3D9B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4805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127.0.0.1 only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2BDE29-FE79-4B1A-BC51-C59DC5C3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14850"/>
            <a:ext cx="90297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7CDF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53431B-053A-46B1-B599-B6380C13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7244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Verified capture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2BF41B-8706-48E1-BAD9-C72AF866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086350"/>
            <a:ext cx="842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020"/>
                </a:solidFill>
              </a:defRPr>
            </a:pPr>
            <a:r>
              <a:rPr sz="1425" b="1">
                <a:solidFill>
                  <a:srgbClr val="0B1020"/>
                </a:solidFill>
              </a:rPr>
              <a:t>gfx1100  •  ROCm 7.2.1  •  Qwen2.5-7B  •  127.0.0.1 only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1DBCE1-697B-47CC-B26F-2C008AC7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PRIVATEOPS AGENT  /  TRACK 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2860F2-88E5-49D1-AC2D-5CE08C0B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38900"/>
            <a:ext cx="3486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PERMISSION-FIRST • LOCAL • AUDITABLE</a:t>
            </a:r>
          </a:p>
        </p:txBody>
      </p:sp>
    </p:spTree>
    <p:extLst>
      <p:ext uri="{BB962C8B-B14F-4D97-AF65-F5344CB8AC3E}">
        <p14:creationId xmlns:p14="http://schemas.microsoft.com/office/powerpoint/2010/main" val="15881985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4F4888-7433-415D-BABA-10239CF2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OPTIMIZATION +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7062F-7CEA-41A9-B7EF-9A4D30F1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020"/>
                </a:solidFill>
              </a:defRPr>
            </a:pPr>
            <a:r>
              <a:rPr sz="2550" b="1">
                <a:solidFill>
                  <a:srgbClr val="0B1020"/>
                </a:solidFill>
              </a:rPr>
              <a:t>Performance claims are measured on Radeon—not typed into the deck.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CCC53-2C00-49E4-AACD-31CFAE7E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88388F-BBDA-4918-BB40-E8F156F7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E74BF-AA70-4311-BA4D-470560AF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TECHNIQUE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5D3F3-0D08-4094-A111-D21D242E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SETTING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5AD84-203B-4B2E-B4F5-64403A54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526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WHY IT MATTERS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CEF4D9-6EC2-4051-B14A-CDE05DA1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9728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5E31E1-EBCB-4F23-9D19-2BBECC82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020"/>
                </a:solidFill>
              </a:defRPr>
            </a:pPr>
            <a:r>
              <a:rPr sz="1275" b="1">
                <a:solidFill>
                  <a:srgbClr val="0B1020"/>
                </a:solidFill>
              </a:rPr>
              <a:t>Direct latency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D22C1A-9247-4133-80BA-CA3D245C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479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1,511.072 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000F97-CA3A-4B33-941A-FB6D4504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9075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Measured through the same-instance loopback model endpoint.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58EF31-E507-4FA1-8D76-39406C15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1BF552-4520-44F1-8BD9-6DF862A0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020"/>
                </a:solidFill>
              </a:defRPr>
            </a:pPr>
            <a:r>
              <a:rPr sz="1275" b="1">
                <a:solidFill>
                  <a:srgbClr val="0B1020"/>
                </a:solidFill>
              </a:rPr>
              <a:t>Throughput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D17A90-C9B9-4F3A-BD60-D969ECBE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242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D7D31"/>
                </a:solidFill>
              </a:defRPr>
            </a:pPr>
            <a:r>
              <a:rPr sz="1200" b="1">
                <a:solidFill>
                  <a:srgbClr val="ED7D31"/>
                </a:solidFill>
              </a:rPr>
              <a:t>32.427 tokens/s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771DC2-64BF-4A73-916E-286AEFAF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6705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Measured from 49 completion tokens; not manually entered.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FFB3BE-BE53-4E99-B9C4-9DC444CC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728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1BD277-D395-42B0-AAFE-21616B65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020"/>
                </a:solidFill>
              </a:defRPr>
            </a:pPr>
            <a:r>
              <a:rPr sz="1275" b="1">
                <a:solidFill>
                  <a:srgbClr val="0B1020"/>
                </a:solidFill>
              </a:rPr>
              <a:t>Complete 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CA00EF-85B8-45FE-A4C0-6340C063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005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18,384.639 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A429C7-5A9B-4CD7-A840-65A20F21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4335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Includes RAG, plan, tool, generation, audit, and response assembly.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B03981-B0FF-4163-92A4-4318447F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9728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0938F4-7980-4DE6-A89B-56ED50D6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020"/>
                </a:solidFill>
              </a:defRPr>
            </a:pPr>
            <a:r>
              <a:rPr sz="1275" b="1">
                <a:solidFill>
                  <a:srgbClr val="0B1020"/>
                </a:solidFill>
              </a:rPr>
              <a:t>Context optimization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620CB9-BDDA-48EC-B1D3-87A7EA13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8768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8,192 / 0.85 / 25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E979CC-59B4-4F17-989C-966520FB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1965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Bounds context, preserves memory headroom, and removes environment noise.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4AAB75-3C70-46AA-B979-BF28E53F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PRIVATEOPS AGENT  /  TRACK 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E04108-5B93-4075-8653-AD7E289B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38900"/>
            <a:ext cx="3486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PERMISSION-FIRST • LOCAL • AUDITABLE</a:t>
            </a:r>
          </a:p>
        </p:txBody>
      </p:sp>
    </p:spTree>
    <p:extLst>
      <p:ext uri="{BB962C8B-B14F-4D97-AF65-F5344CB8AC3E}">
        <p14:creationId xmlns:p14="http://schemas.microsoft.com/office/powerpoint/2010/main" val="8349353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8FBAFD-BB79-4707-A7F1-5041895C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REVIEWER-READY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0395D-D0AA-47E7-82F8-41C3AC62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020"/>
                </a:solidFill>
              </a:defRPr>
            </a:pPr>
            <a:r>
              <a:rPr sz="2550" b="1">
                <a:solidFill>
                  <a:srgbClr val="0B1020"/>
                </a:solidFill>
              </a:rPr>
              <a:t>The submission package is engineered to be checked, not trusted blindly.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BD7A5B-3661-4EA1-81D1-D60A979D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E2FE8-F6D9-427A-A5CF-234B3A56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F26AC-9997-4900-A861-6C29D0B2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33718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7D97F-7FDF-4E0A-B6B0-80CA88E6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2914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563EB"/>
                </a:solidFill>
              </a:defRPr>
            </a:pPr>
            <a:r>
              <a:rPr sz="3600" b="1">
                <a:solidFill>
                  <a:srgbClr val="2563EB"/>
                </a:solidFill>
              </a:rPr>
              <a:t>5 /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26207-E9BA-4A67-A716-8F1F7022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Track capability categories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84B97-F0E6-4694-8F12-1FABB29D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85950"/>
            <a:ext cx="33718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0A99AD-11DB-4F06-BD12-EB823472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09800"/>
            <a:ext cx="2914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563EB"/>
                </a:solidFill>
              </a:defRPr>
            </a:pPr>
            <a:r>
              <a:rPr sz="3600" b="1">
                <a:solidFill>
                  <a:srgbClr val="2563EB"/>
                </a:solidFill>
              </a:rPr>
              <a:t>102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0941E0-49B6-448C-A7B8-3CD2C2C8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8135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Local finalization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D360E0-3B00-4EBC-A8E2-0D7B54EF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85950"/>
            <a:ext cx="33718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F729F9-18CB-4898-8681-C3A5085A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2914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7D31"/>
                </a:solidFill>
              </a:defRPr>
            </a:pPr>
            <a:r>
              <a:rPr sz="3600" b="1">
                <a:solidFill>
                  <a:srgbClr val="ED7D31"/>
                </a:solidFill>
              </a:rPr>
              <a:t>14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61D62-A84B-4B95-8F6C-53FCFA9A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8135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8B"/>
                </a:solidFill>
              </a:defRPr>
            </a:pPr>
            <a:r>
              <a:rPr sz="1200" b="1">
                <a:solidFill>
                  <a:srgbClr val="64748B"/>
                </a:solidFill>
              </a:rPr>
              <a:t>Real bilingual RAG sources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0C09E3-EED1-42D5-894B-A2677786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38650"/>
            <a:ext cx="9105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1A31"/>
          </a:solidFill>
          <a:ln xmlns:a="http://schemas.openxmlformats.org/drawingml/2006/main" w="9525">
            <a:solidFill>
              <a:srgbClr val="101A3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AD2CA8-1E95-4A41-A1BB-0EDF6F6E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67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C2FF"/>
                </a:solidFill>
              </a:defRPr>
            </a:pPr>
            <a:r>
              <a:rPr sz="1125" b="1">
                <a:solidFill>
                  <a:srgbClr val="9CC2FF"/>
                </a:solidFill>
              </a:rPr>
              <a:t>Included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495753-6B8D-41AD-8477-2299A28F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0673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Source + tests  •  PDF/PPT/poster  •  verified GPU/runtime/model logs  •  benchmark JSON/CSV  •  Agent response + audit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50AF2C-221E-48E7-A15A-3864EA02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PRIVATEOPS AGENT  /  TRACK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742E4D-BF8F-4009-871C-18B0F2C0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38900"/>
            <a:ext cx="3486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PERMISSION-FIRST • LOCAL • AUDITABLE</a:t>
            </a:r>
          </a:p>
        </p:txBody>
      </p:sp>
    </p:spTree>
    <p:extLst>
      <p:ext uri="{BB962C8B-B14F-4D97-AF65-F5344CB8AC3E}">
        <p14:creationId xmlns:p14="http://schemas.microsoft.com/office/powerpoint/2010/main" val="1412459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B43338-6CB7-4F17-809F-95422329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562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13D"/>
          </a:solidFill>
          <a:ln xmlns:a="http://schemas.openxmlformats.org/drawingml/2006/main" w="9525">
            <a:solidFill>
              <a:srgbClr val="1621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CADB3-6F30-4243-97BA-ECE5FC4A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048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CC2FF"/>
                </a:solidFill>
              </a:defRPr>
            </a:pPr>
            <a:r>
              <a:rPr sz="825" b="1">
                <a:solidFill>
                  <a:srgbClr val="9CC2FF"/>
                </a:solidFill>
              </a:rPr>
              <a:t>PRIVATEOPS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CFF1A-AF5A-45B9-A7DA-D6B4F356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Broad visibility.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Deliberate 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2E25A3-13A7-4466-9959-A5B7D019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8477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AD5E7"/>
                </a:solidFill>
              </a:defRPr>
            </a:pPr>
            <a:r>
              <a:rPr sz="1650" b="0">
                <a:solidFill>
                  <a:srgbClr val="CAD5E7"/>
                </a:solidFill>
              </a:rPr>
              <a:t>A permission-first private computer AI that gives useful access without surrendering control, provenance, or reviewability.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1AB92-4C00-46C3-AF73-9AD2F132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6213D"/>
          </a:solidFill>
          <a:ln xmlns:a="http://schemas.openxmlformats.org/drawingml/2006/main" w="9525">
            <a:solidFill>
              <a:srgbClr val="26385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00199-967F-4EE4-A587-0A191D23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021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LOCAL RAG  •  LANGCHAIN TOOLS  •  VISIBLE PLANS  •  LOCAL MEMORY  •  PERMISSION + AUDIT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3EFBEE-3056-46C0-B1B0-E9743DE6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391A8"/>
                </a:solidFill>
              </a:defRPr>
            </a:pPr>
            <a:r>
              <a:rPr sz="825" b="1">
                <a:solidFill>
                  <a:srgbClr val="8391A8"/>
                </a:solidFill>
              </a:rPr>
              <a:t>TRACK 2  /  VERIFIED AMD RADEON + ROCm  /  EVIDENCE FOR EVERY DECISION</a:t>
            </a:r>
          </a:p>
        </p:txBody>
      </p:sp>
    </p:spTree>
    <p:extLst>
      <p:ext uri="{BB962C8B-B14F-4D97-AF65-F5344CB8AC3E}">
        <p14:creationId xmlns:p14="http://schemas.microsoft.com/office/powerpoint/2010/main" val="20435127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2026-08-04T13:52:30.9500000Z</dcterms:created>
  <dcterms:modified xsi:type="dcterms:W3CDTF">2026-08-04T13:52:30.9510000Z</dcterms:modified>
</coreProperties>
</file>