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69367633594768" /><Relationship Type="http://schemas.openxmlformats.org/officeDocument/2006/relationships/extended-properties" Target="/docProps/app.xml" Id="R5a331c29d7ce4f19" /><Relationship Type="http://schemas.openxmlformats.org/officeDocument/2006/relationships/officeDocument" Target="/ppt/presentation.xml" Id="R6204f6c48c9741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bf02b86d8a4a09"/>
  </p:sldMasterIdLst>
  <p:notesMasterIdLst>
    <p:notesMasterId xmlns:r="http://schemas.openxmlformats.org/officeDocument/2006/relationships" r:id="R4b664f90d1f7451a"/>
  </p:notesMasterIdLst>
  <p:sldIdLst>
    <p:sldId xmlns:r="http://schemas.openxmlformats.org/officeDocument/2006/relationships" id="256" r:id="R63de8a77ffb94a7e"/>
    <p:sldId xmlns:r="http://schemas.openxmlformats.org/officeDocument/2006/relationships" id="257" r:id="Rab9527acb82447fb"/>
    <p:sldId xmlns:r="http://schemas.openxmlformats.org/officeDocument/2006/relationships" id="258" r:id="R78a66303a0134286"/>
    <p:sldId xmlns:r="http://schemas.openxmlformats.org/officeDocument/2006/relationships" id="259" r:id="Ra97b9676acb944c5"/>
    <p:sldId xmlns:r="http://schemas.openxmlformats.org/officeDocument/2006/relationships" id="260" r:id="Rf81283866bb34991"/>
    <p:sldId xmlns:r="http://schemas.openxmlformats.org/officeDocument/2006/relationships" id="261" r:id="R04befeca9d074c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a65d4b28e34a2f" /><Relationship Type="http://schemas.openxmlformats.org/officeDocument/2006/relationships/slideMaster" Target="/ppt/slideMasters/slideMaster1.xml" Id="Rbfbf02b86d8a4a09" /><Relationship Type="http://schemas.openxmlformats.org/officeDocument/2006/relationships/notesMaster" Target="/ppt/notesMasters/notesMaster1.xml" Id="R4b664f90d1f7451a" /><Relationship Type="http://schemas.openxmlformats.org/officeDocument/2006/relationships/presProps" Target="/ppt/presProps.xml" Id="R553552045a514ca9" /><Relationship Type="http://schemas.openxmlformats.org/officeDocument/2006/relationships/tableStyles" Target="/ppt/tableStyles.xml" Id="Reef06160bfc943f0" /><Relationship Type="http://schemas.openxmlformats.org/officeDocument/2006/relationships/slide" Target="/ppt/slides/slide1.xml" Id="R63de8a77ffb94a7e" /><Relationship Type="http://schemas.openxmlformats.org/officeDocument/2006/relationships/slide" Target="/ppt/slides/slide2.xml" Id="Rab9527acb82447fb" /><Relationship Type="http://schemas.openxmlformats.org/officeDocument/2006/relationships/slide" Target="/ppt/slides/slide3.xml" Id="R78a66303a0134286" /><Relationship Type="http://schemas.openxmlformats.org/officeDocument/2006/relationships/slide" Target="/ppt/slides/slide4.xml" Id="Ra97b9676acb944c5" /><Relationship Type="http://schemas.openxmlformats.org/officeDocument/2006/relationships/slide" Target="/ppt/slides/slide5.xml" Id="Rf81283866bb34991" /><Relationship Type="http://schemas.openxmlformats.org/officeDocument/2006/relationships/slide" Target="/ppt/slides/slide6.xml" Id="R04befeca9d074c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49b254d3e649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9bde37bb3e44aa" /><Relationship Type="http://schemas.openxmlformats.org/officeDocument/2006/relationships/notesMaster" Target="/ppt/notesMasters/notesMaster1.xml" Id="R654ae053bc1240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75b94054ea4e39" /><Relationship Type="http://schemas.openxmlformats.org/officeDocument/2006/relationships/notesMaster" Target="/ppt/notesMasters/notesMaster1.xml" Id="Red723063a9b74f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49782911f849bb" /><Relationship Type="http://schemas.openxmlformats.org/officeDocument/2006/relationships/notesMaster" Target="/ppt/notesMasters/notesMaster1.xml" Id="R8a916b998f6e42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66bfadeccd4c13" /><Relationship Type="http://schemas.openxmlformats.org/officeDocument/2006/relationships/notesMaster" Target="/ppt/notesMasters/notesMaster1.xml" Id="R261a6aeebcdd44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13a75f801e4063" /><Relationship Type="http://schemas.openxmlformats.org/officeDocument/2006/relationships/notesMaster" Target="/ppt/notesMasters/notesMaster1.xml" Id="R0c0ab44141f54e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25a1a4e70e4f37" /><Relationship Type="http://schemas.openxmlformats.org/officeDocument/2006/relationships/notesMaster" Target="/ppt/notesMasters/notesMaster1.xml" Id="Rb753dc27cf914f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69bd2f5bb40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803477d7ee4836" /><Relationship Type="http://schemas.openxmlformats.org/officeDocument/2006/relationships/slideLayout" Target="/ppt/slideLayouts/slideLayout1.xml" Id="R82d3b42d890e42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d3b42d890e42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64599c3a04f7f" /><Relationship Type="http://schemas.openxmlformats.org/officeDocument/2006/relationships/image" Target="/ppt/media/image.png" Id="Rbd8762ee33b54224" /><Relationship Type="http://schemas.openxmlformats.org/officeDocument/2006/relationships/notesSlide" Target="/ppt/notesSlides/notesSlide1.xml" Id="R6e85c026c4604e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df198f72b45c1" /><Relationship Type="http://schemas.openxmlformats.org/officeDocument/2006/relationships/notesSlide" Target="/ppt/notesSlides/notesSlide2.xml" Id="R313cf8db964743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bfe705820481b" /><Relationship Type="http://schemas.openxmlformats.org/officeDocument/2006/relationships/notesSlide" Target="/ppt/notesSlides/notesSlide3.xml" Id="R4e27bbe9a47c42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7b2697ac64a0e" /><Relationship Type="http://schemas.openxmlformats.org/officeDocument/2006/relationships/image" Target="/ppt/media/image2.png" Id="R7ee7c589fc39406a" /><Relationship Type="http://schemas.openxmlformats.org/officeDocument/2006/relationships/notesSlide" Target="/ppt/notesSlides/notesSlide4.xml" Id="Rabe269ae945b4b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9350dc6034298" /><Relationship Type="http://schemas.openxmlformats.org/officeDocument/2006/relationships/image" Target="/ppt/media/image3.png" Id="R1195c45efc4c4b7f" /><Relationship Type="http://schemas.openxmlformats.org/officeDocument/2006/relationships/image" Target="/ppt/media/image4.png" Id="Re18f54f5e76a4618" /><Relationship Type="http://schemas.openxmlformats.org/officeDocument/2006/relationships/image" Target="/ppt/media/image5.png" Id="R651e089df1764419" /><Relationship Type="http://schemas.openxmlformats.org/officeDocument/2006/relationships/notesSlide" Target="/ppt/notesSlides/notesSlide5.xml" Id="R98084d16a8334e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16e09c7134184" /><Relationship Type="http://schemas.openxmlformats.org/officeDocument/2006/relationships/notesSlide" Target="/ppt/notesSlides/notesSlide6.xml" Id="R5fa67636a08343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F9BBE957-AB6A-4C33-997B-56573DFC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5B43D15C-53A0-4929-9BDA-C724B08C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484D"/>
                </a:solidFill>
              </a:defRPr>
            </a:pPr>
            <a:r>
              <a:rPr sz="1200" b="1">
                <a:solidFill>
                  <a:srgbClr val="E5484D"/>
                </a:solidFill>
              </a:rPr>
              <a:t>AMD HACKATHON 2026 · TRACK 2</a:t>
            </a:r>
          </a:p>
        </p:txBody>
      </p:sp>
      <p:sp>
        <p:nvSpPr>
          <p:cNvPr id="3" name="main-title">
            <a:extLst xmlns:a="http://schemas.openxmlformats.org/drawingml/2006/main">
              <a:ext uri="{FF2B5EF4-FFF2-40B4-BE49-F238E27FC236}">
                <a16:creationId xmlns:a16="http://schemas.microsoft.com/office/drawing/2014/main" id="{46635CF4-1FCA-4E7E-A28E-5888EB90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828"/>
                </a:solidFill>
              </a:defRPr>
            </a:pPr>
            <a:r>
              <a:rPr sz="4800" b="1">
                <a:solidFill>
                  <a:srgbClr val="101828"/>
                </a:solidFill>
              </a:rPr>
              <a:t>Private Study Agent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F32CE5DC-8E67-4716-B89B-0CD62159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7085"/>
                </a:solidFill>
              </a:defRPr>
            </a:pPr>
            <a:r>
              <a:rPr sz="2100" b="0">
                <a:solidFill>
                  <a:srgbClr val="667085"/>
                </a:solidFill>
              </a:rPr>
              <a:t>An AI-powered PDF learning assistant on AMD Radeon Cloud</a:t>
            </a:r>
          </a:p>
        </p:txBody>
      </p:sp>
      <p:sp>
        <p:nvSpPr>
          <p:cNvPr id="5" name="claim-panel">
            <a:extLst xmlns:a="http://schemas.openxmlformats.org/drawingml/2006/main">
              <a:ext uri="{FF2B5EF4-FFF2-40B4-BE49-F238E27FC236}">
                <a16:creationId xmlns:a16="http://schemas.microsoft.com/office/drawing/2014/main" id="{57822085-F03C-4CE4-9A86-F88DA01B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aim">
            <a:extLst xmlns:a="http://schemas.openxmlformats.org/drawingml/2006/main">
              <a:ext uri="{FF2B5EF4-FFF2-40B4-BE49-F238E27FC236}">
                <a16:creationId xmlns:a16="http://schemas.microsoft.com/office/drawing/2014/main" id="{2F73EA3B-5543-498F-9813-CA3B5D4B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419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Upload one PDF.</a:t>
            </a:r>
          </a:p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Ask, summarize, and plan.</a:t>
            </a:r>
          </a:p>
        </p:txBody>
      </p:sp>
      <p:sp>
        <p:nvSpPr>
          <p:cNvPr id="7" name="repo">
            <a:extLst xmlns:a="http://schemas.openxmlformats.org/drawingml/2006/main">
              <a:ext uri="{FF2B5EF4-FFF2-40B4-BE49-F238E27FC236}">
                <a16:creationId xmlns:a16="http://schemas.microsoft.com/office/drawing/2014/main" id="{3FD0C1B5-2F34-4E8D-A98B-77561CA3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github.com/xmolly929/private-study-agent-amd</a:t>
            </a:r>
          </a:p>
        </p:txBody>
      </p:sp>
      <p:sp>
        <p:nvSpPr>
          <p:cNvPr id="8" name="image-frame">
            <a:extLst xmlns:a="http://schemas.openxmlformats.org/drawingml/2006/main">
              <a:ext uri="{FF2B5EF4-FFF2-40B4-BE49-F238E27FC236}">
                <a16:creationId xmlns:a16="http://schemas.microsoft.com/office/drawing/2014/main" id="{BE35AEB9-D3C1-4C5A-A623-D03C8D74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7700"/>
            <a:ext cx="4762500" cy="535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762ee33b54224"/>
          <a:stretch xmlns:a="http://schemas.openxmlformats.org/drawingml/2006/main"/>
        </p:blipFill>
        <p:spPr>
          <a:xfrm xmlns:a="http://schemas.openxmlformats.org/drawingml/2006/main">
            <a:off x="6991350" y="1897266"/>
            <a:ext cx="4305300" cy="2853918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</p:spTree>
    <p:extLst>
      <p:ext uri="{BB962C8B-B14F-4D97-AF65-F5344CB8AC3E}">
        <p14:creationId xmlns:p14="http://schemas.microsoft.com/office/powerpoint/2010/main" val="8038028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2">
            <a:extLst xmlns:a="http://schemas.openxmlformats.org/drawingml/2006/main">
              <a:ext uri="{FF2B5EF4-FFF2-40B4-BE49-F238E27FC236}">
                <a16:creationId xmlns:a16="http://schemas.microsoft.com/office/drawing/2014/main" id="{1E11DDA0-49D3-493F-9B5E-6A602F77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4D"/>
                </a:solidFill>
              </a:defRPr>
            </a:pPr>
            <a:r>
              <a:rPr sz="1050" b="1">
                <a:solidFill>
                  <a:srgbClr val="E5484D"/>
                </a:solidFill>
              </a:rPr>
              <a:t>PROBLEM &amp; MOTIVATION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DC6AC6B-1B19-4B31-B8EB-A3C05D36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Long PDFs slow down focused learning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69AD92C1-7C2D-48E5-980E-65FDE0E3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657B99B1-1CE5-4EBF-897A-3550B397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5" name="big-idea">
            <a:extLst xmlns:a="http://schemas.openxmlformats.org/drawingml/2006/main">
              <a:ext uri="{FF2B5EF4-FFF2-40B4-BE49-F238E27FC236}">
                <a16:creationId xmlns:a16="http://schemas.microsoft.com/office/drawing/2014/main" id="{33BBB123-83A9-45D9-B488-5B5AF481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Students need answers tied to the material—not another generic chatbot.</a:t>
            </a:r>
          </a:p>
        </p:txBody>
      </p:sp>
      <p:sp>
        <p:nvSpPr>
          <p:cNvPr id="6" name="n-01">
            <a:extLst xmlns:a="http://schemas.openxmlformats.org/drawingml/2006/main">
              <a:ext uri="{FF2B5EF4-FFF2-40B4-BE49-F238E27FC236}">
                <a16:creationId xmlns:a16="http://schemas.microsoft.com/office/drawing/2014/main" id="{59C96BBD-EC9B-4A5D-862B-F051E2F1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4D"/>
                </a:solidFill>
              </a:defRPr>
            </a:pPr>
            <a:r>
              <a:rPr sz="1650" b="1">
                <a:solidFill>
                  <a:srgbClr val="E5484D"/>
                </a:solidFill>
              </a:rPr>
              <a:t>01</a:t>
            </a:r>
          </a:p>
        </p:txBody>
      </p:sp>
      <p:sp>
        <p:nvSpPr>
          <p:cNvPr id="7" name="t-01">
            <a:extLst xmlns:a="http://schemas.openxmlformats.org/drawingml/2006/main">
              <a:ext uri="{FF2B5EF4-FFF2-40B4-BE49-F238E27FC236}">
                <a16:creationId xmlns:a16="http://schemas.microsoft.com/office/drawing/2014/main" id="{57EFE301-DF6F-4ADF-B17D-BB54D71B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194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Find</a:t>
            </a:r>
          </a:p>
        </p:txBody>
      </p:sp>
      <p:sp>
        <p:nvSpPr>
          <p:cNvPr id="8" name="d-01">
            <a:extLst xmlns:a="http://schemas.openxmlformats.org/drawingml/2006/main">
              <a:ext uri="{FF2B5EF4-FFF2-40B4-BE49-F238E27FC236}">
                <a16:creationId xmlns:a16="http://schemas.microsoft.com/office/drawing/2014/main" id="{AE68857D-8243-48DB-A8E4-5F8FA47B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385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Important information is buried across long documents.</a:t>
            </a:r>
          </a:p>
        </p:txBody>
      </p:sp>
      <p:sp>
        <p:nvSpPr>
          <p:cNvPr id="9" name="line-01">
            <a:extLst xmlns:a="http://schemas.openxmlformats.org/drawingml/2006/main">
              <a:ext uri="{FF2B5EF4-FFF2-40B4-BE49-F238E27FC236}">
                <a16:creationId xmlns:a16="http://schemas.microsoft.com/office/drawing/2014/main" id="{479D005A-22FB-4200-AE77-E57A6595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-02">
            <a:extLst xmlns:a="http://schemas.openxmlformats.org/drawingml/2006/main">
              <a:ext uri="{FF2B5EF4-FFF2-40B4-BE49-F238E27FC236}">
                <a16:creationId xmlns:a16="http://schemas.microsoft.com/office/drawing/2014/main" id="{7F56603B-965F-40FD-AB81-EF2EB94E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4D"/>
                </a:solidFill>
              </a:defRPr>
            </a:pPr>
            <a:r>
              <a:rPr sz="1650" b="1">
                <a:solidFill>
                  <a:srgbClr val="E5484D"/>
                </a:solidFill>
              </a:rPr>
              <a:t>02</a:t>
            </a:r>
          </a:p>
        </p:txBody>
      </p:sp>
      <p:sp>
        <p:nvSpPr>
          <p:cNvPr id="11" name="t-02">
            <a:extLst xmlns:a="http://schemas.openxmlformats.org/drawingml/2006/main">
              <a:ext uri="{FF2B5EF4-FFF2-40B4-BE49-F238E27FC236}">
                <a16:creationId xmlns:a16="http://schemas.microsoft.com/office/drawing/2014/main" id="{745C8BB9-9D50-4D2F-A26D-1A26A585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957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Review</a:t>
            </a:r>
          </a:p>
        </p:txBody>
      </p:sp>
      <p:sp>
        <p:nvSpPr>
          <p:cNvPr id="12" name="d-02">
            <a:extLst xmlns:a="http://schemas.openxmlformats.org/drawingml/2006/main">
              <a:ext uri="{FF2B5EF4-FFF2-40B4-BE49-F238E27FC236}">
                <a16:creationId xmlns:a16="http://schemas.microsoft.com/office/drawing/2014/main" id="{12360C94-C9B5-44E8-A2F1-FC316F3A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148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Manual reading and note-making take significant time.</a:t>
            </a:r>
          </a:p>
        </p:txBody>
      </p:sp>
      <p:sp>
        <p:nvSpPr>
          <p:cNvPr id="13" name="line-02">
            <a:extLst xmlns:a="http://schemas.openxmlformats.org/drawingml/2006/main">
              <a:ext uri="{FF2B5EF4-FFF2-40B4-BE49-F238E27FC236}">
                <a16:creationId xmlns:a16="http://schemas.microsoft.com/office/drawing/2014/main" id="{342FADB7-B362-41FB-8CFE-780CD081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-03">
            <a:extLst xmlns:a="http://schemas.openxmlformats.org/drawingml/2006/main">
              <a:ext uri="{FF2B5EF4-FFF2-40B4-BE49-F238E27FC236}">
                <a16:creationId xmlns:a16="http://schemas.microsoft.com/office/drawing/2014/main" id="{493995E0-31E9-444E-98C5-3B9E6F22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4D"/>
                </a:solidFill>
              </a:defRPr>
            </a:pPr>
            <a:r>
              <a:rPr sz="1650" b="1">
                <a:solidFill>
                  <a:srgbClr val="E5484D"/>
                </a:solidFill>
              </a:rPr>
              <a:t>03</a:t>
            </a:r>
          </a:p>
        </p:txBody>
      </p:sp>
      <p:sp>
        <p:nvSpPr>
          <p:cNvPr id="15" name="t-03">
            <a:extLst xmlns:a="http://schemas.openxmlformats.org/drawingml/2006/main">
              <a:ext uri="{FF2B5EF4-FFF2-40B4-BE49-F238E27FC236}">
                <a16:creationId xmlns:a16="http://schemas.microsoft.com/office/drawing/2014/main" id="{9AE891A2-AF2F-407F-9AB9-37E96D55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720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Trust</a:t>
            </a:r>
          </a:p>
        </p:txBody>
      </p:sp>
      <p:sp>
        <p:nvSpPr>
          <p:cNvPr id="16" name="d-03">
            <a:extLst xmlns:a="http://schemas.openxmlformats.org/drawingml/2006/main">
              <a:ext uri="{FF2B5EF4-FFF2-40B4-BE49-F238E27FC236}">
                <a16:creationId xmlns:a16="http://schemas.microsoft.com/office/drawing/2014/main" id="{FCCF6362-20DD-4703-AAB8-E8CAA375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911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General answers may not be supported by the uploaded PDF.</a:t>
            </a:r>
          </a:p>
        </p:txBody>
      </p:sp>
      <p:sp>
        <p:nvSpPr>
          <p:cNvPr id="17" name="line-03">
            <a:extLst xmlns:a="http://schemas.openxmlformats.org/drawingml/2006/main">
              <a:ext uri="{FF2B5EF4-FFF2-40B4-BE49-F238E27FC236}">
                <a16:creationId xmlns:a16="http://schemas.microsoft.com/office/drawing/2014/main" id="{79D81B33-E3AC-483E-AF3C-637CE9A3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oal">
            <a:extLst xmlns:a="http://schemas.openxmlformats.org/drawingml/2006/main">
              <a:ext uri="{FF2B5EF4-FFF2-40B4-BE49-F238E27FC236}">
                <a16:creationId xmlns:a16="http://schemas.microsoft.com/office/drawing/2014/main" id="{18977D52-9F72-4DDB-BB26-F8447056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2724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oal-label">
            <a:extLst xmlns:a="http://schemas.openxmlformats.org/drawingml/2006/main">
              <a:ext uri="{FF2B5EF4-FFF2-40B4-BE49-F238E27FC236}">
                <a16:creationId xmlns:a16="http://schemas.microsoft.com/office/drawing/2014/main" id="{62581676-9851-4765-B20F-6C9227FF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85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OUR GOAL</a:t>
            </a:r>
          </a:p>
        </p:txBody>
      </p:sp>
      <p:sp>
        <p:nvSpPr>
          <p:cNvPr id="20" name="goal-text">
            <a:extLst xmlns:a="http://schemas.openxmlformats.org/drawingml/2006/main">
              <a:ext uri="{FF2B5EF4-FFF2-40B4-BE49-F238E27FC236}">
                <a16:creationId xmlns:a16="http://schemas.microsoft.com/office/drawing/2014/main" id="{E6C380D1-027F-4484-A1F9-DB5581B2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9075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Lightweight,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document-grounded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study support.</a:t>
            </a:r>
          </a:p>
        </p:txBody>
      </p:sp>
    </p:spTree>
    <p:extLst>
      <p:ext uri="{BB962C8B-B14F-4D97-AF65-F5344CB8AC3E}">
        <p14:creationId xmlns:p14="http://schemas.microsoft.com/office/powerpoint/2010/main" val="11481139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3">
            <a:extLst xmlns:a="http://schemas.openxmlformats.org/drawingml/2006/main">
              <a:ext uri="{FF2B5EF4-FFF2-40B4-BE49-F238E27FC236}">
                <a16:creationId xmlns:a16="http://schemas.microsoft.com/office/drawing/2014/main" id="{9E7630F6-38DF-46A1-86B3-4D871C73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4D"/>
                </a:solidFill>
              </a:defRPr>
            </a:pPr>
            <a:r>
              <a:rPr sz="1050" b="1">
                <a:solidFill>
                  <a:srgbClr val="E5484D"/>
                </a:solidFill>
              </a:rPr>
              <a:t>SOLUTION OVERVIEW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50BA9C1-9381-49D2-B76F-82B05202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One compact workflow turns PDFs into study support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40235B41-77C5-4651-82B3-C4B83E3A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69CF7A73-1FCA-450F-A5A0-2B2120A0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" name="connector-0">
            <a:extLst xmlns:a="http://schemas.openxmlformats.org/drawingml/2006/main">
              <a:ext uri="{FF2B5EF4-FFF2-40B4-BE49-F238E27FC236}">
                <a16:creationId xmlns:a16="http://schemas.microsoft.com/office/drawing/2014/main" id="{5A881F9F-4FCA-4512-8A84-C92F20E6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9555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nector-1">
            <a:extLst xmlns:a="http://schemas.openxmlformats.org/drawingml/2006/main">
              <a:ext uri="{FF2B5EF4-FFF2-40B4-BE49-F238E27FC236}">
                <a16:creationId xmlns:a16="http://schemas.microsoft.com/office/drawing/2014/main" id="{57D5063E-2285-49D4-A1CF-23018C9D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9555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nnector-2">
            <a:extLst xmlns:a="http://schemas.openxmlformats.org/drawingml/2006/main">
              <a:ext uri="{FF2B5EF4-FFF2-40B4-BE49-F238E27FC236}">
                <a16:creationId xmlns:a16="http://schemas.microsoft.com/office/drawing/2014/main" id="{AF02AC33-2427-4121-8027-116FAA50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9555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de-0">
            <a:extLst xmlns:a="http://schemas.openxmlformats.org/drawingml/2006/main">
              <a:ext uri="{FF2B5EF4-FFF2-40B4-BE49-F238E27FC236}">
                <a16:creationId xmlns:a16="http://schemas.microsoft.com/office/drawing/2014/main" id="{5E51B4D5-B307-402D-B992-46A03AB8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-label-0">
            <a:extLst xmlns:a="http://schemas.openxmlformats.org/drawingml/2006/main">
              <a:ext uri="{FF2B5EF4-FFF2-40B4-BE49-F238E27FC236}">
                <a16:creationId xmlns:a16="http://schemas.microsoft.com/office/drawing/2014/main" id="{E5DEE3C4-EE25-4A52-ACFC-5D790454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PDF</a:t>
            </a:r>
          </a:p>
        </p:txBody>
      </p:sp>
      <p:sp>
        <p:nvSpPr>
          <p:cNvPr id="10" name="node-desc-0">
            <a:extLst xmlns:a="http://schemas.openxmlformats.org/drawingml/2006/main">
              <a:ext uri="{FF2B5EF4-FFF2-40B4-BE49-F238E27FC236}">
                <a16:creationId xmlns:a16="http://schemas.microsoft.com/office/drawing/2014/main" id="{94F939F0-3764-44B1-ABDC-B29FA555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622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Upload</a:t>
            </a:r>
          </a:p>
        </p:txBody>
      </p:sp>
      <p:sp>
        <p:nvSpPr>
          <p:cNvPr id="11" name="node-1">
            <a:extLst xmlns:a="http://schemas.openxmlformats.org/drawingml/2006/main">
              <a:ext uri="{FF2B5EF4-FFF2-40B4-BE49-F238E27FC236}">
                <a16:creationId xmlns:a16="http://schemas.microsoft.com/office/drawing/2014/main" id="{27B7B4FD-E926-4804-8FF9-D2D6F12D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52625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ode-label-1">
            <a:extLst xmlns:a="http://schemas.openxmlformats.org/drawingml/2006/main">
              <a:ext uri="{FF2B5EF4-FFF2-40B4-BE49-F238E27FC236}">
                <a16:creationId xmlns:a16="http://schemas.microsoft.com/office/drawing/2014/main" id="{AC612A5C-7BE4-4028-98AB-1FD97CFE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431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PyMuPDF</a:t>
            </a:r>
          </a:p>
        </p:txBody>
      </p:sp>
      <p:sp>
        <p:nvSpPr>
          <p:cNvPr id="13" name="node-desc-1">
            <a:extLst xmlns:a="http://schemas.openxmlformats.org/drawingml/2006/main">
              <a:ext uri="{FF2B5EF4-FFF2-40B4-BE49-F238E27FC236}">
                <a16:creationId xmlns:a16="http://schemas.microsoft.com/office/drawing/2014/main" id="{E9857522-EA3A-4DF8-81D0-D161305D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622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Extract text</a:t>
            </a:r>
          </a:p>
        </p:txBody>
      </p:sp>
      <p:sp>
        <p:nvSpPr>
          <p:cNvPr id="14" name="node-2">
            <a:extLst xmlns:a="http://schemas.openxmlformats.org/drawingml/2006/main">
              <a:ext uri="{FF2B5EF4-FFF2-40B4-BE49-F238E27FC236}">
                <a16:creationId xmlns:a16="http://schemas.microsoft.com/office/drawing/2014/main" id="{F82EC561-3C6B-4A5F-8377-575D8AAA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de-label-2">
            <a:extLst xmlns:a="http://schemas.openxmlformats.org/drawingml/2006/main">
              <a:ext uri="{FF2B5EF4-FFF2-40B4-BE49-F238E27FC236}">
                <a16:creationId xmlns:a16="http://schemas.microsoft.com/office/drawing/2014/main" id="{59EF9BF3-AEDE-4290-B1B8-58FA08FA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Agent</a:t>
            </a:r>
          </a:p>
        </p:txBody>
      </p:sp>
      <p:sp>
        <p:nvSpPr>
          <p:cNvPr id="16" name="node-desc-2">
            <a:extLst xmlns:a="http://schemas.openxmlformats.org/drawingml/2006/main">
              <a:ext uri="{FF2B5EF4-FFF2-40B4-BE49-F238E27FC236}">
                <a16:creationId xmlns:a16="http://schemas.microsoft.com/office/drawing/2014/main" id="{54DD3403-5590-416A-AEBB-E59E9CBC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622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Build task prompt</a:t>
            </a:r>
          </a:p>
        </p:txBody>
      </p:sp>
      <p:sp>
        <p:nvSpPr>
          <p:cNvPr id="17" name="node-3">
            <a:extLst xmlns:a="http://schemas.openxmlformats.org/drawingml/2006/main">
              <a:ext uri="{FF2B5EF4-FFF2-40B4-BE49-F238E27FC236}">
                <a16:creationId xmlns:a16="http://schemas.microsoft.com/office/drawing/2014/main" id="{95A4A47E-294D-4A82-8E6C-922EC8FE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ode-label-3">
            <a:extLst xmlns:a="http://schemas.openxmlformats.org/drawingml/2006/main">
              <a:ext uri="{FF2B5EF4-FFF2-40B4-BE49-F238E27FC236}">
                <a16:creationId xmlns:a16="http://schemas.microsoft.com/office/drawing/2014/main" id="{64FAF113-2284-457F-80DD-4F19A154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43125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AMD API</a:t>
            </a:r>
          </a:p>
        </p:txBody>
      </p:sp>
      <p:sp>
        <p:nvSpPr>
          <p:cNvPr id="19" name="node-desc-3">
            <a:extLst xmlns:a="http://schemas.openxmlformats.org/drawingml/2006/main">
              <a:ext uri="{FF2B5EF4-FFF2-40B4-BE49-F238E27FC236}">
                <a16:creationId xmlns:a16="http://schemas.microsoft.com/office/drawing/2014/main" id="{BA35939D-62C0-4AEC-B7ED-9AD7D5B9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622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Generate result</a:t>
            </a:r>
          </a:p>
        </p:txBody>
      </p:sp>
      <p:sp>
        <p:nvSpPr>
          <p:cNvPr id="20" name="feature-title">
            <a:extLst xmlns:a="http://schemas.openxmlformats.org/drawingml/2006/main">
              <a:ext uri="{FF2B5EF4-FFF2-40B4-BE49-F238E27FC236}">
                <a16:creationId xmlns:a16="http://schemas.microsoft.com/office/drawing/2014/main" id="{B71A2CFB-58A5-4FFD-91FD-5A1F7FD2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Three focused capabilities</a:t>
            </a:r>
          </a:p>
        </p:txBody>
      </p:sp>
      <p:sp>
        <p:nvSpPr>
          <p:cNvPr id="21" name="feature-name-0">
            <a:extLst xmlns:a="http://schemas.openxmlformats.org/drawingml/2006/main">
              <a:ext uri="{FF2B5EF4-FFF2-40B4-BE49-F238E27FC236}">
                <a16:creationId xmlns:a16="http://schemas.microsoft.com/office/drawing/2014/main" id="{3F328901-0F42-4046-8C9F-DC3D0C79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484D"/>
                </a:solidFill>
              </a:defRPr>
            </a:pPr>
            <a:r>
              <a:rPr sz="1800" b="1">
                <a:solidFill>
                  <a:srgbClr val="E5484D"/>
                </a:solidFill>
              </a:rPr>
              <a:t>Grounded Q&amp;A</a:t>
            </a:r>
          </a:p>
        </p:txBody>
      </p:sp>
      <p:sp>
        <p:nvSpPr>
          <p:cNvPr id="22" name="feature-desc-0">
            <a:extLst xmlns:a="http://schemas.openxmlformats.org/drawingml/2006/main">
              <a:ext uri="{FF2B5EF4-FFF2-40B4-BE49-F238E27FC236}">
                <a16:creationId xmlns:a16="http://schemas.microsoft.com/office/drawing/2014/main" id="{6DA7B475-253F-4976-BCF0-B884FB83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Answers from extracted PDF context</a:t>
            </a:r>
          </a:p>
        </p:txBody>
      </p:sp>
      <p:sp>
        <p:nvSpPr>
          <p:cNvPr id="23" name="feature-name-1">
            <a:extLst xmlns:a="http://schemas.openxmlformats.org/drawingml/2006/main">
              <a:ext uri="{FF2B5EF4-FFF2-40B4-BE49-F238E27FC236}">
                <a16:creationId xmlns:a16="http://schemas.microsoft.com/office/drawing/2014/main" id="{E336B352-F5F3-4B1E-BD5F-D6B9C4C8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38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484D"/>
                </a:solidFill>
              </a:defRPr>
            </a:pPr>
            <a:r>
              <a:rPr sz="1800" b="1">
                <a:solidFill>
                  <a:srgbClr val="E5484D"/>
                </a:solidFill>
              </a:rPr>
              <a:t>PDF Summary</a:t>
            </a:r>
          </a:p>
        </p:txBody>
      </p:sp>
      <p:sp>
        <p:nvSpPr>
          <p:cNvPr id="24" name="feature-desc-1">
            <a:extLst xmlns:a="http://schemas.openxmlformats.org/drawingml/2006/main">
              <a:ext uri="{FF2B5EF4-FFF2-40B4-BE49-F238E27FC236}">
                <a16:creationId xmlns:a16="http://schemas.microsoft.com/office/drawing/2014/main" id="{661B6D23-04B3-47E0-A06A-85011CCE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768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Overview, key ideas, takeaways</a:t>
            </a:r>
          </a:p>
        </p:txBody>
      </p:sp>
      <p:sp>
        <p:nvSpPr>
          <p:cNvPr id="25" name="feature-name-2">
            <a:extLst xmlns:a="http://schemas.openxmlformats.org/drawingml/2006/main">
              <a:ext uri="{FF2B5EF4-FFF2-40B4-BE49-F238E27FC236}">
                <a16:creationId xmlns:a16="http://schemas.microsoft.com/office/drawing/2014/main" id="{8206A6F9-F9A1-454F-B89F-3C1E32D9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38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484D"/>
                </a:solidFill>
              </a:defRPr>
            </a:pPr>
            <a:r>
              <a:rPr sz="1800" b="1">
                <a:solidFill>
                  <a:srgbClr val="E5484D"/>
                </a:solidFill>
              </a:rPr>
              <a:t>3-Day Plan</a:t>
            </a:r>
          </a:p>
        </p:txBody>
      </p:sp>
      <p:sp>
        <p:nvSpPr>
          <p:cNvPr id="26" name="feature-desc-2">
            <a:extLst xmlns:a="http://schemas.openxmlformats.org/drawingml/2006/main">
              <a:ext uri="{FF2B5EF4-FFF2-40B4-BE49-F238E27FC236}">
                <a16:creationId xmlns:a16="http://schemas.microsoft.com/office/drawing/2014/main" id="{3BE07FD0-E448-402F-908F-83F321AB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768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Daily topics, activities, goals</a:t>
            </a:r>
          </a:p>
        </p:txBody>
      </p:sp>
      <p:sp>
        <p:nvSpPr>
          <p:cNvPr id="27" name="truth">
            <a:extLst xmlns:a="http://schemas.openxmlformats.org/drawingml/2006/main">
              <a:ext uri="{FF2B5EF4-FFF2-40B4-BE49-F238E27FC236}">
                <a16:creationId xmlns:a16="http://schemas.microsoft.com/office/drawing/2014/main" id="{DC8A2AD3-9B9A-40F1-83CF-22A78509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Current MVP uses direct document context processing and an OpenAI-compatible shared model API.</a:t>
            </a:r>
          </a:p>
        </p:txBody>
      </p:sp>
    </p:spTree>
    <p:extLst>
      <p:ext uri="{BB962C8B-B14F-4D97-AF65-F5344CB8AC3E}">
        <p14:creationId xmlns:p14="http://schemas.microsoft.com/office/powerpoint/2010/main" val="9372097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4">
            <a:extLst xmlns:a="http://schemas.openxmlformats.org/drawingml/2006/main">
              <a:ext uri="{FF2B5EF4-FFF2-40B4-BE49-F238E27FC236}">
                <a16:creationId xmlns:a16="http://schemas.microsoft.com/office/drawing/2014/main" id="{044363DF-3815-4CC8-ACAE-4BAC69D8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4D"/>
                </a:solidFill>
              </a:defRPr>
            </a:pPr>
            <a:r>
              <a:rPr sz="1050" b="1">
                <a:solidFill>
                  <a:srgbClr val="E5484D"/>
                </a:solidFill>
              </a:rPr>
              <a:t>AMD RADEON CLOUD DEPLOYMENT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EC4B0C17-394C-4FA7-97FD-817F68EF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The application runs and was tested on Radeon Cloud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9A33C092-C63C-4624-B36F-31DD8E2A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AB1B2EB-3B73-4DD1-955E-7C1E7855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" name="proof-frame">
            <a:extLst xmlns:a="http://schemas.openxmlformats.org/drawingml/2006/main">
              <a:ext uri="{FF2B5EF4-FFF2-40B4-BE49-F238E27FC236}">
                <a16:creationId xmlns:a16="http://schemas.microsoft.com/office/drawing/2014/main" id="{E2B0B701-BD3D-4A05-AB77-BA64B301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1912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7c589fc39406a"/>
          <a:stretch xmlns:a="http://schemas.openxmlformats.org/drawingml/2006/main"/>
        </p:blipFill>
        <p:spPr>
          <a:xfrm xmlns:a="http://schemas.openxmlformats.org/drawingml/2006/main">
            <a:off x="1365622" y="1885950"/>
            <a:ext cx="4679206" cy="3733800"/>
          </a:xfrm>
          <a:prstGeom xmlns:a="http://schemas.openxmlformats.org/drawingml/2006/main" prst="roundRect">
            <a:avLst>
              <a:gd name="adj" fmla="val 3061"/>
            </a:avLst>
          </a:prstGeom>
        </p:spPr>
      </p:pic>
      <p:sp>
        <p:nvSpPr>
          <p:cNvPr id="7" name="verified">
            <a:extLst xmlns:a="http://schemas.openxmlformats.org/drawingml/2006/main">
              <a:ext uri="{FF2B5EF4-FFF2-40B4-BE49-F238E27FC236}">
                <a16:creationId xmlns:a16="http://schemas.microsoft.com/office/drawing/2014/main" id="{6AD5166E-6C43-413C-9C24-D1E5593D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B76A"/>
                </a:solidFill>
              </a:defRPr>
            </a:pPr>
            <a:r>
              <a:rPr sz="1125" b="1">
                <a:solidFill>
                  <a:srgbClr val="12B76A"/>
                </a:solidFill>
              </a:rPr>
              <a:t>VERIFIED</a:t>
            </a:r>
          </a:p>
        </p:txBody>
      </p:sp>
      <p:sp>
        <p:nvSpPr>
          <p:cNvPr id="8" name="deployment-copy">
            <a:extLst xmlns:a="http://schemas.openxmlformats.org/drawingml/2006/main">
              <a:ext uri="{FF2B5EF4-FFF2-40B4-BE49-F238E27FC236}">
                <a16:creationId xmlns:a16="http://schemas.microsoft.com/office/drawing/2014/main" id="{0823A679-7062-487D-8F91-15341308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09800"/>
            <a:ext cx="3905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Instance created</a:t>
            </a:r>
          </a:p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Dependencies installed</a:t>
            </a:r>
          </a:p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Streamlit launched</a:t>
            </a:r>
          </a:p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Health endpoint returned ok</a:t>
            </a:r>
          </a:p>
          <a:p xmlns:a="http://schemas.openxmlformats.org/drawingml/2006/main">
            <a:pPr algn="l">
              <a:defRPr sz="2025" b="1">
                <a:solidFill>
                  <a:srgbClr val="101828"/>
                </a:solidFill>
              </a:defRPr>
            </a:pPr>
            <a:r>
              <a:rPr sz="2025" b="1">
                <a:solidFill>
                  <a:srgbClr val="101828"/>
                </a:solidFill>
              </a:rPr>
              <a:t>Agent opened through SSH tunnel</a:t>
            </a:r>
          </a:p>
        </p:txBody>
      </p:sp>
      <p:sp>
        <p:nvSpPr>
          <p:cNvPr id="9" name="cloud-line">
            <a:extLst xmlns:a="http://schemas.openxmlformats.org/drawingml/2006/main">
              <a:ext uri="{FF2B5EF4-FFF2-40B4-BE49-F238E27FC236}">
                <a16:creationId xmlns:a16="http://schemas.microsoft.com/office/drawing/2014/main" id="{643A938B-86CB-480B-8C4C-66E462BF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2915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ccess-note">
            <a:extLst xmlns:a="http://schemas.openxmlformats.org/drawingml/2006/main">
              <a:ext uri="{FF2B5EF4-FFF2-40B4-BE49-F238E27FC236}">
                <a16:creationId xmlns:a16="http://schemas.microsoft.com/office/drawing/2014/main" id="{675CAFAA-FA6A-4A7F-AE5F-A423E2FD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768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Direct public access was limited by reverse-proxy WebSocket handling. The verified SSH tunnel enabled full browser interaction.</a:t>
            </a:r>
          </a:p>
        </p:txBody>
      </p:sp>
      <p:sp>
        <p:nvSpPr>
          <p:cNvPr id="11" name="truth-note">
            <a:extLst xmlns:a="http://schemas.openxmlformats.org/drawingml/2006/main">
              <a:ext uri="{FF2B5EF4-FFF2-40B4-BE49-F238E27FC236}">
                <a16:creationId xmlns:a16="http://schemas.microsoft.com/office/drawing/2014/main" id="{25B20152-FB60-43BC-A429-8C4F2926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Model generation uses AMD Radeon Cloud's OpenAI-compatible shared API; complete local Radeon GPU inference is not claimed.</a:t>
            </a:r>
          </a:p>
        </p:txBody>
      </p:sp>
    </p:spTree>
    <p:extLst>
      <p:ext uri="{BB962C8B-B14F-4D97-AF65-F5344CB8AC3E}">
        <p14:creationId xmlns:p14="http://schemas.microsoft.com/office/powerpoint/2010/main" val="1729347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5">
            <a:extLst xmlns:a="http://schemas.openxmlformats.org/drawingml/2006/main">
              <a:ext uri="{FF2B5EF4-FFF2-40B4-BE49-F238E27FC236}">
                <a16:creationId xmlns:a16="http://schemas.microsoft.com/office/drawing/2014/main" id="{B1019563-F5B2-46C8-9066-A29B6678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4D"/>
                </a:solidFill>
              </a:defRPr>
            </a:pPr>
            <a:r>
              <a:rPr sz="1050" b="1">
                <a:solidFill>
                  <a:srgbClr val="E5484D"/>
                </a:solidFill>
              </a:rPr>
              <a:t>DEMO RESULTS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7ACE956-E1C9-4FEA-9223-E4079A13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All three study workflows produced usable results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4CC6BDD0-240A-47A5-BE5F-E6BD98E9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F2551439-604D-40F9-9DE0-A060A8E7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" name="demo-frame-0">
            <a:extLst xmlns:a="http://schemas.openxmlformats.org/drawingml/2006/main">
              <a:ext uri="{FF2B5EF4-FFF2-40B4-BE49-F238E27FC236}">
                <a16:creationId xmlns:a16="http://schemas.microsoft.com/office/drawing/2014/main" id="{6646F040-988D-44E5-B435-854DD4A5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3337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5c45efc4c4b7f"/>
          <a:stretch xmlns:a="http://schemas.openxmlformats.org/drawingml/2006/main"/>
        </p:blipFill>
        <p:spPr>
          <a:xfrm xmlns:a="http://schemas.openxmlformats.org/drawingml/2006/main">
            <a:off x="887240" y="1828800"/>
            <a:ext cx="2778471" cy="3238500"/>
          </a:xfrm>
          <a:prstGeom xmlns:a="http://schemas.openxmlformats.org/drawingml/2006/main" prst="roundRect">
            <a:avLst>
              <a:gd name="adj" fmla="val 3727"/>
            </a:avLst>
          </a:prstGeom>
        </p:spPr>
      </p:pic>
      <p:sp>
        <p:nvSpPr>
          <p:cNvPr id="7" name="demo-title-0">
            <a:extLst xmlns:a="http://schemas.openxmlformats.org/drawingml/2006/main">
              <a:ext uri="{FF2B5EF4-FFF2-40B4-BE49-F238E27FC236}">
                <a16:creationId xmlns:a16="http://schemas.microsoft.com/office/drawing/2014/main" id="{7988B823-6C5E-49F3-83E8-132300D8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Grounded Q&amp;A</a:t>
            </a:r>
          </a:p>
        </p:txBody>
      </p:sp>
      <p:sp>
        <p:nvSpPr>
          <p:cNvPr id="8" name="demo-desc-0">
            <a:extLst xmlns:a="http://schemas.openxmlformats.org/drawingml/2006/main">
              <a:ext uri="{FF2B5EF4-FFF2-40B4-BE49-F238E27FC236}">
                <a16:creationId xmlns:a16="http://schemas.microsoft.com/office/drawing/2014/main" id="{1637D764-F758-43BE-AE23-1B477765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Answers stay tied to the uploaded material.</a:t>
            </a:r>
          </a:p>
        </p:txBody>
      </p:sp>
      <p:sp>
        <p:nvSpPr>
          <p:cNvPr id="9" name="demo-frame-1">
            <a:extLst xmlns:a="http://schemas.openxmlformats.org/drawingml/2006/main">
              <a:ext uri="{FF2B5EF4-FFF2-40B4-BE49-F238E27FC236}">
                <a16:creationId xmlns:a16="http://schemas.microsoft.com/office/drawing/2014/main" id="{F1527E9B-301E-4E45-BF28-BACE7D87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95450"/>
            <a:ext cx="33337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f54f5e76a4618"/>
          <a:stretch xmlns:a="http://schemas.openxmlformats.org/drawingml/2006/main"/>
        </p:blipFill>
        <p:spPr>
          <a:xfrm xmlns:a="http://schemas.openxmlformats.org/drawingml/2006/main">
            <a:off x="4381500" y="1862356"/>
            <a:ext cx="3067050" cy="3171388"/>
          </a:xfrm>
          <a:prstGeom xmlns:a="http://schemas.openxmlformats.org/drawingml/2006/main" prst="roundRect">
            <a:avLst>
              <a:gd name="adj" fmla="val 3727"/>
            </a:avLst>
          </a:prstGeom>
        </p:spPr>
      </p:pic>
      <p:sp>
        <p:nvSpPr>
          <p:cNvPr id="11" name="demo-title-1">
            <a:extLst xmlns:a="http://schemas.openxmlformats.org/drawingml/2006/main">
              <a:ext uri="{FF2B5EF4-FFF2-40B4-BE49-F238E27FC236}">
                <a16:creationId xmlns:a16="http://schemas.microsoft.com/office/drawing/2014/main" id="{53C765C2-3872-4654-95E5-C8E7DDE0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91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PDF Summary</a:t>
            </a:r>
          </a:p>
        </p:txBody>
      </p:sp>
      <p:sp>
        <p:nvSpPr>
          <p:cNvPr id="12" name="demo-desc-1">
            <a:extLst xmlns:a="http://schemas.openxmlformats.org/drawingml/2006/main">
              <a:ext uri="{FF2B5EF4-FFF2-40B4-BE49-F238E27FC236}">
                <a16:creationId xmlns:a16="http://schemas.microsoft.com/office/drawing/2014/main" id="{50748B50-39A9-4C2A-9ECF-C4E0689E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7912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Structured overview, key ideas, and takeaways.</a:t>
            </a:r>
          </a:p>
        </p:txBody>
      </p:sp>
      <p:sp>
        <p:nvSpPr>
          <p:cNvPr id="13" name="demo-frame-2">
            <a:extLst xmlns:a="http://schemas.openxmlformats.org/drawingml/2006/main">
              <a:ext uri="{FF2B5EF4-FFF2-40B4-BE49-F238E27FC236}">
                <a16:creationId xmlns:a16="http://schemas.microsoft.com/office/drawing/2014/main" id="{2E0D9B73-8A23-43CE-8F8A-20339388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95450"/>
            <a:ext cx="33337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e089df1764419"/>
          <a:stretch xmlns:a="http://schemas.openxmlformats.org/drawingml/2006/main"/>
        </p:blipFill>
        <p:spPr>
          <a:xfrm xmlns:a="http://schemas.openxmlformats.org/drawingml/2006/main">
            <a:off x="8020050" y="1862356"/>
            <a:ext cx="3067050" cy="3171388"/>
          </a:xfrm>
          <a:prstGeom xmlns:a="http://schemas.openxmlformats.org/drawingml/2006/main" prst="roundRect">
            <a:avLst>
              <a:gd name="adj" fmla="val 3727"/>
            </a:avLst>
          </a:prstGeom>
        </p:spPr>
      </p:pic>
      <p:sp>
        <p:nvSpPr>
          <p:cNvPr id="15" name="demo-title-2">
            <a:extLst xmlns:a="http://schemas.openxmlformats.org/drawingml/2006/main">
              <a:ext uri="{FF2B5EF4-FFF2-40B4-BE49-F238E27FC236}">
                <a16:creationId xmlns:a16="http://schemas.microsoft.com/office/drawing/2014/main" id="{D5144AF1-6B8C-47C1-812D-7BBB627F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91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3-Day Study Plan</a:t>
            </a:r>
          </a:p>
        </p:txBody>
      </p:sp>
      <p:sp>
        <p:nvSpPr>
          <p:cNvPr id="16" name="demo-desc-2">
            <a:extLst xmlns:a="http://schemas.openxmlformats.org/drawingml/2006/main">
              <a:ext uri="{FF2B5EF4-FFF2-40B4-BE49-F238E27FC236}">
                <a16:creationId xmlns:a16="http://schemas.microsoft.com/office/drawing/2014/main" id="{77FDBA3F-0336-4DD6-9FB2-B3A37A06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7912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 practical learning sequence with daily goals.</a:t>
            </a:r>
          </a:p>
        </p:txBody>
      </p:sp>
    </p:spTree>
    <p:extLst>
      <p:ext uri="{BB962C8B-B14F-4D97-AF65-F5344CB8AC3E}">
        <p14:creationId xmlns:p14="http://schemas.microsoft.com/office/powerpoint/2010/main" val="15017925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6">
            <a:extLst xmlns:a="http://schemas.openxmlformats.org/drawingml/2006/main">
              <a:ext uri="{FF2B5EF4-FFF2-40B4-BE49-F238E27FC236}">
                <a16:creationId xmlns:a16="http://schemas.microsoft.com/office/drawing/2014/main" id="{98060131-D5D7-4A80-8042-995D7BA9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484D"/>
                </a:solidFill>
              </a:defRPr>
            </a:pPr>
            <a:r>
              <a:rPr sz="1050" b="1">
                <a:solidFill>
                  <a:srgbClr val="E5484D"/>
                </a:solidFill>
              </a:rPr>
              <a:t>FUTURE WORK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EDE83A6-C059-47A8-86C1-01709FA2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A focused MVP today, with a clear path to deeper privacy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2E099236-54C7-41DB-AEEE-10B62173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BD31A5A4-7FFC-4B96-A3DC-E793B47D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5" name="closing-claim">
            <a:extLst xmlns:a="http://schemas.openxmlformats.org/drawingml/2006/main">
              <a:ext uri="{FF2B5EF4-FFF2-40B4-BE49-F238E27FC236}">
                <a16:creationId xmlns:a16="http://schemas.microsoft.com/office/drawing/2014/main" id="{6061820D-A535-43E1-BC7E-0FF6103D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The core workflow is complete: PDF processing, model-backed study assistance, and verified Radeon Cloud deployment.</a:t>
            </a:r>
          </a:p>
        </p:txBody>
      </p:sp>
      <p:sp>
        <p:nvSpPr>
          <p:cNvPr id="6" name="work-num-0">
            <a:extLst xmlns:a="http://schemas.openxmlformats.org/drawingml/2006/main">
              <a:ext uri="{FF2B5EF4-FFF2-40B4-BE49-F238E27FC236}">
                <a16:creationId xmlns:a16="http://schemas.microsoft.com/office/drawing/2014/main" id="{809744BB-75A4-4054-B950-32861556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484D"/>
                </a:solidFill>
              </a:defRPr>
            </a:pPr>
            <a:r>
              <a:rPr sz="1200" b="1">
                <a:solidFill>
                  <a:srgbClr val="E5484D"/>
                </a:solidFill>
              </a:rPr>
              <a:t>01</a:t>
            </a:r>
          </a:p>
        </p:txBody>
      </p:sp>
      <p:sp>
        <p:nvSpPr>
          <p:cNvPr id="7" name="work-title-0">
            <a:extLst xmlns:a="http://schemas.openxmlformats.org/drawingml/2006/main">
              <a:ext uri="{FF2B5EF4-FFF2-40B4-BE49-F238E27FC236}">
                <a16:creationId xmlns:a16="http://schemas.microsoft.com/office/drawing/2014/main" id="{0904A39E-2026-48A2-AE1C-28552AC8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Local serving</a:t>
            </a:r>
          </a:p>
        </p:txBody>
      </p:sp>
      <p:sp>
        <p:nvSpPr>
          <p:cNvPr id="8" name="work-desc-0">
            <a:extLst xmlns:a="http://schemas.openxmlformats.org/drawingml/2006/main">
              <a:ext uri="{FF2B5EF4-FFF2-40B4-BE49-F238E27FC236}">
                <a16:creationId xmlns:a16="http://schemas.microsoft.com/office/drawing/2014/main" id="{5855DD28-070B-40DF-8287-EF21D286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Explore ROCm-compatible model deployment</a:t>
            </a:r>
          </a:p>
        </p:txBody>
      </p:sp>
      <p:sp>
        <p:nvSpPr>
          <p:cNvPr id="9" name="work-num-1">
            <a:extLst xmlns:a="http://schemas.openxmlformats.org/drawingml/2006/main">
              <a:ext uri="{FF2B5EF4-FFF2-40B4-BE49-F238E27FC236}">
                <a16:creationId xmlns:a16="http://schemas.microsoft.com/office/drawing/2014/main" id="{A8A32708-8FFF-4E9E-8E9F-8E8AB20F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623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484D"/>
                </a:solidFill>
              </a:defRPr>
            </a:pPr>
            <a:r>
              <a:rPr sz="1200" b="1">
                <a:solidFill>
                  <a:srgbClr val="E5484D"/>
                </a:solidFill>
              </a:rPr>
              <a:t>02</a:t>
            </a:r>
          </a:p>
        </p:txBody>
      </p:sp>
      <p:sp>
        <p:nvSpPr>
          <p:cNvPr id="10" name="work-title-1">
            <a:extLst xmlns:a="http://schemas.openxmlformats.org/drawingml/2006/main">
              <a:ext uri="{FF2B5EF4-FFF2-40B4-BE49-F238E27FC236}">
                <a16:creationId xmlns:a16="http://schemas.microsoft.com/office/drawing/2014/main" id="{719A7614-3591-4FB4-B4B6-EDDF36CE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Better retrieval</a:t>
            </a:r>
          </a:p>
        </p:txBody>
      </p:sp>
      <p:sp>
        <p:nvSpPr>
          <p:cNvPr id="11" name="work-desc-1">
            <a:extLst xmlns:a="http://schemas.openxmlformats.org/drawingml/2006/main">
              <a:ext uri="{FF2B5EF4-FFF2-40B4-BE49-F238E27FC236}">
                <a16:creationId xmlns:a16="http://schemas.microsoft.com/office/drawing/2014/main" id="{E7E799AF-95BA-43F0-8289-8A01E711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Add RAG and page-level citations</a:t>
            </a:r>
          </a:p>
        </p:txBody>
      </p:sp>
      <p:sp>
        <p:nvSpPr>
          <p:cNvPr id="12" name="work-num-2">
            <a:extLst xmlns:a="http://schemas.openxmlformats.org/drawingml/2006/main">
              <a:ext uri="{FF2B5EF4-FFF2-40B4-BE49-F238E27FC236}">
                <a16:creationId xmlns:a16="http://schemas.microsoft.com/office/drawing/2014/main" id="{D08B0CB2-70A2-41EC-B9BF-E7E7C8D8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484D"/>
                </a:solidFill>
              </a:defRPr>
            </a:pPr>
            <a:r>
              <a:rPr sz="1200" b="1">
                <a:solidFill>
                  <a:srgbClr val="E5484D"/>
                </a:solidFill>
              </a:rPr>
              <a:t>03</a:t>
            </a:r>
          </a:p>
        </p:txBody>
      </p:sp>
      <p:sp>
        <p:nvSpPr>
          <p:cNvPr id="13" name="work-title-2">
            <a:extLst xmlns:a="http://schemas.openxmlformats.org/drawingml/2006/main">
              <a:ext uri="{FF2B5EF4-FFF2-40B4-BE49-F238E27FC236}">
                <a16:creationId xmlns:a16="http://schemas.microsoft.com/office/drawing/2014/main" id="{EC295785-2769-4220-90D9-C5EA1955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Broader inputs</a:t>
            </a:r>
          </a:p>
        </p:txBody>
      </p:sp>
      <p:sp>
        <p:nvSpPr>
          <p:cNvPr id="14" name="work-desc-2">
            <a:extLst xmlns:a="http://schemas.openxmlformats.org/drawingml/2006/main">
              <a:ext uri="{FF2B5EF4-FFF2-40B4-BE49-F238E27FC236}">
                <a16:creationId xmlns:a16="http://schemas.microsoft.com/office/drawing/2014/main" id="{90DF8DD2-F1E7-4CFC-928E-735C6F9B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Support OCR for scanned PDFs</a:t>
            </a:r>
          </a:p>
        </p:txBody>
      </p:sp>
      <p:sp>
        <p:nvSpPr>
          <p:cNvPr id="15" name="work-num-3">
            <a:extLst xmlns:a="http://schemas.openxmlformats.org/drawingml/2006/main">
              <a:ext uri="{FF2B5EF4-FFF2-40B4-BE49-F238E27FC236}">
                <a16:creationId xmlns:a16="http://schemas.microsoft.com/office/drawing/2014/main" id="{8C8E2B71-58AC-45DA-B3C7-A3FDBE1B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62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484D"/>
                </a:solidFill>
              </a:defRPr>
            </a:pPr>
            <a:r>
              <a:rPr sz="1200" b="1">
                <a:solidFill>
                  <a:srgbClr val="E5484D"/>
                </a:solidFill>
              </a:rPr>
              <a:t>04</a:t>
            </a:r>
          </a:p>
        </p:txBody>
      </p:sp>
      <p:sp>
        <p:nvSpPr>
          <p:cNvPr id="16" name="work-title-3">
            <a:extLst xmlns:a="http://schemas.openxmlformats.org/drawingml/2006/main">
              <a:ext uri="{FF2B5EF4-FFF2-40B4-BE49-F238E27FC236}">
                <a16:creationId xmlns:a16="http://schemas.microsoft.com/office/drawing/2014/main" id="{CF979A05-7FCB-4D24-82E9-B6C8F2DC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Cloud access</a:t>
            </a:r>
          </a:p>
        </p:txBody>
      </p:sp>
      <p:sp>
        <p:nvSpPr>
          <p:cNvPr id="17" name="work-desc-3">
            <a:extLst xmlns:a="http://schemas.openxmlformats.org/drawingml/2006/main">
              <a:ext uri="{FF2B5EF4-FFF2-40B4-BE49-F238E27FC236}">
                <a16:creationId xmlns:a16="http://schemas.microsoft.com/office/drawing/2014/main" id="{623AE4AC-CDE0-4886-8078-825080BB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Reduce reliance on SSH tunneling</a:t>
            </a:r>
          </a:p>
        </p:txBody>
      </p:sp>
      <p:sp>
        <p:nvSpPr>
          <p:cNvPr id="18" name="close-rule">
            <a:extLst xmlns:a="http://schemas.openxmlformats.org/drawingml/2006/main">
              <a:ext uri="{FF2B5EF4-FFF2-40B4-BE49-F238E27FC236}">
                <a16:creationId xmlns:a16="http://schemas.microsoft.com/office/drawing/2014/main" id="{4CE680E3-B677-49E6-A708-FD45329D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lose">
            <a:extLst xmlns:a="http://schemas.openxmlformats.org/drawingml/2006/main">
              <a:ext uri="{FF2B5EF4-FFF2-40B4-BE49-F238E27FC236}">
                <a16:creationId xmlns:a16="http://schemas.microsoft.com/office/drawing/2014/main" id="{03A0F50C-B4B8-4442-B85A-8491CFAE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Private Study Agent</a:t>
            </a:r>
          </a:p>
        </p:txBody>
      </p:sp>
      <p:sp>
        <p:nvSpPr>
          <p:cNvPr id="20" name="close-link">
            <a:extLst xmlns:a="http://schemas.openxmlformats.org/drawingml/2006/main">
              <a:ext uri="{FF2B5EF4-FFF2-40B4-BE49-F238E27FC236}">
                <a16:creationId xmlns:a16="http://schemas.microsoft.com/office/drawing/2014/main" id="{1956F246-2DAC-4C95-8DE1-4DC21FC9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76950"/>
            <a:ext cx="518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github.com/xmolly929/private-study-agent-amd</a:t>
            </a:r>
          </a:p>
        </p:txBody>
      </p:sp>
    </p:spTree>
    <p:extLst>
      <p:ext uri="{BB962C8B-B14F-4D97-AF65-F5344CB8AC3E}">
        <p14:creationId xmlns:p14="http://schemas.microsoft.com/office/powerpoint/2010/main" val="1378373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2026-08-06T13:55:32.3380000Z</dcterms:created>
  <dcterms:modified xsi:type="dcterms:W3CDTF">2026-08-06T13:55:32.3380000Z</dcterms:modified>
</coreProperties>
</file>