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80"/>
  </p:normalViewPr>
  <p:slideViewPr>
    <p:cSldViewPr snapToGrid="0">
      <p:cViewPr varScale="1">
        <p:scale>
          <a:sx n="144" d="100"/>
          <a:sy n="144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docs/submission/architecture.png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docs/submission/project_description.md, Problem</a:t>
            </a:r>
          </a:p>
          <a:p>
            <a:r>
              <a:t>- Synthetic Golden Case workflow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README.md, Access Modes</a:t>
            </a:r>
          </a:p>
          <a:p>
            <a:r>
              <a:t>- app/policy/local_endpoint.py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docs/submission/project_description.md, Multimodal Evidence Reconstruction</a:t>
            </a:r>
          </a:p>
          <a:p>
            <a:r>
              <a:t>- app/evidence</a:t>
            </a:r>
          </a:p>
          <a:p>
            <a:r>
              <a:t>- app/memory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Demo fixture: independent conflict case</a:t>
            </a:r>
          </a:p>
          <a:p>
            <a:r>
              <a:t>- app/agents/vehicle.py</a:t>
            </a:r>
          </a:p>
          <a:p>
            <a:r>
              <a:t>- docs/submission/project_description.md, Innovation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benchmarks/results Golden Case semantic output</a:t>
            </a:r>
          </a:p>
          <a:p>
            <a:r>
              <a:t>- app/agents/vehicle.py</a:t>
            </a:r>
          </a:p>
          <a:p>
            <a:r>
              <a:t>- app/agents/liability.py</a:t>
            </a:r>
          </a:p>
          <a:p>
            <a:r>
              <a:t>- app/rights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app/rights</a:t>
            </a:r>
          </a:p>
          <a:p>
            <a:r>
              <a:t>- docs/submission/project_description.md, Rights Workflow</a:t>
            </a:r>
          </a:p>
          <a:p>
            <a:r>
              <a:t>- app/graph/verifier.py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app/graph/verifier.py</a:t>
            </a:r>
          </a:p>
          <a:p>
            <a:r>
              <a:t>- app/policy</a:t>
            </a:r>
          </a:p>
          <a:p>
            <a:r>
              <a:t>- docs/submission/project_description.md, Human Approval and Safety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benchmarks/results/amd_baseline_vs_optimized.csv</a:t>
            </a:r>
          </a:p>
          <a:p>
            <a:r>
              <a:t>- benchmarks/results/prefix_cache</a:t>
            </a:r>
          </a:p>
          <a:p>
            <a:r>
              <a:t>- docs/submission/amd_optimization.md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benchmarks/results/concurrency_report.csv</a:t>
            </a:r>
          </a:p>
          <a:p>
            <a:r>
              <a:t>- benchmarks/results/stability</a:t>
            </a:r>
          </a:p>
          <a:p>
            <a:r>
              <a:t>- docs/submission/amd_optimization.md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docs/submission/project_description.md, Future Commercialization</a:t>
            </a:r>
          </a:p>
          <a:p>
            <a:r>
              <a:t>- docs/submission/privacy_security.md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ogo">
            <a:extLst>
              <a:ext uri="{FF2B5EF4-FFF2-40B4-BE49-F238E27FC236}">
                <a16:creationId xmlns:a16="http://schemas.microsoft.com/office/drawing/2014/main" id="{7EDAC19D-36A5-414B-AED8-7E3576F0882E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logo-text">
            <a:extLst>
              <a:ext uri="{FF2B5EF4-FFF2-40B4-BE49-F238E27FC236}">
                <a16:creationId xmlns:a16="http://schemas.microsoft.com/office/drawing/2014/main" id="{04B0E65F-247B-4019-BC12-68758BF4102D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723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AR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3117ED2C-CC49-458E-9C52-00FE92754ADE}"/>
              </a:ext>
            </a:extLst>
          </p:cNvPr>
          <p:cNvSpPr>
            <a:spLocks noGrp="1"/>
          </p:cNvSpPr>
          <p:nvPr/>
        </p:nvSpPr>
        <p:spPr>
          <a:xfrm>
            <a:off x="1581150" y="5524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ACCIDENT RIGHTS AGENT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CA475E7C-DAF5-4EBB-8F13-5A6588CF2860}"/>
              </a:ext>
            </a:extLst>
          </p:cNvPr>
          <p:cNvSpPr>
            <a:spLocks noGrp="1"/>
          </p:cNvSpPr>
          <p:nvPr/>
        </p:nvSpPr>
        <p:spPr>
          <a:xfrm>
            <a:off x="1600200" y="11430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Private AI for defensible claims decisions</a:t>
            </a:r>
          </a:p>
        </p:txBody>
      </p:sp>
      <p:sp>
        <p:nvSpPr>
          <p:cNvPr id="5" name="cover-promise">
            <a:extLst>
              <a:ext uri="{FF2B5EF4-FFF2-40B4-BE49-F238E27FC236}">
                <a16:creationId xmlns:a16="http://schemas.microsoft.com/office/drawing/2014/main" id="{959B2407-CB8F-4CE8-8E82-3C3FAEE38619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 FIRST.  DEADLINES VISIBLE.  HUMANS REMAIN IN CONTROL.</a:t>
            </a:r>
          </a:p>
        </p:txBody>
      </p:sp>
      <p:sp>
        <p:nvSpPr>
          <p:cNvPr id="6" name="cover-copy">
            <a:extLst>
              <a:ext uri="{FF2B5EF4-FFF2-40B4-BE49-F238E27FC236}">
                <a16:creationId xmlns:a16="http://schemas.microsoft.com/office/drawing/2014/main" id="{BF12C7F3-1EFC-47D5-89AA-B1D620A66C0C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1038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Reconstruct accident evidence, preserve uncertainty, and turn review windows into auditable action—entirely inside a local AMD Radeon deployment.</a:t>
            </a:r>
          </a:p>
        </p:txBody>
      </p:sp>
      <p:sp>
        <p:nvSpPr>
          <p:cNvPr id="7" name="cover-flow-0">
            <a:extLst>
              <a:ext uri="{FF2B5EF4-FFF2-40B4-BE49-F238E27FC236}">
                <a16:creationId xmlns:a16="http://schemas.microsoft.com/office/drawing/2014/main" id="{44D38400-056D-46D7-AA84-52B43BD15A4F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cover-arrow-0">
            <a:extLst>
              <a:ext uri="{FF2B5EF4-FFF2-40B4-BE49-F238E27FC236}">
                <a16:creationId xmlns:a16="http://schemas.microsoft.com/office/drawing/2014/main" id="{D6B57035-BDF3-4033-B5C9-FDE10DB9C604}"/>
              </a:ext>
            </a:extLst>
          </p:cNvPr>
          <p:cNvSpPr>
            <a:spLocks noGrp="1"/>
          </p:cNvSpPr>
          <p:nvPr/>
        </p:nvSpPr>
        <p:spPr>
          <a:xfrm>
            <a:off x="1866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cover-flow-1">
            <a:extLst>
              <a:ext uri="{FF2B5EF4-FFF2-40B4-BE49-F238E27FC236}">
                <a16:creationId xmlns:a16="http://schemas.microsoft.com/office/drawing/2014/main" id="{FC2FFBDE-047F-47FF-AE41-F04B60A23112}"/>
              </a:ext>
            </a:extLst>
          </p:cNvPr>
          <p:cNvSpPr>
            <a:spLocks noGrp="1"/>
          </p:cNvSpPr>
          <p:nvPr/>
        </p:nvSpPr>
        <p:spPr>
          <a:xfrm>
            <a:off x="2095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LEGAL RAG</a:t>
            </a:r>
          </a:p>
        </p:txBody>
      </p:sp>
      <p:sp>
        <p:nvSpPr>
          <p:cNvPr id="10" name="cover-arrow-1">
            <a:extLst>
              <a:ext uri="{FF2B5EF4-FFF2-40B4-BE49-F238E27FC236}">
                <a16:creationId xmlns:a16="http://schemas.microsoft.com/office/drawing/2014/main" id="{0EE7049A-013D-49B4-9E8E-417CDDF49E05}"/>
              </a:ext>
            </a:extLst>
          </p:cNvPr>
          <p:cNvSpPr>
            <a:spLocks noGrp="1"/>
          </p:cNvSpPr>
          <p:nvPr/>
        </p:nvSpPr>
        <p:spPr>
          <a:xfrm>
            <a:off x="3390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cover-flow-2">
            <a:extLst>
              <a:ext uri="{FF2B5EF4-FFF2-40B4-BE49-F238E27FC236}">
                <a16:creationId xmlns:a16="http://schemas.microsoft.com/office/drawing/2014/main" id="{2DF14B91-6D28-47DA-872E-7E5E335C4100}"/>
              </a:ext>
            </a:extLst>
          </p:cNvPr>
          <p:cNvSpPr>
            <a:spLocks noGrp="1"/>
          </p:cNvSpPr>
          <p:nvPr/>
        </p:nvSpPr>
        <p:spPr>
          <a:xfrm>
            <a:off x="3619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12" name="cover-arrow-2">
            <a:extLst>
              <a:ext uri="{FF2B5EF4-FFF2-40B4-BE49-F238E27FC236}">
                <a16:creationId xmlns:a16="http://schemas.microsoft.com/office/drawing/2014/main" id="{F1DF33D4-DED2-485F-AC7A-442DC5BFEE3A}"/>
              </a:ext>
            </a:extLst>
          </p:cNvPr>
          <p:cNvSpPr>
            <a:spLocks noGrp="1"/>
          </p:cNvSpPr>
          <p:nvPr/>
        </p:nvSpPr>
        <p:spPr>
          <a:xfrm>
            <a:off x="4914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cover-flow-3">
            <a:extLst>
              <a:ext uri="{FF2B5EF4-FFF2-40B4-BE49-F238E27FC236}">
                <a16:creationId xmlns:a16="http://schemas.microsoft.com/office/drawing/2014/main" id="{B336B1FB-D3EB-4788-AAF0-F1F3ADFA3A9D}"/>
              </a:ext>
            </a:extLst>
          </p:cNvPr>
          <p:cNvSpPr>
            <a:spLocks noGrp="1"/>
          </p:cNvSpPr>
          <p:nvPr/>
        </p:nvSpPr>
        <p:spPr>
          <a:xfrm>
            <a:off x="5143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LIABILITY</a:t>
            </a:r>
          </a:p>
        </p:txBody>
      </p:sp>
      <p:sp>
        <p:nvSpPr>
          <p:cNvPr id="14" name="cover-arrow-3">
            <a:extLst>
              <a:ext uri="{FF2B5EF4-FFF2-40B4-BE49-F238E27FC236}">
                <a16:creationId xmlns:a16="http://schemas.microsoft.com/office/drawing/2014/main" id="{2EB47622-E87E-4D5E-918C-0EA73C3EEB30}"/>
              </a:ext>
            </a:extLst>
          </p:cNvPr>
          <p:cNvSpPr>
            <a:spLocks noGrp="1"/>
          </p:cNvSpPr>
          <p:nvPr/>
        </p:nvSpPr>
        <p:spPr>
          <a:xfrm>
            <a:off x="6438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cover-flow-4">
            <a:extLst>
              <a:ext uri="{FF2B5EF4-FFF2-40B4-BE49-F238E27FC236}">
                <a16:creationId xmlns:a16="http://schemas.microsoft.com/office/drawing/2014/main" id="{9C3EB9A7-3762-4379-A356-F5929A936455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sp>
        <p:nvSpPr>
          <p:cNvPr id="16" name="cover-arrow-4">
            <a:extLst>
              <a:ext uri="{FF2B5EF4-FFF2-40B4-BE49-F238E27FC236}">
                <a16:creationId xmlns:a16="http://schemas.microsoft.com/office/drawing/2014/main" id="{2269DCCF-74B6-4373-9E9F-A7EFC3DE3C1C}"/>
              </a:ext>
            </a:extLst>
          </p:cNvPr>
          <p:cNvSpPr>
            <a:spLocks noGrp="1"/>
          </p:cNvSpPr>
          <p:nvPr/>
        </p:nvSpPr>
        <p:spPr>
          <a:xfrm>
            <a:off x="7962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cover-flow-5">
            <a:extLst>
              <a:ext uri="{FF2B5EF4-FFF2-40B4-BE49-F238E27FC236}">
                <a16:creationId xmlns:a16="http://schemas.microsoft.com/office/drawing/2014/main" id="{60FB1A1F-F378-43A2-BB4A-D6D95A5F2347}"/>
              </a:ext>
            </a:extLst>
          </p:cNvPr>
          <p:cNvSpPr>
            <a:spLocks noGrp="1"/>
          </p:cNvSpPr>
          <p:nvPr/>
        </p:nvSpPr>
        <p:spPr>
          <a:xfrm>
            <a:off x="8191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18" name="cover-arrow-5">
            <a:extLst>
              <a:ext uri="{FF2B5EF4-FFF2-40B4-BE49-F238E27FC236}">
                <a16:creationId xmlns:a16="http://schemas.microsoft.com/office/drawing/2014/main" id="{4C45BA8C-3CE6-4F39-8F72-FEDF472B5DE4}"/>
              </a:ext>
            </a:extLst>
          </p:cNvPr>
          <p:cNvSpPr>
            <a:spLocks noGrp="1"/>
          </p:cNvSpPr>
          <p:nvPr/>
        </p:nvSpPr>
        <p:spPr>
          <a:xfrm>
            <a:off x="9486900" y="39433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cover-flow-6">
            <a:extLst>
              <a:ext uri="{FF2B5EF4-FFF2-40B4-BE49-F238E27FC236}">
                <a16:creationId xmlns:a16="http://schemas.microsoft.com/office/drawing/2014/main" id="{C0C17EC4-B07E-4080-B26A-980496DFFB8E}"/>
              </a:ext>
            </a:extLst>
          </p:cNvPr>
          <p:cNvSpPr>
            <a:spLocks noGrp="1"/>
          </p:cNvSpPr>
          <p:nvPr/>
        </p:nvSpPr>
        <p:spPr>
          <a:xfrm>
            <a:off x="9715500" y="3905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0" name="cover-proof">
            <a:extLst>
              <a:ext uri="{FF2B5EF4-FFF2-40B4-BE49-F238E27FC236}">
                <a16:creationId xmlns:a16="http://schemas.microsoft.com/office/drawing/2014/main" id="{A8D895FE-9250-4568-BD32-67E26B0AFEDB}"/>
              </a:ext>
            </a:extLst>
          </p:cNvPr>
          <p:cNvSpPr>
            <a:spLocks noGrp="1"/>
          </p:cNvSpPr>
          <p:nvPr/>
        </p:nvSpPr>
        <p:spPr>
          <a:xfrm>
            <a:off x="552450" y="4781550"/>
            <a:ext cx="11087100" cy="990600"/>
          </a:xfrm>
          <a:prstGeom prst="roundRect">
            <a:avLst>
              <a:gd name="adj" fmla="val 15385"/>
            </a:avLst>
          </a:prstGeom>
          <a:solidFill>
            <a:srgbClr val="092636"/>
          </a:solidFill>
          <a:ln w="11430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cover-proof-left">
            <a:extLst>
              <a:ext uri="{FF2B5EF4-FFF2-40B4-BE49-F238E27FC236}">
                <a16:creationId xmlns:a16="http://schemas.microsoft.com/office/drawing/2014/main" id="{8E2A3273-68BF-4853-8C83-B827C0396D95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TRACK 2 · DATALINK</a:t>
            </a:r>
          </a:p>
        </p:txBody>
      </p:sp>
      <p:sp>
        <p:nvSpPr>
          <p:cNvPr id="22" name="cover-proof-mid">
            <a:extLst>
              <a:ext uri="{FF2B5EF4-FFF2-40B4-BE49-F238E27FC236}">
                <a16:creationId xmlns:a16="http://schemas.microsoft.com/office/drawing/2014/main" id="{E748D1B1-5C63-47A0-B160-3A12B89C4A35}"/>
              </a:ext>
            </a:extLst>
          </p:cNvPr>
          <p:cNvSpPr>
            <a:spLocks noGrp="1"/>
          </p:cNvSpPr>
          <p:nvPr/>
        </p:nvSpPr>
        <p:spPr>
          <a:xfrm>
            <a:off x="4248150" y="5029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AMD RADEON · ROCm · LOCAL vLLM</a:t>
            </a:r>
          </a:p>
        </p:txBody>
      </p:sp>
      <p:sp>
        <p:nvSpPr>
          <p:cNvPr id="23" name="cover-proof-right">
            <a:extLst>
              <a:ext uri="{FF2B5EF4-FFF2-40B4-BE49-F238E27FC236}">
                <a16:creationId xmlns:a16="http://schemas.microsoft.com/office/drawing/2014/main" id="{74A4E1EF-881B-49C5-8AEE-78508CEB2B8F}"/>
              </a:ext>
            </a:extLst>
          </p:cNvPr>
          <p:cNvSpPr>
            <a:spLocks noGrp="1"/>
          </p:cNvSpPr>
          <p:nvPr/>
        </p:nvSpPr>
        <p:spPr>
          <a:xfrm>
            <a:off x="9029700" y="5029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APACHE-2.0</a:t>
            </a:r>
          </a:p>
        </p:txBody>
      </p:sp>
      <p:sp>
        <p:nvSpPr>
          <p:cNvPr id="24" name="cover-foot">
            <a:extLst>
              <a:ext uri="{FF2B5EF4-FFF2-40B4-BE49-F238E27FC236}">
                <a16:creationId xmlns:a16="http://schemas.microsoft.com/office/drawing/2014/main" id="{90B92A30-3E37-4222-AB9F-DB32EF018346}"/>
              </a:ext>
            </a:extLst>
          </p:cNvPr>
          <p:cNvSpPr>
            <a:spLocks noGrp="1"/>
          </p:cNvSpPr>
          <p:nvPr/>
        </p:nvSpPr>
        <p:spPr>
          <a:xfrm>
            <a:off x="781050" y="5391150"/>
            <a:ext cx="1034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Decision support—never an automatic ruling, filing, or payment.</a:t>
            </a:r>
          </a:p>
        </p:txBody>
      </p:sp>
    </p:spTree>
    <p:extLst>
      <p:ext uri="{BB962C8B-B14F-4D97-AF65-F5344CB8AC3E}">
        <p14:creationId xmlns:p14="http://schemas.microsoft.com/office/powerpoint/2010/main" val="83710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-2">
            <a:extLst>
              <a:ext uri="{FF2B5EF4-FFF2-40B4-BE49-F238E27FC236}">
                <a16:creationId xmlns:a16="http://schemas.microsoft.com/office/drawing/2014/main" id="{B979DFB4-6194-41ED-AEB7-77C6107BB025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7D5FE54-994A-47D5-9D0B-4863F8ECEF6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67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 traffic accident becomes an information crisis in hours.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B175BE1F-109E-4D93-AC30-8BBF57CD5D0A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0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Evidence arrives on different clocks while review and re-appraisal windows keep moving.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FE159670-866B-4A46-B3B5-3A84151D65B1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2">
            <a:extLst>
              <a:ext uri="{FF2B5EF4-FFF2-40B4-BE49-F238E27FC236}">
                <a16:creationId xmlns:a16="http://schemas.microsoft.com/office/drawing/2014/main" id="{CBBDFA50-66C0-44EA-85F2-F8C76EF479DC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2">
            <a:extLst>
              <a:ext uri="{FF2B5EF4-FFF2-40B4-BE49-F238E27FC236}">
                <a16:creationId xmlns:a16="http://schemas.microsoft.com/office/drawing/2014/main" id="{AB12CBF8-2BEF-4865-B18D-2C12A65BEFF9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7E6360F6-0667-4E05-8C40-477706BD2419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9525000" cy="0"/>
          </a:xfrm>
          <a:prstGeom prst="line">
            <a:avLst/>
          </a:prstGeom>
          <a:noFill/>
          <a:ln w="476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lock-0">
            <a:extLst>
              <a:ext uri="{FF2B5EF4-FFF2-40B4-BE49-F238E27FC236}">
                <a16:creationId xmlns:a16="http://schemas.microsoft.com/office/drawing/2014/main" id="{181F63D6-47E0-4323-B862-FA7166BC9A52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clock-label-0">
            <a:extLst>
              <a:ext uri="{FF2B5EF4-FFF2-40B4-BE49-F238E27FC236}">
                <a16:creationId xmlns:a16="http://schemas.microsoft.com/office/drawing/2014/main" id="{D5271B04-4030-4E1D-864B-40E0DC157D45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0" name="clock-copy-0">
            <a:extLst>
              <a:ext uri="{FF2B5EF4-FFF2-40B4-BE49-F238E27FC236}">
                <a16:creationId xmlns:a16="http://schemas.microsoft.com/office/drawing/2014/main" id="{D7365F34-0D4B-4C1A-93AC-B52477390A7B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can be overwritten</a:t>
            </a:r>
          </a:p>
        </p:txBody>
      </p:sp>
      <p:sp>
        <p:nvSpPr>
          <p:cNvPr id="11" name="clock-1">
            <a:extLst>
              <a:ext uri="{FF2B5EF4-FFF2-40B4-BE49-F238E27FC236}">
                <a16:creationId xmlns:a16="http://schemas.microsoft.com/office/drawing/2014/main" id="{1A5B342B-1C06-4DCA-869B-8D1E0BC2C61B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62C9EB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clock-label-1">
            <a:extLst>
              <a:ext uri="{FF2B5EF4-FFF2-40B4-BE49-F238E27FC236}">
                <a16:creationId xmlns:a16="http://schemas.microsoft.com/office/drawing/2014/main" id="{F4985412-4816-47AF-9A1A-073653377A1E}"/>
              </a:ext>
            </a:extLst>
          </p:cNvPr>
          <p:cNvSpPr>
            <a:spLocks noGrp="1"/>
          </p:cNvSpPr>
          <p:nvPr/>
        </p:nvSpPr>
        <p:spPr>
          <a:xfrm>
            <a:off x="3333750" y="3867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PHOTOS</a:t>
            </a:r>
          </a:p>
        </p:txBody>
      </p:sp>
      <p:sp>
        <p:nvSpPr>
          <p:cNvPr id="13" name="clock-copy-1">
            <a:extLst>
              <a:ext uri="{FF2B5EF4-FFF2-40B4-BE49-F238E27FC236}">
                <a16:creationId xmlns:a16="http://schemas.microsoft.com/office/drawing/2014/main" id="{8E275E2B-30F3-4969-BA26-9AC4CF1DD501}"/>
              </a:ext>
            </a:extLst>
          </p:cNvPr>
          <p:cNvSpPr>
            <a:spLocks noGrp="1"/>
          </p:cNvSpPr>
          <p:nvPr/>
        </p:nvSpPr>
        <p:spPr>
          <a:xfrm>
            <a:off x="3333750" y="4210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lose scene context</a:t>
            </a:r>
          </a:p>
        </p:txBody>
      </p:sp>
      <p:sp>
        <p:nvSpPr>
          <p:cNvPr id="14" name="clock-2">
            <a:extLst>
              <a:ext uri="{FF2B5EF4-FFF2-40B4-BE49-F238E27FC236}">
                <a16:creationId xmlns:a16="http://schemas.microsoft.com/office/drawing/2014/main" id="{3BF63428-46DC-42F2-B069-7CE872A92C52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clock-label-2">
            <a:extLst>
              <a:ext uri="{FF2B5EF4-FFF2-40B4-BE49-F238E27FC236}">
                <a16:creationId xmlns:a16="http://schemas.microsoft.com/office/drawing/2014/main" id="{9D9B85DF-05E5-4B6F-9553-6D0006146A61}"/>
              </a:ext>
            </a:extLst>
          </p:cNvPr>
          <p:cNvSpPr>
            <a:spLocks noGrp="1"/>
          </p:cNvSpPr>
          <p:nvPr/>
        </p:nvSpPr>
        <p:spPr>
          <a:xfrm>
            <a:off x="6096000" y="3867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16" name="clock-copy-2">
            <a:extLst>
              <a:ext uri="{FF2B5EF4-FFF2-40B4-BE49-F238E27FC236}">
                <a16:creationId xmlns:a16="http://schemas.microsoft.com/office/drawing/2014/main" id="{A961AB66-A535-48B2-BB69-48F5FC9AFF84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start to conflict</a:t>
            </a:r>
          </a:p>
        </p:txBody>
      </p:sp>
      <p:sp>
        <p:nvSpPr>
          <p:cNvPr id="17" name="clock-3">
            <a:extLst>
              <a:ext uri="{FF2B5EF4-FFF2-40B4-BE49-F238E27FC236}">
                <a16:creationId xmlns:a16="http://schemas.microsoft.com/office/drawing/2014/main" id="{7F7934EB-9069-4D3E-95F5-45633D5D996C}"/>
              </a:ext>
            </a:extLst>
          </p:cNvPr>
          <p:cNvSpPr>
            <a:spLocks noGrp="1"/>
          </p:cNvSpPr>
          <p:nvPr/>
        </p:nvSpPr>
        <p:spPr>
          <a:xfrm>
            <a:off x="9086850" y="31051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705D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clock-label-3">
            <a:extLst>
              <a:ext uri="{FF2B5EF4-FFF2-40B4-BE49-F238E27FC236}">
                <a16:creationId xmlns:a16="http://schemas.microsoft.com/office/drawing/2014/main" id="{61831F9F-66C1-40F7-9498-C10908C284EB}"/>
              </a:ext>
            </a:extLst>
          </p:cNvPr>
          <p:cNvSpPr>
            <a:spLocks noGrp="1"/>
          </p:cNvSpPr>
          <p:nvPr/>
        </p:nvSpPr>
        <p:spPr>
          <a:xfrm>
            <a:off x="8858250" y="38671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DEADLINES</a:t>
            </a:r>
          </a:p>
        </p:txBody>
      </p:sp>
      <p:sp>
        <p:nvSpPr>
          <p:cNvPr id="19" name="clock-copy-3">
            <a:extLst>
              <a:ext uri="{FF2B5EF4-FFF2-40B4-BE49-F238E27FC236}">
                <a16:creationId xmlns:a16="http://schemas.microsoft.com/office/drawing/2014/main" id="{17316C87-0EEF-4849-8471-53A898E22C27}"/>
              </a:ext>
            </a:extLst>
          </p:cNvPr>
          <p:cNvSpPr>
            <a:spLocks noGrp="1"/>
          </p:cNvSpPr>
          <p:nvPr/>
        </p:nvSpPr>
        <p:spPr>
          <a:xfrm>
            <a:off x="8858250" y="4210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continue to run</a:t>
            </a:r>
          </a:p>
        </p:txBody>
      </p:sp>
      <p:sp>
        <p:nvSpPr>
          <p:cNvPr id="20" name="problem-thesis">
            <a:extLst>
              <a:ext uri="{FF2B5EF4-FFF2-40B4-BE49-F238E27FC236}">
                <a16:creationId xmlns:a16="http://schemas.microsoft.com/office/drawing/2014/main" id="{54C44E9E-2F65-4A8E-851B-073323E5B0F3}"/>
              </a:ext>
            </a:extLst>
          </p:cNvPr>
          <p:cNvSpPr>
            <a:spLocks noGrp="1"/>
          </p:cNvSpPr>
          <p:nvPr/>
        </p:nvSpPr>
        <p:spPr>
          <a:xfrm>
            <a:off x="514350" y="5219700"/>
            <a:ext cx="11163300" cy="857250"/>
          </a:xfrm>
          <a:prstGeom prst="roundRect">
            <a:avLst>
              <a:gd name="adj" fmla="val 17778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problem-thesis-label">
            <a:extLst>
              <a:ext uri="{FF2B5EF4-FFF2-40B4-BE49-F238E27FC236}">
                <a16:creationId xmlns:a16="http://schemas.microsoft.com/office/drawing/2014/main" id="{42868250-9A98-4917-A922-3E59A6062F2E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THE CREATIVE WEDGE</a:t>
            </a:r>
          </a:p>
        </p:txBody>
      </p:sp>
      <p:sp>
        <p:nvSpPr>
          <p:cNvPr id="22" name="problem-thesis-copy">
            <a:extLst>
              <a:ext uri="{FF2B5EF4-FFF2-40B4-BE49-F238E27FC236}">
                <a16:creationId xmlns:a16="http://schemas.microsoft.com/office/drawing/2014/main" id="{3BFFB07F-316C-48C2-B16B-D77E85D9AC6B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Preserve the person’s options before the system tries to predict the outcome.</a:t>
            </a:r>
          </a:p>
        </p:txBody>
      </p:sp>
    </p:spTree>
    <p:extLst>
      <p:ext uri="{BB962C8B-B14F-4D97-AF65-F5344CB8AC3E}">
        <p14:creationId xmlns:p14="http://schemas.microsoft.com/office/powerpoint/2010/main" val="311778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-3">
            <a:extLst>
              <a:ext uri="{FF2B5EF4-FFF2-40B4-BE49-F238E27FC236}">
                <a16:creationId xmlns:a16="http://schemas.microsoft.com/office/drawing/2014/main" id="{4BA2591B-6EB2-4F8E-B65E-45DCB990E4F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PRIVATE BY DESIGN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73D3891F-21ED-41FA-98D6-AB5C64F9282D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The browser is remote. The intelligence is not.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7C6E5258-B810-40C6-8A1C-D2FC03504309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0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Only Gradio port 7860 is forwarded; the model endpoint stays on Radeon loopback.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82BA7900-4F2A-463F-ADA4-E5C6A7F32326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3">
            <a:extLst>
              <a:ext uri="{FF2B5EF4-FFF2-40B4-BE49-F238E27FC236}">
                <a16:creationId xmlns:a16="http://schemas.microsoft.com/office/drawing/2014/main" id="{6DA83451-E88A-4449-93A4-3C3B4FE03DCB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3">
            <a:extLst>
              <a:ext uri="{FF2B5EF4-FFF2-40B4-BE49-F238E27FC236}">
                <a16:creationId xmlns:a16="http://schemas.microsoft.com/office/drawing/2014/main" id="{B7205E4D-3C66-4E97-9AF8-B1849A3B726F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3-01-card">
            <a:extLst>
              <a:ext uri="{FF2B5EF4-FFF2-40B4-BE49-F238E27FC236}">
                <a16:creationId xmlns:a16="http://schemas.microsoft.com/office/drawing/2014/main" id="{C48E6CCD-FA37-4CBB-89F3-B478EB519699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247650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3-01-pill">
            <a:extLst>
              <a:ext uri="{FF2B5EF4-FFF2-40B4-BE49-F238E27FC236}">
                <a16:creationId xmlns:a16="http://schemas.microsoft.com/office/drawing/2014/main" id="{6B4F2768-F1E5-42CE-8181-29C1BFF4C229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3-01-title">
            <a:extLst>
              <a:ext uri="{FF2B5EF4-FFF2-40B4-BE49-F238E27FC236}">
                <a16:creationId xmlns:a16="http://schemas.microsoft.com/office/drawing/2014/main" id="{471B0A1A-E8CF-4593-B01C-4EB2E817BCC6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Mac Chrome</a:t>
            </a:r>
          </a:p>
        </p:txBody>
      </p:sp>
      <p:sp>
        <p:nvSpPr>
          <p:cNvPr id="10" name="s3-01-copy">
            <a:extLst>
              <a:ext uri="{FF2B5EF4-FFF2-40B4-BE49-F238E27FC236}">
                <a16:creationId xmlns:a16="http://schemas.microsoft.com/office/drawing/2014/main" id="{761FCBB1-199F-45D0-B4D2-44C24DFCF751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133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Reviewer sees the UI at http://127.0.0.1:7860.</a:t>
            </a:r>
          </a:p>
        </p:txBody>
      </p:sp>
      <p:sp>
        <p:nvSpPr>
          <p:cNvPr id="11" name="s3-02-card">
            <a:extLst>
              <a:ext uri="{FF2B5EF4-FFF2-40B4-BE49-F238E27FC236}">
                <a16:creationId xmlns:a16="http://schemas.microsoft.com/office/drawing/2014/main" id="{CA20EF42-BAF3-462E-BD0A-D1BFFC2DFA85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47650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3-02-pill">
            <a:extLst>
              <a:ext uri="{FF2B5EF4-FFF2-40B4-BE49-F238E27FC236}">
                <a16:creationId xmlns:a16="http://schemas.microsoft.com/office/drawing/2014/main" id="{A7C759CE-DE27-4097-9B5B-C25156F9C2D0}"/>
              </a:ext>
            </a:extLst>
          </p:cNvPr>
          <p:cNvSpPr>
            <a:spLocks noGrp="1"/>
          </p:cNvSpPr>
          <p:nvPr/>
        </p:nvSpPr>
        <p:spPr>
          <a:xfrm>
            <a:off x="3619500" y="24955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s3-02-title">
            <a:extLst>
              <a:ext uri="{FF2B5EF4-FFF2-40B4-BE49-F238E27FC236}">
                <a16:creationId xmlns:a16="http://schemas.microsoft.com/office/drawing/2014/main" id="{F638583B-ECE0-4299-A9A5-F24AA4DE9985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SSH Tunnel</a:t>
            </a:r>
          </a:p>
        </p:txBody>
      </p:sp>
      <p:sp>
        <p:nvSpPr>
          <p:cNvPr id="14" name="s3-02-copy">
            <a:extLst>
              <a:ext uri="{FF2B5EF4-FFF2-40B4-BE49-F238E27FC236}">
                <a16:creationId xmlns:a16="http://schemas.microsoft.com/office/drawing/2014/main" id="{B12457E1-6ED3-4F93-A934-DE93BB14BF7E}"/>
              </a:ext>
            </a:extLst>
          </p:cNvPr>
          <p:cNvSpPr>
            <a:spLocks noGrp="1"/>
          </p:cNvSpPr>
          <p:nvPr/>
        </p:nvSpPr>
        <p:spPr>
          <a:xfrm>
            <a:off x="3619500" y="3390900"/>
            <a:ext cx="2133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-L 7860:127.0.0.1:7860. No Cloud Proxy.</a:t>
            </a:r>
          </a:p>
        </p:txBody>
      </p:sp>
      <p:sp>
        <p:nvSpPr>
          <p:cNvPr id="15" name="radeon-boundary">
            <a:extLst>
              <a:ext uri="{FF2B5EF4-FFF2-40B4-BE49-F238E27FC236}">
                <a16:creationId xmlns:a16="http://schemas.microsoft.com/office/drawing/2014/main" id="{2BACB2D1-008F-4488-89AC-34837BB85AFE}"/>
              </a:ext>
            </a:extLst>
          </p:cNvPr>
          <p:cNvSpPr>
            <a:spLocks noGrp="1"/>
          </p:cNvSpPr>
          <p:nvPr/>
        </p:nvSpPr>
        <p:spPr>
          <a:xfrm>
            <a:off x="6438900" y="2152650"/>
            <a:ext cx="5238750" cy="2857500"/>
          </a:xfrm>
          <a:prstGeom prst="roundRect">
            <a:avLst>
              <a:gd name="adj" fmla="val 6000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adeon-pill">
            <a:extLst>
              <a:ext uri="{FF2B5EF4-FFF2-40B4-BE49-F238E27FC236}">
                <a16:creationId xmlns:a16="http://schemas.microsoft.com/office/drawing/2014/main" id="{D5CA6DFF-686C-440B-89C5-237C1C040828}"/>
              </a:ext>
            </a:extLst>
          </p:cNvPr>
          <p:cNvSpPr>
            <a:spLocks noGrp="1"/>
          </p:cNvSpPr>
          <p:nvPr/>
        </p:nvSpPr>
        <p:spPr>
          <a:xfrm>
            <a:off x="6667500" y="2362200"/>
            <a:ext cx="19240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AMD RADEON CLOUD</a:t>
            </a:r>
          </a:p>
        </p:txBody>
      </p:sp>
      <p:sp>
        <p:nvSpPr>
          <p:cNvPr id="17" name="stack-0">
            <a:extLst>
              <a:ext uri="{FF2B5EF4-FFF2-40B4-BE49-F238E27FC236}">
                <a16:creationId xmlns:a16="http://schemas.microsoft.com/office/drawing/2014/main" id="{FE1DE3B7-BE3C-45F7-9A84-2B330170295A}"/>
              </a:ext>
            </a:extLst>
          </p:cNvPr>
          <p:cNvSpPr>
            <a:spLocks noGrp="1"/>
          </p:cNvSpPr>
          <p:nvPr/>
        </p:nvSpPr>
        <p:spPr>
          <a:xfrm>
            <a:off x="6762750" y="28194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D3040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tack-label-0">
            <a:extLst>
              <a:ext uri="{FF2B5EF4-FFF2-40B4-BE49-F238E27FC236}">
                <a16:creationId xmlns:a16="http://schemas.microsoft.com/office/drawing/2014/main" id="{45B40089-48AE-4202-983D-5BF484F364C7}"/>
              </a:ext>
            </a:extLst>
          </p:cNvPr>
          <p:cNvSpPr>
            <a:spLocks noGrp="1"/>
          </p:cNvSpPr>
          <p:nvPr/>
        </p:nvSpPr>
        <p:spPr>
          <a:xfrm>
            <a:off x="6934200" y="29146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GRADIO UI</a:t>
            </a:r>
          </a:p>
        </p:txBody>
      </p:sp>
      <p:sp>
        <p:nvSpPr>
          <p:cNvPr id="19" name="stack-copy-0">
            <a:extLst>
              <a:ext uri="{FF2B5EF4-FFF2-40B4-BE49-F238E27FC236}">
                <a16:creationId xmlns:a16="http://schemas.microsoft.com/office/drawing/2014/main" id="{31E4C134-72B3-4FA9-9803-0FFF75CDA8D9}"/>
              </a:ext>
            </a:extLst>
          </p:cNvPr>
          <p:cNvSpPr>
            <a:spLocks noGrp="1"/>
          </p:cNvSpPr>
          <p:nvPr/>
        </p:nvSpPr>
        <p:spPr>
          <a:xfrm>
            <a:off x="9067800" y="29146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127.0.0.1:7860</a:t>
            </a:r>
          </a:p>
        </p:txBody>
      </p:sp>
      <p:sp>
        <p:nvSpPr>
          <p:cNvPr id="20" name="stack-1">
            <a:extLst>
              <a:ext uri="{FF2B5EF4-FFF2-40B4-BE49-F238E27FC236}">
                <a16:creationId xmlns:a16="http://schemas.microsoft.com/office/drawing/2014/main" id="{B3EE1BB2-3415-429F-95FE-6F405DD43C2D}"/>
              </a:ext>
            </a:extLst>
          </p:cNvPr>
          <p:cNvSpPr>
            <a:spLocks noGrp="1"/>
          </p:cNvSpPr>
          <p:nvPr/>
        </p:nvSpPr>
        <p:spPr>
          <a:xfrm>
            <a:off x="6762750" y="33147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D3040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tack-label-1">
            <a:extLst>
              <a:ext uri="{FF2B5EF4-FFF2-40B4-BE49-F238E27FC236}">
                <a16:creationId xmlns:a16="http://schemas.microsoft.com/office/drawing/2014/main" id="{8BAC8807-5231-460A-BC97-85B62F075B0C}"/>
              </a:ext>
            </a:extLst>
          </p:cNvPr>
          <p:cNvSpPr>
            <a:spLocks noGrp="1"/>
          </p:cNvSpPr>
          <p:nvPr/>
        </p:nvSpPr>
        <p:spPr>
          <a:xfrm>
            <a:off x="6934200" y="3409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LANGGRAPH AGENT</a:t>
            </a:r>
          </a:p>
        </p:txBody>
      </p:sp>
      <p:sp>
        <p:nvSpPr>
          <p:cNvPr id="22" name="stack-copy-1">
            <a:extLst>
              <a:ext uri="{FF2B5EF4-FFF2-40B4-BE49-F238E27FC236}">
                <a16:creationId xmlns:a16="http://schemas.microsoft.com/office/drawing/2014/main" id="{507AE8F8-375D-4DBD-8394-39B44D0B3995}"/>
              </a:ext>
            </a:extLst>
          </p:cNvPr>
          <p:cNvSpPr>
            <a:spLocks noGrp="1"/>
          </p:cNvSpPr>
          <p:nvPr/>
        </p:nvSpPr>
        <p:spPr>
          <a:xfrm>
            <a:off x="9067800" y="3409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case workflow + checkpoint</a:t>
            </a:r>
          </a:p>
        </p:txBody>
      </p:sp>
      <p:sp>
        <p:nvSpPr>
          <p:cNvPr id="23" name="stack-2">
            <a:extLst>
              <a:ext uri="{FF2B5EF4-FFF2-40B4-BE49-F238E27FC236}">
                <a16:creationId xmlns:a16="http://schemas.microsoft.com/office/drawing/2014/main" id="{F4CCB53E-A65C-4BBF-B383-80A978749431}"/>
              </a:ext>
            </a:extLst>
          </p:cNvPr>
          <p:cNvSpPr>
            <a:spLocks noGrp="1"/>
          </p:cNvSpPr>
          <p:nvPr/>
        </p:nvSpPr>
        <p:spPr>
          <a:xfrm>
            <a:off x="6762750" y="38100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D3040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tack-label-2">
            <a:extLst>
              <a:ext uri="{FF2B5EF4-FFF2-40B4-BE49-F238E27FC236}">
                <a16:creationId xmlns:a16="http://schemas.microsoft.com/office/drawing/2014/main" id="{58042FB1-7D63-428C-B508-4568E9990845}"/>
              </a:ext>
            </a:extLst>
          </p:cNvPr>
          <p:cNvSpPr>
            <a:spLocks noGrp="1"/>
          </p:cNvSpPr>
          <p:nvPr/>
        </p:nvSpPr>
        <p:spPr>
          <a:xfrm>
            <a:off x="6934200" y="3905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LOCAL vLLM</a:t>
            </a:r>
          </a:p>
        </p:txBody>
      </p:sp>
      <p:sp>
        <p:nvSpPr>
          <p:cNvPr id="25" name="stack-copy-2">
            <a:extLst>
              <a:ext uri="{FF2B5EF4-FFF2-40B4-BE49-F238E27FC236}">
                <a16:creationId xmlns:a16="http://schemas.microsoft.com/office/drawing/2014/main" id="{436E192A-E8B1-47CA-AC6D-D32AB9619A65}"/>
              </a:ext>
            </a:extLst>
          </p:cNvPr>
          <p:cNvSpPr>
            <a:spLocks noGrp="1"/>
          </p:cNvSpPr>
          <p:nvPr/>
        </p:nvSpPr>
        <p:spPr>
          <a:xfrm>
            <a:off x="9067800" y="3905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127.0.0.1:8000</a:t>
            </a:r>
          </a:p>
        </p:txBody>
      </p:sp>
      <p:sp>
        <p:nvSpPr>
          <p:cNvPr id="26" name="stack-3">
            <a:extLst>
              <a:ext uri="{FF2B5EF4-FFF2-40B4-BE49-F238E27FC236}">
                <a16:creationId xmlns:a16="http://schemas.microsoft.com/office/drawing/2014/main" id="{1AEFEE89-72AB-4695-82B6-30E556A5AE7F}"/>
              </a:ext>
            </a:extLst>
          </p:cNvPr>
          <p:cNvSpPr>
            <a:spLocks noGrp="1"/>
          </p:cNvSpPr>
          <p:nvPr/>
        </p:nvSpPr>
        <p:spPr>
          <a:xfrm>
            <a:off x="6762750" y="43053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D3040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tack-label-3">
            <a:extLst>
              <a:ext uri="{FF2B5EF4-FFF2-40B4-BE49-F238E27FC236}">
                <a16:creationId xmlns:a16="http://schemas.microsoft.com/office/drawing/2014/main" id="{403773EF-ED82-4BA6-9327-D462FCF0248E}"/>
              </a:ext>
            </a:extLst>
          </p:cNvPr>
          <p:cNvSpPr>
            <a:spLocks noGrp="1"/>
          </p:cNvSpPr>
          <p:nvPr/>
        </p:nvSpPr>
        <p:spPr>
          <a:xfrm>
            <a:off x="6934200" y="44005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AMD RADEON GPU</a:t>
            </a:r>
          </a:p>
        </p:txBody>
      </p:sp>
      <p:sp>
        <p:nvSpPr>
          <p:cNvPr id="28" name="stack-copy-3">
            <a:extLst>
              <a:ext uri="{FF2B5EF4-FFF2-40B4-BE49-F238E27FC236}">
                <a16:creationId xmlns:a16="http://schemas.microsoft.com/office/drawing/2014/main" id="{888D589A-CDA6-4B04-8EA5-E195B3163490}"/>
              </a:ext>
            </a:extLst>
          </p:cNvPr>
          <p:cNvSpPr>
            <a:spLocks noGrp="1"/>
          </p:cNvSpPr>
          <p:nvPr/>
        </p:nvSpPr>
        <p:spPr>
          <a:xfrm>
            <a:off x="9067800" y="44005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ROCm inference</a:t>
            </a:r>
          </a:p>
        </p:txBody>
      </p:sp>
      <p:sp>
        <p:nvSpPr>
          <p:cNvPr id="29" name="tunnel-arrow">
            <a:extLst>
              <a:ext uri="{FF2B5EF4-FFF2-40B4-BE49-F238E27FC236}">
                <a16:creationId xmlns:a16="http://schemas.microsoft.com/office/drawing/2014/main" id="{EBE95390-6843-4197-950E-5A026C0CA552}"/>
              </a:ext>
            </a:extLst>
          </p:cNvPr>
          <p:cNvSpPr>
            <a:spLocks noGrp="1"/>
          </p:cNvSpPr>
          <p:nvPr/>
        </p:nvSpPr>
        <p:spPr>
          <a:xfrm>
            <a:off x="5972175" y="30289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private-proof">
            <a:extLst>
              <a:ext uri="{FF2B5EF4-FFF2-40B4-BE49-F238E27FC236}">
                <a16:creationId xmlns:a16="http://schemas.microsoft.com/office/drawing/2014/main" id="{84A98FDB-E706-4F4C-9A81-B85D8B52AF75}"/>
              </a:ext>
            </a:extLst>
          </p:cNvPr>
          <p:cNvSpPr>
            <a:spLocks noGrp="1"/>
          </p:cNvSpPr>
          <p:nvPr/>
        </p:nvSpPr>
        <p:spPr>
          <a:xfrm>
            <a:off x="514350" y="5314950"/>
            <a:ext cx="11163300" cy="781050"/>
          </a:xfrm>
          <a:prstGeom prst="roundRect">
            <a:avLst>
              <a:gd name="adj" fmla="val 17073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private-proof-copy">
            <a:extLst>
              <a:ext uri="{FF2B5EF4-FFF2-40B4-BE49-F238E27FC236}">
                <a16:creationId xmlns:a16="http://schemas.microsoft.com/office/drawing/2014/main" id="{7A9A9E51-8308-4610-81B9-4D486F0D2142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LOCAL DATA + LOCAL MODEL + LOCAL AUDIT  ·  PORT 8000 IS NEVER FORWARDED OR PUBLIC</a:t>
            </a:r>
          </a:p>
        </p:txBody>
      </p:sp>
    </p:spTree>
    <p:extLst>
      <p:ext uri="{BB962C8B-B14F-4D97-AF65-F5344CB8AC3E}">
        <p14:creationId xmlns:p14="http://schemas.microsoft.com/office/powerpoint/2010/main" val="208225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-4">
            <a:extLst>
              <a:ext uri="{FF2B5EF4-FFF2-40B4-BE49-F238E27FC236}">
                <a16:creationId xmlns:a16="http://schemas.microsoft.com/office/drawing/2014/main" id="{79F39068-282F-47D0-A113-5509D59EFDB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GOLDEN CASE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66B9CD0-8D6F-492E-B2BD-A926F27B5F93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One live case becomes a traceable case record.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9ADE02BF-BFAB-4EBF-B4AE-94ECF6728ADC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0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The Agent reconstructs the story before it allows a responsibility hypothesis.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7546A3D1-787C-4A18-B7BD-1E5F27ACCA2A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4">
            <a:extLst>
              <a:ext uri="{FF2B5EF4-FFF2-40B4-BE49-F238E27FC236}">
                <a16:creationId xmlns:a16="http://schemas.microsoft.com/office/drawing/2014/main" id="{0B2DC357-7A59-42F3-B621-0BD648B7302B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4">
            <a:extLst>
              <a:ext uri="{FF2B5EF4-FFF2-40B4-BE49-F238E27FC236}">
                <a16:creationId xmlns:a16="http://schemas.microsoft.com/office/drawing/2014/main" id="{1852497F-B12C-4FAB-9585-F6F2151C7566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golden-frame">
            <a:extLst>
              <a:ext uri="{FF2B5EF4-FFF2-40B4-BE49-F238E27FC236}">
                <a16:creationId xmlns:a16="http://schemas.microsoft.com/office/drawing/2014/main" id="{7C1AB81A-509E-4FF8-9644-A18ED901A554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6667500" cy="3714750"/>
          </a:xfrm>
          <a:prstGeom prst="roundRect">
            <a:avLst>
              <a:gd name="adj" fmla="val 4103"/>
            </a:avLst>
          </a:prstGeom>
          <a:solidFill>
            <a:srgbClr val="092636"/>
          </a:solidFill>
          <a:ln w="11430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1874" b="1874"/>
          <a:stretch>
            <a:fillRect/>
          </a:stretch>
        </p:blipFill>
        <p:spPr>
          <a:xfrm>
            <a:off x="628650" y="2266950"/>
            <a:ext cx="6438900" cy="3486150"/>
          </a:xfrm>
          <a:prstGeom prst="roundRect">
            <a:avLst>
              <a:gd name="adj" fmla="val 3825"/>
            </a:avLst>
          </a:prstGeom>
        </p:spPr>
      </p:pic>
      <p:sp>
        <p:nvSpPr>
          <p:cNvPr id="9" name="proof-0">
            <a:extLst>
              <a:ext uri="{FF2B5EF4-FFF2-40B4-BE49-F238E27FC236}">
                <a16:creationId xmlns:a16="http://schemas.microsoft.com/office/drawing/2014/main" id="{C58EE978-B2DE-4894-8E37-2D505DDA5150}"/>
              </a:ext>
            </a:extLst>
          </p:cNvPr>
          <p:cNvSpPr>
            <a:spLocks noGrp="1"/>
          </p:cNvSpPr>
          <p:nvPr/>
        </p:nvSpPr>
        <p:spPr>
          <a:xfrm>
            <a:off x="7524750" y="2152650"/>
            <a:ext cx="4152900" cy="704850"/>
          </a:xfrm>
          <a:prstGeom prst="roundRect">
            <a:avLst>
              <a:gd name="adj" fmla="val 18919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proof-title-0">
            <a:extLst>
              <a:ext uri="{FF2B5EF4-FFF2-40B4-BE49-F238E27FC236}">
                <a16:creationId xmlns:a16="http://schemas.microsoft.com/office/drawing/2014/main" id="{85C29CFD-5899-409E-B20F-7E8E4633388E}"/>
              </a:ext>
            </a:extLst>
          </p:cNvPr>
          <p:cNvSpPr>
            <a:spLocks noGrp="1"/>
          </p:cNvSpPr>
          <p:nvPr/>
        </p:nvSpPr>
        <p:spPr>
          <a:xfrm>
            <a:off x="7734300" y="23050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IMMUTABLE SOURCE</a:t>
            </a:r>
          </a:p>
        </p:txBody>
      </p:sp>
      <p:sp>
        <p:nvSpPr>
          <p:cNvPr id="11" name="proof-copy-0">
            <a:extLst>
              <a:ext uri="{FF2B5EF4-FFF2-40B4-BE49-F238E27FC236}">
                <a16:creationId xmlns:a16="http://schemas.microsoft.com/office/drawing/2014/main" id="{88C6323A-F1D5-4E64-9D43-A0EA5A7B86FB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SHA256 + source role</a:t>
            </a:r>
          </a:p>
        </p:txBody>
      </p:sp>
      <p:sp>
        <p:nvSpPr>
          <p:cNvPr id="12" name="proof-1">
            <a:extLst>
              <a:ext uri="{FF2B5EF4-FFF2-40B4-BE49-F238E27FC236}">
                <a16:creationId xmlns:a16="http://schemas.microsoft.com/office/drawing/2014/main" id="{74996BD8-0CA5-4A8A-B43B-8237A23956FC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4152900" cy="704850"/>
          </a:xfrm>
          <a:prstGeom prst="roundRect">
            <a:avLst>
              <a:gd name="adj" fmla="val 18919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proof-title-1">
            <a:extLst>
              <a:ext uri="{FF2B5EF4-FFF2-40B4-BE49-F238E27FC236}">
                <a16:creationId xmlns:a16="http://schemas.microsoft.com/office/drawing/2014/main" id="{98CCD9F7-2516-4154-B428-0B902D234B4D}"/>
              </a:ext>
            </a:extLst>
          </p:cNvPr>
          <p:cNvSpPr>
            <a:spLocks noGrp="1"/>
          </p:cNvSpPr>
          <p:nvPr/>
        </p:nvSpPr>
        <p:spPr>
          <a:xfrm>
            <a:off x="7734300" y="32004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EVIDENCE GRAPH</a:t>
            </a:r>
          </a:p>
        </p:txBody>
      </p:sp>
      <p:sp>
        <p:nvSpPr>
          <p:cNvPr id="14" name="proof-copy-1">
            <a:extLst>
              <a:ext uri="{FF2B5EF4-FFF2-40B4-BE49-F238E27FC236}">
                <a16:creationId xmlns:a16="http://schemas.microsoft.com/office/drawing/2014/main" id="{DEB61985-B3E4-427C-9337-1D8B579CA3D2}"/>
              </a:ext>
            </a:extLst>
          </p:cNvPr>
          <p:cNvSpPr>
            <a:spLocks noGrp="1"/>
          </p:cNvSpPr>
          <p:nvPr/>
        </p:nvSpPr>
        <p:spPr>
          <a:xfrm>
            <a:off x="7734300" y="34671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facts + timeline + conflicts</a:t>
            </a:r>
          </a:p>
        </p:txBody>
      </p:sp>
      <p:sp>
        <p:nvSpPr>
          <p:cNvPr id="15" name="proof-2">
            <a:extLst>
              <a:ext uri="{FF2B5EF4-FFF2-40B4-BE49-F238E27FC236}">
                <a16:creationId xmlns:a16="http://schemas.microsoft.com/office/drawing/2014/main" id="{3735EBE1-9F2A-409D-8367-87FA718022C9}"/>
              </a:ext>
            </a:extLst>
          </p:cNvPr>
          <p:cNvSpPr>
            <a:spLocks noGrp="1"/>
          </p:cNvSpPr>
          <p:nvPr/>
        </p:nvSpPr>
        <p:spPr>
          <a:xfrm>
            <a:off x="7524750" y="3943350"/>
            <a:ext cx="4152900" cy="704850"/>
          </a:xfrm>
          <a:prstGeom prst="roundRect">
            <a:avLst>
              <a:gd name="adj" fmla="val 18919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proof-title-2">
            <a:extLst>
              <a:ext uri="{FF2B5EF4-FFF2-40B4-BE49-F238E27FC236}">
                <a16:creationId xmlns:a16="http://schemas.microsoft.com/office/drawing/2014/main" id="{D6D76AB6-FEC8-453F-89ED-D5D46BBD0F43}"/>
              </a:ext>
            </a:extLst>
          </p:cNvPr>
          <p:cNvSpPr>
            <a:spLocks noGrp="1"/>
          </p:cNvSpPr>
          <p:nvPr/>
        </p:nvSpPr>
        <p:spPr>
          <a:xfrm>
            <a:off x="7734300" y="40957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PROTECTED FIELD</a:t>
            </a:r>
          </a:p>
        </p:txBody>
      </p:sp>
      <p:sp>
        <p:nvSpPr>
          <p:cNvPr id="17" name="proof-copy-2">
            <a:extLst>
              <a:ext uri="{FF2B5EF4-FFF2-40B4-BE49-F238E27FC236}">
                <a16:creationId xmlns:a16="http://schemas.microsoft.com/office/drawing/2014/main" id="{F901FAAB-375B-4FDA-BD57-A712F7539303}"/>
              </a:ext>
            </a:extLst>
          </p:cNvPr>
          <p:cNvSpPr>
            <a:spLocks noGrp="1"/>
          </p:cNvSpPr>
          <p:nvPr/>
        </p:nvSpPr>
        <p:spPr>
          <a:xfrm>
            <a:off x="7734300" y="436245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dates, IDs, ratios, approval</a:t>
            </a:r>
          </a:p>
        </p:txBody>
      </p:sp>
      <p:sp>
        <p:nvSpPr>
          <p:cNvPr id="18" name="proof-3">
            <a:extLst>
              <a:ext uri="{FF2B5EF4-FFF2-40B4-BE49-F238E27FC236}">
                <a16:creationId xmlns:a16="http://schemas.microsoft.com/office/drawing/2014/main" id="{1D9F57B8-A60B-403E-8D05-D99181DB4B3B}"/>
              </a:ext>
            </a:extLst>
          </p:cNvPr>
          <p:cNvSpPr>
            <a:spLocks noGrp="1"/>
          </p:cNvSpPr>
          <p:nvPr/>
        </p:nvSpPr>
        <p:spPr>
          <a:xfrm>
            <a:off x="7524750" y="4838700"/>
            <a:ext cx="4152900" cy="704850"/>
          </a:xfrm>
          <a:prstGeom prst="roundRect">
            <a:avLst>
              <a:gd name="adj" fmla="val 18919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proof-title-3">
            <a:extLst>
              <a:ext uri="{FF2B5EF4-FFF2-40B4-BE49-F238E27FC236}">
                <a16:creationId xmlns:a16="http://schemas.microsoft.com/office/drawing/2014/main" id="{2FF561A8-4F6E-4BCC-AB95-4AB3D3B82A07}"/>
              </a:ext>
            </a:extLst>
          </p:cNvPr>
          <p:cNvSpPr>
            <a:spLocks noGrp="1"/>
          </p:cNvSpPr>
          <p:nvPr/>
        </p:nvSpPr>
        <p:spPr>
          <a:xfrm>
            <a:off x="7734300" y="49911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WORKFLOW STATE</a:t>
            </a:r>
          </a:p>
        </p:txBody>
      </p:sp>
      <p:sp>
        <p:nvSpPr>
          <p:cNvPr id="20" name="proof-copy-3">
            <a:extLst>
              <a:ext uri="{FF2B5EF4-FFF2-40B4-BE49-F238E27FC236}">
                <a16:creationId xmlns:a16="http://schemas.microsoft.com/office/drawing/2014/main" id="{BBED7FB2-1474-4A8F-82A5-91D682593F84}"/>
              </a:ext>
            </a:extLst>
          </p:cNvPr>
          <p:cNvSpPr>
            <a:spLocks noGrp="1"/>
          </p:cNvSpPr>
          <p:nvPr/>
        </p:nvSpPr>
        <p:spPr>
          <a:xfrm>
            <a:off x="7734300" y="52578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SQLite checkpoint + retry</a:t>
            </a:r>
          </a:p>
        </p:txBody>
      </p:sp>
    </p:spTree>
    <p:extLst>
      <p:ext uri="{BB962C8B-B14F-4D97-AF65-F5344CB8AC3E}">
        <p14:creationId xmlns:p14="http://schemas.microsoft.com/office/powerpoint/2010/main" val="112657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-5">
            <a:extLst>
              <a:ext uri="{FF2B5EF4-FFF2-40B4-BE49-F238E27FC236}">
                <a16:creationId xmlns:a16="http://schemas.microsoft.com/office/drawing/2014/main" id="{78E138C3-DD78-48AA-B5DC-587D26C24A6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EDGE CASES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8591024C-F65F-4A90-80C8-E550C9270E1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Uncertainty stays visible—and becomes actionable.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574BDFEB-E702-407F-A78E-9A04D056E28C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0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The workflow switches cases cleanly, keeps technical and legal questions separate, and routes evidence gaps.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69336E0E-5D7E-48E0-959D-55384A3965C5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5">
            <a:extLst>
              <a:ext uri="{FF2B5EF4-FFF2-40B4-BE49-F238E27FC236}">
                <a16:creationId xmlns:a16="http://schemas.microsoft.com/office/drawing/2014/main" id="{788B4D04-B055-4034-9FD6-CE07DDA82D89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5">
            <a:extLst>
              <a:ext uri="{FF2B5EF4-FFF2-40B4-BE49-F238E27FC236}">
                <a16:creationId xmlns:a16="http://schemas.microsoft.com/office/drawing/2014/main" id="{D43BBB3C-1B64-4C87-8206-23946B382E0C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8475" b="8475"/>
          <a:stretch>
            <a:fillRect/>
          </a:stretch>
        </p:blipFill>
        <p:spPr>
          <a:xfrm>
            <a:off x="514350" y="2152650"/>
            <a:ext cx="5219700" cy="2438400"/>
          </a:xfrm>
          <a:prstGeom prst="roundRect">
            <a:avLst>
              <a:gd name="adj" fmla="val 5469"/>
            </a:avLst>
          </a:prstGeom>
        </p:spPr>
      </p:pic>
      <p:sp>
        <p:nvSpPr>
          <p:cNvPr id="8" name="edge-copy">
            <a:extLst>
              <a:ext uri="{FF2B5EF4-FFF2-40B4-BE49-F238E27FC236}">
                <a16:creationId xmlns:a16="http://schemas.microsoft.com/office/drawing/2014/main" id="{0860D78F-8091-4B8F-A448-4D4143F19ACC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5715000" cy="2438400"/>
          </a:xfrm>
          <a:prstGeom prst="roundRect">
            <a:avLst>
              <a:gd name="adj" fmla="val 6250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edge-label">
            <a:extLst>
              <a:ext uri="{FF2B5EF4-FFF2-40B4-BE49-F238E27FC236}">
                <a16:creationId xmlns:a16="http://schemas.microsoft.com/office/drawing/2014/main" id="{08388039-4922-4858-8358-C69CEB98CB8A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CONFLICT CASE</a:t>
            </a:r>
          </a:p>
        </p:txBody>
      </p:sp>
      <p:sp>
        <p:nvSpPr>
          <p:cNvPr id="10" name="edge-title">
            <a:extLst>
              <a:ext uri="{FF2B5EF4-FFF2-40B4-BE49-F238E27FC236}">
                <a16:creationId xmlns:a16="http://schemas.microsoft.com/office/drawing/2014/main" id="{0F7B28FA-15BE-4426-A191-8D19E286EA1C}"/>
              </a:ext>
            </a:extLst>
          </p:cNvPr>
          <p:cNvSpPr>
            <a:spLocks noGrp="1"/>
          </p:cNvSpPr>
          <p:nvPr/>
        </p:nvSpPr>
        <p:spPr>
          <a:xfrm>
            <a:off x="6210300" y="27241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Do not erase disagreement.</a:t>
            </a:r>
          </a:p>
        </p:txBody>
      </p:sp>
      <p:sp>
        <p:nvSpPr>
          <p:cNvPr id="11" name="edge-body">
            <a:extLst>
              <a:ext uri="{FF2B5EF4-FFF2-40B4-BE49-F238E27FC236}">
                <a16:creationId xmlns:a16="http://schemas.microsoft.com/office/drawing/2014/main" id="{DD1E74F6-C3A8-40DB-AA6A-64346A75E5C7}"/>
              </a:ext>
            </a:extLst>
          </p:cNvPr>
          <p:cNvSpPr>
            <a:spLocks noGrp="1"/>
          </p:cNvSpPr>
          <p:nvPr/>
        </p:nvSpPr>
        <p:spPr>
          <a:xfrm>
            <a:off x="6210300" y="3200400"/>
            <a:ext cx="4953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Conflicting facts remain linked to their sources. Vehicle parameter exceedance never becomes an automatic legal classification.</a:t>
            </a:r>
          </a:p>
        </p:txBody>
      </p:sp>
      <p:sp>
        <p:nvSpPr>
          <p:cNvPr id="12" name="gap-0">
            <a:extLst>
              <a:ext uri="{FF2B5EF4-FFF2-40B4-BE49-F238E27FC236}">
                <a16:creationId xmlns:a16="http://schemas.microsoft.com/office/drawing/2014/main" id="{64FBC3AA-92D6-4C24-BFAB-AC1F00B6E46E}"/>
              </a:ext>
            </a:extLst>
          </p:cNvPr>
          <p:cNvSpPr>
            <a:spLocks noGrp="1"/>
          </p:cNvSpPr>
          <p:nvPr/>
        </p:nvSpPr>
        <p:spPr>
          <a:xfrm>
            <a:off x="514350" y="4933950"/>
            <a:ext cx="2609850" cy="1123950"/>
          </a:xfrm>
          <a:prstGeom prst="roundRect">
            <a:avLst>
              <a:gd name="adj" fmla="val 11864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gap-title-0">
            <a:extLst>
              <a:ext uri="{FF2B5EF4-FFF2-40B4-BE49-F238E27FC236}">
                <a16:creationId xmlns:a16="http://schemas.microsoft.com/office/drawing/2014/main" id="{6FA21B79-EEBA-4B0E-9480-3E4584F2D08A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BATTERY VOLTAGE</a:t>
            </a:r>
          </a:p>
        </p:txBody>
      </p:sp>
      <p:sp>
        <p:nvSpPr>
          <p:cNvPr id="14" name="gap-copy-0">
            <a:extLst>
              <a:ext uri="{FF2B5EF4-FFF2-40B4-BE49-F238E27FC236}">
                <a16:creationId xmlns:a16="http://schemas.microsoft.com/office/drawing/2014/main" id="{B907C6A9-50CC-4E49-92DB-23AE26F1FA8D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collect original report</a:t>
            </a:r>
          </a:p>
        </p:txBody>
      </p:sp>
      <p:sp>
        <p:nvSpPr>
          <p:cNvPr id="15" name="gap-1">
            <a:extLst>
              <a:ext uri="{FF2B5EF4-FFF2-40B4-BE49-F238E27FC236}">
                <a16:creationId xmlns:a16="http://schemas.microsoft.com/office/drawing/2014/main" id="{8429983E-E803-418D-AA22-06C33AB30F1C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2609850" cy="1123950"/>
          </a:xfrm>
          <a:prstGeom prst="roundRect">
            <a:avLst>
              <a:gd name="adj" fmla="val 11864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gap-title-1">
            <a:extLst>
              <a:ext uri="{FF2B5EF4-FFF2-40B4-BE49-F238E27FC236}">
                <a16:creationId xmlns:a16="http://schemas.microsoft.com/office/drawing/2014/main" id="{7217C7FD-B1C0-4B16-A300-B8793BB564F3}"/>
              </a:ext>
            </a:extLst>
          </p:cNvPr>
          <p:cNvSpPr>
            <a:spLocks noGrp="1"/>
          </p:cNvSpPr>
          <p:nvPr/>
        </p:nvSpPr>
        <p:spPr>
          <a:xfrm>
            <a:off x="3486150" y="5124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PEDAL CAPABILITY</a:t>
            </a:r>
          </a:p>
        </p:txBody>
      </p:sp>
      <p:sp>
        <p:nvSpPr>
          <p:cNvPr id="17" name="gap-copy-1">
            <a:extLst>
              <a:ext uri="{FF2B5EF4-FFF2-40B4-BE49-F238E27FC236}">
                <a16:creationId xmlns:a16="http://schemas.microsoft.com/office/drawing/2014/main" id="{3898B2E6-5518-4E37-87A7-79D6DBCA2333}"/>
              </a:ext>
            </a:extLst>
          </p:cNvPr>
          <p:cNvSpPr>
            <a:spLocks noGrp="1"/>
          </p:cNvSpPr>
          <p:nvPr/>
        </p:nvSpPr>
        <p:spPr>
          <a:xfrm>
            <a:off x="3486150" y="5467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inspect vehicle configuration</a:t>
            </a:r>
          </a:p>
        </p:txBody>
      </p:sp>
      <p:sp>
        <p:nvSpPr>
          <p:cNvPr id="18" name="gap-2">
            <a:extLst>
              <a:ext uri="{FF2B5EF4-FFF2-40B4-BE49-F238E27FC236}">
                <a16:creationId xmlns:a16="http://schemas.microsoft.com/office/drawing/2014/main" id="{15D4D6A6-4674-43D4-83E6-E50AA3E83F23}"/>
              </a:ext>
            </a:extLst>
          </p:cNvPr>
          <p:cNvSpPr>
            <a:spLocks noGrp="1"/>
          </p:cNvSpPr>
          <p:nvPr/>
        </p:nvSpPr>
        <p:spPr>
          <a:xfrm>
            <a:off x="6115050" y="4933950"/>
            <a:ext cx="2609850" cy="1123950"/>
          </a:xfrm>
          <a:prstGeom prst="roundRect">
            <a:avLst>
              <a:gd name="adj" fmla="val 11864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ap-title-2">
            <a:extLst>
              <a:ext uri="{FF2B5EF4-FFF2-40B4-BE49-F238E27FC236}">
                <a16:creationId xmlns:a16="http://schemas.microsoft.com/office/drawing/2014/main" id="{4C9B868C-1253-4ABF-9B27-6B7B30B89336}"/>
              </a:ext>
            </a:extLst>
          </p:cNvPr>
          <p:cNvSpPr>
            <a:spLocks noGrp="1"/>
          </p:cNvSpPr>
          <p:nvPr/>
        </p:nvSpPr>
        <p:spPr>
          <a:xfrm>
            <a:off x="6286500" y="5124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ANTI-TAMPER</a:t>
            </a:r>
          </a:p>
        </p:txBody>
      </p:sp>
      <p:sp>
        <p:nvSpPr>
          <p:cNvPr id="20" name="gap-copy-2">
            <a:extLst>
              <a:ext uri="{FF2B5EF4-FFF2-40B4-BE49-F238E27FC236}">
                <a16:creationId xmlns:a16="http://schemas.microsoft.com/office/drawing/2014/main" id="{D912B94C-449D-4449-B75F-2691AC549C3A}"/>
              </a:ext>
            </a:extLst>
          </p:cNvPr>
          <p:cNvSpPr>
            <a:spLocks noGrp="1"/>
          </p:cNvSpPr>
          <p:nvPr/>
        </p:nvSpPr>
        <p:spPr>
          <a:xfrm>
            <a:off x="6286500" y="5467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verify limiter and controller</a:t>
            </a:r>
          </a:p>
        </p:txBody>
      </p:sp>
      <p:sp>
        <p:nvSpPr>
          <p:cNvPr id="21" name="gap-3">
            <a:extLst>
              <a:ext uri="{FF2B5EF4-FFF2-40B4-BE49-F238E27FC236}">
                <a16:creationId xmlns:a16="http://schemas.microsoft.com/office/drawing/2014/main" id="{9CA6DBA8-C4E3-4F94-B1D5-16BF79E39A4A}"/>
              </a:ext>
            </a:extLst>
          </p:cNvPr>
          <p:cNvSpPr>
            <a:spLocks noGrp="1"/>
          </p:cNvSpPr>
          <p:nvPr/>
        </p:nvSpPr>
        <p:spPr>
          <a:xfrm>
            <a:off x="8915400" y="4933950"/>
            <a:ext cx="2609850" cy="1123950"/>
          </a:xfrm>
          <a:prstGeom prst="roundRect">
            <a:avLst>
              <a:gd name="adj" fmla="val 11864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gap-title-3">
            <a:extLst>
              <a:ext uri="{FF2B5EF4-FFF2-40B4-BE49-F238E27FC236}">
                <a16:creationId xmlns:a16="http://schemas.microsoft.com/office/drawing/2014/main" id="{98688E33-1C47-42D2-917C-58BE8518B3D1}"/>
              </a:ext>
            </a:extLst>
          </p:cNvPr>
          <p:cNvSpPr>
            <a:spLocks noGrp="1"/>
          </p:cNvSpPr>
          <p:nvPr/>
        </p:nvSpPr>
        <p:spPr>
          <a:xfrm>
            <a:off x="9086850" y="51244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23" name="gap-copy-3">
            <a:extLst>
              <a:ext uri="{FF2B5EF4-FFF2-40B4-BE49-F238E27FC236}">
                <a16:creationId xmlns:a16="http://schemas.microsoft.com/office/drawing/2014/main" id="{029EE33A-E034-4A22-BC67-C6F93AD3DC15}"/>
              </a:ext>
            </a:extLst>
          </p:cNvPr>
          <p:cNvSpPr>
            <a:spLocks noGrp="1"/>
          </p:cNvSpPr>
          <p:nvPr/>
        </p:nvSpPr>
        <p:spPr>
          <a:xfrm>
            <a:off x="9086850" y="54673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confirm plate / legal record</a:t>
            </a:r>
          </a:p>
        </p:txBody>
      </p:sp>
    </p:spTree>
    <p:extLst>
      <p:ext uri="{BB962C8B-B14F-4D97-AF65-F5344CB8AC3E}">
        <p14:creationId xmlns:p14="http://schemas.microsoft.com/office/powerpoint/2010/main" val="15059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6">
            <a:extLst>
              <a:ext uri="{FF2B5EF4-FFF2-40B4-BE49-F238E27FC236}">
                <a16:creationId xmlns:a16="http://schemas.microsoft.com/office/drawing/2014/main" id="{3182C091-89DC-4B53-A17C-937AD7FDE91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720215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EXPLAINABLE DECISIONS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D4D23CDE-2D8C-44E8-97F1-4EC4A33E8B7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544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5F8F8"/>
                </a:solidFill>
                <a:latin typeface="Arial"/>
                <a:ea typeface="Arial"/>
                <a:cs typeface="Arial"/>
              </a:rPr>
              <a:t>Three specialist Agents turn evidence into reviewable choices.</a:t>
            </a:r>
          </a:p>
        </p:txBody>
      </p:sp>
      <p:sp>
        <p:nvSpPr>
          <p:cNvPr id="3" name="subtitle-6">
            <a:extLst>
              <a:ext uri="{FF2B5EF4-FFF2-40B4-BE49-F238E27FC236}">
                <a16:creationId xmlns:a16="http://schemas.microsoft.com/office/drawing/2014/main" id="{C926AA2A-B3EF-4C56-B87D-052602DAA912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11106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9BB9C1"/>
                </a:solidFill>
                <a:latin typeface="Arial"/>
                <a:ea typeface="Arial"/>
                <a:cs typeface="Arial"/>
              </a:rPr>
              <a:t>One coordinated workflow—never one opaque answer.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30E9F4F8-CAFB-4B01-8485-E1F654E9B09F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6">
            <a:extLst>
              <a:ext uri="{FF2B5EF4-FFF2-40B4-BE49-F238E27FC236}">
                <a16:creationId xmlns:a16="http://schemas.microsoft.com/office/drawing/2014/main" id="{F1FD4368-30AF-4A94-AAA1-B6523564867D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6">
            <a:extLst>
              <a:ext uri="{FF2B5EF4-FFF2-40B4-BE49-F238E27FC236}">
                <a16:creationId xmlns:a16="http://schemas.microsoft.com/office/drawing/2014/main" id="{30C3A913-9C0A-4D94-87B0-657BBCD3762D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6-VEHICLE-card">
            <a:extLst>
              <a:ext uri="{FF2B5EF4-FFF2-40B4-BE49-F238E27FC236}">
                <a16:creationId xmlns:a16="http://schemas.microsoft.com/office/drawing/2014/main" id="{ED5A0AC3-15CD-47E0-B120-0790AF2F7B4F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6-VEHICLE-pill">
            <a:extLst>
              <a:ext uri="{FF2B5EF4-FFF2-40B4-BE49-F238E27FC236}">
                <a16:creationId xmlns:a16="http://schemas.microsoft.com/office/drawing/2014/main" id="{A32FAAE3-941A-407D-B006-9814315216D3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9" name="s6-VEHICLE-title">
            <a:extLst>
              <a:ext uri="{FF2B5EF4-FFF2-40B4-BE49-F238E27FC236}">
                <a16:creationId xmlns:a16="http://schemas.microsoft.com/office/drawing/2014/main" id="{754B87CF-1C46-4592-9A46-DAB06EE6A6F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is it?</a:t>
            </a:r>
          </a:p>
        </p:txBody>
      </p:sp>
      <p:sp>
        <p:nvSpPr>
          <p:cNvPr id="10" name="s6-VEHICLE-copy">
            <a:extLst>
              <a:ext uri="{FF2B5EF4-FFF2-40B4-BE49-F238E27FC236}">
                <a16:creationId xmlns:a16="http://schemas.microsoft.com/office/drawing/2014/main" id="{C79B265A-4A28-41FF-A469-C25D57D58183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Parameters, classifications, and missing inspection evidence.</a:t>
            </a:r>
          </a:p>
        </p:txBody>
      </p:sp>
      <p:sp>
        <p:nvSpPr>
          <p:cNvPr id="11" name="s6-LIABILITY-card">
            <a:extLst>
              <a:ext uri="{FF2B5EF4-FFF2-40B4-BE49-F238E27FC236}">
                <a16:creationId xmlns:a16="http://schemas.microsoft.com/office/drawing/2014/main" id="{E1452267-7AC9-4EEA-817B-1DB9097C1101}"/>
              </a:ext>
            </a:extLst>
          </p:cNvPr>
          <p:cNvSpPr>
            <a:spLocks noGrp="1"/>
          </p:cNvSpPr>
          <p:nvPr/>
        </p:nvSpPr>
        <p:spPr>
          <a:xfrm>
            <a:off x="432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6-LIABILITY-pill">
            <a:extLst>
              <a:ext uri="{FF2B5EF4-FFF2-40B4-BE49-F238E27FC236}">
                <a16:creationId xmlns:a16="http://schemas.microsoft.com/office/drawing/2014/main" id="{AE554826-93F3-44D5-A7C7-82813220FAA8}"/>
              </a:ext>
            </a:extLst>
          </p:cNvPr>
          <p:cNvSpPr>
            <a:spLocks noGrp="1"/>
          </p:cNvSpPr>
          <p:nvPr/>
        </p:nvSpPr>
        <p:spPr>
          <a:xfrm>
            <a:off x="4495800" y="23050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LIABILITY</a:t>
            </a:r>
          </a:p>
        </p:txBody>
      </p:sp>
      <p:sp>
        <p:nvSpPr>
          <p:cNvPr id="13" name="s6-LIABILITY-title">
            <a:extLst>
              <a:ext uri="{FF2B5EF4-FFF2-40B4-BE49-F238E27FC236}">
                <a16:creationId xmlns:a16="http://schemas.microsoft.com/office/drawing/2014/main" id="{534D2EB9-C7D8-47F2-BBEF-B1313B3B8BD8}"/>
              </a:ext>
            </a:extLst>
          </p:cNvPr>
          <p:cNvSpPr>
            <a:spLocks noGrp="1"/>
          </p:cNvSpPr>
          <p:nvPr/>
        </p:nvSpPr>
        <p:spPr>
          <a:xfrm>
            <a:off x="449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caused it?</a:t>
            </a:r>
          </a:p>
        </p:txBody>
      </p:sp>
      <p:sp>
        <p:nvSpPr>
          <p:cNvPr id="14" name="s6-LIABILITY-copy">
            <a:extLst>
              <a:ext uri="{FF2B5EF4-FFF2-40B4-BE49-F238E27FC236}">
                <a16:creationId xmlns:a16="http://schemas.microsoft.com/office/drawing/2014/main" id="{AD8423B4-6338-4367-9703-46B9435193CA}"/>
              </a:ext>
            </a:extLst>
          </p:cNvPr>
          <p:cNvSpPr>
            <a:spLocks noGrp="1"/>
          </p:cNvSpPr>
          <p:nvPr/>
        </p:nvSpPr>
        <p:spPr>
          <a:xfrm>
            <a:off x="449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Violations, causal force, counterfactuals, and alternatives.</a:t>
            </a:r>
          </a:p>
        </p:txBody>
      </p:sp>
      <p:sp>
        <p:nvSpPr>
          <p:cNvPr id="15" name="s6-RIGHTS-card">
            <a:extLst>
              <a:ext uri="{FF2B5EF4-FFF2-40B4-BE49-F238E27FC236}">
                <a16:creationId xmlns:a16="http://schemas.microsoft.com/office/drawing/2014/main" id="{715EECDC-39DF-40F9-8BF4-A5BC44940C7C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6-RIGHTS-pill">
            <a:extLst>
              <a:ext uri="{FF2B5EF4-FFF2-40B4-BE49-F238E27FC236}">
                <a16:creationId xmlns:a16="http://schemas.microsoft.com/office/drawing/2014/main" id="{B036FCFE-1644-4B9B-8D93-99193A9D9BC2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sp>
        <p:nvSpPr>
          <p:cNvPr id="17" name="s6-RIGHTS-title">
            <a:extLst>
              <a:ext uri="{FF2B5EF4-FFF2-40B4-BE49-F238E27FC236}">
                <a16:creationId xmlns:a16="http://schemas.microsoft.com/office/drawing/2014/main" id="{2460E94D-3C16-4012-ACDD-D28FBCE48DB7}"/>
              </a:ext>
            </a:extLst>
          </p:cNvPr>
          <p:cNvSpPr>
            <a:spLocks noGrp="1"/>
          </p:cNvSpPr>
          <p:nvPr/>
        </p:nvSpPr>
        <p:spPr>
          <a:xfrm>
            <a:off x="830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What happens next?</a:t>
            </a:r>
          </a:p>
        </p:txBody>
      </p:sp>
      <p:sp>
        <p:nvSpPr>
          <p:cNvPr id="18" name="s6-RIGHTS-copy">
            <a:extLst>
              <a:ext uri="{FF2B5EF4-FFF2-40B4-BE49-F238E27FC236}">
                <a16:creationId xmlns:a16="http://schemas.microsoft.com/office/drawing/2014/main" id="{0CDBF2E4-20BC-4C79-8E0A-3F3248725B84}"/>
              </a:ext>
            </a:extLst>
          </p:cNvPr>
          <p:cNvSpPr>
            <a:spLocks noGrp="1"/>
          </p:cNvSpPr>
          <p:nvPr/>
        </p:nvSpPr>
        <p:spPr>
          <a:xfrm>
            <a:off x="830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Deadlines, evidence tasks, owners, and reviewable drafts.</a:t>
            </a:r>
          </a:p>
        </p:txBody>
      </p:sp>
      <p:sp>
        <p:nvSpPr>
          <p:cNvPr id="19" name="hypothesis-bar">
            <a:extLst>
              <a:ext uri="{FF2B5EF4-FFF2-40B4-BE49-F238E27FC236}">
                <a16:creationId xmlns:a16="http://schemas.microsoft.com/office/drawing/2014/main" id="{DE5A97C6-54E8-4198-BB4D-411AC0CAAB88}"/>
              </a:ext>
            </a:extLst>
          </p:cNvPr>
          <p:cNvSpPr>
            <a:spLocks noGrp="1"/>
          </p:cNvSpPr>
          <p:nvPr/>
        </p:nvSpPr>
        <p:spPr>
          <a:xfrm>
            <a:off x="514350" y="4267200"/>
            <a:ext cx="11144250" cy="1600200"/>
          </a:xfrm>
          <a:prstGeom prst="roundRect">
            <a:avLst>
              <a:gd name="adj" fmla="val 9524"/>
            </a:avLst>
          </a:prstGeom>
          <a:solidFill>
            <a:srgbClr val="092636"/>
          </a:solidFill>
          <a:ln w="11430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hypothesis-label">
            <a:extLst>
              <a:ext uri="{FF2B5EF4-FFF2-40B4-BE49-F238E27FC236}">
                <a16:creationId xmlns:a16="http://schemas.microsoft.com/office/drawing/2014/main" id="{A270B689-CFD5-4B54-ABAB-A94E794CEAEE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LIABILITY HYPOTHESES · DECISION-SUPPORT WEIGHTS</a:t>
            </a:r>
          </a:p>
        </p:txBody>
      </p:sp>
      <p:sp>
        <p:nvSpPr>
          <p:cNvPr id="21" name="hyp-name-0">
            <a:extLst>
              <a:ext uri="{FF2B5EF4-FFF2-40B4-BE49-F238E27FC236}">
                <a16:creationId xmlns:a16="http://schemas.microsoft.com/office/drawing/2014/main" id="{D4F54962-F062-4B94-A743-8C9392434259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Two-wheeler primary</a:t>
            </a:r>
          </a:p>
        </p:txBody>
      </p:sp>
      <p:sp>
        <p:nvSpPr>
          <p:cNvPr id="22" name="hyp-val-0">
            <a:extLst>
              <a:ext uri="{FF2B5EF4-FFF2-40B4-BE49-F238E27FC236}">
                <a16:creationId xmlns:a16="http://schemas.microsoft.com/office/drawing/2014/main" id="{5AE14E83-061E-45B0-9F52-CFCEAA6348A9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88.6%</a:t>
            </a:r>
          </a:p>
        </p:txBody>
      </p:sp>
      <p:sp>
        <p:nvSpPr>
          <p:cNvPr id="23" name="hyp-name-1">
            <a:extLst>
              <a:ext uri="{FF2B5EF4-FFF2-40B4-BE49-F238E27FC236}">
                <a16:creationId xmlns:a16="http://schemas.microsoft.com/office/drawing/2014/main" id="{1A082C83-42AE-439D-9B19-B02B1D5CA45F}"/>
              </a:ext>
            </a:extLst>
          </p:cNvPr>
          <p:cNvSpPr>
            <a:spLocks noGrp="1"/>
          </p:cNvSpPr>
          <p:nvPr/>
        </p:nvSpPr>
        <p:spPr>
          <a:xfrm>
            <a:off x="4305300" y="4895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Equal responsibility</a:t>
            </a:r>
          </a:p>
        </p:txBody>
      </p:sp>
      <p:sp>
        <p:nvSpPr>
          <p:cNvPr id="24" name="hyp-val-1">
            <a:extLst>
              <a:ext uri="{FF2B5EF4-FFF2-40B4-BE49-F238E27FC236}">
                <a16:creationId xmlns:a16="http://schemas.microsoft.com/office/drawing/2014/main" id="{059735DA-032E-4F0D-9436-EA44B0C77002}"/>
              </a:ext>
            </a:extLst>
          </p:cNvPr>
          <p:cNvSpPr>
            <a:spLocks noGrp="1"/>
          </p:cNvSpPr>
          <p:nvPr/>
        </p:nvSpPr>
        <p:spPr>
          <a:xfrm>
            <a:off x="4305300" y="52006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7.9%</a:t>
            </a:r>
          </a:p>
        </p:txBody>
      </p:sp>
      <p:sp>
        <p:nvSpPr>
          <p:cNvPr id="25" name="hyp-name-2">
            <a:extLst>
              <a:ext uri="{FF2B5EF4-FFF2-40B4-BE49-F238E27FC236}">
                <a16:creationId xmlns:a16="http://schemas.microsoft.com/office/drawing/2014/main" id="{445AA498-4627-42AA-9719-E62A7185D6A2}"/>
              </a:ext>
            </a:extLst>
          </p:cNvPr>
          <p:cNvSpPr>
            <a:spLocks noGrp="1"/>
          </p:cNvSpPr>
          <p:nvPr/>
        </p:nvSpPr>
        <p:spPr>
          <a:xfrm>
            <a:off x="7829550" y="4895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Motor vehicle primary</a:t>
            </a:r>
          </a:p>
        </p:txBody>
      </p:sp>
      <p:sp>
        <p:nvSpPr>
          <p:cNvPr id="26" name="hyp-val-2">
            <a:extLst>
              <a:ext uri="{FF2B5EF4-FFF2-40B4-BE49-F238E27FC236}">
                <a16:creationId xmlns:a16="http://schemas.microsoft.com/office/drawing/2014/main" id="{9B1248A9-7A85-4DE1-847C-3DE9A28DD67B}"/>
              </a:ext>
            </a:extLst>
          </p:cNvPr>
          <p:cNvSpPr>
            <a:spLocks noGrp="1"/>
          </p:cNvSpPr>
          <p:nvPr/>
        </p:nvSpPr>
        <p:spPr>
          <a:xfrm>
            <a:off x="7829550" y="52006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9D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9D4D"/>
                </a:solidFill>
                <a:latin typeface="Arial"/>
                <a:ea typeface="Arial"/>
                <a:cs typeface="Arial"/>
              </a:rPr>
              <a:t>3.5%</a:t>
            </a:r>
          </a:p>
        </p:txBody>
      </p:sp>
      <p:sp>
        <p:nvSpPr>
          <p:cNvPr id="27" name="hypothesis-boundary">
            <a:extLst>
              <a:ext uri="{FF2B5EF4-FFF2-40B4-BE49-F238E27FC236}">
                <a16:creationId xmlns:a16="http://schemas.microsoft.com/office/drawing/2014/main" id="{927A4933-E14F-493E-9692-BCFE567403DE}"/>
              </a:ext>
            </a:extLst>
          </p:cNvPr>
          <p:cNvSpPr>
            <a:spLocks noGrp="1"/>
          </p:cNvSpPr>
          <p:nvPr/>
        </p:nvSpPr>
        <p:spPr>
          <a:xfrm>
            <a:off x="8343900" y="5619750"/>
            <a:ext cx="2933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Comparable scenarios—not judicial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29028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-7">
            <a:extLst>
              <a:ext uri="{FF2B5EF4-FFF2-40B4-BE49-F238E27FC236}">
                <a16:creationId xmlns:a16="http://schemas.microsoft.com/office/drawing/2014/main" id="{95B064D7-83CF-4677-92AE-565EC2A7A96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RIGHTS WORKFLOW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83CA0487-EB39-4241-B4FA-5D3765D32AE4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5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Analysis becomes a claims plan with owners and deadlines.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FEE2109D-B200-4CE4-96B0-CA3A3918BE53}"/>
              </a:ext>
            </a:extLst>
          </p:cNvPr>
          <p:cNvSpPr>
            <a:spLocks noGrp="1"/>
          </p:cNvSpPr>
          <p:nvPr/>
        </p:nvSpPr>
        <p:spPr>
          <a:xfrm>
            <a:off x="514350" y="1800225"/>
            <a:ext cx="1110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9BB9C1"/>
                </a:solidFill>
                <a:latin typeface="Arial"/>
                <a:ea typeface="Arial"/>
                <a:cs typeface="Arial"/>
              </a:rPr>
              <a:t>The UI moves from evidence gap to task, draft, and human-reviewed next action.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014EC32B-069E-49F1-82A5-A5596C13A8F4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7">
            <a:extLst>
              <a:ext uri="{FF2B5EF4-FFF2-40B4-BE49-F238E27FC236}">
                <a16:creationId xmlns:a16="http://schemas.microsoft.com/office/drawing/2014/main" id="{743E1E8A-7FB6-484E-B6E0-CF21DF5E8DFC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7">
            <a:extLst>
              <a:ext uri="{FF2B5EF4-FFF2-40B4-BE49-F238E27FC236}">
                <a16:creationId xmlns:a16="http://schemas.microsoft.com/office/drawing/2014/main" id="{117E80A9-A464-4C8E-AFA9-EC252B2A8D73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s7-01-card">
            <a:extLst>
              <a:ext uri="{FF2B5EF4-FFF2-40B4-BE49-F238E27FC236}">
                <a16:creationId xmlns:a16="http://schemas.microsoft.com/office/drawing/2014/main" id="{675D27A0-FAD8-464C-BB47-DF7E7D4B846C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25717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7-01-pill">
            <a:extLst>
              <a:ext uri="{FF2B5EF4-FFF2-40B4-BE49-F238E27FC236}">
                <a16:creationId xmlns:a16="http://schemas.microsoft.com/office/drawing/2014/main" id="{C431F413-326D-49F5-87A6-1BF785E9CBA0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7-01-title">
            <a:extLst>
              <a:ext uri="{FF2B5EF4-FFF2-40B4-BE49-F238E27FC236}">
                <a16:creationId xmlns:a16="http://schemas.microsoft.com/office/drawing/2014/main" id="{A7DB07D2-4CDB-4F2F-AE16-DEEE451E9E3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 TASK</a:t>
            </a:r>
          </a:p>
        </p:txBody>
      </p:sp>
      <p:sp>
        <p:nvSpPr>
          <p:cNvPr id="10" name="s7-01-copy">
            <a:extLst>
              <a:ext uri="{FF2B5EF4-FFF2-40B4-BE49-F238E27FC236}">
                <a16:creationId xmlns:a16="http://schemas.microsoft.com/office/drawing/2014/main" id="{B5B2A5A3-D6D5-4BB3-BABC-B2C6B81BB77A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2228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What must be collected</a:t>
            </a:r>
          </a:p>
        </p:txBody>
      </p:sp>
      <p:sp>
        <p:nvSpPr>
          <p:cNvPr id="11" name="rights-arrow-0">
            <a:extLst>
              <a:ext uri="{FF2B5EF4-FFF2-40B4-BE49-F238E27FC236}">
                <a16:creationId xmlns:a16="http://schemas.microsoft.com/office/drawing/2014/main" id="{E0D0DF17-5946-482F-92EF-587DDFFDE9D6}"/>
              </a:ext>
            </a:extLst>
          </p:cNvPr>
          <p:cNvSpPr>
            <a:spLocks noGrp="1"/>
          </p:cNvSpPr>
          <p:nvPr/>
        </p:nvSpPr>
        <p:spPr>
          <a:xfrm>
            <a:off x="3095625" y="2819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98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7-02-card">
            <a:extLst>
              <a:ext uri="{FF2B5EF4-FFF2-40B4-BE49-F238E27FC236}">
                <a16:creationId xmlns:a16="http://schemas.microsoft.com/office/drawing/2014/main" id="{9E5FB753-7721-41B6-B5DC-76A1BA126E58}"/>
              </a:ext>
            </a:extLst>
          </p:cNvPr>
          <p:cNvSpPr>
            <a:spLocks noGrp="1"/>
          </p:cNvSpPr>
          <p:nvPr/>
        </p:nvSpPr>
        <p:spPr>
          <a:xfrm>
            <a:off x="3314700" y="2152650"/>
            <a:ext cx="25717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7-02-pill">
            <a:extLst>
              <a:ext uri="{FF2B5EF4-FFF2-40B4-BE49-F238E27FC236}">
                <a16:creationId xmlns:a16="http://schemas.microsoft.com/office/drawing/2014/main" id="{F9A69883-E200-4A79-9117-F028E3D1F621}"/>
              </a:ext>
            </a:extLst>
          </p:cNvPr>
          <p:cNvSpPr>
            <a:spLocks noGrp="1"/>
          </p:cNvSpPr>
          <p:nvPr/>
        </p:nvSpPr>
        <p:spPr>
          <a:xfrm>
            <a:off x="348615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7-02-title">
            <a:extLst>
              <a:ext uri="{FF2B5EF4-FFF2-40B4-BE49-F238E27FC236}">
                <a16:creationId xmlns:a16="http://schemas.microsoft.com/office/drawing/2014/main" id="{26AD018D-EA98-43B3-90F9-19E1EA62DA69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OWNER + DUE DATE</a:t>
            </a:r>
          </a:p>
        </p:txBody>
      </p:sp>
      <p:sp>
        <p:nvSpPr>
          <p:cNvPr id="15" name="s7-02-copy">
            <a:extLst>
              <a:ext uri="{FF2B5EF4-FFF2-40B4-BE49-F238E27FC236}">
                <a16:creationId xmlns:a16="http://schemas.microsoft.com/office/drawing/2014/main" id="{D0044B3F-A662-4586-A628-884884CBA866}"/>
              </a:ext>
            </a:extLst>
          </p:cNvPr>
          <p:cNvSpPr>
            <a:spLocks noGrp="1"/>
          </p:cNvSpPr>
          <p:nvPr/>
        </p:nvSpPr>
        <p:spPr>
          <a:xfrm>
            <a:off x="3486150" y="3200400"/>
            <a:ext cx="2228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Who acts, and by when</a:t>
            </a:r>
          </a:p>
        </p:txBody>
      </p:sp>
      <p:sp>
        <p:nvSpPr>
          <p:cNvPr id="16" name="rights-arrow-1">
            <a:extLst>
              <a:ext uri="{FF2B5EF4-FFF2-40B4-BE49-F238E27FC236}">
                <a16:creationId xmlns:a16="http://schemas.microsoft.com/office/drawing/2014/main" id="{4EC5B4BB-6C42-4A76-A9FE-9D81A00D81C9}"/>
              </a:ext>
            </a:extLst>
          </p:cNvPr>
          <p:cNvSpPr>
            <a:spLocks noGrp="1"/>
          </p:cNvSpPr>
          <p:nvPr/>
        </p:nvSpPr>
        <p:spPr>
          <a:xfrm>
            <a:off x="5895975" y="2819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98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7-03-card">
            <a:extLst>
              <a:ext uri="{FF2B5EF4-FFF2-40B4-BE49-F238E27FC236}">
                <a16:creationId xmlns:a16="http://schemas.microsoft.com/office/drawing/2014/main" id="{8492F667-2FA9-481A-BE28-2CB634094EF1}"/>
              </a:ext>
            </a:extLst>
          </p:cNvPr>
          <p:cNvSpPr>
            <a:spLocks noGrp="1"/>
          </p:cNvSpPr>
          <p:nvPr/>
        </p:nvSpPr>
        <p:spPr>
          <a:xfrm>
            <a:off x="6115050" y="2152650"/>
            <a:ext cx="25717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7-03-pill">
            <a:extLst>
              <a:ext uri="{FF2B5EF4-FFF2-40B4-BE49-F238E27FC236}">
                <a16:creationId xmlns:a16="http://schemas.microsoft.com/office/drawing/2014/main" id="{69567018-DBEA-4D20-BE6F-13CFE40318D4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s7-03-title">
            <a:extLst>
              <a:ext uri="{FF2B5EF4-FFF2-40B4-BE49-F238E27FC236}">
                <a16:creationId xmlns:a16="http://schemas.microsoft.com/office/drawing/2014/main" id="{5E790F44-D7FC-4878-B53C-8CC94ED22571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20" name="s7-03-copy">
            <a:extLst>
              <a:ext uri="{FF2B5EF4-FFF2-40B4-BE49-F238E27FC236}">
                <a16:creationId xmlns:a16="http://schemas.microsoft.com/office/drawing/2014/main" id="{CA376C3B-A2D4-44EB-B820-13B351664739}"/>
              </a:ext>
            </a:extLst>
          </p:cNvPr>
          <p:cNvSpPr>
            <a:spLocks noGrp="1"/>
          </p:cNvSpPr>
          <p:nvPr/>
        </p:nvSpPr>
        <p:spPr>
          <a:xfrm>
            <a:off x="6286500" y="3200400"/>
            <a:ext cx="2228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Versioned document output</a:t>
            </a:r>
          </a:p>
        </p:txBody>
      </p:sp>
      <p:sp>
        <p:nvSpPr>
          <p:cNvPr id="21" name="rights-arrow-2">
            <a:extLst>
              <a:ext uri="{FF2B5EF4-FFF2-40B4-BE49-F238E27FC236}">
                <a16:creationId xmlns:a16="http://schemas.microsoft.com/office/drawing/2014/main" id="{A65AB8FB-B162-4925-8897-6054398C8388}"/>
              </a:ext>
            </a:extLst>
          </p:cNvPr>
          <p:cNvSpPr>
            <a:spLocks noGrp="1"/>
          </p:cNvSpPr>
          <p:nvPr/>
        </p:nvSpPr>
        <p:spPr>
          <a:xfrm>
            <a:off x="8696325" y="2819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98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s7-04-card">
            <a:extLst>
              <a:ext uri="{FF2B5EF4-FFF2-40B4-BE49-F238E27FC236}">
                <a16:creationId xmlns:a16="http://schemas.microsoft.com/office/drawing/2014/main" id="{ACCBA2C4-D406-4074-B9C6-53071C30B965}"/>
              </a:ext>
            </a:extLst>
          </p:cNvPr>
          <p:cNvSpPr>
            <a:spLocks noGrp="1"/>
          </p:cNvSpPr>
          <p:nvPr/>
        </p:nvSpPr>
        <p:spPr>
          <a:xfrm>
            <a:off x="8915400" y="2152650"/>
            <a:ext cx="25717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7-04-pill">
            <a:extLst>
              <a:ext uri="{FF2B5EF4-FFF2-40B4-BE49-F238E27FC236}">
                <a16:creationId xmlns:a16="http://schemas.microsoft.com/office/drawing/2014/main" id="{B2D30C41-A9FA-41FD-A0C2-760D06C153AE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s7-04-title">
            <a:extLst>
              <a:ext uri="{FF2B5EF4-FFF2-40B4-BE49-F238E27FC236}">
                <a16:creationId xmlns:a16="http://schemas.microsoft.com/office/drawing/2014/main" id="{9B0B118B-F4DE-4B99-AD5A-C47D4074D809}"/>
              </a:ext>
            </a:extLst>
          </p:cNvPr>
          <p:cNvSpPr>
            <a:spLocks noGrp="1"/>
          </p:cNvSpPr>
          <p:nvPr/>
        </p:nvSpPr>
        <p:spPr>
          <a:xfrm>
            <a:off x="9086850" y="272415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25" name="s7-04-copy">
            <a:extLst>
              <a:ext uri="{FF2B5EF4-FFF2-40B4-BE49-F238E27FC236}">
                <a16:creationId xmlns:a16="http://schemas.microsoft.com/office/drawing/2014/main" id="{D3C9A682-C4D9-4783-8D94-6A2A712DB33E}"/>
              </a:ext>
            </a:extLst>
          </p:cNvPr>
          <p:cNvSpPr>
            <a:spLocks noGrp="1"/>
          </p:cNvSpPr>
          <p:nvPr/>
        </p:nvSpPr>
        <p:spPr>
          <a:xfrm>
            <a:off x="9086850" y="3200400"/>
            <a:ext cx="2228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Exact version + input hash</a:t>
            </a:r>
          </a:p>
        </p:txBody>
      </p:sp>
      <p:sp>
        <p:nvSpPr>
          <p:cNvPr id="26" name="rights-value">
            <a:extLst>
              <a:ext uri="{FF2B5EF4-FFF2-40B4-BE49-F238E27FC236}">
                <a16:creationId xmlns:a16="http://schemas.microsoft.com/office/drawing/2014/main" id="{1A9EC0D7-40D1-49B6-9B05-73F308C4D4AA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11163300" cy="1524000"/>
          </a:xfrm>
          <a:prstGeom prst="roundRect">
            <a:avLst>
              <a:gd name="adj" fmla="val 10000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ights-value-title">
            <a:extLst>
              <a:ext uri="{FF2B5EF4-FFF2-40B4-BE49-F238E27FC236}">
                <a16:creationId xmlns:a16="http://schemas.microsoft.com/office/drawing/2014/main" id="{6E53C52B-BDD5-49F6-8B79-3DCE38FDB5A8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Earlier intervention reduces missed windows, rework, and handoff friction.</a:t>
            </a:r>
          </a:p>
        </p:txBody>
      </p:sp>
      <p:sp>
        <p:nvSpPr>
          <p:cNvPr id="28" name="rights-benefit-0">
            <a:extLst>
              <a:ext uri="{FF2B5EF4-FFF2-40B4-BE49-F238E27FC236}">
                <a16:creationId xmlns:a16="http://schemas.microsoft.com/office/drawing/2014/main" id="{A9D0B1EA-40C6-4794-899C-A15960CBDB9E}"/>
              </a:ext>
            </a:extLst>
          </p:cNvPr>
          <p:cNvSpPr>
            <a:spLocks noGrp="1"/>
          </p:cNvSpPr>
          <p:nvPr/>
        </p:nvSpPr>
        <p:spPr>
          <a:xfrm>
            <a:off x="781050" y="523875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 stays source-linked</a:t>
            </a:r>
          </a:p>
        </p:txBody>
      </p:sp>
      <p:sp>
        <p:nvSpPr>
          <p:cNvPr id="29" name="rights-benefit-1">
            <a:extLst>
              <a:ext uri="{FF2B5EF4-FFF2-40B4-BE49-F238E27FC236}">
                <a16:creationId xmlns:a16="http://schemas.microsoft.com/office/drawing/2014/main" id="{34DD6F3E-8BD2-4880-BA91-D4AC0CD98E22}"/>
              </a:ext>
            </a:extLst>
          </p:cNvPr>
          <p:cNvSpPr>
            <a:spLocks noGrp="1"/>
          </p:cNvSpPr>
          <p:nvPr/>
        </p:nvSpPr>
        <p:spPr>
          <a:xfrm>
            <a:off x="3400425" y="523875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Deadlines use versioned rules</a:t>
            </a:r>
          </a:p>
        </p:txBody>
      </p:sp>
      <p:sp>
        <p:nvSpPr>
          <p:cNvPr id="30" name="rights-benefit-2">
            <a:extLst>
              <a:ext uri="{FF2B5EF4-FFF2-40B4-BE49-F238E27FC236}">
                <a16:creationId xmlns:a16="http://schemas.microsoft.com/office/drawing/2014/main" id="{C64266B2-9719-4568-9AD1-6713B3AB6597}"/>
              </a:ext>
            </a:extLst>
          </p:cNvPr>
          <p:cNvSpPr>
            <a:spLocks noGrp="1"/>
          </p:cNvSpPr>
          <p:nvPr/>
        </p:nvSpPr>
        <p:spPr>
          <a:xfrm>
            <a:off x="6019800" y="523875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Drafts stay pending</a:t>
            </a:r>
          </a:p>
        </p:txBody>
      </p:sp>
      <p:sp>
        <p:nvSpPr>
          <p:cNvPr id="31" name="rights-benefit-3">
            <a:extLst>
              <a:ext uri="{FF2B5EF4-FFF2-40B4-BE49-F238E27FC236}">
                <a16:creationId xmlns:a16="http://schemas.microsoft.com/office/drawing/2014/main" id="{FBB6D123-56D5-429F-ACF1-45A68115672D}"/>
              </a:ext>
            </a:extLst>
          </p:cNvPr>
          <p:cNvSpPr>
            <a:spLocks noGrp="1"/>
          </p:cNvSpPr>
          <p:nvPr/>
        </p:nvSpPr>
        <p:spPr>
          <a:xfrm>
            <a:off x="8639175" y="523875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Approver keeps authority</a:t>
            </a:r>
          </a:p>
        </p:txBody>
      </p:sp>
    </p:spTree>
    <p:extLst>
      <p:ext uri="{BB962C8B-B14F-4D97-AF65-F5344CB8AC3E}">
        <p14:creationId xmlns:p14="http://schemas.microsoft.com/office/powerpoint/2010/main" val="182943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8">
            <a:extLst>
              <a:ext uri="{FF2B5EF4-FFF2-40B4-BE49-F238E27FC236}">
                <a16:creationId xmlns:a16="http://schemas.microsoft.com/office/drawing/2014/main" id="{5EBABB01-AEEA-4510-BC6B-281A6D03AA0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FAIL-CLOSED SAFETY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8659218-DED0-4CA2-BFAE-5302E41184C6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5F8F8"/>
                </a:solidFill>
                <a:latin typeface="Arial"/>
                <a:ea typeface="Arial"/>
                <a:cs typeface="Arial"/>
              </a:rPr>
              <a:t>Three outcomes stay separate. One human stays in control.</a:t>
            </a:r>
          </a:p>
        </p:txBody>
      </p:sp>
      <p:sp>
        <p:nvSpPr>
          <p:cNvPr id="3" name="subtitle-8">
            <a:extLst>
              <a:ext uri="{FF2B5EF4-FFF2-40B4-BE49-F238E27FC236}">
                <a16:creationId xmlns:a16="http://schemas.microsoft.com/office/drawing/2014/main" id="{0D2AB449-8447-450A-912F-B54BEA18066E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11106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9BB9C1"/>
                </a:solidFill>
                <a:latin typeface="Arial"/>
                <a:ea typeface="Arial"/>
                <a:cs typeface="Arial"/>
              </a:rPr>
              <a:t>Verifier checks the evidence, legal citations, consistency, risk language, and protected fields.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147875C5-2309-4ED0-8866-FE8C23CFC7D9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8">
            <a:extLst>
              <a:ext uri="{FF2B5EF4-FFF2-40B4-BE49-F238E27FC236}">
                <a16:creationId xmlns:a16="http://schemas.microsoft.com/office/drawing/2014/main" id="{AE725740-FC07-4294-9D0E-991F5A088A08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8">
            <a:extLst>
              <a:ext uri="{FF2B5EF4-FFF2-40B4-BE49-F238E27FC236}">
                <a16:creationId xmlns:a16="http://schemas.microsoft.com/office/drawing/2014/main" id="{5365CC06-169C-4883-8C39-16DD18E5DF0B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s8-01-card">
            <a:extLst>
              <a:ext uri="{FF2B5EF4-FFF2-40B4-BE49-F238E27FC236}">
                <a16:creationId xmlns:a16="http://schemas.microsoft.com/office/drawing/2014/main" id="{7945E488-2625-45A0-8DC2-B48F25F50A17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8-01-pill">
            <a:extLst>
              <a:ext uri="{FF2B5EF4-FFF2-40B4-BE49-F238E27FC236}">
                <a16:creationId xmlns:a16="http://schemas.microsoft.com/office/drawing/2014/main" id="{387558A8-801B-4162-A604-450E925BA79A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8-01-title">
            <a:extLst>
              <a:ext uri="{FF2B5EF4-FFF2-40B4-BE49-F238E27FC236}">
                <a16:creationId xmlns:a16="http://schemas.microsoft.com/office/drawing/2014/main" id="{83D519DD-3A73-49DD-854C-42DFFB799E87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ACCIDENT LIABILITY</a:t>
            </a:r>
          </a:p>
        </p:txBody>
      </p:sp>
      <p:sp>
        <p:nvSpPr>
          <p:cNvPr id="10" name="s8-01-copy">
            <a:extLst>
              <a:ext uri="{FF2B5EF4-FFF2-40B4-BE49-F238E27FC236}">
                <a16:creationId xmlns:a16="http://schemas.microsoft.com/office/drawing/2014/main" id="{64F43E98-5BDA-456E-982A-0DED9EB8452E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alternative responsibility structures</a:t>
            </a:r>
          </a:p>
        </p:txBody>
      </p:sp>
      <p:sp>
        <p:nvSpPr>
          <p:cNvPr id="11" name="s8-02-card">
            <a:extLst>
              <a:ext uri="{FF2B5EF4-FFF2-40B4-BE49-F238E27FC236}">
                <a16:creationId xmlns:a16="http://schemas.microsoft.com/office/drawing/2014/main" id="{6686704C-9CAF-4D06-9EDE-841A04C8C337}"/>
              </a:ext>
            </a:extLst>
          </p:cNvPr>
          <p:cNvSpPr>
            <a:spLocks noGrp="1"/>
          </p:cNvSpPr>
          <p:nvPr/>
        </p:nvSpPr>
        <p:spPr>
          <a:xfrm>
            <a:off x="432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8-02-pill">
            <a:extLst>
              <a:ext uri="{FF2B5EF4-FFF2-40B4-BE49-F238E27FC236}">
                <a16:creationId xmlns:a16="http://schemas.microsoft.com/office/drawing/2014/main" id="{8AB6EF1F-E190-42BE-81FF-D589425973C7}"/>
              </a:ext>
            </a:extLst>
          </p:cNvPr>
          <p:cNvSpPr>
            <a:spLocks noGrp="1"/>
          </p:cNvSpPr>
          <p:nvPr/>
        </p:nvSpPr>
        <p:spPr>
          <a:xfrm>
            <a:off x="449580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s8-02-title">
            <a:extLst>
              <a:ext uri="{FF2B5EF4-FFF2-40B4-BE49-F238E27FC236}">
                <a16:creationId xmlns:a16="http://schemas.microsoft.com/office/drawing/2014/main" id="{A786F54A-9670-49D6-936F-98CF154C2C63}"/>
              </a:ext>
            </a:extLst>
          </p:cNvPr>
          <p:cNvSpPr>
            <a:spLocks noGrp="1"/>
          </p:cNvSpPr>
          <p:nvPr/>
        </p:nvSpPr>
        <p:spPr>
          <a:xfrm>
            <a:off x="449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CIVIL ALLOCATION</a:t>
            </a:r>
          </a:p>
        </p:txBody>
      </p:sp>
      <p:sp>
        <p:nvSpPr>
          <p:cNvPr id="14" name="s8-02-copy">
            <a:extLst>
              <a:ext uri="{FF2B5EF4-FFF2-40B4-BE49-F238E27FC236}">
                <a16:creationId xmlns:a16="http://schemas.microsoft.com/office/drawing/2014/main" id="{F55E844B-C292-4556-8573-3CE4250AA7FA}"/>
              </a:ext>
            </a:extLst>
          </p:cNvPr>
          <p:cNvSpPr>
            <a:spLocks noGrp="1"/>
          </p:cNvSpPr>
          <p:nvPr/>
        </p:nvSpPr>
        <p:spPr>
          <a:xfrm>
            <a:off x="449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ranges, not invented certainty</a:t>
            </a:r>
          </a:p>
        </p:txBody>
      </p:sp>
      <p:sp>
        <p:nvSpPr>
          <p:cNvPr id="15" name="s8-03-card">
            <a:extLst>
              <a:ext uri="{FF2B5EF4-FFF2-40B4-BE49-F238E27FC236}">
                <a16:creationId xmlns:a16="http://schemas.microsoft.com/office/drawing/2014/main" id="{8C1E627C-208F-4AE9-A64A-C31110D0476F}"/>
              </a:ext>
            </a:extLst>
          </p:cNvPr>
          <p:cNvSpPr>
            <a:spLocks noGrp="1"/>
          </p:cNvSpPr>
          <p:nvPr/>
        </p:nvSpPr>
        <p:spPr>
          <a:xfrm>
            <a:off x="8134350" y="21526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F705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8-03-pill">
            <a:extLst>
              <a:ext uri="{FF2B5EF4-FFF2-40B4-BE49-F238E27FC236}">
                <a16:creationId xmlns:a16="http://schemas.microsoft.com/office/drawing/2014/main" id="{72A7945D-F946-48F3-8D37-47F7420DD5DF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FF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s8-03-title">
            <a:extLst>
              <a:ext uri="{FF2B5EF4-FFF2-40B4-BE49-F238E27FC236}">
                <a16:creationId xmlns:a16="http://schemas.microsoft.com/office/drawing/2014/main" id="{829FB908-B1E4-45C9-A0C0-C093D63C7FF6}"/>
              </a:ext>
            </a:extLst>
          </p:cNvPr>
          <p:cNvSpPr>
            <a:spLocks noGrp="1"/>
          </p:cNvSpPr>
          <p:nvPr/>
        </p:nvSpPr>
        <p:spPr>
          <a:xfrm>
            <a:off x="8305800" y="27241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INSURANCE PAYMENT</a:t>
            </a:r>
          </a:p>
        </p:txBody>
      </p:sp>
      <p:sp>
        <p:nvSpPr>
          <p:cNvPr id="18" name="s8-03-copy">
            <a:extLst>
              <a:ext uri="{FF2B5EF4-FFF2-40B4-BE49-F238E27FC236}">
                <a16:creationId xmlns:a16="http://schemas.microsoft.com/office/drawing/2014/main" id="{5805EFE0-2AB0-4C46-AC8C-1ECB8420256F}"/>
              </a:ext>
            </a:extLst>
          </p:cNvPr>
          <p:cNvSpPr>
            <a:spLocks noGrp="1"/>
          </p:cNvSpPr>
          <p:nvPr/>
        </p:nvSpPr>
        <p:spPr>
          <a:xfrm>
            <a:off x="8305800" y="32004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insufficient_data when policy inputs are missing</a:t>
            </a:r>
          </a:p>
        </p:txBody>
      </p:sp>
      <p:sp>
        <p:nvSpPr>
          <p:cNvPr id="19" name="safety-gate">
            <a:extLst>
              <a:ext uri="{FF2B5EF4-FFF2-40B4-BE49-F238E27FC236}">
                <a16:creationId xmlns:a16="http://schemas.microsoft.com/office/drawing/2014/main" id="{CAFB30DF-9BFB-4F75-B6F4-E93EE29369D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11163300" cy="1524000"/>
          </a:xfrm>
          <a:prstGeom prst="roundRect">
            <a:avLst>
              <a:gd name="adj" fmla="val 10000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afety-gate-label">
            <a:extLst>
              <a:ext uri="{FF2B5EF4-FFF2-40B4-BE49-F238E27FC236}">
                <a16:creationId xmlns:a16="http://schemas.microsoft.com/office/drawing/2014/main" id="{95C25BF3-7B3B-4AA5-8E46-59E58C361C6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POLICY GATE</a:t>
            </a:r>
          </a:p>
        </p:txBody>
      </p:sp>
      <p:sp>
        <p:nvSpPr>
          <p:cNvPr id="21" name="gate-0">
            <a:extLst>
              <a:ext uri="{FF2B5EF4-FFF2-40B4-BE49-F238E27FC236}">
                <a16:creationId xmlns:a16="http://schemas.microsoft.com/office/drawing/2014/main" id="{4F0AA64C-2621-40E2-9AD7-DDF84C991391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 IDs</a:t>
            </a:r>
          </a:p>
        </p:txBody>
      </p:sp>
      <p:sp>
        <p:nvSpPr>
          <p:cNvPr id="22" name="gate-1">
            <a:extLst>
              <a:ext uri="{FF2B5EF4-FFF2-40B4-BE49-F238E27FC236}">
                <a16:creationId xmlns:a16="http://schemas.microsoft.com/office/drawing/2014/main" id="{2A06CF97-37E7-484F-9F5C-D5876268C22F}"/>
              </a:ext>
            </a:extLst>
          </p:cNvPr>
          <p:cNvSpPr>
            <a:spLocks noGrp="1"/>
          </p:cNvSpPr>
          <p:nvPr/>
        </p:nvSpPr>
        <p:spPr>
          <a:xfrm>
            <a:off x="2800350" y="49530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LEGAL IDs</a:t>
            </a:r>
          </a:p>
        </p:txBody>
      </p:sp>
      <p:sp>
        <p:nvSpPr>
          <p:cNvPr id="23" name="gate-2">
            <a:extLst>
              <a:ext uri="{FF2B5EF4-FFF2-40B4-BE49-F238E27FC236}">
                <a16:creationId xmlns:a16="http://schemas.microsoft.com/office/drawing/2014/main" id="{9F3AD93A-3D12-47EC-B09F-3EA4C0A5865A}"/>
              </a:ext>
            </a:extLst>
          </p:cNvPr>
          <p:cNvSpPr>
            <a:spLocks noGrp="1"/>
          </p:cNvSpPr>
          <p:nvPr/>
        </p:nvSpPr>
        <p:spPr>
          <a:xfrm>
            <a:off x="4819650" y="49530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24" name="gate-3">
            <a:extLst>
              <a:ext uri="{FF2B5EF4-FFF2-40B4-BE49-F238E27FC236}">
                <a16:creationId xmlns:a16="http://schemas.microsoft.com/office/drawing/2014/main" id="{51E6A2A8-C893-4570-B223-AA3B3CEAF59C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RISK LANGUAGE</a:t>
            </a:r>
          </a:p>
        </p:txBody>
      </p:sp>
      <p:sp>
        <p:nvSpPr>
          <p:cNvPr id="25" name="gate-4">
            <a:extLst>
              <a:ext uri="{FF2B5EF4-FFF2-40B4-BE49-F238E27FC236}">
                <a16:creationId xmlns:a16="http://schemas.microsoft.com/office/drawing/2014/main" id="{484FC82A-8370-4626-A80A-2EE3C2B3F248}"/>
              </a:ext>
            </a:extLst>
          </p:cNvPr>
          <p:cNvSpPr>
            <a:spLocks noGrp="1"/>
          </p:cNvSpPr>
          <p:nvPr/>
        </p:nvSpPr>
        <p:spPr>
          <a:xfrm>
            <a:off x="8858250" y="495300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PROTECTED FIELDS</a:t>
            </a:r>
          </a:p>
        </p:txBody>
      </p:sp>
      <p:sp>
        <p:nvSpPr>
          <p:cNvPr id="26" name="safety-gate-copy">
            <a:extLst>
              <a:ext uri="{FF2B5EF4-FFF2-40B4-BE49-F238E27FC236}">
                <a16:creationId xmlns:a16="http://schemas.microsoft.com/office/drawing/2014/main" id="{6B91AB99-89E5-4FED-B88A-09B5A05F2FFD}"/>
              </a:ext>
            </a:extLst>
          </p:cNvPr>
          <p:cNvSpPr>
            <a:spLocks noGrp="1"/>
          </p:cNvSpPr>
          <p:nvPr/>
        </p:nvSpPr>
        <p:spPr>
          <a:xfrm>
            <a:off x="781050" y="54102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PASS WITH WARNINGS → DRAFT / PENDING → MANUAL REVIEW.  NO AUTOMATIC FILING OR SENDING.</a:t>
            </a:r>
          </a:p>
        </p:txBody>
      </p:sp>
    </p:spTree>
    <p:extLst>
      <p:ext uri="{BB962C8B-B14F-4D97-AF65-F5344CB8AC3E}">
        <p14:creationId xmlns:p14="http://schemas.microsoft.com/office/powerpoint/2010/main" val="208225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9">
            <a:extLst>
              <a:ext uri="{FF2B5EF4-FFF2-40B4-BE49-F238E27FC236}">
                <a16:creationId xmlns:a16="http://schemas.microsoft.com/office/drawing/2014/main" id="{1AF25D84-0D1D-429B-B3B2-AFECEB9B558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720215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 fontScale="99037"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MEASURED OPTIMIZATION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A4700A9F-037D-4B06-8400-7C2F3100DC11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603"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5F8F8"/>
                </a:solidFill>
                <a:latin typeface="Arial"/>
                <a:ea typeface="Arial"/>
                <a:cs typeface="Arial"/>
              </a:rPr>
              <a:t>Less context. Faster first token. Every protected field retained.</a:t>
            </a:r>
          </a:p>
        </p:txBody>
      </p:sp>
      <p:sp>
        <p:nvSpPr>
          <p:cNvPr id="3" name="subtitle-9">
            <a:extLst>
              <a:ext uri="{FF2B5EF4-FFF2-40B4-BE49-F238E27FC236}">
                <a16:creationId xmlns:a16="http://schemas.microsoft.com/office/drawing/2014/main" id="{87F60354-64D7-4E41-BF8E-D82D19E427EB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11106150" cy="1904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9BB9C1"/>
                </a:solidFill>
                <a:latin typeface="Arial"/>
                <a:ea typeface="Arial"/>
                <a:cs typeface="Arial"/>
              </a:rPr>
              <a:t>Fair baseline: same model, same Radeon hardware, temperature 0.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71856872-B1E3-44DB-A3EE-6E8A526CF270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9">
            <a:extLst>
              <a:ext uri="{FF2B5EF4-FFF2-40B4-BE49-F238E27FC236}">
                <a16:creationId xmlns:a16="http://schemas.microsoft.com/office/drawing/2014/main" id="{8AEA991D-58FC-4DC0-9167-4B08AFD5FF65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9">
            <a:extLst>
              <a:ext uri="{FF2B5EF4-FFF2-40B4-BE49-F238E27FC236}">
                <a16:creationId xmlns:a16="http://schemas.microsoft.com/office/drawing/2014/main" id="{8DE5488D-4D9B-49A5-9DB0-0CDE25B6DF2A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tokens-label">
            <a:extLst>
              <a:ext uri="{FF2B5EF4-FFF2-40B4-BE49-F238E27FC236}">
                <a16:creationId xmlns:a16="http://schemas.microsoft.com/office/drawing/2014/main" id="{98166108-5539-4563-8164-8C89327AF90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INPUT TOKENS</a:t>
            </a:r>
          </a:p>
        </p:txBody>
      </p:sp>
      <p:sp>
        <p:nvSpPr>
          <p:cNvPr id="8" name="tokens-full-label">
            <a:extLst>
              <a:ext uri="{FF2B5EF4-FFF2-40B4-BE49-F238E27FC236}">
                <a16:creationId xmlns:a16="http://schemas.microsoft.com/office/drawing/2014/main" id="{191D6474-2863-41A6-840A-EC3026B5057C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FULL HISTORY</a:t>
            </a:r>
          </a:p>
        </p:txBody>
      </p:sp>
      <p:sp>
        <p:nvSpPr>
          <p:cNvPr id="9" name="tokens-full-bar">
            <a:extLst>
              <a:ext uri="{FF2B5EF4-FFF2-40B4-BE49-F238E27FC236}">
                <a16:creationId xmlns:a16="http://schemas.microsoft.com/office/drawing/2014/main" id="{2CE16C52-9AED-47C8-A1E3-4EB604B6E540}"/>
              </a:ext>
            </a:extLst>
          </p:cNvPr>
          <p:cNvSpPr>
            <a:spLocks noGrp="1"/>
          </p:cNvSpPr>
          <p:nvPr/>
        </p:nvSpPr>
        <p:spPr>
          <a:xfrm>
            <a:off x="2457450" y="2628900"/>
            <a:ext cx="4762500" cy="381000"/>
          </a:xfrm>
          <a:prstGeom prst="roundRect">
            <a:avLst>
              <a:gd name="adj" fmla="val 25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okens-full-value">
            <a:extLst>
              <a:ext uri="{FF2B5EF4-FFF2-40B4-BE49-F238E27FC236}">
                <a16:creationId xmlns:a16="http://schemas.microsoft.com/office/drawing/2014/main" id="{5D6C5DE4-89A6-408C-9C1B-50F9A2893CF3}"/>
              </a:ext>
            </a:extLst>
          </p:cNvPr>
          <p:cNvSpPr>
            <a:spLocks noGrp="1"/>
          </p:cNvSpPr>
          <p:nvPr/>
        </p:nvSpPr>
        <p:spPr>
          <a:xfrm>
            <a:off x="6191250" y="27051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11,808</a:t>
            </a:r>
          </a:p>
        </p:txBody>
      </p:sp>
      <p:sp>
        <p:nvSpPr>
          <p:cNvPr id="11" name="tokens-case-label">
            <a:extLst>
              <a:ext uri="{FF2B5EF4-FFF2-40B4-BE49-F238E27FC236}">
                <a16:creationId xmlns:a16="http://schemas.microsoft.com/office/drawing/2014/main" id="{BFE18C6E-0F26-4290-BA0F-F26D0C5C7103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CASE CAPSULE</a:t>
            </a:r>
          </a:p>
        </p:txBody>
      </p:sp>
      <p:sp>
        <p:nvSpPr>
          <p:cNvPr id="12" name="tokens-case-bg">
            <a:extLst>
              <a:ext uri="{FF2B5EF4-FFF2-40B4-BE49-F238E27FC236}">
                <a16:creationId xmlns:a16="http://schemas.microsoft.com/office/drawing/2014/main" id="{69C8F79B-E6BB-433F-84DC-F85515A7CC54}"/>
              </a:ext>
            </a:extLst>
          </p:cNvPr>
          <p:cNvSpPr>
            <a:spLocks noGrp="1"/>
          </p:cNvSpPr>
          <p:nvPr/>
        </p:nvSpPr>
        <p:spPr>
          <a:xfrm>
            <a:off x="2457450" y="3257550"/>
            <a:ext cx="4762500" cy="381000"/>
          </a:xfrm>
          <a:prstGeom prst="roundRect">
            <a:avLst>
              <a:gd name="adj" fmla="val 25000"/>
            </a:avLst>
          </a:prstGeom>
          <a:solidFill>
            <a:srgbClr val="0D304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okens-case-bar">
            <a:extLst>
              <a:ext uri="{FF2B5EF4-FFF2-40B4-BE49-F238E27FC236}">
                <a16:creationId xmlns:a16="http://schemas.microsoft.com/office/drawing/2014/main" id="{24F843BF-D192-4C70-8A8D-D9D2CA1F0B6A}"/>
              </a:ext>
            </a:extLst>
          </p:cNvPr>
          <p:cNvSpPr>
            <a:spLocks noGrp="1"/>
          </p:cNvSpPr>
          <p:nvPr/>
        </p:nvSpPr>
        <p:spPr>
          <a:xfrm>
            <a:off x="2457450" y="3257550"/>
            <a:ext cx="2343150" cy="381000"/>
          </a:xfrm>
          <a:prstGeom prst="roundRect">
            <a:avLst>
              <a:gd name="adj" fmla="val 25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okens-case-value">
            <a:extLst>
              <a:ext uri="{FF2B5EF4-FFF2-40B4-BE49-F238E27FC236}">
                <a16:creationId xmlns:a16="http://schemas.microsoft.com/office/drawing/2014/main" id="{05ACF84D-B596-4E8A-B600-299BF0A13C88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5,795</a:t>
            </a:r>
          </a:p>
        </p:txBody>
      </p:sp>
      <p:sp>
        <p:nvSpPr>
          <p:cNvPr id="15" name="token-reduction-card">
            <a:extLst>
              <a:ext uri="{FF2B5EF4-FFF2-40B4-BE49-F238E27FC236}">
                <a16:creationId xmlns:a16="http://schemas.microsoft.com/office/drawing/2014/main" id="{E1339760-2BA5-4254-8160-DDB7DA673293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3238500" cy="1257300"/>
          </a:xfrm>
          <a:prstGeom prst="roundRect">
            <a:avLst>
              <a:gd name="adj" fmla="val 10606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oken-reduction-label">
            <a:extLst>
              <a:ext uri="{FF2B5EF4-FFF2-40B4-BE49-F238E27FC236}">
                <a16:creationId xmlns:a16="http://schemas.microsoft.com/office/drawing/2014/main" id="{3794A620-6960-4319-B592-F49A7453D8F0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INPUT TOKEN REDUCTION</a:t>
            </a:r>
          </a:p>
        </p:txBody>
      </p:sp>
      <p:sp>
        <p:nvSpPr>
          <p:cNvPr id="17" name="token-reduction-value">
            <a:extLst>
              <a:ext uri="{FF2B5EF4-FFF2-40B4-BE49-F238E27FC236}">
                <a16:creationId xmlns:a16="http://schemas.microsoft.com/office/drawing/2014/main" id="{6506FD5F-C688-4EB9-A21B-3B28D32663B0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50.9%</a:t>
            </a:r>
          </a:p>
        </p:txBody>
      </p:sp>
      <p:sp>
        <p:nvSpPr>
          <p:cNvPr id="18" name="token-reduction-foot">
            <a:extLst>
              <a:ext uri="{FF2B5EF4-FFF2-40B4-BE49-F238E27FC236}">
                <a16:creationId xmlns:a16="http://schemas.microsoft.com/office/drawing/2014/main" id="{21E15B6B-F234-4145-A0A7-59B8D3A7D515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11,808 → 5,795</a:t>
            </a:r>
          </a:p>
        </p:txBody>
      </p:sp>
      <p:sp>
        <p:nvSpPr>
          <p:cNvPr id="19" name="field-retention-card">
            <a:extLst>
              <a:ext uri="{FF2B5EF4-FFF2-40B4-BE49-F238E27FC236}">
                <a16:creationId xmlns:a16="http://schemas.microsoft.com/office/drawing/2014/main" id="{921939D7-97F0-402B-94DC-270F30454F3C}"/>
              </a:ext>
            </a:extLst>
          </p:cNvPr>
          <p:cNvSpPr>
            <a:spLocks noGrp="1"/>
          </p:cNvSpPr>
          <p:nvPr/>
        </p:nvSpPr>
        <p:spPr>
          <a:xfrm>
            <a:off x="3981450" y="4095750"/>
            <a:ext cx="3238500" cy="1257300"/>
          </a:xfrm>
          <a:prstGeom prst="roundRect">
            <a:avLst>
              <a:gd name="adj" fmla="val 10606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ield-retention-label">
            <a:extLst>
              <a:ext uri="{FF2B5EF4-FFF2-40B4-BE49-F238E27FC236}">
                <a16:creationId xmlns:a16="http://schemas.microsoft.com/office/drawing/2014/main" id="{577F8BBF-16DE-49DC-9E2A-3780E0D578DB}"/>
              </a:ext>
            </a:extLst>
          </p:cNvPr>
          <p:cNvSpPr>
            <a:spLocks noGrp="1"/>
          </p:cNvSpPr>
          <p:nvPr/>
        </p:nvSpPr>
        <p:spPr>
          <a:xfrm>
            <a:off x="4152900" y="42481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PROTECTEDFIELD RETENTION</a:t>
            </a:r>
          </a:p>
        </p:txBody>
      </p:sp>
      <p:sp>
        <p:nvSpPr>
          <p:cNvPr id="21" name="field-retention-value">
            <a:extLst>
              <a:ext uri="{FF2B5EF4-FFF2-40B4-BE49-F238E27FC236}">
                <a16:creationId xmlns:a16="http://schemas.microsoft.com/office/drawing/2014/main" id="{B16F6397-EC80-4D86-9193-0D48AFA436C0}"/>
              </a:ext>
            </a:extLst>
          </p:cNvPr>
          <p:cNvSpPr>
            <a:spLocks noGrp="1"/>
          </p:cNvSpPr>
          <p:nvPr/>
        </p:nvSpPr>
        <p:spPr>
          <a:xfrm>
            <a:off x="4152900" y="451485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2" name="field-retention-foot">
            <a:extLst>
              <a:ext uri="{FF2B5EF4-FFF2-40B4-BE49-F238E27FC236}">
                <a16:creationId xmlns:a16="http://schemas.microsoft.com/office/drawing/2014/main" id="{968A6FA1-1D34-4087-A271-B158D6650DFE}"/>
              </a:ext>
            </a:extLst>
          </p:cNvPr>
          <p:cNvSpPr>
            <a:spLocks noGrp="1"/>
          </p:cNvSpPr>
          <p:nvPr/>
        </p:nvSpPr>
        <p:spPr>
          <a:xfrm>
            <a:off x="4152900" y="4981575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dates · IDs · ratios · approval</a:t>
            </a:r>
          </a:p>
        </p:txBody>
      </p:sp>
      <p:sp>
        <p:nvSpPr>
          <p:cNvPr id="23" name="ttft-card">
            <a:extLst>
              <a:ext uri="{FF2B5EF4-FFF2-40B4-BE49-F238E27FC236}">
                <a16:creationId xmlns:a16="http://schemas.microsoft.com/office/drawing/2014/main" id="{6C892231-A6D3-4E10-8E00-EAF93FAD6BC8}"/>
              </a:ext>
            </a:extLst>
          </p:cNvPr>
          <p:cNvSpPr>
            <a:spLocks noGrp="1"/>
          </p:cNvSpPr>
          <p:nvPr/>
        </p:nvSpPr>
        <p:spPr>
          <a:xfrm>
            <a:off x="7486650" y="2247900"/>
            <a:ext cx="4191000" cy="1257300"/>
          </a:xfrm>
          <a:prstGeom prst="roundRect">
            <a:avLst>
              <a:gd name="adj" fmla="val 10606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tft-label">
            <a:extLst>
              <a:ext uri="{FF2B5EF4-FFF2-40B4-BE49-F238E27FC236}">
                <a16:creationId xmlns:a16="http://schemas.microsoft.com/office/drawing/2014/main" id="{AECEF182-83F3-48F2-9CDD-21B77A714630}"/>
              </a:ext>
            </a:extLst>
          </p:cNvPr>
          <p:cNvSpPr>
            <a:spLocks noGrp="1"/>
          </p:cNvSpPr>
          <p:nvPr/>
        </p:nvSpPr>
        <p:spPr>
          <a:xfrm>
            <a:off x="7658100" y="2400300"/>
            <a:ext cx="384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REPEATED-CASE TTFT P50</a:t>
            </a:r>
          </a:p>
        </p:txBody>
      </p:sp>
      <p:sp>
        <p:nvSpPr>
          <p:cNvPr id="25" name="ttft-value">
            <a:extLst>
              <a:ext uri="{FF2B5EF4-FFF2-40B4-BE49-F238E27FC236}">
                <a16:creationId xmlns:a16="http://schemas.microsoft.com/office/drawing/2014/main" id="{A4ED2426-B184-4D8F-BA89-A0B4CC914235}"/>
              </a:ext>
            </a:extLst>
          </p:cNvPr>
          <p:cNvSpPr>
            <a:spLocks noGrp="1"/>
          </p:cNvSpPr>
          <p:nvPr/>
        </p:nvSpPr>
        <p:spPr>
          <a:xfrm>
            <a:off x="7658100" y="2667000"/>
            <a:ext cx="3848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9.003 s → 0.113 s</a:t>
            </a:r>
          </a:p>
        </p:txBody>
      </p:sp>
      <p:sp>
        <p:nvSpPr>
          <p:cNvPr id="26" name="ttft-foot">
            <a:extLst>
              <a:ext uri="{FF2B5EF4-FFF2-40B4-BE49-F238E27FC236}">
                <a16:creationId xmlns:a16="http://schemas.microsoft.com/office/drawing/2014/main" id="{27D5F557-389C-43BD-A777-633219671813}"/>
              </a:ext>
            </a:extLst>
          </p:cNvPr>
          <p:cNvSpPr>
            <a:spLocks noGrp="1"/>
          </p:cNvSpPr>
          <p:nvPr/>
        </p:nvSpPr>
        <p:spPr>
          <a:xfrm>
            <a:off x="7658100" y="3133725"/>
            <a:ext cx="384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Automatic Prefix Caching · 98.8% improvement</a:t>
            </a:r>
          </a:p>
        </p:txBody>
      </p:sp>
      <p:sp>
        <p:nvSpPr>
          <p:cNvPr id="27" name="cache-card">
            <a:extLst>
              <a:ext uri="{FF2B5EF4-FFF2-40B4-BE49-F238E27FC236}">
                <a16:creationId xmlns:a16="http://schemas.microsoft.com/office/drawing/2014/main" id="{235DBE63-176E-47AB-BFA1-8ACCA8D46272}"/>
              </a:ext>
            </a:extLst>
          </p:cNvPr>
          <p:cNvSpPr>
            <a:spLocks noGrp="1"/>
          </p:cNvSpPr>
          <p:nvPr/>
        </p:nvSpPr>
        <p:spPr>
          <a:xfrm>
            <a:off x="7486650" y="4095750"/>
            <a:ext cx="4191000" cy="1257300"/>
          </a:xfrm>
          <a:prstGeom prst="roundRect">
            <a:avLst>
              <a:gd name="adj" fmla="val 10606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cache-label">
            <a:extLst>
              <a:ext uri="{FF2B5EF4-FFF2-40B4-BE49-F238E27FC236}">
                <a16:creationId xmlns:a16="http://schemas.microsoft.com/office/drawing/2014/main" id="{28D27E18-9A4A-4CB4-860E-B31BB08632DE}"/>
              </a:ext>
            </a:extLst>
          </p:cNvPr>
          <p:cNvSpPr>
            <a:spLocks noGrp="1"/>
          </p:cNvSpPr>
          <p:nvPr/>
        </p:nvSpPr>
        <p:spPr>
          <a:xfrm>
            <a:off x="7658100" y="4248150"/>
            <a:ext cx="3848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PEAK PREFIX CACHE HIT RATE</a:t>
            </a:r>
          </a:p>
        </p:txBody>
      </p:sp>
      <p:sp>
        <p:nvSpPr>
          <p:cNvPr id="29" name="cache-value">
            <a:extLst>
              <a:ext uri="{FF2B5EF4-FFF2-40B4-BE49-F238E27FC236}">
                <a16:creationId xmlns:a16="http://schemas.microsoft.com/office/drawing/2014/main" id="{D35785BE-0127-4423-918D-D0DDBF7B9911}"/>
              </a:ext>
            </a:extLst>
          </p:cNvPr>
          <p:cNvSpPr>
            <a:spLocks noGrp="1"/>
          </p:cNvSpPr>
          <p:nvPr/>
        </p:nvSpPr>
        <p:spPr>
          <a:xfrm>
            <a:off x="7658100" y="4514850"/>
            <a:ext cx="3848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30" name="cache-foot">
            <a:extLst>
              <a:ext uri="{FF2B5EF4-FFF2-40B4-BE49-F238E27FC236}">
                <a16:creationId xmlns:a16="http://schemas.microsoft.com/office/drawing/2014/main" id="{A47BAD41-93BD-4603-BE70-DC0207D4C2A6}"/>
              </a:ext>
            </a:extLst>
          </p:cNvPr>
          <p:cNvSpPr>
            <a:spLocks noGrp="1"/>
          </p:cNvSpPr>
          <p:nvPr/>
        </p:nvSpPr>
        <p:spPr>
          <a:xfrm>
            <a:off x="7658100" y="4981575"/>
            <a:ext cx="384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Measured in the vLLM log</a:t>
            </a:r>
          </a:p>
        </p:txBody>
      </p:sp>
    </p:spTree>
    <p:extLst>
      <p:ext uri="{BB962C8B-B14F-4D97-AF65-F5344CB8AC3E}">
        <p14:creationId xmlns:p14="http://schemas.microsoft.com/office/powerpoint/2010/main" val="325942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-10">
            <a:extLst>
              <a:ext uri="{FF2B5EF4-FFF2-40B4-BE49-F238E27FC236}">
                <a16:creationId xmlns:a16="http://schemas.microsoft.com/office/drawing/2014/main" id="{9371DD3B-DCB7-4A10-973A-0EFD5B13378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695450" cy="285750"/>
          </a:xfrm>
          <a:prstGeom prst="roundRect">
            <a:avLst>
              <a:gd name="adj" fmla="val 50000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REAL-WORK LOAD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4F1A5FB7-8C3B-402E-AC6C-8BED9E4B0614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Concurrency scales without trading away quality.</a:t>
            </a:r>
          </a:p>
        </p:txBody>
      </p:sp>
      <p:sp>
        <p:nvSpPr>
          <p:cNvPr id="3" name="subtitle-10">
            <a:extLst>
              <a:ext uri="{FF2B5EF4-FFF2-40B4-BE49-F238E27FC236}">
                <a16:creationId xmlns:a16="http://schemas.microsoft.com/office/drawing/2014/main" id="{052C368B-9DA7-4679-A272-D54E6D8FBBEA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06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Twenty semantic requests at each level; Prefix Cache pre-warmed; zero OOM.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93A04D40-A5ED-4E2C-9D24-D448A6DF901A}"/>
              </a:ext>
            </a:extLst>
          </p:cNvPr>
          <p:cNvSpPr>
            <a:spLocks noGrp="1"/>
          </p:cNvSpPr>
          <p:nvPr/>
        </p:nvSpPr>
        <p:spPr>
          <a:xfrm>
            <a:off x="514350" y="6581775"/>
            <a:ext cx="11163300" cy="0"/>
          </a:xfrm>
          <a:prstGeom prst="line">
            <a:avLst/>
          </a:prstGeom>
          <a:noFill/>
          <a:ln w="9525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ooter-left-10">
            <a:extLst>
              <a:ext uri="{FF2B5EF4-FFF2-40B4-BE49-F238E27FC236}">
                <a16:creationId xmlns:a16="http://schemas.microsoft.com/office/drawing/2014/main" id="{2347573D-9E35-469A-9964-8EFA9EBEC30A}"/>
              </a:ext>
            </a:extLst>
          </p:cNvPr>
          <p:cNvSpPr>
            <a:spLocks noGrp="1"/>
          </p:cNvSpPr>
          <p:nvPr/>
        </p:nvSpPr>
        <p:spPr>
          <a:xfrm>
            <a:off x="514350" y="6629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ACCIDENT RIGHTS AGENT · DATALINK</a:t>
            </a:r>
          </a:p>
        </p:txBody>
      </p:sp>
      <p:sp>
        <p:nvSpPr>
          <p:cNvPr id="6" name="footer-right-10">
            <a:extLst>
              <a:ext uri="{FF2B5EF4-FFF2-40B4-BE49-F238E27FC236}">
                <a16:creationId xmlns:a16="http://schemas.microsoft.com/office/drawing/2014/main" id="{ECD524C4-2CB2-4CDC-B3D0-66AEDC415CA7}"/>
              </a:ext>
            </a:extLst>
          </p:cNvPr>
          <p:cNvSpPr>
            <a:spLocks noGrp="1"/>
          </p:cNvSpPr>
          <p:nvPr/>
        </p:nvSpPr>
        <p:spPr>
          <a:xfrm>
            <a:off x="11315700" y="66294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c-label-0">
            <a:extLst>
              <a:ext uri="{FF2B5EF4-FFF2-40B4-BE49-F238E27FC236}">
                <a16:creationId xmlns:a16="http://schemas.microsoft.com/office/drawing/2014/main" id="{A62E0F95-BDBB-4C76-B370-49B1F30B4432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C=1</a:t>
            </a:r>
          </a:p>
        </p:txBody>
      </p:sp>
      <p:sp>
        <p:nvSpPr>
          <p:cNvPr id="8" name="c-bg-0">
            <a:extLst>
              <a:ext uri="{FF2B5EF4-FFF2-40B4-BE49-F238E27FC236}">
                <a16:creationId xmlns:a16="http://schemas.microsoft.com/office/drawing/2014/main" id="{AFA4F0FA-94CC-459A-BC2C-DC528E8064DB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6191250" cy="476250"/>
          </a:xfrm>
          <a:prstGeom prst="roundRect">
            <a:avLst>
              <a:gd name="adj" fmla="val 24000"/>
            </a:avLst>
          </a:prstGeom>
          <a:solidFill>
            <a:srgbClr val="0D304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-bar-0">
            <a:extLst>
              <a:ext uri="{FF2B5EF4-FFF2-40B4-BE49-F238E27FC236}">
                <a16:creationId xmlns:a16="http://schemas.microsoft.com/office/drawing/2014/main" id="{2D087063-285F-4412-99AD-350146D4F432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2476500" cy="476250"/>
          </a:xfrm>
          <a:prstGeom prst="roundRect">
            <a:avLst>
              <a:gd name="adj" fmla="val 24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-val-0">
            <a:extLst>
              <a:ext uri="{FF2B5EF4-FFF2-40B4-BE49-F238E27FC236}">
                <a16:creationId xmlns:a16="http://schemas.microsoft.com/office/drawing/2014/main" id="{E5FEB562-FCE5-475E-8DC0-6868F748F636}"/>
              </a:ext>
            </a:extLst>
          </p:cNvPr>
          <p:cNvSpPr>
            <a:spLocks noGrp="1"/>
          </p:cNvSpPr>
          <p:nvPr/>
        </p:nvSpPr>
        <p:spPr>
          <a:xfrm>
            <a:off x="1581150" y="2438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25.67 tokens/s</a:t>
            </a:r>
          </a:p>
        </p:txBody>
      </p:sp>
      <p:sp>
        <p:nvSpPr>
          <p:cNvPr id="11" name="c-ok-0">
            <a:extLst>
              <a:ext uri="{FF2B5EF4-FFF2-40B4-BE49-F238E27FC236}">
                <a16:creationId xmlns:a16="http://schemas.microsoft.com/office/drawing/2014/main" id="{502B3C8E-EBEA-485B-A948-712951ADB8FF}"/>
              </a:ext>
            </a:extLst>
          </p:cNvPr>
          <p:cNvSpPr>
            <a:spLocks noGrp="1"/>
          </p:cNvSpPr>
          <p:nvPr/>
        </p:nvSpPr>
        <p:spPr>
          <a:xfrm>
            <a:off x="7715250" y="2447925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2" name="c-label-1">
            <a:extLst>
              <a:ext uri="{FF2B5EF4-FFF2-40B4-BE49-F238E27FC236}">
                <a16:creationId xmlns:a16="http://schemas.microsoft.com/office/drawing/2014/main" id="{0488AE62-2523-4FBF-9A02-AE81694E9AEC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C=2</a:t>
            </a:r>
          </a:p>
        </p:txBody>
      </p:sp>
      <p:sp>
        <p:nvSpPr>
          <p:cNvPr id="13" name="c-bg-1">
            <a:extLst>
              <a:ext uri="{FF2B5EF4-FFF2-40B4-BE49-F238E27FC236}">
                <a16:creationId xmlns:a16="http://schemas.microsoft.com/office/drawing/2014/main" id="{52241E1B-0891-41CB-BFDC-4107E350363F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6191250" cy="476250"/>
          </a:xfrm>
          <a:prstGeom prst="roundRect">
            <a:avLst>
              <a:gd name="adj" fmla="val 24000"/>
            </a:avLst>
          </a:prstGeom>
          <a:solidFill>
            <a:srgbClr val="0D304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-bar-1">
            <a:extLst>
              <a:ext uri="{FF2B5EF4-FFF2-40B4-BE49-F238E27FC236}">
                <a16:creationId xmlns:a16="http://schemas.microsoft.com/office/drawing/2014/main" id="{630631FC-8DBD-4786-B88B-3812D1C8AB84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4762500" cy="476250"/>
          </a:xfrm>
          <a:prstGeom prst="roundRect">
            <a:avLst>
              <a:gd name="adj" fmla="val 24000"/>
            </a:avLst>
          </a:prstGeom>
          <a:solidFill>
            <a:srgbClr val="55CBB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c-val-1">
            <a:extLst>
              <a:ext uri="{FF2B5EF4-FFF2-40B4-BE49-F238E27FC236}">
                <a16:creationId xmlns:a16="http://schemas.microsoft.com/office/drawing/2014/main" id="{34B3E3CD-CD2E-4CDE-B79C-6A9DF437E8C1}"/>
              </a:ext>
            </a:extLst>
          </p:cNvPr>
          <p:cNvSpPr>
            <a:spLocks noGrp="1"/>
          </p:cNvSpPr>
          <p:nvPr/>
        </p:nvSpPr>
        <p:spPr>
          <a:xfrm>
            <a:off x="1581150" y="3257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49.32 tokens/s</a:t>
            </a:r>
          </a:p>
        </p:txBody>
      </p:sp>
      <p:sp>
        <p:nvSpPr>
          <p:cNvPr id="16" name="c-ok-1">
            <a:extLst>
              <a:ext uri="{FF2B5EF4-FFF2-40B4-BE49-F238E27FC236}">
                <a16:creationId xmlns:a16="http://schemas.microsoft.com/office/drawing/2014/main" id="{C1090EF7-774E-46DF-89A3-BAD9F93FDC90}"/>
              </a:ext>
            </a:extLst>
          </p:cNvPr>
          <p:cNvSpPr>
            <a:spLocks noGrp="1"/>
          </p:cNvSpPr>
          <p:nvPr/>
        </p:nvSpPr>
        <p:spPr>
          <a:xfrm>
            <a:off x="7715250" y="3267075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7" name="c-label-2">
            <a:extLst>
              <a:ext uri="{FF2B5EF4-FFF2-40B4-BE49-F238E27FC236}">
                <a16:creationId xmlns:a16="http://schemas.microsoft.com/office/drawing/2014/main" id="{F7BF4BBF-4712-4760-8C7A-F7875901DDFB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C=4</a:t>
            </a:r>
          </a:p>
        </p:txBody>
      </p:sp>
      <p:sp>
        <p:nvSpPr>
          <p:cNvPr id="18" name="c-bg-2">
            <a:extLst>
              <a:ext uri="{FF2B5EF4-FFF2-40B4-BE49-F238E27FC236}">
                <a16:creationId xmlns:a16="http://schemas.microsoft.com/office/drawing/2014/main" id="{50AB50EE-02D6-4F97-A6BB-EB7D171E97F6}"/>
              </a:ext>
            </a:extLst>
          </p:cNvPr>
          <p:cNvSpPr>
            <a:spLocks noGrp="1"/>
          </p:cNvSpPr>
          <p:nvPr/>
        </p:nvSpPr>
        <p:spPr>
          <a:xfrm>
            <a:off x="1352550" y="3962400"/>
            <a:ext cx="6191250" cy="476250"/>
          </a:xfrm>
          <a:prstGeom prst="roundRect">
            <a:avLst>
              <a:gd name="adj" fmla="val 24000"/>
            </a:avLst>
          </a:prstGeom>
          <a:solidFill>
            <a:srgbClr val="0D304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c-bar-2">
            <a:extLst>
              <a:ext uri="{FF2B5EF4-FFF2-40B4-BE49-F238E27FC236}">
                <a16:creationId xmlns:a16="http://schemas.microsoft.com/office/drawing/2014/main" id="{B3AF173A-4A56-4220-B0D3-CCC0E1F8F5C2}"/>
              </a:ext>
            </a:extLst>
          </p:cNvPr>
          <p:cNvSpPr>
            <a:spLocks noGrp="1"/>
          </p:cNvSpPr>
          <p:nvPr/>
        </p:nvSpPr>
        <p:spPr>
          <a:xfrm>
            <a:off x="1352550" y="3962400"/>
            <a:ext cx="7239000" cy="476250"/>
          </a:xfrm>
          <a:prstGeom prst="roundRect">
            <a:avLst>
              <a:gd name="adj" fmla="val 24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c-val-2">
            <a:extLst>
              <a:ext uri="{FF2B5EF4-FFF2-40B4-BE49-F238E27FC236}">
                <a16:creationId xmlns:a16="http://schemas.microsoft.com/office/drawing/2014/main" id="{0D763882-C8FA-41A7-AF94-7ED71F3DAE96}"/>
              </a:ext>
            </a:extLst>
          </p:cNvPr>
          <p:cNvSpPr>
            <a:spLocks noGrp="1"/>
          </p:cNvSpPr>
          <p:nvPr/>
        </p:nvSpPr>
        <p:spPr>
          <a:xfrm>
            <a:off x="1581150" y="4076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89.48 tokens/s</a:t>
            </a:r>
          </a:p>
        </p:txBody>
      </p:sp>
      <p:sp>
        <p:nvSpPr>
          <p:cNvPr id="21" name="c-ok-2">
            <a:extLst>
              <a:ext uri="{FF2B5EF4-FFF2-40B4-BE49-F238E27FC236}">
                <a16:creationId xmlns:a16="http://schemas.microsoft.com/office/drawing/2014/main" id="{32F4B8FF-DFEC-4DB8-A0FB-51589AE291D6}"/>
              </a:ext>
            </a:extLst>
          </p:cNvPr>
          <p:cNvSpPr>
            <a:spLocks noGrp="1"/>
          </p:cNvSpPr>
          <p:nvPr/>
        </p:nvSpPr>
        <p:spPr>
          <a:xfrm>
            <a:off x="7715250" y="4086225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22" name="stability-panel">
            <a:extLst>
              <a:ext uri="{FF2B5EF4-FFF2-40B4-BE49-F238E27FC236}">
                <a16:creationId xmlns:a16="http://schemas.microsoft.com/office/drawing/2014/main" id="{E83D527E-52CA-4016-8C06-61D03581C6E4}"/>
              </a:ext>
            </a:extLst>
          </p:cNvPr>
          <p:cNvSpPr>
            <a:spLocks noGrp="1"/>
          </p:cNvSpPr>
          <p:nvPr/>
        </p:nvSpPr>
        <p:spPr>
          <a:xfrm>
            <a:off x="8763000" y="2152650"/>
            <a:ext cx="2914650" cy="2876550"/>
          </a:xfrm>
          <a:prstGeom prst="roundRect">
            <a:avLst>
              <a:gd name="adj" fmla="val 5298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tability-title">
            <a:extLst>
              <a:ext uri="{FF2B5EF4-FFF2-40B4-BE49-F238E27FC236}">
                <a16:creationId xmlns:a16="http://schemas.microsoft.com/office/drawing/2014/main" id="{E2009BEF-5189-4026-89A1-75F2CCBE23BB}"/>
              </a:ext>
            </a:extLst>
          </p:cNvPr>
          <p:cNvSpPr>
            <a:spLocks noGrp="1"/>
          </p:cNvSpPr>
          <p:nvPr/>
        </p:nvSpPr>
        <p:spPr>
          <a:xfrm>
            <a:off x="8991600" y="23812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30-MINUTE STABILITY</a:t>
            </a:r>
          </a:p>
        </p:txBody>
      </p:sp>
      <p:sp>
        <p:nvSpPr>
          <p:cNvPr id="24" name="stable-label-0">
            <a:extLst>
              <a:ext uri="{FF2B5EF4-FFF2-40B4-BE49-F238E27FC236}">
                <a16:creationId xmlns:a16="http://schemas.microsoft.com/office/drawing/2014/main" id="{DF082453-BACA-4BF9-86B1-BD472A722C67}"/>
              </a:ext>
            </a:extLst>
          </p:cNvPr>
          <p:cNvSpPr>
            <a:spLocks noGrp="1"/>
          </p:cNvSpPr>
          <p:nvPr/>
        </p:nvSpPr>
        <p:spPr>
          <a:xfrm>
            <a:off x="8991600" y="28194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25" name="stable-value-0">
            <a:extLst>
              <a:ext uri="{FF2B5EF4-FFF2-40B4-BE49-F238E27FC236}">
                <a16:creationId xmlns:a16="http://schemas.microsoft.com/office/drawing/2014/main" id="{DD72E179-AB42-4577-B528-7B7E9C0C7B0E}"/>
              </a:ext>
            </a:extLst>
          </p:cNvPr>
          <p:cNvSpPr>
            <a:spLocks noGrp="1"/>
          </p:cNvSpPr>
          <p:nvPr/>
        </p:nvSpPr>
        <p:spPr>
          <a:xfrm>
            <a:off x="10096500" y="27908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298 / 298</a:t>
            </a:r>
          </a:p>
        </p:txBody>
      </p:sp>
      <p:sp>
        <p:nvSpPr>
          <p:cNvPr id="26" name="stable-label-1">
            <a:extLst>
              <a:ext uri="{FF2B5EF4-FFF2-40B4-BE49-F238E27FC236}">
                <a16:creationId xmlns:a16="http://schemas.microsoft.com/office/drawing/2014/main" id="{19E2A537-F6FC-4BDD-B4B7-15BF240DD801}"/>
              </a:ext>
            </a:extLst>
          </p:cNvPr>
          <p:cNvSpPr>
            <a:spLocks noGrp="1"/>
          </p:cNvSpPr>
          <p:nvPr/>
        </p:nvSpPr>
        <p:spPr>
          <a:xfrm>
            <a:off x="8991600" y="33337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OOM</a:t>
            </a:r>
          </a:p>
        </p:txBody>
      </p:sp>
      <p:sp>
        <p:nvSpPr>
          <p:cNvPr id="27" name="stable-value-1">
            <a:extLst>
              <a:ext uri="{FF2B5EF4-FFF2-40B4-BE49-F238E27FC236}">
                <a16:creationId xmlns:a16="http://schemas.microsoft.com/office/drawing/2014/main" id="{C004DE78-57B2-4C64-A8BF-7771D2A67C0D}"/>
              </a:ext>
            </a:extLst>
          </p:cNvPr>
          <p:cNvSpPr>
            <a:spLocks noGrp="1"/>
          </p:cNvSpPr>
          <p:nvPr/>
        </p:nvSpPr>
        <p:spPr>
          <a:xfrm>
            <a:off x="10096500" y="33051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table-label-2">
            <a:extLst>
              <a:ext uri="{FF2B5EF4-FFF2-40B4-BE49-F238E27FC236}">
                <a16:creationId xmlns:a16="http://schemas.microsoft.com/office/drawing/2014/main" id="{60AF57BC-6FBB-4991-94EF-773F23AADB45}"/>
              </a:ext>
            </a:extLst>
          </p:cNvPr>
          <p:cNvSpPr>
            <a:spLocks noGrp="1"/>
          </p:cNvSpPr>
          <p:nvPr/>
        </p:nvSpPr>
        <p:spPr>
          <a:xfrm>
            <a:off x="8991600" y="38481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vLLM</a:t>
            </a:r>
          </a:p>
        </p:txBody>
      </p:sp>
      <p:sp>
        <p:nvSpPr>
          <p:cNvPr id="29" name="stable-value-2">
            <a:extLst>
              <a:ext uri="{FF2B5EF4-FFF2-40B4-BE49-F238E27FC236}">
                <a16:creationId xmlns:a16="http://schemas.microsoft.com/office/drawing/2014/main" id="{C38EB7B4-188D-41F6-8CD0-A2F3CFB7FEC9}"/>
              </a:ext>
            </a:extLst>
          </p:cNvPr>
          <p:cNvSpPr>
            <a:spLocks noGrp="1"/>
          </p:cNvSpPr>
          <p:nvPr/>
        </p:nvSpPr>
        <p:spPr>
          <a:xfrm>
            <a:off x="10096500" y="38195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30" name="stable-label-3">
            <a:extLst>
              <a:ext uri="{FF2B5EF4-FFF2-40B4-BE49-F238E27FC236}">
                <a16:creationId xmlns:a16="http://schemas.microsoft.com/office/drawing/2014/main" id="{CC5EF23F-C2C7-4B3E-AD36-8C752E6F4CD9}"/>
              </a:ext>
            </a:extLst>
          </p:cNvPr>
          <p:cNvSpPr>
            <a:spLocks noGrp="1"/>
          </p:cNvSpPr>
          <p:nvPr/>
        </p:nvSpPr>
        <p:spPr>
          <a:xfrm>
            <a:off x="8991600" y="4362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31" name="stable-value-3">
            <a:extLst>
              <a:ext uri="{FF2B5EF4-FFF2-40B4-BE49-F238E27FC236}">
                <a16:creationId xmlns:a16="http://schemas.microsoft.com/office/drawing/2014/main" id="{209DF18E-0152-40B3-86C5-E284AFAB3DAD}"/>
              </a:ext>
            </a:extLst>
          </p:cNvPr>
          <p:cNvSpPr>
            <a:spLocks noGrp="1"/>
          </p:cNvSpPr>
          <p:nvPr/>
        </p:nvSpPr>
        <p:spPr>
          <a:xfrm>
            <a:off x="10096500" y="43338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HEALTHY</a:t>
            </a:r>
          </a:p>
        </p:txBody>
      </p:sp>
      <p:sp>
        <p:nvSpPr>
          <p:cNvPr id="32" name="scale-proof">
            <a:extLst>
              <a:ext uri="{FF2B5EF4-FFF2-40B4-BE49-F238E27FC236}">
                <a16:creationId xmlns:a16="http://schemas.microsoft.com/office/drawing/2014/main" id="{17AAF6E4-91D3-48B7-A4D2-E8232D1BDBFA}"/>
              </a:ext>
            </a:extLst>
          </p:cNvPr>
          <p:cNvSpPr>
            <a:spLocks noGrp="1"/>
          </p:cNvSpPr>
          <p:nvPr/>
        </p:nvSpPr>
        <p:spPr>
          <a:xfrm>
            <a:off x="514350" y="5219700"/>
            <a:ext cx="11163300" cy="838200"/>
          </a:xfrm>
          <a:prstGeom prst="roundRect">
            <a:avLst>
              <a:gd name="adj" fmla="val 15909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cale-proof-copy">
            <a:extLst>
              <a:ext uri="{FF2B5EF4-FFF2-40B4-BE49-F238E27FC236}">
                <a16:creationId xmlns:a16="http://schemas.microsoft.com/office/drawing/2014/main" id="{2F046389-C3ED-4238-8340-B7B82B7EB930}"/>
              </a:ext>
            </a:extLst>
          </p:cNvPr>
          <p:cNvSpPr>
            <a:spLocks noGrp="1"/>
          </p:cNvSpPr>
          <p:nvPr/>
        </p:nvSpPr>
        <p:spPr>
          <a:xfrm>
            <a:off x="742950" y="55054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CONCURRENCY 4 · 89.48 TOKENS/S · VERIFIER 100% · OOM 0 · UI/API RESPONSIVE</a:t>
            </a:r>
          </a:p>
        </p:txBody>
      </p:sp>
    </p:spTree>
    <p:extLst>
      <p:ext uri="{BB962C8B-B14F-4D97-AF65-F5344CB8AC3E}">
        <p14:creationId xmlns:p14="http://schemas.microsoft.com/office/powerpoint/2010/main" val="43318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B2A"/>
            </a:gs>
            <a:gs pos="100000">
              <a:srgbClr val="0A2931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lose-logo">
            <a:extLst>
              <a:ext uri="{FF2B5EF4-FFF2-40B4-BE49-F238E27FC236}">
                <a16:creationId xmlns:a16="http://schemas.microsoft.com/office/drawing/2014/main" id="{1FA83668-2E01-406A-BF6A-D13E75958AF0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close-logo-text">
            <a:extLst>
              <a:ext uri="{FF2B5EF4-FFF2-40B4-BE49-F238E27FC236}">
                <a16:creationId xmlns:a16="http://schemas.microsoft.com/office/drawing/2014/main" id="{E8AC5A0F-286C-4B86-861F-4C1D925CD7BF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23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AR</a:t>
            </a:r>
          </a:p>
        </p:txBody>
      </p:sp>
      <p:sp>
        <p:nvSpPr>
          <p:cNvPr id="3" name="close-eyebrow">
            <a:extLst>
              <a:ext uri="{FF2B5EF4-FFF2-40B4-BE49-F238E27FC236}">
                <a16:creationId xmlns:a16="http://schemas.microsoft.com/office/drawing/2014/main" id="{23B84155-406D-4E99-A299-211D46B4F071}"/>
              </a:ext>
            </a:extLst>
          </p:cNvPr>
          <p:cNvSpPr>
            <a:spLocks noGrp="1"/>
          </p:cNvSpPr>
          <p:nvPr/>
        </p:nvSpPr>
        <p:spPr>
          <a:xfrm>
            <a:off x="1581150" y="571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A CONTROLLED PILOT</a:t>
            </a:r>
          </a:p>
        </p:txBody>
      </p:sp>
      <p:sp>
        <p:nvSpPr>
          <p:cNvPr id="4" name="close-title">
            <a:extLst>
              <a:ext uri="{FF2B5EF4-FFF2-40B4-BE49-F238E27FC236}">
                <a16:creationId xmlns:a16="http://schemas.microsoft.com/office/drawing/2014/main" id="{CA1B686D-0812-47A3-83C2-EFA86EBEAD2E}"/>
              </a:ext>
            </a:extLst>
          </p:cNvPr>
          <p:cNvSpPr>
            <a:spLocks noGrp="1"/>
          </p:cNvSpPr>
          <p:nvPr/>
        </p:nvSpPr>
        <p:spPr>
          <a:xfrm>
            <a:off x="1581150" y="89535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Start small. Keep control. Prove value.</a:t>
            </a:r>
          </a:p>
        </p:txBody>
      </p:sp>
      <p:sp>
        <p:nvSpPr>
          <p:cNvPr id="5" name="close-subtitle">
            <a:extLst>
              <a:ext uri="{FF2B5EF4-FFF2-40B4-BE49-F238E27FC236}">
                <a16:creationId xmlns:a16="http://schemas.microsoft.com/office/drawing/2014/main" id="{39658206-8FCA-4C3B-ACD6-763AE96FB472}"/>
              </a:ext>
            </a:extLst>
          </p:cNvPr>
          <p:cNvSpPr>
            <a:spLocks noGrp="1"/>
          </p:cNvSpPr>
          <p:nvPr/>
        </p:nvSpPr>
        <p:spPr>
          <a:xfrm>
            <a:off x="1600200" y="1543050"/>
            <a:ext cx="923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One claims workflow can establish measurable operational evidence before wider adoption.</a:t>
            </a:r>
          </a:p>
        </p:txBody>
      </p:sp>
      <p:sp>
        <p:nvSpPr>
          <p:cNvPr id="6" name="s11-01-card">
            <a:extLst>
              <a:ext uri="{FF2B5EF4-FFF2-40B4-BE49-F238E27FC236}">
                <a16:creationId xmlns:a16="http://schemas.microsoft.com/office/drawing/2014/main" id="{28F89B84-C6E7-437A-830E-1E386476856C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11-01-pill">
            <a:extLst>
              <a:ext uri="{FF2B5EF4-FFF2-40B4-BE49-F238E27FC236}">
                <a16:creationId xmlns:a16="http://schemas.microsoft.com/office/drawing/2014/main" id="{FEA9A853-F6AB-48D2-BC5F-92CF468138CC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11-01-title">
            <a:extLst>
              <a:ext uri="{FF2B5EF4-FFF2-40B4-BE49-F238E27FC236}">
                <a16:creationId xmlns:a16="http://schemas.microsoft.com/office/drawing/2014/main" id="{0B7A28DD-4D98-4E1B-8F5A-8627FE89913E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REDACTED CASES</a:t>
            </a:r>
          </a:p>
        </p:txBody>
      </p:sp>
      <p:sp>
        <p:nvSpPr>
          <p:cNvPr id="9" name="s11-01-copy">
            <a:extLst>
              <a:ext uri="{FF2B5EF4-FFF2-40B4-BE49-F238E27FC236}">
                <a16:creationId xmlns:a16="http://schemas.microsoft.com/office/drawing/2014/main" id="{EFDD83EF-F8CC-443B-BE6D-400ABA27F417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Begin with synthetic or de-identified accident files.</a:t>
            </a:r>
          </a:p>
        </p:txBody>
      </p:sp>
      <p:sp>
        <p:nvSpPr>
          <p:cNvPr id="10" name="s11-02-card">
            <a:extLst>
              <a:ext uri="{FF2B5EF4-FFF2-40B4-BE49-F238E27FC236}">
                <a16:creationId xmlns:a16="http://schemas.microsoft.com/office/drawing/2014/main" id="{DCCFACDA-6953-4D8D-88F0-616D10CC2671}"/>
              </a:ext>
            </a:extLst>
          </p:cNvPr>
          <p:cNvSpPr>
            <a:spLocks noGrp="1"/>
          </p:cNvSpPr>
          <p:nvPr/>
        </p:nvSpPr>
        <p:spPr>
          <a:xfrm>
            <a:off x="4362450" y="23050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11-02-pill">
            <a:extLst>
              <a:ext uri="{FF2B5EF4-FFF2-40B4-BE49-F238E27FC236}">
                <a16:creationId xmlns:a16="http://schemas.microsoft.com/office/drawing/2014/main" id="{1806DA1B-C2DD-4CFA-917E-D0AD1269B172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11-02-title">
            <a:extLst>
              <a:ext uri="{FF2B5EF4-FFF2-40B4-BE49-F238E27FC236}">
                <a16:creationId xmlns:a16="http://schemas.microsoft.com/office/drawing/2014/main" id="{861BFCEE-0B01-4529-82F8-61357BDD19F0}"/>
              </a:ext>
            </a:extLst>
          </p:cNvPr>
          <p:cNvSpPr>
            <a:spLocks noGrp="1"/>
          </p:cNvSpPr>
          <p:nvPr/>
        </p:nvSpPr>
        <p:spPr>
          <a:xfrm>
            <a:off x="4533900" y="28765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EXISTING APPROVAL GATES</a:t>
            </a:r>
          </a:p>
        </p:txBody>
      </p:sp>
      <p:sp>
        <p:nvSpPr>
          <p:cNvPr id="13" name="s11-02-copy">
            <a:extLst>
              <a:ext uri="{FF2B5EF4-FFF2-40B4-BE49-F238E27FC236}">
                <a16:creationId xmlns:a16="http://schemas.microsoft.com/office/drawing/2014/main" id="{5D92B382-E904-47A6-A8A0-40F3F0DA7DC7}"/>
              </a:ext>
            </a:extLst>
          </p:cNvPr>
          <p:cNvSpPr>
            <a:spLocks noGrp="1"/>
          </p:cNvSpPr>
          <p:nvPr/>
        </p:nvSpPr>
        <p:spPr>
          <a:xfrm>
            <a:off x="4533900" y="33528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Keep insurer roles, review rules, and audit controls.</a:t>
            </a:r>
          </a:p>
        </p:txBody>
      </p:sp>
      <p:sp>
        <p:nvSpPr>
          <p:cNvPr id="14" name="s11-03-card">
            <a:extLst>
              <a:ext uri="{FF2B5EF4-FFF2-40B4-BE49-F238E27FC236}">
                <a16:creationId xmlns:a16="http://schemas.microsoft.com/office/drawing/2014/main" id="{E3202E57-048D-4116-A09E-B763C8827385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3524250" cy="1828800"/>
          </a:xfrm>
          <a:prstGeom prst="roundRect">
            <a:avLst>
              <a:gd name="adj" fmla="val 8333"/>
            </a:avLst>
          </a:prstGeom>
          <a:solidFill>
            <a:srgbClr val="092636"/>
          </a:solidFill>
          <a:ln w="11430">
            <a:solidFill>
              <a:srgbClr val="49D1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11-03-pill">
            <a:extLst>
              <a:ext uri="{FF2B5EF4-FFF2-40B4-BE49-F238E27FC236}">
                <a16:creationId xmlns:a16="http://schemas.microsoft.com/office/drawing/2014/main" id="{44D8E471-8F10-4964-9448-0E947CAC826A}"/>
              </a:ext>
            </a:extLst>
          </p:cNvPr>
          <p:cNvSpPr>
            <a:spLocks noGrp="1"/>
          </p:cNvSpPr>
          <p:nvPr/>
        </p:nvSpPr>
        <p:spPr>
          <a:xfrm>
            <a:off x="8343900" y="2457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49D1B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900" b="1">
                <a:solidFill>
                  <a:srgbClr val="061B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B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s11-03-title">
            <a:extLst>
              <a:ext uri="{FF2B5EF4-FFF2-40B4-BE49-F238E27FC236}">
                <a16:creationId xmlns:a16="http://schemas.microsoft.com/office/drawing/2014/main" id="{CE4E74BA-586F-46C7-BE92-08BA6A6AB153}"/>
              </a:ext>
            </a:extLst>
          </p:cNvPr>
          <p:cNvSpPr>
            <a:spLocks noGrp="1"/>
          </p:cNvSpPr>
          <p:nvPr/>
        </p:nvSpPr>
        <p:spPr>
          <a:xfrm>
            <a:off x="8343900" y="287655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MEASURED SAVINGS</a:t>
            </a:r>
          </a:p>
        </p:txBody>
      </p:sp>
      <p:sp>
        <p:nvSpPr>
          <p:cNvPr id="17" name="s11-03-copy">
            <a:extLst>
              <a:ext uri="{FF2B5EF4-FFF2-40B4-BE49-F238E27FC236}">
                <a16:creationId xmlns:a16="http://schemas.microsoft.com/office/drawing/2014/main" id="{ACCD7FA0-1DC4-4DDB-8CF1-3C312E00BD23}"/>
              </a:ext>
            </a:extLst>
          </p:cNvPr>
          <p:cNvSpPr>
            <a:spLocks noGrp="1"/>
          </p:cNvSpPr>
          <p:nvPr/>
        </p:nvSpPr>
        <p:spPr>
          <a:xfrm>
            <a:off x="8343900" y="33528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BB9C1"/>
                </a:solidFill>
                <a:latin typeface="Arial"/>
                <a:ea typeface="Arial"/>
                <a:cs typeface="Arial"/>
              </a:rPr>
              <a:t>Compare review time, evidence gaps, and rework.</a:t>
            </a:r>
          </a:p>
        </p:txBody>
      </p:sp>
      <p:sp>
        <p:nvSpPr>
          <p:cNvPr id="18" name="business-value">
            <a:extLst>
              <a:ext uri="{FF2B5EF4-FFF2-40B4-BE49-F238E27FC236}">
                <a16:creationId xmlns:a16="http://schemas.microsoft.com/office/drawing/2014/main" id="{A74462C9-176C-48A6-BC5E-0906835E3E83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11144250" cy="1104900"/>
          </a:xfrm>
          <a:prstGeom prst="roundRect">
            <a:avLst>
              <a:gd name="adj" fmla="val 13793"/>
            </a:avLst>
          </a:prstGeom>
          <a:solidFill>
            <a:srgbClr val="092636"/>
          </a:solidFill>
          <a:ln w="11430">
            <a:solidFill>
              <a:srgbClr val="1C59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business-0">
            <a:extLst>
              <a:ext uri="{FF2B5EF4-FFF2-40B4-BE49-F238E27FC236}">
                <a16:creationId xmlns:a16="http://schemas.microsoft.com/office/drawing/2014/main" id="{78CEDD89-5BD8-4641-A838-A52E91E76655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•  FASTER FIRST REVIEW</a:t>
            </a:r>
          </a:p>
        </p:txBody>
      </p:sp>
      <p:sp>
        <p:nvSpPr>
          <p:cNvPr id="20" name="business-1">
            <a:extLst>
              <a:ext uri="{FF2B5EF4-FFF2-40B4-BE49-F238E27FC236}">
                <a16:creationId xmlns:a16="http://schemas.microsoft.com/office/drawing/2014/main" id="{5EEB2F54-D06F-4630-BA5C-54D8DB716CB0}"/>
              </a:ext>
            </a:extLst>
          </p:cNvPr>
          <p:cNvSpPr>
            <a:spLocks noGrp="1"/>
          </p:cNvSpPr>
          <p:nvPr/>
        </p:nvSpPr>
        <p:spPr>
          <a:xfrm>
            <a:off x="6115050" y="46863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•  FEWER EVIDENCE GAPS</a:t>
            </a:r>
          </a:p>
        </p:txBody>
      </p:sp>
      <p:sp>
        <p:nvSpPr>
          <p:cNvPr id="21" name="business-2">
            <a:extLst>
              <a:ext uri="{FF2B5EF4-FFF2-40B4-BE49-F238E27FC236}">
                <a16:creationId xmlns:a16="http://schemas.microsoft.com/office/drawing/2014/main" id="{067A45A4-830F-4D2C-8085-CEDC40FDF9EF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49D1B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1BE"/>
                </a:solidFill>
                <a:latin typeface="Arial"/>
                <a:ea typeface="Arial"/>
                <a:cs typeface="Arial"/>
              </a:rPr>
              <a:t>•  AUDITABLE REASONING</a:t>
            </a:r>
          </a:p>
        </p:txBody>
      </p:sp>
      <p:sp>
        <p:nvSpPr>
          <p:cNvPr id="22" name="business-3">
            <a:extLst>
              <a:ext uri="{FF2B5EF4-FFF2-40B4-BE49-F238E27FC236}">
                <a16:creationId xmlns:a16="http://schemas.microsoft.com/office/drawing/2014/main" id="{A47FC30E-44D3-4AB9-9CFD-F1BA4B13E251}"/>
              </a:ext>
            </a:extLst>
          </p:cNvPr>
          <p:cNvSpPr>
            <a:spLocks noGrp="1"/>
          </p:cNvSpPr>
          <p:nvPr/>
        </p:nvSpPr>
        <p:spPr>
          <a:xfrm>
            <a:off x="6115050" y="5048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•  CONTROLLED COMMUNICATION</a:t>
            </a:r>
          </a:p>
        </p:txBody>
      </p:sp>
      <p:sp>
        <p:nvSpPr>
          <p:cNvPr id="23" name="closing-commitment">
            <a:extLst>
              <a:ext uri="{FF2B5EF4-FFF2-40B4-BE49-F238E27FC236}">
                <a16:creationId xmlns:a16="http://schemas.microsoft.com/office/drawing/2014/main" id="{4BF92E79-DE9B-4478-8C1E-5FB570D273D2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1144250" cy="552450"/>
          </a:xfrm>
          <a:prstGeom prst="roundRect">
            <a:avLst>
              <a:gd name="adj" fmla="val 24138"/>
            </a:avLst>
          </a:prstGeom>
          <a:solidFill>
            <a:srgbClr val="14705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closing-commitment-copy">
            <a:extLst>
              <a:ext uri="{FF2B5EF4-FFF2-40B4-BE49-F238E27FC236}">
                <a16:creationId xmlns:a16="http://schemas.microsoft.com/office/drawing/2014/main" id="{0D2FB96B-B71B-4EA4-87BB-C5DDDA47225E}"/>
              </a:ext>
            </a:extLst>
          </p:cNvPr>
          <p:cNvSpPr>
            <a:spLocks noGrp="1"/>
          </p:cNvSpPr>
          <p:nvPr/>
        </p:nvSpPr>
        <p:spPr>
          <a:xfrm>
            <a:off x="781050" y="59340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5F8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8"/>
                </a:solidFill>
                <a:latin typeface="Arial"/>
                <a:ea typeface="Arial"/>
                <a:cs typeface="Arial"/>
              </a:rPr>
              <a:t>EVIDENCE FIRST.  DEADLINES VISIBLE.  HUMANS REMAIN IN CONTROL.</a:t>
            </a:r>
          </a:p>
        </p:txBody>
      </p:sp>
      <p:sp>
        <p:nvSpPr>
          <p:cNvPr id="25" name="close-footer-left">
            <a:extLst>
              <a:ext uri="{FF2B5EF4-FFF2-40B4-BE49-F238E27FC236}">
                <a16:creationId xmlns:a16="http://schemas.microsoft.com/office/drawing/2014/main" id="{8EA17D0A-CFDD-43BF-9497-0F78101739A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TRACK 2 · DATALINK</a:t>
            </a:r>
          </a:p>
        </p:txBody>
      </p:sp>
      <p:sp>
        <p:nvSpPr>
          <p:cNvPr id="26" name="close-footer-right">
            <a:extLst>
              <a:ext uri="{FF2B5EF4-FFF2-40B4-BE49-F238E27FC236}">
                <a16:creationId xmlns:a16="http://schemas.microsoft.com/office/drawing/2014/main" id="{8C719814-8A62-4A8F-981E-9211EF8D09E8}"/>
              </a:ext>
            </a:extLst>
          </p:cNvPr>
          <p:cNvSpPr>
            <a:spLocks noGrp="1"/>
          </p:cNvSpPr>
          <p:nvPr/>
        </p:nvSpPr>
        <p:spPr>
          <a:xfrm>
            <a:off x="6667500" y="6553200"/>
            <a:ext cx="502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9BB9C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B9C1"/>
                </a:solidFill>
                <a:latin typeface="Arial"/>
                <a:ea typeface="Arial"/>
                <a:cs typeface="Arial"/>
              </a:rPr>
              <a:t>APACHE-2.0 · DECISION SUPPORT, NOT LEGAL ADVICE</a:t>
            </a:r>
          </a:p>
        </p:txBody>
      </p:sp>
    </p:spTree>
    <p:extLst>
      <p:ext uri="{BB962C8B-B14F-4D97-AF65-F5344CB8AC3E}">
        <p14:creationId xmlns:p14="http://schemas.microsoft.com/office/powerpoint/2010/main" val="14546881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1254</Words>
  <Application>Microsoft Macintosh PowerPoint</Application>
  <DocSecurity>0</DocSecurity>
  <PresentationFormat>宽屏</PresentationFormat>
  <Paragraphs>278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 Q</cp:lastModifiedBy>
  <cp:revision>1</cp:revision>
  <dcterms:created xsi:type="dcterms:W3CDTF">2026-08-05T03:18:00Z</dcterms:created>
  <dcterms:modified xsi:type="dcterms:W3CDTF">2026-08-05T05:05:13Z</dcterms:modified>
</cp:coreProperties>
</file>