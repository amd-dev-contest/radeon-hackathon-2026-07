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product promise: engine strength becomes a teachable reason.</a:t>
            </a:r>
          </a:p>
          <a:p>
            <a:endParaRPr/>
          </a:p>
          <a:p>
            <a:r>
              <a:t>[Sources]</a:t>
            </a:r>
          </a:p>
          <a:p>
            <a:r>
              <a:t>- YIJIAN local project architecture, benchmark scripts and acceptance evidence, accessed 2026-08-03.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board, evidence, teaching card, variation controls and dialogue share one position context.</a:t>
            </a:r>
          </a:p>
          <a:p>
            <a:endParaRPr/>
          </a:p>
          <a:p>
            <a:r>
              <a:t>[Sources]</a:t>
            </a:r>
          </a:p>
          <a:p>
            <a:r>
              <a:t>- User-provided YIJIAN product screenshot, accessed 2026-08-03.</a:t>
            </a:r>
          </a:p>
          <a:p>
            <a:r>
              <a:t>- YIJIAN local project architecture, accessed 2026-08-03.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Stress the boundary: facts, heuristics and prose are deliberately separate.</a:t>
            </a:r>
          </a:p>
          <a:p>
            <a:endParaRPr/>
          </a:p>
          <a:p>
            <a:r>
              <a:t>[Sources]</a:t>
            </a:r>
          </a:p>
          <a:p>
            <a:r>
              <a:t>- YIJIAN local project architecture, benchmark scripts and acceptance evidence, accessed 2026-08-03.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Track 2 agent loop: tool use, state, reasoning support, validation and fallback.</a:t>
            </a:r>
          </a:p>
          <a:p>
            <a:endParaRPr/>
          </a:p>
          <a:p>
            <a:r>
              <a:t>[Sources]</a:t>
            </a:r>
          </a:p>
          <a:p>
            <a:r>
              <a:t>- YIJIAN local project architecture, benchmark scripts and acceptance evidence, accessed 2026-08-03.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overclaim: the six-case coach benchmark is a constructed acceptance set.</a:t>
            </a:r>
          </a:p>
          <a:p>
            <a:r>
              <a:t>Also mention 373 automated regression tests and 6/6 acceptance cases.</a:t>
            </a:r>
          </a:p>
          <a:p>
            <a:endParaRPr/>
          </a:p>
          <a:p>
            <a:r>
              <a:t>[Sources]</a:t>
            </a:r>
          </a:p>
          <a:p>
            <a:r>
              <a:t>- YIJIAN local project architecture, benchmark scripts and acceptance evidence, accessed 2026-08-03.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by returning to the human outcome, not the benchmark.</a:t>
            </a:r>
          </a:p>
          <a:p>
            <a:endParaRPr/>
          </a:p>
          <a:p>
            <a:r>
              <a:t>[Sources]</a:t>
            </a:r>
          </a:p>
          <a:p>
            <a:r>
              <a:t>- YIJIAN local project architecture, benchmark scripts and acceptance evidence, accessed 2026-08-03.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3-1">
            <a:extLst>
              <a:ext uri="{FF2B5EF4-FFF2-40B4-BE49-F238E27FC236}">
                <a16:creationId xmlns:a16="http://schemas.microsoft.com/office/drawing/2014/main" id="{2A4868DE-0426-4724-BA28-8C7B0CD9AD1F}"/>
              </a:ext>
            </a:extLst>
          </p:cNvPr>
          <p:cNvSpPr>
            <a:spLocks noGrp="1"/>
          </p:cNvSpPr>
          <p:nvPr/>
        </p:nvSpPr>
        <p:spPr>
          <a:xfrm>
            <a:off x="393668" y="1738789"/>
            <a:ext cx="9448800" cy="2491454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YIJIAN:
From superhuman Go to
human understanding.</a:t>
            </a:r>
          </a:p>
        </p:txBody>
      </p:sp>
      <p:sp>
        <p:nvSpPr>
          <p:cNvPr id="2" name="Subtitle-4-2">
            <a:extLst>
              <a:ext uri="{FF2B5EF4-FFF2-40B4-BE49-F238E27FC236}">
                <a16:creationId xmlns:a16="http://schemas.microsoft.com/office/drawing/2014/main" id="{735E0641-5AC2-4743-B146-2E0F9BCF32B9}"/>
              </a:ext>
            </a:extLst>
          </p:cNvPr>
          <p:cNvSpPr>
            <a:spLocks noGrp="1"/>
          </p:cNvSpPr>
          <p:nvPr/>
        </p:nvSpPr>
        <p:spPr>
          <a:xfrm>
            <a:off x="393668" y="4742212"/>
            <a:ext cx="5702332" cy="108023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private, evidence-grounded AI Go coach on AMD Radeon.</a:t>
            </a:r>
          </a:p>
        </p:txBody>
      </p:sp>
      <p:sp>
        <p:nvSpPr>
          <p:cNvPr id="3" name="Subtitle-4-3">
            <a:extLst>
              <a:ext uri="{FF2B5EF4-FFF2-40B4-BE49-F238E27FC236}">
                <a16:creationId xmlns:a16="http://schemas.microsoft.com/office/drawing/2014/main" id="{17809345-7972-4C01-A957-CB5236490583}"/>
              </a:ext>
            </a:extLst>
          </p:cNvPr>
          <p:cNvSpPr>
            <a:spLocks noGrp="1"/>
          </p:cNvSpPr>
          <p:nvPr/>
        </p:nvSpPr>
        <p:spPr>
          <a:xfrm>
            <a:off x="393668" y="392240"/>
            <a:ext cx="5702332" cy="649129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AMD AI DEVMASTER HACKATHON 2026 / TRACK 2</a:t>
            </a:r>
          </a:p>
        </p:txBody>
      </p:sp>
    </p:spTree>
    <p:extLst>
      <p:ext uri="{BB962C8B-B14F-4D97-AF65-F5344CB8AC3E}">
        <p14:creationId xmlns:p14="http://schemas.microsoft.com/office/powerpoint/2010/main" val="1826651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-Shape-532-p58-2">
            <a:extLst>
              <a:ext uri="{FF2B5EF4-FFF2-40B4-BE49-F238E27FC236}">
                <a16:creationId xmlns:a16="http://schemas.microsoft.com/office/drawing/2014/main" id="{2A426F52-43BE-4C77-8C6D-94900C83A6E6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E68C0421-704E-4542-8898-E03B6F5FCA3A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Engines need a teaching layer.</a:t>
            </a:r>
          </a:p>
        </p:txBody>
      </p:sp>
      <p:sp>
        <p:nvSpPr>
          <p:cNvPr id="3" name="Picture-3-4-backing">
            <a:extLst>
              <a:ext uri="{FF2B5EF4-FFF2-40B4-BE49-F238E27FC236}">
                <a16:creationId xmlns:a16="http://schemas.microsoft.com/office/drawing/2014/main" id="{4F0840BA-FC4E-404C-8C0C-6B488DC3DFFC}"/>
              </a:ext>
            </a:extLst>
          </p:cNvPr>
          <p:cNvSpPr>
            <a:spLocks noGrp="1"/>
          </p:cNvSpPr>
          <p:nvPr/>
        </p:nvSpPr>
        <p:spPr>
          <a:xfrm>
            <a:off x="6269069" y="396431"/>
            <a:ext cx="5539740" cy="5602034"/>
          </a:xfrm>
          <a:prstGeom prst="roundRect">
            <a:avLst>
              <a:gd name="adj" fmla="val 1376"/>
            </a:avLst>
          </a:prstGeom>
          <a:solidFill>
            <a:srgbClr val="EAF5FB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5" name="Google-Shape-534-p58-5">
            <a:extLst>
              <a:ext uri="{FF2B5EF4-FFF2-40B4-BE49-F238E27FC236}">
                <a16:creationId xmlns:a16="http://schemas.microsoft.com/office/drawing/2014/main" id="{9D4DB213-EE70-4BE1-89F1-96DBC41849CE}"/>
              </a:ext>
            </a:extLst>
          </p:cNvPr>
          <p:cNvSpPr>
            <a:spLocks noGrp="1"/>
          </p:cNvSpPr>
          <p:nvPr/>
        </p:nvSpPr>
        <p:spPr>
          <a:xfrm>
            <a:off x="393668" y="2031968"/>
            <a:ext cx="5537168" cy="3962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Engines rank moves. Learners need reasons.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Generic LLMs may confuse the played move with the AI move, invent a board relationship, or discuss the wrong region. YIJIAN reconstructs the position and grounds every answer in server-built evidence before the model writes a word.</a:t>
            </a: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269069" y="1477213"/>
            <a:ext cx="5539740" cy="3465424"/>
          </a:xfrm>
          <a:prstGeom prst="roundRect">
            <a:avLst>
              <a:gd name="adj" fmla="val 3279"/>
            </a:avLst>
          </a:prstGeom>
        </p:spPr>
      </p:pic>
    </p:spTree>
    <p:extLst>
      <p:ext uri="{BB962C8B-B14F-4D97-AF65-F5344CB8AC3E}">
        <p14:creationId xmlns:p14="http://schemas.microsoft.com/office/powerpoint/2010/main" val="1953765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-Shape-532-p58-2">
            <a:extLst>
              <a:ext uri="{FF2B5EF4-FFF2-40B4-BE49-F238E27FC236}">
                <a16:creationId xmlns:a16="http://schemas.microsoft.com/office/drawing/2014/main" id="{A4BACE3B-A937-4381-ACE5-8807E0048061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1D315DA9-3227-40D5-A181-CAF055086151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Three layers turn engine output into a defensible lesson.</a:t>
            </a:r>
          </a:p>
        </p:txBody>
      </p:sp>
      <p:sp>
        <p:nvSpPr>
          <p:cNvPr id="3" name="Google-Shape-558-p61-4">
            <a:extLst>
              <a:ext uri="{FF2B5EF4-FFF2-40B4-BE49-F238E27FC236}">
                <a16:creationId xmlns:a16="http://schemas.microsoft.com/office/drawing/2014/main" id="{FABED099-8B60-4C92-978C-E5F750DFA083}"/>
              </a:ext>
            </a:extLst>
          </p:cNvPr>
          <p:cNvSpPr>
            <a:spLocks noGrp="1"/>
          </p:cNvSpPr>
          <p:nvPr/>
        </p:nvSpPr>
        <p:spPr>
          <a:xfrm>
            <a:off x="393668" y="4013168"/>
            <a:ext cx="3568732" cy="1981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ENGINE AUTHORITY
KataGo owns candidates, visits, win rate, score lead and variations.</a:t>
            </a:r>
          </a:p>
        </p:txBody>
      </p:sp>
      <p:sp>
        <p:nvSpPr>
          <p:cNvPr id="4" name="Google-Shape-559-p61-5">
            <a:extLst>
              <a:ext uri="{FF2B5EF4-FFF2-40B4-BE49-F238E27FC236}">
                <a16:creationId xmlns:a16="http://schemas.microsoft.com/office/drawing/2014/main" id="{E6C6F50F-BB09-4F46-BD06-10F04CAC7810}"/>
              </a:ext>
            </a:extLst>
          </p:cNvPr>
          <p:cNvSpPr>
            <a:spLocks noGrp="1"/>
          </p:cNvSpPr>
          <p:nvPr/>
        </p:nvSpPr>
        <p:spPr>
          <a:xfrm>
            <a:off x="4317968" y="4013168"/>
            <a:ext cx="3568732" cy="1981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TEACHING EVIDENCE
The server owns the subject, board region, Go rules and move relationships.</a:t>
            </a:r>
          </a:p>
        </p:txBody>
      </p:sp>
      <p:sp>
        <p:nvSpPr>
          <p:cNvPr id="5" name="Google-Shape-560-p61-6">
            <a:extLst>
              <a:ext uri="{FF2B5EF4-FFF2-40B4-BE49-F238E27FC236}">
                <a16:creationId xmlns:a16="http://schemas.microsoft.com/office/drawing/2014/main" id="{592D609F-4F0F-4297-A672-BA5E1B6EB798}"/>
              </a:ext>
            </a:extLst>
          </p:cNvPr>
          <p:cNvSpPr>
            <a:spLocks noGrp="1"/>
          </p:cNvSpPr>
          <p:nvPr/>
        </p:nvSpPr>
        <p:spPr>
          <a:xfrm>
            <a:off x="8232267" y="4013168"/>
            <a:ext cx="3568732" cy="19812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LANGUAGE EXPRESSION
Qwen explains the evidence; it cannot rewrite coordinates or numbers.</a:t>
            </a:r>
          </a:p>
        </p:txBody>
      </p:sp>
      <p:sp>
        <p:nvSpPr>
          <p:cNvPr id="6" name="Google-Shape-561-p61-7">
            <a:extLst>
              <a:ext uri="{FF2B5EF4-FFF2-40B4-BE49-F238E27FC236}">
                <a16:creationId xmlns:a16="http://schemas.microsoft.com/office/drawing/2014/main" id="{E65B30B5-5A17-47CB-AE10-EB2970865098}"/>
              </a:ext>
            </a:extLst>
          </p:cNvPr>
          <p:cNvSpPr>
            <a:spLocks noGrp="1"/>
          </p:cNvSpPr>
          <p:nvPr/>
        </p:nvSpPr>
        <p:spPr>
          <a:xfrm>
            <a:off x="4279868" y="3382328"/>
            <a:ext cx="315563" cy="353854"/>
          </a:xfrm>
          <a:custGeom>
            <a:avLst/>
            <a:gdLst/>
            <a:ahLst/>
            <a:cxnLst/>
            <a:rect l="0" t="0" r="0" b="0"/>
            <a:pathLst>
              <a:path w="192747900" h="191595375">
                <a:moveTo>
                  <a:pt x="107661075" y="24707850"/>
                </a:moveTo>
                <a:lnTo>
                  <a:pt x="20716875" y="114138075"/>
                </a:lnTo>
                <a:lnTo>
                  <a:pt x="86039325" y="114138075"/>
                </a:lnTo>
                <a:cubicBezTo>
                  <a:pt x="89192100" y="114138075"/>
                  <a:pt x="92182950" y="115423950"/>
                  <a:pt x="94135575" y="117614700"/>
                </a:cubicBezTo>
                <a:cubicBezTo>
                  <a:pt x="96097725" y="119814975"/>
                  <a:pt x="96821625" y="122682000"/>
                  <a:pt x="96097725" y="125406150"/>
                </a:cubicBezTo>
                <a:lnTo>
                  <a:pt x="85086825" y="166897050"/>
                </a:lnTo>
                <a:lnTo>
                  <a:pt x="172031025" y="77466825"/>
                </a:lnTo>
                <a:lnTo>
                  <a:pt x="106708575" y="77466825"/>
                </a:lnTo>
                <a:cubicBezTo>
                  <a:pt x="103555800" y="77466825"/>
                  <a:pt x="100564950" y="76190475"/>
                  <a:pt x="98612325" y="73990200"/>
                </a:cubicBezTo>
                <a:cubicBezTo>
                  <a:pt x="96650175" y="71789925"/>
                  <a:pt x="95926275" y="68922900"/>
                  <a:pt x="96650175" y="66198750"/>
                </a:cubicBezTo>
                <a:lnTo>
                  <a:pt x="107661075" y="24707850"/>
                </a:lnTo>
                <a:close/>
                <a:moveTo>
                  <a:pt x="98888550" y="5648325"/>
                </a:moveTo>
                <a:cubicBezTo>
                  <a:pt x="111242475" y="-7067550"/>
                  <a:pt x="134540625" y="3457575"/>
                  <a:pt x="130206750" y="19792950"/>
                </a:cubicBezTo>
                <a:lnTo>
                  <a:pt x="119767350" y="59131200"/>
                </a:lnTo>
                <a:lnTo>
                  <a:pt x="172031025" y="59131200"/>
                </a:lnTo>
                <a:cubicBezTo>
                  <a:pt x="189718950" y="59131200"/>
                  <a:pt x="199243950" y="77552550"/>
                  <a:pt x="187690125" y="89439750"/>
                </a:cubicBezTo>
                <a:lnTo>
                  <a:pt x="93859350" y="185956575"/>
                </a:lnTo>
                <a:cubicBezTo>
                  <a:pt x="81505425" y="198672450"/>
                  <a:pt x="58207275" y="188147325"/>
                  <a:pt x="62541150" y="171811950"/>
                </a:cubicBezTo>
                <a:lnTo>
                  <a:pt x="72980550" y="132473700"/>
                </a:lnTo>
                <a:lnTo>
                  <a:pt x="20716875" y="132473700"/>
                </a:lnTo>
                <a:cubicBezTo>
                  <a:pt x="3028950" y="132473700"/>
                  <a:pt x="-6496050" y="114052350"/>
                  <a:pt x="5057775" y="102165150"/>
                </a:cubicBezTo>
                <a:lnTo>
                  <a:pt x="98888550" y="5648325"/>
                </a:lnTo>
                <a:close/>
              </a:path>
            </a:pathLst>
          </a:custGeom>
          <a:solidFill>
            <a:srgbClr val="000000"/>
          </a:solidFill>
        </p:spPr>
      </p:sp>
      <p:sp>
        <p:nvSpPr>
          <p:cNvPr id="7" name="Google-Shape-562-p61-8">
            <a:extLst>
              <a:ext uri="{FF2B5EF4-FFF2-40B4-BE49-F238E27FC236}">
                <a16:creationId xmlns:a16="http://schemas.microsoft.com/office/drawing/2014/main" id="{56FB6B70-4989-4117-8E3D-5FB6BD12E135}"/>
              </a:ext>
            </a:extLst>
          </p:cNvPr>
          <p:cNvSpPr>
            <a:spLocks noGrp="1"/>
          </p:cNvSpPr>
          <p:nvPr/>
        </p:nvSpPr>
        <p:spPr>
          <a:xfrm>
            <a:off x="401384" y="3378232"/>
            <a:ext cx="327089" cy="362045"/>
          </a:xfrm>
          <a:custGeom>
            <a:avLst/>
            <a:gdLst/>
            <a:ahLst/>
            <a:cxnLst/>
            <a:rect l="0" t="0" r="0" b="0"/>
            <a:pathLst>
              <a:path w="205740000" h="203196825">
                <a:moveTo>
                  <a:pt x="108194475" y="20288250"/>
                </a:moveTo>
                <a:cubicBezTo>
                  <a:pt x="104908350" y="18583275"/>
                  <a:pt x="100850700" y="18583275"/>
                  <a:pt x="97545525" y="20288250"/>
                </a:cubicBezTo>
                <a:lnTo>
                  <a:pt x="30956250" y="54597300"/>
                </a:lnTo>
                <a:lnTo>
                  <a:pt x="103031925" y="90773250"/>
                </a:lnTo>
                <a:lnTo>
                  <a:pt x="177098325" y="55778400"/>
                </a:lnTo>
                <a:lnTo>
                  <a:pt x="108194475" y="20288250"/>
                </a:lnTo>
                <a:close/>
                <a:moveTo>
                  <a:pt x="184442100" y="73809225"/>
                </a:moveTo>
                <a:lnTo>
                  <a:pt x="113518950" y="107318175"/>
                </a:lnTo>
                <a:lnTo>
                  <a:pt x="113518950" y="180174900"/>
                </a:lnTo>
                <a:lnTo>
                  <a:pt x="179117625" y="146370675"/>
                </a:lnTo>
                <a:cubicBezTo>
                  <a:pt x="182422800" y="144675225"/>
                  <a:pt x="184442100" y="141541500"/>
                  <a:pt x="184442100" y="138141075"/>
                </a:cubicBezTo>
                <a:lnTo>
                  <a:pt x="184442100" y="73809225"/>
                </a:lnTo>
                <a:close/>
                <a:moveTo>
                  <a:pt x="92221050" y="180174900"/>
                </a:moveTo>
                <a:lnTo>
                  <a:pt x="92221050" y="107156250"/>
                </a:lnTo>
                <a:lnTo>
                  <a:pt x="21297900" y="71561325"/>
                </a:lnTo>
                <a:lnTo>
                  <a:pt x="21297900" y="138141075"/>
                </a:lnTo>
                <a:cubicBezTo>
                  <a:pt x="21297900" y="141541500"/>
                  <a:pt x="23317200" y="144675225"/>
                  <a:pt x="26622375" y="146370675"/>
                </a:cubicBezTo>
                <a:lnTo>
                  <a:pt x="92221050" y="180174900"/>
                </a:lnTo>
                <a:close/>
                <a:moveTo>
                  <a:pt x="86896575" y="3819525"/>
                </a:moveTo>
                <a:cubicBezTo>
                  <a:pt x="96774000" y="-1266825"/>
                  <a:pt x="108966000" y="-1266825"/>
                  <a:pt x="118843425" y="3819525"/>
                </a:cubicBezTo>
                <a:lnTo>
                  <a:pt x="189766575" y="40366950"/>
                </a:lnTo>
                <a:cubicBezTo>
                  <a:pt x="199663050" y="45462825"/>
                  <a:pt x="205740000" y="54873525"/>
                  <a:pt x="205740000" y="65055750"/>
                </a:cubicBezTo>
                <a:lnTo>
                  <a:pt x="205740000" y="138141075"/>
                </a:lnTo>
                <a:cubicBezTo>
                  <a:pt x="205740000" y="148323300"/>
                  <a:pt x="199663050" y="157743525"/>
                  <a:pt x="189766575" y="162839400"/>
                </a:cubicBezTo>
                <a:lnTo>
                  <a:pt x="118843425" y="199377300"/>
                </a:lnTo>
                <a:cubicBezTo>
                  <a:pt x="108966000" y="204473175"/>
                  <a:pt x="96774000" y="204473175"/>
                  <a:pt x="86896575" y="199377300"/>
                </a:cubicBezTo>
                <a:lnTo>
                  <a:pt x="15973425" y="162839400"/>
                </a:lnTo>
                <a:cubicBezTo>
                  <a:pt x="6096000" y="157743525"/>
                  <a:pt x="0" y="148323300"/>
                  <a:pt x="0" y="138141075"/>
                </a:cubicBezTo>
                <a:lnTo>
                  <a:pt x="0" y="65055750"/>
                </a:lnTo>
                <a:cubicBezTo>
                  <a:pt x="0" y="54873525"/>
                  <a:pt x="6096000" y="45462825"/>
                  <a:pt x="15973425" y="40366950"/>
                </a:cubicBezTo>
                <a:lnTo>
                  <a:pt x="86896575" y="3819525"/>
                </a:lnTo>
                <a:close/>
              </a:path>
            </a:pathLst>
          </a:custGeom>
          <a:solidFill>
            <a:srgbClr val="000000"/>
          </a:solidFill>
        </p:spPr>
      </p:sp>
      <p:sp>
        <p:nvSpPr>
          <p:cNvPr id="8" name="Google-Shape-563-p61-9">
            <a:extLst>
              <a:ext uri="{FF2B5EF4-FFF2-40B4-BE49-F238E27FC236}">
                <a16:creationId xmlns:a16="http://schemas.microsoft.com/office/drawing/2014/main" id="{ACA24A76-5D3F-4EBD-B070-ED213A9AA55B}"/>
              </a:ext>
            </a:extLst>
          </p:cNvPr>
          <p:cNvSpPr>
            <a:spLocks noGrp="1"/>
          </p:cNvSpPr>
          <p:nvPr/>
        </p:nvSpPr>
        <p:spPr>
          <a:xfrm>
            <a:off x="8231600" y="3406807"/>
            <a:ext cx="338614" cy="270891"/>
          </a:xfrm>
          <a:custGeom>
            <a:avLst/>
            <a:gdLst/>
            <a:ahLst/>
            <a:cxnLst/>
            <a:rect l="0" t="0" r="0" b="0"/>
            <a:pathLst>
              <a:path w="205740000" h="205740000">
                <a:moveTo>
                  <a:pt x="59245500" y="0"/>
                </a:moveTo>
                <a:lnTo>
                  <a:pt x="146494500" y="0"/>
                </a:lnTo>
                <a:cubicBezTo>
                  <a:pt x="154781250" y="0"/>
                  <a:pt x="161620200" y="0"/>
                  <a:pt x="167182800" y="561975"/>
                </a:cubicBezTo>
                <a:cubicBezTo>
                  <a:pt x="172964475" y="1162050"/>
                  <a:pt x="178279425" y="2428875"/>
                  <a:pt x="183270525" y="5610225"/>
                </a:cubicBezTo>
                <a:cubicBezTo>
                  <a:pt x="191023875" y="10534650"/>
                  <a:pt x="197310375" y="18402300"/>
                  <a:pt x="201253725" y="28079700"/>
                </a:cubicBezTo>
                <a:cubicBezTo>
                  <a:pt x="203796900" y="34318575"/>
                  <a:pt x="204816075" y="40967025"/>
                  <a:pt x="205282800" y="48196500"/>
                </a:cubicBezTo>
                <a:cubicBezTo>
                  <a:pt x="205740000" y="55149750"/>
                  <a:pt x="205740000" y="63703200"/>
                  <a:pt x="205740000" y="74056875"/>
                </a:cubicBezTo>
                <a:lnTo>
                  <a:pt x="205740000" y="131683125"/>
                </a:lnTo>
                <a:cubicBezTo>
                  <a:pt x="205740000" y="142036800"/>
                  <a:pt x="205740000" y="150590250"/>
                  <a:pt x="205282800" y="157543500"/>
                </a:cubicBezTo>
                <a:cubicBezTo>
                  <a:pt x="204816075" y="164772975"/>
                  <a:pt x="203796900" y="171421425"/>
                  <a:pt x="201253725" y="177660300"/>
                </a:cubicBezTo>
                <a:cubicBezTo>
                  <a:pt x="197310375" y="187337700"/>
                  <a:pt x="191023875" y="195205350"/>
                  <a:pt x="183270525" y="200129775"/>
                </a:cubicBezTo>
                <a:cubicBezTo>
                  <a:pt x="178279425" y="203311125"/>
                  <a:pt x="172964475" y="204577950"/>
                  <a:pt x="167182800" y="205178025"/>
                </a:cubicBezTo>
                <a:cubicBezTo>
                  <a:pt x="161620200" y="205740000"/>
                  <a:pt x="154781250" y="205740000"/>
                  <a:pt x="146494500" y="205740000"/>
                </a:cubicBezTo>
                <a:lnTo>
                  <a:pt x="59245500" y="205740000"/>
                </a:lnTo>
                <a:cubicBezTo>
                  <a:pt x="50958750" y="205740000"/>
                  <a:pt x="44119800" y="205740000"/>
                  <a:pt x="38557200" y="205178025"/>
                </a:cubicBezTo>
                <a:cubicBezTo>
                  <a:pt x="32775525" y="204577950"/>
                  <a:pt x="27460575" y="203311125"/>
                  <a:pt x="22469475" y="200129775"/>
                </a:cubicBezTo>
                <a:cubicBezTo>
                  <a:pt x="14716125" y="195205350"/>
                  <a:pt x="8429625" y="187337700"/>
                  <a:pt x="4486275" y="177660300"/>
                </a:cubicBezTo>
                <a:cubicBezTo>
                  <a:pt x="1943100" y="171421425"/>
                  <a:pt x="923925" y="164772975"/>
                  <a:pt x="457200" y="157543500"/>
                </a:cubicBezTo>
                <a:cubicBezTo>
                  <a:pt x="0" y="150590250"/>
                  <a:pt x="0" y="142036800"/>
                  <a:pt x="0" y="131683125"/>
                </a:cubicBezTo>
                <a:lnTo>
                  <a:pt x="0" y="74056875"/>
                </a:lnTo>
                <a:cubicBezTo>
                  <a:pt x="0" y="63703200"/>
                  <a:pt x="0" y="55149750"/>
                  <a:pt x="457200" y="48196500"/>
                </a:cubicBezTo>
                <a:cubicBezTo>
                  <a:pt x="923925" y="40967025"/>
                  <a:pt x="1943100" y="34318575"/>
                  <a:pt x="4486275" y="28079700"/>
                </a:cubicBezTo>
                <a:cubicBezTo>
                  <a:pt x="8429625" y="18402300"/>
                  <a:pt x="14716125" y="10534650"/>
                  <a:pt x="22469475" y="5610225"/>
                </a:cubicBezTo>
                <a:cubicBezTo>
                  <a:pt x="27460575" y="2428875"/>
                  <a:pt x="32775525" y="1162050"/>
                  <a:pt x="38557200" y="561975"/>
                </a:cubicBezTo>
                <a:cubicBezTo>
                  <a:pt x="44119800" y="0"/>
                  <a:pt x="50958750" y="0"/>
                  <a:pt x="59245500" y="0"/>
                </a:cubicBezTo>
                <a:close/>
                <a:moveTo>
                  <a:pt x="20574000" y="90011250"/>
                </a:moveTo>
                <a:lnTo>
                  <a:pt x="20574000" y="131159250"/>
                </a:lnTo>
                <a:cubicBezTo>
                  <a:pt x="20574000" y="142179675"/>
                  <a:pt x="20583525" y="149666325"/>
                  <a:pt x="20964525" y="155448000"/>
                </a:cubicBezTo>
                <a:cubicBezTo>
                  <a:pt x="21326475" y="161077275"/>
                  <a:pt x="21993225" y="163972875"/>
                  <a:pt x="22812375" y="165982650"/>
                </a:cubicBezTo>
                <a:cubicBezTo>
                  <a:pt x="24793575" y="170811825"/>
                  <a:pt x="27936825" y="174755175"/>
                  <a:pt x="31803975" y="177222150"/>
                </a:cubicBezTo>
                <a:cubicBezTo>
                  <a:pt x="33413700" y="178250850"/>
                  <a:pt x="35728275" y="179079525"/>
                  <a:pt x="40233600" y="179536725"/>
                </a:cubicBezTo>
                <a:cubicBezTo>
                  <a:pt x="44862750" y="180012975"/>
                  <a:pt x="50844450" y="180022500"/>
                  <a:pt x="59664600" y="180022500"/>
                </a:cubicBezTo>
                <a:lnTo>
                  <a:pt x="146075400" y="180022500"/>
                </a:lnTo>
                <a:cubicBezTo>
                  <a:pt x="154895550" y="180022500"/>
                  <a:pt x="160877250" y="180012975"/>
                  <a:pt x="165506400" y="179536725"/>
                </a:cubicBezTo>
                <a:cubicBezTo>
                  <a:pt x="170011725" y="179079525"/>
                  <a:pt x="172326300" y="178250850"/>
                  <a:pt x="173936025" y="177222150"/>
                </a:cubicBezTo>
                <a:cubicBezTo>
                  <a:pt x="177803175" y="174755175"/>
                  <a:pt x="180946425" y="170811825"/>
                  <a:pt x="182927625" y="165982650"/>
                </a:cubicBezTo>
                <a:cubicBezTo>
                  <a:pt x="183746775" y="163972875"/>
                  <a:pt x="184413525" y="161077275"/>
                  <a:pt x="184775475" y="155448000"/>
                </a:cubicBezTo>
                <a:cubicBezTo>
                  <a:pt x="185156475" y="149666325"/>
                  <a:pt x="185166000" y="142179675"/>
                  <a:pt x="185166000" y="131159250"/>
                </a:cubicBezTo>
                <a:lnTo>
                  <a:pt x="185166000" y="90011250"/>
                </a:lnTo>
                <a:lnTo>
                  <a:pt x="20574000" y="90011250"/>
                </a:lnTo>
                <a:close/>
                <a:moveTo>
                  <a:pt x="185146950" y="64293750"/>
                </a:moveTo>
                <a:cubicBezTo>
                  <a:pt x="185118375" y="58559700"/>
                  <a:pt x="185023125" y="54073425"/>
                  <a:pt x="184775475" y="50292000"/>
                </a:cubicBezTo>
                <a:cubicBezTo>
                  <a:pt x="184413525" y="44662725"/>
                  <a:pt x="183746775" y="41767125"/>
                  <a:pt x="182927625" y="39757350"/>
                </a:cubicBezTo>
                <a:cubicBezTo>
                  <a:pt x="180946425" y="34928175"/>
                  <a:pt x="177803175" y="30994350"/>
                  <a:pt x="173936025" y="28517850"/>
                </a:cubicBezTo>
                <a:cubicBezTo>
                  <a:pt x="172326300" y="27489150"/>
                  <a:pt x="170011725" y="26660475"/>
                  <a:pt x="165506400" y="26203275"/>
                </a:cubicBezTo>
                <a:cubicBezTo>
                  <a:pt x="160877250" y="25727025"/>
                  <a:pt x="154895550" y="25717500"/>
                  <a:pt x="146075400" y="25717500"/>
                </a:cubicBezTo>
                <a:lnTo>
                  <a:pt x="59664600" y="25717500"/>
                </a:lnTo>
                <a:cubicBezTo>
                  <a:pt x="50844450" y="25717500"/>
                  <a:pt x="44862750" y="25727025"/>
                  <a:pt x="40233600" y="26203275"/>
                </a:cubicBezTo>
                <a:cubicBezTo>
                  <a:pt x="35728275" y="26660475"/>
                  <a:pt x="33413700" y="27489150"/>
                  <a:pt x="31803975" y="28517850"/>
                </a:cubicBezTo>
                <a:cubicBezTo>
                  <a:pt x="27936825" y="30994350"/>
                  <a:pt x="24793575" y="34928175"/>
                  <a:pt x="22812375" y="39757350"/>
                </a:cubicBezTo>
                <a:cubicBezTo>
                  <a:pt x="21993225" y="41767125"/>
                  <a:pt x="21326475" y="44662725"/>
                  <a:pt x="20964525" y="50292000"/>
                </a:cubicBezTo>
                <a:cubicBezTo>
                  <a:pt x="20716875" y="54073425"/>
                  <a:pt x="20621625" y="58559700"/>
                  <a:pt x="20593050" y="64293750"/>
                </a:cubicBezTo>
                <a:lnTo>
                  <a:pt x="185146950" y="64293750"/>
                </a:lnTo>
                <a:close/>
                <a:moveTo>
                  <a:pt x="123444000" y="141446250"/>
                </a:moveTo>
                <a:cubicBezTo>
                  <a:pt x="123444000" y="134350125"/>
                  <a:pt x="128054100" y="128587500"/>
                  <a:pt x="133731000" y="128587500"/>
                </a:cubicBezTo>
                <a:lnTo>
                  <a:pt x="154305000" y="128587500"/>
                </a:lnTo>
                <a:cubicBezTo>
                  <a:pt x="159981900" y="128587500"/>
                  <a:pt x="164592000" y="134350125"/>
                  <a:pt x="164592000" y="141446250"/>
                </a:cubicBezTo>
                <a:cubicBezTo>
                  <a:pt x="164592000" y="148542375"/>
                  <a:pt x="159981900" y="154305000"/>
                  <a:pt x="154305000" y="154305000"/>
                </a:cubicBezTo>
                <a:lnTo>
                  <a:pt x="133731000" y="154305000"/>
                </a:lnTo>
                <a:cubicBezTo>
                  <a:pt x="128054100" y="154305000"/>
                  <a:pt x="123444000" y="148542375"/>
                  <a:pt x="123444000" y="141446250"/>
                </a:cubicBezTo>
                <a:close/>
              </a:path>
            </a:pathLst>
          </a:custGeom>
          <a:solidFill>
            <a:srgbClr val="000000"/>
          </a:solidFill>
        </p:spPr>
      </p:sp>
    </p:spTree>
    <p:extLst>
      <p:ext uri="{BB962C8B-B14F-4D97-AF65-F5344CB8AC3E}">
        <p14:creationId xmlns:p14="http://schemas.microsoft.com/office/powerpoint/2010/main" val="1318429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Number-Placeholder-3-2">
            <a:extLst>
              <a:ext uri="{FF2B5EF4-FFF2-40B4-BE49-F238E27FC236}">
                <a16:creationId xmlns:a16="http://schemas.microsoft.com/office/drawing/2014/main" id="{8AE1D345-9738-4719-8ABD-0372FE2579E0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Title-10-3">
            <a:extLst>
              <a:ext uri="{FF2B5EF4-FFF2-40B4-BE49-F238E27FC236}">
                <a16:creationId xmlns:a16="http://schemas.microsoft.com/office/drawing/2014/main" id="{7AEACC5F-DEE1-4519-A25F-8327FB26EBBE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agent gathers, explains and verifies before it answers.</a:t>
            </a:r>
          </a:p>
        </p:txBody>
      </p:sp>
      <p:cxnSp>
        <p:nvCxnSpPr>
          <p:cNvPr id="18" name="Google-Shape-2259-p159-4"/>
          <p:cNvCxnSpPr/>
          <p:nvPr/>
        </p:nvCxnSpPr>
        <p:spPr>
          <a:xfrm>
            <a:off x="337757" y="5341620"/>
            <a:ext cx="12245435" cy="286"/>
          </a:xfrm>
          <a:prstGeom prst="straightConnector1">
            <a:avLst/>
          </a:prstGeom>
          <a:ln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>
              <a:ext uri="{FF2B5EF4-FFF2-40B4-BE49-F238E27FC236}">
                <a16:creationId xmlns:a16="http://schemas.microsoft.com/office/drawing/2014/main" id="{02715554-786A-4159-9237-22058C6D3F2C}"/>
              </a:ext>
            </a:extLst>
          </p:cNvPr>
          <p:cNvSpPr>
            <a:spLocks noGrp="1"/>
          </p:cNvSpPr>
          <p:nvPr/>
        </p:nvSpPr>
        <p:spPr>
          <a:xfrm>
            <a:off x="337757" y="5288089"/>
            <a:ext cx="107061" cy="107061"/>
          </a:xfrm>
          <a:prstGeom prst="ellipse">
            <a:avLst/>
          </a:prstGeom>
          <a:solidFill>
            <a:srgbClr val="000000"/>
          </a:solidFill>
        </p:spPr>
      </p:sp>
      <p:sp>
        <p:nvSpPr>
          <p:cNvPr id="5" name="Google-Shape-2261-p159-6">
            <a:extLst>
              <a:ext uri="{FF2B5EF4-FFF2-40B4-BE49-F238E27FC236}">
                <a16:creationId xmlns:a16="http://schemas.microsoft.com/office/drawing/2014/main" id="{D1EE2949-2100-4F9F-9E86-7FFC38237411}"/>
              </a:ext>
            </a:extLst>
          </p:cNvPr>
          <p:cNvSpPr>
            <a:spLocks noGrp="1"/>
          </p:cNvSpPr>
          <p:nvPr/>
        </p:nvSpPr>
        <p:spPr>
          <a:xfrm>
            <a:off x="4251770" y="5288089"/>
            <a:ext cx="107061" cy="107061"/>
          </a:xfrm>
          <a:prstGeom prst="ellipse">
            <a:avLst/>
          </a:prstGeom>
          <a:solidFill>
            <a:srgbClr val="000000"/>
          </a:solidFill>
        </p:spPr>
      </p:sp>
      <p:sp>
        <p:nvSpPr>
          <p:cNvPr id="6" name="Google-Shape-2262-p159-7">
            <a:extLst>
              <a:ext uri="{FF2B5EF4-FFF2-40B4-BE49-F238E27FC236}">
                <a16:creationId xmlns:a16="http://schemas.microsoft.com/office/drawing/2014/main" id="{8ED44D40-AC44-4D4C-B95E-749135477A8B}"/>
              </a:ext>
            </a:extLst>
          </p:cNvPr>
          <p:cNvSpPr>
            <a:spLocks noGrp="1"/>
          </p:cNvSpPr>
          <p:nvPr/>
        </p:nvSpPr>
        <p:spPr>
          <a:xfrm>
            <a:off x="8176070" y="5288089"/>
            <a:ext cx="107061" cy="107061"/>
          </a:xfrm>
          <a:prstGeom prst="ellipse">
            <a:avLst/>
          </a:prstGeom>
          <a:solidFill>
            <a:srgbClr val="000000"/>
          </a:solidFill>
        </p:spPr>
      </p:sp>
      <p:sp>
        <p:nvSpPr>
          <p:cNvPr id="7" name="Rounded-Rectangle-19-8">
            <a:extLst>
              <a:ext uri="{FF2B5EF4-FFF2-40B4-BE49-F238E27FC236}">
                <a16:creationId xmlns:a16="http://schemas.microsoft.com/office/drawing/2014/main" id="{BB168131-60A6-41A7-A10A-70ADEE0E0B37}"/>
              </a:ext>
            </a:extLst>
          </p:cNvPr>
          <p:cNvSpPr>
            <a:spLocks noGrp="1"/>
          </p:cNvSpPr>
          <p:nvPr/>
        </p:nvSpPr>
        <p:spPr>
          <a:xfrm>
            <a:off x="393668" y="1401794"/>
            <a:ext cx="3568732" cy="3619500"/>
          </a:xfrm>
          <a:prstGeom prst="roundRect">
            <a:avLst>
              <a:gd name="adj" fmla="val 2135"/>
            </a:avLst>
          </a:prstGeom>
          <a:solidFill>
            <a:srgbClr val="F2F2F2"/>
          </a:solidFill>
        </p:spPr>
      </p:sp>
      <p:sp>
        <p:nvSpPr>
          <p:cNvPr id="8" name="Content-Placeholder-8-9">
            <a:extLst>
              <a:ext uri="{FF2B5EF4-FFF2-40B4-BE49-F238E27FC236}">
                <a16:creationId xmlns:a16="http://schemas.microsoft.com/office/drawing/2014/main" id="{E1F2E074-5C04-42AC-8020-BF721D5A0B64}"/>
              </a:ext>
            </a:extLst>
          </p:cNvPr>
          <p:cNvSpPr>
            <a:spLocks noGrp="1"/>
          </p:cNvSpPr>
          <p:nvPr/>
        </p:nvSpPr>
        <p:spPr>
          <a:xfrm>
            <a:off x="703421" y="1806797"/>
            <a:ext cx="2949321" cy="2566797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ANALYZE</a:t>
            </a:r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Replay SGF/GIB. Resolve the exact turn and variation. Ask KataGo for candidates and principal branches.</a:t>
            </a:r>
          </a:p>
        </p:txBody>
      </p:sp>
      <p:sp>
        <p:nvSpPr>
          <p:cNvPr id="9" name="Rounded-Rectangle-21-10">
            <a:extLst>
              <a:ext uri="{FF2B5EF4-FFF2-40B4-BE49-F238E27FC236}">
                <a16:creationId xmlns:a16="http://schemas.microsoft.com/office/drawing/2014/main" id="{DA288ADA-E29B-4424-A2A7-90229D12B2BD}"/>
              </a:ext>
            </a:extLst>
          </p:cNvPr>
          <p:cNvSpPr>
            <a:spLocks noGrp="1"/>
          </p:cNvSpPr>
          <p:nvPr/>
        </p:nvSpPr>
        <p:spPr>
          <a:xfrm>
            <a:off x="4308443" y="1401794"/>
            <a:ext cx="3568732" cy="3619500"/>
          </a:xfrm>
          <a:prstGeom prst="roundRect">
            <a:avLst>
              <a:gd name="adj" fmla="val 2135"/>
            </a:avLst>
          </a:prstGeom>
          <a:solidFill>
            <a:srgbClr val="F2F2F2"/>
          </a:solidFill>
        </p:spPr>
      </p:sp>
      <p:sp>
        <p:nvSpPr>
          <p:cNvPr id="10" name="Content-Placeholder-8-11">
            <a:extLst>
              <a:ext uri="{FF2B5EF4-FFF2-40B4-BE49-F238E27FC236}">
                <a16:creationId xmlns:a16="http://schemas.microsoft.com/office/drawing/2014/main" id="{56F3CCB4-0037-4570-BD8B-19DAAAF016AD}"/>
              </a:ext>
            </a:extLst>
          </p:cNvPr>
          <p:cNvSpPr>
            <a:spLocks noGrp="1"/>
          </p:cNvSpPr>
          <p:nvPr/>
        </p:nvSpPr>
        <p:spPr>
          <a:xfrm>
            <a:off x="4618196" y="1806797"/>
            <a:ext cx="2949321" cy="2566797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GROUND</a:t>
            </a:r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Build a traceable teaching context: subject move, regions, local groups, rules, metrics and variation evidence.</a:t>
            </a:r>
          </a:p>
        </p:txBody>
      </p:sp>
      <p:sp>
        <p:nvSpPr>
          <p:cNvPr id="11" name="Rounded-Rectangle-23-12">
            <a:extLst>
              <a:ext uri="{FF2B5EF4-FFF2-40B4-BE49-F238E27FC236}">
                <a16:creationId xmlns:a16="http://schemas.microsoft.com/office/drawing/2014/main" id="{2C91775F-7A2C-40C7-8EBD-61B069FAA649}"/>
              </a:ext>
            </a:extLst>
          </p:cNvPr>
          <p:cNvSpPr>
            <a:spLocks noGrp="1"/>
          </p:cNvSpPr>
          <p:nvPr/>
        </p:nvSpPr>
        <p:spPr>
          <a:xfrm>
            <a:off x="8237506" y="1401794"/>
            <a:ext cx="3568732" cy="3619500"/>
          </a:xfrm>
          <a:prstGeom prst="roundRect">
            <a:avLst>
              <a:gd name="adj" fmla="val 2135"/>
            </a:avLst>
          </a:prstGeom>
          <a:solidFill>
            <a:srgbClr val="F2F2F2"/>
          </a:solidFill>
        </p:spPr>
      </p:sp>
      <p:sp>
        <p:nvSpPr>
          <p:cNvPr id="12" name="Content-Placeholder-8-13">
            <a:extLst>
              <a:ext uri="{FF2B5EF4-FFF2-40B4-BE49-F238E27FC236}">
                <a16:creationId xmlns:a16="http://schemas.microsoft.com/office/drawing/2014/main" id="{C36440E4-4AE1-42B8-9701-D339F79E3F47}"/>
              </a:ext>
            </a:extLst>
          </p:cNvPr>
          <p:cNvSpPr>
            <a:spLocks noGrp="1"/>
          </p:cNvSpPr>
          <p:nvPr/>
        </p:nvSpPr>
        <p:spPr>
          <a:xfrm>
            <a:off x="8547259" y="1806797"/>
            <a:ext cx="2949321" cy="2566797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EXPLAIN + VERIFY</a:t>
            </a:r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Qwen adapts to the question. A validator repairs contradictions or returns a deterministic fallback.</a:t>
            </a:r>
          </a:p>
        </p:txBody>
      </p:sp>
      <p:sp>
        <p:nvSpPr>
          <p:cNvPr id="13" name="Text-Placeholder-16-14">
            <a:extLst>
              <a:ext uri="{FF2B5EF4-FFF2-40B4-BE49-F238E27FC236}">
                <a16:creationId xmlns:a16="http://schemas.microsoft.com/office/drawing/2014/main" id="{93F6E8F8-F689-449E-AB09-E051AAFC5600}"/>
              </a:ext>
            </a:extLst>
          </p:cNvPr>
          <p:cNvSpPr>
            <a:spLocks noGrp="1"/>
          </p:cNvSpPr>
          <p:nvPr/>
        </p:nvSpPr>
        <p:spPr>
          <a:xfrm>
            <a:off x="4251770" y="5602414"/>
            <a:ext cx="2595944" cy="39195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 / EVIDENCE</a:t>
            </a:r>
          </a:p>
        </p:txBody>
      </p:sp>
      <p:sp>
        <p:nvSpPr>
          <p:cNvPr id="14" name="Text-Placeholder-16-15">
            <a:extLst>
              <a:ext uri="{FF2B5EF4-FFF2-40B4-BE49-F238E27FC236}">
                <a16:creationId xmlns:a16="http://schemas.microsoft.com/office/drawing/2014/main" id="{32D672DB-EB9B-442C-AB57-53FCBDB79C43}"/>
              </a:ext>
            </a:extLst>
          </p:cNvPr>
          <p:cNvSpPr>
            <a:spLocks noGrp="1"/>
          </p:cNvSpPr>
          <p:nvPr/>
        </p:nvSpPr>
        <p:spPr>
          <a:xfrm>
            <a:off x="390906" y="5602414"/>
            <a:ext cx="2595944" cy="39195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 / TOOL CALLS</a:t>
            </a:r>
          </a:p>
        </p:txBody>
      </p:sp>
      <p:sp>
        <p:nvSpPr>
          <p:cNvPr id="15" name="Text-Placeholder-16-16">
            <a:extLst>
              <a:ext uri="{FF2B5EF4-FFF2-40B4-BE49-F238E27FC236}">
                <a16:creationId xmlns:a16="http://schemas.microsoft.com/office/drawing/2014/main" id="{9C01EF8A-37B6-4D32-9E13-34C7EB8644ED}"/>
              </a:ext>
            </a:extLst>
          </p:cNvPr>
          <p:cNvSpPr>
            <a:spLocks noGrp="1"/>
          </p:cNvSpPr>
          <p:nvPr/>
        </p:nvSpPr>
        <p:spPr>
          <a:xfrm>
            <a:off x="8225409" y="5602414"/>
            <a:ext cx="2595944" cy="39195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 / VALIDATION</a:t>
            </a:r>
          </a:p>
        </p:txBody>
      </p:sp>
    </p:spTree>
    <p:extLst>
      <p:ext uri="{BB962C8B-B14F-4D97-AF65-F5344CB8AC3E}">
        <p14:creationId xmlns:p14="http://schemas.microsoft.com/office/powerpoint/2010/main" val="380243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>
            <a:extLst>
              <a:ext uri="{FF2B5EF4-FFF2-40B4-BE49-F238E27FC236}">
                <a16:creationId xmlns:a16="http://schemas.microsoft.com/office/drawing/2014/main" id="{4D2FA202-EEBF-2564-0868-A496D9020EB6}"/>
              </a:ext>
            </a:extLst>
          </p:cNvPr>
          <p:cNvSpPr txBox="1"/>
          <p:nvPr/>
        </p:nvSpPr>
        <p:spPr>
          <a:xfrm>
            <a:off x="393700" y="304800"/>
            <a:ext cx="11404600" cy="3847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500" b="1">
                <a:solidFill>
                  <a:srgbClr val="000000"/>
                </a:solidFill>
                <a:latin typeface="Arial" panose="020B0604020202020204" pitchFamily="34" charset="0"/>
              </a:rPr>
              <a:t>One W7900 runs the evidence engine and the competition coach.</a:t>
            </a:r>
            <a:endParaRPr lang="zh-CN" altLang="en-US" sz="2500" b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D61B16-B110-0AE7-7A1A-935E646AEEFD}"/>
              </a:ext>
            </a:extLst>
          </p:cNvPr>
          <p:cNvSpPr txBox="1"/>
          <p:nvPr/>
        </p:nvSpPr>
        <p:spPr>
          <a:xfrm>
            <a:off x="393700" y="1041400"/>
            <a:ext cx="114046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200">
                <a:solidFill>
                  <a:srgbClr val="000000"/>
                </a:solidFill>
                <a:latin typeface="Arial" panose="020B0604020202020204" pitchFamily="34" charset="0"/>
              </a:rPr>
              <a:t>KataGo and the validated 27B fallback share the Radeon pipeline. The 14B LoRA training evidence is preserved, while the competition alias remains on the model that passed the release policy.</a:t>
            </a:r>
            <a:endParaRPr lang="zh-CN" altLang="en-US" sz="12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19E14E24-52E0-8E48-3505-8535FA50A1F1}"/>
              </a:ext>
            </a:extLst>
          </p:cNvPr>
          <p:cNvSpPr/>
          <p:nvPr/>
        </p:nvSpPr>
        <p:spPr>
          <a:xfrm>
            <a:off x="393700" y="2768600"/>
            <a:ext cx="3564467" cy="2095500"/>
          </a:xfrm>
          <a:prstGeom prst="roundRect">
            <a:avLst/>
          </a:prstGeom>
          <a:solidFill>
            <a:srgbClr val="F5F5F5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8179149-CE95-62CF-2C4D-1CFA9087EB8D}"/>
              </a:ext>
            </a:extLst>
          </p:cNvPr>
          <p:cNvSpPr txBox="1"/>
          <p:nvPr/>
        </p:nvSpPr>
        <p:spPr>
          <a:xfrm>
            <a:off x="647700" y="3200400"/>
            <a:ext cx="3056467" cy="3847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500" b="1">
                <a:solidFill>
                  <a:srgbClr val="000000"/>
                </a:solidFill>
                <a:latin typeface="Arial" panose="020B0604020202020204" pitchFamily="34" charset="0"/>
              </a:rPr>
              <a:t>220 / 220</a:t>
            </a:r>
            <a:endParaRPr lang="zh-CN" altLang="en-US" sz="2500" b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0C29923-B71C-046A-9FEF-25A9DE3A2872}"/>
              </a:ext>
            </a:extLst>
          </p:cNvPr>
          <p:cNvSpPr txBox="1"/>
          <p:nvPr/>
        </p:nvSpPr>
        <p:spPr>
          <a:xfrm>
            <a:off x="647700" y="3924300"/>
            <a:ext cx="3056467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000000"/>
                </a:solidFill>
                <a:latin typeface="Arial" panose="020B0604020202020204" pitchFamily="34" charset="0"/>
              </a:rPr>
              <a:t>Agent function cases</a:t>
            </a:r>
            <a:endParaRPr lang="zh-CN" altLang="en-US" sz="15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CC6995C-6BD5-6490-83EC-666AF637BEEB}"/>
              </a:ext>
            </a:extLst>
          </p:cNvPr>
          <p:cNvSpPr/>
          <p:nvPr/>
        </p:nvSpPr>
        <p:spPr>
          <a:xfrm>
            <a:off x="4313767" y="2768600"/>
            <a:ext cx="3564466" cy="2095500"/>
          </a:xfrm>
          <a:prstGeom prst="roundRect">
            <a:avLst/>
          </a:prstGeom>
          <a:solidFill>
            <a:srgbClr val="F5F5F5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9D01DF9-D135-D23F-C310-8857B841EB33}"/>
              </a:ext>
            </a:extLst>
          </p:cNvPr>
          <p:cNvSpPr txBox="1"/>
          <p:nvPr/>
        </p:nvSpPr>
        <p:spPr>
          <a:xfrm>
            <a:off x="4567767" y="3200400"/>
            <a:ext cx="3056467" cy="3847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500" b="1">
                <a:solidFill>
                  <a:srgbClr val="000000"/>
                </a:solidFill>
                <a:latin typeface="Arial" panose="020B0604020202020204" pitchFamily="34" charset="0"/>
              </a:rPr>
              <a:t>189 / 189</a:t>
            </a:r>
            <a:endParaRPr lang="zh-CN" altLang="en-US" sz="2500" b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8760078-A759-3BC6-CB34-BF46775225C9}"/>
              </a:ext>
            </a:extLst>
          </p:cNvPr>
          <p:cNvSpPr txBox="1"/>
          <p:nvPr/>
        </p:nvSpPr>
        <p:spPr>
          <a:xfrm>
            <a:off x="4567767" y="3924300"/>
            <a:ext cx="3056467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000000"/>
                </a:solidFill>
                <a:latin typeface="Arial" panose="020B0604020202020204" pitchFamily="34" charset="0"/>
              </a:rPr>
              <a:t>Clean-room public tests</a:t>
            </a:r>
            <a:endParaRPr lang="zh-CN" altLang="en-US" sz="15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575DA6F-67EB-13F9-D595-78785C4A4E05}"/>
              </a:ext>
            </a:extLst>
          </p:cNvPr>
          <p:cNvSpPr/>
          <p:nvPr/>
        </p:nvSpPr>
        <p:spPr>
          <a:xfrm>
            <a:off x="8233833" y="2768600"/>
            <a:ext cx="3564467" cy="2095500"/>
          </a:xfrm>
          <a:prstGeom prst="roundRect">
            <a:avLst/>
          </a:prstGeom>
          <a:solidFill>
            <a:srgbClr val="F5F5F5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2551B44-137B-6831-89D5-EDA3455EC494}"/>
              </a:ext>
            </a:extLst>
          </p:cNvPr>
          <p:cNvSpPr txBox="1"/>
          <p:nvPr/>
        </p:nvSpPr>
        <p:spPr>
          <a:xfrm>
            <a:off x="8487833" y="3200400"/>
            <a:ext cx="3056467" cy="3847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500" b="1">
                <a:solidFill>
                  <a:srgbClr val="000000"/>
                </a:solidFill>
                <a:latin typeface="Arial" panose="020B0604020202020204" pitchFamily="34" charset="0"/>
              </a:rPr>
              <a:t>10.336 s</a:t>
            </a:r>
            <a:endParaRPr lang="zh-CN" altLang="en-US" sz="2500" b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8AE942D-1C23-C84C-2074-80D0437F02DA}"/>
              </a:ext>
            </a:extLst>
          </p:cNvPr>
          <p:cNvSpPr txBox="1"/>
          <p:nvPr/>
        </p:nvSpPr>
        <p:spPr>
          <a:xfrm>
            <a:off x="8487833" y="3924300"/>
            <a:ext cx="3056467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000000"/>
                </a:solidFill>
                <a:latin typeface="Arial" panose="020B0604020202020204" pitchFamily="34" charset="0"/>
              </a:rPr>
              <a:t>Combined P95; 30/30 cycles</a:t>
            </a:r>
            <a:endParaRPr lang="zh-CN" altLang="en-US" sz="15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564CD67-BBBD-C401-2EAD-5145FAD68750}"/>
              </a:ext>
            </a:extLst>
          </p:cNvPr>
          <p:cNvSpPr txBox="1"/>
          <p:nvPr/>
        </p:nvSpPr>
        <p:spPr>
          <a:xfrm>
            <a:off x="393700" y="5943600"/>
            <a:ext cx="114046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1100">
                <a:solidFill>
                  <a:srgbClr val="000000"/>
                </a:solidFill>
                <a:latin typeface="Arial" panose="020B0604020202020204" pitchFamily="34" charset="0"/>
              </a:rPr>
              <a:t>AMD Radeon Pro W7900 48 GB • ROCm 7.2.1 • 24/24 fault and privacy cases • no OOM in the selected coexistence profile</a:t>
            </a:r>
            <a:endParaRPr lang="zh-CN" altLang="en-US" sz="11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09E6480-1110-24E6-5091-EFDFCB310666}"/>
              </a:ext>
            </a:extLst>
          </p:cNvPr>
          <p:cNvSpPr txBox="1"/>
          <p:nvPr/>
        </p:nvSpPr>
        <p:spPr>
          <a:xfrm>
            <a:off x="11836400" y="6578600"/>
            <a:ext cx="1778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000000"/>
                </a:solidFill>
                <a:latin typeface="Arial" panose="020B0604020202020204" pitchFamily="34" charset="0"/>
              </a:rPr>
              <a:t>5</a:t>
            </a:r>
            <a:endParaRPr lang="zh-CN" altLang="en-US" sz="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90961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3-1">
            <a:extLst>
              <a:ext uri="{FF2B5EF4-FFF2-40B4-BE49-F238E27FC236}">
                <a16:creationId xmlns:a16="http://schemas.microsoft.com/office/drawing/2014/main" id="{621FF044-E82E-4565-A4D0-7677280A8E72}"/>
              </a:ext>
            </a:extLst>
          </p:cNvPr>
          <p:cNvSpPr>
            <a:spLocks noGrp="1"/>
          </p:cNvSpPr>
          <p:nvPr/>
        </p:nvSpPr>
        <p:spPr>
          <a:xfrm>
            <a:off x="393668" y="1738789"/>
            <a:ext cx="9448800" cy="2491454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Every superhuman move,
made understandable.</a:t>
            </a:r>
          </a:p>
        </p:txBody>
      </p:sp>
      <p:sp>
        <p:nvSpPr>
          <p:cNvPr id="2" name="Subtitle-4-2">
            <a:extLst>
              <a:ext uri="{FF2B5EF4-FFF2-40B4-BE49-F238E27FC236}">
                <a16:creationId xmlns:a16="http://schemas.microsoft.com/office/drawing/2014/main" id="{7B5069B2-0D66-44CD-8BED-E30E464A183B}"/>
              </a:ext>
            </a:extLst>
          </p:cNvPr>
          <p:cNvSpPr>
            <a:spLocks noGrp="1"/>
          </p:cNvSpPr>
          <p:nvPr/>
        </p:nvSpPr>
        <p:spPr>
          <a:xfrm>
            <a:off x="393668" y="4973288"/>
            <a:ext cx="3568732" cy="108023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KataGo authority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Qwen explanation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Radeon privacy</a:t>
            </a:r>
          </a:p>
        </p:txBody>
      </p:sp>
      <p:sp>
        <p:nvSpPr>
          <p:cNvPr id="3" name="Subtitle-4-3">
            <a:extLst>
              <a:ext uri="{FF2B5EF4-FFF2-40B4-BE49-F238E27FC236}">
                <a16:creationId xmlns:a16="http://schemas.microsoft.com/office/drawing/2014/main" id="{991DA397-92E7-4615-91EF-C9C4518B4160}"/>
              </a:ext>
            </a:extLst>
          </p:cNvPr>
          <p:cNvSpPr>
            <a:spLocks noGrp="1"/>
          </p:cNvSpPr>
          <p:nvPr/>
        </p:nvSpPr>
        <p:spPr>
          <a:xfrm>
            <a:off x="393668" y="392240"/>
            <a:ext cx="1612868" cy="649129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YIJIAN</a:t>
            </a:r>
          </a:p>
        </p:txBody>
      </p:sp>
    </p:spTree>
    <p:extLst>
      <p:ext uri="{BB962C8B-B14F-4D97-AF65-F5344CB8AC3E}">
        <p14:creationId xmlns:p14="http://schemas.microsoft.com/office/powerpoint/2010/main" val="195665065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565</Words>
  <Application>Microsoft Office PowerPoint</Application>
  <DocSecurity>0</DocSecurity>
  <PresentationFormat>宽屏</PresentationFormat>
  <Paragraphs>70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杰 杰</cp:lastModifiedBy>
  <cp:revision>1</cp:revision>
  <dcterms:created xsi:type="dcterms:W3CDTF">2026-08-03T05:18:19Z</dcterms:created>
  <dcterms:modified xsi:type="dcterms:W3CDTF">2026-08-06T14:50:42Z</dcterms:modified>
</cp:coreProperties>
</file>