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0babc0fec9412e" /><Relationship Type="http://schemas.openxmlformats.org/officeDocument/2006/relationships/extended-properties" Target="/docProps/app.xml" Id="R0dce99ff93324696" /><Relationship Type="http://schemas.openxmlformats.org/officeDocument/2006/relationships/officeDocument" Target="/ppt/presentation.xml" Id="Rfa23ff4dc2514d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435ab6a7d045fa"/>
  </p:sldMasterIdLst>
  <p:notesMasterIdLst>
    <p:notesMasterId xmlns:r="http://schemas.openxmlformats.org/officeDocument/2006/relationships" r:id="R0ec99810685744f2"/>
  </p:notesMasterIdLst>
  <p:sldIdLst>
    <p:sldId xmlns:r="http://schemas.openxmlformats.org/officeDocument/2006/relationships" id="256" r:id="R1123fc59268c4118"/>
    <p:sldId xmlns:r="http://schemas.openxmlformats.org/officeDocument/2006/relationships" id="257" r:id="Rfe3de0eb4f754e06"/>
    <p:sldId xmlns:r="http://schemas.openxmlformats.org/officeDocument/2006/relationships" id="258" r:id="Ra97ea2f0e7c84003"/>
    <p:sldId xmlns:r="http://schemas.openxmlformats.org/officeDocument/2006/relationships" id="259" r:id="Rf28be702f6e743b5"/>
    <p:sldId xmlns:r="http://schemas.openxmlformats.org/officeDocument/2006/relationships" id="260" r:id="R66c1c547361b4aea"/>
    <p:sldId xmlns:r="http://schemas.openxmlformats.org/officeDocument/2006/relationships" id="261" r:id="R036b1202e3314ca3"/>
    <p:sldId xmlns:r="http://schemas.openxmlformats.org/officeDocument/2006/relationships" id="262" r:id="Rf6f86b2f21be4c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9dc7a323b45aa" /><Relationship Type="http://schemas.openxmlformats.org/officeDocument/2006/relationships/slideMaster" Target="/ppt/slideMasters/slideMaster1.xml" Id="R83435ab6a7d045fa" /><Relationship Type="http://schemas.openxmlformats.org/officeDocument/2006/relationships/notesMaster" Target="/ppt/notesMasters/notesMaster1.xml" Id="R0ec99810685744f2" /><Relationship Type="http://schemas.openxmlformats.org/officeDocument/2006/relationships/presProps" Target="/ppt/presProps.xml" Id="Ra7118ccb2e5f40bf" /><Relationship Type="http://schemas.openxmlformats.org/officeDocument/2006/relationships/tableStyles" Target="/ppt/tableStyles.xml" Id="R3a0d2fd03bde4494" /><Relationship Type="http://schemas.openxmlformats.org/officeDocument/2006/relationships/slide" Target="/ppt/slides/slide1.xml" Id="R1123fc59268c4118" /><Relationship Type="http://schemas.openxmlformats.org/officeDocument/2006/relationships/slide" Target="/ppt/slides/slide2.xml" Id="Rfe3de0eb4f754e06" /><Relationship Type="http://schemas.openxmlformats.org/officeDocument/2006/relationships/slide" Target="/ppt/slides/slide3.xml" Id="Ra97ea2f0e7c84003" /><Relationship Type="http://schemas.openxmlformats.org/officeDocument/2006/relationships/slide" Target="/ppt/slides/slide4.xml" Id="Rf28be702f6e743b5" /><Relationship Type="http://schemas.openxmlformats.org/officeDocument/2006/relationships/slide" Target="/ppt/slides/slide5.xml" Id="R66c1c547361b4aea" /><Relationship Type="http://schemas.openxmlformats.org/officeDocument/2006/relationships/slide" Target="/ppt/slides/slide6.xml" Id="R036b1202e3314ca3" /><Relationship Type="http://schemas.openxmlformats.org/officeDocument/2006/relationships/slide" Target="/ppt/slides/slide7.xml" Id="Rf6f86b2f21be4c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01c78997a84f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8c10024c5b44cc" /><Relationship Type="http://schemas.openxmlformats.org/officeDocument/2006/relationships/notesMaster" Target="/ppt/notesMasters/notesMaster1.xml" Id="R0b64404a504e4e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21acc8be06456a" /><Relationship Type="http://schemas.openxmlformats.org/officeDocument/2006/relationships/notesMaster" Target="/ppt/notesMasters/notesMaster1.xml" Id="R6681010792dd47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5345c73ca347ba" /><Relationship Type="http://schemas.openxmlformats.org/officeDocument/2006/relationships/notesMaster" Target="/ppt/notesMasters/notesMaster1.xml" Id="R5894da85453448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c22c8a37aa4a39" /><Relationship Type="http://schemas.openxmlformats.org/officeDocument/2006/relationships/notesMaster" Target="/ppt/notesMasters/notesMaster1.xml" Id="R3341c9a96f0c43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45780e91864efc" /><Relationship Type="http://schemas.openxmlformats.org/officeDocument/2006/relationships/notesMaster" Target="/ppt/notesMasters/notesMaster1.xml" Id="R40f0ddd0cde04e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13ad7e61aa4905" /><Relationship Type="http://schemas.openxmlformats.org/officeDocument/2006/relationships/notesMaster" Target="/ppt/notesMasters/notesMaster1.xml" Id="R5c1879cb8f3147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14ca93502e4a04" /><Relationship Type="http://schemas.openxmlformats.org/officeDocument/2006/relationships/notesMaster" Target="/ppt/notesMasters/notesMaster1.xml" Id="Rd9bbb7e7542b42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Experience Asset is not another one-shot writing assistant. It turns one real experience into a durable, inspectable asset that the user can correct and reuse.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repo:README.md</a:t>
            </a:r>
          </a:p>
          <a:p xmlns:a="http://schemas.openxmlformats.org/drawingml/2006/main">
            <a:r>
              <a:t>- https://github.com/kinnyuww/amd-devmaster-track2-agent/pull/55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 user does not need expert status. They need a real experience worth examining and the willingness to correct incomplete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repo:docs/submission/e9/source/SUBMISSION_FACTS.md</a:t>
            </a:r>
          </a:p>
          <a:p xmlns:a="http://schemas.openxmlformats.org/drawingml/2006/main">
            <a:r>
              <a:t>- repo:spec/README.md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milestone produces a visible artifact. Material corrections create a new canonical identity and invalidate dependent evaluation, approval or export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repo:spec/README.md</a:t>
            </a:r>
          </a:p>
          <a:p xmlns:a="http://schemas.openxmlformats.org/drawingml/2006/main">
            <a:r>
              <a:t>- https://github.com/kinnyuww/amd-devmaster-track2-agent/pull/52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LangGraph coordinates durable state; deterministic policy remains the execution authority. Model tool-call output is only a proposal.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repo:AGENTS.md</a:t>
            </a:r>
          </a:p>
          <a:p xmlns:a="http://schemas.openxmlformats.org/drawingml/2006/main">
            <a:r>
              <a:t>- repo:spec/README.md</a:t>
            </a:r>
          </a:p>
          <a:p xmlns:a="http://schemas.openxmlformats.org/drawingml/2006/main">
            <a:r>
              <a:t>- https://github.com/kinnyuww/amd-devmaster-track2-agent/pull/52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inherited screenshot is current M1 UI evidence, not the final continuous M1–M5 demonstration. Replace it only with a real final-flow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https://github.com/kinnyuww/amd-devmaster-track2-agent/pull/52</a:t>
            </a:r>
          </a:p>
          <a:p xmlns:a="http://schemas.openxmlformats.org/drawingml/2006/main">
            <a:r>
              <a:t>- repo:evidence/milestones/e2-m1-langgraph-local/20260728T110552Z/artifacts/m1-live-ui.png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1 compares serving profiles on W7900. P1 versus S0 lowers p95 TTFT from 1710.910 ms to 275.670 ms and median E2EL from 34763.366 ms to 33256.475 ms; output TPS rises from 16.232 to 16.308. P1 reliability is 85%.</a:t>
            </a:r>
          </a:p>
          <a:p xmlns:a="http://schemas.openxmlformats.org/drawingml/2006/main">
            <a:r>
              <a:t>The complete application is locally integrated at PR #52 head 427d74f, but its final model-on-W7900 run and public demo remain pending. Stage 2 is optional and must not delay submission. Do not describe Stage 1 as complete-Agent acceleration.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https://github.com/kinnyuww/amd-devmaster-track2-agent/pull/44</a:t>
            </a:r>
          </a:p>
          <a:p xmlns:a="http://schemas.openxmlformats.org/drawingml/2006/main">
            <a:r>
              <a:t>- repo:docs/kinnyu/E9_STAGE1_PERFORMANCE_INSERT.md</a:t>
            </a:r>
          </a:p>
          <a:p xmlns:a="http://schemas.openxmlformats.org/drawingml/2006/main">
            <a:r>
              <a:t>- https://github.com/kinnyuww/amd-devmaster-track2-agent/pull/52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user value and the honest evidence boundary. Replace final public links and complete-product A0 only after one frozen application commit is run end to end on W7900.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https://github.com/kinnyuww/amd-devmaster-track2-agent</a:t>
            </a:r>
          </a:p>
          <a:p xmlns:a="http://schemas.openxmlformats.org/drawingml/2006/main">
            <a:r>
              <a:t>- https://github.com/kinnyuww/amd-devmaster-track2-agent/pull/55</a:t>
            </a:r>
          </a:p>
          <a:p xmlns:a="http://schemas.openxmlformats.org/drawingml/2006/main">
            <a:r>
              <a:t>- repo:docs/submission/e9/source/JUDGE_ENTRY.md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296d9b63045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d4a90486614658" /><Relationship Type="http://schemas.openxmlformats.org/officeDocument/2006/relationships/slideLayout" Target="/ppt/slideLayouts/slideLayout1.xml" Id="R9b7e135044f74a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7e135044f74a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6b315d7f04c89" /><Relationship Type="http://schemas.openxmlformats.org/officeDocument/2006/relationships/notesSlide" Target="/ppt/notesSlides/notesSlide1.xml" Id="R5e4e2d40da2941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2c41025904e5d" /><Relationship Type="http://schemas.openxmlformats.org/officeDocument/2006/relationships/notesSlide" Target="/ppt/notesSlides/notesSlide2.xml" Id="Rc0999898dc4a43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b0a327bb4447e" /><Relationship Type="http://schemas.openxmlformats.org/officeDocument/2006/relationships/notesSlide" Target="/ppt/notesSlides/notesSlide3.xml" Id="Rd2c1d24f320246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784cebacb49a2" /><Relationship Type="http://schemas.openxmlformats.org/officeDocument/2006/relationships/notesSlide" Target="/ppt/notesSlides/notesSlide4.xml" Id="Ra39c8f3ed8b343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0da21b18b438b" /><Relationship Type="http://schemas.openxmlformats.org/officeDocument/2006/relationships/image" Target="/ppt/media/image.png" Id="R3c860ebebd394d3f" /><Relationship Type="http://schemas.openxmlformats.org/officeDocument/2006/relationships/notesSlide" Target="/ppt/notesSlides/notesSlide5.xml" Id="R2aee17872a3d4b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70ed06c4c45e3" /><Relationship Type="http://schemas.openxmlformats.org/officeDocument/2006/relationships/notesSlide" Target="/ppt/notesSlides/notesSlide6.xml" Id="Re6859a0b61a842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181cfd5c7495f" /><Relationship Type="http://schemas.openxmlformats.org/officeDocument/2006/relationships/hyperlink" Target="https://github.com/kinnyuww/amd-devmaster-track2-agent" TargetMode="External" Id="R5370ddba5c7840f9" /><Relationship Type="http://schemas.openxmlformats.org/officeDocument/2006/relationships/notesSlide" Target="/ppt/notesSlides/notesSlide7.xml" Id="Rfbc2b262e25444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92C3E396-BD66-46B2-9AB8-CCC38E1F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Experience Asset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3875ADD-F4EF-46DB-8B05-A37C7B1C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A private local Agent that turns lived experience into evidence-bound, reusable knowledge.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8A626F7-5AEC-48D7-A855-A72DD9D8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AMD AI DEVMASTER HACKATHON 2026 · TRACK 2</a:t>
            </a:r>
          </a:p>
        </p:txBody>
      </p:sp>
      <p:sp>
        <p:nvSpPr>
          <p:cNvPr id="4" name="cover-local-bg">
            <a:extLst xmlns:a="http://schemas.openxmlformats.org/drawingml/2006/main">
              <a:ext uri="{FF2B5EF4-FFF2-40B4-BE49-F238E27FC236}">
                <a16:creationId xmlns:a16="http://schemas.microsoft.com/office/drawing/2014/main" id="{A689CB9A-035E-445C-BE9B-F558044A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233C"/>
          </a:solidFill>
          <a:ln xmlns:a="http://schemas.openxmlformats.org/drawingml/2006/main" w="0">
            <a:solidFill>
              <a:srgbClr val="17233C"/>
            </a:solidFill>
            <a:prstDash val="solid"/>
          </a:ln>
        </p:spPr>
      </p:sp>
      <p:sp>
        <p:nvSpPr>
          <p:cNvPr id="5" name="cover-local-text">
            <a:extLst xmlns:a="http://schemas.openxmlformats.org/drawingml/2006/main">
              <a:ext uri="{FF2B5EF4-FFF2-40B4-BE49-F238E27FC236}">
                <a16:creationId xmlns:a16="http://schemas.microsoft.com/office/drawing/2014/main" id="{BD98C39F-2C7E-4D70-92F9-7A839A22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LOCAL · PRIVATE · W7900</a:t>
            </a:r>
          </a:p>
        </p:txBody>
      </p:sp>
    </p:spTree>
    <p:extLst>
      <p:ext uri="{BB962C8B-B14F-4D97-AF65-F5344CB8AC3E}">
        <p14:creationId xmlns:p14="http://schemas.microsoft.com/office/powerpoint/2010/main" val="11389438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7F16A94-AABA-4F3B-B889-090756B7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0116817-D77B-4FD9-BE2D-623CD10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real experience is easy to narrate—and hard to reuse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FA4D12E7-AF39-4334-9B83-DF0EB6D5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968961C-4F6D-4835-887C-F93047DB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One-shot output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AB6576A-5C03-439B-8E91-F55EC99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Fluent paragraph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Mixed evidence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Correction = rewrite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8297353-D485-4BB3-BDB8-817EE917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D007B76-E92D-4DF7-A938-0F43D65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Experience Asset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A988A4A-B0BB-4F0D-8169-7DD8E493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Versioned state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Typed claims + sources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Correction = recompute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A828606-55BB-46DA-A61F-B2D6BC64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THE USER HAS SOMETHING REAL — BUT NO RELIABLE ASSET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practitioner, learner or product builder has events, judgments, later recollections and gaps mixed together.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They need a path to inspect, correct, resume and responsibly reuse the experience.</a:t>
            </a:r>
          </a:p>
        </p:txBody>
      </p:sp>
      <p:sp>
        <p:nvSpPr>
          <p:cNvPr id="10" name="draft-2-bg">
            <a:extLst xmlns:a="http://schemas.openxmlformats.org/drawingml/2006/main">
              <a:ext uri="{FF2B5EF4-FFF2-40B4-BE49-F238E27FC236}">
                <a16:creationId xmlns:a16="http://schemas.microsoft.com/office/drawing/2014/main" id="{CB3B5A41-7085-4012-88F9-0B3FECAE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1" name="draft-2-text">
            <a:extLst xmlns:a="http://schemas.openxmlformats.org/drawingml/2006/main">
              <a:ext uri="{FF2B5EF4-FFF2-40B4-BE49-F238E27FC236}">
                <a16:creationId xmlns:a16="http://schemas.microsoft.com/office/drawing/2014/main" id="{4531C128-8DB7-4F10-8241-36E8FF4F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E9 DRAFT R6 · 06 AUG 2026</a:t>
            </a:r>
          </a:p>
        </p:txBody>
      </p:sp>
    </p:spTree>
    <p:extLst>
      <p:ext uri="{BB962C8B-B14F-4D97-AF65-F5344CB8AC3E}">
        <p14:creationId xmlns:p14="http://schemas.microsoft.com/office/powerpoint/2010/main" val="2853273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5A38B09-C68F-485F-ADED-A90A332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DBEA875-B966-44CF-9A45-2730AB2D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Five visible milestones make ambiguity correctable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E7B5EB98-176C-4946-888D-1C888BE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Critical Moment Map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EABBE69-7351-407B-82BA-D3D8D9D3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M2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A0C79270-8B80-443D-8439-8D6CF324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Decision &amp; Evidence Ledger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E4EFFA5-4B88-4769-B740-9B6E34D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M3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8867C703-20FF-472D-9849-874799C2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Insight &amp; Boundary Map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7FD676D8-ADD6-4969-B251-66F7B2D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M4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9B3A667-24AD-4833-BDFB-F0CEF6B3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Route Readiness Matrix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026262EF-FF4A-47D9-B7C9-E232CD1A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M5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27F3AD7F-F27D-4B82-AFC8-5F576D8E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M1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Experience Brief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Helvetica Neue"/>
                <a:ea typeface="Helvetica Neue"/>
                <a:cs typeface="Helvetica Neue"/>
              </a:rPr>
              <a:t>Source boundary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Helvetica Neue"/>
                <a:ea typeface="Helvetica Neue"/>
                <a:cs typeface="Helvetica Neue"/>
              </a:rPr>
              <a:t>User goal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Helvetica Neue"/>
                <a:ea typeface="Helvetica Neue"/>
                <a:cs typeface="Helvetica Neue"/>
              </a:rPr>
              <a:t>Known gaps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Helvetica Neue"/>
                <a:ea typeface="Helvetica Neue"/>
                <a:cs typeface="Helvetica Neue"/>
              </a:rPr>
              <a:t>Editable · autosaved · resumable</a:t>
            </a:r>
          </a:p>
        </p:txBody>
      </p:sp>
      <p:sp>
        <p:nvSpPr>
          <p:cNvPr id="12" name="draft-4-bg">
            <a:extLst xmlns:a="http://schemas.openxmlformats.org/drawingml/2006/main">
              <a:ext uri="{FF2B5EF4-FFF2-40B4-BE49-F238E27FC236}">
                <a16:creationId xmlns:a16="http://schemas.microsoft.com/office/drawing/2014/main" id="{63E39E0F-5CDC-4E72-A3FF-7519D1F2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3" name="draft-4-text">
            <a:extLst xmlns:a="http://schemas.openxmlformats.org/drawingml/2006/main">
              <a:ext uri="{FF2B5EF4-FFF2-40B4-BE49-F238E27FC236}">
                <a16:creationId xmlns:a16="http://schemas.microsoft.com/office/drawing/2014/main" id="{68A40253-E9C7-42F5-A3F4-4403AE88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E9 DRAFT R6 · 06 AUG 2026</a:t>
            </a:r>
          </a:p>
        </p:txBody>
      </p:sp>
    </p:spTree>
    <p:extLst>
      <p:ext uri="{BB962C8B-B14F-4D97-AF65-F5344CB8AC3E}">
        <p14:creationId xmlns:p14="http://schemas.microsoft.com/office/powerpoint/2010/main" val="4961654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53924D3-21B5-4DFB-815E-18482E28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0A2D9DA-5795-4CDF-951B-D58C4E6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LangGraph coordinates the work; deterministic policy keeps authority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875E6CB-B72E-40CC-8102-CA32925B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ONE LOCAL AGENT, CLEAR RESPONSIBILITY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LangGraph owns durable workflow state and bounded transitions.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Runtime validates tools, arguments, retrieval, privacy and exact-version approval.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model proposes structured actions. It never grants execution permission.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Private services bind to 127.0.0.1.</a:t>
            </a:r>
          </a:p>
        </p:txBody>
      </p:sp>
      <p:cxnSp>
        <p:nvCxnSpPr>
          <p:cNvPr id="67" name="arch-connector-1"/>
          <p:cNvCxnSpPr/>
          <p:nvPr/>
        </p:nvCxnSpPr>
        <p:spPr>
          <a:xfrm xmlns:a="http://schemas.openxmlformats.org/drawingml/2006/main">
            <a:off x="9210675" y="24003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prstDash val="solid"/>
          </a:ln>
        </p:spPr>
      </p:cxnSp>
      <p:cxnSp>
        <p:nvCxnSpPr>
          <p:cNvPr id="68" name="arch-connector-2"/>
          <p:cNvCxnSpPr/>
          <p:nvPr/>
        </p:nvCxnSpPr>
        <p:spPr>
          <a:xfrm xmlns:a="http://schemas.openxmlformats.org/drawingml/2006/main">
            <a:off x="9210675" y="33147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prstDash val="solid"/>
          </a:ln>
        </p:spPr>
      </p:cxnSp>
      <p:cxnSp>
        <p:nvCxnSpPr>
          <p:cNvPr id="69" name="arch-connector-3"/>
          <p:cNvCxnSpPr/>
          <p:nvPr/>
        </p:nvCxnSpPr>
        <p:spPr>
          <a:xfrm xmlns:a="http://schemas.openxmlformats.org/drawingml/2006/main">
            <a:off x="9210675" y="42291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prstDash val="solid"/>
          </a:ln>
        </p:spPr>
      </p:cxnSp>
      <p:sp>
        <p:nvSpPr>
          <p:cNvPr id="8" name="arch-node-1">
            <a:extLst xmlns:a="http://schemas.openxmlformats.org/drawingml/2006/main">
              <a:ext uri="{FF2B5EF4-FFF2-40B4-BE49-F238E27FC236}">
                <a16:creationId xmlns:a16="http://schemas.microsoft.com/office/drawing/2014/main" id="{1A9ACAD7-90EC-4680-80AF-BD61D3A8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9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0AEAFFA8-64F6-4874-9CBE-7F84FA90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React UI + FastAPI</a:t>
            </a:r>
          </a:p>
        </p:txBody>
      </p:sp>
      <p:sp>
        <p:nvSpPr>
          <p:cNvPr id="10" name="arch-sub-1">
            <a:extLst xmlns:a="http://schemas.openxmlformats.org/drawingml/2006/main">
              <a:ext uri="{FF2B5EF4-FFF2-40B4-BE49-F238E27FC236}">
                <a16:creationId xmlns:a16="http://schemas.microsoft.com/office/drawing/2014/main" id="{B1BC1227-5A1E-439C-A64E-5EF09EC1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240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66173"/>
                </a:solidFill>
              </a:defRPr>
            </a:pPr>
            <a:r>
              <a:rPr sz="1013" b="0">
                <a:solidFill>
                  <a:srgbClr val="566173"/>
                </a:solidFill>
              </a:rPr>
              <a:t>interaction and application boundary</a:t>
            </a:r>
          </a:p>
        </p:txBody>
      </p:sp>
      <p:sp>
        <p:nvSpPr>
          <p:cNvPr id="11" name="arch-node-2">
            <a:extLst xmlns:a="http://schemas.openxmlformats.org/drawingml/2006/main">
              <a:ext uri="{FF2B5EF4-FFF2-40B4-BE49-F238E27FC236}">
                <a16:creationId xmlns:a16="http://schemas.microsoft.com/office/drawing/2014/main" id="{EAE91726-1B13-418E-B99F-ECED6614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2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75627127-7800-4E56-BBFB-C9EAF5B1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LangGraph + deterministic Runtime</a:t>
            </a:r>
          </a:p>
        </p:txBody>
      </p:sp>
      <p:sp>
        <p:nvSpPr>
          <p:cNvPr id="13" name="arch-sub-2">
            <a:extLst xmlns:a="http://schemas.openxmlformats.org/drawingml/2006/main">
              <a:ext uri="{FF2B5EF4-FFF2-40B4-BE49-F238E27FC236}">
                <a16:creationId xmlns:a16="http://schemas.microsoft.com/office/drawing/2014/main" id="{08C6DC2E-15A2-4C5C-9CED-4F2EA699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384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66173"/>
                </a:solidFill>
              </a:defRPr>
            </a:pPr>
            <a:r>
              <a:rPr sz="1013" b="0">
                <a:solidFill>
                  <a:srgbClr val="566173"/>
                </a:solidFill>
              </a:rPr>
              <a:t>state · tools · policy · recovery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01EFE406-3AB5-4A07-8109-738AAA53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8B7F2CBF-FC0A-460B-B093-0DA21FF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loopback vLLM</a:t>
            </a:r>
          </a:p>
        </p:txBody>
      </p:sp>
      <p:sp>
        <p:nvSpPr>
          <p:cNvPr id="16" name="arch-sub-3">
            <a:extLst xmlns:a="http://schemas.openxmlformats.org/drawingml/2006/main">
              <a:ext uri="{FF2B5EF4-FFF2-40B4-BE49-F238E27FC236}">
                <a16:creationId xmlns:a16="http://schemas.microsoft.com/office/drawing/2014/main" id="{3291D52B-1292-46CF-A288-AC110D53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528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66173"/>
                </a:solidFill>
              </a:defRPr>
            </a:pPr>
            <a:r>
              <a:rPr sz="1013" b="0">
                <a:solidFill>
                  <a:srgbClr val="566173"/>
                </a:solidFill>
              </a:rPr>
              <a:t>local OpenAI-compatible API</a:t>
            </a:r>
          </a:p>
        </p:txBody>
      </p:sp>
      <p:sp>
        <p:nvSpPr>
          <p:cNvPr id="17" name="arch-node-4">
            <a:extLst xmlns:a="http://schemas.openxmlformats.org/drawingml/2006/main">
              <a:ext uri="{FF2B5EF4-FFF2-40B4-BE49-F238E27FC236}">
                <a16:creationId xmlns:a16="http://schemas.microsoft.com/office/drawing/2014/main" id="{7A58335D-1AC6-40FE-9AFF-2AD84DE8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233C"/>
          </a:solidFill>
          <a:ln xmlns:a="http://schemas.openxmlformats.org/drawingml/2006/main" w="9525">
            <a:solidFill>
              <a:srgbClr val="17233C"/>
            </a:solidFill>
            <a:prstDash val="solid"/>
          </a:ln>
        </p:spPr>
      </p:sp>
      <p:sp>
        <p:nvSpPr>
          <p:cNvPr id="18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41A88297-F71D-4489-AC36-BC28CC0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ROCm · Radeon PRO W7900</a:t>
            </a:r>
          </a:p>
        </p:txBody>
      </p:sp>
      <p:sp>
        <p:nvSpPr>
          <p:cNvPr id="19" name="arch-sub-4">
            <a:extLst xmlns:a="http://schemas.openxmlformats.org/drawingml/2006/main">
              <a:ext uri="{FF2B5EF4-FFF2-40B4-BE49-F238E27FC236}">
                <a16:creationId xmlns:a16="http://schemas.microsoft.com/office/drawing/2014/main" id="{7A67FB75-6220-47FB-9AD6-CDBBAD1B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672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DCE6FF"/>
                </a:solidFill>
              </a:defRPr>
            </a:pPr>
            <a:r>
              <a:rPr sz="1013" b="0">
                <a:solidFill>
                  <a:srgbClr val="DCE6FF"/>
                </a:solidFill>
              </a:rPr>
              <a:t>core inference target</a:t>
            </a:r>
          </a:p>
        </p:txBody>
      </p:sp>
      <p:sp>
        <p:nvSpPr>
          <p:cNvPr id="20" name="draft-7-bg">
            <a:extLst xmlns:a="http://schemas.openxmlformats.org/drawingml/2006/main">
              <a:ext uri="{FF2B5EF4-FFF2-40B4-BE49-F238E27FC236}">
                <a16:creationId xmlns:a16="http://schemas.microsoft.com/office/drawing/2014/main" id="{14BA193E-AB49-479E-9DE2-AB36F9B3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21" name="draft-7-text">
            <a:extLst xmlns:a="http://schemas.openxmlformats.org/drawingml/2006/main">
              <a:ext uri="{FF2B5EF4-FFF2-40B4-BE49-F238E27FC236}">
                <a16:creationId xmlns:a16="http://schemas.microsoft.com/office/drawing/2014/main" id="{57ECAE6A-9F8C-407F-A36E-CB973AE0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E9 DRAFT R6 · 06 AUG 2026</a:t>
            </a:r>
          </a:p>
        </p:txBody>
      </p:sp>
    </p:spTree>
    <p:extLst>
      <p:ext uri="{BB962C8B-B14F-4D97-AF65-F5344CB8AC3E}">
        <p14:creationId xmlns:p14="http://schemas.microsoft.com/office/powerpoint/2010/main" val="1841519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04EE7BF-8AC4-4F76-B835-78E49C62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412ED7C-DCED-4600-98F2-CCEE0D63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canonical asset becomes inspectable, correctable and reusable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09706E0-1B99-4DC9-BC63-7E6797AE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REAL PRODUCT RESULT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Facts, judgments, inferences and unresolved gaps remain typed and inspectable. The user can edit, pause, resume and correct one version chain.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 #52@427d74f integrates save/resume, privacy resolution, exact approval, preview and HTML/Markdown/JSON export. Complete-product W7900 A0 remains pending.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60ebebd394d3f"/>
          <a:stretch xmlns:a="http://schemas.openxmlformats.org/drawingml/2006/main"/>
        </p:blipFill>
        <p:spPr>
          <a:xfrm xmlns:a="http://schemas.openxmlformats.org/drawingml/2006/main">
            <a:off x="7346501" y="1619250"/>
            <a:ext cx="3213998" cy="4333875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s3-evidence-bg">
            <a:extLst xmlns:a="http://schemas.openxmlformats.org/drawingml/2006/main">
              <a:ext uri="{FF2B5EF4-FFF2-40B4-BE49-F238E27FC236}">
                <a16:creationId xmlns:a16="http://schemas.microsoft.com/office/drawing/2014/main" id="{D53DB909-D92B-433F-A037-C63EE114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57850"/>
            <a:ext cx="24288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7" name="s3-evidence-text">
            <a:extLst xmlns:a="http://schemas.openxmlformats.org/drawingml/2006/main">
              <a:ext uri="{FF2B5EF4-FFF2-40B4-BE49-F238E27FC236}">
                <a16:creationId xmlns:a16="http://schemas.microsoft.com/office/drawing/2014/main" id="{6D583B1C-6C67-4998-86B9-45F58442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578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4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CURRENT UI EVIDENCE · FINAL DEMO PENDING</a:t>
            </a:r>
          </a:p>
        </p:txBody>
      </p:sp>
      <p:sp>
        <p:nvSpPr>
          <p:cNvPr id="8" name="draft-3-bg">
            <a:extLst xmlns:a="http://schemas.openxmlformats.org/drawingml/2006/main">
              <a:ext uri="{FF2B5EF4-FFF2-40B4-BE49-F238E27FC236}">
                <a16:creationId xmlns:a16="http://schemas.microsoft.com/office/drawing/2014/main" id="{4AEB25BA-E7D5-4FCB-8103-6B06C76D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9" name="draft-3-text">
            <a:extLst xmlns:a="http://schemas.openxmlformats.org/drawingml/2006/main">
              <a:ext uri="{FF2B5EF4-FFF2-40B4-BE49-F238E27FC236}">
                <a16:creationId xmlns:a16="http://schemas.microsoft.com/office/drawing/2014/main" id="{615221F1-8BDC-4678-96BF-FFB8C689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E9 DRAFT R6 · 06 AUG 2026</a:t>
            </a:r>
          </a:p>
        </p:txBody>
      </p:sp>
    </p:spTree>
    <p:extLst>
      <p:ext uri="{BB962C8B-B14F-4D97-AF65-F5344CB8AC3E}">
        <p14:creationId xmlns:p14="http://schemas.microsoft.com/office/powerpoint/2010/main" val="4706633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61B7115-4BC0-40F6-BBC3-EC71087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8F5E145-09F0-454B-BCCF-03E5680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Radeon optimization is measurable—and bounded by evidence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5872EC8-1509-4493-B591-BF1E68D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45B"/>
                </a:solidFill>
                <a:latin typeface="Helvetica Neue"/>
                <a:ea typeface="Helvetica Neue"/>
                <a:cs typeface="Helvetica Neue"/>
              </a:rPr>
              <a:t>STAGE 1 · W7900 · SERVICE ONLY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Qwen3.5-9B BF16 / 8K · P1 vs S0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p95 TTFT      −83.89%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median E2EL    −4.33%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output TPS     +0.47%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Stage1Score    +5.08%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P1 reliability: 85%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9BF93440-2B85-4BA4-8A3B-419B6085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COMPLETE PRODUCT · FINAL CHECK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 #52@427d74f integrates M1–M5, approval, preview and export.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Local deterministic checks: PASS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Final model on W7900: PENDING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Final public demo: PENDING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Stage 2 is optional.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complete-Agent gain claimed.</a:t>
            </a:r>
          </a:p>
        </p:txBody>
      </p:sp>
      <p:sp>
        <p:nvSpPr>
          <p:cNvPr id="5" name="s8-pending-bg">
            <a:extLst xmlns:a="http://schemas.openxmlformats.org/drawingml/2006/main">
              <a:ext uri="{FF2B5EF4-FFF2-40B4-BE49-F238E27FC236}">
                <a16:creationId xmlns:a16="http://schemas.microsoft.com/office/drawing/2014/main" id="{8432C6A1-8A3D-4719-856A-050EBC8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57850"/>
            <a:ext cx="466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solidFill>
              <a:srgbClr val="FFF1D6"/>
            </a:solidFill>
            <a:prstDash val="solid"/>
          </a:ln>
        </p:spPr>
      </p:sp>
      <p:sp>
        <p:nvSpPr>
          <p:cNvPr id="6" name="s8-pending-text">
            <a:extLst xmlns:a="http://schemas.openxmlformats.org/drawingml/2006/main">
              <a:ext uri="{FF2B5EF4-FFF2-40B4-BE49-F238E27FC236}">
                <a16:creationId xmlns:a16="http://schemas.microsoft.com/office/drawing/2014/main" id="{C9D3EC37-3803-4E71-86F8-E046E838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57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86600"/>
                </a:solidFill>
              </a:defRPr>
            </a:pPr>
            <a:r>
              <a:rPr sz="1050" b="1">
                <a:solidFill>
                  <a:srgbClr val="A86600"/>
                </a:solidFill>
              </a:rPr>
              <a:t>PR #44 VERIFIED · COMPLETE-PRODUCT RUN PENDING</a:t>
            </a:r>
          </a:p>
        </p:txBody>
      </p:sp>
      <p:sp>
        <p:nvSpPr>
          <p:cNvPr id="7" name="draft-8-bg">
            <a:extLst xmlns:a="http://schemas.openxmlformats.org/drawingml/2006/main">
              <a:ext uri="{FF2B5EF4-FFF2-40B4-BE49-F238E27FC236}">
                <a16:creationId xmlns:a16="http://schemas.microsoft.com/office/drawing/2014/main" id="{70F0F51D-02FC-468A-A694-7E648D75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8" name="draft-8-text">
            <a:extLst xmlns:a="http://schemas.openxmlformats.org/drawingml/2006/main">
              <a:ext uri="{FF2B5EF4-FFF2-40B4-BE49-F238E27FC236}">
                <a16:creationId xmlns:a16="http://schemas.microsoft.com/office/drawing/2014/main" id="{D3DCC76F-9CA2-49DA-9510-5BF277DE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E9 DRAFT R6 · 06 AUG 2026</a:t>
            </a:r>
          </a:p>
        </p:txBody>
      </p:sp>
    </p:spTree>
    <p:extLst>
      <p:ext uri="{BB962C8B-B14F-4D97-AF65-F5344CB8AC3E}">
        <p14:creationId xmlns:p14="http://schemas.microsoft.com/office/powerpoint/2010/main" val="18453817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CAE8B6BD-AE03-41DB-99A2-4B55AE30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Private by default.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Reusable by design.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B853BE4-B203-4763-BA77-5366B209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5370ddba5c7840f9"/>
              </a:rPr>
              <a:t>Open source · reproducible local stack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Seven slides + real UI demo · final links pending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Stage 1 verified · complete-product A0 pending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571221A-2202-4EF0-84C7-64E91776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EXPERIENCE ASSET</a:t>
            </a:r>
          </a:p>
        </p:txBody>
      </p:sp>
      <p:sp>
        <p:nvSpPr>
          <p:cNvPr id="4" name="closing-w7900-bg">
            <a:extLst xmlns:a="http://schemas.openxmlformats.org/drawingml/2006/main">
              <a:ext uri="{FF2B5EF4-FFF2-40B4-BE49-F238E27FC236}">
                <a16:creationId xmlns:a16="http://schemas.microsoft.com/office/drawing/2014/main" id="{860A46FA-E673-41DC-8F2F-48DAB11F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00625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233C"/>
          </a:solidFill>
          <a:ln xmlns:a="http://schemas.openxmlformats.org/drawingml/2006/main" w="0">
            <a:solidFill>
              <a:srgbClr val="17233C"/>
            </a:solidFill>
            <a:prstDash val="solid"/>
          </a:ln>
        </p:spPr>
      </p:sp>
      <p:sp>
        <p:nvSpPr>
          <p:cNvPr id="5" name="closing-w7900-text">
            <a:extLst xmlns:a="http://schemas.openxmlformats.org/drawingml/2006/main">
              <a:ext uri="{FF2B5EF4-FFF2-40B4-BE49-F238E27FC236}">
                <a16:creationId xmlns:a16="http://schemas.microsoft.com/office/drawing/2014/main" id="{7466F474-ACB8-43E7-8F47-5F09005F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00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ROCm · RADEON PRO W7900</a:t>
            </a:r>
          </a:p>
        </p:txBody>
      </p:sp>
    </p:spTree>
    <p:extLst>
      <p:ext uri="{BB962C8B-B14F-4D97-AF65-F5344CB8AC3E}">
        <p14:creationId xmlns:p14="http://schemas.microsoft.com/office/powerpoint/2010/main" val="931306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2026-08-06T08:30:59.9040000Z</dcterms:created>
  <dcterms:modified xsi:type="dcterms:W3CDTF">2026-08-06T08:30:59.9040000Z</dcterms:modified>
</coreProperties>
</file>