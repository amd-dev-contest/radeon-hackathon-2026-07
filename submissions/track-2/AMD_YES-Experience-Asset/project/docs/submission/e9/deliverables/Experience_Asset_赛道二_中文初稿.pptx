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499eef42e45bd" /><Relationship Type="http://schemas.openxmlformats.org/officeDocument/2006/relationships/extended-properties" Target="/docProps/app.xml" Id="R2ac42d50f2014bdb" /><Relationship Type="http://schemas.openxmlformats.org/officeDocument/2006/relationships/officeDocument" Target="/ppt/presentation.xml" Id="Rab59e67a749946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06caae2bd94a51"/>
  </p:sldMasterIdLst>
  <p:notesMasterIdLst>
    <p:notesMasterId xmlns:r="http://schemas.openxmlformats.org/officeDocument/2006/relationships" r:id="Ra3afe333718f4605"/>
  </p:notesMasterIdLst>
  <p:sldIdLst>
    <p:sldId xmlns:r="http://schemas.openxmlformats.org/officeDocument/2006/relationships" id="256" r:id="R15e614b4a5c342d1"/>
    <p:sldId xmlns:r="http://schemas.openxmlformats.org/officeDocument/2006/relationships" id="257" r:id="R59bcecfb4b9f4486"/>
    <p:sldId xmlns:r="http://schemas.openxmlformats.org/officeDocument/2006/relationships" id="258" r:id="R64b6e82c69754618"/>
    <p:sldId xmlns:r="http://schemas.openxmlformats.org/officeDocument/2006/relationships" id="259" r:id="Rc3127ac73d7b453a"/>
    <p:sldId xmlns:r="http://schemas.openxmlformats.org/officeDocument/2006/relationships" id="260" r:id="R3404849b841c469f"/>
    <p:sldId xmlns:r="http://schemas.openxmlformats.org/officeDocument/2006/relationships" id="261" r:id="R0c11c3b33c5f4300"/>
    <p:sldId xmlns:r="http://schemas.openxmlformats.org/officeDocument/2006/relationships" id="262" r:id="R05d9704f50d84d64"/>
    <p:sldId xmlns:r="http://schemas.openxmlformats.org/officeDocument/2006/relationships" id="263" r:id="R41ea76bfcbc749dd"/>
    <p:sldId xmlns:r="http://schemas.openxmlformats.org/officeDocument/2006/relationships" id="264" r:id="R49597112a5f749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a98de25d6e430e" /><Relationship Type="http://schemas.openxmlformats.org/officeDocument/2006/relationships/slideMaster" Target="/ppt/slideMasters/slideMaster1.xml" Id="R1706caae2bd94a51" /><Relationship Type="http://schemas.openxmlformats.org/officeDocument/2006/relationships/notesMaster" Target="/ppt/notesMasters/notesMaster1.xml" Id="Ra3afe333718f4605" /><Relationship Type="http://schemas.openxmlformats.org/officeDocument/2006/relationships/presProps" Target="/ppt/presProps.xml" Id="Rbb2a98da1b94463f" /><Relationship Type="http://schemas.openxmlformats.org/officeDocument/2006/relationships/tableStyles" Target="/ppt/tableStyles.xml" Id="R39fed3f30f61410f" /><Relationship Type="http://schemas.openxmlformats.org/officeDocument/2006/relationships/slide" Target="/ppt/slides/slide1.xml" Id="R15e614b4a5c342d1" /><Relationship Type="http://schemas.openxmlformats.org/officeDocument/2006/relationships/slide" Target="/ppt/slides/slide2.xml" Id="R59bcecfb4b9f4486" /><Relationship Type="http://schemas.openxmlformats.org/officeDocument/2006/relationships/slide" Target="/ppt/slides/slide3.xml" Id="R64b6e82c69754618" /><Relationship Type="http://schemas.openxmlformats.org/officeDocument/2006/relationships/slide" Target="/ppt/slides/slide4.xml" Id="Rc3127ac73d7b453a" /><Relationship Type="http://schemas.openxmlformats.org/officeDocument/2006/relationships/slide" Target="/ppt/slides/slide5.xml" Id="R3404849b841c469f" /><Relationship Type="http://schemas.openxmlformats.org/officeDocument/2006/relationships/slide" Target="/ppt/slides/slide6.xml" Id="R0c11c3b33c5f4300" /><Relationship Type="http://schemas.openxmlformats.org/officeDocument/2006/relationships/slide" Target="/ppt/slides/slide7.xml" Id="R05d9704f50d84d64" /><Relationship Type="http://schemas.openxmlformats.org/officeDocument/2006/relationships/slide" Target="/ppt/slides/slide8.xml" Id="R41ea76bfcbc749dd" /><Relationship Type="http://schemas.openxmlformats.org/officeDocument/2006/relationships/slide" Target="/ppt/slides/slide9.xml" Id="R49597112a5f7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7c18ad7053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29194e03f0411a" /><Relationship Type="http://schemas.openxmlformats.org/officeDocument/2006/relationships/notesMaster" Target="/ppt/notesMasters/notesMaster1.xml" Id="R4bc15402253541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347ea84e534286" /><Relationship Type="http://schemas.openxmlformats.org/officeDocument/2006/relationships/notesMaster" Target="/ppt/notesMasters/notesMaster1.xml" Id="R9fda27da453747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3dbbaae9a74000" /><Relationship Type="http://schemas.openxmlformats.org/officeDocument/2006/relationships/notesMaster" Target="/ppt/notesMasters/notesMaster1.xml" Id="R5090559fc51d47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ef68e4f67345aa" /><Relationship Type="http://schemas.openxmlformats.org/officeDocument/2006/relationships/notesMaster" Target="/ppt/notesMasters/notesMaster1.xml" Id="R1c9b6750001a41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517a832bf74b8b" /><Relationship Type="http://schemas.openxmlformats.org/officeDocument/2006/relationships/notesMaster" Target="/ppt/notesMasters/notesMaster1.xml" Id="R09acffa3f7b54d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05bb9efea24acc" /><Relationship Type="http://schemas.openxmlformats.org/officeDocument/2006/relationships/notesMaster" Target="/ppt/notesMasters/notesMaster1.xml" Id="Redb5cba649494a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0ddf8578a64680" /><Relationship Type="http://schemas.openxmlformats.org/officeDocument/2006/relationships/notesMaster" Target="/ppt/notesMasters/notesMaster1.xml" Id="Rab6a3b9c8fbe4e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7783cdc3a04486" /><Relationship Type="http://schemas.openxmlformats.org/officeDocument/2006/relationships/notesMaster" Target="/ppt/notesMasters/notesMaster1.xml" Id="R4487b46853654a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ee850ae0c749c9" /><Relationship Type="http://schemas.openxmlformats.org/officeDocument/2006/relationships/notesMaster" Target="/ppt/notesMasters/notesMaster1.xml" Id="Rd9531594e2be46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开场：Experience Asset 不是一次性写作助手，而是把个人经历整理成持久、可检查决策资产的本地私有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双语同步标识：EA-SUBMISSION-E9-20260805-R4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https://luma.com/amd-4dhi</a:t>
            </a:r>
          </a:p>
          <a:p xmlns:a="http://schemas.openxmlformats.org/drawingml/2006/main">
            <a:r>
              <a:t>- local:source/EXPERIENCE_ASSET_PROJECT_SPECIFICATION_ZH_DRAFT.md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目标用户不需要先成为专家。用户只需要拥有一段值得复盘的真实经历，并愿意纠正证据不足的部分。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local:source/EXPERIENCE_ASSET_PROJECT_SPECIFICATION_ZH_DRAFT.md#2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截图是已合并的 M1 开发证据，不是最终连续 M1-M5 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repo:evidence/milestones/e2-m1-langgraph-local/20260728T110552Z/artifacts/m1-live-ui.png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每个里程碑都会产生可见产物。纠正会生成新规范版本，并在绑定身份变化时使依赖产物或批准失效。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repo:spec/README.md</a:t>
            </a:r>
          </a:p>
          <a:p xmlns:a="http://schemas.openxmlformats.org/drawingml/2006/main">
            <a:r>
              <a:t>- local:source/EXPERIENCE_ASSET_PROJECT_SPECIFICATION_ZH_DRAFT.md#31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这是用户可观察到的 Agent 闭环。模型可以提出动作，但确定性 Runtime 掌握权限和执行效果验证。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repo:AGENTS.md</a:t>
            </a:r>
          </a:p>
          <a:p xmlns:a="http://schemas.openxmlformats.org/drawingml/2006/main">
            <a:r>
              <a:t>- repo:docs/AGENT_DEVELOPMENT_STANDARD.md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项目不宣称彻底消除幻觉，而是通过主张分型、Schema、确定性重算、版本失效和明确失败状态约束其影响。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repo:spec/README.md</a:t>
            </a:r>
          </a:p>
          <a:p xmlns:a="http://schemas.openxmlformats.org/drawingml/2006/main">
            <a:r>
              <a:t>- repo:spec/AGENT_ALIGNMENT.md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应用推理边界是 W7900/ROCm 上的 loopback vLLM，最终 A0 模型仍待冻结。历史 M1/M2 证据使用 Qwen2.5-14B-Instruct；独立 Stage 1 服务证据使用 Qwen3.5-9B BF16/8K，两者都不能静默写成最终应用模型。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https://github.com/kinnyuww/amd-devmaster-track2-agent/pull/39</a:t>
            </a:r>
          </a:p>
          <a:p xmlns:a="http://schemas.openxmlformats.org/drawingml/2006/main">
            <a:r>
              <a:t>- https://github.com/kinnyuww/amd-devmaster-track2-agent/pull/52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 #52 head 427d74f 已集成生产 M5 LangGraph 与 E6-E7 交付路径。后端目标回归、34 项公开 QA、222 项 Web、构建/静态/契约门禁和两项 GitHub checks 通过。该 head 没有调用真实模型，也没有在 W7900 上运行，因此完整产品 A0 与最终 Demo 仍待完成。PR #39 是独立服务层 W7900 证据，PR #44 是实验性 20K 能力工作。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https://github.com/kinnyuww/amd-devmaster-track2-agent/pull/52</a:t>
            </a:r>
          </a:p>
          <a:p xmlns:a="http://schemas.openxmlformats.org/drawingml/2006/main">
            <a:r>
              <a:t>- https://github.com/kinnyuww/amd-devmaster-track2-agent/commit/427d74f129a90957651c542c9d08c5c3105ab75c</a:t>
            </a:r>
          </a:p>
          <a:p xmlns:a="http://schemas.openxmlformats.org/drawingml/2006/main">
            <a:r>
              <a:t>- https://github.com/kinnyuww/amd-devmaster-track2-agent/pull/39</a:t>
            </a:r>
          </a:p>
          <a:p xmlns:a="http://schemas.openxmlformats.org/drawingml/2006/main">
            <a:r>
              <a:t>- https://github.com/kinnyuww/amd-devmaster-track2-agent/pull/44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结尾回到产品价值。只有在最终 Evidence Card 被接受后，才替换 A0、Demo URL 与提交 Commit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https://github.com/kinnyuww/amd-devmaster-track2-agent</a:t>
            </a:r>
          </a:p>
          <a:p xmlns:a="http://schemas.openxmlformats.org/drawingml/2006/main">
            <a:r>
              <a:t>- repo:docs/submission/e9/source/JUDGE_ENTRY.md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4297384ea4b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ff2c2629cc4c30" /><Relationship Type="http://schemas.openxmlformats.org/officeDocument/2006/relationships/slideLayout" Target="/ppt/slideLayouts/slideLayout1.xml" Id="Rd81a8a8a65b64b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1a8a8a65b64b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1164cd0754452" /><Relationship Type="http://schemas.openxmlformats.org/officeDocument/2006/relationships/notesSlide" Target="/ppt/notesSlides/notesSlide1.xml" Id="R51c17c5595834d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14670f7f8478c" /><Relationship Type="http://schemas.openxmlformats.org/officeDocument/2006/relationships/notesSlide" Target="/ppt/notesSlides/notesSlide2.xml" Id="Rf035c588fd234d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1e6358bcc4900" /><Relationship Type="http://schemas.openxmlformats.org/officeDocument/2006/relationships/image" Target="/ppt/media/image.png" Id="R9d85bc6870f44849" /><Relationship Type="http://schemas.openxmlformats.org/officeDocument/2006/relationships/notesSlide" Target="/ppt/notesSlides/notesSlide3.xml" Id="R5140b2d32bf942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a09f844144ae3" /><Relationship Type="http://schemas.openxmlformats.org/officeDocument/2006/relationships/notesSlide" Target="/ppt/notesSlides/notesSlide4.xml" Id="R8422bf4dd72347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e7413b4b14679" /><Relationship Type="http://schemas.openxmlformats.org/officeDocument/2006/relationships/notesSlide" Target="/ppt/notesSlides/notesSlide5.xml" Id="R3221b046a86345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a0e662cfb4cb8" /><Relationship Type="http://schemas.openxmlformats.org/officeDocument/2006/relationships/notesSlide" Target="/ppt/notesSlides/notesSlide6.xml" Id="R867149bbe4d548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dac6e86304264" /><Relationship Type="http://schemas.openxmlformats.org/officeDocument/2006/relationships/notesSlide" Target="/ppt/notesSlides/notesSlide7.xml" Id="Rf9afac96e3c04f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02e4f457f4790" /><Relationship Type="http://schemas.openxmlformats.org/officeDocument/2006/relationships/notesSlide" Target="/ppt/notesSlides/notesSlide8.xml" Id="R85f0889823644f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e56ef95574612" /><Relationship Type="http://schemas.openxmlformats.org/officeDocument/2006/relationships/hyperlink" Target="https://github.com/kinnyuww/amd-devmaster-track2-agent" TargetMode="External" Id="R8b19d06a84ba49b3" /><Relationship Type="http://schemas.openxmlformats.org/officeDocument/2006/relationships/notesSlide" Target="/ppt/notesSlides/notesSlide9.xml" Id="Rcc5928bc995543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92C3E396-BD66-46B2-9AB8-CCC38E1F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Experience Asset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3875ADD-F4EF-46DB-8B05-A37C7B1C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将个人经历转化为有证据、可复用知识的本地私有 Agent。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8A626F7-5AEC-48D7-A855-A72DD9D8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AMD AI DEVMASTER HACKATHON 2026 · 赛道二</a:t>
            </a:r>
          </a:p>
        </p:txBody>
      </p:sp>
      <p:sp>
        <p:nvSpPr>
          <p:cNvPr id="4" name="cover-local-bg">
            <a:extLst xmlns:a="http://schemas.openxmlformats.org/drawingml/2006/main">
              <a:ext uri="{FF2B5EF4-FFF2-40B4-BE49-F238E27FC236}">
                <a16:creationId xmlns:a16="http://schemas.microsoft.com/office/drawing/2014/main" id="{A689CB9A-035E-445C-BE9B-F558044A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233C"/>
          </a:solidFill>
          <a:ln xmlns:a="http://schemas.openxmlformats.org/drawingml/2006/main" w="0">
            <a:solidFill>
              <a:srgbClr val="17233C"/>
            </a:solidFill>
            <a:prstDash val="solid"/>
          </a:ln>
        </p:spPr>
      </p:sp>
      <p:sp>
        <p:nvSpPr>
          <p:cNvPr id="5" name="cover-local-text">
            <a:extLst xmlns:a="http://schemas.openxmlformats.org/drawingml/2006/main">
              <a:ext uri="{FF2B5EF4-FFF2-40B4-BE49-F238E27FC236}">
                <a16:creationId xmlns:a16="http://schemas.microsoft.com/office/drawing/2014/main" id="{BD98C39F-2C7E-4D70-92F9-7A839A22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本地 · 私有 · W7900</a:t>
            </a:r>
          </a:p>
        </p:txBody>
      </p:sp>
    </p:spTree>
    <p:extLst>
      <p:ext uri="{BB962C8B-B14F-4D97-AF65-F5344CB8AC3E}">
        <p14:creationId xmlns:p14="http://schemas.microsoft.com/office/powerpoint/2010/main" val="11389438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7F16A94-AABA-4F3B-B889-090756B7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0116817-D77B-4FD9-BE2D-623CD10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一次性 AI 写作会压平真正重要的信息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FA4D12E7-AF39-4334-9B83-DF0EB6D5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968961C-4F6D-4835-887C-F93047DB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流畅输出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DAB6576A-5C03-439B-8E91-F55EC99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单一结果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证据不清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纠正 = 重写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8297353-D485-4BB3-BDB8-817EE917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D007B76-E92D-4DF7-A938-0F43D65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持久资产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A988A4A-B0BB-4F0D-8169-7DD8E493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版本化状态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主张分型 + 来源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纠正 = 重新计算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A828606-55BB-46DA-A61F-B2D6BC64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用户拥有真实经历，但还没有可靠资产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事件、当时判断、事后回忆和缺失证据混在一起。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流畅文字可能掩盖无证据主张，也难以纠正、恢复或适配。</a:t>
            </a:r>
          </a:p>
        </p:txBody>
      </p:sp>
      <p:sp>
        <p:nvSpPr>
          <p:cNvPr id="10" name="draft-2-bg">
            <a:extLst xmlns:a="http://schemas.openxmlformats.org/drawingml/2006/main">
              <a:ext uri="{FF2B5EF4-FFF2-40B4-BE49-F238E27FC236}">
                <a16:creationId xmlns:a16="http://schemas.microsoft.com/office/drawing/2014/main" id="{CB3B5A41-7085-4012-88F9-0B3FECAE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11" name="draft-2-text">
            <a:extLst xmlns:a="http://schemas.openxmlformats.org/drawingml/2006/main">
              <a:ext uri="{FF2B5EF4-FFF2-40B4-BE49-F238E27FC236}">
                <a16:creationId xmlns:a16="http://schemas.microsoft.com/office/drawing/2014/main" id="{4531C128-8DB7-4F10-8241-36E8FF4F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E9 初稿 R5 · 2026-08-05</a:t>
            </a:r>
          </a:p>
        </p:txBody>
      </p:sp>
    </p:spTree>
    <p:extLst>
      <p:ext uri="{BB962C8B-B14F-4D97-AF65-F5344CB8AC3E}">
        <p14:creationId xmlns:p14="http://schemas.microsoft.com/office/powerpoint/2010/main" val="2853273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04EE7BF-8AC4-4F76-B835-78E49C62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412ED7C-DCED-4600-98F2-CCEE0D63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产出是可复用资产，而不是另一段生成文字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09706E0-1B99-4DC9-BC63-7E6797AE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一份规范资产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事实、判断、推断与待确认信息保持可见。用户能编辑、暂停、恢复并纠正同一版本链。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在 PR #52 head 427d74f，已保存资产可完成评估、隐私处理、精确批准、预览，并导出 HTML、Markdown 与 JSON。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59CB86C1-455B-44F8-96BF-934935A3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5bc6870f44849"/>
          <a:stretch xmlns:a="http://schemas.openxmlformats.org/drawingml/2006/main"/>
        </p:blipFill>
        <p:spPr>
          <a:xfrm xmlns:a="http://schemas.openxmlformats.org/drawingml/2006/main">
            <a:off x="7346501" y="1619250"/>
            <a:ext cx="3213998" cy="4333875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s3-evidence-bg">
            <a:extLst xmlns:a="http://schemas.openxmlformats.org/drawingml/2006/main">
              <a:ext uri="{FF2B5EF4-FFF2-40B4-BE49-F238E27FC236}">
                <a16:creationId xmlns:a16="http://schemas.microsoft.com/office/drawing/2014/main" id="{D53DB909-D92B-433F-A037-C63EE114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57850"/>
            <a:ext cx="24288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7" name="s3-evidence-text">
            <a:extLst xmlns:a="http://schemas.openxmlformats.org/drawingml/2006/main">
              <a:ext uri="{FF2B5EF4-FFF2-40B4-BE49-F238E27FC236}">
                <a16:creationId xmlns:a16="http://schemas.microsoft.com/office/drawing/2014/main" id="{6D583B1C-6C67-4998-86B9-45F58442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578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已合并的 M1 界面证据</a:t>
            </a:r>
          </a:p>
        </p:txBody>
      </p:sp>
      <p:sp>
        <p:nvSpPr>
          <p:cNvPr id="8" name="draft-3-bg">
            <a:extLst xmlns:a="http://schemas.openxmlformats.org/drawingml/2006/main">
              <a:ext uri="{FF2B5EF4-FFF2-40B4-BE49-F238E27FC236}">
                <a16:creationId xmlns:a16="http://schemas.microsoft.com/office/drawing/2014/main" id="{4AEB25BA-E7D5-4FCB-8103-6B06C76D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9" name="draft-3-text">
            <a:extLst xmlns:a="http://schemas.openxmlformats.org/drawingml/2006/main">
              <a:ext uri="{FF2B5EF4-FFF2-40B4-BE49-F238E27FC236}">
                <a16:creationId xmlns:a16="http://schemas.microsoft.com/office/drawing/2014/main" id="{615221F1-8BDC-4678-96BF-FFB8C689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E9 初稿 R5 · 2026-08-05</a:t>
            </a:r>
          </a:p>
        </p:txBody>
      </p:sp>
    </p:spTree>
    <p:extLst>
      <p:ext uri="{BB962C8B-B14F-4D97-AF65-F5344CB8AC3E}">
        <p14:creationId xmlns:p14="http://schemas.microsoft.com/office/powerpoint/2010/main" val="4706633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5A38B09-C68F-485F-ADED-A90A332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DBEA875-B966-44CF-9A45-2730AB2D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五个可见里程碑，让模糊信息可以被纠正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E7B5EB98-176C-4946-888D-1C888BE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关键时刻图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EABBE69-7351-407B-82BA-D3D8D9D3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M2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A0C79270-8B80-443D-8439-8D6CF324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决策与证据账本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E4EFFA5-4B88-4769-B740-9B6E34D2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M3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8867C703-20FF-472D-9849-874799C2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洞察与边界图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7FD676D8-ADD6-4969-B251-66F7B2D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M4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9B3A667-24AD-4833-BDFB-F0CEF6B3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路线就绪矩阵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026262EF-FF4A-47D9-B7C9-E232CD1A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M5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27F3AD7F-F27D-4B82-AFC8-5F576D8E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M1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经历简报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PingFang SC"/>
                <a:ea typeface="PingFang SC"/>
                <a:cs typeface="PingFang SC"/>
              </a:rPr>
              <a:t>发生了什么？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PingFang SC"/>
                <a:ea typeface="PingFang SC"/>
                <a:cs typeface="PingFang SC"/>
              </a:rPr>
              <a:t>来源边界在哪里？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PingFang SC"/>
                <a:ea typeface="PingFang SC"/>
                <a:cs typeface="PingFang SC"/>
              </a:rPr>
              <a:t>用户希望得到什么？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PingFang SC"/>
                <a:ea typeface="PingFang SC"/>
                <a:cs typeface="PingFang SC"/>
              </a:rPr>
              <a:t>可编辑 · 自动保存 · 可恢复</a:t>
            </a:r>
          </a:p>
        </p:txBody>
      </p:sp>
      <p:sp>
        <p:nvSpPr>
          <p:cNvPr id="12" name="draft-4-bg">
            <a:extLst xmlns:a="http://schemas.openxmlformats.org/drawingml/2006/main">
              <a:ext uri="{FF2B5EF4-FFF2-40B4-BE49-F238E27FC236}">
                <a16:creationId xmlns:a16="http://schemas.microsoft.com/office/drawing/2014/main" id="{63E39E0F-5CDC-4E72-A3FF-7519D1F2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13" name="draft-4-text">
            <a:extLst xmlns:a="http://schemas.openxmlformats.org/drawingml/2006/main">
              <a:ext uri="{FF2B5EF4-FFF2-40B4-BE49-F238E27FC236}">
                <a16:creationId xmlns:a16="http://schemas.microsoft.com/office/drawing/2014/main" id="{68A40253-E9C7-42F5-A3F4-4403AE88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E9 初稿 R5 · 2026-08-05</a:t>
            </a:r>
          </a:p>
        </p:txBody>
      </p:sp>
    </p:spTree>
    <p:extLst>
      <p:ext uri="{BB962C8B-B14F-4D97-AF65-F5344CB8AC3E}">
        <p14:creationId xmlns:p14="http://schemas.microsoft.com/office/powerpoint/2010/main" val="4961654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4E056A9-B399-485C-9935-D05D08EA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7D32D16-E6A1-4C38-A4AC-BEDCF25A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Agent 会规划、提议、验证并持久化</a:t>
            </a:r>
          </a:p>
        </p:txBody>
      </p:sp>
      <p:cxnSp>
        <p:nvCxnSpPr>
          <p:cNvPr id="35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BFC5FC9-3D5C-4228-B9C5-ABDDB057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DFD5B6C-CF0C-4494-B9B2-BF985FF6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0A6AF3D-2959-452A-9936-D07703F0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01686CBD-96D0-42CC-A6EE-DDDA376B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BCC62C34-2068-4DC6-8469-4B80D867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规划 + 证据约束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观察规范状态，由 LangGraph 选择下一个 M1-M5 受限动作，只检索已授权证据。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FA754814-47E4-427F-A363-AFDD78D6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990502C2-9057-448B-A3AF-F2894FA2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提议 + 治理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模型提出结构化更新或工具调用，Runtime 校验 Schema、身份、参数和策略。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1519B64E-B949-49F8-9671-CCDC2CDB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F82B6B0-7406-480E-9994-1626A2F2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执行 + 验证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允许的效果会被保存、验证并形成终态或可恢复状态；失败始终可见。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DF8486A9-9F02-4AAA-9A13-39A25F34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策略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30664021-91F1-4889-B9F2-DEA36875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规划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8D9040E3-C82E-4DEE-8A81-CDB3BDEE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恢复</a:t>
            </a:r>
          </a:p>
        </p:txBody>
      </p:sp>
      <p:sp>
        <p:nvSpPr>
          <p:cNvPr id="16" name="draft-5-bg">
            <a:extLst xmlns:a="http://schemas.openxmlformats.org/drawingml/2006/main">
              <a:ext uri="{FF2B5EF4-FFF2-40B4-BE49-F238E27FC236}">
                <a16:creationId xmlns:a16="http://schemas.microsoft.com/office/drawing/2014/main" id="{6515FFF6-D0B8-4580-8E22-C66CCBB2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17" name="draft-5-text">
            <a:extLst xmlns:a="http://schemas.openxmlformats.org/drawingml/2006/main">
              <a:ext uri="{FF2B5EF4-FFF2-40B4-BE49-F238E27FC236}">
                <a16:creationId xmlns:a16="http://schemas.microsoft.com/office/drawing/2014/main" id="{3DC88331-2291-4BE9-A96A-1A551263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E9 初稿 R5 · 2026-08-05</a:t>
            </a:r>
          </a:p>
        </p:txBody>
      </p:sp>
    </p:spTree>
    <p:extLst>
      <p:ext uri="{BB962C8B-B14F-4D97-AF65-F5344CB8AC3E}">
        <p14:creationId xmlns:p14="http://schemas.microsoft.com/office/powerpoint/2010/main" val="8139922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DA566AB-FFEF-4774-93D0-0ABA685E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E4112B9-6C47-4515-9F09-EEC91D89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证据与权限先于流畅生成</a:t>
            </a:r>
          </a:p>
        </p:txBody>
      </p:sp>
      <p:cxnSp>
        <p:nvCxnSpPr>
          <p:cNvPr id="32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E00FE1E-0660-4C3C-81C9-7D4F5348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879AF90-3056-4424-9802-117C043A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DC3BB02-4A89-4F4D-BFCE-6D8F828E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10A9C6C-99B5-489A-8AB0-69C982C2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证据约束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0771543-5F14-400C-B00D-59DE7A08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关系确认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9F08AF5-AEEF-462F-A1D6-2F3A0D92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准确批准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DD7D847-8B30-4774-BF1B-0AFF0C0D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阶段化检索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跨资产发现只在 M4 后开始；读取详细证据前必须确认关系。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B13AA02-342A-45C7-970B-D9795138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主张分型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来源事实、用户判断、Agent 推断或待确认缺口始终保持明确。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8EA4BFC-4AAB-4E41-8C32-7752C12D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准确版本批准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批准绑定路线、语言、策略、规范版本、关系证据与渲染输入。</a:t>
            </a:r>
          </a:p>
        </p:txBody>
      </p:sp>
      <p:sp>
        <p:nvSpPr>
          <p:cNvPr id="13" name="draft-6-bg">
            <a:extLst xmlns:a="http://schemas.openxmlformats.org/drawingml/2006/main">
              <a:ext uri="{FF2B5EF4-FFF2-40B4-BE49-F238E27FC236}">
                <a16:creationId xmlns:a16="http://schemas.microsoft.com/office/drawing/2014/main" id="{AD0214C9-B6DA-4E49-B723-4AC31458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14" name="draft-6-text">
            <a:extLst xmlns:a="http://schemas.openxmlformats.org/drawingml/2006/main">
              <a:ext uri="{FF2B5EF4-FFF2-40B4-BE49-F238E27FC236}">
                <a16:creationId xmlns:a16="http://schemas.microsoft.com/office/drawing/2014/main" id="{9EEC6790-CC01-48F4-9BA9-037597EF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E9 初稿 R5 · 2026-08-05</a:t>
            </a:r>
          </a:p>
        </p:txBody>
      </p:sp>
    </p:spTree>
    <p:extLst>
      <p:ext uri="{BB962C8B-B14F-4D97-AF65-F5344CB8AC3E}">
        <p14:creationId xmlns:p14="http://schemas.microsoft.com/office/powerpoint/2010/main" val="11656526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53924D3-21B5-4DFB-815E-18482E28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0A2D9DA-5795-4CDF-951B-D58C4E6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核心推理在 Radeon 本地运行并受策略控制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875E6CB-B72E-40CC-8102-CA32925B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展示职责，而不是堆技术 Logo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vLLM 负责模型加载与服务。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LangGraph 负责持久化工作流状态。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Runtime 负责工具、权限、持久化、重试、隐私与批准。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私有服务默认绑定 127.0.0.1。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60DF8239-056B-440E-8367-53DD49E8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cxnSp>
        <p:nvCxnSpPr>
          <p:cNvPr id="61" name="arch-connector-1"/>
          <p:cNvCxnSpPr/>
          <p:nvPr/>
        </p:nvCxnSpPr>
        <p:spPr>
          <a:xfrm xmlns:a="http://schemas.openxmlformats.org/drawingml/2006/main">
            <a:off x="9210675" y="24003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prstDash val="solid"/>
          </a:ln>
        </p:spPr>
      </p:cxnSp>
      <p:cxnSp>
        <p:nvCxnSpPr>
          <p:cNvPr id="62" name="arch-connector-2"/>
          <p:cNvCxnSpPr/>
          <p:nvPr/>
        </p:nvCxnSpPr>
        <p:spPr>
          <a:xfrm xmlns:a="http://schemas.openxmlformats.org/drawingml/2006/main">
            <a:off x="9210675" y="33147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prstDash val="solid"/>
          </a:ln>
        </p:spPr>
      </p:cxnSp>
      <p:cxnSp>
        <p:nvCxnSpPr>
          <p:cNvPr id="63" name="arch-connector-3"/>
          <p:cNvCxnSpPr/>
          <p:nvPr/>
        </p:nvCxnSpPr>
        <p:spPr>
          <a:xfrm xmlns:a="http://schemas.openxmlformats.org/drawingml/2006/main">
            <a:off x="9210675" y="42291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prstDash val="solid"/>
          </a:ln>
        </p:spPr>
      </p:cxnSp>
      <p:sp>
        <p:nvSpPr>
          <p:cNvPr id="8" name="arch-node-1">
            <a:extLst xmlns:a="http://schemas.openxmlformats.org/drawingml/2006/main">
              <a:ext uri="{FF2B5EF4-FFF2-40B4-BE49-F238E27FC236}">
                <a16:creationId xmlns:a16="http://schemas.microsoft.com/office/drawing/2014/main" id="{1A9ACAD7-90EC-4680-80AF-BD61D3A8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9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0AEAFFA8-64F6-4874-9CBE-7F84FA90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React 界面 + FastAPI</a:t>
            </a:r>
          </a:p>
        </p:txBody>
      </p:sp>
      <p:sp>
        <p:nvSpPr>
          <p:cNvPr id="10" name="arch-sub-1">
            <a:extLst xmlns:a="http://schemas.openxmlformats.org/drawingml/2006/main">
              <a:ext uri="{FF2B5EF4-FFF2-40B4-BE49-F238E27FC236}">
                <a16:creationId xmlns:a16="http://schemas.microsoft.com/office/drawing/2014/main" id="{B1BC1227-5A1E-439C-A64E-5EF09EC1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240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66173"/>
                </a:solidFill>
              </a:defRPr>
            </a:pPr>
            <a:r>
              <a:rPr sz="1013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交互与应用边界</a:t>
            </a:r>
          </a:p>
        </p:txBody>
      </p:sp>
      <p:sp>
        <p:nvSpPr>
          <p:cNvPr id="11" name="arch-node-2">
            <a:extLst xmlns:a="http://schemas.openxmlformats.org/drawingml/2006/main">
              <a:ext uri="{FF2B5EF4-FFF2-40B4-BE49-F238E27FC236}">
                <a16:creationId xmlns:a16="http://schemas.microsoft.com/office/drawing/2014/main" id="{EAE91726-1B13-418E-B99F-ECED6614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2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75627127-7800-4E56-BBFB-C9EAF5B1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LangGraph + 确定性 Runtime</a:t>
            </a:r>
          </a:p>
        </p:txBody>
      </p:sp>
      <p:sp>
        <p:nvSpPr>
          <p:cNvPr id="13" name="arch-sub-2">
            <a:extLst xmlns:a="http://schemas.openxmlformats.org/drawingml/2006/main">
              <a:ext uri="{FF2B5EF4-FFF2-40B4-BE49-F238E27FC236}">
                <a16:creationId xmlns:a16="http://schemas.microsoft.com/office/drawing/2014/main" id="{08C6DC2E-15A2-4C5C-9CED-4F2EA699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384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66173"/>
                </a:solidFill>
              </a:defRPr>
            </a:pPr>
            <a:r>
              <a:rPr sz="1013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状态、工具、策略与恢复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01EFE406-3AB5-4A07-8109-738AAA53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8B7F2CBF-FC0A-460B-B093-0DA21FF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本机回环 vLLM</a:t>
            </a:r>
          </a:p>
        </p:txBody>
      </p:sp>
      <p:sp>
        <p:nvSpPr>
          <p:cNvPr id="16" name="arch-sub-3">
            <a:extLst xmlns:a="http://schemas.openxmlformats.org/drawingml/2006/main">
              <a:ext uri="{FF2B5EF4-FFF2-40B4-BE49-F238E27FC236}">
                <a16:creationId xmlns:a16="http://schemas.microsoft.com/office/drawing/2014/main" id="{3291D52B-1292-46CF-A288-AC110D53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528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66173"/>
                </a:solidFill>
              </a:defRPr>
            </a:pPr>
            <a:r>
              <a:rPr sz="1013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最终 A0 模型待冻结</a:t>
            </a:r>
          </a:p>
        </p:txBody>
      </p:sp>
      <p:sp>
        <p:nvSpPr>
          <p:cNvPr id="17" name="arch-node-4">
            <a:extLst xmlns:a="http://schemas.openxmlformats.org/drawingml/2006/main">
              <a:ext uri="{FF2B5EF4-FFF2-40B4-BE49-F238E27FC236}">
                <a16:creationId xmlns:a16="http://schemas.microsoft.com/office/drawing/2014/main" id="{7A58335D-1AC6-40FE-9AFF-2AD84DE8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233C"/>
          </a:solidFill>
          <a:ln xmlns:a="http://schemas.openxmlformats.org/drawingml/2006/main" w="9525">
            <a:solidFill>
              <a:srgbClr val="17233C"/>
            </a:solidFill>
            <a:prstDash val="solid"/>
          </a:ln>
        </p:spPr>
      </p:sp>
      <p:sp>
        <p:nvSpPr>
          <p:cNvPr id="18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41A88297-F71D-4489-AC36-BC28CC0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ROCm · Radeon PRO W7900</a:t>
            </a:r>
          </a:p>
        </p:txBody>
      </p:sp>
      <p:sp>
        <p:nvSpPr>
          <p:cNvPr id="19" name="arch-sub-4">
            <a:extLst xmlns:a="http://schemas.openxmlformats.org/drawingml/2006/main">
              <a:ext uri="{FF2B5EF4-FFF2-40B4-BE49-F238E27FC236}">
                <a16:creationId xmlns:a16="http://schemas.microsoft.com/office/drawing/2014/main" id="{7A67FB75-6220-47FB-9AD6-CDBBAD1B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672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DCE6FF"/>
                </a:solidFill>
              </a:defRPr>
            </a:pPr>
            <a:r>
              <a:rPr sz="1013" b="0">
                <a:solidFill>
                  <a:srgbClr val="DCE6FF"/>
                </a:solidFill>
                <a:latin typeface="PingFang SC"/>
                <a:ea typeface="PingFang SC"/>
                <a:cs typeface="PingFang SC"/>
              </a:rPr>
              <a:t>核心推理硬件</a:t>
            </a:r>
          </a:p>
        </p:txBody>
      </p:sp>
      <p:sp>
        <p:nvSpPr>
          <p:cNvPr id="20" name="draft-7-bg">
            <a:extLst xmlns:a="http://schemas.openxmlformats.org/drawingml/2006/main">
              <a:ext uri="{FF2B5EF4-FFF2-40B4-BE49-F238E27FC236}">
                <a16:creationId xmlns:a16="http://schemas.microsoft.com/office/drawing/2014/main" id="{14BA193E-AB49-479E-9DE2-AB36F9B3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21" name="draft-7-text">
            <a:extLst xmlns:a="http://schemas.openxmlformats.org/drawingml/2006/main">
              <a:ext uri="{FF2B5EF4-FFF2-40B4-BE49-F238E27FC236}">
                <a16:creationId xmlns:a16="http://schemas.microsoft.com/office/drawing/2014/main" id="{57ECAE6A-9F8C-407F-A36E-CB973AE0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E9 初稿 R5 · 2026-08-05</a:t>
            </a:r>
          </a:p>
        </p:txBody>
      </p:sp>
    </p:spTree>
    <p:extLst>
      <p:ext uri="{BB962C8B-B14F-4D97-AF65-F5344CB8AC3E}">
        <p14:creationId xmlns:p14="http://schemas.microsoft.com/office/powerpoint/2010/main" val="18415196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61B7115-4BC0-40F6-BBC3-EC71087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8F5E145-09F0-454B-BCCF-03E5680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本地集成已经闭环，最终实机证据仍待完成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5872EC8-1509-4493-B591-BF1E68D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45B"/>
                </a:solidFill>
                <a:latin typeface="PingFang SC"/>
                <a:ea typeface="PingFang SC"/>
                <a:cs typeface="PingFang SC"/>
              </a:rPr>
              <a:t>已集成 @ 427d74f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生产 M5 LangGraph 与 E6-E7 交付路径位于同一准确 head。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保存/恢复 · 关系与隐私身份 · 精确批准 · 预览 · HTML/Markdown/JSON 导出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后端目标回归 · 34 项 QA · 222 项 Web · 构建、契约与 GitHub checks：通过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9BF93440-2B85-4BA4-8A3B-419B6085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独立证据或待完成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 #52 真实模型 + W7900：未运行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完整产品 A0 与最终 3-5 分钟 Demo：待完成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Stage 1 Qwen3.5-9B / W7900：服务层 PASS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20K 能力：实验中，业务语义 FAIL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Stage 2：待最终证据</a:t>
            </a:r>
          </a:p>
        </p:txBody>
      </p:sp>
      <p:sp>
        <p:nvSpPr>
          <p:cNvPr id="5" name="s8-pending-bg">
            <a:extLst xmlns:a="http://schemas.openxmlformats.org/drawingml/2006/main">
              <a:ext uri="{FF2B5EF4-FFF2-40B4-BE49-F238E27FC236}">
                <a16:creationId xmlns:a16="http://schemas.microsoft.com/office/drawing/2014/main" id="{8432C6A1-8A3D-4719-856A-050EBC82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57850"/>
            <a:ext cx="466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solidFill>
              <a:srgbClr val="FFF1D6"/>
            </a:solidFill>
            <a:prstDash val="solid"/>
          </a:ln>
        </p:spPr>
      </p:sp>
      <p:sp>
        <p:nvSpPr>
          <p:cNvPr id="6" name="s8-pending-text">
            <a:extLst xmlns:a="http://schemas.openxmlformats.org/drawingml/2006/main">
              <a:ext uri="{FF2B5EF4-FFF2-40B4-BE49-F238E27FC236}">
                <a16:creationId xmlns:a16="http://schemas.microsoft.com/office/drawing/2014/main" id="{C9D3EC37-3803-4E71-86F8-E046E838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57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86600"/>
                </a:solidFill>
              </a:defRPr>
            </a:pPr>
            <a:r>
              <a:rPr sz="1050" b="1">
                <a:solidFill>
                  <a:srgbClr val="A86600"/>
                </a:solidFill>
                <a:latin typeface="PingFang SC"/>
                <a:ea typeface="PingFang SC"/>
                <a:cs typeface="PingFang SC"/>
              </a:rPr>
              <a:t>本地集成证据 · 不是 W7900 A0</a:t>
            </a:r>
          </a:p>
        </p:txBody>
      </p:sp>
      <p:sp>
        <p:nvSpPr>
          <p:cNvPr id="7" name="draft-8-bg">
            <a:extLst xmlns:a="http://schemas.openxmlformats.org/drawingml/2006/main">
              <a:ext uri="{FF2B5EF4-FFF2-40B4-BE49-F238E27FC236}">
                <a16:creationId xmlns:a16="http://schemas.microsoft.com/office/drawing/2014/main" id="{70F0F51D-02FC-468A-A694-7E648D75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8" name="draft-8-text">
            <a:extLst xmlns:a="http://schemas.openxmlformats.org/drawingml/2006/main">
              <a:ext uri="{FF2B5EF4-FFF2-40B4-BE49-F238E27FC236}">
                <a16:creationId xmlns:a16="http://schemas.microsoft.com/office/drawing/2014/main" id="{D3DCC76F-9CA2-49DA-9510-5BF277DE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E9 初稿 R5 · 2026-08-05</a:t>
            </a:r>
          </a:p>
        </p:txBody>
      </p:sp>
    </p:spTree>
    <p:extLst>
      <p:ext uri="{BB962C8B-B14F-4D97-AF65-F5344CB8AC3E}">
        <p14:creationId xmlns:p14="http://schemas.microsoft.com/office/powerpoint/2010/main" val="18453817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CAE8B6BD-AE03-41DB-99A2-4B55AE30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默认私有。</a:t>
            </a:r>
          </a:p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生来可复用。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B853BE4-B203-4763-BA77-5366B209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6FED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b19d06a84ba49b3"/>
              </a:rPr>
              <a:t>代码仓库 · 公开源码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规格说明 + Demo · 最终链接待完成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PR #52@427d74f：M5 + 交付已集成 · W7900 A0 待完成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571221A-2202-4EF0-84C7-64E91776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经验资产</a:t>
            </a:r>
          </a:p>
        </p:txBody>
      </p:sp>
      <p:sp>
        <p:nvSpPr>
          <p:cNvPr id="4" name="closing-w7900-bg">
            <a:extLst xmlns:a="http://schemas.openxmlformats.org/drawingml/2006/main">
              <a:ext uri="{FF2B5EF4-FFF2-40B4-BE49-F238E27FC236}">
                <a16:creationId xmlns:a16="http://schemas.microsoft.com/office/drawing/2014/main" id="{860A46FA-E673-41DC-8F2F-48DAB11F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00625"/>
            <a:ext cx="3333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233C"/>
          </a:solidFill>
          <a:ln xmlns:a="http://schemas.openxmlformats.org/drawingml/2006/main" w="0">
            <a:solidFill>
              <a:srgbClr val="17233C"/>
            </a:solidFill>
            <a:prstDash val="solid"/>
          </a:ln>
        </p:spPr>
      </p:sp>
      <p:sp>
        <p:nvSpPr>
          <p:cNvPr id="5" name="closing-w7900-text">
            <a:extLst xmlns:a="http://schemas.openxmlformats.org/drawingml/2006/main">
              <a:ext uri="{FF2B5EF4-FFF2-40B4-BE49-F238E27FC236}">
                <a16:creationId xmlns:a16="http://schemas.microsoft.com/office/drawing/2014/main" id="{7466F474-ACB8-43E7-8F47-5F09005F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006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ROCm · RADEON PRO W7900</a:t>
            </a:r>
          </a:p>
        </p:txBody>
      </p:sp>
    </p:spTree>
    <p:extLst>
      <p:ext uri="{BB962C8B-B14F-4D97-AF65-F5344CB8AC3E}">
        <p14:creationId xmlns:p14="http://schemas.microsoft.com/office/powerpoint/2010/main" val="931306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2026-08-05T15:22:20.4840000Z</dcterms:created>
  <dcterms:modified xsi:type="dcterms:W3CDTF">2026-08-05T15:22:20.4840000Z</dcterms:modified>
</coreProperties>
</file>