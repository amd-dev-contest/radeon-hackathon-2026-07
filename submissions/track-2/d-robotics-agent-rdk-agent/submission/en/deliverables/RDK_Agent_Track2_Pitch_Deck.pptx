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3a57b83b646e1" /><Relationship Type="http://schemas.openxmlformats.org/officeDocument/2006/relationships/extended-properties" Target="/docProps/app.xml" Id="R7e2bbfd1ec6f40a8" /><Relationship Type="http://schemas.openxmlformats.org/officeDocument/2006/relationships/officeDocument" Target="/ppt/presentation.xml" Id="R06448b3d5fba4a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38d74b7474b84"/>
  </p:sldMasterIdLst>
  <p:notesMasterIdLst>
    <p:notesMasterId xmlns:r="http://schemas.openxmlformats.org/officeDocument/2006/relationships" r:id="R256a1885dcf7419e"/>
  </p:notesMasterIdLst>
  <p:sldIdLst>
    <p:sldId xmlns:r="http://schemas.openxmlformats.org/officeDocument/2006/relationships" id="256" r:id="R11861bf2b9f341d3"/>
    <p:sldId xmlns:r="http://schemas.openxmlformats.org/officeDocument/2006/relationships" id="257" r:id="Rb83addcbd2674888"/>
    <p:sldId xmlns:r="http://schemas.openxmlformats.org/officeDocument/2006/relationships" id="258" r:id="Rc0e3526a24f34e7f"/>
    <p:sldId xmlns:r="http://schemas.openxmlformats.org/officeDocument/2006/relationships" id="259" r:id="R3378f3a8a40a448c"/>
    <p:sldId xmlns:r="http://schemas.openxmlformats.org/officeDocument/2006/relationships" id="260" r:id="R3228c9c970ca4305"/>
    <p:sldId xmlns:r="http://schemas.openxmlformats.org/officeDocument/2006/relationships" id="261" r:id="R371d5f0449674583"/>
    <p:sldId xmlns:r="http://schemas.openxmlformats.org/officeDocument/2006/relationships" id="262" r:id="R66e124e349f74c94"/>
    <p:sldId xmlns:r="http://schemas.openxmlformats.org/officeDocument/2006/relationships" id="263" r:id="R41a8672c13764e2b"/>
    <p:sldId xmlns:r="http://schemas.openxmlformats.org/officeDocument/2006/relationships" id="264" r:id="Rba1825ab654c481c"/>
    <p:sldId xmlns:r="http://schemas.openxmlformats.org/officeDocument/2006/relationships" id="265" r:id="Ra16173af1edf44e0"/>
    <p:sldId xmlns:r="http://schemas.openxmlformats.org/officeDocument/2006/relationships" id="266" r:id="R394f196225474f5e"/>
    <p:sldId xmlns:r="http://schemas.openxmlformats.org/officeDocument/2006/relationships" id="267" r:id="R9e812f6a504448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93291d5534342" /><Relationship Type="http://schemas.openxmlformats.org/officeDocument/2006/relationships/slideMaster" Target="/ppt/slideMasters/slideMaster1.xml" Id="Rc4f38d74b7474b84" /><Relationship Type="http://schemas.openxmlformats.org/officeDocument/2006/relationships/notesMaster" Target="/ppt/notesMasters/notesMaster1.xml" Id="R256a1885dcf7419e" /><Relationship Type="http://schemas.openxmlformats.org/officeDocument/2006/relationships/presProps" Target="/ppt/presProps.xml" Id="R7b0bd9d47b6140f1" /><Relationship Type="http://schemas.openxmlformats.org/officeDocument/2006/relationships/tableStyles" Target="/ppt/tableStyles.xml" Id="R389c0b6eb244465f" /><Relationship Type="http://schemas.openxmlformats.org/officeDocument/2006/relationships/slide" Target="/ppt/slides/slide1.xml" Id="R11861bf2b9f341d3" /><Relationship Type="http://schemas.openxmlformats.org/officeDocument/2006/relationships/slide" Target="/ppt/slides/slide2.xml" Id="Rb83addcbd2674888" /><Relationship Type="http://schemas.openxmlformats.org/officeDocument/2006/relationships/slide" Target="/ppt/slides/slide3.xml" Id="Rc0e3526a24f34e7f" /><Relationship Type="http://schemas.openxmlformats.org/officeDocument/2006/relationships/slide" Target="/ppt/slides/slide4.xml" Id="R3378f3a8a40a448c" /><Relationship Type="http://schemas.openxmlformats.org/officeDocument/2006/relationships/slide" Target="/ppt/slides/slide5.xml" Id="R3228c9c970ca4305" /><Relationship Type="http://schemas.openxmlformats.org/officeDocument/2006/relationships/slide" Target="/ppt/slides/slide6.xml" Id="R371d5f0449674583" /><Relationship Type="http://schemas.openxmlformats.org/officeDocument/2006/relationships/slide" Target="/ppt/slides/slide7.xml" Id="R66e124e349f74c94" /><Relationship Type="http://schemas.openxmlformats.org/officeDocument/2006/relationships/slide" Target="/ppt/slides/slide8.xml" Id="R41a8672c13764e2b" /><Relationship Type="http://schemas.openxmlformats.org/officeDocument/2006/relationships/slide" Target="/ppt/slides/slide9.xml" Id="Rba1825ab654c481c" /><Relationship Type="http://schemas.openxmlformats.org/officeDocument/2006/relationships/slide" Target="/ppt/slides/slide10.xml" Id="Ra16173af1edf44e0" /><Relationship Type="http://schemas.openxmlformats.org/officeDocument/2006/relationships/slide" Target="/ppt/slides/slide11.xml" Id="R394f196225474f5e" /><Relationship Type="http://schemas.openxmlformats.org/officeDocument/2006/relationships/slide" Target="/ppt/slides/slide12.xml" Id="R9e812f6a504448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65993f59b94d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58a7d188ca4db3" /><Relationship Type="http://schemas.openxmlformats.org/officeDocument/2006/relationships/notesMaster" Target="/ppt/notesMasters/notesMaster1.xml" Id="R67994c5f2ea049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b060d38c84183" /><Relationship Type="http://schemas.openxmlformats.org/officeDocument/2006/relationships/notesMaster" Target="/ppt/notesMasters/notesMaster1.xml" Id="R78a96a720a3e4e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fcd8c440e64c70" /><Relationship Type="http://schemas.openxmlformats.org/officeDocument/2006/relationships/notesMaster" Target="/ppt/notesMasters/notesMaster1.xml" Id="Rfd3a50dac83f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3e801e4f534962" /><Relationship Type="http://schemas.openxmlformats.org/officeDocument/2006/relationships/notesMaster" Target="/ppt/notesMasters/notesMaster1.xml" Id="R67b405e38a2f47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353efb92b74004" /><Relationship Type="http://schemas.openxmlformats.org/officeDocument/2006/relationships/notesMaster" Target="/ppt/notesMasters/notesMaster1.xml" Id="R3731d8bc646b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492cdebd214738" /><Relationship Type="http://schemas.openxmlformats.org/officeDocument/2006/relationships/notesMaster" Target="/ppt/notesMasters/notesMaster1.xml" Id="Rb3c07f2875a34d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b06a8cb4b48ec" /><Relationship Type="http://schemas.openxmlformats.org/officeDocument/2006/relationships/notesMaster" Target="/ppt/notesMasters/notesMaster1.xml" Id="R75751e32a0a641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0a8dfe64424f11" /><Relationship Type="http://schemas.openxmlformats.org/officeDocument/2006/relationships/notesMaster" Target="/ppt/notesMasters/notesMaster1.xml" Id="R4575568b336740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3c807469154e86" /><Relationship Type="http://schemas.openxmlformats.org/officeDocument/2006/relationships/notesMaster" Target="/ppt/notesMasters/notesMaster1.xml" Id="R711d5330508d40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5fd2c579da4d76" /><Relationship Type="http://schemas.openxmlformats.org/officeDocument/2006/relationships/notesMaster" Target="/ppt/notesMasters/notesMaster1.xml" Id="R459042c6cfe343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23c704eeef4797" /><Relationship Type="http://schemas.openxmlformats.org/officeDocument/2006/relationships/notesMaster" Target="/ppt/notesMasters/notesMaster1.xml" Id="R02fc4407aed44a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6d08a33a264307" /><Relationship Type="http://schemas.openxmlformats.org/officeDocument/2006/relationships/notesMaster" Target="/ppt/notesMasters/notesMaster1.xml" Id="Rb56a05e112b249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one governed path from intent to a board action. The visual is conceptual, not hardware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 and submission/en/PROJECT_SPECIFICATION.md.</a:t>
            </a:r>
          </a:p>
          <a:p xmlns:a="http://schemas.openxmlformats.org/drawingml/2006/main">
            <a:r>
              <a:t>- Project-created AI-generated asset: submission/en/assets/rdk-agent-hero.png.</a:t>
            </a:r>
          </a:p>
          <a:p xmlns:a="http://schemas.openxmlformats.org/drawingml/2006/main">
            <a:r>
              <a:t>- Official Track 2 requirements: https://github.com/AMD-DEV-CONTEST/Radeon-hackathon-2026-07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a naming explanation, then return immediately to the Track 2 product and evidence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naming rationale in this task.</a:t>
            </a:r>
          </a:p>
          <a:p xmlns:a="http://schemas.openxmlformats.org/drawingml/2006/main">
            <a:r>
              <a:t>- Project-created AI-generated asset: submission/en/assets/sophon-three-body-concept.png.</a:t>
            </a:r>
          </a:p>
          <a:p xmlns:a="http://schemas.openxmlformats.org/drawingml/2006/main">
            <a:r>
              <a:t>- Project disclaimer: submission/en/PROJECT_SPECIFICATION.md, section 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reproducibility and authority, not simply code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specification: submission/en/PROJECT_SPECIFICATION.md, sections 1 and 3.</a:t>
            </a:r>
          </a:p>
          <a:p xmlns:a="http://schemas.openxmlformats.org/drawingml/2006/main">
            <a:r>
              <a:t>- Workflow implementation: rdk-agent/config/agents.yaml.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separation between model reasoning, deterministic delivery, the device contract and physical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architecture source: submission/en/assets/architecture.svg.</a:t>
            </a:r>
          </a:p>
          <a:p xmlns:a="http://schemas.openxmlformats.org/drawingml/2006/main">
            <a:r>
              <a:t>- Detailed specification: submission/en/PROJECT_SPECIFICATION.md, section 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red loop is the only revision loop and is capped at three iterations. Every downstream node requires a successful predecessor.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workflow source: submission/en/assets/workflow.svg.</a:t>
            </a:r>
          </a:p>
          <a:p xmlns:a="http://schemas.openxmlformats.org/drawingml/2006/main">
            <a:r>
              <a:t>- Workflow configuration: rdk-agent/config/agents.yaml.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agent/tool-layer permission control. Do not imply end-to-end transport security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 design: submission/en/PROJECT_SPECIFICATION.md, sections 6-7 and 12.</a:t>
            </a:r>
          </a:p>
          <a:p xmlns:a="http://schemas.openxmlformats.org/drawingml/2006/main">
            <a:r>
              <a:t>- Verification tests: rdk-agent/test/security-hardening.test.ts and related suites.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disclosed formatting follow-up: cargo fmt --all -- --check reports existing differences, so the deck does not call the full formatting state green.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log: submission/en/evidence/verification-2026-08-05.md.</a:t>
            </a:r>
          </a:p>
          <a:p xmlns:a="http://schemas.openxmlformats.org/drawingml/2006/main">
            <a:r>
              <a:t>- Evidence visual source: submission/en/assets/test-evidence.svg.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proves board reachability, live collectors and dynamic plugin discovery. It does not prove physical motion or AMD inference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log: submission/en/evidence/verification-2026-08-05.md.</a:t>
            </a:r>
          </a:p>
          <a:p xmlns:a="http://schemas.openxmlformats.org/drawingml/2006/main">
            <a:r>
              <a:t>- Evidence visual source: submission/en/assets/board-evidence.svg.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models ran. Keep the evidence scopes distinct: the 80B figures come from the archived llama.cpp case; the 32B SFT screenshot proves the live Agent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Sanitized config: submission/en/config/pi-models.amd-rocm.example.json.</a:t>
            </a:r>
          </a:p>
          <a:p xmlns:a="http://schemas.openxmlformats.org/drawingml/2006/main">
            <a:r>
              <a:t>- AMD evidence plan: submission/en/AMD_RADEON_ROCM.md.</a:t>
            </a:r>
          </a:p>
          <a:p xmlns:a="http://schemas.openxmlformats.org/drawingml/2006/main">
            <a:r>
              <a:t>- Current evidence boundary: submission/en/evidence/verification-2026-08-05.md.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paths have measured baseline-versus-optimized results. Do not compare their absolute speeds because model sizes, servers and protocols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 script: submission/en/scripts/benchmark-openai-compatible.mjs.</a:t>
            </a:r>
          </a:p>
          <a:p xmlns:a="http://schemas.openxmlformats.org/drawingml/2006/main">
            <a:r>
              <a:t>- Optimization plan: submission/en/AMD_RADEON_ROCM.md.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total duration between three and five minutes. The AMD segment should show the participant-controlled Radeon/ROCm/vLLM runtime, not only the RDK 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Video shot list: submission/en/VIDEO.md.</a:t>
            </a:r>
          </a:p>
          <a:p xmlns:a="http://schemas.openxmlformats.org/drawingml/2006/main">
            <a:r>
              <a:t>- Official Track 2 requirement: https://github.com/AMD-DEV-CONTEST/Radeon-hackathon-2026-07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promise and naming the only remaining owner actions. Do not end with a generic thank-you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 checklist: submission/en/SUBMISSION_CHECKLIST.md.</a:t>
            </a:r>
          </a:p>
          <a:p xmlns:a="http://schemas.openxmlformats.org/drawingml/2006/main">
            <a:r>
              <a:t>- PR draft: submission/en/PR_DESCRIPTION.md.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25b8a8d264f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4cf1168304b90" /><Relationship Type="http://schemas.openxmlformats.org/officeDocument/2006/relationships/slideLayout" Target="/ppt/slideLayouts/slideLayout1.xml" Id="R6459b91c9578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9b91c9578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8059d6dd842e0" /><Relationship Type="http://schemas.openxmlformats.org/officeDocument/2006/relationships/image" Target="/ppt/media/image.png" Id="Ra141807c53fb4020" /><Relationship Type="http://schemas.openxmlformats.org/officeDocument/2006/relationships/notesSlide" Target="/ppt/notesSlides/notesSlide1.xml" Id="R7e9784d14306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5293eafc34edb" /><Relationship Type="http://schemas.openxmlformats.org/officeDocument/2006/relationships/image" Target="/ppt/media/image2.png" Id="R0f328260bbc94e63" /><Relationship Type="http://schemas.openxmlformats.org/officeDocument/2006/relationships/notesSlide" Target="/ppt/notesSlides/notesSlide2.xml" Id="R6b6105ad234d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a60a3dd624d53" /><Relationship Type="http://schemas.openxmlformats.org/officeDocument/2006/relationships/notesSlide" Target="/ppt/notesSlides/notesSlide3.xml" Id="R80c42ca67ee749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c4484ba244597" /><Relationship Type="http://schemas.openxmlformats.org/officeDocument/2006/relationships/image" Target="/ppt/media/image3.png" Id="R7c61e83e7bb74718" /><Relationship Type="http://schemas.openxmlformats.org/officeDocument/2006/relationships/notesSlide" Target="/ppt/notesSlides/notesSlide4.xml" Id="Rf0492458be1f48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6718334734fc0" /><Relationship Type="http://schemas.openxmlformats.org/officeDocument/2006/relationships/image" Target="/ppt/media/image4.png" Id="Rb42fb5a4468f42df" /><Relationship Type="http://schemas.openxmlformats.org/officeDocument/2006/relationships/notesSlide" Target="/ppt/notesSlides/notesSlide5.xml" Id="R21ef90fb6dc148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8f49cfcba4f2a" /><Relationship Type="http://schemas.openxmlformats.org/officeDocument/2006/relationships/notesSlide" Target="/ppt/notesSlides/notesSlide6.xml" Id="R66253227f19e42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0127a5ff548f8" /><Relationship Type="http://schemas.openxmlformats.org/officeDocument/2006/relationships/image" Target="/ppt/media/image5.png" Id="R31c4302346124835" /><Relationship Type="http://schemas.openxmlformats.org/officeDocument/2006/relationships/notesSlide" Target="/ppt/notesSlides/notesSlide7.xml" Id="R80c900b3d26843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cc6546a9e4dfa" /><Relationship Type="http://schemas.openxmlformats.org/officeDocument/2006/relationships/image" Target="/ppt/media/image6.png" Id="R97fdb26e5d95401b" /><Relationship Type="http://schemas.openxmlformats.org/officeDocument/2006/relationships/notesSlide" Target="/ppt/notesSlides/notesSlide8.xml" Id="R719d7f03db8b49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2e396f97545cb" /><Relationship Type="http://schemas.openxmlformats.org/officeDocument/2006/relationships/notesSlide" Target="/ppt/notesSlides/notesSlide9.xml" Id="Rd934b5f7322243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92672471b42ff" /><Relationship Type="http://schemas.openxmlformats.org/officeDocument/2006/relationships/notesSlide" Target="/ppt/notesSlides/notesSlide10.xml" Id="R2abffaa47fe646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507158b8b4f3b" /><Relationship Type="http://schemas.openxmlformats.org/officeDocument/2006/relationships/notesSlide" Target="/ppt/notesSlides/notesSlide11.xml" Id="Rc893ce5d0e4842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332c160124e04" /><Relationship Type="http://schemas.openxmlformats.org/officeDocument/2006/relationships/notesSlide" Target="/ppt/notesSlides/notesSlide12.xml" Id="R3d014132eae04e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561E8-F878-4CD3-ADAC-1B58D320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3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1807c53fb4020"/>
          <a:srcRect xmlns:a="http://schemas.openxmlformats.org/drawingml/2006/main" l="23111" t="0" r="23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0"/>
            <a:ext cx="65532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8C27C-D9D4-4320-9CE9-8D0C4DD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D99FF-292D-4443-93FD-0B000AD7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571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01F0A-7262-4649-A0A7-DAB9F0E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TRACK 2 | AI AGENT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9324F-95B1-4081-A5E7-7813EC18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RDK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09C0F-7239-409D-A9C6-50775662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Natural-language intent becomes a verified action on an RDK 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842BA-5105-42DF-A51B-FA4A16FF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910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FEB5F-A9D9-4B06-A739-A6173F7A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4D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4DAE3"/>
                </a:solidFill>
                <a:latin typeface="Helvetica Neue"/>
                <a:ea typeface="Helvetica Neue"/>
                <a:cs typeface="Helvetica Neue"/>
              </a:rPr>
              <a:t>PRIVATE RADEON TARGET  /  TOOL CALLING  /  MULTI-STEP PLANNING  /  BOUNDED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FD5A8-B67A-49E3-8FC4-C7019F4A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EB6C2"/>
                </a:solidFill>
                <a:latin typeface="Helvetica Neue"/>
                <a:ea typeface="Helvetica Neue"/>
                <a:cs typeface="Helvetica Neue"/>
              </a:rPr>
              <a:t>d-robotics agent</a:t>
            </a:r>
          </a:p>
        </p:txBody>
      </p:sp>
    </p:spTree>
    <p:extLst>
      <p:ext uri="{BB962C8B-B14F-4D97-AF65-F5344CB8AC3E}">
        <p14:creationId xmlns:p14="http://schemas.microsoft.com/office/powerpoint/2010/main" val="1401594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5BCBC-7AF2-41B4-B9F5-A6352206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9251E-454B-4339-ADC4-BFECE11F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NAMING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36462-A1F5-4815-8790-FCC3ED15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Sophon becomes a transparent device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52D12-A309-4BB7-98BB-17F7B94F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A memorable literary idea maps to an owner-controlled board-side subsystem.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B411C-5BA7-4078-80D8-701043AE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D6024-EAE4-49EB-A7F5-4E0D1F44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11B2E-4129-4334-A50B-3323863D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FICTIONAL METAPHOR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B5C6A-AA07-43B4-8B0B-4BF2F774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 messenger is sent toward Earth to observe and communicate.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0D097-B34C-413F-986F-E6C6DD1E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51873-7351-4CAA-A1FF-DE29E030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RDK-SOPHON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C4C56-C1E4-4BD9-BFC3-E8DF675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probe-daemon lives on the board, observes telemetry and exposes governed actions to rdk-agent.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408C1-499A-4880-A1D9-AEEC9149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88ADC-DE0D-4595-A9EB-54DFA3E3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The crucial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61EEB-9B9E-4E69-8325-CE14F53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Transparent, auditable, reversible and deployed by the device owner - never covert surveillance.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EB778-1B09-4D0E-AFB3-9B914A1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76425"/>
            <a:ext cx="5943600" cy="4162425"/>
          </a:xfrm>
          <a:prstGeom xmlns:a="http://schemas.openxmlformats.org/drawingml/2006/main" prst="roundRect">
            <a:avLst>
              <a:gd name="adj" fmla="val 18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28260bbc94e63"/>
          <a:srcRect xmlns:a="http://schemas.openxmlformats.org/drawingml/2006/main" l="9763" t="0" r="9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885950"/>
            <a:ext cx="5924550" cy="4143375"/>
          </a:xfrm>
          <a:prstGeom xmlns:a="http://schemas.openxmlformats.org/drawingml/2006/main" prst="roundRect">
            <a:avLst>
              <a:gd name="adj" fmla="val 183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31C8C-AE98-4715-90CA-AEB6CF14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115050"/>
            <a:ext cx="592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Project-created AI image; no official novel or adaptation assets are used. rdk-sophon is a board-side subsystem name, not an AI accelerator brand.</a:t>
            </a:r>
          </a:p>
        </p:txBody>
      </p:sp>
    </p:spTree>
    <p:extLst>
      <p:ext uri="{BB962C8B-B14F-4D97-AF65-F5344CB8AC3E}">
        <p14:creationId xmlns:p14="http://schemas.microsoft.com/office/powerpoint/2010/main" val="242250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56DF5-E24F-47B6-BAB3-E0C7CA0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39E19-BA8F-47E1-8287-23ECD1D3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D8C9F-4794-4658-B798-5099B42F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One request crosses five fragile handoffs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72F8-F11C-43EA-8626-7456BA6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A small behavior must survive intent, code, evidence, deployment and physical acceptance.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0CA8A-D7C0-4051-A8D8-0A0B581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586A0-8A7A-442B-9D65-EF45B5AF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819AD-0454-4974-BEC0-AC43EB4C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F218A-E6C6-4DFA-91C3-A5789AC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Intent drifts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A9515-D2BC-411F-ADE6-65CB81CB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Natural language can lose left/right direction, scope or the expected device contract.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5FC21-AE58-4C1C-8C8C-1C0D75C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F6A88-0045-4AC8-8B43-A36FD05D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091F4-6608-40C8-AEE9-19F0299B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Code can overclaim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9D5DD-FC66-4625-B0FE-A2B9B4AE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766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A model can say 'passed' without running an executable check or preserving the requested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FD057-DE12-4094-8051-FF2B442D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C0BFF-35E1-47CF-8D6B-F5BC1505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45660-867D-4187-A46A-7247629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Deployment breaks 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AA73F-4075-4554-82B9-FD29FDE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766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A valid file is not yet a deterministic package, atomic release, installed Skill or verified board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6EDCA-1883-416E-9BE8-848CDC84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A748E-2E43-41AC-8252-A357B094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RDK Agent turns those handoffs into one governed path with bounded retries and executable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53308-2D5A-45CE-B74F-E064D2C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491F1-70C2-4067-B186-7E001B41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Agent Hackathon | Track 2</a:t>
            </a:r>
          </a:p>
        </p:txBody>
      </p:sp>
    </p:spTree>
    <p:extLst>
      <p:ext uri="{BB962C8B-B14F-4D97-AF65-F5344CB8AC3E}">
        <p14:creationId xmlns:p14="http://schemas.microsoft.com/office/powerpoint/2010/main" val="181543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4F013-38D7-4FAA-A43E-CB8119CA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A227-859D-4274-A4F5-911BBF36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90991-3ABA-4EB7-A5D4-F0507BB6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Reasoning stays private; board authority stays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DB54C-3A24-42FF-A8FE-EC3D1EFB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The host orchestrates, the target Radeon endpoint serves the model, and rdk-sophon owns the device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A4C9C-90F4-4B31-9F84-C20C9E5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1e83e7bb74718"/>
          <a:stretch xmlns:a="http://schemas.openxmlformats.org/drawingml/2006/main"/>
        </p:blipFill>
        <p:spPr>
          <a:xfrm xmlns:a="http://schemas.openxmlformats.org/drawingml/2006/main">
            <a:off x="2082800" y="1943100"/>
            <a:ext cx="80264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5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EAD4C-8F20-4669-AE10-CFA79779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99A68-020B-4D62-87B9-C3D028EB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7DF44-C950-4C75-A237-8DC54C96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Five nodes make delivery repeatable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FBCC9-95D1-4FEE-A6F0-164DF16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One bounded Action Package TDD loop is followed by four deterministic delivery and acceptance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1A9F6-7A6A-44E4-B705-D78A8615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fb5a4468f42df"/>
          <a:stretch xmlns:a="http://schemas.openxmlformats.org/drawingml/2006/main"/>
        </p:blipFill>
        <p:spPr>
          <a:xfrm xmlns:a="http://schemas.openxmlformats.org/drawingml/2006/main">
            <a:off x="2082800" y="1981200"/>
            <a:ext cx="80264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13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86EC9-424D-4707-ACD5-CF75D39A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83603-9405-4E54-A40E-1070B08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SAFETY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03C61-A29F-40D9-B669-8FE2C832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Controls below the prompt keep authority bounded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83679-2991-4AE6-948B-4D1EE58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The model can propose; software-enforced scope, policy and evidence decide what can progress.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64C52-EA37-4487-A7D3-6F6BF01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E6C8B-30F0-4C47-9AD2-33C2530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2BDCA-0CA6-4CAF-A133-1D069A5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776F8-E024-4B82-ABEB-10E40EC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A29B7-8779-4FB9-8807-E4D43FC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4787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Agent-specific tool, Skill and write-path allowlists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2B4FF-46BB-42A9-B857-776307FD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0987B-9CEE-44E4-8F69-11335BB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SANDBOX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D877-8D11-47CA-A906-74DCBB5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8130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2A48C-5465-450C-9BF0-2006114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9082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Offline, read-only Podman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D760E-E5EB-4321-AF91-BBC9A538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6076D-AF3A-4381-99F6-BCA81A89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76FA5-49FD-4691-8007-DFD35DE0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2425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70AF3-3FAB-4CBA-8EB2-44196A5A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ACTION-DIRECTION-001 blocks opposite-side 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EA7B7-41B0-4865-BFBE-AD4FE8B3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87A95-D844-41F4-A14F-73432F7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67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DC5FB-077A-4B8D-B67C-B88480F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6720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24AF3-186F-49D6-B997-C4BA92FF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7672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Executable checks gate package progression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5A1FA-1470-4441-8B66-26B6BC65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75DA9-AF45-4C41-87AC-0237654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93B5B-6734-4D63-9E2C-4CC5EFA6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10150"/>
            <a:ext cx="965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EF47C-7CEB-4F5F-858E-58BCA06C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9675"/>
            <a:ext cx="920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probe-daemon exposes only registered plugins and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D1E37-C58C-4C0F-8B61-A0215313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BEE3B-9B1E-4AD1-82CF-166EABCD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89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Boundary: transport authentication and routine per-action human approval remain roadmap items.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B6EFCA-08E2-4DC3-9C3E-B39CACC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2CD713-0B24-44C2-AD92-E62AF5BB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Agent Hackathon | Track 2</a:t>
            </a:r>
          </a:p>
        </p:txBody>
      </p:sp>
    </p:spTree>
    <p:extLst>
      <p:ext uri="{BB962C8B-B14F-4D97-AF65-F5344CB8AC3E}">
        <p14:creationId xmlns:p14="http://schemas.microsoft.com/office/powerpoint/2010/main" val="19527100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D5BAB-CB55-47B7-B5D7-7CD1626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9077C-686B-4C91-8D62-E7362C2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REPOSITORY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93A09-0965-49C2-842B-D1C4A8D8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196 tests pass across both workspaces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C3B54-30BC-4E2C-9E10-276D44B9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Fresh verification: 134 TypeScript tests and 62 Rust tests, plus Clippy and a release build.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7C1A9-D876-447A-A6DD-70E3985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4302346124835"/>
          <a:stretch xmlns:a="http://schemas.openxmlformats.org/drawingml/2006/main"/>
        </p:blipFill>
        <p:spPr>
          <a:xfrm xmlns:a="http://schemas.openxmlformats.org/drawingml/2006/main">
            <a:off x="1714500" y="1907381"/>
            <a:ext cx="8763000" cy="4929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90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7E5A8-C3C4-4220-AC9D-5E9A256B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C852F-6973-43A8-87F5-35DD75A3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DEVICE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CBA3-9BD7-4F82-AB9A-3A44130B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 live RDK X5 answers through the board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0B575-F989-4C0D-B2A1-CD25951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Read-only ping, state and plugin discovery succeeded; sensitive identifiers were removed.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C108-06B5-49AA-A3B4-5C36D06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db26e5d95401b"/>
          <a:stretch xmlns:a="http://schemas.openxmlformats.org/drawingml/2006/main"/>
        </p:blipFill>
        <p:spPr>
          <a:xfrm xmlns:a="http://schemas.openxmlformats.org/drawingml/2006/main">
            <a:off x="1714500" y="1907381"/>
            <a:ext cx="8763000" cy="4929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05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73EF8-2D0B-4FA6-A370-6CC85C0C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40EFD-702D-40A5-B1FD-E2B143BD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AMD RADEON + ROCM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70472-BC94-4416-906D-E3234204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Both Qwen3 model paths ran successfully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6681B-F2E3-4514-B0C2-CA6FCF1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80B single-GPU serving and the trained 32B SFT live Agent workflow are evidenced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78E08-E6E8-41BB-B59C-8546D8F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318D6-66A3-41AE-B2EB-52C304D3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686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7CC8E-1342-40E6-9A31-72DF3201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58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E27FC-B534-43BC-ABB5-AAB24B95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BOTH MODELS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F15D3-DC76-4BDB-9840-9CB3E7D1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Qwen3-Next-80B-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A3B-Instruct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000A3-E458-484B-9E84-0BEE8929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Provider  amd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API       OpenAI-compatible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Context   131,072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EE8"/>
                </a:solidFill>
                <a:latin typeface="Helvetica Neue"/>
                <a:ea typeface="Helvetica Neue"/>
                <a:cs typeface="Helvetica Neue"/>
              </a:rPr>
              <a:t>Max out   8,192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5EC0B-C6BD-44F0-9953-73FA47C4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2DDAD-A936-4B1A-BDE9-C033CA81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RDK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7B3DA-318D-42F5-8507-A5F714A8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28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3F3DF-59B6-4E4B-B218-B3FA95B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152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4767F-CECA-4424-B837-73314652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973D-A321-4F05-AAD0-AB2E2DF7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OpenAI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3E812-6C22-42DF-A156-2684BBA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0D0BD-B76F-49B7-B653-7203EF6B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52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9FA45-E6E4-428C-BC64-EDCECE8B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3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82E4F-504E-431E-A2E9-0266606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vLLM + ROCm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B820D-3969-4D4F-AA29-6BB03E4A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5810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7FA94-A4AA-47A7-9F53-18B537B1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6A"/>
                </a:solidFill>
                <a:latin typeface="Helvetica Neue"/>
                <a:ea typeface="Helvetica Neue"/>
                <a:cs typeface="Helvetica Neue"/>
              </a:rPr>
              <a:t>Archived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58D3E-6BB0-4DC4-A2C7-7CB4A07C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80B: single-Radeon llama.cpp metrics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32B SFT: 5/5 live Agent nodes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Private vLLM provenance remains separate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A4198-710A-445C-AF0E-504CA4E8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98DF7-4620-44F6-A17F-E97714D4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Agent Hackathon | Track 2</a:t>
            </a:r>
          </a:p>
        </p:txBody>
      </p:sp>
    </p:spTree>
    <p:extLst>
      <p:ext uri="{BB962C8B-B14F-4D97-AF65-F5344CB8AC3E}">
        <p14:creationId xmlns:p14="http://schemas.microsoft.com/office/powerpoint/2010/main" val="11386941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2990E-CDE5-4B88-BD6D-0673E2F2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9A002-EBDA-4006-96D6-F17B99B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2EDF2-6D15-476C-802C-5ABCE042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Measured gains on two Radeon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3D140-8841-4704-98AE-2ED57DD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32B SFT improves user-visible TTFT; 80B single-GPU serving improves decode throughput.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4BAEB-1123-42EF-B51D-08C6CA41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9CF1F-927E-4C99-96BD-BF3A0CDD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2766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2163D-B4A9-44CE-A3BC-1CD69DC6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32B TTFT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9BBEA-00B5-4F1D-A534-22D955FD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17.41 -&gt; 8.26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1C743-73C7-4567-9A7B-312A4EE4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p50, 88 trials per arm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1C2AE-57D0-4C6E-B430-43B47C2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32766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C19B9-2CEA-4D0A-AC7C-B5961F3D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80B TOK/S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8539D-ACFC-453F-B9A8-DA94D95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37.19 -&gt; 49.82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42978-121D-4992-AEBB-043F072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48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decode, five measured runs per 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0FBF0-C53A-4D3F-8E2D-FDEE83CC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2766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37615-3051-4F63-AF49-6808CD4C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AGENT 5/5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71BD1-A6AD-44A9-879D-5E093572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4:04 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70CF6-A270-44BA-8018-857F0421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48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32B SFT workflow on RDK X5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EC014-0243-474E-9B24-8AB9C6B7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27A26-AF9E-441B-AC71-BD5119F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rPr>
              <a:t>Evidence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46F09-04F6-45FF-836F-6C6ADA0E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625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32B and 80B runs keep separate runtimes, protocols and archived measurements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30C1B-2BEF-470D-90E0-082137C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B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9B92"/>
                </a:solidFill>
                <a:latin typeface="Helvetica Neue"/>
                <a:ea typeface="Helvetica Neue"/>
                <a:cs typeface="Helvetica Neue"/>
              </a:rPr>
              <a:t>NO CROSS-RUNTIME SPEED CLAIM; PRIVATE VLLM PROVENANCE REMAINS SEPARATE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D2125-3D6F-4CC7-A632-C40CA763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E6103-6EBB-4F6B-A25E-1FC9BDE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Agent Hackathon | Track 2</a:t>
            </a:r>
          </a:p>
        </p:txBody>
      </p:sp>
    </p:spTree>
    <p:extLst>
      <p:ext uri="{BB962C8B-B14F-4D97-AF65-F5344CB8AC3E}">
        <p14:creationId xmlns:p14="http://schemas.microsoft.com/office/powerpoint/2010/main" val="1150546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C3286-3B18-498F-90FC-A2E12F62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6E34C-3AE6-4333-9DC1-A401C05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4CF08-B1FB-4B44-9A1A-73EA87DC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video proves the entire closed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551EF-D4F5-4FED-8652-76C599E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The 3:07 public recording is available from two independent links.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2D6ED-35D2-44E2-92D8-BA6F0426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F6993-757A-4074-8F14-67ED73B6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8257E-8E9C-4184-9450-39740A4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rPr>
              <a:t>PUBLIC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538C8-7111-4E54-926A-6226CFDE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95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Bilibili BV1t3up6iEhy  |  Baidu Cloud backup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25E1E-9EBF-47E8-9D7A-6D62B5AE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3F92C-5FD6-401C-BA5C-9F640512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2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67E32-C0CA-4B1E-A67A-FA00BB9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0:00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DFDED-0F35-4351-A436-51D7BABD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Intent +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D533F-62D1-4CC9-A40A-C462DAC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Show the request, semantic gate and bounded TDD progress.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674EE-9EAE-4161-BBE1-6A59AF0A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F5B81-56FC-40BD-9B64-7BFD9F28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1:15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28A92-6A22-457F-9155-183961F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Build + 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17E76-D7D8-4502-9B76-8D5BB3A5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Show executable checks, package validation, release and Skill installation.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D6146-416A-4D7A-8EA2-53EF2B26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62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0EA38-18F4-4AA0-8B7A-DDDB2510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2:45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E1EC6-25B8-43D2-A1B9-DE4EA9E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Accept + 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ABC82-2B5B-44C3-991F-EC5673C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Show CLI/NL acceptance, the board result and redacted Radeon/ROCm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FF526-D965-48F8-9DFE-4A40ECF1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409C0-8B00-4951-A314-5985D138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7DF6"/>
                </a:solidFill>
                <a:latin typeface="Helvetica Neue"/>
                <a:ea typeface="Helvetica Neue"/>
                <a:cs typeface="Helvetica Neue"/>
              </a:rPr>
              <a:t>Privacy check: blur keys, private URLs, emails, MAC addresses and unnecessary internal IPs.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7D966-60D6-4B17-A5EF-C0DD479E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3EB59-213A-4DF0-A445-B83E0403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Agent Hackathon | Track 2</a:t>
            </a:r>
          </a:p>
        </p:txBody>
      </p:sp>
    </p:spTree>
    <p:extLst>
      <p:ext uri="{BB962C8B-B14F-4D97-AF65-F5344CB8AC3E}">
        <p14:creationId xmlns:p14="http://schemas.microsoft.com/office/powerpoint/2010/main" val="15064872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FD9E0-EF9F-4552-9908-A52AFA70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2190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C0DAD-7DFB-412F-903D-E115903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TRACK 2 | SUBMISSION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E9D7C-B178-4906-A309-E87CC331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9715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One governed path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from intent to a board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22B5E-DB5F-4554-9B8A-2C17E63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CD21C-4F07-411A-84FA-5C1806C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Private reasoning. Deterministic delivery. Live board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981F8-C9D5-4B14-B7F1-EA4A77EB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064B0-1E5D-4800-8F95-AFAB21D6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Team: d-robotics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FCBCB-43BC-415C-97E7-ECCE46D8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7B743-D3C0-4E79-AD82-11C05597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Public video: primary + backup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F8E66-F694-4CB8-AB7D-55AF7603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7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42EF9-2BA2-4E26-B48C-2861DA59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32B SFT + 80B Radeon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30A51-15A8-45DA-96F4-F3562041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67250"/>
            <a:ext cx="4267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6B0D2-315A-4297-8B6B-10A193CE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9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D5E5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4E89-B652-4B59-A371-A3DC9408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578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the final integrity review, then open the official Track 2 pull request.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8F636-1471-4F23-BBC1-F81BDD91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08106-537B-471F-8AD3-2185424C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B78"/>
                </a:solidFill>
                <a:latin typeface="Helvetica Neue"/>
                <a:ea typeface="Helvetica Neue"/>
                <a:cs typeface="Helvetica Neue"/>
              </a:rPr>
              <a:t>RDK Agent | AMD Radeon AI Agent Hackathon | Track 2</a:t>
            </a:r>
          </a:p>
        </p:txBody>
      </p:sp>
    </p:spTree>
    <p:extLst>
      <p:ext uri="{BB962C8B-B14F-4D97-AF65-F5344CB8AC3E}">
        <p14:creationId xmlns:p14="http://schemas.microsoft.com/office/powerpoint/2010/main" val="119200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2026-08-06T14:52:51.2300000Z</dcterms:created>
  <dcterms:modified xsi:type="dcterms:W3CDTF">2026-08-06T14:52:51.2300000Z</dcterms:modified>
</coreProperties>
</file>