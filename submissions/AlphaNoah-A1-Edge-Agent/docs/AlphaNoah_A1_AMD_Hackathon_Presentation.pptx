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1c13df39b64806" /><Relationship Type="http://schemas.openxmlformats.org/officeDocument/2006/relationships/extended-properties" Target="/docProps/app.xml" Id="Rdc1b3b181f404ff8" /><Relationship Type="http://schemas.openxmlformats.org/officeDocument/2006/relationships/officeDocument" Target="/ppt/presentation.xml" Id="R8a51ef9a6acd4a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64e16ca3644acf"/>
  </p:sldMasterIdLst>
  <p:notesMasterIdLst>
    <p:notesMasterId xmlns:r="http://schemas.openxmlformats.org/officeDocument/2006/relationships" r:id="R8f6119df1f9944e9"/>
  </p:notesMasterIdLst>
  <p:sldIdLst>
    <p:sldId xmlns:r="http://schemas.openxmlformats.org/officeDocument/2006/relationships" id="256" r:id="R99c6b9bb98514573"/>
    <p:sldId xmlns:r="http://schemas.openxmlformats.org/officeDocument/2006/relationships" id="257" r:id="R5ceda249ddf34ae4"/>
    <p:sldId xmlns:r="http://schemas.openxmlformats.org/officeDocument/2006/relationships" id="258" r:id="R73a302e707854daf"/>
    <p:sldId xmlns:r="http://schemas.openxmlformats.org/officeDocument/2006/relationships" id="259" r:id="Ra9b86ec8df264188"/>
    <p:sldId xmlns:r="http://schemas.openxmlformats.org/officeDocument/2006/relationships" id="260" r:id="R74b669de211d483f"/>
    <p:sldId xmlns:r="http://schemas.openxmlformats.org/officeDocument/2006/relationships" id="261" r:id="Re2267be544584219"/>
    <p:sldId xmlns:r="http://schemas.openxmlformats.org/officeDocument/2006/relationships" id="262" r:id="R4a3aef3819564cd8"/>
    <p:sldId xmlns:r="http://schemas.openxmlformats.org/officeDocument/2006/relationships" id="263" r:id="R73ce605427174a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6339f9752546b6" /><Relationship Type="http://schemas.openxmlformats.org/officeDocument/2006/relationships/slideMaster" Target="/ppt/slideMasters/slideMaster1.xml" Id="R0664e16ca3644acf" /><Relationship Type="http://schemas.openxmlformats.org/officeDocument/2006/relationships/notesMaster" Target="/ppt/notesMasters/notesMaster1.xml" Id="R8f6119df1f9944e9" /><Relationship Type="http://schemas.openxmlformats.org/officeDocument/2006/relationships/presProps" Target="/ppt/presProps.xml" Id="R88b63c2a4f3d4c9e" /><Relationship Type="http://schemas.openxmlformats.org/officeDocument/2006/relationships/viewProps" Target="/ppt/viewProps.xml" Id="R9f60d490b4e247fa" /><Relationship Type="http://schemas.openxmlformats.org/officeDocument/2006/relationships/tableStyles" Target="/ppt/tableStyles.xml" Id="Rbe3dcd5fb9174392" /><Relationship Type="http://schemas.openxmlformats.org/officeDocument/2006/relationships/slide" Target="/ppt/slides/slide1.xml" Id="R99c6b9bb98514573" /><Relationship Type="http://schemas.openxmlformats.org/officeDocument/2006/relationships/slide" Target="/ppt/slides/slide2.xml" Id="R5ceda249ddf34ae4" /><Relationship Type="http://schemas.openxmlformats.org/officeDocument/2006/relationships/slide" Target="/ppt/slides/slide3.xml" Id="R73a302e707854daf" /><Relationship Type="http://schemas.openxmlformats.org/officeDocument/2006/relationships/slide" Target="/ppt/slides/slide4.xml" Id="Ra9b86ec8df264188" /><Relationship Type="http://schemas.openxmlformats.org/officeDocument/2006/relationships/slide" Target="/ppt/slides/slide5.xml" Id="R74b669de211d483f" /><Relationship Type="http://schemas.openxmlformats.org/officeDocument/2006/relationships/slide" Target="/ppt/slides/slide6.xml" Id="Re2267be544584219" /><Relationship Type="http://schemas.openxmlformats.org/officeDocument/2006/relationships/slide" Target="/ppt/slides/slide7.xml" Id="R4a3aef3819564cd8" /><Relationship Type="http://schemas.openxmlformats.org/officeDocument/2006/relationships/slide" Target="/ppt/slides/slide8.xml" Id="R73ce605427174a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64152967f64c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4b173fb0bc4d8d" /><Relationship Type="http://schemas.openxmlformats.org/officeDocument/2006/relationships/notesMaster" Target="/ppt/notesMasters/notesMaster1.xml" Id="Rd95bc06ff41f4e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2c35dc733b46e5" /><Relationship Type="http://schemas.openxmlformats.org/officeDocument/2006/relationships/notesMaster" Target="/ppt/notesMasters/notesMaster1.xml" Id="R90c7d8af12bb4c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052539b74a4fd6" /><Relationship Type="http://schemas.openxmlformats.org/officeDocument/2006/relationships/notesMaster" Target="/ppt/notesMasters/notesMaster1.xml" Id="R410fdf82fe1a40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22b483be384d59" /><Relationship Type="http://schemas.openxmlformats.org/officeDocument/2006/relationships/notesMaster" Target="/ppt/notesMasters/notesMaster1.xml" Id="R25ba94dc7bc441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3e25e01ae345b6" /><Relationship Type="http://schemas.openxmlformats.org/officeDocument/2006/relationships/notesMaster" Target="/ppt/notesMasters/notesMaster1.xml" Id="Raf6d8748b23b49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6da34b5851449d" /><Relationship Type="http://schemas.openxmlformats.org/officeDocument/2006/relationships/notesMaster" Target="/ppt/notesMasters/notesMaster1.xml" Id="R6005e6c1733e4b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2a5e6b6b034193" /><Relationship Type="http://schemas.openxmlformats.org/officeDocument/2006/relationships/notesMaster" Target="/ppt/notesMasters/notesMaster1.xml" Id="R1ea6832e1a954e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bf9aa5a5f44922" /><Relationship Type="http://schemas.openxmlformats.org/officeDocument/2006/relationships/notesMaster" Target="/ppt/notesMasters/notesMaster1.xml" Id="R9ca6fb62db3547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User-provided, confirmed AlphaNoah A1 Edge Agent deck brief, 2026-08-06.</a:t>
            </a:r>
          </a:p>
          <a:p xmlns:a="http://schemas.openxmlformats.org/drawingml/2006/main">
            <a:r>
              <a:t>- https://github.com/binc64358-rgb/AlphaNoah-A1-Edge-Agent-Public/blob/00b65c667a89ba9202d4fd1769f9d369c84aeba6/README.md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User-provided, confirmed AlphaNoah A1 Edge Agent deck brief, 2026-08-06.</a:t>
            </a:r>
          </a:p>
          <a:p xmlns:a="http://schemas.openxmlformats.org/drawingml/2006/main">
            <a:r>
              <a:t>- https://github.com/binc64358-rgb/AlphaNoah-A1-Edge-Agent-Public/blob/00b65c667a89ba9202d4fd1769f9d369c84aeba6/README.md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User-provided, confirmed AlphaNoah A1 Edge Agent deck brief, 2026-08-06.</a:t>
            </a:r>
          </a:p>
          <a:p xmlns:a="http://schemas.openxmlformats.org/drawingml/2006/main">
            <a:r>
              <a:t>- https://github.com/binc64358-rgb/AlphaNoah-A1-Edge-Agent-Public/blob/00b65c667a89ba9202d4fd1769f9d369c84aeba6/README.md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User-provided, confirmed AlphaNoah A1 Edge Agent deck brief, 2026-08-06.</a:t>
            </a:r>
          </a:p>
          <a:p xmlns:a="http://schemas.openxmlformats.org/drawingml/2006/main">
            <a:r>
              <a:t>- https://github.com/binc64358-rgb/AlphaNoah-A1-Edge-Agent-Public/blob/00b65c667a89ba9202d4fd1769f9d369c84aeba6/README.md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User-provided, confirmed AlphaNoah A1 Edge Agent deck brief, 2026-08-06.</a:t>
            </a:r>
          </a:p>
          <a:p xmlns:a="http://schemas.openxmlformats.org/drawingml/2006/main">
            <a:r>
              <a:t>- https://github.com/binc64358-rgb/AlphaNoah-A1-Edge-Agent-Public/blob/00b65c667a89ba9202d4fd1769f9d369c84aeba6/README.md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User-provided, confirmed AlphaNoah A1 Edge Agent deck brief, 2026-08-06.</a:t>
            </a:r>
          </a:p>
          <a:p xmlns:a="http://schemas.openxmlformats.org/drawingml/2006/main">
            <a:r>
              <a:t>- https://github.com/binc64358-rgb/AlphaNoah-A1-Edge-Agent-Public/blob/00b65c667a89ba9202d4fd1769f9d369c84aeba6/README.md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User-provided, confirmed AlphaNoah A1 Edge Agent deck brief, 2026-08-06.</a:t>
            </a:r>
          </a:p>
          <a:p xmlns:a="http://schemas.openxmlformats.org/drawingml/2006/main">
            <a:r>
              <a:t>- https://github.com/binc64358-rgb/AlphaNoah-A1-Edge-Agent-Public/blob/00b65c667a89ba9202d4fd1769f9d369c84aeba6/README.md</a:t>
            </a:r>
          </a:p>
          <a:p xmlns:a="http://schemas.openxmlformats.org/drawingml/2006/main">
            <a:r>
              <a:t>- https://github.com/binc64358-rgb/AlphaNoah-A1-Edge-Agent-Public/blob/8301346acdfaaa8e7632950303d4546e7108f3ad/docs/demo/OLLAMA_EVENT_ANALYSIS.md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User-provided, confirmed AlphaNoah A1 Edge Agent deck brief, 2026-08-06.</a:t>
            </a:r>
          </a:p>
          <a:p xmlns:a="http://schemas.openxmlformats.org/drawingml/2006/main">
            <a:r>
              <a:t>- https://github.com/binc64358-rgb/AlphaNoah-A1-Edge-Agent-Public/blob/00b65c667a89ba9202d4fd1769f9d369c84aeba6/README.md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bbf6fc0c44b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a50acca3814aca" /><Relationship Type="http://schemas.openxmlformats.org/officeDocument/2006/relationships/slideLayout" Target="/ppt/slideLayouts/slideLayout1.xml" Id="R126aadacad2140d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6aadacad2140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508ed86cf4f83" /><Relationship Type="http://schemas.openxmlformats.org/officeDocument/2006/relationships/notesSlide" Target="/ppt/notesSlides/notesSlide1.xml" Id="R11709173bc3542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50e4c192d47f8" /><Relationship Type="http://schemas.openxmlformats.org/officeDocument/2006/relationships/image" Target="/ppt/media/image.jpeg" Id="Rf4d93ebe1b064025" /><Relationship Type="http://schemas.openxmlformats.org/officeDocument/2006/relationships/notesSlide" Target="/ppt/notesSlides/notesSlide2.xml" Id="R1bfddbf8f9a64c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aa8dff6a1458c" /><Relationship Type="http://schemas.openxmlformats.org/officeDocument/2006/relationships/notesSlide" Target="/ppt/notesSlides/notesSlide3.xml" Id="R4e924152101040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ad839bab94311" /><Relationship Type="http://schemas.openxmlformats.org/officeDocument/2006/relationships/image" Target="/ppt/media/image.png" Id="R9a0ed0970d14482b" /><Relationship Type="http://schemas.openxmlformats.org/officeDocument/2006/relationships/notesSlide" Target="/ppt/notesSlides/notesSlide4.xml" Id="Rcc4a833af2224e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52348d4614ee3" /><Relationship Type="http://schemas.openxmlformats.org/officeDocument/2006/relationships/notesSlide" Target="/ppt/notesSlides/notesSlide5.xml" Id="R6f22f04bf9d748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96c4b55a44658" /><Relationship Type="http://schemas.openxmlformats.org/officeDocument/2006/relationships/image" Target="/ppt/media/image2.jpeg" Id="R128ed01fa7844c99" /><Relationship Type="http://schemas.openxmlformats.org/officeDocument/2006/relationships/notesSlide" Target="/ppt/notesSlides/notesSlide6.xml" Id="Rc2c11e9029494c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9ca0516004ab8" /><Relationship Type="http://schemas.openxmlformats.org/officeDocument/2006/relationships/image" Target="/ppt/media/image2.png" Id="Rbf5cd7bdca264964" /><Relationship Type="http://schemas.openxmlformats.org/officeDocument/2006/relationships/notesSlide" Target="/ppt/notesSlides/notesSlide7.xml" Id="Rb6c62702c6e244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0b6debf3a471e" /><Relationship Type="http://schemas.openxmlformats.org/officeDocument/2006/relationships/notesSlide" Target="/ppt/notesSlides/notesSlide8.xml" Id="R174ee08847a941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rid-v-780">
            <a:extLst xmlns:a="http://schemas.openxmlformats.org/drawingml/2006/main">
              <a:ext uri="{FF2B5EF4-FFF2-40B4-BE49-F238E27FC236}">
                <a16:creationId xmlns:a16="http://schemas.microsoft.com/office/drawing/2014/main" id="{48CC245C-902C-4C60-A1CF-3FA1836A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0550"/>
            <a:ext cx="0" cy="523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B353A"/>
            </a:solidFill>
            <a:prstDash val="solid"/>
          </a:ln>
        </p:spPr>
      </p:sp>
      <p:sp>
        <p:nvSpPr>
          <p:cNvPr id="2" name="grid-v-850">
            <a:extLst xmlns:a="http://schemas.openxmlformats.org/drawingml/2006/main">
              <a:ext uri="{FF2B5EF4-FFF2-40B4-BE49-F238E27FC236}">
                <a16:creationId xmlns:a16="http://schemas.microsoft.com/office/drawing/2014/main" id="{1A1DB95C-3823-46D0-B0B2-0B700C9E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0" cy="523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B353A"/>
            </a:solidFill>
            <a:prstDash val="solid"/>
          </a:ln>
        </p:spPr>
      </p:sp>
      <p:sp>
        <p:nvSpPr>
          <p:cNvPr id="3" name="grid-v-920">
            <a:extLst xmlns:a="http://schemas.openxmlformats.org/drawingml/2006/main">
              <a:ext uri="{FF2B5EF4-FFF2-40B4-BE49-F238E27FC236}">
                <a16:creationId xmlns:a16="http://schemas.microsoft.com/office/drawing/2014/main" id="{558D3CCC-B509-4005-87AC-814E7612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0550"/>
            <a:ext cx="0" cy="523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B353A"/>
            </a:solidFill>
            <a:prstDash val="solid"/>
          </a:ln>
        </p:spPr>
      </p:sp>
      <p:sp>
        <p:nvSpPr>
          <p:cNvPr id="4" name="grid-v-990">
            <a:extLst xmlns:a="http://schemas.openxmlformats.org/drawingml/2006/main">
              <a:ext uri="{FF2B5EF4-FFF2-40B4-BE49-F238E27FC236}">
                <a16:creationId xmlns:a16="http://schemas.microsoft.com/office/drawing/2014/main" id="{2E3862A0-5674-402D-97AB-DA6FBD71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90550"/>
            <a:ext cx="0" cy="523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B353A"/>
            </a:solidFill>
            <a:prstDash val="solid"/>
          </a:ln>
        </p:spPr>
      </p:sp>
      <p:sp>
        <p:nvSpPr>
          <p:cNvPr id="5" name="grid-v-1060">
            <a:extLst xmlns:a="http://schemas.openxmlformats.org/drawingml/2006/main">
              <a:ext uri="{FF2B5EF4-FFF2-40B4-BE49-F238E27FC236}">
                <a16:creationId xmlns:a16="http://schemas.microsoft.com/office/drawing/2014/main" id="{5FABA225-35EB-4B87-9212-9B983446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90550"/>
            <a:ext cx="0" cy="523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B353A"/>
            </a:solidFill>
            <a:prstDash val="solid"/>
          </a:ln>
        </p:spPr>
      </p:sp>
      <p:sp>
        <p:nvSpPr>
          <p:cNvPr id="6" name="grid-v-1130">
            <a:extLst xmlns:a="http://schemas.openxmlformats.org/drawingml/2006/main">
              <a:ext uri="{FF2B5EF4-FFF2-40B4-BE49-F238E27FC236}">
                <a16:creationId xmlns:a16="http://schemas.microsoft.com/office/drawing/2014/main" id="{9E92799A-2DBE-4249-B4AA-A9ACF2C3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90550"/>
            <a:ext cx="0" cy="523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B353A"/>
            </a:solidFill>
            <a:prstDash val="solid"/>
          </a:ln>
        </p:spPr>
      </p:sp>
      <p:sp>
        <p:nvSpPr>
          <p:cNvPr id="7" name="grid-v-1200">
            <a:extLst xmlns:a="http://schemas.openxmlformats.org/drawingml/2006/main">
              <a:ext uri="{FF2B5EF4-FFF2-40B4-BE49-F238E27FC236}">
                <a16:creationId xmlns:a16="http://schemas.microsoft.com/office/drawing/2014/main" id="{9FA86F5D-6FE0-4042-9D9D-9BB8C5F4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0550"/>
            <a:ext cx="0" cy="523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B353A"/>
            </a:solidFill>
            <a:prstDash val="solid"/>
          </a:ln>
        </p:spPr>
      </p:sp>
      <p:sp>
        <p:nvSpPr>
          <p:cNvPr id="8" name="grid-h-122">
            <a:extLst xmlns:a="http://schemas.openxmlformats.org/drawingml/2006/main">
              <a:ext uri="{FF2B5EF4-FFF2-40B4-BE49-F238E27FC236}">
                <a16:creationId xmlns:a16="http://schemas.microsoft.com/office/drawing/2014/main" id="{A9EE2DA1-2107-4316-849D-94EE8FA6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1620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B353A"/>
            </a:solidFill>
            <a:prstDash val="solid"/>
          </a:ln>
        </p:spPr>
      </p:sp>
      <p:sp>
        <p:nvSpPr>
          <p:cNvPr id="9" name="grid-h-192">
            <a:extLst xmlns:a="http://schemas.openxmlformats.org/drawingml/2006/main">
              <a:ext uri="{FF2B5EF4-FFF2-40B4-BE49-F238E27FC236}">
                <a16:creationId xmlns:a16="http://schemas.microsoft.com/office/drawing/2014/main" id="{219456BF-434C-4443-A608-96738069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288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B353A"/>
            </a:solidFill>
            <a:prstDash val="solid"/>
          </a:ln>
        </p:spPr>
      </p:sp>
      <p:sp>
        <p:nvSpPr>
          <p:cNvPr id="10" name="grid-h-262">
            <a:extLst xmlns:a="http://schemas.openxmlformats.org/drawingml/2006/main">
              <a:ext uri="{FF2B5EF4-FFF2-40B4-BE49-F238E27FC236}">
                <a16:creationId xmlns:a16="http://schemas.microsoft.com/office/drawing/2014/main" id="{FBE644DB-B8D4-403E-8BD0-BE1C3B23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95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B353A"/>
            </a:solidFill>
            <a:prstDash val="solid"/>
          </a:ln>
        </p:spPr>
      </p:sp>
      <p:sp>
        <p:nvSpPr>
          <p:cNvPr id="11" name="grid-h-332">
            <a:extLst xmlns:a="http://schemas.openxmlformats.org/drawingml/2006/main">
              <a:ext uri="{FF2B5EF4-FFF2-40B4-BE49-F238E27FC236}">
                <a16:creationId xmlns:a16="http://schemas.microsoft.com/office/drawing/2014/main" id="{D8FCB5BF-ED67-4C96-BCAD-DEDF3A01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B353A"/>
            </a:solidFill>
            <a:prstDash val="solid"/>
          </a:ln>
        </p:spPr>
      </p:sp>
      <p:sp>
        <p:nvSpPr>
          <p:cNvPr id="12" name="grid-h-402">
            <a:extLst xmlns:a="http://schemas.openxmlformats.org/drawingml/2006/main">
              <a:ext uri="{FF2B5EF4-FFF2-40B4-BE49-F238E27FC236}">
                <a16:creationId xmlns:a16="http://schemas.microsoft.com/office/drawing/2014/main" id="{5CE27EF9-931A-4EEF-97CB-2914016F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290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B353A"/>
            </a:solidFill>
            <a:prstDash val="solid"/>
          </a:ln>
        </p:spPr>
      </p:sp>
      <p:sp>
        <p:nvSpPr>
          <p:cNvPr id="13" name="grid-h-472">
            <a:extLst xmlns:a="http://schemas.openxmlformats.org/drawingml/2006/main">
              <a:ext uri="{FF2B5EF4-FFF2-40B4-BE49-F238E27FC236}">
                <a16:creationId xmlns:a16="http://schemas.microsoft.com/office/drawing/2014/main" id="{747950D6-2559-4347-B9DB-A08A222B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958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B353A"/>
            </a:solidFill>
            <a:prstDash val="solid"/>
          </a:ln>
        </p:spPr>
      </p:sp>
      <p:sp>
        <p:nvSpPr>
          <p:cNvPr id="14" name="grid-h-542">
            <a:extLst xmlns:a="http://schemas.openxmlformats.org/drawingml/2006/main">
              <a:ext uri="{FF2B5EF4-FFF2-40B4-BE49-F238E27FC236}">
                <a16:creationId xmlns:a16="http://schemas.microsoft.com/office/drawing/2014/main" id="{71CDF05F-4DCC-4BA2-8F1A-EDE5A3A1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62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B353A"/>
            </a:solidFill>
            <a:prstDash val="solid"/>
          </a:ln>
        </p:spPr>
      </p:sp>
      <p:sp>
        <p:nvSpPr>
          <p:cNvPr id="15" name="grid-h-612">
            <a:extLst xmlns:a="http://schemas.openxmlformats.org/drawingml/2006/main">
              <a:ext uri="{FF2B5EF4-FFF2-40B4-BE49-F238E27FC236}">
                <a16:creationId xmlns:a16="http://schemas.microsoft.com/office/drawing/2014/main" id="{03A3E10C-A354-43DD-A0DA-2892AA60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293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B353A"/>
            </a:solidFill>
            <a:prstDash val="solid"/>
          </a:ln>
        </p:spPr>
      </p:sp>
      <p:sp>
        <p:nvSpPr>
          <p:cNvPr id="16" name="s1-eyebrow">
            <a:extLst xmlns:a="http://schemas.openxmlformats.org/drawingml/2006/main">
              <a:ext uri="{FF2B5EF4-FFF2-40B4-BE49-F238E27FC236}">
                <a16:creationId xmlns:a16="http://schemas.microsoft.com/office/drawing/2014/main" id="{9B61478D-8097-4026-A589-453F02F7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AMD HACKATHON · ENGINEERING REVIEW</a:t>
            </a:r>
            <a:endParaRPr sz="1050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1-page">
            <a:extLst xmlns:a="http://schemas.openxmlformats.org/drawingml/2006/main">
              <a:ext uri="{FF2B5EF4-FFF2-40B4-BE49-F238E27FC236}">
                <a16:creationId xmlns:a16="http://schemas.microsoft.com/office/drawing/2014/main" id="{B7CA6B87-1858-4643-97B6-91D42240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524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01 / 08</a:t>
            </a:r>
            <a:endParaRPr sz="975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1-title">
            <a:extLst xmlns:a="http://schemas.openxmlformats.org/drawingml/2006/main">
              <a:ext uri="{FF2B5EF4-FFF2-40B4-BE49-F238E27FC236}">
                <a16:creationId xmlns:a16="http://schemas.microsoft.com/office/drawing/2014/main" id="{E78E0324-3806-49E9-8B0C-F4280186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AlphaNoah A1 Edge Agent</a:t>
            </a:r>
            <a:endParaRPr sz="4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s1-subtitle">
            <a:extLst xmlns:a="http://schemas.openxmlformats.org/drawingml/2006/main">
              <a:ext uri="{FF2B5EF4-FFF2-40B4-BE49-F238E27FC236}">
                <a16:creationId xmlns:a16="http://schemas.microsoft.com/office/drawing/2014/main" id="{850241B1-5D84-4C57-B2C4-7041A362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Local AI workflow for industrial equipment troubleshooting.</a:t>
            </a:r>
            <a:endParaRPr sz="2100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s1-cyan-rule">
            <a:extLst xmlns:a="http://schemas.openxmlformats.org/drawingml/2006/main">
              <a:ext uri="{FF2B5EF4-FFF2-40B4-BE49-F238E27FC236}">
                <a16:creationId xmlns:a16="http://schemas.microsoft.com/office/drawing/2014/main" id="{346529D2-E2FC-443E-8D21-9F85ADC7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118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8C6D6"/>
            </a:solidFill>
            <a:prstDash val="solid"/>
          </a:ln>
        </p:spPr>
      </p:sp>
      <p:sp>
        <p:nvSpPr>
          <p:cNvPr id="21" name="s1-AMD-Ryzen-AI-Max+-395">
            <a:extLst xmlns:a="http://schemas.openxmlformats.org/drawingml/2006/main">
              <a:ext uri="{FF2B5EF4-FFF2-40B4-BE49-F238E27FC236}">
                <a16:creationId xmlns:a16="http://schemas.microsoft.com/office/drawing/2014/main" id="{D59A9DE4-274F-450A-B03D-8F48619A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AMD Ryzen AI Max+ 395</a:t>
            </a:r>
            <a:endParaRPr sz="1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s1-Local-inference-path">
            <a:extLst xmlns:a="http://schemas.openxmlformats.org/drawingml/2006/main">
              <a:ext uri="{FF2B5EF4-FFF2-40B4-BE49-F238E27FC236}">
                <a16:creationId xmlns:a16="http://schemas.microsoft.com/office/drawing/2014/main" id="{F3D96C49-71B0-4DFC-B594-3440626E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91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Local inference path</a:t>
            </a:r>
            <a:endParaRPr sz="1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s1-Human-controlled-workflow">
            <a:extLst xmlns:a="http://schemas.openxmlformats.org/drawingml/2006/main">
              <a:ext uri="{FF2B5EF4-FFF2-40B4-BE49-F238E27FC236}">
                <a16:creationId xmlns:a16="http://schemas.microsoft.com/office/drawing/2014/main" id="{2D57B36F-A985-4175-952C-AED70777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91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Human-controlled workflow</a:t>
            </a:r>
            <a:endParaRPr sz="1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s1-sep-1">
            <a:extLst xmlns:a="http://schemas.openxmlformats.org/drawingml/2006/main">
              <a:ext uri="{FF2B5EF4-FFF2-40B4-BE49-F238E27FC236}">
                <a16:creationId xmlns:a16="http://schemas.microsoft.com/office/drawing/2014/main" id="{2635479E-A1BE-49C5-B085-80D7B671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74D"/>
            </a:solidFill>
            <a:prstDash val="solid"/>
          </a:ln>
        </p:spPr>
      </p:sp>
      <p:sp>
        <p:nvSpPr>
          <p:cNvPr id="25" name="s1-sep-2">
            <a:extLst xmlns:a="http://schemas.openxmlformats.org/drawingml/2006/main">
              <a:ext uri="{FF2B5EF4-FFF2-40B4-BE49-F238E27FC236}">
                <a16:creationId xmlns:a16="http://schemas.microsoft.com/office/drawing/2014/main" id="{E8CFD3B6-94E2-41EB-B7C2-50098525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74D"/>
            </a:solidFill>
            <a:prstDash val="solid"/>
          </a:ln>
        </p:spPr>
      </p:sp>
      <p:sp>
        <p:nvSpPr>
          <p:cNvPr id="26" name="s1-boundary">
            <a:extLst xmlns:a="http://schemas.openxmlformats.org/drawingml/2006/main">
              <a:ext uri="{FF2B5EF4-FFF2-40B4-BE49-F238E27FC236}">
                <a16:creationId xmlns:a16="http://schemas.microsoft.com/office/drawing/2014/main" id="{25D924E9-239D-4A40-80C1-D96B611A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8C6D6"/>
                </a:solidFill>
                <a:latin typeface="Aptos"/>
                <a:ea typeface="Aptos"/>
                <a:cs typeface="Aptos"/>
              </a:rPr>
              <a:t>A bounded and auditable edge AI workflow.</a:t>
            </a:r>
            <a:endParaRPr sz="1425" b="0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32459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2">
            <a:extLst xmlns:a="http://schemas.openxmlformats.org/drawingml/2006/main">
              <a:ext uri="{FF2B5EF4-FFF2-40B4-BE49-F238E27FC236}">
                <a16:creationId xmlns:a16="http://schemas.microsoft.com/office/drawing/2014/main" id="{8B001EDC-A2D3-4DAC-BD24-02435BE0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AMD HACKATHON · ENGINEERING REVIEW</a:t>
            </a:r>
            <a:endParaRPr sz="97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ABF19C5C-192E-49DC-96F4-7E807E62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23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02 / 08</a:t>
            </a:r>
            <a:endParaRPr sz="975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0A33EDE1-3EED-4268-A072-DF2AEE97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The Problem</a:t>
            </a:r>
            <a:endParaRPr sz="28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A6D3F897-8AF7-4DCE-9723-592F31B3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3A"/>
            </a:solidFill>
            <a:prstDash val="solid"/>
          </a:ln>
        </p:spPr>
      </p:sp>
      <p:sp>
        <p:nvSpPr>
          <p:cNvPr id="5" name="s2-lead">
            <a:extLst xmlns:a="http://schemas.openxmlformats.org/drawingml/2006/main">
              <a:ext uri="{FF2B5EF4-FFF2-40B4-BE49-F238E27FC236}">
                <a16:creationId xmlns:a16="http://schemas.microsoft.com/office/drawing/2014/main" id="{52FFE4C2-03AC-48F9-B573-EC4C2541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Troubleshooting knowledge exists, but it is difficult to apply consistently at the moment of need.</a:t>
            </a:r>
            <a:endParaRPr sz="1800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s2-b1-mark">
            <a:extLst xmlns:a="http://schemas.openxmlformats.org/drawingml/2006/main">
              <a:ext uri="{FF2B5EF4-FFF2-40B4-BE49-F238E27FC236}">
                <a16:creationId xmlns:a16="http://schemas.microsoft.com/office/drawing/2014/main" id="{05239528-4D07-4FB9-8FDF-56B4AADD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C6D6"/>
            </a:solidFill>
            <a:prstDash val="solid"/>
          </a:ln>
        </p:spPr>
      </p:sp>
      <p:sp>
        <p:nvSpPr>
          <p:cNvPr id="7" name="s2-b1">
            <a:extLst xmlns:a="http://schemas.openxmlformats.org/drawingml/2006/main">
              <a:ext uri="{FF2B5EF4-FFF2-40B4-BE49-F238E27FC236}">
                <a16:creationId xmlns:a16="http://schemas.microsoft.com/office/drawing/2014/main" id="{D3EC2A6C-9D5A-42A7-9DE5-CED379D6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Equipment troubleshooting depends on individual experience.</a:t>
            </a:r>
            <a:endParaRPr sz="1575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2-b2-mark">
            <a:extLst xmlns:a="http://schemas.openxmlformats.org/drawingml/2006/main">
              <a:ext uri="{FF2B5EF4-FFF2-40B4-BE49-F238E27FC236}">
                <a16:creationId xmlns:a16="http://schemas.microsoft.com/office/drawing/2014/main" id="{F6006104-F115-4FC8-B5B9-2F1B4A33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C6D6"/>
            </a:solidFill>
            <a:prstDash val="solid"/>
          </a:ln>
        </p:spPr>
      </p:sp>
      <p:sp>
        <p:nvSpPr>
          <p:cNvPr id="9" name="s2-b2">
            <a:extLst xmlns:a="http://schemas.openxmlformats.org/drawingml/2006/main">
              <a:ext uri="{FF2B5EF4-FFF2-40B4-BE49-F238E27FC236}">
                <a16:creationId xmlns:a16="http://schemas.microsoft.com/office/drawing/2014/main" id="{CC118820-AB19-4BD8-8216-74004E34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Procedures and past observations are difficult to reuse.</a:t>
            </a:r>
            <a:endParaRPr sz="1575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2-b3-mark">
            <a:extLst xmlns:a="http://schemas.openxmlformats.org/drawingml/2006/main">
              <a:ext uri="{FF2B5EF4-FFF2-40B4-BE49-F238E27FC236}">
                <a16:creationId xmlns:a16="http://schemas.microsoft.com/office/drawing/2014/main" id="{0D71E844-56A5-4557-85F3-DCDC1DF4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C6D6"/>
            </a:solidFill>
            <a:prstDash val="solid"/>
          </a:ln>
        </p:spPr>
      </p:sp>
      <p:sp>
        <p:nvSpPr>
          <p:cNvPr id="11" name="s2-b3">
            <a:extLst xmlns:a="http://schemas.openxmlformats.org/drawingml/2006/main">
              <a:ext uri="{FF2B5EF4-FFF2-40B4-BE49-F238E27FC236}">
                <a16:creationId xmlns:a16="http://schemas.microsoft.com/office/drawing/2014/main" id="{693EDE19-5BAC-4C55-8C2E-310CF639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Cloud-first AI may not fit private industrial environments.</a:t>
            </a:r>
            <a:endParaRPr sz="1575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BF24152E-15A5-48B9-A571-69004F05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3A"/>
            </a:solidFill>
            <a:prstDash val="solid"/>
          </a:ln>
        </p:spPr>
      </p:sp>
      <p:sp>
        <p:nvSpPr>
          <p:cNvPr id="17" name="footer-2">
            <a:extLst xmlns:a="http://schemas.openxmlformats.org/drawingml/2006/main">
              <a:ext uri="{FF2B5EF4-FFF2-40B4-BE49-F238E27FC236}">
                <a16:creationId xmlns:a16="http://schemas.microsoft.com/office/drawing/2014/main" id="{82FE3FC6-DDA6-4E15-A4F5-4F090E9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ALPHANOAH A1 EDGE AGENT</a:t>
            </a:r>
            <a:endParaRPr sz="82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33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93ebe1b0640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3645" y="1565275"/>
            <a:ext cx="5718175" cy="4098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1030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3">
            <a:extLst xmlns:a="http://schemas.openxmlformats.org/drawingml/2006/main">
              <a:ext uri="{FF2B5EF4-FFF2-40B4-BE49-F238E27FC236}">
                <a16:creationId xmlns:a16="http://schemas.microsoft.com/office/drawing/2014/main" id="{85D1175A-E8B2-41B9-933C-D0CDBD61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AMD HACKATHON · ENGINEERING REVIEW</a:t>
            </a:r>
            <a:endParaRPr sz="97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F1FD0716-A4E1-411C-B214-01A32627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23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03 / 08</a:t>
            </a:r>
            <a:endParaRPr sz="975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3323DDF7-4F3D-43C2-BC43-F6806F90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From Problem Report to Human Decision</a:t>
            </a:r>
            <a:endParaRPr sz="28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6D213134-6B2C-45D9-9818-CF51B681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3A"/>
            </a:solidFill>
            <a:prstDash val="solid"/>
          </a:ln>
        </p:spPr>
      </p:sp>
      <p:sp>
        <p:nvSpPr>
          <p:cNvPr id="5" name="s3-node-1">
            <a:extLst xmlns:a="http://schemas.openxmlformats.org/drawingml/2006/main">
              <a:ext uri="{FF2B5EF4-FFF2-40B4-BE49-F238E27FC236}">
                <a16:creationId xmlns:a16="http://schemas.microsoft.com/office/drawing/2014/main" id="{6B4E7C52-846B-4A9E-985F-97D3056D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428750"/>
            <a:ext cx="4610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2226"/>
          </a:solidFill>
          <a:ln xmlns:a="http://schemas.openxmlformats.org/drawingml/2006/main" w="11430">
            <a:solidFill>
              <a:srgbClr val="3A474D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Problem Report</a:t>
            </a:r>
            <a:endParaRPr sz="150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s3-node-2">
            <a:extLst xmlns:a="http://schemas.openxmlformats.org/drawingml/2006/main">
              <a:ext uri="{FF2B5EF4-FFF2-40B4-BE49-F238E27FC236}">
                <a16:creationId xmlns:a16="http://schemas.microsoft.com/office/drawing/2014/main" id="{6D07B467-517B-4DFC-893C-F5B0B2A2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4610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3038"/>
          </a:solidFill>
          <a:ln xmlns:a="http://schemas.openxmlformats.org/drawingml/2006/main" w="11430">
            <a:solidFill>
              <a:srgbClr val="58C6D6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8C6D6"/>
                </a:solidFill>
                <a:latin typeface="Aptos"/>
                <a:ea typeface="Aptos"/>
                <a:cs typeface="Aptos"/>
              </a:rPr>
              <a:t>Local AI Analysis</a:t>
            </a:r>
            <a:endParaRPr sz="1500" b="1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s3-node-3">
            <a:extLst xmlns:a="http://schemas.openxmlformats.org/drawingml/2006/main">
              <a:ext uri="{FF2B5EF4-FFF2-40B4-BE49-F238E27FC236}">
                <a16:creationId xmlns:a16="http://schemas.microsoft.com/office/drawing/2014/main" id="{64CD7D8D-6346-4C4F-B53B-45304524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90850"/>
            <a:ext cx="4610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2226"/>
          </a:solidFill>
          <a:ln xmlns:a="http://schemas.openxmlformats.org/drawingml/2006/main" w="11430">
            <a:solidFill>
              <a:srgbClr val="3A474D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Structured Preliminary Diagnosis</a:t>
            </a:r>
            <a:endParaRPr sz="1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3-node-4">
            <a:extLst xmlns:a="http://schemas.openxmlformats.org/drawingml/2006/main">
              <a:ext uri="{FF2B5EF4-FFF2-40B4-BE49-F238E27FC236}">
                <a16:creationId xmlns:a16="http://schemas.microsoft.com/office/drawing/2014/main" id="{4E9FEE02-EBFD-423E-BCA0-762C59E7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71900"/>
            <a:ext cx="4610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2226"/>
          </a:solidFill>
          <a:ln xmlns:a="http://schemas.openxmlformats.org/drawingml/2006/main" w="11430">
            <a:solidFill>
              <a:srgbClr val="3A474D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Recommended Actions</a:t>
            </a:r>
            <a:endParaRPr sz="150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3-node-5">
            <a:extLst xmlns:a="http://schemas.openxmlformats.org/drawingml/2006/main">
              <a:ext uri="{FF2B5EF4-FFF2-40B4-BE49-F238E27FC236}">
                <a16:creationId xmlns:a16="http://schemas.microsoft.com/office/drawing/2014/main" id="{43ECC339-C9E5-41A2-B347-D7C95D55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552950"/>
            <a:ext cx="4610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302619"/>
          </a:solidFill>
          <a:ln xmlns:a="http://schemas.openxmlformats.org/drawingml/2006/main" w="11430">
            <a:solidFill>
              <a:srgbClr val="D3A24C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D3A2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3A24C"/>
                </a:solidFill>
                <a:latin typeface="Aptos"/>
                <a:ea typeface="Aptos"/>
                <a:cs typeface="Aptos"/>
              </a:rPr>
              <a:t>Human Review</a:t>
            </a:r>
            <a:endParaRPr sz="1500" b="1">
              <a:solidFill>
                <a:srgbClr val="D3A24C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53" name="直接箭头连接符 26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19812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C6D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4" name="直接箭头连接符 27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7622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C6D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5" name="直接箭头连接符 28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35433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C6D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6" name="直接箭头连接符 29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43243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A24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s3-bottom-accent">
            <a:extLst xmlns:a="http://schemas.openxmlformats.org/drawingml/2006/main">
              <a:ext uri="{FF2B5EF4-FFF2-40B4-BE49-F238E27FC236}">
                <a16:creationId xmlns:a16="http://schemas.microsoft.com/office/drawing/2014/main" id="{9B74B039-54AC-4B77-BAD3-94E50DA3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7531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A24C"/>
            </a:solidFill>
            <a:prstDash val="solid"/>
          </a:ln>
        </p:spPr>
      </p:sp>
      <p:sp>
        <p:nvSpPr>
          <p:cNvPr id="15" name="s3-boundary">
            <a:extLst xmlns:a="http://schemas.openxmlformats.org/drawingml/2006/main">
              <a:ext uri="{FF2B5EF4-FFF2-40B4-BE49-F238E27FC236}">
                <a16:creationId xmlns:a16="http://schemas.microsoft.com/office/drawing/2014/main" id="{0D2C7245-AF66-41F8-81E7-E57233AE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19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9B0B4"/>
                </a:solidFill>
                <a:latin typeface="Aptos"/>
                <a:ea typeface="Aptos"/>
                <a:cs typeface="Aptos"/>
              </a:rPr>
              <a:t>No device command is generated.</a:t>
            </a:r>
            <a:endParaRPr sz="1425" b="1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CE821D39-4D90-4EF3-901A-2917542E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3A"/>
            </a:solidFill>
            <a:prstDash val="solid"/>
          </a:ln>
        </p:spPr>
      </p:sp>
      <p:sp>
        <p:nvSpPr>
          <p:cNvPr id="17" name="footer-3">
            <a:extLst xmlns:a="http://schemas.openxmlformats.org/drawingml/2006/main">
              <a:ext uri="{FF2B5EF4-FFF2-40B4-BE49-F238E27FC236}">
                <a16:creationId xmlns:a16="http://schemas.microsoft.com/office/drawing/2014/main" id="{A1E1084C-0EEC-4D79-A816-1B54C869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ALPHANOAH A1 EDGE AGENT</a:t>
            </a:r>
            <a:endParaRPr sz="82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290024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4">
            <a:extLst xmlns:a="http://schemas.openxmlformats.org/drawingml/2006/main">
              <a:ext uri="{FF2B5EF4-FFF2-40B4-BE49-F238E27FC236}">
                <a16:creationId xmlns:a16="http://schemas.microsoft.com/office/drawing/2014/main" id="{78D0CB78-51CA-461F-A299-9F3E7918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AMD HACKATHON · ENGINEERING REVIEW</a:t>
            </a:r>
            <a:endParaRPr sz="97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710447BD-1EF7-4F22-BF2F-64B0C05D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23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04 / 08</a:t>
            </a:r>
            <a:endParaRPr sz="975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854C7336-61C2-4B95-975B-F64BE4BC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Digital Employee Concept</a:t>
            </a:r>
            <a:endParaRPr sz="28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A394A710-5675-4750-B6DF-FA9CD1FE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3A"/>
            </a:solidFill>
            <a:prstDash val="solid"/>
          </a:ln>
        </p:spPr>
      </p:sp>
      <p:sp>
        <p:nvSpPr>
          <p:cNvPr id="5" name="s4-equation">
            <a:extLst xmlns:a="http://schemas.openxmlformats.org/drawingml/2006/main">
              <a:ext uri="{FF2B5EF4-FFF2-40B4-BE49-F238E27FC236}">
                <a16:creationId xmlns:a16="http://schemas.microsoft.com/office/drawing/2014/main" id="{06F17292-1314-4544-A57A-A21447CC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Digital Employee =</a:t>
            </a:r>
            <a:endParaRPr sz="240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s4-item-1">
            <a:extLst xmlns:a="http://schemas.openxmlformats.org/drawingml/2006/main">
              <a:ext uri="{FF2B5EF4-FFF2-40B4-BE49-F238E27FC236}">
                <a16:creationId xmlns:a16="http://schemas.microsoft.com/office/drawing/2014/main" id="{3ECF6752-FB1D-4D0C-AC2D-7207BE7E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8C6D6"/>
                </a:solidFill>
                <a:latin typeface="Aptos"/>
                <a:ea typeface="Aptos"/>
                <a:cs typeface="Aptos"/>
              </a:rPr>
              <a:t>Capability</a:t>
            </a:r>
            <a:endParaRPr sz="1875" b="1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s4-item-line-1">
            <a:extLst xmlns:a="http://schemas.openxmlformats.org/drawingml/2006/main">
              <a:ext uri="{FF2B5EF4-FFF2-40B4-BE49-F238E27FC236}">
                <a16:creationId xmlns:a16="http://schemas.microsoft.com/office/drawing/2014/main" id="{2C1C53D7-2F1D-46B0-A659-A3174564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3A"/>
            </a:solidFill>
            <a:prstDash val="solid"/>
          </a:ln>
        </p:spPr>
      </p:sp>
      <p:sp>
        <p:nvSpPr>
          <p:cNvPr id="8" name="s4-item-2">
            <a:extLst xmlns:a="http://schemas.openxmlformats.org/drawingml/2006/main">
              <a:ext uri="{FF2B5EF4-FFF2-40B4-BE49-F238E27FC236}">
                <a16:creationId xmlns:a16="http://schemas.microsoft.com/office/drawing/2014/main" id="{D6633ACF-0652-4ED1-8C59-FE48F873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+  Knowledge</a:t>
            </a:r>
            <a:endParaRPr sz="1875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4-item-line-2">
            <a:extLst xmlns:a="http://schemas.openxmlformats.org/drawingml/2006/main">
              <a:ext uri="{FF2B5EF4-FFF2-40B4-BE49-F238E27FC236}">
                <a16:creationId xmlns:a16="http://schemas.microsoft.com/office/drawing/2014/main" id="{FA08BB5A-C701-4671-8D98-9142E4DB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3A"/>
            </a:solidFill>
            <a:prstDash val="solid"/>
          </a:ln>
        </p:spPr>
      </p:sp>
      <p:sp>
        <p:nvSpPr>
          <p:cNvPr id="10" name="s4-item-3">
            <a:extLst xmlns:a="http://schemas.openxmlformats.org/drawingml/2006/main">
              <a:ext uri="{FF2B5EF4-FFF2-40B4-BE49-F238E27FC236}">
                <a16:creationId xmlns:a16="http://schemas.microsoft.com/office/drawing/2014/main" id="{3B6F74AC-FCA0-47E6-A576-A01F3826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+  Role Context</a:t>
            </a:r>
            <a:endParaRPr sz="1875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s4-example">
            <a:extLst xmlns:a="http://schemas.openxmlformats.org/drawingml/2006/main">
              <a:ext uri="{FF2B5EF4-FFF2-40B4-BE49-F238E27FC236}">
                <a16:creationId xmlns:a16="http://schemas.microsoft.com/office/drawing/2014/main" id="{06B44EA6-B556-45CA-A265-244F5C89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9B0B4"/>
                </a:solidFill>
                <a:latin typeface="Aptos"/>
                <a:ea typeface="Aptos"/>
                <a:cs typeface="Aptos"/>
              </a:rPr>
              <a:t>Equipment Troubleshooting Employee</a:t>
            </a:r>
            <a:endParaRPr sz="1650" b="1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s4-boundary-rule">
            <a:extLst xmlns:a="http://schemas.openxmlformats.org/drawingml/2006/main">
              <a:ext uri="{FF2B5EF4-FFF2-40B4-BE49-F238E27FC236}">
                <a16:creationId xmlns:a16="http://schemas.microsoft.com/office/drawing/2014/main" id="{EA2BE6DB-B1C0-4622-BC3E-9B41B833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74D"/>
            </a:solidFill>
            <a:prstDash val="solid"/>
          </a:ln>
        </p:spPr>
      </p:sp>
      <p:sp>
        <p:nvSpPr>
          <p:cNvPr id="16" name="s4-boundary">
            <a:extLst xmlns:a="http://schemas.openxmlformats.org/drawingml/2006/main">
              <a:ext uri="{FF2B5EF4-FFF2-40B4-BE49-F238E27FC236}">
                <a16:creationId xmlns:a16="http://schemas.microsoft.com/office/drawing/2014/main" id="{A5F40BA8-9B5C-40DD-8768-D9461879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8C6D6"/>
                </a:solidFill>
                <a:latin typeface="Aptos"/>
                <a:ea typeface="Aptos"/>
                <a:cs typeface="Aptos"/>
              </a:rPr>
              <a:t>A human-understandable, read-only capability projection.</a:t>
            </a:r>
            <a:endParaRPr sz="1350" b="0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4-not">
            <a:extLst xmlns:a="http://schemas.openxmlformats.org/drawingml/2006/main">
              <a:ext uri="{FF2B5EF4-FFF2-40B4-BE49-F238E27FC236}">
                <a16:creationId xmlns:a16="http://schemas.microsoft.com/office/drawing/2014/main" id="{3DC25E55-A571-4D71-B163-AED697C6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5785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Not a chatbot · Not an autonomous worker</a:t>
            </a:r>
            <a:endParaRPr sz="1275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EFFC40EA-6227-4BEA-82E5-4E4ACC51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3A"/>
            </a:solidFill>
            <a:prstDash val="solid"/>
          </a:ln>
        </p:spPr>
      </p:sp>
      <p:sp>
        <p:nvSpPr>
          <p:cNvPr id="19" name="footer-4">
            <a:extLst xmlns:a="http://schemas.openxmlformats.org/drawingml/2006/main">
              <a:ext uri="{FF2B5EF4-FFF2-40B4-BE49-F238E27FC236}">
                <a16:creationId xmlns:a16="http://schemas.microsoft.com/office/drawing/2014/main" id="{EA058B77-DD52-424F-95F7-0D958A1B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ALPHANOAH A1 EDGE AGENT</a:t>
            </a:r>
            <a:endParaRPr sz="82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38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ed0970d1448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00190" y="1556385"/>
            <a:ext cx="4919345" cy="35521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8670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-5">
            <a:extLst xmlns:a="http://schemas.openxmlformats.org/drawingml/2006/main">
              <a:ext uri="{FF2B5EF4-FFF2-40B4-BE49-F238E27FC236}">
                <a16:creationId xmlns:a16="http://schemas.microsoft.com/office/drawing/2014/main" id="{7A221BD9-67F0-437D-89CD-5639E122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AMD HACKATHON · ENGINEERING REVIEW</a:t>
            </a:r>
            <a:endParaRPr sz="97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84FC2672-4932-4754-A2BC-E4B0F44E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23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05 / 08</a:t>
            </a:r>
            <a:endParaRPr sz="975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442FAB9A-4B43-4234-B04D-124647D0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System Architecture</a:t>
            </a:r>
            <a:endParaRPr sz="28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33E07715-C932-43A3-8C06-7AB7C2B4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3A"/>
            </a:solidFill>
            <a:prstDash val="solid"/>
          </a:ln>
        </p:spPr>
      </p:sp>
      <p:sp>
        <p:nvSpPr>
          <p:cNvPr id="5" name="s5-operator">
            <a:extLst xmlns:a="http://schemas.openxmlformats.org/drawingml/2006/main">
              <a:ext uri="{FF2B5EF4-FFF2-40B4-BE49-F238E27FC236}">
                <a16:creationId xmlns:a16="http://schemas.microsoft.com/office/drawing/2014/main" id="{AEAFE418-0384-43F8-82CE-13129787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1C20"/>
          </a:solidFill>
          <a:ln xmlns:a="http://schemas.openxmlformats.org/drawingml/2006/main" w="11430">
            <a:solidFill>
              <a:srgbClr val="3A474D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Operator</a:t>
            </a:r>
            <a:endParaRPr sz="1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s5-ui">
            <a:extLst xmlns:a="http://schemas.openxmlformats.org/drawingml/2006/main">
              <a:ext uri="{FF2B5EF4-FFF2-40B4-BE49-F238E27FC236}">
                <a16:creationId xmlns:a16="http://schemas.microsoft.com/office/drawing/2014/main" id="{6C1473BA-BD2F-4709-B33F-8CF2993C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2095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51C20"/>
          </a:solidFill>
          <a:ln xmlns:a="http://schemas.openxmlformats.org/drawingml/2006/main" w="11430">
            <a:solidFill>
              <a:srgbClr val="3A474D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Local User Interface</a:t>
            </a:r>
            <a:endParaRPr sz="1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s5-event">
            <a:extLst xmlns:a="http://schemas.openxmlformats.org/drawingml/2006/main">
              <a:ext uri="{FF2B5EF4-FFF2-40B4-BE49-F238E27FC236}">
                <a16:creationId xmlns:a16="http://schemas.microsoft.com/office/drawing/2014/main" id="{963277D2-081B-424E-852E-682955F4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2095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51C20"/>
          </a:solidFill>
          <a:ln xmlns:a="http://schemas.openxmlformats.org/drawingml/2006/main" w="11430">
            <a:solidFill>
              <a:srgbClr val="3A474D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Bounded Event</a:t>
            </a:r>
            <a:endParaRPr sz="1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5-runtime">
            <a:extLst xmlns:a="http://schemas.openxmlformats.org/drawingml/2006/main">
              <a:ext uri="{FF2B5EF4-FFF2-40B4-BE49-F238E27FC236}">
                <a16:creationId xmlns:a16="http://schemas.microsoft.com/office/drawing/2014/main" id="{7CDEAF99-5DFE-44D6-875D-280FED97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67000"/>
            <a:ext cx="2762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038"/>
          </a:solidFill>
          <a:ln xmlns:a="http://schemas.openxmlformats.org/drawingml/2006/main" w="11430">
            <a:solidFill>
              <a:srgbClr val="58C6D6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8C6D6"/>
                </a:solidFill>
                <a:latin typeface="Aptos"/>
                <a:ea typeface="Aptos"/>
                <a:cs typeface="Aptos"/>
              </a:rPr>
              <a:t>AlphaNoah Runtime</a:t>
            </a:r>
            <a:endParaRPr sz="1725" b="1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5-capability">
            <a:extLst xmlns:a="http://schemas.openxmlformats.org/drawingml/2006/main">
              <a:ext uri="{FF2B5EF4-FFF2-40B4-BE49-F238E27FC236}">
                <a16:creationId xmlns:a16="http://schemas.microsoft.com/office/drawing/2014/main" id="{2084DE9B-D7DB-45A3-A966-3DC9F702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3238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51C20"/>
          </a:solidFill>
          <a:ln xmlns:a="http://schemas.openxmlformats.org/drawingml/2006/main" w="11430">
            <a:solidFill>
              <a:srgbClr val="3A474D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Capability Resolution</a:t>
            </a:r>
            <a:endParaRPr sz="1275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5-knowledge">
            <a:extLst xmlns:a="http://schemas.openxmlformats.org/drawingml/2006/main">
              <a:ext uri="{FF2B5EF4-FFF2-40B4-BE49-F238E27FC236}">
                <a16:creationId xmlns:a16="http://schemas.microsoft.com/office/drawing/2014/main" id="{EA0AB907-57B3-4BA7-9326-84A64332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3238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51C20"/>
          </a:solidFill>
          <a:ln xmlns:a="http://schemas.openxmlformats.org/drawingml/2006/main" w="11430">
            <a:solidFill>
              <a:srgbClr val="3A474D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Knowledge Context</a:t>
            </a:r>
            <a:endParaRPr sz="1275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s5-sqlite">
            <a:extLst xmlns:a="http://schemas.openxmlformats.org/drawingml/2006/main">
              <a:ext uri="{FF2B5EF4-FFF2-40B4-BE49-F238E27FC236}">
                <a16:creationId xmlns:a16="http://schemas.microsoft.com/office/drawing/2014/main" id="{ADE82465-96F5-442F-8C4C-9DD855D7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33700"/>
            <a:ext cx="3238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51C20"/>
          </a:solidFill>
          <a:ln xmlns:a="http://schemas.openxmlformats.org/drawingml/2006/main" w="11430">
            <a:solidFill>
              <a:srgbClr val="3A474D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SQLite State &amp; Audit</a:t>
            </a:r>
            <a:endParaRPr sz="1275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s5-provider">
            <a:extLst xmlns:a="http://schemas.openxmlformats.org/drawingml/2006/main">
              <a:ext uri="{FF2B5EF4-FFF2-40B4-BE49-F238E27FC236}">
                <a16:creationId xmlns:a16="http://schemas.microsoft.com/office/drawing/2014/main" id="{54FFF9C6-801E-49B5-A76D-6E10C323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3238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3038"/>
          </a:solidFill>
          <a:ln xmlns:a="http://schemas.openxmlformats.org/drawingml/2006/main" w="11430">
            <a:solidFill>
              <a:srgbClr val="58C6D6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8C6D6"/>
                </a:solidFill>
                <a:latin typeface="Aptos"/>
                <a:ea typeface="Aptos"/>
                <a:cs typeface="Aptos"/>
              </a:rPr>
              <a:t>Explicit AI Provider</a:t>
            </a:r>
            <a:endParaRPr sz="1425" b="1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s5-result">
            <a:extLst xmlns:a="http://schemas.openxmlformats.org/drawingml/2006/main">
              <a:ext uri="{FF2B5EF4-FFF2-40B4-BE49-F238E27FC236}">
                <a16:creationId xmlns:a16="http://schemas.microsoft.com/office/drawing/2014/main" id="{39D6022E-1D70-407B-9642-F2DE01FB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52950"/>
            <a:ext cx="2762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2226"/>
          </a:solidFill>
          <a:ln xmlns:a="http://schemas.openxmlformats.org/drawingml/2006/main" w="11430">
            <a:solidFill>
              <a:srgbClr val="58C6D6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Structured Result</a:t>
            </a:r>
            <a:endParaRPr sz="1425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s5-review">
            <a:extLst xmlns:a="http://schemas.openxmlformats.org/drawingml/2006/main">
              <a:ext uri="{FF2B5EF4-FFF2-40B4-BE49-F238E27FC236}">
                <a16:creationId xmlns:a16="http://schemas.microsoft.com/office/drawing/2014/main" id="{30CB50D9-D488-4B02-AA51-A7619673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67350"/>
            <a:ext cx="2762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302619"/>
          </a:solidFill>
          <a:ln xmlns:a="http://schemas.openxmlformats.org/drawingml/2006/main" w="11430">
            <a:solidFill>
              <a:srgbClr val="D3A24C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D3A2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3A24C"/>
                </a:solidFill>
                <a:latin typeface="Aptos"/>
                <a:ea typeface="Aptos"/>
                <a:cs typeface="Aptos"/>
              </a:rPr>
              <a:t>Human Review</a:t>
            </a:r>
            <a:endParaRPr sz="1500" b="1">
              <a:solidFill>
                <a:srgbClr val="D3A24C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96" name="直接箭头连接符 45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771650" y="20383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A47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7" name="直接箭头连接符 46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771650" y="28194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A47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8" name="肘形连接符 47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819400" y="3124200"/>
            <a:ext cx="800100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A47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9" name="肘形连接符 48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6381750" y="1809750"/>
            <a:ext cx="857250" cy="1314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A474D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100" name="肘形连接符 49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6381750" y="2495550"/>
            <a:ext cx="857250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A474D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101" name="肘形连接符 50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381750" y="3124200"/>
            <a:ext cx="857250" cy="57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A474D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102" name="肘形连接符 51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381750" y="3124200"/>
            <a:ext cx="857250" cy="981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8C6D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" name="直接箭头连接符 52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8858250" y="2057400"/>
            <a:ext cx="0" cy="17716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3A474D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104" name="直接箭头连接符 53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8858250" y="2743200"/>
            <a:ext cx="0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3A474D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105" name="肘形连接符 54"/>
          <p:cNvCxnSpPr>
            <a:stCxn xmlns:a="http://schemas.openxmlformats.org/drawingml/2006/main" id="12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6381750" y="4105275"/>
            <a:ext cx="857250" cy="723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8C6D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6" name="直接箭头连接符 55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5000625" y="51054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A24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6" name="s5-ai-note">
            <a:extLst xmlns:a="http://schemas.openxmlformats.org/drawingml/2006/main">
              <a:ext uri="{FF2B5EF4-FFF2-40B4-BE49-F238E27FC236}">
                <a16:creationId xmlns:a16="http://schemas.microsoft.com/office/drawing/2014/main" id="{DD113002-BA3D-4259-A319-CF7CF71F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339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C6D6"/>
                </a:solidFill>
                <a:latin typeface="Aptos"/>
                <a:ea typeface="Aptos"/>
                <a:cs typeface="Aptos"/>
              </a:rPr>
              <a:t>AI analyzes bounded context.</a:t>
            </a:r>
            <a:endParaRPr sz="1200" b="0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s5-foundation-label">
            <a:extLst xmlns:a="http://schemas.openxmlformats.org/drawingml/2006/main">
              <a:ext uri="{FF2B5EF4-FFF2-40B4-BE49-F238E27FC236}">
                <a16:creationId xmlns:a16="http://schemas.microsoft.com/office/drawing/2014/main" id="{EEBB33CF-C571-467B-B555-FCD7E29C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LOCAL EXECUTION FOUNDATION</a:t>
            </a:r>
            <a:endParaRPr sz="900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s5-foundation">
            <a:extLst xmlns:a="http://schemas.openxmlformats.org/drawingml/2006/main">
              <a:ext uri="{FF2B5EF4-FFF2-40B4-BE49-F238E27FC236}">
                <a16:creationId xmlns:a16="http://schemas.microsoft.com/office/drawing/2014/main" id="{6C348F6B-C075-4B44-94B8-0468CE57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57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9B0B4"/>
                </a:solidFill>
                <a:latin typeface="Aptos"/>
                <a:ea typeface="Aptos"/>
                <a:cs typeface="Aptos"/>
              </a:rPr>
              <a:t>Ollama   ·   ROCm   ·   AMD Hardware</a:t>
            </a:r>
            <a:endParaRPr sz="1350" b="1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s5-runtime-note">
            <a:extLst xmlns:a="http://schemas.openxmlformats.org/drawingml/2006/main">
              <a:ext uri="{FF2B5EF4-FFF2-40B4-BE49-F238E27FC236}">
                <a16:creationId xmlns:a16="http://schemas.microsoft.com/office/drawing/2014/main" id="{C3E45481-1153-49C4-BC62-C7C2CF84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791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Runtime controls state, validation and the human-review boundary.</a:t>
            </a:r>
            <a:endParaRPr sz="1200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B3A592BA-6D78-426C-B830-EB71FEC8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3A"/>
            </a:solidFill>
            <a:prstDash val="solid"/>
          </a:ln>
        </p:spPr>
      </p:sp>
      <p:sp>
        <p:nvSpPr>
          <p:cNvPr id="31" name="footer-5">
            <a:extLst xmlns:a="http://schemas.openxmlformats.org/drawingml/2006/main">
              <a:ext uri="{FF2B5EF4-FFF2-40B4-BE49-F238E27FC236}">
                <a16:creationId xmlns:a16="http://schemas.microsoft.com/office/drawing/2014/main" id="{697D366B-B7D3-457E-8F25-8EFA03AC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ALPHANOAH A1 EDGE AGENT</a:t>
            </a:r>
            <a:endParaRPr sz="82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56849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-6">
            <a:extLst xmlns:a="http://schemas.openxmlformats.org/drawingml/2006/main">
              <a:ext uri="{FF2B5EF4-FFF2-40B4-BE49-F238E27FC236}">
                <a16:creationId xmlns:a16="http://schemas.microsoft.com/office/drawing/2014/main" id="{B2F0C10D-3DAF-4DEA-A1D7-027E37DE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AMD HACKATHON · ENGINEERING REVIEW</a:t>
            </a:r>
            <a:endParaRPr sz="97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D0A2847F-5B93-4FE6-867A-2826FFFA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23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06 / 08</a:t>
            </a:r>
            <a:endParaRPr sz="975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48E71F76-3B94-4FA1-84CF-27553FF1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Demo Scenario</a:t>
            </a:r>
            <a:endParaRPr sz="28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4E2DC22C-CA82-434A-A194-2BB8043F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3A"/>
            </a:solidFill>
            <a:prstDash val="solid"/>
          </a:ln>
        </p:spPr>
      </p:sp>
      <p:sp>
        <p:nvSpPr>
          <p:cNvPr id="5" name="s6-input-label">
            <a:extLst xmlns:a="http://schemas.openxmlformats.org/drawingml/2006/main">
              <a:ext uri="{FF2B5EF4-FFF2-40B4-BE49-F238E27FC236}">
                <a16:creationId xmlns:a16="http://schemas.microsoft.com/office/drawing/2014/main" id="{50A6B431-6EB9-42B2-A089-3D1D22F9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8C6D6"/>
                </a:solidFill>
                <a:latin typeface="Aptos"/>
                <a:ea typeface="Aptos"/>
                <a:cs typeface="Aptos"/>
              </a:rPr>
              <a:t>INPUT</a:t>
            </a:r>
            <a:endParaRPr sz="1125" b="1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s6-input-rule">
            <a:extLst xmlns:a="http://schemas.openxmlformats.org/drawingml/2006/main">
              <a:ext uri="{FF2B5EF4-FFF2-40B4-BE49-F238E27FC236}">
                <a16:creationId xmlns:a16="http://schemas.microsoft.com/office/drawing/2014/main" id="{474B525F-A8E1-4011-AF7E-65FFEC30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74D"/>
            </a:solidFill>
            <a:prstDash val="solid"/>
          </a:ln>
        </p:spPr>
      </p:sp>
      <p:sp>
        <p:nvSpPr>
          <p:cNvPr id="7" name="s6-location-label">
            <a:extLst xmlns:a="http://schemas.openxmlformats.org/drawingml/2006/main">
              <a:ext uri="{FF2B5EF4-FFF2-40B4-BE49-F238E27FC236}">
                <a16:creationId xmlns:a16="http://schemas.microsoft.com/office/drawing/2014/main" id="{F96B645A-02FE-48C8-9727-15524ABB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Location</a:t>
            </a:r>
            <a:endParaRPr sz="1200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6-location">
            <a:extLst xmlns:a="http://schemas.openxmlformats.org/drawingml/2006/main">
              <a:ext uri="{FF2B5EF4-FFF2-40B4-BE49-F238E27FC236}">
                <a16:creationId xmlns:a16="http://schemas.microsoft.com/office/drawing/2014/main" id="{05C59B52-30AB-4394-8DA5-82EAA616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B03</a:t>
            </a:r>
            <a:endParaRPr sz="210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6-problem-label">
            <a:extLst xmlns:a="http://schemas.openxmlformats.org/drawingml/2006/main">
              <a:ext uri="{FF2B5EF4-FFF2-40B4-BE49-F238E27FC236}">
                <a16:creationId xmlns:a16="http://schemas.microsoft.com/office/drawing/2014/main" id="{CEB6E28E-8BBD-476B-92B2-3F6C8071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Problem</a:t>
            </a:r>
            <a:endParaRPr sz="1200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6-problem">
            <a:extLst xmlns:a="http://schemas.openxmlformats.org/drawingml/2006/main">
              <a:ext uri="{FF2B5EF4-FFF2-40B4-BE49-F238E27FC236}">
                <a16:creationId xmlns:a16="http://schemas.microsoft.com/office/drawing/2014/main" id="{9D391134-74C9-4F17-9680-21828559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EFE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2EFE8"/>
                </a:solidFill>
                <a:latin typeface="微软雅黑"/>
                <a:ea typeface="微软雅黑"/>
                <a:cs typeface="微软雅黑"/>
              </a:rPr>
              <a:t>空调出现不制冷</a:t>
            </a:r>
            <a:endParaRPr sz="1875" b="1">
              <a:solidFill>
                <a:srgbClr val="F2EF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s6-divider-1">
            <a:extLst xmlns:a="http://schemas.openxmlformats.org/drawingml/2006/main">
              <a:ext uri="{FF2B5EF4-FFF2-40B4-BE49-F238E27FC236}">
                <a16:creationId xmlns:a16="http://schemas.microsoft.com/office/drawing/2014/main" id="{69C12CB0-D01E-4F73-BF3D-C33B3B8E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811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3A"/>
            </a:solidFill>
            <a:prstDash val="solid"/>
          </a:ln>
        </p:spPr>
      </p:sp>
      <p:sp>
        <p:nvSpPr>
          <p:cNvPr id="12" name="s6-process-label">
            <a:extLst xmlns:a="http://schemas.openxmlformats.org/drawingml/2006/main">
              <a:ext uri="{FF2B5EF4-FFF2-40B4-BE49-F238E27FC236}">
                <a16:creationId xmlns:a16="http://schemas.microsoft.com/office/drawing/2014/main" id="{8F201E61-C65B-4673-BECA-3EA20CCF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81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8C6D6"/>
                </a:solidFill>
                <a:latin typeface="Aptos"/>
                <a:ea typeface="Aptos"/>
                <a:cs typeface="Aptos"/>
              </a:rPr>
              <a:t>LOCAL ANALYSIS</a:t>
            </a:r>
            <a:endParaRPr sz="1125" b="1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s6-process-rule">
            <a:extLst xmlns:a="http://schemas.openxmlformats.org/drawingml/2006/main">
              <a:ext uri="{FF2B5EF4-FFF2-40B4-BE49-F238E27FC236}">
                <a16:creationId xmlns:a16="http://schemas.microsoft.com/office/drawing/2014/main" id="{A88B15A1-C481-4FA3-AF84-D0D8D0C1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431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74D"/>
            </a:solidFill>
            <a:prstDash val="solid"/>
          </a:ln>
        </p:spPr>
      </p:sp>
      <p:sp>
        <p:nvSpPr>
          <p:cNvPr id="14" name="s6-ollama">
            <a:extLst xmlns:a="http://schemas.openxmlformats.org/drawingml/2006/main">
              <a:ext uri="{FF2B5EF4-FFF2-40B4-BE49-F238E27FC236}">
                <a16:creationId xmlns:a16="http://schemas.microsoft.com/office/drawing/2014/main" id="{065BDB07-0C82-435B-BD92-0B42B7CF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Local Ollama</a:t>
            </a:r>
            <a:endParaRPr sz="2025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s6-model">
            <a:extLst xmlns:a="http://schemas.openxmlformats.org/drawingml/2006/main">
              <a:ext uri="{FF2B5EF4-FFF2-40B4-BE49-F238E27FC236}">
                <a16:creationId xmlns:a16="http://schemas.microsoft.com/office/drawing/2014/main" id="{2043B03E-7687-4289-A0BD-0272C229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8C6D6"/>
                </a:solidFill>
                <a:latin typeface="Aptos"/>
                <a:ea typeface="Aptos"/>
                <a:cs typeface="Aptos"/>
              </a:rPr>
              <a:t>qwen3.5:9b</a:t>
            </a:r>
            <a:endParaRPr sz="1575" b="0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s6-process-note">
            <a:extLst xmlns:a="http://schemas.openxmlformats.org/drawingml/2006/main">
              <a:ext uri="{FF2B5EF4-FFF2-40B4-BE49-F238E27FC236}">
                <a16:creationId xmlns:a16="http://schemas.microsoft.com/office/drawing/2014/main" id="{D388A0C2-9FD2-4819-96DB-53AB3FC1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8620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Bounded request</a:t>
            </a:r>
            <a:endParaRPr sz="1275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Fixed output contract</a:t>
            </a:r>
            <a:endParaRPr sz="1275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6-divider-2">
            <a:extLst xmlns:a="http://schemas.openxmlformats.org/drawingml/2006/main">
              <a:ext uri="{FF2B5EF4-FFF2-40B4-BE49-F238E27FC236}">
                <a16:creationId xmlns:a16="http://schemas.microsoft.com/office/drawing/2014/main" id="{F1920895-4BF9-4A91-9B13-A07B3472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811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3A"/>
            </a:solidFill>
            <a:prstDash val="solid"/>
          </a:ln>
        </p:spPr>
      </p:sp>
      <p:sp>
        <p:nvSpPr>
          <p:cNvPr id="18" name="s6-result-label">
            <a:extLst xmlns:a="http://schemas.openxmlformats.org/drawingml/2006/main">
              <a:ext uri="{FF2B5EF4-FFF2-40B4-BE49-F238E27FC236}">
                <a16:creationId xmlns:a16="http://schemas.microsoft.com/office/drawing/2014/main" id="{71FD27EF-2886-49B8-B0BB-EF8076D5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8115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8C6D6"/>
                </a:solidFill>
                <a:latin typeface="Aptos"/>
                <a:ea typeface="Aptos"/>
                <a:cs typeface="Aptos"/>
              </a:rPr>
              <a:t>STRUCTURED RESULT</a:t>
            </a:r>
            <a:endParaRPr sz="1125" b="1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s6-result-rule">
            <a:extLst xmlns:a="http://schemas.openxmlformats.org/drawingml/2006/main">
              <a:ext uri="{FF2B5EF4-FFF2-40B4-BE49-F238E27FC236}">
                <a16:creationId xmlns:a16="http://schemas.microsoft.com/office/drawing/2014/main" id="{4E9B6672-0421-41B2-AD4D-711FBAC5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43100"/>
            <a:ext cx="377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74D"/>
            </a:solidFill>
            <a:prstDash val="solid"/>
          </a:ln>
        </p:spPr>
      </p:sp>
      <p:sp>
        <p:nvSpPr>
          <p:cNvPr id="20" name="s6-result-mark-0">
            <a:extLst xmlns:a="http://schemas.openxmlformats.org/drawingml/2006/main">
              <a:ext uri="{FF2B5EF4-FFF2-40B4-BE49-F238E27FC236}">
                <a16:creationId xmlns:a16="http://schemas.microsoft.com/office/drawing/2014/main" id="{423E03DF-B14A-4A33-8A7C-0532DE67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C6D6"/>
            </a:solidFill>
            <a:prstDash val="solid"/>
          </a:ln>
        </p:spPr>
      </p:sp>
      <p:sp>
        <p:nvSpPr>
          <p:cNvPr id="21" name="s6-result-item-0">
            <a:extLst xmlns:a="http://schemas.openxmlformats.org/drawingml/2006/main">
              <a:ext uri="{FF2B5EF4-FFF2-40B4-BE49-F238E27FC236}">
                <a16:creationId xmlns:a16="http://schemas.microsoft.com/office/drawing/2014/main" id="{09A2DDAE-2E6F-45F1-B151-82C16799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Possible causes</a:t>
            </a:r>
            <a:endParaRPr sz="1350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s6-result-mark-1">
            <a:extLst xmlns:a="http://schemas.openxmlformats.org/drawingml/2006/main">
              <a:ext uri="{FF2B5EF4-FFF2-40B4-BE49-F238E27FC236}">
                <a16:creationId xmlns:a16="http://schemas.microsoft.com/office/drawing/2014/main" id="{AC1B29ED-929B-4B28-9F4D-787E1D80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3845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C6D6"/>
            </a:solidFill>
            <a:prstDash val="solid"/>
          </a:ln>
        </p:spPr>
      </p:sp>
      <p:sp>
        <p:nvSpPr>
          <p:cNvPr id="23" name="s6-result-item-1">
            <a:extLst xmlns:a="http://schemas.openxmlformats.org/drawingml/2006/main">
              <a:ext uri="{FF2B5EF4-FFF2-40B4-BE49-F238E27FC236}">
                <a16:creationId xmlns:a16="http://schemas.microsoft.com/office/drawing/2014/main" id="{354ECB01-B4FF-4D31-8AC4-E527051E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Recommended actions</a:t>
            </a:r>
            <a:endParaRPr sz="1350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s6-result-mark-2">
            <a:extLst xmlns:a="http://schemas.openxmlformats.org/drawingml/2006/main">
              <a:ext uri="{FF2B5EF4-FFF2-40B4-BE49-F238E27FC236}">
                <a16:creationId xmlns:a16="http://schemas.microsoft.com/office/drawing/2014/main" id="{CBF3C5D4-F91F-4E69-8B5E-69D83821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9565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A24C"/>
            </a:solidFill>
            <a:prstDash val="solid"/>
          </a:ln>
        </p:spPr>
      </p:sp>
      <p:sp>
        <p:nvSpPr>
          <p:cNvPr id="25" name="s6-result-item-2">
            <a:extLst xmlns:a="http://schemas.openxmlformats.org/drawingml/2006/main">
              <a:ext uri="{FF2B5EF4-FFF2-40B4-BE49-F238E27FC236}">
                <a16:creationId xmlns:a16="http://schemas.microsoft.com/office/drawing/2014/main" id="{D5398301-A5F1-4FEB-AB6E-BBD1958B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81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3A2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3A24C"/>
                </a:solidFill>
                <a:latin typeface="Aptos"/>
                <a:ea typeface="Aptos"/>
                <a:cs typeface="Aptos"/>
              </a:rPr>
              <a:t>Human review required</a:t>
            </a:r>
            <a:endParaRPr sz="1350" b="1">
              <a:solidFill>
                <a:srgbClr val="D3A24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s6-status">
            <a:extLst xmlns:a="http://schemas.openxmlformats.org/drawingml/2006/main">
              <a:ext uri="{FF2B5EF4-FFF2-40B4-BE49-F238E27FC236}">
                <a16:creationId xmlns:a16="http://schemas.microsoft.com/office/drawing/2014/main" id="{E3C4FEC6-3A4B-455F-90A3-C93E518D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02619"/>
          </a:solidFill>
          <a:ln xmlns:a="http://schemas.openxmlformats.org/drawingml/2006/main" w="13335">
            <a:solidFill>
              <a:srgbClr val="D3A24C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3A24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3A24C"/>
                </a:solidFill>
                <a:latin typeface="Aptos"/>
                <a:ea typeface="Aptos"/>
                <a:cs typeface="Aptos"/>
              </a:rPr>
              <a:t>PENDING_HUMAN_REVIEW</a:t>
            </a:r>
            <a:endParaRPr sz="1875" b="1">
              <a:solidFill>
                <a:srgbClr val="D3A24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39DEDC1C-688D-4798-B0B9-60DF18D8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3A"/>
            </a:solidFill>
            <a:prstDash val="solid"/>
          </a:ln>
        </p:spPr>
      </p:sp>
      <p:sp>
        <p:nvSpPr>
          <p:cNvPr id="31" name="footer-6">
            <a:extLst xmlns:a="http://schemas.openxmlformats.org/drawingml/2006/main">
              <a:ext uri="{FF2B5EF4-FFF2-40B4-BE49-F238E27FC236}">
                <a16:creationId xmlns:a16="http://schemas.microsoft.com/office/drawing/2014/main" id="{947A8B7D-BC5A-429B-A2AD-F61DD223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ALPHANOAH A1 EDGE AGENT</a:t>
            </a:r>
            <a:endParaRPr sz="82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2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ed01fa7844c99"/>
          <a:srcRect xmlns:a="http://schemas.openxmlformats.org/drawingml/2006/main" l="0" t="6877" r="-228" b="214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9050" y="3638550"/>
            <a:ext cx="4010025" cy="162496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8747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7">
            <a:extLst xmlns:a="http://schemas.openxmlformats.org/drawingml/2006/main">
              <a:ext uri="{FF2B5EF4-FFF2-40B4-BE49-F238E27FC236}">
                <a16:creationId xmlns:a16="http://schemas.microsoft.com/office/drawing/2014/main" id="{042B3FB5-ECB9-4CE6-8710-177F8245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AMD HACKATHON · ENGINEERING REVIEW</a:t>
            </a:r>
            <a:endParaRPr sz="97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3589FA4F-501E-4FEA-9AA6-E0341020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23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07 / 08</a:t>
            </a:r>
            <a:endParaRPr sz="975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0DFBC40F-26D8-47DF-B163-9BCF0725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AMD Edge Validation</a:t>
            </a:r>
            <a:endParaRPr sz="28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80D2E68D-4F70-4DCE-983A-567C62F6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3A"/>
            </a:solidFill>
            <a:prstDash val="solid"/>
          </a:ln>
        </p:spPr>
      </p:sp>
      <p:sp>
        <p:nvSpPr>
          <p:cNvPr id="5" name="s7-lead">
            <a:extLst xmlns:a="http://schemas.openxmlformats.org/drawingml/2006/main">
              <a:ext uri="{FF2B5EF4-FFF2-40B4-BE49-F238E27FC236}">
                <a16:creationId xmlns:a16="http://schemas.microsoft.com/office/drawing/2014/main" id="{6623E9E9-936F-4622-9507-526B24B4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14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A real local execution path was validated on the AMD ROCm environment.</a:t>
            </a:r>
            <a:endParaRPr sz="1650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s7-stack-1">
            <a:extLst xmlns:a="http://schemas.openxmlformats.org/drawingml/2006/main">
              <a:ext uri="{FF2B5EF4-FFF2-40B4-BE49-F238E27FC236}">
                <a16:creationId xmlns:a16="http://schemas.microsoft.com/office/drawing/2014/main" id="{4AB1D0E8-549D-4CDD-B7AE-71EDF9FF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3905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73038"/>
          </a:solidFill>
          <a:ln xmlns:a="http://schemas.openxmlformats.org/drawingml/2006/main" w="11430">
            <a:solidFill>
              <a:srgbClr val="58C6D6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8C6D6"/>
                </a:solidFill>
                <a:latin typeface="Aptos"/>
                <a:ea typeface="Aptos"/>
                <a:cs typeface="Aptos"/>
              </a:rPr>
              <a:t>qwen3.5:9b</a:t>
            </a:r>
            <a:endParaRPr sz="1350" b="1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s7-stack-2">
            <a:extLst xmlns:a="http://schemas.openxmlformats.org/drawingml/2006/main">
              <a:ext uri="{FF2B5EF4-FFF2-40B4-BE49-F238E27FC236}">
                <a16:creationId xmlns:a16="http://schemas.microsoft.com/office/drawing/2014/main" id="{1490464F-34FA-497C-9857-E6DD2F0C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3905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73038"/>
          </a:solidFill>
          <a:ln xmlns:a="http://schemas.openxmlformats.org/drawingml/2006/main" w="11430">
            <a:solidFill>
              <a:srgbClr val="58C6D6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8C6D6"/>
                </a:solidFill>
                <a:latin typeface="Aptos"/>
                <a:ea typeface="Aptos"/>
                <a:cs typeface="Aptos"/>
              </a:rPr>
              <a:t>Ollama</a:t>
            </a:r>
            <a:endParaRPr sz="1350" b="1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7-stack-3">
            <a:extLst xmlns:a="http://schemas.openxmlformats.org/drawingml/2006/main">
              <a:ext uri="{FF2B5EF4-FFF2-40B4-BE49-F238E27FC236}">
                <a16:creationId xmlns:a16="http://schemas.microsoft.com/office/drawing/2014/main" id="{8292CC8B-7CCD-4337-9E57-CD3915AE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3905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51C20"/>
          </a:solidFill>
          <a:ln xmlns:a="http://schemas.openxmlformats.org/drawingml/2006/main" w="11430">
            <a:solidFill>
              <a:srgbClr val="3A474D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ROCm 7.2</a:t>
            </a:r>
            <a:endParaRPr sz="1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7-stack-4">
            <a:extLst xmlns:a="http://schemas.openxmlformats.org/drawingml/2006/main">
              <a:ext uri="{FF2B5EF4-FFF2-40B4-BE49-F238E27FC236}">
                <a16:creationId xmlns:a16="http://schemas.microsoft.com/office/drawing/2014/main" id="{7A5566F5-E466-430C-A085-49014351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3905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51C20"/>
          </a:solidFill>
          <a:ln xmlns:a="http://schemas.openxmlformats.org/drawingml/2006/main" w="11430">
            <a:solidFill>
              <a:srgbClr val="3A474D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AMD Radeon 8060S</a:t>
            </a:r>
            <a:endParaRPr sz="1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7-stack-5">
            <a:extLst xmlns:a="http://schemas.openxmlformats.org/drawingml/2006/main">
              <a:ext uri="{FF2B5EF4-FFF2-40B4-BE49-F238E27FC236}">
                <a16:creationId xmlns:a16="http://schemas.microsoft.com/office/drawing/2014/main" id="{71744965-D762-41CA-AF69-A2D040A2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3905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51C20"/>
          </a:solidFill>
          <a:ln xmlns:a="http://schemas.openxmlformats.org/drawingml/2006/main" w="11430">
            <a:solidFill>
              <a:srgbClr val="3A474D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Ryzen AI Max+ 395</a:t>
            </a:r>
            <a:endParaRPr sz="1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63" name="直接箭头连接符 32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019425" y="27432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8C6D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4" name="直接箭头连接符 3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019425" y="33528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8C6D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5" name="直接箭头连接符 34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019425" y="39624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8C6D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6" name="直接箭头连接符 35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019425" y="45720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8C6D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s7-evidence">
            <a:extLst xmlns:a="http://schemas.openxmlformats.org/drawingml/2006/main">
              <a:ext uri="{FF2B5EF4-FFF2-40B4-BE49-F238E27FC236}">
                <a16:creationId xmlns:a16="http://schemas.microsoft.com/office/drawing/2014/main" id="{5EC0E97E-BA19-4449-8C07-82C3368C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38750"/>
            <a:ext cx="4991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Local response completed</a:t>
            </a:r>
            <a:endParaRPr sz="1275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Structured contract passed</a:t>
            </a:r>
            <a:endParaRPr sz="1275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Human review remained mandatory</a:t>
            </a:r>
            <a:endParaRPr sz="1275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s7-benchmark-line">
            <a:extLst xmlns:a="http://schemas.openxmlformats.org/drawingml/2006/main">
              <a:ext uri="{FF2B5EF4-FFF2-40B4-BE49-F238E27FC236}">
                <a16:creationId xmlns:a16="http://schemas.microsoft.com/office/drawing/2014/main" id="{91A4346C-C0D2-4B95-95C5-3ABF812F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A24C"/>
            </a:solidFill>
            <a:prstDash val="solid"/>
          </a:ln>
        </p:spPr>
      </p:sp>
      <p:sp>
        <p:nvSpPr>
          <p:cNvPr id="20" name="s7-benchmark">
            <a:extLst xmlns:a="http://schemas.openxmlformats.org/drawingml/2006/main">
              <a:ext uri="{FF2B5EF4-FFF2-40B4-BE49-F238E27FC236}">
                <a16:creationId xmlns:a16="http://schemas.microsoft.com/office/drawing/2014/main" id="{D00498F2-094E-4B2C-8418-BEC6CEB5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817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9B0B4"/>
                </a:solidFill>
                <a:latin typeface="Aptos"/>
                <a:ea typeface="Aptos"/>
                <a:cs typeface="Aptos"/>
              </a:rPr>
              <a:t>Integration record — not a performance benchmark.</a:t>
            </a:r>
            <a:endParaRPr sz="1275" b="1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4C206275-74A2-452C-A16E-59C7D72B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3A"/>
            </a:solidFill>
            <a:prstDash val="solid"/>
          </a:ln>
        </p:spPr>
      </p:sp>
      <p:sp>
        <p:nvSpPr>
          <p:cNvPr id="22" name="footer-7">
            <a:extLst xmlns:a="http://schemas.openxmlformats.org/drawingml/2006/main">
              <a:ext uri="{FF2B5EF4-FFF2-40B4-BE49-F238E27FC236}">
                <a16:creationId xmlns:a16="http://schemas.microsoft.com/office/drawing/2014/main" id="{DAF56EB9-7AC5-454F-A1A7-997C5F93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ALPHANOAH A1 EDGE AGENT</a:t>
            </a:r>
            <a:endParaRPr sz="82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2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cd7bdca2649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68390" y="1348105"/>
            <a:ext cx="5547995" cy="38195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579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-8">
            <a:extLst xmlns:a="http://schemas.openxmlformats.org/drawingml/2006/main">
              <a:ext uri="{FF2B5EF4-FFF2-40B4-BE49-F238E27FC236}">
                <a16:creationId xmlns:a16="http://schemas.microsoft.com/office/drawing/2014/main" id="{1917B28B-A3A0-44EF-A112-B2AD2E51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AMD HACKATHON · ENGINEERING REVIEW</a:t>
            </a:r>
            <a:endParaRPr sz="97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5BA876C8-2F0B-425B-9701-FF398497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23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08 / 08</a:t>
            </a:r>
            <a:endParaRPr sz="975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2D278E47-3310-47CB-B261-EFF6F27D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Current Capability and Future Direction</a:t>
            </a:r>
            <a:endParaRPr sz="28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05B834E7-9EB2-4B0E-8CE7-3A405478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3A"/>
            </a:solidFill>
            <a:prstDash val="solid"/>
          </a:ln>
        </p:spPr>
      </p:sp>
      <p:sp>
        <p:nvSpPr>
          <p:cNvPr id="5" name="s8-current-label">
            <a:extLst xmlns:a="http://schemas.openxmlformats.org/drawingml/2006/main">
              <a:ext uri="{FF2B5EF4-FFF2-40B4-BE49-F238E27FC236}">
                <a16:creationId xmlns:a16="http://schemas.microsoft.com/office/drawing/2014/main" id="{ECB6A0DE-4DED-4CA0-A6C7-0C547B18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8C6D6"/>
                </a:solidFill>
                <a:latin typeface="Aptos"/>
                <a:ea typeface="Aptos"/>
                <a:cs typeface="Aptos"/>
              </a:rPr>
              <a:t>CURRENT — VERIFIED</a:t>
            </a:r>
            <a:endParaRPr sz="1350" b="1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s8-current-rule">
            <a:extLst xmlns:a="http://schemas.openxmlformats.org/drawingml/2006/main">
              <a:ext uri="{FF2B5EF4-FFF2-40B4-BE49-F238E27FC236}">
                <a16:creationId xmlns:a16="http://schemas.microsoft.com/office/drawing/2014/main" id="{6B5A4C5B-5688-4C00-A590-6D3D9A32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C6D6"/>
            </a:solidFill>
            <a:prstDash val="solid"/>
          </a:ln>
        </p:spPr>
      </p:sp>
      <p:sp>
        <p:nvSpPr>
          <p:cNvPr id="7" name="s8-current-0-mark">
            <a:extLst xmlns:a="http://schemas.openxmlformats.org/drawingml/2006/main">
              <a:ext uri="{FF2B5EF4-FFF2-40B4-BE49-F238E27FC236}">
                <a16:creationId xmlns:a16="http://schemas.microsoft.com/office/drawing/2014/main" id="{458737DC-7155-4F42-83E5-070507DE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C6D6"/>
            </a:solidFill>
            <a:prstDash val="solid"/>
          </a:ln>
        </p:spPr>
      </p:sp>
      <p:sp>
        <p:nvSpPr>
          <p:cNvPr id="8" name="s8-current-0">
            <a:extLst xmlns:a="http://schemas.openxmlformats.org/drawingml/2006/main">
              <a:ext uri="{FF2B5EF4-FFF2-40B4-BE49-F238E27FC236}">
                <a16:creationId xmlns:a16="http://schemas.microsoft.com/office/drawing/2014/main" id="{E73E4C7F-8879-4974-9BF9-160BF6DD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Controlled air-conditioner troubleshooting demo</a:t>
            </a:r>
            <a:endParaRPr sz="1575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8-current-1-mark">
            <a:extLst xmlns:a="http://schemas.openxmlformats.org/drawingml/2006/main">
              <a:ext uri="{FF2B5EF4-FFF2-40B4-BE49-F238E27FC236}">
                <a16:creationId xmlns:a16="http://schemas.microsoft.com/office/drawing/2014/main" id="{1A89C5B2-A665-48E3-B2E4-ED0C5A09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C6D6"/>
            </a:solidFill>
            <a:prstDash val="solid"/>
          </a:ln>
        </p:spPr>
      </p:sp>
      <p:sp>
        <p:nvSpPr>
          <p:cNvPr id="10" name="s8-current-1">
            <a:extLst xmlns:a="http://schemas.openxmlformats.org/drawingml/2006/main">
              <a:ext uri="{FF2B5EF4-FFF2-40B4-BE49-F238E27FC236}">
                <a16:creationId xmlns:a16="http://schemas.microsoft.com/office/drawing/2014/main" id="{75790513-199F-44AD-BD6D-5474C413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Local Ollama analysis</a:t>
            </a:r>
            <a:endParaRPr sz="1575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s8-current-2-mark">
            <a:extLst xmlns:a="http://schemas.openxmlformats.org/drawingml/2006/main">
              <a:ext uri="{FF2B5EF4-FFF2-40B4-BE49-F238E27FC236}">
                <a16:creationId xmlns:a16="http://schemas.microsoft.com/office/drawing/2014/main" id="{7AA097B1-1C2F-4870-B7C3-6FA26DA6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C6D6"/>
            </a:solidFill>
            <a:prstDash val="solid"/>
          </a:ln>
        </p:spPr>
      </p:sp>
      <p:sp>
        <p:nvSpPr>
          <p:cNvPr id="12" name="s8-current-2">
            <a:extLst xmlns:a="http://schemas.openxmlformats.org/drawingml/2006/main">
              <a:ext uri="{FF2B5EF4-FFF2-40B4-BE49-F238E27FC236}">
                <a16:creationId xmlns:a16="http://schemas.microsoft.com/office/drawing/2014/main" id="{460C56B3-3C7A-4892-84E6-A9D29663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Structured output</a:t>
            </a:r>
            <a:endParaRPr sz="1575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s8-current-3-mark">
            <a:extLst xmlns:a="http://schemas.openxmlformats.org/drawingml/2006/main">
              <a:ext uri="{FF2B5EF4-FFF2-40B4-BE49-F238E27FC236}">
                <a16:creationId xmlns:a16="http://schemas.microsoft.com/office/drawing/2014/main" id="{032216B5-33C4-4E36-9BCB-3773AA1C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C6D6"/>
            </a:solidFill>
            <a:prstDash val="solid"/>
          </a:ln>
        </p:spPr>
      </p:sp>
      <p:sp>
        <p:nvSpPr>
          <p:cNvPr id="14" name="s8-current-3">
            <a:extLst xmlns:a="http://schemas.openxmlformats.org/drawingml/2006/main">
              <a:ext uri="{FF2B5EF4-FFF2-40B4-BE49-F238E27FC236}">
                <a16:creationId xmlns:a16="http://schemas.microsoft.com/office/drawing/2014/main" id="{B5C38A58-C8B5-434C-AA64-0EFD3430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Human review workflow</a:t>
            </a:r>
            <a:endParaRPr sz="1575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s8-divider">
            <a:extLst xmlns:a="http://schemas.openxmlformats.org/drawingml/2006/main">
              <a:ext uri="{FF2B5EF4-FFF2-40B4-BE49-F238E27FC236}">
                <a16:creationId xmlns:a16="http://schemas.microsoft.com/office/drawing/2014/main" id="{5C8A5450-EEBC-4F83-8857-59EF2A53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74D"/>
            </a:solidFill>
            <a:prstDash val="solid"/>
          </a:ln>
        </p:spPr>
      </p:sp>
      <p:sp>
        <p:nvSpPr>
          <p:cNvPr id="16" name="s8-future-label">
            <a:extLst xmlns:a="http://schemas.openxmlformats.org/drawingml/2006/main">
              <a:ext uri="{FF2B5EF4-FFF2-40B4-BE49-F238E27FC236}">
                <a16:creationId xmlns:a16="http://schemas.microsoft.com/office/drawing/2014/main" id="{455FE3EF-56A0-44B4-9382-E6183DCB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002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9B0B4"/>
                </a:solidFill>
                <a:latin typeface="Aptos"/>
                <a:ea typeface="Aptos"/>
                <a:cs typeface="Aptos"/>
              </a:rPr>
              <a:t>FUTURE — PLANNED</a:t>
            </a:r>
            <a:endParaRPr sz="1350" b="1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8-future-rule">
            <a:extLst xmlns:a="http://schemas.openxmlformats.org/drawingml/2006/main">
              <a:ext uri="{FF2B5EF4-FFF2-40B4-BE49-F238E27FC236}">
                <a16:creationId xmlns:a16="http://schemas.microsoft.com/office/drawing/2014/main" id="{77EF405B-84D4-4B17-A709-4CA5A78D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383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74D"/>
            </a:solidFill>
            <a:prstDash val="dash"/>
          </a:ln>
        </p:spPr>
      </p:sp>
      <p:sp>
        <p:nvSpPr>
          <p:cNvPr id="18" name="s8-future-mark-0">
            <a:extLst xmlns:a="http://schemas.openxmlformats.org/drawingml/2006/main">
              <a:ext uri="{FF2B5EF4-FFF2-40B4-BE49-F238E27FC236}">
                <a16:creationId xmlns:a16="http://schemas.microsoft.com/office/drawing/2014/main" id="{7F2A4F18-5F97-4CA4-A4C9-1B34CCE8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241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E787E"/>
            </a:solidFill>
            <a:prstDash val="solid"/>
          </a:ln>
        </p:spPr>
      </p:sp>
      <p:sp>
        <p:nvSpPr>
          <p:cNvPr id="19" name="s8-future-0">
            <a:extLst xmlns:a="http://schemas.openxmlformats.org/drawingml/2006/main">
              <a:ext uri="{FF2B5EF4-FFF2-40B4-BE49-F238E27FC236}">
                <a16:creationId xmlns:a16="http://schemas.microsoft.com/office/drawing/2014/main" id="{AE455A86-BE1B-4CEF-B79F-3AD8A0B9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Additional Digital Employees</a:t>
            </a:r>
            <a:endParaRPr sz="1575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s8-future-mark-1">
            <a:extLst xmlns:a="http://schemas.openxmlformats.org/drawingml/2006/main">
              <a:ext uri="{FF2B5EF4-FFF2-40B4-BE49-F238E27FC236}">
                <a16:creationId xmlns:a16="http://schemas.microsoft.com/office/drawing/2014/main" id="{65331EC2-F3CD-4D65-BB95-5055E341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242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E787E"/>
            </a:solidFill>
            <a:prstDash val="solid"/>
          </a:ln>
        </p:spPr>
      </p:sp>
      <p:sp>
        <p:nvSpPr>
          <p:cNvPr id="21" name="s8-future-1">
            <a:extLst xmlns:a="http://schemas.openxmlformats.org/drawingml/2006/main">
              <a:ext uri="{FF2B5EF4-FFF2-40B4-BE49-F238E27FC236}">
                <a16:creationId xmlns:a16="http://schemas.microsoft.com/office/drawing/2014/main" id="{E5B1C666-F810-4711-9462-58289209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004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Sensor and vision integration</a:t>
            </a:r>
            <a:endParaRPr sz="1575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s8-future-mark-2">
            <a:extLst xmlns:a="http://schemas.openxmlformats.org/drawingml/2006/main">
              <a:ext uri="{FF2B5EF4-FFF2-40B4-BE49-F238E27FC236}">
                <a16:creationId xmlns:a16="http://schemas.microsoft.com/office/drawing/2014/main" id="{60BFDE8C-C167-401D-9076-42F09511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243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E787E"/>
            </a:solidFill>
            <a:prstDash val="solid"/>
          </a:ln>
        </p:spPr>
      </p:sp>
      <p:sp>
        <p:nvSpPr>
          <p:cNvPr id="23" name="s8-future-2">
            <a:extLst xmlns:a="http://schemas.openxmlformats.org/drawingml/2006/main">
              <a:ext uri="{FF2B5EF4-FFF2-40B4-BE49-F238E27FC236}">
                <a16:creationId xmlns:a16="http://schemas.microsoft.com/office/drawing/2014/main" id="{2080486D-24AF-48B9-BB69-71336E71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005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Industrial context layer</a:t>
            </a:r>
            <a:endParaRPr sz="1575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s8-close-rule">
            <a:extLst xmlns:a="http://schemas.openxmlformats.org/drawingml/2006/main">
              <a:ext uri="{FF2B5EF4-FFF2-40B4-BE49-F238E27FC236}">
                <a16:creationId xmlns:a16="http://schemas.microsoft.com/office/drawing/2014/main" id="{A17D645D-6FA3-4E22-AAF1-04023368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74D"/>
            </a:solidFill>
            <a:prstDash val="solid"/>
          </a:ln>
        </p:spPr>
      </p:sp>
      <p:sp>
        <p:nvSpPr>
          <p:cNvPr id="25" name="s8-close">
            <a:extLst xmlns:a="http://schemas.openxmlformats.org/drawingml/2006/main">
              <a:ext uri="{FF2B5EF4-FFF2-40B4-BE49-F238E27FC236}">
                <a16:creationId xmlns:a16="http://schemas.microsoft.com/office/drawing/2014/main" id="{4F1B3669-0AD9-49AA-B7AF-23CD675F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8C6D6"/>
                </a:solidFill>
                <a:latin typeface="Aptos"/>
                <a:ea typeface="Aptos"/>
                <a:cs typeface="Aptos"/>
              </a:rPr>
              <a:t>Current value: bounded local analysis with a visible human decision boundary.</a:t>
            </a:r>
            <a:endParaRPr sz="1425" b="0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8-boundary">
            <a:extLst xmlns:a="http://schemas.openxmlformats.org/drawingml/2006/main">
              <a:ext uri="{FF2B5EF4-FFF2-40B4-BE49-F238E27FC236}">
                <a16:creationId xmlns:a16="http://schemas.microsoft.com/office/drawing/2014/main" id="{8617EB1B-DC98-41AE-A60C-933223E1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578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0B4"/>
                </a:solidFill>
                <a:latin typeface="Aptos"/>
                <a:ea typeface="Aptos"/>
                <a:cs typeface="Aptos"/>
              </a:rPr>
              <a:t>Future items are not part of the Hackathon release.</a:t>
            </a:r>
            <a:endParaRPr sz="1200" b="1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55427DDE-E52E-48F2-BA48-4EF12686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3A"/>
            </a:solidFill>
            <a:prstDash val="solid"/>
          </a:ln>
        </p:spPr>
      </p:sp>
      <p:sp>
        <p:nvSpPr>
          <p:cNvPr id="28" name="footer-8">
            <a:extLst xmlns:a="http://schemas.openxmlformats.org/drawingml/2006/main">
              <a:ext uri="{FF2B5EF4-FFF2-40B4-BE49-F238E27FC236}">
                <a16:creationId xmlns:a16="http://schemas.microsoft.com/office/drawing/2014/main" id="{EAF90F2F-8D87-40F5-8A74-DD329A26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ALPHANOAH A1 EDGE AGENT</a:t>
            </a:r>
            <a:endParaRPr sz="82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13674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2026-08-06T13:28:27.9660000Z</dcterms:created>
  <dcterms:modified xsi:type="dcterms:W3CDTF">2026-08-06T13:28:27.9660000Z</dcterms:modified>
</coreProperties>
</file>