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fe3b7ab6db4a4a" /><Relationship Type="http://schemas.openxmlformats.org/officeDocument/2006/relationships/extended-properties" Target="/docProps/app.xml" Id="Rdca7f33598744aba" /><Relationship Type="http://schemas.openxmlformats.org/officeDocument/2006/relationships/officeDocument" Target="/ppt/presentation.xml" Id="Rd55038e2518542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e4ccf094d4c21"/>
  </p:sldMasterIdLst>
  <p:notesMasterIdLst>
    <p:notesMasterId xmlns:r="http://schemas.openxmlformats.org/officeDocument/2006/relationships" r:id="R2db1c3fa81cd4ee1"/>
  </p:notesMasterIdLst>
  <p:sldIdLst>
    <p:sldId xmlns:r="http://schemas.openxmlformats.org/officeDocument/2006/relationships" id="256" r:id="Rde6424f8bba44e91"/>
    <p:sldId xmlns:r="http://schemas.openxmlformats.org/officeDocument/2006/relationships" id="257" r:id="Rae7c5ef61d504ccc"/>
    <p:sldId xmlns:r="http://schemas.openxmlformats.org/officeDocument/2006/relationships" id="258" r:id="Rab7c262cb13a4839"/>
    <p:sldId xmlns:r="http://schemas.openxmlformats.org/officeDocument/2006/relationships" id="259" r:id="Rc419c20afa5f4f4a"/>
    <p:sldId xmlns:r="http://schemas.openxmlformats.org/officeDocument/2006/relationships" id="260" r:id="R6e973d8775874bd8"/>
    <p:sldId xmlns:r="http://schemas.openxmlformats.org/officeDocument/2006/relationships" id="261" r:id="R8c01879832be4d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5919a161b401b" /><Relationship Type="http://schemas.openxmlformats.org/officeDocument/2006/relationships/slideMaster" Target="/ppt/slideMasters/slideMaster1.xml" Id="R8f7e4ccf094d4c21" /><Relationship Type="http://schemas.openxmlformats.org/officeDocument/2006/relationships/notesMaster" Target="/ppt/notesMasters/notesMaster1.xml" Id="R2db1c3fa81cd4ee1" /><Relationship Type="http://schemas.openxmlformats.org/officeDocument/2006/relationships/presProps" Target="/ppt/presProps.xml" Id="R62cecb3bc85f4a40" /><Relationship Type="http://schemas.openxmlformats.org/officeDocument/2006/relationships/tableStyles" Target="/ppt/tableStyles.xml" Id="Rc51b00b40d234b12" /><Relationship Type="http://schemas.openxmlformats.org/officeDocument/2006/relationships/slide" Target="/ppt/slides/slide1.xml" Id="Rde6424f8bba44e91" /><Relationship Type="http://schemas.openxmlformats.org/officeDocument/2006/relationships/slide" Target="/ppt/slides/slide2.xml" Id="Rae7c5ef61d504ccc" /><Relationship Type="http://schemas.openxmlformats.org/officeDocument/2006/relationships/slide" Target="/ppt/slides/slide3.xml" Id="Rab7c262cb13a4839" /><Relationship Type="http://schemas.openxmlformats.org/officeDocument/2006/relationships/slide" Target="/ppt/slides/slide4.xml" Id="Rc419c20afa5f4f4a" /><Relationship Type="http://schemas.openxmlformats.org/officeDocument/2006/relationships/slide" Target="/ppt/slides/slide5.xml" Id="R6e973d8775874bd8" /><Relationship Type="http://schemas.openxmlformats.org/officeDocument/2006/relationships/slide" Target="/ppt/slides/slide6.xml" Id="R8c01879832be4d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6dadd6f1240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61651b43ea4a2c" /><Relationship Type="http://schemas.openxmlformats.org/officeDocument/2006/relationships/notesMaster" Target="/ppt/notesMasters/notesMaster1.xml" Id="R257f9692570747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f7873ad074e42" /><Relationship Type="http://schemas.openxmlformats.org/officeDocument/2006/relationships/notesMaster" Target="/ppt/notesMasters/notesMaster1.xml" Id="Rb49c444461bf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66e6403984e5d" /><Relationship Type="http://schemas.openxmlformats.org/officeDocument/2006/relationships/notesMaster" Target="/ppt/notesMasters/notesMaster1.xml" Id="Rec1ed67868aa47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4d6695b8df4456" /><Relationship Type="http://schemas.openxmlformats.org/officeDocument/2006/relationships/notesMaster" Target="/ppt/notesMasters/notesMaster1.xml" Id="Rb4dc3518edd245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1cff78a72948f2" /><Relationship Type="http://schemas.openxmlformats.org/officeDocument/2006/relationships/notesMaster" Target="/ppt/notesMasters/notesMaster1.xml" Id="Rf91b2004652a4c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8892e63e64c75" /><Relationship Type="http://schemas.openxmlformats.org/officeDocument/2006/relationships/notesMaster" Target="/ppt/notesMasters/notesMaster1.xml" Id="R8dc3aef802544e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authority boundary: local Gemma owns review and synthesis; optional Radeon API specialists contribute bounded context; deterministic Go engines own calculations and release policy.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docs/architecture.svg</a:t>
            </a:r>
          </a:p>
          <a:p xmlns:a="http://schemas.openxmlformats.org/drawingml/2006/main">
            <a:r>
              <a:t>- docs/track2-compliance.md</a:t>
            </a:r>
          </a:p>
          <a:p xmlns:a="http://schemas.openxmlformats.org/drawingml/2006/main">
            <a:r>
              <a:t>- evidence/sprint36-radeon-hybrid-journey.json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bounded development tournament, not a universal benchmark. Each compared mode contains eight public non-sealed journeys using the same Gemma 4 26B A4B QAT Q4_0 model class.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evidence/sprint33-latency-tournament.json</a:t>
            </a:r>
          </a:p>
          <a:p xmlns:a="http://schemas.openxmlformats.org/drawingml/2006/main">
            <a:r>
              <a:t>- evidence/public-claims.json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verifiability: exact public artifacts demonstrate contract preservation, local recovery from Radeon API loss, and zero released answers when the local model is unavailable.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evidence/sprint36-radeon-resilience.json</a:t>
            </a:r>
          </a:p>
          <a:p xmlns:a="http://schemas.openxmlformats.org/drawingml/2006/main">
            <a:r>
              <a:t>- evidence/sprint36-radeon-local-journey.json</a:t>
            </a:r>
          </a:p>
          <a:p xmlns:a="http://schemas.openxmlformats.org/drawingml/2006/main">
            <a:r>
              <a:t>- evidence/sprint36-radeon-hybrid-journey.json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bc6590f28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a83d7655804d49" /><Relationship Type="http://schemas.openxmlformats.org/officeDocument/2006/relationships/slideLayout" Target="/ppt/slideLayouts/slideLayout1.xml" Id="R18b2f387a7aa42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b2f387a7aa42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d233494f94a56" /><Relationship Type="http://schemas.openxmlformats.org/officeDocument/2006/relationships/notesSlide" Target="/ppt/notesSlides/notesSlide1.xml" Id="R208c5130602e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13ce6a04f4b88" /><Relationship Type="http://schemas.openxmlformats.org/officeDocument/2006/relationships/notesSlide" Target="/ppt/notesSlides/notesSlide2.xml" Id="R7448e6aff4f54f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0c51891d54aca" /><Relationship Type="http://schemas.openxmlformats.org/officeDocument/2006/relationships/image" Target="/ppt/media/image.png" Id="Re38d965685b14488" /><Relationship Type="http://schemas.openxmlformats.org/officeDocument/2006/relationships/notesSlide" Target="/ppt/notesSlides/notesSlide3.xml" Id="Rb768911d382744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60686eebe4e31" /><Relationship Type="http://schemas.openxmlformats.org/officeDocument/2006/relationships/notesSlide" Target="/ppt/notesSlides/notesSlide4.xml" Id="Ra44b8bb56d9a40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c5c6cf6444c00" /><Relationship Type="http://schemas.openxmlformats.org/officeDocument/2006/relationships/chart" Target="/ppt/slides/charts/chart1.xml" Id="R7f9d4b3295674c86" /><Relationship Type="http://schemas.openxmlformats.org/officeDocument/2006/relationships/notesSlide" Target="/ppt/notesSlides/notesSlide5.xml" Id="R98058dd0cb5b4f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c22867ab64640" /><Relationship Type="http://schemas.openxmlformats.org/officeDocument/2006/relationships/notesSlide" Target="/ppt/notesSlides/notesSlide6.xml" Id="Rfa42ef66f9f54c9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End-to-end seconds</c:v>
          </c:tx>
          <c:spPr>
            <a:solidFill xmlns:a="http://schemas.openxmlformats.org/drawingml/2006/main">
              <a:srgbClr val="3F756E"/>
            </a:solidFill>
          </c:spPr>
          <c:cat>
            <c:strLit>
              <c:ptCount val="3"/>
              <c:pt idx="0">
                <c:v>Baseline · 2 workers</c:v>
              </c:pt>
              <c:pt idx="1">
                <c:v>Local · 4 workers</c:v>
              </c:pt>
              <c:pt idx="2">
                <c:v>Hybrid · 4 workers</c:v>
              </c:pt>
            </c:strLit>
          </c:cat>
          <c:val>
            <c:numLit>
              <c:formatCode>General</c:formatCode>
              <c:ptCount val="3"/>
              <c:pt idx="0">
                <c:v>118.918</c:v>
              </c:pt>
              <c:pt idx="1">
                <c:v>42.376</c:v>
              </c:pt>
              <c:pt idx="2">
                <c:v>50.585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ECFC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orbit">
            <a:extLst xmlns:a="http://schemas.openxmlformats.org/drawingml/2006/main">
              <a:ext uri="{FF2B5EF4-FFF2-40B4-BE49-F238E27FC236}">
                <a16:creationId xmlns:a16="http://schemas.microsoft.com/office/drawing/2014/main" id="{354AC2E7-0162-4747-B476-A0EB3C3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4286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6952567-6AF3-420A-AEC9-838A5BC0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80765E-93D1-4D89-95D6-84244A9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762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SignalForge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D3F49694-3E74-489A-BCE1-50C00F66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95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DCEAE4"/>
                </a:solidFill>
              </a:defRPr>
            </a:pPr>
            <a:r>
              <a:rPr sz="2625" b="1">
                <a:solidFill>
                  <a:srgbClr val="DCEAE4"/>
                </a:solidFill>
              </a:rPr>
              <a:t>Local intelligence.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DCEAE4"/>
                </a:solidFill>
              </a:defRPr>
            </a:pPr>
            <a:r>
              <a:rPr sz="2625" b="1">
                <a:solidFill>
                  <a:srgbClr val="DCEAE4"/>
                </a:solidFill>
              </a:rPr>
              <a:t>Deterministic financial truth.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638A1C-12AB-4CF8-A2D6-532E2D87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FD6D0"/>
                </a:solidFill>
              </a:defRPr>
            </a:pPr>
            <a:r>
              <a:rPr sz="1575" b="0">
                <a:solidFill>
                  <a:srgbClr val="BFD6D0"/>
                </a:solidFill>
              </a:rPr>
              <a:t>A private research desk built on AMD Radeon and ROCm</a:t>
            </a:r>
          </a:p>
        </p:txBody>
      </p:sp>
      <p:sp>
        <p:nvSpPr>
          <p:cNvPr id="6" name="cover-track">
            <a:extLst xmlns:a="http://schemas.openxmlformats.org/drawingml/2006/main">
              <a:ext uri="{FF2B5EF4-FFF2-40B4-BE49-F238E27FC236}">
                <a16:creationId xmlns:a16="http://schemas.microsoft.com/office/drawing/2014/main" id="{1DD28D6A-193B-4BB2-AA62-63B47BF8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EB3AB"/>
                </a:solidFill>
              </a:defRPr>
            </a:pPr>
            <a:r>
              <a:rPr sz="1050" b="0">
                <a:solidFill>
                  <a:srgbClr val="8EB3AB"/>
                </a:solidFill>
              </a:rPr>
              <a:t>AMD AI DevMaster Hackathon · Track 2: Agentic AI</a:t>
            </a:r>
          </a:p>
        </p:txBody>
      </p:sp>
      <p:sp>
        <p:nvSpPr>
          <p:cNvPr id="7" name="cover-chip">
            <a:extLst xmlns:a="http://schemas.openxmlformats.org/drawingml/2006/main">
              <a:ext uri="{FF2B5EF4-FFF2-40B4-BE49-F238E27FC236}">
                <a16:creationId xmlns:a16="http://schemas.microsoft.com/office/drawing/2014/main" id="{1B25FB10-58C0-42D6-8BD5-B4E21C14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95875"/>
            <a:ext cx="2762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B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chip-text">
            <a:extLst xmlns:a="http://schemas.openxmlformats.org/drawingml/2006/main">
              <a:ext uri="{FF2B5EF4-FFF2-40B4-BE49-F238E27FC236}">
                <a16:creationId xmlns:a16="http://schemas.microsoft.com/office/drawing/2014/main" id="{19128F0C-644B-4E94-917C-8F0ECCF4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C38"/>
                </a:solidFill>
              </a:defRPr>
            </a:pPr>
            <a:r>
              <a:rPr sz="1350" b="1">
                <a:solidFill>
                  <a:srgbClr val="102C38"/>
                </a:solidFill>
              </a:rPr>
              <a:t>Local core + optional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C38"/>
                </a:solidFill>
              </a:defRPr>
            </a:pPr>
            <a:r>
              <a:rPr sz="1350" b="1">
                <a:solidFill>
                  <a:srgbClr val="102C38"/>
                </a:solidFill>
              </a:rPr>
              <a:t>Radeon API specialists</a:t>
            </a:r>
          </a:p>
        </p:txBody>
      </p:sp>
    </p:spTree>
    <p:extLst>
      <p:ext uri="{BB962C8B-B14F-4D97-AF65-F5344CB8AC3E}">
        <p14:creationId xmlns:p14="http://schemas.microsoft.com/office/powerpoint/2010/main" val="1462792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7BB7ABBE-A863-43A0-A3B2-E33CEC3C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THE PRODUCT DECISION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15D52A5-D690-4B32-BD39-5787135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A serious investor needs a process, not another answer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49D08CFD-5928-43BB-9954-E573FC8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C63E026D-544C-43E7-90B1-B4112243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A5CE51AD-F468-432F-9CE6-392AEEF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02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D911C25C-C211-4F9C-8109-9140D94E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Public information is abundant.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Evidence discipline is not.</a:t>
            </a:r>
          </a:p>
        </p:txBody>
      </p:sp>
      <p:sp>
        <p:nvSpPr>
          <p:cNvPr id="7" name="problem-detail">
            <a:extLst xmlns:a="http://schemas.openxmlformats.org/drawingml/2006/main">
              <a:ext uri="{FF2B5EF4-FFF2-40B4-BE49-F238E27FC236}">
                <a16:creationId xmlns:a16="http://schemas.microsoft.com/office/drawing/2014/main" id="{87E829DA-1BF4-4DC9-8F51-FF07EBCB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34B52"/>
                </a:solidFill>
              </a:defRPr>
            </a:pPr>
            <a:r>
              <a:rPr sz="1425" b="0">
                <a:solidFill>
                  <a:srgbClr val="334B52"/>
                </a:solidFill>
              </a:rPr>
              <a:t>SignalForge turns filings, investor-relations material, macro series, and market observations into a research case the user can inspect and challenge.</a:t>
            </a:r>
          </a:p>
        </p:txBody>
      </p:sp>
      <p:sp>
        <p:nvSpPr>
          <p:cNvPr id="8" name="value-band">
            <a:extLst xmlns:a="http://schemas.openxmlformats.org/drawingml/2006/main">
              <a:ext uri="{FF2B5EF4-FFF2-40B4-BE49-F238E27FC236}">
                <a16:creationId xmlns:a16="http://schemas.microsoft.com/office/drawing/2014/main" id="{AA38ECBE-4D06-430D-AD43-4206A49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58674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9" name="outcome-label-0">
            <a:extLst xmlns:a="http://schemas.openxmlformats.org/drawingml/2006/main">
              <a:ext uri="{FF2B5EF4-FFF2-40B4-BE49-F238E27FC236}">
                <a16:creationId xmlns:a16="http://schemas.microsoft.com/office/drawing/2014/main" id="{BD9D6EE4-F39A-4090-B18A-240C6B35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43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UNDERSTAND</a:t>
            </a:r>
          </a:p>
        </p:txBody>
      </p:sp>
      <p:sp>
        <p:nvSpPr>
          <p:cNvPr id="10" name="outcome-copy-0">
            <a:extLst xmlns:a="http://schemas.openxmlformats.org/drawingml/2006/main">
              <a:ext uri="{FF2B5EF4-FFF2-40B4-BE49-F238E27FC236}">
                <a16:creationId xmlns:a16="http://schemas.microsoft.com/office/drawing/2014/main" id="{23782588-290C-4E62-87C9-9B6E4B2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Business model and financial quality</a:t>
            </a:r>
          </a:p>
        </p:txBody>
      </p:sp>
      <p:sp>
        <p:nvSpPr>
          <p:cNvPr id="11" name="outcome-rule-0">
            <a:extLst xmlns:a="http://schemas.openxmlformats.org/drawingml/2006/main">
              <a:ext uri="{FF2B5EF4-FFF2-40B4-BE49-F238E27FC236}">
                <a16:creationId xmlns:a16="http://schemas.microsoft.com/office/drawing/2014/main" id="{17AA3D83-AB10-4455-A9A6-6232D6C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utcome-label-1">
            <a:extLst xmlns:a="http://schemas.openxmlformats.org/drawingml/2006/main">
              <a:ext uri="{FF2B5EF4-FFF2-40B4-BE49-F238E27FC236}">
                <a16:creationId xmlns:a16="http://schemas.microsoft.com/office/drawing/2014/main" id="{3A75C808-0370-4F34-9625-CF9BB4C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CONNECT</a:t>
            </a:r>
          </a:p>
        </p:txBody>
      </p:sp>
      <p:sp>
        <p:nvSpPr>
          <p:cNvPr id="13" name="outcome-copy-1">
            <a:extLst xmlns:a="http://schemas.openxmlformats.org/drawingml/2006/main">
              <a:ext uri="{FF2B5EF4-FFF2-40B4-BE49-F238E27FC236}">
                <a16:creationId xmlns:a16="http://schemas.microsoft.com/office/drawing/2014/main" id="{05D353E4-C852-47C1-95A1-B896026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0510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Economic variables through explicit mechanisms</a:t>
            </a:r>
          </a:p>
        </p:txBody>
      </p:sp>
      <p:sp>
        <p:nvSpPr>
          <p:cNvPr id="14" name="outcome-rule-1">
            <a:extLst xmlns:a="http://schemas.openxmlformats.org/drawingml/2006/main">
              <a:ext uri="{FF2B5EF4-FFF2-40B4-BE49-F238E27FC236}">
                <a16:creationId xmlns:a16="http://schemas.microsoft.com/office/drawing/2014/main" id="{17A534A2-22A1-4451-9239-34955A88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utcome-label-2">
            <a:extLst xmlns:a="http://schemas.openxmlformats.org/drawingml/2006/main">
              <a:ext uri="{FF2B5EF4-FFF2-40B4-BE49-F238E27FC236}">
                <a16:creationId xmlns:a16="http://schemas.microsoft.com/office/drawing/2014/main" id="{FA966D4B-EDE5-46F5-B086-8FE63929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052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VALUE</a:t>
            </a:r>
          </a:p>
        </p:txBody>
      </p:sp>
      <p:sp>
        <p:nvSpPr>
          <p:cNvPr id="16" name="outcome-copy-2">
            <a:extLst xmlns:a="http://schemas.openxmlformats.org/drawingml/2006/main">
              <a:ext uri="{FF2B5EF4-FFF2-40B4-BE49-F238E27FC236}">
                <a16:creationId xmlns:a16="http://schemas.microsoft.com/office/drawing/2014/main" id="{381FC484-ADCC-4CD6-B67C-3F1B663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DCF, multiples, sensitivity, and assumptions</a:t>
            </a:r>
          </a:p>
        </p:txBody>
      </p:sp>
      <p:sp>
        <p:nvSpPr>
          <p:cNvPr id="17" name="outcome-rule-2">
            <a:extLst xmlns:a="http://schemas.openxmlformats.org/drawingml/2006/main">
              <a:ext uri="{FF2B5EF4-FFF2-40B4-BE49-F238E27FC236}">
                <a16:creationId xmlns:a16="http://schemas.microsoft.com/office/drawing/2014/main" id="{0CC507A1-2B99-4EDC-A619-875C3DAF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utcome-label-3">
            <a:extLst xmlns:a="http://schemas.openxmlformats.org/drawingml/2006/main">
              <a:ext uri="{FF2B5EF4-FFF2-40B4-BE49-F238E27FC236}">
                <a16:creationId xmlns:a16="http://schemas.microsoft.com/office/drawing/2014/main" id="{0C376A64-46B2-4C6C-8F8B-CACB7F4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862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CHALLENGE</a:t>
            </a:r>
          </a:p>
        </p:txBody>
      </p:sp>
      <p:sp>
        <p:nvSpPr>
          <p:cNvPr id="19" name="outcome-copy-3">
            <a:extLst xmlns:a="http://schemas.openxmlformats.org/drawingml/2006/main">
              <a:ext uri="{FF2B5EF4-FFF2-40B4-BE49-F238E27FC236}">
                <a16:creationId xmlns:a16="http://schemas.microsoft.com/office/drawing/2014/main" id="{F064DE8B-B2CF-4B56-BD72-90FF30B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Counterevidence and thesis invalidation</a:t>
            </a:r>
          </a:p>
        </p:txBody>
      </p:sp>
      <p:sp>
        <p:nvSpPr>
          <p:cNvPr id="20" name="responsible-boundary">
            <a:extLst xmlns:a="http://schemas.openxmlformats.org/drawingml/2006/main">
              <a:ext uri="{FF2B5EF4-FFF2-40B4-BE49-F238E27FC236}">
                <a16:creationId xmlns:a16="http://schemas.microsoft.com/office/drawing/2014/main" id="{ECC71FA3-49D8-4A8C-AF07-50DC0ABA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F756E"/>
                </a:solidFill>
              </a:defRPr>
            </a:pPr>
            <a:r>
              <a:rPr sz="1200" b="1">
                <a:solidFill>
                  <a:srgbClr val="3F756E"/>
                </a:solidFill>
              </a:rPr>
              <a:t>No price prediction · No trade execution · No personalized investment instruction</a:t>
            </a:r>
          </a:p>
        </p:txBody>
      </p:sp>
    </p:spTree>
    <p:extLst>
      <p:ext uri="{BB962C8B-B14F-4D97-AF65-F5344CB8AC3E}">
        <p14:creationId xmlns:p14="http://schemas.microsoft.com/office/powerpoint/2010/main" val="465985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3">
            <a:extLst xmlns:a="http://schemas.openxmlformats.org/drawingml/2006/main">
              <a:ext uri="{FF2B5EF4-FFF2-40B4-BE49-F238E27FC236}">
                <a16:creationId xmlns:a16="http://schemas.microsoft.com/office/drawing/2014/main" id="{73C31A2F-4697-4FE1-84D9-635F3AE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THE AUTHORITY MODEL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4D8EDD0-D921-4642-A6D4-370F56C4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Models interpret; software owns financial truth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E866A366-A4FC-4D50-B29C-D20DE26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F6EBD875-8FEE-47D9-B997-61AA0C9F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C4B7056F-5AAE-4E24-A52B-AA03C328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03</a:t>
            </a:r>
          </a:p>
        </p:txBody>
      </p:sp>
      <p:sp>
        <p:nvSpPr>
          <p:cNvPr id="6" name="architecture-eyebrow-repair">
            <a:extLst xmlns:a="http://schemas.openxmlformats.org/drawingml/2006/main">
              <a:ext uri="{FF2B5EF4-FFF2-40B4-BE49-F238E27FC236}">
                <a16:creationId xmlns:a16="http://schemas.microsoft.com/office/drawing/2014/main" id="{AF034FDC-D514-4D17-B4C9-405B2A80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eyebrow-final">
            <a:extLst xmlns:a="http://schemas.openxmlformats.org/drawingml/2006/main">
              <a:ext uri="{FF2B5EF4-FFF2-40B4-BE49-F238E27FC236}">
                <a16:creationId xmlns:a16="http://schemas.microsoft.com/office/drawing/2014/main" id="{B0F1B342-B82D-4DEA-A42A-ECE3A78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THE AUTHORITY MODEL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d965685b14488"/>
          <a:stretch xmlns:a="http://schemas.openxmlformats.org/drawingml/2006/main"/>
        </p:blipFill>
        <p:spPr>
          <a:xfrm xmlns:a="http://schemas.openxmlformats.org/drawingml/2006/main" flipH="0" flipV="0">
            <a:off x="2499360" y="1504950"/>
            <a:ext cx="7193280" cy="4495800"/>
          </a:xfrm>
          <a:prstGeom xmlns:a="http://schemas.openxmlformats.org/drawingml/2006/main" prst="rect">
            <a:avLst/>
          </a:prstGeom>
        </p:spPr>
      </p:pic>
      <p:sp>
        <p:nvSpPr>
          <p:cNvPr id="9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C00647F6-88A2-41F6-992B-85A12C9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43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F756E"/>
                </a:solidFill>
              </a:defRPr>
            </a:pPr>
            <a:r>
              <a:rPr sz="1200" b="1">
                <a:solidFill>
                  <a:srgbClr val="3F756E"/>
                </a:solidFill>
              </a:rPr>
              <a:t>Local Gemma reviews and synthesizes; optional Radeon API specialists add bounded context; Go owns values, tools, evidence, lineage, and release.</a:t>
            </a:r>
          </a:p>
        </p:txBody>
      </p:sp>
    </p:spTree>
    <p:extLst>
      <p:ext uri="{BB962C8B-B14F-4D97-AF65-F5344CB8AC3E}">
        <p14:creationId xmlns:p14="http://schemas.microsoft.com/office/powerpoint/2010/main" val="1106362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-4">
            <a:extLst xmlns:a="http://schemas.openxmlformats.org/drawingml/2006/main">
              <a:ext uri="{FF2B5EF4-FFF2-40B4-BE49-F238E27FC236}">
                <a16:creationId xmlns:a16="http://schemas.microsoft.com/office/drawing/2014/main" id="{8DBB0913-C02C-4EC0-BC34-C33B1560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AGENT COMPLETENESS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CA9AE8B-7AA6-4773-9495-3097ACF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All five Track 2 capabilities are visible in one journey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E11F347A-12C4-405D-A65C-3B6F87AD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15F64FE7-B7EC-40EA-A159-4D10523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D9022039-BB87-4C8D-A16D-570E95C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04</a:t>
            </a:r>
          </a:p>
        </p:txBody>
      </p:sp>
      <p:sp>
        <p:nvSpPr>
          <p:cNvPr id="6" name="cap-num-0">
            <a:extLst xmlns:a="http://schemas.openxmlformats.org/drawingml/2006/main">
              <a:ext uri="{FF2B5EF4-FFF2-40B4-BE49-F238E27FC236}">
                <a16:creationId xmlns:a16="http://schemas.microsoft.com/office/drawing/2014/main" id="{E26870A2-ED9F-4E7D-BF54-77241E10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-num-text-0">
            <a:extLst xmlns:a="http://schemas.openxmlformats.org/drawingml/2006/main">
              <a:ext uri="{FF2B5EF4-FFF2-40B4-BE49-F238E27FC236}">
                <a16:creationId xmlns:a16="http://schemas.microsoft.com/office/drawing/2014/main" id="{919FBFAB-E006-470D-8380-57F49DA1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cap-label-0">
            <a:extLst xmlns:a="http://schemas.openxmlformats.org/drawingml/2006/main">
              <a:ext uri="{FF2B5EF4-FFF2-40B4-BE49-F238E27FC236}">
                <a16:creationId xmlns:a16="http://schemas.microsoft.com/office/drawing/2014/main" id="{9616CFF8-8323-40B1-893C-E88AC1E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811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Local retrieval</a:t>
            </a:r>
          </a:p>
        </p:txBody>
      </p:sp>
      <p:sp>
        <p:nvSpPr>
          <p:cNvPr id="9" name="cap-detail-0">
            <a:extLst xmlns:a="http://schemas.openxmlformats.org/drawingml/2006/main">
              <a:ext uri="{FF2B5EF4-FFF2-40B4-BE49-F238E27FC236}">
                <a16:creationId xmlns:a16="http://schemas.microsoft.com/office/drawing/2014/main" id="{6ABD044D-573D-40F9-926A-DA0ADB1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Point-in-time primary evidence with citations</a:t>
            </a:r>
          </a:p>
        </p:txBody>
      </p:sp>
      <p:sp>
        <p:nvSpPr>
          <p:cNvPr id="10" name="cap-num-1">
            <a:extLst xmlns:a="http://schemas.openxmlformats.org/drawingml/2006/main">
              <a:ext uri="{FF2B5EF4-FFF2-40B4-BE49-F238E27FC236}">
                <a16:creationId xmlns:a16="http://schemas.microsoft.com/office/drawing/2014/main" id="{78334A7C-C4FC-4E9A-A8F4-B44F84B5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-num-text-1">
            <a:extLst xmlns:a="http://schemas.openxmlformats.org/drawingml/2006/main">
              <a:ext uri="{FF2B5EF4-FFF2-40B4-BE49-F238E27FC236}">
                <a16:creationId xmlns:a16="http://schemas.microsoft.com/office/drawing/2014/main" id="{4C773107-3278-445F-A068-D9F357B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cap-label-1">
            <a:extLst xmlns:a="http://schemas.openxmlformats.org/drawingml/2006/main">
              <a:ext uri="{FF2B5EF4-FFF2-40B4-BE49-F238E27FC236}">
                <a16:creationId xmlns:a16="http://schemas.microsoft.com/office/drawing/2014/main" id="{8ECE8B8B-2E6E-48D5-B4A6-7EDA8DCD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Tool invocation</a:t>
            </a:r>
          </a:p>
        </p:txBody>
      </p:sp>
      <p:sp>
        <p:nvSpPr>
          <p:cNvPr id="13" name="cap-detail-1">
            <a:extLst xmlns:a="http://schemas.openxmlformats.org/drawingml/2006/main">
              <a:ext uri="{FF2B5EF4-FFF2-40B4-BE49-F238E27FC236}">
                <a16:creationId xmlns:a16="http://schemas.microsoft.com/office/drawing/2014/main" id="{D70398E2-6A1E-4065-8C0B-CEBFF44E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80 role-authorized deterministic operations</a:t>
            </a:r>
          </a:p>
        </p:txBody>
      </p:sp>
      <p:sp>
        <p:nvSpPr>
          <p:cNvPr id="14" name="cap-num-2">
            <a:extLst xmlns:a="http://schemas.openxmlformats.org/drawingml/2006/main">
              <a:ext uri="{FF2B5EF4-FFF2-40B4-BE49-F238E27FC236}">
                <a16:creationId xmlns:a16="http://schemas.microsoft.com/office/drawing/2014/main" id="{BC112F19-E150-4524-8EA6-EE6A48F8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num-text-2">
            <a:extLst xmlns:a="http://schemas.openxmlformats.org/drawingml/2006/main">
              <a:ext uri="{FF2B5EF4-FFF2-40B4-BE49-F238E27FC236}">
                <a16:creationId xmlns:a16="http://schemas.microsoft.com/office/drawing/2014/main" id="{5AA4E95A-35EA-4686-AD33-5F65D60C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cap-label-2">
            <a:extLst xmlns:a="http://schemas.openxmlformats.org/drawingml/2006/main">
              <a:ext uri="{FF2B5EF4-FFF2-40B4-BE49-F238E27FC236}">
                <a16:creationId xmlns:a16="http://schemas.microsoft.com/office/drawing/2014/main" id="{E05BCF02-47DA-4030-B14B-AF7DADE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Multi-step planning</a:t>
            </a:r>
          </a:p>
        </p:txBody>
      </p:sp>
      <p:sp>
        <p:nvSpPr>
          <p:cNvPr id="17" name="cap-detail-2">
            <a:extLst xmlns:a="http://schemas.openxmlformats.org/drawingml/2006/main">
              <a:ext uri="{FF2B5EF4-FFF2-40B4-BE49-F238E27FC236}">
                <a16:creationId xmlns:a16="http://schemas.microsoft.com/office/drawing/2014/main" id="{5C7C2923-2614-4870-8ECD-8934A439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Typed fan-out, two critics, one synthesizer</a:t>
            </a:r>
          </a:p>
        </p:txBody>
      </p:sp>
      <p:sp>
        <p:nvSpPr>
          <p:cNvPr id="18" name="cap-num-3">
            <a:extLst xmlns:a="http://schemas.openxmlformats.org/drawingml/2006/main">
              <a:ext uri="{FF2B5EF4-FFF2-40B4-BE49-F238E27FC236}">
                <a16:creationId xmlns:a16="http://schemas.microsoft.com/office/drawing/2014/main" id="{E3619540-E349-4BA7-96E4-A73C8D25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-num-text-3">
            <a:extLst xmlns:a="http://schemas.openxmlformats.org/drawingml/2006/main">
              <a:ext uri="{FF2B5EF4-FFF2-40B4-BE49-F238E27FC236}">
                <a16:creationId xmlns:a16="http://schemas.microsoft.com/office/drawing/2014/main" id="{BC8F884C-7142-459C-88A8-CC3761D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cap-label-3">
            <a:extLst xmlns:a="http://schemas.openxmlformats.org/drawingml/2006/main">
              <a:ext uri="{FF2B5EF4-FFF2-40B4-BE49-F238E27FC236}">
                <a16:creationId xmlns:a16="http://schemas.microsoft.com/office/drawing/2014/main" id="{207C5928-A553-4840-AF1A-F0D5C88B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Local memory</a:t>
            </a:r>
          </a:p>
        </p:txBody>
      </p:sp>
      <p:sp>
        <p:nvSpPr>
          <p:cNvPr id="21" name="cap-detail-3">
            <a:extLst xmlns:a="http://schemas.openxmlformats.org/drawingml/2006/main">
              <a:ext uri="{FF2B5EF4-FFF2-40B4-BE49-F238E27FC236}">
                <a16:creationId xmlns:a16="http://schemas.microsoft.com/office/drawing/2014/main" id="{2691E146-1AA9-475D-BD71-B3E8D19B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Governed follow-ups and opt-in case retention</a:t>
            </a:r>
          </a:p>
        </p:txBody>
      </p:sp>
      <p:sp>
        <p:nvSpPr>
          <p:cNvPr id="22" name="cap-num-4">
            <a:extLst xmlns:a="http://schemas.openxmlformats.org/drawingml/2006/main">
              <a:ext uri="{FF2B5EF4-FFF2-40B4-BE49-F238E27FC236}">
                <a16:creationId xmlns:a16="http://schemas.microsoft.com/office/drawing/2014/main" id="{609A545A-CEF3-4742-AD05-92013F49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p-num-text-4">
            <a:extLst xmlns:a="http://schemas.openxmlformats.org/drawingml/2006/main">
              <a:ext uri="{FF2B5EF4-FFF2-40B4-BE49-F238E27FC236}">
                <a16:creationId xmlns:a16="http://schemas.microsoft.com/office/drawing/2014/main" id="{4CC59192-0C71-4995-9D39-0677E77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cap-label-4">
            <a:extLst xmlns:a="http://schemas.openxmlformats.org/drawingml/2006/main">
              <a:ext uri="{FF2B5EF4-FFF2-40B4-BE49-F238E27FC236}">
                <a16:creationId xmlns:a16="http://schemas.microsoft.com/office/drawing/2014/main" id="{42CA12B3-03FB-4E4D-BA35-1CDE253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Permission + privacy</a:t>
            </a:r>
          </a:p>
        </p:txBody>
      </p:sp>
      <p:sp>
        <p:nvSpPr>
          <p:cNvPr id="25" name="cap-detail-4">
            <a:extLst xmlns:a="http://schemas.openxmlformats.org/drawingml/2006/main">
              <a:ext uri="{FF2B5EF4-FFF2-40B4-BE49-F238E27FC236}">
                <a16:creationId xmlns:a16="http://schemas.microsoft.com/office/drawing/2014/main" id="{2414250B-84F2-471E-807B-AD52DD68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Read-only model authority and safe projection</a:t>
            </a:r>
          </a:p>
        </p:txBody>
      </p:sp>
      <p:sp>
        <p:nvSpPr>
          <p:cNvPr id="26" name="roles-panel">
            <a:extLst xmlns:a="http://schemas.openxmlformats.org/drawingml/2006/main">
              <a:ext uri="{FF2B5EF4-FFF2-40B4-BE49-F238E27FC236}">
                <a16:creationId xmlns:a16="http://schemas.microsoft.com/office/drawing/2014/main" id="{53C492B4-C1DB-4C8F-8029-46A2DCDA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209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27" name="roles-accent">
            <a:extLst xmlns:a="http://schemas.openxmlformats.org/drawingml/2006/main">
              <a:ext uri="{FF2B5EF4-FFF2-40B4-BE49-F238E27FC236}">
                <a16:creationId xmlns:a16="http://schemas.microsoft.com/office/drawing/2014/main" id="{ED3062E7-E4D4-46CC-81F8-F731C613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oles-value">
            <a:extLst xmlns:a="http://schemas.openxmlformats.org/drawingml/2006/main">
              <a:ext uri="{FF2B5EF4-FFF2-40B4-BE49-F238E27FC236}">
                <a16:creationId xmlns:a16="http://schemas.microsoft.com/office/drawing/2014/main" id="{AE0863C6-0240-47CE-92BA-51664AC5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11</a:t>
            </a:r>
          </a:p>
        </p:txBody>
      </p:sp>
      <p:sp>
        <p:nvSpPr>
          <p:cNvPr id="29" name="roles-label">
            <a:extLst xmlns:a="http://schemas.openxmlformats.org/drawingml/2006/main">
              <a:ext uri="{FF2B5EF4-FFF2-40B4-BE49-F238E27FC236}">
                <a16:creationId xmlns:a16="http://schemas.microsoft.com/office/drawing/2014/main" id="{5B9F2204-F34D-4314-860E-4CF8689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logical roles</a:t>
            </a:r>
          </a:p>
        </p:txBody>
      </p:sp>
      <p:sp>
        <p:nvSpPr>
          <p:cNvPr id="30" name="tools-panel">
            <a:extLst xmlns:a="http://schemas.openxmlformats.org/drawingml/2006/main">
              <a:ext uri="{FF2B5EF4-FFF2-40B4-BE49-F238E27FC236}">
                <a16:creationId xmlns:a16="http://schemas.microsoft.com/office/drawing/2014/main" id="{C3F08952-1EC3-4216-B33C-80E9F10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209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31" name="tools-accent">
            <a:extLst xmlns:a="http://schemas.openxmlformats.org/drawingml/2006/main">
              <a:ext uri="{FF2B5EF4-FFF2-40B4-BE49-F238E27FC236}">
                <a16:creationId xmlns:a16="http://schemas.microsoft.com/office/drawing/2014/main" id="{71EBCF70-5C02-4589-9984-266A27ED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ols-value">
            <a:extLst xmlns:a="http://schemas.openxmlformats.org/drawingml/2006/main">
              <a:ext uri="{FF2B5EF4-FFF2-40B4-BE49-F238E27FC236}">
                <a16:creationId xmlns:a16="http://schemas.microsoft.com/office/drawing/2014/main" id="{6DFA30BC-6FB2-4B4C-8121-2BC1A085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80</a:t>
            </a:r>
          </a:p>
        </p:txBody>
      </p:sp>
      <p:sp>
        <p:nvSpPr>
          <p:cNvPr id="33" name="tools-label">
            <a:extLst xmlns:a="http://schemas.openxmlformats.org/drawingml/2006/main">
              <a:ext uri="{FF2B5EF4-FFF2-40B4-BE49-F238E27FC236}">
                <a16:creationId xmlns:a16="http://schemas.microsoft.com/office/drawing/2014/main" id="{1541CD33-6077-4EB8-95C0-34AFB377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deterministic tools</a:t>
            </a:r>
          </a:p>
        </p:txBody>
      </p:sp>
      <p:sp>
        <p:nvSpPr>
          <p:cNvPr id="34" name="claims-panel">
            <a:extLst xmlns:a="http://schemas.openxmlformats.org/drawingml/2006/main">
              <a:ext uri="{FF2B5EF4-FFF2-40B4-BE49-F238E27FC236}">
                <a16:creationId xmlns:a16="http://schemas.microsoft.com/office/drawing/2014/main" id="{29E56B70-10AF-475A-AED3-D35F4DB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4686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35" name="claims-accent">
            <a:extLst xmlns:a="http://schemas.openxmlformats.org/drawingml/2006/main">
              <a:ext uri="{FF2B5EF4-FFF2-40B4-BE49-F238E27FC236}">
                <a16:creationId xmlns:a16="http://schemas.microsoft.com/office/drawing/2014/main" id="{12C31A75-D25B-4E1F-B198-421AE386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laims-value">
            <a:extLst xmlns:a="http://schemas.openxmlformats.org/drawingml/2006/main">
              <a:ext uri="{FF2B5EF4-FFF2-40B4-BE49-F238E27FC236}">
                <a16:creationId xmlns:a16="http://schemas.microsoft.com/office/drawing/2014/main" id="{59FA51C0-8FC5-44F2-BCC5-7E4CCA44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31/31</a:t>
            </a:r>
          </a:p>
        </p:txBody>
      </p:sp>
      <p:sp>
        <p:nvSpPr>
          <p:cNvPr id="37" name="claims-label">
            <a:extLst xmlns:a="http://schemas.openxmlformats.org/drawingml/2006/main">
              <a:ext uri="{FF2B5EF4-FFF2-40B4-BE49-F238E27FC236}">
                <a16:creationId xmlns:a16="http://schemas.microsoft.com/office/drawing/2014/main" id="{1D7F993F-7316-4071-BD53-7B9A3F0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released claims approved by both critics</a:t>
            </a:r>
          </a:p>
        </p:txBody>
      </p:sp>
      <p:sp>
        <p:nvSpPr>
          <p:cNvPr id="38" name="followups-panel">
            <a:extLst xmlns:a="http://schemas.openxmlformats.org/drawingml/2006/main">
              <a:ext uri="{FF2B5EF4-FFF2-40B4-BE49-F238E27FC236}">
                <a16:creationId xmlns:a16="http://schemas.microsoft.com/office/drawing/2014/main" id="{CC4D545F-4BD4-44FA-B540-770DCBE0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4686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39" name="followups-accent">
            <a:extLst xmlns:a="http://schemas.openxmlformats.org/drawingml/2006/main">
              <a:ext uri="{FF2B5EF4-FFF2-40B4-BE49-F238E27FC236}">
                <a16:creationId xmlns:a16="http://schemas.microsoft.com/office/drawing/2014/main" id="{6E68995C-19E8-4633-8887-860FC98B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llowups-value">
            <a:extLst xmlns:a="http://schemas.openxmlformats.org/drawingml/2006/main">
              <a:ext uri="{FF2B5EF4-FFF2-40B4-BE49-F238E27FC236}">
                <a16:creationId xmlns:a16="http://schemas.microsoft.com/office/drawing/2014/main" id="{B1D62675-B971-441E-B2D0-2A0DA3E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3/3</a:t>
            </a:r>
          </a:p>
        </p:txBody>
      </p:sp>
      <p:sp>
        <p:nvSpPr>
          <p:cNvPr id="41" name="followups-label">
            <a:extLst xmlns:a="http://schemas.openxmlformats.org/drawingml/2006/main">
              <a:ext uri="{FF2B5EF4-FFF2-40B4-BE49-F238E27FC236}">
                <a16:creationId xmlns:a16="http://schemas.microsoft.com/office/drawing/2014/main" id="{268BC7F2-ECE5-4921-B3D2-B9A7DEB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governed follow-ups preserved scope and lineage</a:t>
            </a:r>
          </a:p>
        </p:txBody>
      </p:sp>
    </p:spTree>
    <p:extLst>
      <p:ext uri="{BB962C8B-B14F-4D97-AF65-F5344CB8AC3E}">
        <p14:creationId xmlns:p14="http://schemas.microsoft.com/office/powerpoint/2010/main" val="2084172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8236187F-2965-4BFC-AF87-E3F1E1D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RADEON OPTIMIZATION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BF0081A-B4E6-4961-BD2D-124AF4F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Four workers cut p50 by 64.37% without weakening the gate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BA48D48E-8BED-40C5-ACC1-10FD9556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DB9FF157-0432-4486-A1B0-4B844020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1302DB45-F9BE-4B34-AE99-664775C1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05</a:t>
            </a:r>
          </a:p>
        </p:txBody>
      </p:sp>
      <p:sp>
        <p:nvSpPr>
          <p:cNvPr id="6" name="chart-surface">
            <a:extLst xmlns:a="http://schemas.openxmlformats.org/drawingml/2006/main">
              <a:ext uri="{FF2B5EF4-FFF2-40B4-BE49-F238E27FC236}">
                <a16:creationId xmlns:a16="http://schemas.microsoft.com/office/drawing/2014/main" id="{33ACE080-D454-4FB6-ABDB-D34F8C8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1247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047750" y="2057400"/>
          <a:ext xmlns:a="http://schemas.openxmlformats.org/drawingml/2006/main" cx="64198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9d4b3295674c86"/>
          </a:graphicData>
        </a:graphic>
      </p:graphicFrame>
      <p:sp>
        <p:nvSpPr>
          <p:cNvPr id="8" name="gain-panel">
            <a:extLst xmlns:a="http://schemas.openxmlformats.org/drawingml/2006/main">
              <a:ext uri="{FF2B5EF4-FFF2-40B4-BE49-F238E27FC236}">
                <a16:creationId xmlns:a16="http://schemas.microsoft.com/office/drawing/2014/main" id="{48E98405-53E3-4F00-A9A7-E1214A5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3147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4F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ain-value">
            <a:extLst xmlns:a="http://schemas.openxmlformats.org/drawingml/2006/main">
              <a:ext uri="{FF2B5EF4-FFF2-40B4-BE49-F238E27FC236}">
                <a16:creationId xmlns:a16="http://schemas.microsoft.com/office/drawing/2014/main" id="{6D7A0E6F-0E03-4630-B4A0-25A8F86C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2.78×</a:t>
            </a:r>
          </a:p>
        </p:txBody>
      </p:sp>
      <p:sp>
        <p:nvSpPr>
          <p:cNvPr id="10" name="gain-label">
            <a:extLst xmlns:a="http://schemas.openxmlformats.org/drawingml/2006/main">
              <a:ext uri="{FF2B5EF4-FFF2-40B4-BE49-F238E27FC236}">
                <a16:creationId xmlns:a16="http://schemas.microsoft.com/office/drawing/2014/main" id="{3450FECA-C2F3-41FD-8B94-7E65BD7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CEAE4"/>
                </a:solidFill>
              </a:defRPr>
            </a:pPr>
            <a:r>
              <a:rPr sz="1425" b="0">
                <a:solidFill>
                  <a:srgbClr val="DCEAE4"/>
                </a:solidFill>
              </a:rPr>
              <a:t>aggregate local4 speedup</a:t>
            </a:r>
          </a:p>
        </p:txBody>
      </p:sp>
      <p:sp>
        <p:nvSpPr>
          <p:cNvPr id="11" name="quality-panel">
            <a:extLst xmlns:a="http://schemas.openxmlformats.org/drawingml/2006/main">
              <a:ext uri="{FF2B5EF4-FFF2-40B4-BE49-F238E27FC236}">
                <a16:creationId xmlns:a16="http://schemas.microsoft.com/office/drawing/2014/main" id="{AED4AA26-47C1-40DE-ADE7-A3CD946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33147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E5CC"/>
          </a:solidFill>
          <a:ln xmlns:a="http://schemas.openxmlformats.org/drawingml/2006/main" w="11430">
            <a:solidFill>
              <a:srgbClr val="C97936"/>
            </a:solidFill>
            <a:prstDash val="solid"/>
          </a:ln>
        </p:spPr>
      </p:sp>
      <p:sp>
        <p:nvSpPr>
          <p:cNvPr id="12" name="quality-value">
            <a:extLst xmlns:a="http://schemas.openxmlformats.org/drawingml/2006/main">
              <a:ext uri="{FF2B5EF4-FFF2-40B4-BE49-F238E27FC236}">
                <a16:creationId xmlns:a16="http://schemas.microsoft.com/office/drawing/2014/main" id="{CD3EACF3-2C24-4ABB-9064-CBEBBE65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02C38"/>
                </a:solidFill>
              </a:defRPr>
            </a:pPr>
            <a:r>
              <a:rPr sz="2850" b="1">
                <a:solidFill>
                  <a:srgbClr val="102C38"/>
                </a:solidFill>
              </a:rPr>
              <a:t>8 / 8</a:t>
            </a:r>
          </a:p>
        </p:txBody>
      </p:sp>
      <p:sp>
        <p:nvSpPr>
          <p:cNvPr id="13" name="quality-label">
            <a:extLst xmlns:a="http://schemas.openxmlformats.org/drawingml/2006/main">
              <a:ext uri="{FF2B5EF4-FFF2-40B4-BE49-F238E27FC236}">
                <a16:creationId xmlns:a16="http://schemas.microsoft.com/office/drawing/2014/main" id="{1A15CDB9-B464-42A9-B0EC-A9FAB9E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34B52"/>
                </a:solidFill>
              </a:defRPr>
            </a:pPr>
            <a:r>
              <a:rPr sz="1350" b="0">
                <a:solidFill>
                  <a:srgbClr val="334B52"/>
                </a:solidFill>
              </a:rPr>
              <a:t>contracts passed in each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B52"/>
                </a:solidFill>
              </a:defRPr>
            </a:pPr>
            <a:r>
              <a:rPr sz="1350" b="0">
                <a:solidFill>
                  <a:srgbClr val="334B52"/>
                </a:solidFill>
              </a:rPr>
              <a:t>public development mode</a:t>
            </a:r>
          </a:p>
        </p:txBody>
      </p:sp>
      <p:sp>
        <p:nvSpPr>
          <p:cNvPr id="14" name="optimization-note">
            <a:extLst xmlns:a="http://schemas.openxmlformats.org/drawingml/2006/main">
              <a:ext uri="{FF2B5EF4-FFF2-40B4-BE49-F238E27FC236}">
                <a16:creationId xmlns:a16="http://schemas.microsoft.com/office/drawing/2014/main" id="{EAE59331-C885-4ACD-9551-B19AAD01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F756E"/>
                </a:solidFill>
              </a:defRPr>
            </a:pPr>
            <a:r>
              <a:rPr sz="1125" b="1">
                <a:solidFill>
                  <a:srgbClr val="3F756E"/>
                </a:solidFill>
              </a:rPr>
              <a:t>Hybrid4 also achieved 2.08× aggregate speedup with 20 accepted Radeon API calls and one locally recovered remote failure.</a:t>
            </a:r>
          </a:p>
        </p:txBody>
      </p:sp>
      <p:sp>
        <p:nvSpPr>
          <p:cNvPr id="15" name="optimization-source">
            <a:extLst xmlns:a="http://schemas.openxmlformats.org/drawingml/2006/main">
              <a:ext uri="{FF2B5EF4-FFF2-40B4-BE49-F238E27FC236}">
                <a16:creationId xmlns:a16="http://schemas.microsoft.com/office/drawing/2014/main" id="{E1494108-93A4-4571-8953-5836AB6E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076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A7D80"/>
                </a:solidFill>
              </a:defRPr>
            </a:pPr>
            <a:r>
              <a:rPr sz="750" b="0">
                <a:solidFill>
                  <a:srgbClr val="6A7D80"/>
                </a:solidFill>
              </a:rPr>
              <a:t>Source: evidence/sprint33-latency-tournament.json</a:t>
            </a:r>
          </a:p>
        </p:txBody>
      </p:sp>
    </p:spTree>
    <p:extLst>
      <p:ext uri="{BB962C8B-B14F-4D97-AF65-F5344CB8AC3E}">
        <p14:creationId xmlns:p14="http://schemas.microsoft.com/office/powerpoint/2010/main" val="237064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C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81CB920-1CCE-40FF-861A-151E6E58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B35E"/>
                </a:solidFill>
              </a:defRPr>
            </a:pPr>
            <a:r>
              <a:rPr sz="975" b="1">
                <a:solidFill>
                  <a:srgbClr val="F0B35E"/>
                </a:solidFill>
              </a:rPr>
              <a:t>RELEASE DISCIPLINE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5D49261-F11A-48B3-89F9-51D17B8F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Built to fail closed,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not confidently wrong</a:t>
            </a:r>
          </a:p>
        </p:txBody>
      </p:sp>
      <p:sp>
        <p:nvSpPr>
          <p:cNvPr id="3" name="hard-cases-panel">
            <a:extLst xmlns:a="http://schemas.openxmlformats.org/drawingml/2006/main">
              <a:ext uri="{FF2B5EF4-FFF2-40B4-BE49-F238E27FC236}">
                <a16:creationId xmlns:a16="http://schemas.microsoft.com/office/drawing/2014/main" id="{831638EC-2F9A-4E65-9422-83C7169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4" name="hard-cases-accent">
            <a:extLst xmlns:a="http://schemas.openxmlformats.org/drawingml/2006/main">
              <a:ext uri="{FF2B5EF4-FFF2-40B4-BE49-F238E27FC236}">
                <a16:creationId xmlns:a16="http://schemas.microsoft.com/office/drawing/2014/main" id="{71526B69-8C4D-452B-9B91-D6910A0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-cases-value">
            <a:extLst xmlns:a="http://schemas.openxmlformats.org/drawingml/2006/main">
              <a:ext uri="{FF2B5EF4-FFF2-40B4-BE49-F238E27FC236}">
                <a16:creationId xmlns:a16="http://schemas.microsoft.com/office/drawing/2014/main" id="{B25276EF-4813-468F-9790-39F106F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8/8</a:t>
            </a:r>
          </a:p>
        </p:txBody>
      </p:sp>
      <p:sp>
        <p:nvSpPr>
          <p:cNvPr id="6" name="hard-cases-label">
            <a:extLst xmlns:a="http://schemas.openxmlformats.org/drawingml/2006/main">
              <a:ext uri="{FF2B5EF4-FFF2-40B4-BE49-F238E27FC236}">
                <a16:creationId xmlns:a16="http://schemas.microsoft.com/office/drawing/2014/main" id="{76DAF8B0-3524-4745-8CD3-CEE51397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local4 contracts</a:t>
            </a:r>
          </a:p>
        </p:txBody>
      </p:sp>
      <p:sp>
        <p:nvSpPr>
          <p:cNvPr id="7" name="hard-gates-panel">
            <a:extLst xmlns:a="http://schemas.openxmlformats.org/drawingml/2006/main">
              <a:ext uri="{FF2B5EF4-FFF2-40B4-BE49-F238E27FC236}">
                <a16:creationId xmlns:a16="http://schemas.microsoft.com/office/drawing/2014/main" id="{B59EB56D-3E1E-4FC7-966A-5E61A923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8" name="hard-gates-accent">
            <a:extLst xmlns:a="http://schemas.openxmlformats.org/drawingml/2006/main">
              <a:ext uri="{FF2B5EF4-FFF2-40B4-BE49-F238E27FC236}">
                <a16:creationId xmlns:a16="http://schemas.microsoft.com/office/drawing/2014/main" id="{80731452-B027-4C9B-BFDE-61D010C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ard-gates-value">
            <a:extLst xmlns:a="http://schemas.openxmlformats.org/drawingml/2006/main">
              <a:ext uri="{FF2B5EF4-FFF2-40B4-BE49-F238E27FC236}">
                <a16:creationId xmlns:a16="http://schemas.microsoft.com/office/drawing/2014/main" id="{6B3AD3D9-E281-4B72-B114-08172D4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8/8</a:t>
            </a:r>
          </a:p>
        </p:txBody>
      </p:sp>
      <p:sp>
        <p:nvSpPr>
          <p:cNvPr id="10" name="hard-gates-label">
            <a:extLst xmlns:a="http://schemas.openxmlformats.org/drawingml/2006/main">
              <a:ext uri="{FF2B5EF4-FFF2-40B4-BE49-F238E27FC236}">
                <a16:creationId xmlns:a16="http://schemas.microsoft.com/office/drawing/2014/main" id="{0302EF71-FBF8-4675-A743-F3141E5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hybrid4 contracts</a:t>
            </a:r>
          </a:p>
        </p:txBody>
      </p:sp>
      <p:sp>
        <p:nvSpPr>
          <p:cNvPr id="11" name="hard-critical-panel">
            <a:extLst xmlns:a="http://schemas.openxmlformats.org/drawingml/2006/main">
              <a:ext uri="{FF2B5EF4-FFF2-40B4-BE49-F238E27FC236}">
                <a16:creationId xmlns:a16="http://schemas.microsoft.com/office/drawing/2014/main" id="{F25D551F-CE0D-4B2D-B47A-5761941A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12" name="hard-critical-accent">
            <a:extLst xmlns:a="http://schemas.openxmlformats.org/drawingml/2006/main">
              <a:ext uri="{FF2B5EF4-FFF2-40B4-BE49-F238E27FC236}">
                <a16:creationId xmlns:a16="http://schemas.microsoft.com/office/drawing/2014/main" id="{82B5C7D2-F3CF-4F2C-B7D2-6DB3F41D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ard-critical-value">
            <a:extLst xmlns:a="http://schemas.openxmlformats.org/drawingml/2006/main">
              <a:ext uri="{FF2B5EF4-FFF2-40B4-BE49-F238E27FC236}">
                <a16:creationId xmlns:a16="http://schemas.microsoft.com/office/drawing/2014/main" id="{8D0095A3-9F12-47BF-98AE-AD209015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765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1</a:t>
            </a:r>
          </a:p>
        </p:txBody>
      </p:sp>
      <p:sp>
        <p:nvSpPr>
          <p:cNvPr id="14" name="hard-critical-label">
            <a:extLst xmlns:a="http://schemas.openxmlformats.org/drawingml/2006/main">
              <a:ext uri="{FF2B5EF4-FFF2-40B4-BE49-F238E27FC236}">
                <a16:creationId xmlns:a16="http://schemas.microsoft.com/office/drawing/2014/main" id="{AADAE167-9A59-4B92-A1D7-CA6BA68B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API loss recovered</a:t>
            </a:r>
          </a:p>
        </p:txBody>
      </p:sp>
      <p:sp>
        <p:nvSpPr>
          <p:cNvPr id="15" name="hard-blockers-panel">
            <a:extLst xmlns:a="http://schemas.openxmlformats.org/drawingml/2006/main">
              <a:ext uri="{FF2B5EF4-FFF2-40B4-BE49-F238E27FC236}">
                <a16:creationId xmlns:a16="http://schemas.microsoft.com/office/drawing/2014/main" id="{AA4E53A0-3B27-4A99-BCEB-32C940B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2647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16" name="hard-blockers-accent">
            <a:extLst xmlns:a="http://schemas.openxmlformats.org/drawingml/2006/main">
              <a:ext uri="{FF2B5EF4-FFF2-40B4-BE49-F238E27FC236}">
                <a16:creationId xmlns:a16="http://schemas.microsoft.com/office/drawing/2014/main" id="{76D0063A-4835-42FC-B191-F20E3C96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ard-blockers-value">
            <a:extLst xmlns:a="http://schemas.openxmlformats.org/drawingml/2006/main">
              <a:ext uri="{FF2B5EF4-FFF2-40B4-BE49-F238E27FC236}">
                <a16:creationId xmlns:a16="http://schemas.microsoft.com/office/drawing/2014/main" id="{74B0EE69-9586-48A0-ADF2-6EA5C51D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0</a:t>
            </a:r>
          </a:p>
        </p:txBody>
      </p:sp>
      <p:sp>
        <p:nvSpPr>
          <p:cNvPr id="18" name="hard-blockers-label">
            <a:extLst xmlns:a="http://schemas.openxmlformats.org/drawingml/2006/main">
              <a:ext uri="{FF2B5EF4-FFF2-40B4-BE49-F238E27FC236}">
                <a16:creationId xmlns:a16="http://schemas.microsoft.com/office/drawing/2014/main" id="{A4CA4312-EBFA-4014-A00F-8543BB02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answers on model loss</a:t>
            </a:r>
          </a:p>
        </p:txBody>
      </p:sp>
      <p:sp>
        <p:nvSpPr>
          <p:cNvPr id="19" name="close-proof">
            <a:extLst xmlns:a="http://schemas.openxmlformats.org/drawingml/2006/main">
              <a:ext uri="{FF2B5EF4-FFF2-40B4-BE49-F238E27FC236}">
                <a16:creationId xmlns:a16="http://schemas.microsoft.com/office/drawing/2014/main" id="{27577B36-8412-4B45-98D2-2B8DECFD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CEAE4"/>
                </a:solidFill>
              </a:defRPr>
            </a:pPr>
            <a:r>
              <a:rPr sz="1500" b="1">
                <a:solidFill>
                  <a:srgbClr val="DCEAE4"/>
                </a:solidFill>
              </a:rPr>
              <a:t>Primary evidence · deterministic receipts · independent review · explicit fail-closed release</a:t>
            </a:r>
          </a:p>
        </p:txBody>
      </p:sp>
      <p:sp>
        <p:nvSpPr>
          <p:cNvPr id="20" name="close-limits">
            <a:extLst xmlns:a="http://schemas.openxmlformats.org/drawingml/2006/main">
              <a:ext uri="{FF2B5EF4-FFF2-40B4-BE49-F238E27FC236}">
                <a16:creationId xmlns:a16="http://schemas.microsoft.com/office/drawing/2014/main" id="{A9F1A21F-0C47-4A5E-B573-FC2DB882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FD6D0"/>
                </a:solidFill>
              </a:defRPr>
            </a:pPr>
            <a:r>
              <a:rPr sz="1275" b="0">
                <a:solidFill>
                  <a:srgbClr val="BFD6D0"/>
                </a:solidFill>
              </a:rPr>
              <a:t>Bounded, non-sealed development evidence; no universal accuracy or throughput claim.</a:t>
            </a:r>
          </a:p>
        </p:txBody>
      </p:sp>
      <p:sp>
        <p:nvSpPr>
          <p:cNvPr id="21" name="close-link">
            <a:extLst xmlns:a="http://schemas.openxmlformats.org/drawingml/2006/main">
              <a:ext uri="{FF2B5EF4-FFF2-40B4-BE49-F238E27FC236}">
                <a16:creationId xmlns:a16="http://schemas.microsoft.com/office/drawing/2014/main" id="{9DBE2C71-039A-4AFE-9403-2F448080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581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B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ose-link-text">
            <a:extLst xmlns:a="http://schemas.openxmlformats.org/drawingml/2006/main">
              <a:ext uri="{FF2B5EF4-FFF2-40B4-BE49-F238E27FC236}">
                <a16:creationId xmlns:a16="http://schemas.microsoft.com/office/drawing/2014/main" id="{BEE0283B-5644-41FC-8849-37AE3101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C38"/>
                </a:solidFill>
              </a:defRPr>
            </a:pPr>
            <a:r>
              <a:rPr sz="1425" b="1">
                <a:solidFill>
                  <a:srgbClr val="102C38"/>
                </a:solidFill>
              </a:rPr>
              <a:t>github.com/rvbernucci/signalforge</a:t>
            </a:r>
          </a:p>
        </p:txBody>
      </p:sp>
      <p:sp>
        <p:nvSpPr>
          <p:cNvPr id="23" name="close-line">
            <a:extLst xmlns:a="http://schemas.openxmlformats.org/drawingml/2006/main">
              <a:ext uri="{FF2B5EF4-FFF2-40B4-BE49-F238E27FC236}">
                <a16:creationId xmlns:a16="http://schemas.microsoft.com/office/drawing/2014/main" id="{C50D96A0-BD1A-401B-97E7-6AE96D5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1025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 private, inspectable research process on AMD Radeon and ROCm.</a:t>
            </a:r>
          </a:p>
        </p:txBody>
      </p:sp>
    </p:spTree>
    <p:extLst>
      <p:ext uri="{BB962C8B-B14F-4D97-AF65-F5344CB8AC3E}">
        <p14:creationId xmlns:p14="http://schemas.microsoft.com/office/powerpoint/2010/main" val="728784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2026-07-27T18:51:31.7160000Z</dcterms:created>
  <dcterms:modified xsi:type="dcterms:W3CDTF">2026-07-27T18:51:31.7160000Z</dcterms:modified>
</coreProperties>
</file>