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Arial" panose="020B0604020202090204"/>
              </a:defRPr>
            </a:pPr>
            <a:r>
              <a:t>PrivatePlate · AMD AI DevMaster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Arial" panose="020B0604020202090204"/>
              </a:defRPr>
            </a:pPr>
            <a:r>
              <a:t>01 /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64240" cy="254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9999"/>
                </a:solidFill>
                <a:latin typeface="Arial" panose="020B0604020202090204"/>
              </a:defRPr>
            </a:pPr>
            <a:r>
              <a:t>TRACK 2 · PRIVATE AI AGENT · LOCAL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0">
                <a:solidFill>
                  <a:srgbClr val="FFFFFF"/>
                </a:solidFill>
                <a:latin typeface="Arial" panose="020B0604020202090204"/>
              </a:defRPr>
            </a:pPr>
            <a:r>
              <a:t>PrivatePlate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8C33"/>
                </a:solidFill>
                <a:latin typeface="Arial" panose="020B0604020202090204"/>
              </a:defRPr>
            </a:pPr>
            <a:r>
              <a:t>Local Household Meal-Coordination AI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Arial" panose="020B0604020202090204"/>
              </a:defRPr>
            </a:pPr>
            <a:r>
              <a:t>Core inference &amp; local RAG on AMD Radeon GPU  ·  Model routes tools; deterministic code owns nutrition, constraints &amp; writes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Arial" panose="020B0604020202090204"/>
              </a:defRPr>
            </a:pPr>
            <a:r>
              <a:t>PROBLEM · SCENE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Arial" panose="020B0604020202090204"/>
              </a:defRPr>
            </a:pPr>
            <a:r>
              <a:t>02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33"/>
                </a:solidFill>
                <a:latin typeface="Arial" panose="020B0604020202090204"/>
              </a:defRPr>
            </a:pPr>
            <a:r>
              <a:t>THE SETTING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>
                <a:solidFill>
                  <a:srgbClr val="FFFFFF"/>
                </a:solidFill>
                <a:latin typeface="Arial" panose="020B0604020202090204"/>
              </a:defRPr>
            </a:pPr>
            <a:r>
              <a:t>Who Decides Tonight's Menu?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3474720" cy="2011680"/>
          </a:xfrm>
          <a:prstGeom prst="rect">
            <a:avLst/>
          </a:prstGeom>
          <a:solidFill>
            <a:srgbClr val="15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310896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  <a:defRPr sz="1600" b="1">
                <a:solidFill>
                  <a:srgbClr val="FF8C33"/>
                </a:solidFill>
                <a:latin typeface="Arial" panose="020B0604020202090204"/>
              </a:defRPr>
            </a:pPr>
            <a:r>
              <a:t>01 Coordinator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 panose="020B0604020202090204"/>
              </a:defRPr>
            </a:pPr>
            <a:r>
              <a:t>Weight-management goals; sets global portion scale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2926080"/>
            <a:ext cx="3474720" cy="2011680"/>
          </a:xfrm>
          <a:prstGeom prst="rect">
            <a:avLst/>
          </a:prstGeom>
          <a:solidFill>
            <a:srgbClr val="15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79" y="3108960"/>
            <a:ext cx="310896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  <a:defRPr sz="1600" b="1">
                <a:solidFill>
                  <a:srgbClr val="FF8C33"/>
                </a:solidFill>
                <a:latin typeface="Arial" panose="020B0604020202090204"/>
              </a:defRPr>
            </a:pPr>
            <a:r>
              <a:t>02 Father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79" y="37490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 panose="020B0604020202090204"/>
              </a:defRPr>
            </a:pPr>
            <a:r>
              <a:t>Blood-sugar management (demo); carb ceiling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2926080"/>
            <a:ext cx="3474720" cy="2011680"/>
          </a:xfrm>
          <a:prstGeom prst="rect">
            <a:avLst/>
          </a:prstGeom>
          <a:solidFill>
            <a:srgbClr val="15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33"/>
                </a:solidFill>
                <a:latin typeface="Arial" panose="020B0604020202090204"/>
              </a:defRPr>
            </a:pPr>
            <a:r>
              <a:t>03 Mother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37490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 panose="020B0604020202090204"/>
              </a:defRPr>
            </a:pPr>
            <a:r>
              <a:t>Blood-pressure management; hard-excludes beef; constraints may clash with Father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Arial" panose="020B0604020202090204"/>
              </a:defRPr>
            </a:pPr>
            <a:r>
              <a:t>The challenge is not "recommend a dish" — it is coordinating a meal under hard constraints and leaving an auditable ledger.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Arial" panose="020B0604020202090204"/>
              </a:defRPr>
            </a:pPr>
            <a:r>
              <a:t>PRINCIPLE · DATA SOVEREIGNTY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Arial" panose="020B0604020202090204"/>
              </a:defRPr>
            </a:pPr>
            <a:r>
              <a:t>03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9999"/>
                </a:solidFill>
                <a:latin typeface="Arial" panose="020B0604020202090204"/>
              </a:defRPr>
            </a:pPr>
            <a:r>
              <a:t>CORE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>
                <a:solidFill>
                  <a:srgbClr val="FFFFFF"/>
                </a:solidFill>
                <a:latin typeface="Arial" panose="020B0604020202090204"/>
              </a:defRPr>
            </a:pPr>
            <a:r>
              <a:t>Health Data Never Leaves Home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33"/>
                </a:solidFill>
                <a:latin typeface="Arial" panose="020B0604020202090204"/>
              </a:defRPr>
            </a:pPr>
            <a: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Arial" panose="020B0604020202090204"/>
              </a:defRPr>
            </a:pPr>
            <a:r>
              <a:t>Core inference on local vLLM — no remote model API. Language understanding &amp; tool routing only.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33"/>
                </a:solidFill>
                <a:latin typeface="Arial" panose="020B0604020202090204"/>
              </a:defRPr>
            </a:pPr>
            <a:r>
              <a:t>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Arial" panose="020B0604020202090204"/>
              </a:defRPr>
            </a:pPr>
            <a:r>
              <a:t>Nutrition, hard constraints, inventory &amp; writes controlled by deterministic code — not model inference.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37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33"/>
                </a:solidFill>
                <a:latin typeface="Arial" panose="020B0604020202090204"/>
              </a:defRPr>
            </a:pPr>
            <a:r>
              <a:t>CONFIRM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4937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Arial" panose="020B0604020202090204"/>
              </a:defRPr>
            </a:pPr>
            <a:r>
              <a:t>Every ledger write requires explicit user confirmation; nothing is committed without approval.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943600"/>
            <a:ext cx="11064240" cy="635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 panose="020B0604020202090204"/>
              </a:defRPr>
            </a:pPr>
            <a:r>
              <a:t>Local loop: Browser → Server → vLLM (Radeon)  ·  No remote model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Arial" panose="020B0604020202090204"/>
              </a:defRPr>
            </a:pPr>
            <a:r>
              <a:t>PRODUCT · WEB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Arial" panose="020B0604020202090204"/>
              </a:defRPr>
            </a:pPr>
            <a:r>
              <a:t>04 /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080"/>
            <a:ext cx="1106424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33"/>
                </a:solidFill>
                <a:latin typeface="Arial" panose="020B0604020202090204"/>
              </a:defRPr>
            </a:pPr>
            <a:r>
              <a:t>http://127.0.0.1:5173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>
                <a:solidFill>
                  <a:srgbClr val="FFFFFF"/>
                </a:solidFill>
                <a:latin typeface="Arial" panose="020B0604020202090204"/>
              </a:defRPr>
            </a:pPr>
            <a:r>
              <a:t>"What's for Dinner Tonight?"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60320"/>
            <a:ext cx="2651760" cy="3474720"/>
          </a:xfrm>
          <a:prstGeom prst="rect">
            <a:avLst/>
          </a:prstGeom>
          <a:solidFill>
            <a:srgbClr val="15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377439"/>
            <a:ext cx="265176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99999"/>
                </a:solidFill>
                <a:latin typeface="Arial" panose="020B0604020202090204"/>
              </a:defRPr>
            </a:pPr>
            <a:r>
              <a:t>01 SELECT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632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rial" panose="020B0604020202090204"/>
              </a:defRPr>
            </a:pPr>
            <a:r>
              <a:t>Select 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 panose="020B0604020202090204"/>
              </a:defRPr>
            </a:pPr>
            <a:r>
              <a:t>Tap to include members; system loads health constraints &amp; daily targets.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560320"/>
            <a:ext cx="2651760" cy="3474720"/>
          </a:xfrm>
          <a:prstGeom prst="rect">
            <a:avLst/>
          </a:prstGeom>
          <a:solidFill>
            <a:srgbClr val="15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2377439"/>
            <a:ext cx="265176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99999"/>
                </a:solidFill>
                <a:latin typeface="Arial" panose="020B0604020202090204"/>
              </a:defRPr>
            </a:pPr>
            <a:r>
              <a:t>02 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0632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rial" panose="020B0604020202090204"/>
              </a:defRPr>
            </a:pPr>
            <a:r>
              <a:t>Natural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6576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 panose="020B0604020202090204"/>
              </a:defRPr>
            </a:pPr>
            <a:r>
              <a:t>Ask for a meal plan or revision in plain language — Agent interprets &amp; orchestrates.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2560320"/>
            <a:ext cx="2651760" cy="3474720"/>
          </a:xfrm>
          <a:prstGeom prst="rect">
            <a:avLst/>
          </a:prstGeom>
          <a:solidFill>
            <a:srgbClr val="15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59" y="2377439"/>
            <a:ext cx="265176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99999"/>
                </a:solidFill>
                <a:latin typeface="Arial" panose="020B0604020202090204"/>
              </a:defRPr>
            </a:pPr>
            <a:r>
              <a:t>03 PREVIEW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30632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rial" panose="020B0604020202090204"/>
              </a:defRPr>
            </a:pPr>
            <a:r>
              <a:t>Plan Preview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36576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 panose="020B0604020202090204"/>
              </a:defRPr>
            </a:pPr>
            <a:r>
              <a:t>Side drawer shows dishes, roles, gram targets, purchase qty &amp; remaining daily budget.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19" y="2560320"/>
            <a:ext cx="2651760" cy="3474720"/>
          </a:xfrm>
          <a:prstGeom prst="rect">
            <a:avLst/>
          </a:prstGeom>
          <a:solidFill>
            <a:srgbClr val="15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19" y="2377439"/>
            <a:ext cx="265176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19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99999"/>
                </a:solidFill>
                <a:latin typeface="Arial" panose="020B0604020202090204"/>
              </a:defRPr>
            </a:pPr>
            <a:r>
              <a:t>04 CONFIRM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19" y="30632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rial" panose="020B0604020202090204"/>
              </a:defRPr>
            </a:pPr>
            <a:r>
              <a:t>Confirm &amp; Write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36576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 panose="020B0604020202090204"/>
              </a:defRPr>
            </a:pPr>
            <a:r>
              <a:t>"Confirm meal eaten as planned" — intake logged, inventory deducted.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Arial" panose="020B0604020202090204"/>
              </a:defRPr>
            </a:pPr>
            <a:r>
              <a:t>ARCHITECTURE · MODEL &amp; 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Arial" panose="020B0604020202090204"/>
              </a:defRPr>
            </a:pPr>
            <a:r>
              <a:t>05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33"/>
                </a:solidFill>
                <a:latin typeface="Arial" panose="020B0604020202090204"/>
              </a:defRPr>
            </a:pPr>
            <a:r>
              <a:t>WEB → SERVER → AGENT → vLLM / 9 TOOLS → DOMAIN + SQLITE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0">
                <a:solidFill>
                  <a:srgbClr val="FFFFFF"/>
                </a:solidFill>
                <a:latin typeface="Arial" panose="020B0604020202090204"/>
              </a:defRPr>
            </a:pPr>
            <a:r>
              <a:t>Model vs. Deterministic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3"/>
                </a:solidFill>
                <a:latin typeface="Arial" panose="020B0604020202090204"/>
              </a:defRPr>
            </a:pPr>
            <a:r>
              <a:t>Surface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377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 panose="020B0604020202090204"/>
              </a:defRPr>
            </a:pPr>
            <a:r>
              <a:t>React Web :5173 → Express Server :8787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788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 panose="020B0604020202090204"/>
              </a:defRPr>
            </a:pPr>
            <a:r>
              <a:t>SSE streaming; user-confirmed meal-complete is the only write entry point.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3"/>
                </a:solidFill>
                <a:latin typeface="Arial" panose="020B0604020202090204"/>
              </a:defRPr>
            </a:pPr>
            <a: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 panose="020B0604020202090204"/>
              </a:defRPr>
            </a:pPr>
            <a:r>
              <a:t>Agent → Local vLLM :8000 + 9-tool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4069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 panose="020B0604020202090204"/>
              </a:defRPr>
            </a:pPr>
            <a:r>
              <a:t>Intent, multi-turn context, tool choice, full dish submission.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37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3"/>
                </a:solidFill>
                <a:latin typeface="Arial" panose="020B0604020202090204"/>
              </a:defRPr>
            </a:pPr>
            <a:r>
              <a:t>Deterministic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937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 panose="020B0604020202090204"/>
              </a:defRPr>
            </a:pPr>
            <a:r>
              <a:t>Domain + SQLite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5349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 panose="020B0604020202090204"/>
              </a:defRPr>
            </a:pPr>
            <a:r>
              <a:t>Nutrition math, hard-filtering, inventory, plan versioning, confirmed writes. No ranking, no winner-picking; no commit_* tools on model side.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Arial" panose="020B0604020202090204"/>
              </a:defRPr>
            </a:pPr>
            <a:r>
              <a:t>TOOLS · 9 TOOL GATEWAY (v2)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Arial" panose="020B0604020202090204"/>
              </a:defRPr>
            </a:pPr>
            <a:r>
              <a:t>06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33"/>
                </a:solidFill>
                <a:latin typeface="Arial" panose="020B0604020202090204"/>
              </a:defRPr>
            </a:pPr>
            <a:r>
              <a:t>No commit_* tools on the model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0">
                <a:solidFill>
                  <a:srgbClr val="FFFFFF"/>
                </a:solidFill>
                <a:latin typeface="Arial" panose="020B0604020202090204"/>
              </a:defRPr>
            </a:pPr>
            <a:r>
              <a:t>Nine Model-Visible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058400" cy="447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Arial" panose="020B0604020202090204"/>
              </a:defRPr>
            </a:pPr>
            <a:r>
              <a:t>get_day_context — daily targets, intake so far, remaining budget, inventory, household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835"/>
            <a:ext cx="10058400" cy="447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Arial" panose="020B0604020202090204"/>
              </a:defRPr>
            </a:pPr>
            <a:r>
              <a:t>get_inventory — explicit stock lookup only (no budgets / member memory)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1670"/>
            <a:ext cx="10058400" cy="447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Arial" panose="020B0604020202090204"/>
              </a:defRPr>
            </a:pPr>
            <a:r>
              <a:t>find_dish_candidates — hard-filtered dish candidates (no ranking)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9505"/>
            <a:ext cx="10058400" cy="447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Arial" panose="020B0604020202090204"/>
              </a:defRPr>
            </a:pPr>
            <a:r>
              <a:t>finalize_meal_plan — Agent submits full dish selection; Domain validates &amp; converts grams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7340"/>
            <a:ext cx="10058400" cy="447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Arial" panose="020B0604020202090204"/>
              </a:defRPr>
            </a:pPr>
            <a:r>
              <a:t>retrieve_local_knowledge — local RAG (embedding + cosine retrieval)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5175"/>
            <a:ext cx="10058400" cy="447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Arial" panose="020B0604020202090204"/>
              </a:defRPr>
            </a:pPr>
            <a:r>
              <a:t>preview_inventory_change — preview stock-in (no write until confirmed)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33010"/>
            <a:ext cx="10058400" cy="447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Arial" panose="020B0604020202090204"/>
              </a:defRPr>
            </a:pPr>
            <a:r>
              <a:t>preview_member_memory_change — preview preference / health-fact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90845"/>
            <a:ext cx="10058400" cy="447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Arial" panose="020B0604020202090204"/>
              </a:defRPr>
            </a:pPr>
            <a:r>
              <a:t>preview_caregiver_task — preview task card &amp; shopping list (local simulated inbox)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00800"/>
            <a:ext cx="11064240" cy="635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33"/>
                </a:solidFill>
                <a:latin typeface="Arial" panose="020B0604020202090204"/>
              </a:defRPr>
            </a:pPr>
            <a:r>
              <a:t>Writes only via UI / meal-complete   ·   9 TOOLS, 0 commit_*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1520" y="5948680"/>
            <a:ext cx="10058400" cy="447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Arial" panose="020B0604020202090204"/>
              </a:defRPr>
            </a:pPr>
            <a:r>
              <a:t>preview_meal_completion — preview "meal eaten as planned" ledger impact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Arial" panose="020B0604020202090204"/>
              </a:defRPr>
            </a:pPr>
            <a:r>
              <a:t>CAPABILITIES · ALL 5 COVERED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Arial" panose="020B0604020202090204"/>
              </a:defRPr>
            </a:pPr>
            <a:r>
              <a:t>07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33"/>
                </a:solidFill>
                <a:latin typeface="Arial" panose="020B0604020202090204"/>
              </a:defRPr>
            </a:pPr>
            <a:r>
              <a:t>All five minimum capabilities demonstrated (bonus-eligible)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0">
                <a:solidFill>
                  <a:srgbClr val="FFFFFF"/>
                </a:solidFill>
                <a:latin typeface="Arial" panose="020B0604020202090204"/>
              </a:defRPr>
            </a:pPr>
            <a:r>
              <a:t>Track 2 Minimum: All Five Covered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5394960" cy="1234440"/>
          </a:xfrm>
          <a:prstGeom prst="rect">
            <a:avLst/>
          </a:prstGeom>
          <a:solidFill>
            <a:srgbClr val="15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 panose="020B0604020202090204"/>
              </a:defRPr>
            </a:pPr>
            <a:r>
              <a:t>01  Local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 panose="020B0604020202090204"/>
              </a:defRPr>
            </a:pPr>
            <a:r>
              <a:t>retrieve_local_knowledge + bge-small @ :8001 + corpus/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377440"/>
            <a:ext cx="5394960" cy="1234440"/>
          </a:xfrm>
          <a:prstGeom prst="rect">
            <a:avLst/>
          </a:prstGeom>
          <a:solidFill>
            <a:srgbClr val="15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468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 panose="020B0604020202090204"/>
              </a:defRPr>
            </a:pPr>
            <a:r>
              <a:t>02  Tool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880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 panose="020B0604020202090204"/>
              </a:defRPr>
            </a:pPr>
            <a:r>
              <a:t>9-tool gateway; real action_started visible in SSE stream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94760"/>
            <a:ext cx="5394960" cy="1234440"/>
          </a:xfrm>
          <a:prstGeom prst="rect">
            <a:avLst/>
          </a:prstGeom>
          <a:solidFill>
            <a:srgbClr val="15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886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 panose="020B0604020202090204"/>
              </a:defRPr>
            </a:pPr>
            <a:r>
              <a:t>03  Multi-Step 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 panose="020B0604020202090204"/>
              </a:defRPr>
            </a:pPr>
            <a:r>
              <a:t>context → find_dish_candidates → finalize_meal_plan (incl. reject→reselect)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794760"/>
            <a:ext cx="5394960" cy="1234440"/>
          </a:xfrm>
          <a:prstGeom prst="rect">
            <a:avLst/>
          </a:prstGeom>
          <a:solidFill>
            <a:srgbClr val="15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886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 panose="020B0604020202090204"/>
              </a:defRPr>
            </a:pPr>
            <a:r>
              <a:t>04  Local Multi-Turn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297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 panose="020B0604020202090204"/>
              </a:defRPr>
            </a:pPr>
            <a:r>
              <a:t>Session context + SQLite household memory / daily ledger (persistent across restarts)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212080"/>
            <a:ext cx="5394960" cy="1234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303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 panose="020B0604020202090204"/>
              </a:defRPr>
            </a:pPr>
            <a:r>
              <a:t>05  Access Control &amp; Privacy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15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Arial" panose="020B0604020202090204"/>
              </a:defRPr>
            </a:pPr>
            <a:r>
              <a:t>preview→confirm; minimum disclosure on task cards; no remote model 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Arial" panose="020B0604020202090204"/>
              </a:defRPr>
            </a:pPr>
            <a:r>
              <a:t>CLOSURE · GUARD &amp; RETRY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Arial" panose="020B0604020202090204"/>
              </a:defRPr>
            </a:pPr>
            <a:r>
              <a:t>08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33"/>
                </a:solidFill>
                <a:latin typeface="Arial" panose="020B0604020202090204"/>
              </a:defRPr>
            </a:pPr>
            <a:r>
              <a:t>By design — not accidental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0">
                <a:solidFill>
                  <a:srgbClr val="FFFFFF"/>
                </a:solidFill>
                <a:latin typeface="Arial" panose="020B0604020202090204"/>
              </a:defRPr>
            </a:pPr>
            <a:r>
              <a:t>Guard Loop: Reject → Gap → Reselect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60320"/>
            <a:ext cx="2651760" cy="3108960"/>
          </a:xfrm>
          <a:prstGeom prst="rect">
            <a:avLst/>
          </a:prstGeom>
          <a:solidFill>
            <a:srgbClr val="15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77439"/>
            <a:ext cx="265176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33"/>
                </a:solidFill>
                <a:latin typeface="Arial" panose="020B0604020202090204"/>
              </a:defRPr>
            </a:pPr>
            <a:r>
              <a:t>STEP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 panose="020B0604020202090204"/>
              </a:defRPr>
            </a:pPr>
            <a:r>
              <a:t>Load Budget &amp;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 panose="020B0604020202090204"/>
              </a:defRPr>
            </a:pPr>
            <a:r>
              <a:t>get_day_context retrieves daily targets and constraints.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2560320"/>
            <a:ext cx="2651760" cy="3108960"/>
          </a:xfrm>
          <a:prstGeom prst="rect">
            <a:avLst/>
          </a:prstGeom>
          <a:solidFill>
            <a:srgbClr val="15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377439"/>
            <a:ext cx="265176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33"/>
                </a:solidFill>
                <a:latin typeface="Arial" panose="020B0604020202090204"/>
              </a:defRPr>
            </a:pPr>
            <a:r>
              <a:t>STEP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 panose="020B0604020202090204"/>
              </a:defRPr>
            </a:pPr>
            <a:r>
              <a:t>Hard-Filter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6576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 panose="020B0604020202090204"/>
              </a:defRPr>
            </a:pPr>
            <a:r>
              <a:t>find_dish_candidates excludes inedible options.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2560320"/>
            <a:ext cx="2651760" cy="3108960"/>
          </a:xfrm>
          <a:prstGeom prst="rect">
            <a:avLst/>
          </a:prstGeom>
          <a:solidFill>
            <a:srgbClr val="15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59" y="2377439"/>
            <a:ext cx="265176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33"/>
                </a:solidFill>
                <a:latin typeface="Arial" panose="020B0604020202090204"/>
              </a:defRPr>
            </a:pPr>
            <a:r>
              <a:t>STEP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 panose="020B0604020202090204"/>
              </a:defRPr>
            </a:pPr>
            <a:r>
              <a:t>Submit Full Dishes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36576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 panose="020B0604020202090204"/>
              </a:defRPr>
            </a:pPr>
            <a:r>
              <a:t>Agent submits complete selectedDishes.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19" y="2560320"/>
            <a:ext cx="2651760" cy="3108960"/>
          </a:xfrm>
          <a:prstGeom prst="rect">
            <a:avLst/>
          </a:prstGeom>
          <a:solidFill>
            <a:srgbClr val="15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19" y="2377439"/>
            <a:ext cx="265176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19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33"/>
                </a:solidFill>
                <a:latin typeface="Arial" panose="020B0604020202090204"/>
              </a:defRPr>
            </a:pPr>
            <a:r>
              <a:t>STEP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 panose="020B0604020202090204"/>
              </a:defRPr>
            </a:pPr>
            <a:r>
              <a:t>Domain Reject → Reselect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19" y="36576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 panose="020B0604020202090204"/>
              </a:defRPr>
            </a:pPr>
            <a:r>
              <a:t>NUTRITION_BUDGET rejects &amp; returns structured gap; Agent reselects against the gap report.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Arial" panose="020B0604020202090204"/>
              </a:defRPr>
            </a:pPr>
            <a:r>
              <a:t>RAG · LOCAL EMBEDDING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Arial" panose="020B0604020202090204"/>
              </a:defRPr>
            </a:pPr>
            <a:r>
              <a:t>09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33"/>
                </a:solidFill>
                <a:latin typeface="Arial" panose="020B0604020202090204"/>
              </a:defRPr>
            </a:pPr>
            <a:r>
              <a:t>BAAI/bge-small-zh-v1.5 · Dedicated port :8001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0">
                <a:solidFill>
                  <a:srgbClr val="FFFFFF"/>
                </a:solidFill>
                <a:latin typeface="Arial" panose="020B0604020202090204"/>
              </a:defRPr>
            </a:pPr>
            <a:r>
              <a:t>Local RAG: On-Card Embedding, Traceable 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60320"/>
            <a:ext cx="3474720" cy="2926080"/>
          </a:xfrm>
          <a:prstGeom prst="rect">
            <a:avLst/>
          </a:prstGeom>
          <a:solidFill>
            <a:srgbClr val="15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83463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 panose="020B0604020202090204"/>
              </a:defRPr>
            </a:pPr>
            <a:r>
              <a:t>LAYER 01 · Corpus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 panose="020B0604020202090204"/>
              </a:defRPr>
            </a:pPr>
            <a:r>
              <a:t>fixtures/knowledge/corpus/ — local filesystem, no internet access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2560320"/>
            <a:ext cx="3474720" cy="29260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79" y="283463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 panose="020B0604020202090204"/>
              </a:defRPr>
            </a:pPr>
            <a:r>
              <a:t>LAYER 02 · Vector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79" y="3474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Arial" panose="020B0604020202090204"/>
              </a:defRPr>
            </a:pPr>
            <a:r>
              <a:t>bge-small-zh-v1.5 @ :8001 — embedding + cosine similarity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2560320"/>
            <a:ext cx="3474720" cy="2926080"/>
          </a:xfrm>
          <a:prstGeom prst="rect">
            <a:avLst/>
          </a:prstGeom>
          <a:solidFill>
            <a:srgbClr val="15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283463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 panose="020B0604020202090204"/>
              </a:defRPr>
            </a:pPr>
            <a:r>
              <a:t>LAYER 03 · Traceable Answers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34747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 panose="020B0604020202090204"/>
              </a:defRPr>
            </a:pPr>
            <a:r>
              <a:t>Results carry sourcePath &amp; licenseId for provenance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 panose="020B0604020202090204"/>
              </a:defRPr>
            </a:pPr>
            <a:r>
              <a:t>PRIVATEPLATE_RAG_MODE=vllm enables true RAG; corpus never touches the internet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Arial" panose="020B0604020202090204"/>
              </a:defRPr>
            </a:pPr>
            <a:r>
              <a:t>PRIVACY · CONFIRM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Arial" panose="020B0604020202090204"/>
              </a:defRPr>
            </a:pPr>
            <a:r>
              <a:t>10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33"/>
                </a:solidFill>
                <a:latin typeface="Arial" panose="020B0604020202090204"/>
              </a:defRPr>
            </a:pPr>
            <a:r>
              <a:t>PREVIEW → CONFIRM · MINIMAL DISCLOSURE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0">
                <a:solidFill>
                  <a:srgbClr val="FFFFFF"/>
                </a:solidFill>
                <a:latin typeface="Arial" panose="020B0604020202090204"/>
              </a:defRPr>
            </a:pPr>
            <a:r>
              <a:t>Confirm Gate + Minimal Disclosure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5394960" cy="3840480"/>
          </a:xfrm>
          <a:prstGeom prst="rect">
            <a:avLst/>
          </a:prstGeom>
          <a:solidFill>
            <a:srgbClr val="15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33"/>
                </a:solidFill>
                <a:latin typeface="Arial" panose="020B0604020202090204"/>
              </a:defRPr>
            </a:pPr>
            <a:r>
              <a:t>PREVIEW 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rial" panose="020B0604020202090204"/>
              </a:defRPr>
            </a:pPr>
            <a:r>
              <a:t>Pending — no writes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 panose="020B0604020202090204"/>
              </a:defRPr>
            </a:pPr>
            <a:r>
              <a:t>· preview_inventory_change: stock preview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690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 panose="020B0604020202090204"/>
              </a:defRPr>
            </a:pPr>
            <a:r>
              <a:t>· preview_member_memory_change: memory preview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 panose="020B0604020202090204"/>
              </a:defRPr>
            </a:pPr>
            <a:r>
              <a:t>· preview_meal_completion: ledger-impact preview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57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 panose="020B0604020202090204"/>
              </a:defRPr>
            </a:pPr>
            <a:r>
              <a:t>· Idempotent: same key returns original receipt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377440"/>
            <a:ext cx="5394960" cy="38404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560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 panose="020B0604020202090204"/>
              </a:defRPr>
            </a:pPr>
            <a:r>
              <a:t>CONFIRM Phase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rial" panose="020B0604020202090204"/>
              </a:defRPr>
            </a:pPr>
            <a:r>
              <a:t>Minimum disclosure, hard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4747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Arial" panose="020B0604020202090204"/>
              </a:defRPr>
            </a:pPr>
            <a:r>
              <a:t>· Writes only after confirmed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0690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Arial" panose="020B0604020202090204"/>
              </a:defRPr>
            </a:pPr>
            <a:r>
              <a:t>· Task card: "less salt / no beef"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6634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Arial" panose="020B0604020202090204"/>
              </a:defRPr>
            </a:pPr>
            <a:r>
              <a:t>· No disease names — execution hints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257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Arial" panose="020B0604020202090204"/>
              </a:defRPr>
            </a:pPr>
            <a:r>
              <a:t>· Unconfirmed = no write, no send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Arial" panose="020B0604020202090204"/>
              </a:defRPr>
            </a:pPr>
            <a:r>
              <a:t>DEPLOYMENT · AMD RADEON / ROCm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Arial" panose="020B0604020202090204"/>
              </a:defRPr>
            </a:pPr>
            <a:r>
              <a:t>11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9999"/>
                </a:solidFill>
                <a:latin typeface="Arial" panose="020B0604020202090204"/>
              </a:defRPr>
            </a:pPr>
            <a:r>
              <a:t>vLLM 0.25.1+rocm723 · gfx1100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0">
                <a:solidFill>
                  <a:srgbClr val="FFFFFF"/>
                </a:solidFill>
                <a:latin typeface="Arial" panose="020B0604020202090204"/>
              </a:defRPr>
            </a:pPr>
            <a:r>
              <a:t>Core Inference on Local AMD Radeon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>
                <a:solidFill>
                  <a:srgbClr val="FFFFFF"/>
                </a:solidFill>
                <a:latin typeface="Arial" panose="020B0604020202090204"/>
              </a:defRPr>
            </a:pPr>
            <a:r>
              <a:t>Gemma 4</a:t>
            </a:r>
            <a:br/>
            <a:r>
              <a:t>12B-it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 panose="020B0604020202090204"/>
              </a:defRPr>
            </a:pPr>
            <a:r>
              <a:t>QAT W4A16</a:t>
            </a:r>
            <a:br/>
            <a:r>
              <a:t>TRITON_ATTN</a:t>
            </a:r>
            <a:br/>
            <a:r>
              <a:t>max_model_len 16384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9999"/>
                </a:solidFill>
                <a:latin typeface="Arial" panose="020B0604020202090204"/>
              </a:defRPr>
            </a:pPr>
            <a:r>
              <a:t>CHAT 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8346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 panose="020B0604020202090204"/>
              </a:defRPr>
            </a:pPr>
            <a:r>
              <a:t>:8000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657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 panose="020B0604020202090204"/>
              </a:defRPr>
            </a:pPr>
            <a:r>
              <a:t>Inference</a:t>
            </a:r>
            <a:br/>
            <a:r>
              <a:t>google/gemma-4-12B-it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9999"/>
                </a:solidFill>
                <a:latin typeface="Arial" panose="020B0604020202090204"/>
              </a:defRPr>
            </a:pPr>
            <a:r>
              <a:t>EMBED 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8346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 panose="020B0604020202090204"/>
              </a:defRPr>
            </a:pPr>
            <a:r>
              <a:t>:8001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657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 panose="020B0604020202090204"/>
              </a:defRPr>
            </a:pPr>
            <a:r>
              <a:t>Vector retrieval</a:t>
            </a:r>
            <a:br/>
            <a:r>
              <a:t>BAAI/bge-small-zh-v1.5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9999"/>
                </a:solidFill>
                <a:latin typeface="Arial" panose="020B0604020202090204"/>
              </a:defRPr>
            </a:pPr>
            <a:r>
              <a:t>GPU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28346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 panose="020B0604020202090204"/>
              </a:defRPr>
            </a:pPr>
            <a:r>
              <a:t>gfx1100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3657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 panose="020B0604020202090204"/>
              </a:defRPr>
            </a:pPr>
            <a:r>
              <a:t>Radeon</a:t>
            </a:r>
            <a:br/>
            <a:r>
              <a:t>Same card for chat &amp; embed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03520"/>
            <a:ext cx="11064240" cy="635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486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 panose="020B0604020202090204"/>
              </a:defRPr>
            </a:pPr>
            <a:r>
              <a:t>Core path: Web → Server → Local vLLM  ·  No remote model API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Arial" panose="020B0604020202090204"/>
              </a:defRPr>
            </a:pPr>
            <a:r>
              <a:t>PERFORMANCE · PREFIX CACHING &amp; RENDERER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Arial" panose="020B0604020202090204"/>
              </a:defRPr>
            </a:pPr>
            <a:r>
              <a:t>12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33"/>
                </a:solidFill>
                <a:latin typeface="Arial" panose="020B0604020202090204"/>
              </a:defRPr>
            </a:pPr>
            <a:r>
              <a:t>Same card, same model · Single variable · Latency + quality reported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Arial" panose="020B0604020202090204"/>
              </a:defRPr>
            </a:pPr>
            <a:r>
              <a:t>Targeted Optimization: Prefix Caching + Terminal Presenter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33"/>
                </a:solidFill>
                <a:latin typeface="Arial" panose="020B0604020202090204"/>
              </a:defRPr>
            </a:pPr>
            <a:r>
              <a:t>PREFIX CACHING · TTFT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Arial" panose="020B0604020202090204"/>
              </a:defRPr>
            </a:pPr>
            <a:r>
              <a:t>Prefix caching OFF                                 2248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8C33"/>
                </a:solidFill>
                <a:latin typeface="Arial" panose="020B0604020202090204"/>
              </a:defRPr>
            </a:pPr>
            <a:r>
              <a:t>Prefix caching ON                                  1152 ms  −48.78%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33"/>
                </a:solidFill>
                <a:latin typeface="Arial" panose="020B0604020202090204"/>
              </a:defRPr>
            </a:pPr>
            <a:r>
              <a:t>TRUSTED TERMINAL PRESENTER · E2E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Arial" panose="020B0604020202090204"/>
              </a:defRPr>
            </a:pPr>
            <a:r>
              <a:t>Model rewrite                                      16883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8C33"/>
                </a:solidFill>
                <a:latin typeface="Arial" panose="020B0604020202090204"/>
              </a:defRPr>
            </a:pPr>
            <a:r>
              <a:t>Trusted presenter                                   4763 ms  −71.79%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29200"/>
            <a:ext cx="11064240" cy="635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212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 panose="020B0604020202090204"/>
              </a:defRPr>
            </a:pPr>
            <a:r>
              <a:t>Full chain: cold-start first turn 120.9 s → prefix-cache warm ~38.7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86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8C33"/>
                </a:solidFill>
                <a:latin typeface="Arial" panose="020B0604020202090204"/>
              </a:defRPr>
            </a:pPr>
            <a:r>
              <a:t>Quality: OFF→1.0 / ON→1.0  |  7/9 → 9/9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945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0">
                <a:solidFill>
                  <a:srgbClr val="FF8C33"/>
                </a:solidFill>
                <a:latin typeface="Arial" panose="020B0604020202090204"/>
              </a:defRPr>
            </a:pPr>
            <a:r>
              <a:t>−48.78%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Arial" panose="020B0604020202090204"/>
              </a:defRPr>
            </a:pPr>
            <a:r>
              <a:t>TTFT reduction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8404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0">
                <a:solidFill>
                  <a:srgbClr val="FF8C33"/>
                </a:solidFill>
                <a:latin typeface="Arial" panose="020B0604020202090204"/>
              </a:defRPr>
            </a:pPr>
            <a:r>
              <a:t>−71.79%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663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Arial" panose="020B0604020202090204"/>
              </a:defRPr>
            </a:pPr>
            <a:r>
              <a:t>End-to-end reduction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Arial" panose="020B0604020202090204"/>
              </a:defRPr>
            </a:pPr>
            <a:r>
              <a:t>QUALITY · SEALED SUITE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Arial" panose="020B0604020202090204"/>
              </a:defRPr>
            </a:pPr>
            <a:r>
              <a:t>13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33"/>
                </a:solidFill>
                <a:latin typeface="Arial" panose="020B0604020202090204"/>
              </a:defRPr>
            </a:pPr>
            <a:r>
              <a:t>Diagnostic re-run · Not a blind claim · notABlindClaim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0">
                <a:solidFill>
                  <a:srgbClr val="FFFFFF"/>
                </a:solidFill>
                <a:latin typeface="Arial" panose="020B0604020202090204"/>
              </a:defRPr>
            </a:pPr>
            <a:r>
              <a:t>Sealed 21-Case Suite · Three-Column Scoring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11064240" cy="1005840"/>
          </a:xfrm>
          <a:prstGeom prst="rect">
            <a:avLst/>
          </a:prstGeom>
          <a:solidFill>
            <a:srgbClr val="15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8C33"/>
                </a:solidFill>
                <a:latin typeface="Arial" panose="020B0604020202090204"/>
              </a:defRPr>
            </a:pPr>
            <a:r>
              <a:t>21/21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514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 panose="020B0604020202090204"/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880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 panose="020B0604020202090204"/>
              </a:defRPr>
            </a:pPr>
            <a:r>
              <a:t>83/83 real tool calls; infrastructureFailures 0; runtimeFailures 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66160"/>
            <a:ext cx="11064240" cy="1005840"/>
          </a:xfrm>
          <a:prstGeom prst="rect">
            <a:avLst/>
          </a:prstGeom>
          <a:solidFill>
            <a:srgbClr val="15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666666"/>
                </a:solidFill>
                <a:latin typeface="Arial" panose="020B0604020202090204"/>
              </a:defRPr>
            </a:pPr>
            <a:r>
              <a:t>17/21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703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 panose="020B0604020202090204"/>
              </a:defRPr>
            </a:pPr>
            <a:r>
              <a:t>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4069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 panose="020B0604020202090204"/>
              </a:defRPr>
            </a:pPr>
            <a:r>
              <a:t>All 4 remaining failures are domain-attributed; model side 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754880"/>
            <a:ext cx="11064240" cy="1005840"/>
          </a:xfrm>
          <a:prstGeom prst="rect">
            <a:avLst/>
          </a:prstGeom>
          <a:solidFill>
            <a:srgbClr val="15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8C33"/>
                </a:solidFill>
                <a:latin typeface="Arial" panose="020B0604020202090204"/>
              </a:defRPr>
            </a:pPr>
            <a:r>
              <a:t>21/21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892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 panose="020B0604020202090204"/>
              </a:defRPr>
            </a:pPr>
            <a:r>
              <a:t>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5257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 panose="020B0604020202090204"/>
              </a:defRPr>
            </a:pPr>
            <a:r>
              <a:t>Safety hard-gate met; all three columns must pass for our own "pass"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035040"/>
            <a:ext cx="1106424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33"/>
                </a:solidFill>
                <a:latin typeface="Arial" panose="020B0604020202090204"/>
              </a:defRPr>
            </a:pPr>
            <a:r>
              <a:t>Internal verdict: FAIL — self-imposed 95% threshold, not competition scoring.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Arial" panose="020B0604020202090204"/>
              </a:defRPr>
            </a:pPr>
            <a:r>
              <a:t>BOUNDARIES · POST-COMPETITION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Arial" panose="020B0604020202090204"/>
              </a:defRPr>
            </a:pPr>
            <a:r>
              <a:t>14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9999"/>
                </a:solidFill>
                <a:latin typeface="Arial" panose="020B0604020202090204"/>
              </a:defRPr>
            </a:pPr>
            <a:r>
              <a:t>Honest boundaries · Post-competition roadmap — confirm gate stays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0">
                <a:solidFill>
                  <a:srgbClr val="FFFFFF"/>
                </a:solidFill>
                <a:latin typeface="Arial" panose="020B0604020202090204"/>
              </a:defRPr>
            </a:pPr>
            <a:r>
              <a:t>Known Boundaries &amp;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5394960" cy="4023360"/>
          </a:xfrm>
          <a:prstGeom prst="rect">
            <a:avLst/>
          </a:prstGeom>
          <a:solidFill>
            <a:srgbClr val="151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33"/>
                </a:solidFill>
                <a:latin typeface="Arial" panose="020B0604020202090204"/>
              </a:defRPr>
            </a:pPr>
            <a:r>
              <a:t>NOW · Known Boundaries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Arial" panose="020B0604020202090204"/>
              </a:defRPr>
            </a:pPr>
            <a:r>
              <a:t>· Synthetic food catalogue (~18 foods / 13 dish templates) — demo-grade, not authoritative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Arial" panose="020B0604020202090204"/>
              </a:defRPr>
            </a:pPr>
            <a:r>
              <a:t>· A single global mealPortionScale cannot satisfy opposing member constraints simultaneously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091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Arial" panose="020B0604020202090204"/>
              </a:defRPr>
            </a:pPr>
            <a:r>
              <a:t>· RAG citation grounding (source-list extraction) still open; not aligned with doc-* corpus IDs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377440"/>
            <a:ext cx="5394960" cy="40233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 panose="020B0604020202090204"/>
              </a:defRPr>
            </a:pPr>
            <a:r>
              <a:t>NEXT · Post-Competition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1546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 panose="020B0604020202090204"/>
              </a:defRPr>
            </a:pPr>
            <a:r>
              <a:t>· Scale authoritative food database &amp; knowledge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9319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 panose="020B0604020202090204"/>
              </a:defRPr>
            </a:pPr>
            <a:r>
              <a:t>· Improve multi-member portion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7091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 panose="020B0604020202090204"/>
              </a:defRPr>
            </a:pPr>
            <a:r>
              <a:t>· Complete citation traceability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4864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 panose="020B0604020202090204"/>
              </a:defRPr>
            </a:pPr>
            <a:r>
              <a:t>· Non-negotiable: local ledger · confirm gate · no remote APIs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6941</Words>
  <Application>WPS 演示</Application>
  <PresentationFormat>On-screen Show (4:3)</PresentationFormat>
  <Paragraphs>374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宋体</vt:lpstr>
      <vt:lpstr>Wingdings</vt:lpstr>
      <vt:lpstr>Arial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濯湮涏</cp:lastModifiedBy>
  <cp:revision>3</cp:revision>
  <dcterms:created xsi:type="dcterms:W3CDTF">2026-08-06T06:55:35Z</dcterms:created>
  <dcterms:modified xsi:type="dcterms:W3CDTF">2026-08-06T06:55:35Z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001191440300708461136T1XGW3","ProduceID":"0f5aec3a33fdf5434775df519390bef5_ead3b402908511f18e22525400f8a581","ReservedCode1":"olzMWrfMl7/BNITnxhjTrDSHUai+v4cxjX0a6lQqA789XxOrV33MrsQq/7Ivz50k7fHx8rv9eTbZrT9D8zI956F+qSSwoBqfpEIRWYl+QNmCIaSZ8kuzPz5LcY12kKHegvQ3kzDpPfHqinqld35iL77WmkS6SEcXboxC/5AQNELxpXEPxRHxLs5L/iM=","ContentPropagator":"001191440300708461136T1XGW3","PropagateID":"0f5aec3a33fdf5434775df519390bef5_ead3b402908511f18e22525400f8a581","ReservedCode2":"olzMWrfMl7/BNITnxhjTrDSHUai+v4cxjX0a6lQqA789XxOrV33MrsQq/7Ivz50k7fHx8rv9eTbZrT9D8zI956F+qSSwoBqfpEIRWYl+QNmCIaSZ8kuzPz5LcY12kKHegvQ3kzDpPfHqinqld35iL77WmkS6SEcXboxC/5AQNELxpXEPxRHxLs5L/iM="}</vt:lpwstr>
  </property>
  <property fmtid="{D5CDD505-2E9C-101B-9397-08002B2CF9AE}" pid="3" name="ICV">
    <vt:lpwstr>A469AAB616A473C84570736A02404242_42</vt:lpwstr>
  </property>
  <property fmtid="{D5CDD505-2E9C-101B-9397-08002B2CF9AE}" pid="4" name="KSOProductBuildVer">
    <vt:lpwstr>2052-12.1.25205.25205</vt:lpwstr>
  </property>
</Properties>
</file>