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ProofLaunch is a working multimodal GTM studio. The core promise is simple: move from evidence to campaign momentum while keeping every consequential release under explicit human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opportunity is not another copy generator. The operational gap is coherent creation plus verifiable approval and release boundaries.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real product surface. Judges can trace the campaign brief, specialist decisions, generated assets and the final release gate in one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Human control is not a disclaimer added after the fact. It is the architecture. Every consequential external action remains outside the autonomous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workflow is intentionally simple: every stage creates a reviewable state. The same evidence graph follows the work from brief to final release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campaign pack is the real unit of value. Instead of isolated assets, ProofLaunch gives a team a coherent, channel-ready system with shared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ProofLaunch treats approval as a first-class state. The receipt connects source evidence, model route, audits and the final human release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architecture is designed for a local Radeon workflow. We separate the verified product path from the still-pending live Radeon demo evidence; the deck does not claim an unrecorded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current verified gates in the repository. We explicitly separate what is observed from what remains pending, especially the final live Radeon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 is aligned to the judging criteria: the core workflow is functional and practical, while the innovation is the controlled multimodal operating model. Radeon enables a local execution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package is ready for review. The deck intentionally calls out the outstanding video so the public submission never implies evidence that has not been uploaded.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ProofLaunch: from evidence to momentum, under human control. Team Banyan, AMD AI DevMaster Hackathon 2026, Track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0B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446E8"/>
          </a:solidFill>
          <a:ln w="12700">
            <a:solidFill>
              <a:srgbClr val="2446E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446E8"/>
          </a:solidFill>
          <a:ln w="12700">
            <a:solidFill>
              <a:srgbClr val="2446E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ylvan/Documents/Hacker/prooflaunch_submission/docs/assets/deck-studio-v2/campaign-hero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4496" y="36576"/>
            <a:ext cx="5934456" cy="65653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00600" y="36576"/>
            <a:ext cx="2468880" cy="6565392"/>
          </a:xfrm>
          <a:prstGeom prst="rect">
            <a:avLst/>
          </a:prstGeom>
          <a:solidFill>
            <a:srgbClr val="0A0B10">
              <a:alpha val="90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650992" y="36576"/>
            <a:ext cx="2560320" cy="6565392"/>
          </a:xfrm>
          <a:prstGeom prst="rect">
            <a:avLst/>
          </a:prstGeom>
          <a:solidFill>
            <a:srgbClr val="0A0B10">
              <a:alpha val="53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94360" y="502920"/>
            <a:ext cx="2670048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4088" y="502920"/>
            <a:ext cx="2450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AI DEVMASTER · TRACK 1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1338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spc="-11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190195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b="1" spc="-4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GTM Studio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834640"/>
            <a:ext cx="55961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400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evidence to momentum—</a:t>
            </a:r>
            <a:endParaRPr lang="en-US" sz="2550" dirty="0"/>
          </a:p>
          <a:p>
            <a:pPr algn="l" indent="0" marL="0">
              <a:lnSpc>
                <a:spcPct val="8400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human control.</a:t>
            </a:r>
            <a:endParaRPr lang="en-US" sz="25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49103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spc="220" kern="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BANYAN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5285232"/>
            <a:ext cx="4983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30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campaign operating system that plans, creates, audits and packages multimodal growth work—without crossing the release boundary.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01 / PRODUCT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2435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CONSTRAINT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abundance. Release scarcity.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is no longer generating more content. It is shipping coherent, reviewable work with proof.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36208" y="2093976"/>
            <a:ext cx="5422392" cy="3648456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field-journal-fold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121408"/>
            <a:ext cx="5367528" cy="35935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3504" y="2258568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2212848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arrives fragmented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1133856" y="2660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5F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rules, product facts, rights and campaign goals live in different places.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03504" y="3438144"/>
            <a:ext cx="5166360" cy="0"/>
          </a:xfrm>
          <a:prstGeom prst="line">
            <a:avLst/>
          </a:prstGeom>
          <a:noFill/>
          <a:ln w="12700">
            <a:solidFill>
              <a:srgbClr val="C7C8C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" y="3675888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87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133856" y="3630168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drift by channel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1133856" y="407822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5F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Copy, image and video teams lose shared context between handoffs.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3504" y="4855464"/>
            <a:ext cx="5166360" cy="0"/>
          </a:xfrm>
          <a:prstGeom prst="line">
            <a:avLst/>
          </a:prstGeom>
          <a:noFill/>
          <a:ln w="12700">
            <a:solidFill>
              <a:srgbClr val="C7C8C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3504" y="5093208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" y="5047488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is the invisible tax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" y="549554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dirty="0">
                <a:solidFill>
                  <a:srgbClr val="5F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can create fast, but cannot safely prove what is ready to release.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02 / WHY NOW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216152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996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campaign room, not a chat window.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observable surface for evidence, decisions, multimodal production and handoff.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2130552"/>
            <a:ext cx="7370064" cy="4169664"/>
          </a:xfrm>
          <a:prstGeom prst="roundRect">
            <a:avLst>
              <a:gd name="adj" fmla="val 307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workbench-top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157984"/>
            <a:ext cx="7315200" cy="4114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366760" y="2157984"/>
            <a:ext cx="3246120" cy="4114800"/>
          </a:xfrm>
          <a:prstGeom prst="roundRect">
            <a:avLst>
              <a:gd name="adj" fmla="val 6197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0" y="2487168"/>
            <a:ext cx="1417320" cy="283464"/>
          </a:xfrm>
          <a:prstGeom prst="roundRect">
            <a:avLst>
              <a:gd name="adj" fmla="val 50000"/>
            </a:avLst>
          </a:prstGeom>
          <a:solidFill>
            <a:srgbClr val="202532"/>
          </a:solidFill>
          <a:ln w="12700">
            <a:solidFill>
              <a:srgbClr val="202532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796528" y="2487168"/>
            <a:ext cx="1197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SURFACE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686800" y="2971800"/>
            <a:ext cx="25054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work</a:t>
            </a:r>
            <a:endParaRPr lang="en-US" sz="2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it ships.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8686800" y="4361688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34349" y="4409237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33688" y="4279392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619488" y="4279392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 to source evidence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686800" y="4782312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734349" y="4829861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933688" y="4700016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Council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9619488" y="470001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Specialists expose trade-offs</a:t>
            </a:r>
            <a:endParaRPr lang="en-US" sz="940" dirty="0"/>
          </a:p>
        </p:txBody>
      </p:sp>
      <p:sp>
        <p:nvSpPr>
          <p:cNvPr id="20" name="Shape 17"/>
          <p:cNvSpPr/>
          <p:nvPr/>
        </p:nvSpPr>
        <p:spPr>
          <a:xfrm>
            <a:off x="8686800" y="520293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34349" y="525048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33688" y="5120640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Gates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9619488" y="5120640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and approval are explicit</a:t>
            </a:r>
            <a:endParaRPr lang="en-US" sz="940" dirty="0"/>
          </a:p>
        </p:txBody>
      </p:sp>
      <p:sp>
        <p:nvSpPr>
          <p:cNvPr id="24" name="Shape 21"/>
          <p:cNvSpPr/>
          <p:nvPr/>
        </p:nvSpPr>
        <p:spPr>
          <a:xfrm>
            <a:off x="8686800" y="5623560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34349" y="5671109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33688" y="5541264"/>
            <a:ext cx="676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619488" y="5541264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run leaves an observable trail</a:t>
            </a:r>
            <a:endParaRPr lang="en-US" sz="940" dirty="0"/>
          </a:p>
        </p:txBody>
      </p:sp>
      <p:sp>
        <p:nvSpPr>
          <p:cNvPr id="28" name="Shape 25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03 / EXPERIENCE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ylvan/Documents/Hacker/prooflaunch_submission/docs/assets/deck-studio-v2/mission-control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576"/>
            <a:ext cx="12191695" cy="65653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6576"/>
            <a:ext cx="12191695" cy="6565392"/>
          </a:xfrm>
          <a:prstGeom prst="rect">
            <a:avLst/>
          </a:prstGeom>
          <a:solidFill>
            <a:srgbClr val="0A0B10">
              <a:alpha val="65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36576"/>
            <a:ext cx="5440680" cy="6565392"/>
          </a:xfrm>
          <a:prstGeom prst="rect">
            <a:avLst/>
          </a:prstGeom>
          <a:solidFill>
            <a:srgbClr val="0A0B10">
              <a:alpha val="92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94360" y="457200"/>
            <a:ext cx="2084832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4088" y="457200"/>
            <a:ext cx="18653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CONCEPTUAL CONTROL GATES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978408"/>
            <a:ext cx="47548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20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gates.</a:t>
            </a:r>
            <a:endParaRPr lang="en-US" sz="3400" dirty="0"/>
          </a:p>
          <a:p>
            <a:pPr algn="l" indent="0" marL="0">
              <a:lnSpc>
                <a:spcPct val="820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release boundary.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688336"/>
            <a:ext cx="4517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1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can propose, generate, inspect and package.</a:t>
            </a:r>
            <a:endParaRPr lang="en-US" sz="1350" dirty="0"/>
          </a:p>
          <a:p>
            <a:pPr algn="l" indent="0" marL="0">
              <a:lnSpc>
                <a:spcPct val="91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publish, send or spend.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1792" y="39867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9341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4526280"/>
            <a:ext cx="822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795528" y="4059936"/>
            <a:ext cx="649224" cy="0"/>
          </a:xfrm>
          <a:prstGeom prst="line">
            <a:avLst/>
          </a:prstGeom>
          <a:noFill/>
          <a:ln w="12700">
            <a:solidFill>
              <a:srgbClr val="737A8A">
                <a:alpha val="80000"/>
              </a:srgbClr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1572768" y="39867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620317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572768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1572768" y="4526280"/>
            <a:ext cx="822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820" dirty="0"/>
          </a:p>
        </p:txBody>
      </p:sp>
      <p:sp>
        <p:nvSpPr>
          <p:cNvPr id="18" name="Shape 15"/>
          <p:cNvSpPr/>
          <p:nvPr/>
        </p:nvSpPr>
        <p:spPr>
          <a:xfrm>
            <a:off x="1746504" y="4059936"/>
            <a:ext cx="649224" cy="0"/>
          </a:xfrm>
          <a:prstGeom prst="line">
            <a:avLst/>
          </a:prstGeom>
          <a:noFill/>
          <a:ln w="12700">
            <a:solidFill>
              <a:srgbClr val="737A8A">
                <a:alpha val="80000"/>
              </a:srgbClr>
            </a:solidFill>
            <a:prstDash val="dash"/>
          </a:ln>
        </p:spPr>
      </p:sp>
      <p:sp>
        <p:nvSpPr>
          <p:cNvPr id="19" name="Shape 16"/>
          <p:cNvSpPr/>
          <p:nvPr/>
        </p:nvSpPr>
        <p:spPr>
          <a:xfrm>
            <a:off x="2523744" y="39867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571293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523744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2523744" y="4526280"/>
            <a:ext cx="822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820" dirty="0"/>
          </a:p>
        </p:txBody>
      </p:sp>
      <p:sp>
        <p:nvSpPr>
          <p:cNvPr id="23" name="Shape 20"/>
          <p:cNvSpPr/>
          <p:nvPr/>
        </p:nvSpPr>
        <p:spPr>
          <a:xfrm>
            <a:off x="2697480" y="4059936"/>
            <a:ext cx="649224" cy="0"/>
          </a:xfrm>
          <a:prstGeom prst="line">
            <a:avLst/>
          </a:prstGeom>
          <a:noFill/>
          <a:ln w="12700">
            <a:solidFill>
              <a:srgbClr val="737A8A">
                <a:alpha val="80000"/>
              </a:srgbClr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3474720" y="39867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522269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474720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3474720" y="4526280"/>
            <a:ext cx="822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820" dirty="0"/>
          </a:p>
        </p:txBody>
      </p:sp>
      <p:sp>
        <p:nvSpPr>
          <p:cNvPr id="28" name="Shape 25"/>
          <p:cNvSpPr/>
          <p:nvPr/>
        </p:nvSpPr>
        <p:spPr>
          <a:xfrm>
            <a:off x="3648456" y="4059936"/>
            <a:ext cx="649224" cy="0"/>
          </a:xfrm>
          <a:prstGeom prst="line">
            <a:avLst/>
          </a:prstGeom>
          <a:noFill/>
          <a:ln w="12700">
            <a:solidFill>
              <a:srgbClr val="737A8A">
                <a:alpha val="80000"/>
              </a:srgbClr>
            </a:solidFill>
            <a:prstDash val="dash"/>
          </a:ln>
        </p:spPr>
      </p:sp>
      <p:sp>
        <p:nvSpPr>
          <p:cNvPr id="29" name="Shape 26"/>
          <p:cNvSpPr/>
          <p:nvPr/>
        </p:nvSpPr>
        <p:spPr>
          <a:xfrm>
            <a:off x="4425696" y="3986784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73245" y="40343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425696" y="4242816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4425696" y="4526280"/>
            <a:ext cx="1143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RELEASE</a:t>
            </a:r>
            <a:endParaRPr lang="en-US" sz="820" dirty="0"/>
          </a:p>
        </p:txBody>
      </p:sp>
      <p:sp>
        <p:nvSpPr>
          <p:cNvPr id="33" name="Shape 30"/>
          <p:cNvSpPr/>
          <p:nvPr/>
        </p:nvSpPr>
        <p:spPr>
          <a:xfrm>
            <a:off x="621792" y="5230368"/>
            <a:ext cx="4425696" cy="640080"/>
          </a:xfrm>
          <a:prstGeom prst="roundRect">
            <a:avLst>
              <a:gd name="adj" fmla="val 21429"/>
            </a:avLst>
          </a:prstGeom>
          <a:solidFill>
            <a:srgbClr val="FF6B52">
              <a:alpha val="22000"/>
            </a:srgbClr>
          </a:solidFill>
          <a:ln w="12700">
            <a:solidFill>
              <a:srgbClr val="FF6B52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376672"/>
            <a:ext cx="8412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50" b="1" spc="130" kern="0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STOP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1764792" y="5340096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autonomous publish · send · spend</a:t>
            </a:r>
            <a:endParaRPr lang="en-US" sz="1120" dirty="0"/>
          </a:p>
        </p:txBody>
      </p:sp>
      <p:sp>
        <p:nvSpPr>
          <p:cNvPr id="36" name="Shape 33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04 / GOVERNANCE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792224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572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OPERATING LOOP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becomes a governed campaign pack.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supervisor keeps the context coherent while bounded specialists contribute the right artifact at the right gate.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03504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68096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" y="3081528"/>
            <a:ext cx="329184" cy="329184"/>
          </a:xfrm>
          <a:prstGeom prst="ellipse">
            <a:avLst/>
          </a:prstGeom>
          <a:solidFill>
            <a:srgbClr val="2446E8"/>
          </a:solidFill>
          <a:ln w="12700">
            <a:solidFill>
              <a:srgbClr val="2446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8096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Facts · rights · goals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2212848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77440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5456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70048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87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70048" y="3081528"/>
            <a:ext cx="329184" cy="329184"/>
          </a:xfrm>
          <a:prstGeom prst="ellipse">
            <a:avLst/>
          </a:prstGeom>
          <a:solidFill>
            <a:srgbClr val="875CF6"/>
          </a:solidFill>
          <a:ln w="12700">
            <a:solidFill>
              <a:srgbClr val="875C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70048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70048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 · offer · channels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4114800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79392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07408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572000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3081528"/>
            <a:ext cx="329184" cy="329184"/>
          </a:xfrm>
          <a:prstGeom prst="ellipse">
            <a:avLst/>
          </a:prstGeom>
          <a:solidFill>
            <a:srgbClr val="FF6B52"/>
          </a:solidFill>
          <a:ln w="12700">
            <a:solidFill>
              <a:srgbClr val="FF6B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· image · video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016752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81344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9360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73952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3AA6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73952" y="3081528"/>
            <a:ext cx="329184" cy="329184"/>
          </a:xfrm>
          <a:prstGeom prst="ellipse">
            <a:avLst/>
          </a:prstGeom>
          <a:solidFill>
            <a:srgbClr val="3AA679"/>
          </a:solidFill>
          <a:ln w="12700">
            <a:solidFill>
              <a:srgbClr val="3AA67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73952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73952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· rights · risk</a:t>
            </a:r>
            <a:endParaRPr lang="en-US" sz="960" dirty="0"/>
          </a:p>
        </p:txBody>
      </p:sp>
      <p:sp>
        <p:nvSpPr>
          <p:cNvPr id="32" name="Shape 30"/>
          <p:cNvSpPr/>
          <p:nvPr/>
        </p:nvSpPr>
        <p:spPr>
          <a:xfrm>
            <a:off x="7918704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83296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1312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2D2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375904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D59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375904" y="3081528"/>
            <a:ext cx="329184" cy="329184"/>
          </a:xfrm>
          <a:prstGeom prst="ellipse">
            <a:avLst/>
          </a:prstGeom>
          <a:solidFill>
            <a:srgbClr val="D5981B"/>
          </a:solidFill>
          <a:ln w="12700">
            <a:solidFill>
              <a:srgbClr val="D5981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75904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375904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decision only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9820656" y="3602736"/>
            <a:ext cx="265176" cy="0"/>
          </a:xfrm>
          <a:prstGeom prst="line">
            <a:avLst/>
          </a:prstGeom>
          <a:noFill/>
          <a:ln w="16510">
            <a:solidFill>
              <a:srgbClr val="9EA2A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85248" y="3511296"/>
            <a:ext cx="146304" cy="182880"/>
          </a:xfrm>
          <a:prstGeom prst="chevron">
            <a:avLst/>
          </a:prstGeom>
          <a:solidFill>
            <a:srgbClr val="9EA2AC"/>
          </a:solidFill>
          <a:ln w="12700">
            <a:solidFill>
              <a:srgbClr val="9EA2A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113264" y="2487168"/>
            <a:ext cx="1591056" cy="2212848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50800" dir="2700000">
              <a:srgbClr val="5E6474">
                <a:alpha val="12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10277856" y="26700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277856" y="3081528"/>
            <a:ext cx="329184" cy="329184"/>
          </a:xfrm>
          <a:prstGeom prst="ellipse">
            <a:avLst/>
          </a:prstGeom>
          <a:solidFill>
            <a:srgbClr val="2446E8"/>
          </a:solidFill>
          <a:ln w="12700">
            <a:solidFill>
              <a:srgbClr val="2446E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277856" y="357530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00" b="1" spc="3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0277856" y="401421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60" b="1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· result · next move</a:t>
            </a:r>
            <a:endParaRPr lang="en-US" sz="960" dirty="0"/>
          </a:p>
        </p:txBody>
      </p:sp>
      <p:sp>
        <p:nvSpPr>
          <p:cNvPr id="46" name="Shape 44"/>
          <p:cNvSpPr/>
          <p:nvPr/>
        </p:nvSpPr>
        <p:spPr>
          <a:xfrm>
            <a:off x="941832" y="5230368"/>
            <a:ext cx="10058400" cy="0"/>
          </a:xfrm>
          <a:prstGeom prst="line">
            <a:avLst/>
          </a:prstGeom>
          <a:noFill/>
          <a:ln w="12700">
            <a:solidFill>
              <a:srgbClr val="B6B8BE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603504" y="5413248"/>
            <a:ext cx="804672" cy="283464"/>
          </a:xfrm>
          <a:prstGeom prst="roundRect">
            <a:avLst>
              <a:gd name="adj" fmla="val 50000"/>
            </a:avLst>
          </a:prstGeom>
          <a:solidFill>
            <a:srgbClr val="2446E8"/>
          </a:solidFill>
          <a:ln w="12700">
            <a:solidFill>
              <a:srgbClr val="2446E8">
                <a:alpha val="0"/>
              </a:srgbClr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13232" y="5413248"/>
            <a:ext cx="585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1572768" y="5404104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evidence graph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151376" y="5413248"/>
            <a:ext cx="768096" cy="283464"/>
          </a:xfrm>
          <a:prstGeom prst="roundRect">
            <a:avLst>
              <a:gd name="adj" fmla="val 50000"/>
            </a:avLst>
          </a:prstGeom>
          <a:solidFill>
            <a:srgbClr val="875CF6"/>
          </a:solidFill>
          <a:ln w="12700">
            <a:solidFill>
              <a:srgbClr val="875CF6">
                <a:alpha val="0"/>
              </a:srgbClr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261104" y="5413248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111496" y="5404104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+ model receipts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7900416" y="5413248"/>
            <a:ext cx="896112" cy="283464"/>
          </a:xfrm>
          <a:prstGeom prst="roundRect">
            <a:avLst>
              <a:gd name="adj" fmla="val 50000"/>
            </a:avLst>
          </a:prstGeom>
          <a:solidFill>
            <a:srgbClr val="BFE7D2"/>
          </a:solidFill>
          <a:ln w="12700">
            <a:solidFill>
              <a:srgbClr val="BFE7D2">
                <a:alpha val="0"/>
              </a:srgbClr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010144" y="5413248"/>
            <a:ext cx="676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8988552" y="5404104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external action before approval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05 / WORKFLOW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133856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deliverables. One campaign truth.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channel expression is generated from the same evidence, promise and approval state.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2093976"/>
            <a:ext cx="6108192" cy="3456432"/>
          </a:xfrm>
          <a:prstGeom prst="roundRect">
            <a:avLst>
              <a:gd name="adj" fmla="val 3704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asset-studio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121408"/>
            <a:ext cx="6053328" cy="34015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986016" y="2075688"/>
            <a:ext cx="2734056" cy="1563624"/>
          </a:xfrm>
          <a:prstGeom prst="roundRect">
            <a:avLst>
              <a:gd name="adj" fmla="val 8187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pic>
        <p:nvPicPr>
          <p:cNvPr id="9" name="Image 1" descr="/Users/sylvan/Documents/Hacker/prooflaunch_submission/docs/assets/deck-studio-v2/campaign-landing-16x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448" y="2103120"/>
            <a:ext cx="2679192" cy="15087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948672" y="2075688"/>
            <a:ext cx="1682496" cy="2093976"/>
          </a:xfrm>
          <a:prstGeom prst="roundRect">
            <a:avLst>
              <a:gd name="adj" fmla="val 7609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pic>
        <p:nvPicPr>
          <p:cNvPr id="11" name="Image 2" descr="/Users/sylvan/Documents/Hacker/prooflaunch_submission/evidence/v10/local-campaign-pack-v1/delivery-v6/prooflaunch-social-1080x135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6104" y="2103120"/>
            <a:ext cx="1627632" cy="203911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986016" y="3922776"/>
            <a:ext cx="2734056" cy="1563624"/>
          </a:xfrm>
          <a:prstGeom prst="roundRect">
            <a:avLst>
              <a:gd name="adj" fmla="val 8187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pic>
        <p:nvPicPr>
          <p:cNvPr id="13" name="Image 3" descr="/Users/sylvan/Documents/Hacker/prooflaunch_submission/docs/assets/deck-studio-v2/campaign-hero-16x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3950208"/>
            <a:ext cx="2679192" cy="15087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013448" y="5751576"/>
            <a:ext cx="4590288" cy="502920"/>
          </a:xfrm>
          <a:prstGeom prst="roundRect">
            <a:avLst>
              <a:gd name="adj" fmla="val 29091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242048" y="5824728"/>
            <a:ext cx="41513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spc="8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 ·  LANDING  ·  HERO  ·  SOCIAL  ·  VIDEO  ·  KIT</a:t>
            </a:r>
            <a:endParaRPr lang="en-US" sz="850" dirty="0"/>
          </a:p>
        </p:txBody>
      </p:sp>
      <p:sp>
        <p:nvSpPr>
          <p:cNvPr id="16" name="Shape 10"/>
          <p:cNvSpPr/>
          <p:nvPr/>
        </p:nvSpPr>
        <p:spPr>
          <a:xfrm>
            <a:off x="804672" y="5760720"/>
            <a:ext cx="1124712" cy="283464"/>
          </a:xfrm>
          <a:prstGeom prst="roundRect">
            <a:avLst>
              <a:gd name="adj" fmla="val 50000"/>
            </a:avLst>
          </a:prstGeom>
          <a:solidFill>
            <a:srgbClr val="202532"/>
          </a:solidFill>
          <a:ln w="12700">
            <a:solidFill>
              <a:srgbClr val="202532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914400" y="5760720"/>
            <a:ext cx="9052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ARTIFACTS</a:t>
            </a:r>
            <a:endParaRPr lang="en-US" sz="850" dirty="0"/>
          </a:p>
        </p:txBody>
      </p:sp>
      <p:sp>
        <p:nvSpPr>
          <p:cNvPr id="18" name="Text 12"/>
          <p:cNvSpPr txBox="1"/>
          <p:nvPr/>
        </p:nvSpPr>
        <p:spPr>
          <a:xfrm>
            <a:off x="2139696" y="575157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8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through the product workflow; packaged for review.</a:t>
            </a:r>
            <a:endParaRPr lang="en-US" sz="1080" dirty="0"/>
          </a:p>
        </p:txBody>
      </p:sp>
      <p:sp>
        <p:nvSpPr>
          <p:cNvPr id="19" name="Shape 13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06 / CAMPAIGN PACK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545336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325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PROOF LAYER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asset carries its release context.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content-addressed receipt makes decisions inspectable without pretending that generation equals approval.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12648" y="2212848"/>
            <a:ext cx="6656832" cy="3566160"/>
          </a:xfrm>
          <a:prstGeom prst="roundRect">
            <a:avLst>
              <a:gd name="adj" fmla="val 6154"/>
            </a:avLst>
          </a:prstGeom>
          <a:solidFill>
            <a:srgbClr val="0A0B10"/>
          </a:solidFill>
          <a:ln w="12700">
            <a:solidFill>
              <a:srgbClr val="0A0B10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5F6472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551176"/>
            <a:ext cx="1207008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9848" y="2551176"/>
            <a:ext cx="987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RECEIPT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08152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campaign_4fc2…a91e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60120" y="3703320"/>
            <a:ext cx="5916168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9264" y="3913632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60" b="1" spc="100" kern="0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86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391363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evidence items · rights checked</a:t>
            </a:r>
            <a:endParaRPr lang="en-US" sz="104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3913632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60" b="1" spc="6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4325112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60" b="1" spc="100" kern="0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ROUTE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432511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residency configured</a:t>
            </a:r>
            <a:endParaRPr lang="en-US" sz="104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4325112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60" b="1" spc="6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CONFIGURED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4736592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60" b="1" spc="100" kern="0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473659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· factuality · channel fit</a:t>
            </a:r>
            <a:endParaRPr lang="en-US" sz="104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4736592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60" b="1" spc="6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</a:t>
            </a:r>
            <a:endParaRPr lang="en-US" sz="86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5148072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60" b="1" spc="100" kern="0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860" dirty="0"/>
          </a:p>
        </p:txBody>
      </p:sp>
      <p:sp>
        <p:nvSpPr>
          <p:cNvPr id="21" name="Text 19"/>
          <p:cNvSpPr txBox="1"/>
          <p:nvPr/>
        </p:nvSpPr>
        <p:spPr>
          <a:xfrm>
            <a:off x="1737360" y="5148072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action boundary</a:t>
            </a:r>
            <a:endParaRPr lang="en-US" sz="104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5148072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860" b="1" spc="60" kern="0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HUMAN</a:t>
            </a:r>
            <a:endParaRPr lang="en-US" sz="86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3317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228600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Rights before generation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266090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and references are recorded before assets are made.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818120" y="3172968"/>
            <a:ext cx="3611880" cy="0"/>
          </a:xfrm>
          <a:prstGeom prst="line">
            <a:avLst/>
          </a:prstGeom>
          <a:noFill/>
          <a:ln w="12700">
            <a:solidFill>
              <a:srgbClr val="C7C8C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18120" y="33832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366760" y="333756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before packaging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371246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assets stop at the rejection gate.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18120" y="4224528"/>
            <a:ext cx="3611880" cy="0"/>
          </a:xfrm>
          <a:prstGeom prst="line">
            <a:avLst/>
          </a:prstGeom>
          <a:noFill/>
          <a:ln w="12700">
            <a:solidFill>
              <a:srgbClr val="C7C8C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818120" y="44348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438912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before release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76402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dirty="0">
                <a:solidFill>
                  <a:srgbClr val="66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never crosses the external action boundary.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818120" y="5541264"/>
            <a:ext cx="932688" cy="283464"/>
          </a:xfrm>
          <a:prstGeom prst="roundRect">
            <a:avLst>
              <a:gd name="adj" fmla="val 50000"/>
            </a:avLst>
          </a:prstGeom>
          <a:solidFill>
            <a:srgbClr val="BFE7D2"/>
          </a:solidFill>
          <a:ln w="12700">
            <a:solidFill>
              <a:srgbClr val="BFE7D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927848" y="5541264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8951976" y="5513832"/>
            <a:ext cx="239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Reviewable by design.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07 / TRUST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545336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325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RADEON PATH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multimodal work, sequenced for constrained memory.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operator sees the route and receipt; models are loaded by stage instead of competing for residency.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784848" y="2121408"/>
            <a:ext cx="4828032" cy="2798064"/>
          </a:xfrm>
          <a:prstGeom prst="roundRect">
            <a:avLst>
              <a:gd name="adj" fmla="val 4575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cockpit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148840"/>
            <a:ext cx="4773168" cy="2743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" y="2313432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5917" y="2360981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22128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380744" y="2212848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Qwen3-VL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072384" y="221284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+ evidence</a:t>
            </a:r>
            <a:endParaRPr lang="en-US" sz="1040" dirty="0"/>
          </a:p>
        </p:txBody>
      </p:sp>
      <p:sp>
        <p:nvSpPr>
          <p:cNvPr id="13" name="Shape 10"/>
          <p:cNvSpPr/>
          <p:nvPr/>
        </p:nvSpPr>
        <p:spPr>
          <a:xfrm>
            <a:off x="722376" y="2496312"/>
            <a:ext cx="0" cy="393192"/>
          </a:xfrm>
          <a:prstGeom prst="line">
            <a:avLst/>
          </a:prstGeom>
          <a:noFill/>
          <a:ln w="12700">
            <a:solidFill>
              <a:srgbClr val="596071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658368" y="2990088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917" y="3037637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4400" y="288950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380744" y="2889504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SDXL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07238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image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722376" y="3172968"/>
            <a:ext cx="0" cy="393192"/>
          </a:xfrm>
          <a:prstGeom prst="line">
            <a:avLst/>
          </a:prstGeom>
          <a:noFill/>
          <a:ln w="12700">
            <a:solidFill>
              <a:srgbClr val="596071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658368" y="366674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05917" y="371429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14400" y="35661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380744" y="3566160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SigLIP2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072384" y="356616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audit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722376" y="3849624"/>
            <a:ext cx="0" cy="393192"/>
          </a:xfrm>
          <a:prstGeom prst="line">
            <a:avLst/>
          </a:prstGeom>
          <a:noFill/>
          <a:ln w="12700">
            <a:solidFill>
              <a:srgbClr val="596071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658368" y="4343400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05917" y="4390949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4400" y="42428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380744" y="4242816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LTX-Video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3072384" y="424281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asset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722376" y="4526280"/>
            <a:ext cx="0" cy="393192"/>
          </a:xfrm>
          <a:prstGeom prst="line">
            <a:avLst/>
          </a:prstGeom>
          <a:noFill/>
          <a:ln w="12700">
            <a:solidFill>
              <a:srgbClr val="596071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58368" y="5020056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05917" y="506760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14400" y="491947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8D93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80744" y="4919472"/>
            <a:ext cx="1581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SAM2 / CLAP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3072384" y="491947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+ audio checks</a:t>
            </a:r>
            <a:endParaRPr lang="en-US" sz="1040" dirty="0"/>
          </a:p>
        </p:txBody>
      </p:sp>
      <p:sp>
        <p:nvSpPr>
          <p:cNvPr id="37" name="Shape 34"/>
          <p:cNvSpPr/>
          <p:nvPr/>
        </p:nvSpPr>
        <p:spPr>
          <a:xfrm>
            <a:off x="621792" y="5715000"/>
            <a:ext cx="10963656" cy="512064"/>
          </a:xfrm>
          <a:prstGeom prst="roundRect">
            <a:avLst>
              <a:gd name="adj" fmla="val 28571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50392" y="5833872"/>
            <a:ext cx="1335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PRINCIPLE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2386584" y="579729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→ execute → capture receipt → release memory → advance</a:t>
            </a:r>
            <a:endParaRPr lang="en-US" sz="1120" dirty="0"/>
          </a:p>
        </p:txBody>
      </p:sp>
      <p:sp>
        <p:nvSpPr>
          <p:cNvPr id="40" name="Text 37"/>
          <p:cNvSpPr txBox="1"/>
          <p:nvPr/>
        </p:nvSpPr>
        <p:spPr>
          <a:xfrm>
            <a:off x="7351776" y="58338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70" kern="0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RADEON VIDEO EVIDENCE</a:t>
            </a:r>
            <a:endParaRPr lang="en-US" sz="820" dirty="0"/>
          </a:p>
        </p:txBody>
      </p:sp>
      <p:sp>
        <p:nvSpPr>
          <p:cNvPr id="41" name="Text 38"/>
          <p:cNvSpPr txBox="1"/>
          <p:nvPr/>
        </p:nvSpPr>
        <p:spPr>
          <a:xfrm>
            <a:off x="10369296" y="5797296"/>
            <a:ext cx="850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08 / AMD RADEON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792224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572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BUILD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is tested as a system—not a screenshot.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repository and UI gates, separated from claims that still require live hardware evidence.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03504" y="2221992"/>
            <a:ext cx="10991088" cy="2286000"/>
          </a:xfrm>
          <a:prstGeom prst="roundRect">
            <a:avLst>
              <a:gd name="adj" fmla="val 92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14300" dist="50800" dir="2700000">
              <a:srgbClr val="626876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2542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827 / 827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632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TESTS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136392" y="25420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87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17</a:t>
            </a:r>
            <a:endParaRPr lang="en-US" sz="2900" dirty="0"/>
          </a:p>
        </p:txBody>
      </p:sp>
      <p:sp>
        <p:nvSpPr>
          <p:cNvPr id="10" name="Text 8"/>
          <p:cNvSpPr txBox="1"/>
          <p:nvPr/>
        </p:nvSpPr>
        <p:spPr>
          <a:xfrm>
            <a:off x="3136392" y="306324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TESTS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84648" y="25420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FF6B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2900" dirty="0"/>
          </a:p>
        </p:txBody>
      </p:sp>
      <p:sp>
        <p:nvSpPr>
          <p:cNvPr id="12" name="Text 10"/>
          <p:cNvSpPr txBox="1"/>
          <p:nvPr/>
        </p:nvSpPr>
        <p:spPr>
          <a:xfrm>
            <a:off x="5184648" y="306324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ROUTE-HEAD TESTS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2904" y="25420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3AA6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· 58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7232904" y="306324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· API CONTRACTS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646920" y="2542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spc="-50" kern="0" dirty="0">
                <a:solidFill>
                  <a:srgbClr val="D59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4</a:t>
            </a:r>
            <a:endParaRPr lang="en-US" sz="29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3063240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606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LOCKS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4400" y="3858768"/>
            <a:ext cx="10341864" cy="0"/>
          </a:xfrm>
          <a:prstGeom prst="line">
            <a:avLst/>
          </a:prstGeom>
          <a:noFill/>
          <a:ln w="12700">
            <a:solidFill>
              <a:srgbClr val="D7D8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032504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b="1" spc="70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HORIZONTAL OVERFLOW</a:t>
            </a:r>
            <a:endParaRPr lang="en-US" sz="940" dirty="0"/>
          </a:p>
        </p:txBody>
      </p:sp>
      <p:sp>
        <p:nvSpPr>
          <p:cNvPr id="19" name="Text 17"/>
          <p:cNvSpPr txBox="1"/>
          <p:nvPr/>
        </p:nvSpPr>
        <p:spPr>
          <a:xfrm>
            <a:off x="4608576" y="4032504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b="1" spc="70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+ MOBILE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7342632" y="4032504"/>
            <a:ext cx="1847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40" b="1" spc="70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SAME-ORIGIN API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621792" y="5029200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9341" y="5076749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6968" y="4956048"/>
            <a:ext cx="1014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spc="100" kern="0" dirty="0">
                <a:solidFill>
                  <a:srgbClr val="3AA6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011680" y="49286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paths, UI behavior, route contracts, release locks.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" y="5596128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341" y="5643677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6968" y="5522976"/>
            <a:ext cx="1014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00" b="1" spc="100" kern="0" dirty="0">
                <a:solidFill>
                  <a:srgbClr val="C58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CLAIMED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011680" y="54955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Unrecorded Radeon benchmark or completed live GPU video.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397496" y="4727448"/>
            <a:ext cx="420624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0" descr="/Users/sylvan/Documents/Hacker/prooflaunch_submission/docs/assets/deck-studio-v2/frontier-real-ui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28" y="4754880"/>
            <a:ext cx="4151376" cy="1243584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09 / VERIFICATION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216152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996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FIT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value first. Radeon makes it local.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turns multimodal capability into an auditable campaign operation for real teams.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309360" y="2112264"/>
            <a:ext cx="5285232" cy="2999232"/>
          </a:xfrm>
          <a:prstGeom prst="roundRect">
            <a:avLst>
              <a:gd name="adj" fmla="val 4268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50800" dir="2700000">
              <a:srgbClr val="000000">
                <a:alpha val="24000"/>
              </a:srgbClr>
            </a:outerShdw>
          </a:effectLst>
        </p:spPr>
      </p:sp>
      <p:pic>
        <p:nvPicPr>
          <p:cNvPr id="7" name="Image 0" descr="/Users/sylvan/Documents/Hacker/prooflaunch_submission/docs/assets/deck-studio-v2/platform-kits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792" y="2139696"/>
            <a:ext cx="5230368" cy="29443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1033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0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</a:t>
            </a:r>
            <a:endParaRPr lang="en-US" sz="830" dirty="0"/>
          </a:p>
        </p:txBody>
      </p:sp>
      <p:sp>
        <p:nvSpPr>
          <p:cNvPr id="9" name="Text 6"/>
          <p:cNvSpPr txBox="1"/>
          <p:nvPr/>
        </p:nvSpPr>
        <p:spPr>
          <a:xfrm>
            <a:off x="1746504" y="21305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Brief-to-pack workflow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746504" y="252374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product paths and same-origin APIs.</a:t>
            </a:r>
            <a:endParaRPr lang="en-US" sz="1020" dirty="0"/>
          </a:p>
        </p:txBody>
      </p:sp>
      <p:sp>
        <p:nvSpPr>
          <p:cNvPr id="11" name="Shape 8"/>
          <p:cNvSpPr/>
          <p:nvPr/>
        </p:nvSpPr>
        <p:spPr>
          <a:xfrm>
            <a:off x="640080" y="2898648"/>
            <a:ext cx="5065776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035808"/>
            <a:ext cx="1033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0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</a:t>
            </a:r>
            <a:endParaRPr lang="en-US" sz="830" dirty="0"/>
          </a:p>
        </p:txBody>
      </p:sp>
      <p:sp>
        <p:nvSpPr>
          <p:cNvPr id="13" name="Text 10"/>
          <p:cNvSpPr txBox="1"/>
          <p:nvPr/>
        </p:nvSpPr>
        <p:spPr>
          <a:xfrm>
            <a:off x="1746504" y="2971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Review-ready campaign system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746504" y="336499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deliverables, platform kits and release state.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640080" y="3739896"/>
            <a:ext cx="5065776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877056"/>
            <a:ext cx="1033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0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INNOVATIVE</a:t>
            </a:r>
            <a:endParaRPr lang="en-US" sz="830" dirty="0"/>
          </a:p>
        </p:txBody>
      </p:sp>
      <p:sp>
        <p:nvSpPr>
          <p:cNvPr id="17" name="Text 14"/>
          <p:cNvSpPr txBox="1"/>
          <p:nvPr/>
        </p:nvSpPr>
        <p:spPr>
          <a:xfrm>
            <a:off x="1746504" y="38130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Approval-aware multimodal orchestration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746504" y="42062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graph + specialist council + receipts.</a:t>
            </a:r>
            <a:endParaRPr lang="en-US" sz="1020" dirty="0"/>
          </a:p>
        </p:txBody>
      </p:sp>
      <p:sp>
        <p:nvSpPr>
          <p:cNvPr id="19" name="Shape 16"/>
          <p:cNvSpPr/>
          <p:nvPr/>
        </p:nvSpPr>
        <p:spPr>
          <a:xfrm>
            <a:off x="640080" y="4581144"/>
            <a:ext cx="5065776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" y="4718304"/>
            <a:ext cx="1033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00" kern="0" dirty="0">
                <a:solidFill>
                  <a:srgbClr val="FFC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RADEON</a:t>
            </a:r>
            <a:endParaRPr lang="en-US" sz="830" dirty="0"/>
          </a:p>
        </p:txBody>
      </p:sp>
      <p:sp>
        <p:nvSpPr>
          <p:cNvPr id="21" name="Text 18"/>
          <p:cNvSpPr txBox="1"/>
          <p:nvPr/>
        </p:nvSpPr>
        <p:spPr>
          <a:xfrm>
            <a:off x="1746504" y="465429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Local, sequential model path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746504" y="50474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Observable runtime route designed for constrained VRAM.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30936" y="5715000"/>
            <a:ext cx="10936224" cy="502920"/>
          </a:xfrm>
          <a:prstGeom prst="roundRect">
            <a:avLst>
              <a:gd name="adj" fmla="val 29091"/>
            </a:avLst>
          </a:prstGeom>
          <a:solidFill>
            <a:srgbClr val="2446E8"/>
          </a:solidFill>
          <a:ln w="12700">
            <a:solidFill>
              <a:srgbClr val="2446E8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5824728"/>
            <a:ext cx="1289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00" kern="0" dirty="0">
                <a:solidFill>
                  <a:srgbClr val="DCE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UNIT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2340864" y="5797296"/>
            <a:ext cx="79735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coherent, reviewable campaign pack—not an isolated generation.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10 / VALUE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" y="420624"/>
            <a:ext cx="1627632" cy="283464"/>
          </a:xfrm>
          <a:prstGeom prst="roundRect">
            <a:avLst>
              <a:gd name="adj" fmla="val 50000"/>
            </a:avLst>
          </a:prstGeom>
          <a:solidFill>
            <a:srgbClr val="DCE5FF"/>
          </a:solidFill>
          <a:ln w="12700">
            <a:solidFill>
              <a:srgbClr val="DCE5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20624"/>
            <a:ext cx="1408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244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STATE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822960"/>
            <a:ext cx="1101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b="1" spc="-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package. One evidence item still in flight.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563624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350" dirty="0">
                <a:solidFill>
                  <a:srgbClr val="5B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repository and PR are open for review; the final demo video remains the explicit completion blocker.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03504" y="2231136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76200" dist="50800" dir="2700000">
              <a:srgbClr val="616775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41401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246156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313432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REPOSITORY</a:t>
            </a:r>
            <a:endParaRPr lang="en-US" sz="1040" dirty="0"/>
          </a:p>
        </p:txBody>
      </p:sp>
      <p:sp>
        <p:nvSpPr>
          <p:cNvPr id="10" name="Text 8"/>
          <p:cNvSpPr txBox="1"/>
          <p:nvPr/>
        </p:nvSpPr>
        <p:spPr>
          <a:xfrm>
            <a:off x="4718304" y="23134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603504" y="2889504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307238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7085" y="311993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2971800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PROFILE</a:t>
            </a:r>
            <a:endParaRPr lang="en-US" sz="1040" dirty="0"/>
          </a:p>
        </p:txBody>
      </p:sp>
      <p:sp>
        <p:nvSpPr>
          <p:cNvPr id="15" name="Text 13"/>
          <p:cNvSpPr txBox="1"/>
          <p:nvPr/>
        </p:nvSpPr>
        <p:spPr>
          <a:xfrm>
            <a:off x="4718304" y="2971800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603504" y="3547872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3730752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5" y="3778301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3630168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DECK</a:t>
            </a:r>
            <a:endParaRPr lang="en-US" sz="104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630168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603504" y="4206240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9536" y="4389120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7085" y="4436669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4288536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PR #308</a:t>
            </a:r>
            <a:endParaRPr lang="en-US" sz="1040" dirty="0"/>
          </a:p>
        </p:txBody>
      </p:sp>
      <p:sp>
        <p:nvSpPr>
          <p:cNvPr id="25" name="Text 23"/>
          <p:cNvSpPr txBox="1"/>
          <p:nvPr/>
        </p:nvSpPr>
        <p:spPr>
          <a:xfrm>
            <a:off x="4718304" y="4288536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268A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REVIEW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03504" y="4864608"/>
            <a:ext cx="6766560" cy="512064"/>
          </a:xfrm>
          <a:prstGeom prst="roundRect">
            <a:avLst>
              <a:gd name="adj" fmla="val 25000"/>
            </a:avLst>
          </a:prstGeom>
          <a:solidFill>
            <a:srgbClr val="FFF3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9536" y="5047488"/>
            <a:ext cx="146304" cy="146304"/>
          </a:xfrm>
          <a:prstGeom prst="ellipse">
            <a:avLst/>
          </a:prstGeom>
          <a:solidFill>
            <a:srgbClr val="FFCC66"/>
          </a:solidFill>
          <a:ln w="12700">
            <a:solidFill>
              <a:srgbClr val="FFCC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7085" y="5095037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43000" y="4946904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40" b="1" spc="55" kern="0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3–5 MIN DEMO VIDEO</a:t>
            </a:r>
            <a:endParaRPr lang="en-US" sz="1040" dirty="0"/>
          </a:p>
        </p:txBody>
      </p:sp>
      <p:sp>
        <p:nvSpPr>
          <p:cNvPr id="30" name="Text 28"/>
          <p:cNvSpPr txBox="1"/>
          <p:nvPr/>
        </p:nvSpPr>
        <p:spPr>
          <a:xfrm>
            <a:off x="4718304" y="4946904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960" b="1" spc="70" kern="0" dirty="0">
                <a:solidFill>
                  <a:srgbClr val="B57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UPLOAD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7808976" y="2231136"/>
            <a:ext cx="3767328" cy="3154680"/>
          </a:xfrm>
          <a:prstGeom prst="roundRect">
            <a:avLst>
              <a:gd name="adj" fmla="val 6377"/>
            </a:avLst>
          </a:prstGeom>
          <a:solidFill>
            <a:srgbClr val="0A0B10"/>
          </a:solidFill>
          <a:ln w="12700">
            <a:solidFill>
              <a:srgbClr val="0A0B10">
                <a:alpha val="0"/>
              </a:srgbClr>
            </a:solidFill>
            <a:prstDash val="solid"/>
          </a:ln>
          <a:effectLst>
            <a:outerShdw sx="100000" sy="100000" kx="0" ky="0" algn="bl" rotWithShape="0" blurRad="127000" dist="50800" dir="2700000">
              <a:srgbClr val="616775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156448" y="2569464"/>
            <a:ext cx="978408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6176" y="2569464"/>
            <a:ext cx="758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ENTRY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8156448" y="3154680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#308</a:t>
            </a:r>
            <a:endParaRPr lang="en-US" sz="2900" dirty="0"/>
          </a:p>
        </p:txBody>
      </p:sp>
      <p:sp>
        <p:nvSpPr>
          <p:cNvPr id="35" name="Text 33"/>
          <p:cNvSpPr txBox="1"/>
          <p:nvPr/>
        </p:nvSpPr>
        <p:spPr>
          <a:xfrm>
            <a:off x="8165592" y="3867912"/>
            <a:ext cx="2816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120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 · Team Banyan</a:t>
            </a:r>
            <a:endParaRPr lang="en-US" sz="12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120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ProofLaunch: Multimodal GTM Studio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156448" y="4700016"/>
            <a:ext cx="2871216" cy="0"/>
          </a:xfrm>
          <a:prstGeom prst="line">
            <a:avLst/>
          </a:prstGeom>
          <a:noFill/>
          <a:ln w="12700">
            <a:solidFill>
              <a:srgbClr val="2C31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65592" y="4946904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13141" y="4994453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430768" y="4855464"/>
            <a:ext cx="2459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020" b="1" spc="7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· READY · CLEAN</a:t>
            </a:r>
            <a:endParaRPr lang="en-US" sz="1020" dirty="0"/>
          </a:p>
        </p:txBody>
      </p:sp>
      <p:sp>
        <p:nvSpPr>
          <p:cNvPr id="40" name="Shape 38"/>
          <p:cNvSpPr/>
          <p:nvPr/>
        </p:nvSpPr>
        <p:spPr>
          <a:xfrm>
            <a:off x="603504" y="5824728"/>
            <a:ext cx="1133856" cy="283464"/>
          </a:xfrm>
          <a:prstGeom prst="roundRect">
            <a:avLst>
              <a:gd name="adj" fmla="val 50000"/>
            </a:avLst>
          </a:prstGeom>
          <a:solidFill>
            <a:srgbClr val="FF6B52"/>
          </a:solidFill>
          <a:ln w="12700">
            <a:solidFill>
              <a:srgbClr val="FF6B52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13232" y="5824728"/>
            <a:ext cx="9144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 RULE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965960" y="5806440"/>
            <a:ext cx="8065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120" b="1" dirty="0">
                <a:solidFill>
                  <a:srgbClr val="0A0B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the real operation video, then update the PR body and submission links.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898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11 / DELIVERY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A8D9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ylvan/Documents/Hacker/prooflaunch_submission/docs/assets/deck-studio-v2/campaign-landing-16x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576"/>
            <a:ext cx="12191695" cy="65653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6576"/>
            <a:ext cx="12191695" cy="6565392"/>
          </a:xfrm>
          <a:prstGeom prst="rect">
            <a:avLst/>
          </a:prstGeom>
          <a:solidFill>
            <a:srgbClr val="0A0B10">
              <a:alpha val="82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94360" y="502920"/>
            <a:ext cx="10991088" cy="5577840"/>
          </a:xfrm>
          <a:prstGeom prst="roundRect">
            <a:avLst>
              <a:gd name="adj" fmla="val 4590"/>
            </a:avLst>
          </a:prstGeom>
          <a:solidFill>
            <a:srgbClr val="0A0B10">
              <a:alpha val="78000"/>
            </a:srgbClr>
          </a:solidFill>
          <a:ln w="12700">
            <a:solidFill>
              <a:srgbClr val="0A0B10">
                <a:alpha val="0"/>
              </a:srgbClr>
            </a:solidFill>
            <a:prstDash val="solid"/>
          </a:ln>
          <a:effectLst>
            <a:outerShdw sx="100000" sy="100000" kx="0" ky="0" algn="bl" rotWithShape="0" blurRad="177800" dist="50800" dir="2700000">
              <a:srgbClr val="000000">
                <a:alpha val="1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32688" y="877824"/>
            <a:ext cx="1051560" cy="283464"/>
          </a:xfrm>
          <a:prstGeom prst="roundRect">
            <a:avLst>
              <a:gd name="adj" fmla="val 50000"/>
            </a:avLst>
          </a:prstGeom>
          <a:solidFill>
            <a:srgbClr val="141722"/>
          </a:solidFill>
          <a:ln w="12700">
            <a:solidFill>
              <a:srgbClr val="141722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42416" y="877824"/>
            <a:ext cx="8321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50" b="1" spc="115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BANYAN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932688" y="1481328"/>
            <a:ext cx="80467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3800" b="1" spc="-9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every growth move</a:t>
            </a:r>
            <a:endParaRPr lang="en-US" sz="3800" dirty="0"/>
          </a:p>
          <a:p>
            <a:pPr algn="l" indent="0" marL="0">
              <a:lnSpc>
                <a:spcPct val="83000"/>
              </a:lnSpc>
              <a:buNone/>
            </a:pPr>
            <a:r>
              <a:rPr lang="en-US" sz="3800" b="1" spc="-9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 its momentum.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319272"/>
            <a:ext cx="6181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B4B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turns multimodal creation into a controlled, reviewable campaign operation.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50976" y="46817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2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830" dirty="0"/>
          </a:p>
        </p:txBody>
      </p:sp>
      <p:sp>
        <p:nvSpPr>
          <p:cNvPr id="10" name="Text 7"/>
          <p:cNvSpPr txBox="1"/>
          <p:nvPr/>
        </p:nvSpPr>
        <p:spPr>
          <a:xfrm>
            <a:off x="950976" y="502005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GTM Studio</a:t>
            </a:r>
            <a:endParaRPr lang="en-US" sz="122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46817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2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502005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release only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7644384" y="46817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30" b="1" spc="120" kern="0" dirty="0">
                <a:solidFill>
                  <a:srgbClr val="BFE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</a:t>
            </a:r>
            <a:endParaRPr lang="en-US" sz="830" dirty="0"/>
          </a:p>
        </p:txBody>
      </p:sp>
      <p:sp>
        <p:nvSpPr>
          <p:cNvPr id="14" name="Text 11"/>
          <p:cNvSpPr txBox="1"/>
          <p:nvPr/>
        </p:nvSpPr>
        <p:spPr>
          <a:xfrm>
            <a:off x="7644384" y="502005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Track 1 · PR #308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475488" y="6483096"/>
            <a:ext cx="146304" cy="146304"/>
          </a:xfrm>
          <a:prstGeom prst="ellipse">
            <a:avLst/>
          </a:prstGeom>
          <a:solidFill>
            <a:srgbClr val="BFE7D2"/>
          </a:solidFill>
          <a:ln w="12700">
            <a:solidFill>
              <a:srgbClr val="BFE7D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3037" y="6530645"/>
            <a:ext cx="51206" cy="51206"/>
          </a:xfrm>
          <a:prstGeom prst="ellipse">
            <a:avLst/>
          </a:prstGeom>
          <a:solidFill>
            <a:srgbClr val="0A0B10"/>
          </a:solidFill>
          <a:ln w="12700">
            <a:solidFill>
              <a:srgbClr val="0A0B1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944" y="641908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20" b="1" spc="135" kern="0" dirty="0">
                <a:solidFill>
                  <a:srgbClr val="626A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PROOFLAUNCH  /  12 / PROOFLAUNCH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473952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26A7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Team Banyan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ProofLaunch — Multimodal GTM Studio</dc:title>
  <dc:subject>AMD AI DevMaster Hackathon 2026 — Track 1</dc:subject>
  <dc:creator>Team Banyan</dc:creator>
  <cp:lastModifiedBy>Team Banyan</cp:lastModifiedBy>
  <cp:revision>1</cp:revision>
  <dcterms:created xsi:type="dcterms:W3CDTF">2026-08-06T16:48:50Z</dcterms:created>
  <dcterms:modified xsi:type="dcterms:W3CDTF">2026-08-06T16:48:50Z</dcterms:modified>
</cp:coreProperties>
</file>