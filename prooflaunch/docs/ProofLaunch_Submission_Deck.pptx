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oofLaunch optical evidence engine key visual">    </p:cNvPr>
          <p:cNvPicPr>
            <a:picLocks noChangeAspect="1"/>
          </p:cNvPicPr>
          <p:nvPr/>
        </p:nvPicPr>
        <p:blipFill>
          <a:blip r:embed="rId1">
            <a:alphaModFix amt="97000"/>
          </a:blip>
          <a:stretch>
            <a:fillRect/>
          </a:stretch>
        </p:blipFill>
        <p:spPr>
          <a:xfrm>
            <a:off x="4343400" y="0"/>
            <a:ext cx="8942832" cy="5029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070A14">
              <a:alpha val="98000"/>
            </a:srgbClr>
          </a:solidFill>
          <a:ln w="12700">
            <a:solidFill>
              <a:srgbClr val="070A14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297680" y="0"/>
            <a:ext cx="2148840" cy="6858000"/>
          </a:xfrm>
          <a:prstGeom prst="rect">
            <a:avLst/>
          </a:prstGeom>
          <a:solidFill>
            <a:srgbClr val="070A14">
              <a:alpha val="65000"/>
            </a:srgbClr>
          </a:solidFill>
          <a:ln w="12700">
            <a:solidFill>
              <a:srgbClr val="070A14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594360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835EFF"/>
          </a:solidFill>
          <a:ln w="12700">
            <a:solidFill>
              <a:srgbClr val="835E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681228"/>
            <a:ext cx="2258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8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AMD TRACK 1 · TEAM BANYAN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21792" y="123444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ProofLaunch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195681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Multimodal GTM Studio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21792" y="2761488"/>
            <a:ext cx="4343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4D7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approved product evidence into an audited campaign pack—strategy, copy, image, audio and video—with a human release boundary.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21792" y="5230368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 before promise. Release only what earns trust.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66928" y="653796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70" kern="0" dirty="0">
                <a:solidFill>
                  <a:srgbClr val="919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BANYAN · PROOFLAUNCH · AMD RADEON HACKATHON 2026 · TRACK 1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11045952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PROOFLAUNCH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Creative speed is not enough when product truth breaks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572768"/>
            <a:ext cx="2148840" cy="2121408"/>
          </a:xfrm>
          <a:prstGeom prst="roundRect">
            <a:avLst>
              <a:gd name="adj" fmla="val 3017"/>
            </a:avLst>
          </a:prstGeom>
          <a:solidFill>
            <a:srgbClr val="FAF8F2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764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2104" y="2194560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Unsupported claims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2104" y="2569464"/>
            <a:ext cx="1728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copy can outrun approved source evidence and create release risk.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2944368" y="1572768"/>
            <a:ext cx="2148840" cy="2121408"/>
          </a:xfrm>
          <a:prstGeom prst="roundRect">
            <a:avLst>
              <a:gd name="adj" fmla="val 3017"/>
            </a:avLst>
          </a:prstGeom>
          <a:solidFill>
            <a:srgbClr val="FAF8F2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764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54680" y="2194560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drift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54680" y="2569464"/>
            <a:ext cx="1728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Products, logos and typography can change silently across still and video outputs.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266944" y="1572768"/>
            <a:ext cx="2148840" cy="2121408"/>
          </a:xfrm>
          <a:prstGeom prst="roundRect">
            <a:avLst>
              <a:gd name="adj" fmla="val 3017"/>
            </a:avLst>
          </a:prstGeom>
          <a:solidFill>
            <a:srgbClr val="FAF8F2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77256" y="176479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77256" y="2194560"/>
            <a:ext cx="1728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release proof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77256" y="2569464"/>
            <a:ext cx="172821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5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polished asset without provenance, audit history or approval cannot be defended.</a:t>
            </a:r>
            <a:endParaRPr lang="en-US" sz="1080" dirty="0"/>
          </a:p>
        </p:txBody>
      </p:sp>
      <p:pic>
        <p:nvPicPr>
          <p:cNvPr id="16" name="Image 0" descr="Finished ProofLaunch product website — Frontier GTM Stu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72768"/>
            <a:ext cx="3904488" cy="270662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21792" y="4453128"/>
            <a:ext cx="10972800" cy="1353312"/>
          </a:xfrm>
          <a:prstGeom prst="roundRect">
            <a:avLst>
              <a:gd name="adj" fmla="val 4054"/>
            </a:avLst>
          </a:prstGeom>
          <a:solidFill>
            <a:srgbClr val="11151E"/>
          </a:solidFill>
          <a:ln w="12700">
            <a:solidFill>
              <a:srgbClr val="1115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" y="471830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spc="120" kern="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PROOFLAUNCH CHANGES THE UNIT OF WORK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840480" y="4681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892040" y="46542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321808" y="468172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83680" y="46542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022592" y="46817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955280" y="46542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8394192" y="468172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release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10012680" y="46542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10405872" y="46817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Receipt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840480" y="5248656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E0E3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inspectable workflow replaces disconnected prompts, silent retries and release-by-appearance.</a:t>
            </a:r>
            <a:endParaRPr lang="en-US" sz="1120" dirty="0"/>
          </a:p>
        </p:txBody>
      </p:sp>
      <p:sp>
        <p:nvSpPr>
          <p:cNvPr id="29" name="Text 26"/>
          <p:cNvSpPr/>
          <p:nvPr/>
        </p:nvSpPr>
        <p:spPr>
          <a:xfrm>
            <a:off x="566928" y="653796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70" kern="0" dirty="0">
                <a:solidFill>
                  <a:srgbClr val="777B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BANYAN · PROOFLAUNCH · AMD RADEON HACKATHON 2026 · TRACK 1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1045952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WORKFLOW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supervisor. Six visible stages. A hard release boundary.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82880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111724"/>
          </a:solidFill>
          <a:ln w="12700">
            <a:solidFill>
              <a:srgbClr val="323A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86384" y="257860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EVIDENCE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3063240"/>
            <a:ext cx="1243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6BC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Hash, rights and located claims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2212848" y="27432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2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478024" y="182880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111724"/>
          </a:solidFill>
          <a:ln w="12700">
            <a:solidFill>
              <a:srgbClr val="323A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42616" y="257860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42616" y="3063240"/>
            <a:ext cx="1243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6BC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Claim-bound briefs and channel intent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069080" y="27432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2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334256" y="182880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111724"/>
          </a:solidFill>
          <a:ln w="12700">
            <a:solidFill>
              <a:srgbClr val="323A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8848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98848" y="257860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8848" y="3063240"/>
            <a:ext cx="1243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6BC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Image, audio and video candidates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5925312" y="27432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2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90488" y="182880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111724"/>
          </a:solidFill>
          <a:ln w="12700">
            <a:solidFill>
              <a:srgbClr val="323A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55080" y="257860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063240"/>
            <a:ext cx="1243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6BC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Claim, identity, type and safe zones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7781544" y="27432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2B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8046720" y="182880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111724"/>
          </a:solidFill>
          <a:ln w="12700">
            <a:solidFill>
              <a:srgbClr val="323A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11312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211312" y="257860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REPAIR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3063240"/>
            <a:ext cx="1243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6BC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two recorded rounds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9637776" y="274320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902952" y="1828800"/>
            <a:ext cx="1572768" cy="2286000"/>
          </a:xfrm>
          <a:prstGeom prst="roundRect">
            <a:avLst>
              <a:gd name="adj" fmla="val 3488"/>
            </a:avLst>
          </a:prstGeom>
          <a:solidFill>
            <a:srgbClr val="1B2440"/>
          </a:solidFill>
          <a:ln w="25400">
            <a:solidFill>
              <a:srgbClr val="835E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67544" y="20116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0067544" y="2578608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067544" y="3063240"/>
            <a:ext cx="1243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B6BC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Human-approved export and evidence ledger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9765792" y="1627632"/>
            <a:ext cx="0" cy="2670048"/>
          </a:xfrm>
          <a:prstGeom prst="line">
            <a:avLst/>
          </a:prstGeom>
          <a:noFill/>
          <a:ln w="40640">
            <a:solidFill>
              <a:srgbClr val="835E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15984" y="4251960"/>
            <a:ext cx="1499616" cy="310896"/>
          </a:xfrm>
          <a:prstGeom prst="roundRect">
            <a:avLst>
              <a:gd name="adj" fmla="val 11765"/>
            </a:avLst>
          </a:prstGeom>
          <a:solidFill>
            <a:srgbClr val="835EFF"/>
          </a:solidFill>
          <a:ln w="12700">
            <a:solidFill>
              <a:srgbClr val="835E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07424" y="4357116"/>
            <a:ext cx="1316736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spc="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 APPROVAL GATE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1572768" y="4617720"/>
            <a:ext cx="9015984" cy="1097280"/>
          </a:xfrm>
          <a:prstGeom prst="roundRect">
            <a:avLst>
              <a:gd name="adj" fmla="val 4167"/>
            </a:avLst>
          </a:prstGeom>
          <a:solidFill>
            <a:srgbClr val="121927"/>
          </a:solidFill>
          <a:ln w="12700">
            <a:solidFill>
              <a:srgbClr val="39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74520" y="501091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spc="90" kern="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CODE-ENFORCED HARNESS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77640" y="4855464"/>
            <a:ext cx="62362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D0D4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inputs · tenant isolation · budget limits · content-bound approvals · immutable audit events · no autonomous publish/send/spend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566928" y="653796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70" kern="0" dirty="0">
                <a:solidFill>
                  <a:srgbClr val="919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BANYAN · PROOFLAUNCH · AMD RADEON HACKATHON 2026 · TRACK 1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1045952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AMD RADEON / ROCM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Radeon-targeted inference, explicit residency and observable evidence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spc="100" kern="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SEQUENCED BY THE PROOFLAUNCH SUPERVISOR</a:t>
            </a:r>
            <a:endParaRPr lang="en-US" sz="830" dirty="0"/>
          </a:p>
        </p:txBody>
      </p:sp>
      <p:sp>
        <p:nvSpPr>
          <p:cNvPr id="5" name="Shape 3"/>
          <p:cNvSpPr/>
          <p:nvPr/>
        </p:nvSpPr>
        <p:spPr>
          <a:xfrm>
            <a:off x="658368" y="1627632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465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770" dirty="0"/>
          </a:p>
        </p:txBody>
      </p:sp>
      <p:sp>
        <p:nvSpPr>
          <p:cNvPr id="7" name="Text 5"/>
          <p:cNvSpPr/>
          <p:nvPr/>
        </p:nvSpPr>
        <p:spPr>
          <a:xfrm>
            <a:off x="877824" y="185623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Qwen3-VL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understand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1563624" y="2468880"/>
            <a:ext cx="0" cy="274320"/>
          </a:xfrm>
          <a:prstGeom prst="line">
            <a:avLst/>
          </a:prstGeom>
          <a:noFill/>
          <a:ln w="13970">
            <a:solidFill>
              <a:srgbClr val="B451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71216" y="1627632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DDD4FF"/>
          </a:solidFill>
          <a:ln w="21590">
            <a:solidFill>
              <a:srgbClr val="835E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80944" y="17465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3090672" y="185623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SDXL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776472" y="2468880"/>
            <a:ext cx="0" cy="274320"/>
          </a:xfrm>
          <a:prstGeom prst="line">
            <a:avLst/>
          </a:prstGeom>
          <a:noFill/>
          <a:ln w="13970">
            <a:solidFill>
              <a:srgbClr val="B451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84064" y="1627632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7465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5303520" y="185623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SigLIP2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5989320" y="2468880"/>
            <a:ext cx="0" cy="274320"/>
          </a:xfrm>
          <a:prstGeom prst="line">
            <a:avLst/>
          </a:prstGeom>
          <a:noFill/>
          <a:ln w="13970">
            <a:solidFill>
              <a:srgbClr val="B451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96912" y="1627632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7465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770" dirty="0"/>
          </a:p>
        </p:txBody>
      </p:sp>
      <p:sp>
        <p:nvSpPr>
          <p:cNvPr id="19" name="Text 17"/>
          <p:cNvSpPr/>
          <p:nvPr/>
        </p:nvSpPr>
        <p:spPr>
          <a:xfrm>
            <a:off x="7516368" y="185623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LTX-Video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motion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8202168" y="2468880"/>
            <a:ext cx="0" cy="274320"/>
          </a:xfrm>
          <a:prstGeom prst="line">
            <a:avLst/>
          </a:prstGeom>
          <a:noFill/>
          <a:ln w="13970">
            <a:solidFill>
              <a:srgbClr val="B451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0" y="1627632"/>
            <a:ext cx="1810512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9488" y="174650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770" dirty="0"/>
          </a:p>
        </p:txBody>
      </p:sp>
      <p:sp>
        <p:nvSpPr>
          <p:cNvPr id="23" name="Text 21"/>
          <p:cNvSpPr/>
          <p:nvPr/>
        </p:nvSpPr>
        <p:spPr>
          <a:xfrm>
            <a:off x="9729216" y="1856232"/>
            <a:ext cx="1371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SAM2 + CLAP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verify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10415016" y="2468880"/>
            <a:ext cx="0" cy="274320"/>
          </a:xfrm>
          <a:prstGeom prst="line">
            <a:avLst/>
          </a:prstGeom>
          <a:noFill/>
          <a:ln w="13970">
            <a:solidFill>
              <a:srgbClr val="B451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" y="2724912"/>
            <a:ext cx="10844784" cy="475488"/>
          </a:xfrm>
          <a:prstGeom prst="roundRect">
            <a:avLst>
              <a:gd name="adj" fmla="val 7692"/>
            </a:avLst>
          </a:prstGeom>
          <a:solidFill>
            <a:srgbClr val="11151E"/>
          </a:solidFill>
          <a:ln w="12700">
            <a:solidFill>
              <a:srgbClr val="1115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2875788"/>
            <a:ext cx="10241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AMD RADEON GPU · ROCm / HIP LOCAL INFERENCE FOUNDATION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658368" y="3502152"/>
            <a:ext cx="338328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68680" y="412394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Single-model residency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8680" y="4498848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5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heavy model is resident at a time. Explicit unload, garbage collection and cache controls keep the pipeline inside the available VRAM envelope.</a:t>
            </a:r>
            <a:endParaRPr lang="en-US" sz="1070" dirty="0"/>
          </a:p>
        </p:txBody>
      </p:sp>
      <p:sp>
        <p:nvSpPr>
          <p:cNvPr id="31" name="Shape 29"/>
          <p:cNvSpPr/>
          <p:nvPr/>
        </p:nvSpPr>
        <p:spPr>
          <a:xfrm>
            <a:off x="4270248" y="3502152"/>
            <a:ext cx="3383280" cy="1938528"/>
          </a:xfrm>
          <a:prstGeom prst="roundRect">
            <a:avLst>
              <a:gd name="adj" fmla="val 3302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480560" y="4123944"/>
            <a:ext cx="2962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Reproducible evidence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4498848"/>
            <a:ext cx="29626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65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real run retains hardware identity, ROCm/HIP version, model revision, input hash, seed, latency, peak VRAM and output SHA-256.</a:t>
            </a:r>
            <a:endParaRPr lang="en-US" sz="1070" dirty="0"/>
          </a:p>
        </p:txBody>
      </p:sp>
      <p:sp>
        <p:nvSpPr>
          <p:cNvPr id="35" name="Shape 33"/>
          <p:cNvSpPr/>
          <p:nvPr/>
        </p:nvSpPr>
        <p:spPr>
          <a:xfrm>
            <a:off x="7882128" y="3502152"/>
            <a:ext cx="3657600" cy="1938528"/>
          </a:xfrm>
          <a:prstGeom prst="roundRect">
            <a:avLst>
              <a:gd name="adj" fmla="val 3302"/>
            </a:avLst>
          </a:prstGeom>
          <a:solidFill>
            <a:srgbClr val="F6E6CB"/>
          </a:solidFill>
          <a:ln w="12700">
            <a:solidFill>
              <a:srgbClr val="E0B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92440" y="369417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66B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092440" y="4123944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Fail-closed truth boundary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092440" y="4498848"/>
            <a:ext cx="32369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5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execution path is packaged; the live Radeon receipt and Demo Video remain pending. Official guidance recommends 3–5 minutes. No Mac, mock or provider output is substituted.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566928" y="653796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70" kern="0" dirty="0">
                <a:solidFill>
                  <a:srgbClr val="777B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BANYAN · PROOFLAUNCH · AMD RADEON HACKATHON 2026 · TRACK 1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1045952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CAMPAIGN PACK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governed run binds ten GTM deliverables</a:t>
            </a:r>
            <a:endParaRPr lang="en-US" sz="3000" dirty="0"/>
          </a:p>
        </p:txBody>
      </p:sp>
      <p:pic>
        <p:nvPicPr>
          <p:cNvPr id="4" name="Image 0" descr="ProofLaunch landscape campaign examp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572768"/>
            <a:ext cx="5715000" cy="3218688"/>
          </a:xfrm>
          <a:prstGeom prst="rect">
            <a:avLst/>
          </a:prstGeom>
        </p:spPr>
      </p:pic>
      <p:pic>
        <p:nvPicPr>
          <p:cNvPr id="5" name="Image 1" descr="ProofLaunch portrait campaign examp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572768"/>
            <a:ext cx="1956816" cy="245059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04672" y="4425696"/>
            <a:ext cx="2240280" cy="256032"/>
          </a:xfrm>
          <a:prstGeom prst="roundRect">
            <a:avLst>
              <a:gd name="adj" fmla="val 10714"/>
            </a:avLst>
          </a:prstGeom>
          <a:solidFill>
            <a:srgbClr val="070A14">
              <a:alpha val="92000"/>
            </a:srgbClr>
          </a:solidFill>
          <a:ln w="12700">
            <a:solidFill>
              <a:srgbClr val="535B7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4507992"/>
            <a:ext cx="2029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LANDING · sha256:9868839958…</a:t>
            </a:r>
            <a:endParaRPr lang="en-US" sz="670" dirty="0"/>
          </a:p>
        </p:txBody>
      </p:sp>
      <p:sp>
        <p:nvSpPr>
          <p:cNvPr id="8" name="Shape 4"/>
          <p:cNvSpPr/>
          <p:nvPr/>
        </p:nvSpPr>
        <p:spPr>
          <a:xfrm>
            <a:off x="6693408" y="4087368"/>
            <a:ext cx="1700784" cy="256032"/>
          </a:xfrm>
          <a:prstGeom prst="roundRect">
            <a:avLst>
              <a:gd name="adj" fmla="val 10714"/>
            </a:avLst>
          </a:prstGeom>
          <a:solidFill>
            <a:srgbClr val="070A14">
              <a:alpha val="92000"/>
            </a:srgbClr>
          </a:solidFill>
          <a:ln w="12700">
            <a:solidFill>
              <a:srgbClr val="535B7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784848" y="4169664"/>
            <a:ext cx="151790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spc="35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· D9EDE8C6AE…</a:t>
            </a:r>
            <a:endParaRPr lang="en-US" sz="670" dirty="0"/>
          </a:p>
        </p:txBody>
      </p:sp>
      <p:sp>
        <p:nvSpPr>
          <p:cNvPr id="10" name="Shape 6"/>
          <p:cNvSpPr/>
          <p:nvPr/>
        </p:nvSpPr>
        <p:spPr>
          <a:xfrm>
            <a:off x="8778240" y="1572768"/>
            <a:ext cx="2743200" cy="3218688"/>
          </a:xfrm>
          <a:prstGeom prst="roundRect">
            <a:avLst>
              <a:gd name="adj" fmla="val 1667"/>
            </a:avLst>
          </a:prstGeom>
          <a:solidFill>
            <a:srgbClr val="111724"/>
          </a:solidFill>
          <a:ln w="12700">
            <a:solidFill>
              <a:srgbClr val="343C4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098280" y="18288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4400" dirty="0"/>
          </a:p>
        </p:txBody>
      </p:sp>
      <p:sp>
        <p:nvSpPr>
          <p:cNvPr id="12" name="Text 8"/>
          <p:cNvSpPr/>
          <p:nvPr/>
        </p:nvSpPr>
        <p:spPr>
          <a:xfrm>
            <a:off x="9098280" y="25146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spc="8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BOUND DELIVERABLES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9098280" y="30175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C4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· calendar · copy · analytics · GEO · SEO · execution contract · channel portfolio · audio · 4K film</a:t>
            </a:r>
            <a:endParaRPr lang="en-US" sz="1120" dirty="0"/>
          </a:p>
        </p:txBody>
      </p:sp>
      <p:sp>
        <p:nvSpPr>
          <p:cNvPr id="14" name="Shape 10"/>
          <p:cNvSpPr/>
          <p:nvPr/>
        </p:nvSpPr>
        <p:spPr>
          <a:xfrm>
            <a:off x="621792" y="5047488"/>
            <a:ext cx="10899648" cy="749808"/>
          </a:xfrm>
          <a:prstGeom prst="roundRect">
            <a:avLst>
              <a:gd name="adj" fmla="val 4878"/>
            </a:avLst>
          </a:prstGeom>
          <a:solidFill>
            <a:srgbClr val="111724"/>
          </a:solidFill>
          <a:ln w="12700">
            <a:solidFill>
              <a:srgbClr val="343C4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528523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spc="60" kern="0" dirty="0">
                <a:solidFill>
                  <a:srgbClr val="F4B4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SEALED · NOT FINAL RADEON EVIDENCE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337560" y="5212080"/>
            <a:ext cx="7726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assets demonstrate the product package and hash-bound delivery. Their provider-managed source is disclosed and is not claimed as final Radeon evidence.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66928" y="653796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70" kern="0" dirty="0">
                <a:solidFill>
                  <a:srgbClr val="919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BANYAN · PROOFLAUNCH · AMD RADEON HACKATHON 2026 · TRACK 1</a:t>
            </a:r>
            <a:endParaRPr lang="en-US" sz="720" dirty="0"/>
          </a:p>
        </p:txBody>
      </p:sp>
      <p:sp>
        <p:nvSpPr>
          <p:cNvPr id="18" name="Text 14"/>
          <p:cNvSpPr/>
          <p:nvPr/>
        </p:nvSpPr>
        <p:spPr>
          <a:xfrm>
            <a:off x="11045952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VERIFIED PRODUCT STATE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Measured mechanics. Unobserved claims kept separate.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21792" y="1581912"/>
            <a:ext cx="2011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465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827/827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29514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spc="50" kern="0" dirty="0">
                <a:solidFill>
                  <a:srgbClr val="656A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PRODUCT-CRITICAL TESTS</a:t>
            </a:r>
            <a:endParaRPr lang="en-US" sz="840" dirty="0"/>
          </a:p>
        </p:txBody>
      </p:sp>
      <p:sp>
        <p:nvSpPr>
          <p:cNvPr id="7" name="Shape 5"/>
          <p:cNvSpPr/>
          <p:nvPr/>
        </p:nvSpPr>
        <p:spPr>
          <a:xfrm>
            <a:off x="2816352" y="1581912"/>
            <a:ext cx="2011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7465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17/17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3017520" y="229514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spc="50" kern="0" dirty="0">
                <a:solidFill>
                  <a:srgbClr val="656A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 TESTS</a:t>
            </a:r>
            <a:endParaRPr lang="en-US" sz="840" dirty="0"/>
          </a:p>
        </p:txBody>
      </p:sp>
      <p:sp>
        <p:nvSpPr>
          <p:cNvPr id="10" name="Shape 8"/>
          <p:cNvSpPr/>
          <p:nvPr/>
        </p:nvSpPr>
        <p:spPr>
          <a:xfrm>
            <a:off x="5010912" y="1581912"/>
            <a:ext cx="2011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0" y="17465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10/10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212080" y="229514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spc="50" kern="0" dirty="0">
                <a:solidFill>
                  <a:srgbClr val="656A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 VALIDATION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7205472" y="1581912"/>
            <a:ext cx="201168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1746504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835E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 · 60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406640" y="229514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spc="50" kern="0" dirty="0">
                <a:solidFill>
                  <a:srgbClr val="656A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ROUTES · API CONTRACTS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9400032" y="1581912"/>
            <a:ext cx="212140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0" y="1746504"/>
            <a:ext cx="1719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4/4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01200" y="2295144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spc="50" kern="0" dirty="0">
                <a:solidFill>
                  <a:srgbClr val="656A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INTEGRITY LOCKS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621792" y="3127248"/>
            <a:ext cx="3429000" cy="2011680"/>
          </a:xfrm>
          <a:prstGeom prst="roundRect">
            <a:avLst>
              <a:gd name="adj" fmla="val 3182"/>
            </a:avLst>
          </a:prstGeom>
          <a:solidFill>
            <a:srgbClr val="DCEBE3"/>
          </a:solidFill>
          <a:ln w="12700">
            <a:solidFill>
              <a:srgbClr val="A9CE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3558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2104" y="3785616"/>
            <a:ext cx="3008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55A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Hash-bound replay, typed approvals, bounded repair, deterministic export and zero automatic publish / send / spend. Desktop and mobile checks report no horizontal overflow.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70832" y="3127248"/>
            <a:ext cx="3429000" cy="2011680"/>
          </a:xfrm>
          <a:prstGeom prst="roundRect">
            <a:avLst>
              <a:gd name="adj" fmla="val 3182"/>
            </a:avLst>
          </a:prstGeom>
          <a:solidFill>
            <a:srgbClr val="FAF8F2"/>
          </a:solidFill>
          <a:ln w="12700">
            <a:solidFill>
              <a:srgbClr val="D3CEC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3355848"/>
            <a:ext cx="3008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5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claimed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81144" y="3785616"/>
            <a:ext cx="30083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56A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Named-human preference, 4A quality, Top-1 standing, production effect, causal revenue or autonomous business action.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19872" y="3127248"/>
            <a:ext cx="3401568" cy="2011680"/>
          </a:xfrm>
          <a:prstGeom prst="roundRect">
            <a:avLst>
              <a:gd name="adj" fmla="val 3182"/>
            </a:avLst>
          </a:prstGeom>
          <a:solidFill>
            <a:srgbClr val="F6E6CB"/>
          </a:solidFill>
          <a:ln w="12700">
            <a:solidFill>
              <a:srgbClr val="E0B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30184" y="3355848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66B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Still pending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30184" y="3785616"/>
            <a:ext cx="29809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0470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Radeon model inference, final latency/VRAM receipt, Demo Video and the official pull request. Recommended video duration: 3–5 minutes.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53796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70" kern="0" dirty="0">
                <a:solidFill>
                  <a:srgbClr val="777B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BANYAN · PROOFLAUNCH · AMD RADEON HACKATHON 2026 · TRACK 1</a:t>
            </a:r>
            <a:endParaRPr lang="en-US" sz="720" dirty="0"/>
          </a:p>
        </p:txBody>
      </p:sp>
      <p:sp>
        <p:nvSpPr>
          <p:cNvPr id="29" name="Text 27"/>
          <p:cNvSpPr/>
          <p:nvPr/>
        </p:nvSpPr>
        <p:spPr>
          <a:xfrm>
            <a:off x="11045952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B451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spc="150" kern="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1 SUBMISSION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0927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package is organized. Live Radeon evidence closes the final gate.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6492240" cy="521208"/>
          </a:xfrm>
          <a:prstGeom prst="roundRect">
            <a:avLst>
              <a:gd name="adj" fmla="val 7018"/>
            </a:avLst>
          </a:prstGeom>
          <a:solidFill>
            <a:srgbClr val="111724"/>
          </a:solidFill>
          <a:ln w="12700">
            <a:solidFill>
              <a:srgbClr val="343C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792224"/>
            <a:ext cx="4160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Profile PDF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74920" y="1732788"/>
            <a:ext cx="1783080" cy="310896"/>
          </a:xfrm>
          <a:prstGeom prst="roundRect">
            <a:avLst>
              <a:gd name="adj" fmla="val 11765"/>
            </a:avLst>
          </a:prstGeom>
          <a:solidFill>
            <a:srgbClr val="173329"/>
          </a:solidFill>
          <a:ln w="10160">
            <a:solidFill>
              <a:srgbClr val="2F7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84648" y="1833372"/>
            <a:ext cx="1563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58368" y="2331720"/>
            <a:ext cx="6492240" cy="521208"/>
          </a:xfrm>
          <a:prstGeom prst="roundRect">
            <a:avLst>
              <a:gd name="adj" fmla="val 7018"/>
            </a:avLst>
          </a:prstGeom>
          <a:solidFill>
            <a:srgbClr val="111724"/>
          </a:solidFill>
          <a:ln w="12700">
            <a:solidFill>
              <a:srgbClr val="343C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496312"/>
            <a:ext cx="4160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source + English README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74920" y="2436876"/>
            <a:ext cx="1783080" cy="310896"/>
          </a:xfrm>
          <a:prstGeom prst="roundRect">
            <a:avLst>
              <a:gd name="adj" fmla="val 11765"/>
            </a:avLst>
          </a:prstGeom>
          <a:solidFill>
            <a:srgbClr val="173329"/>
          </a:solidFill>
          <a:ln w="10160">
            <a:solidFill>
              <a:srgbClr val="2F70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84648" y="2537460"/>
            <a:ext cx="1563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658368" y="3035808"/>
            <a:ext cx="6492240" cy="521208"/>
          </a:xfrm>
          <a:prstGeom prst="roundRect">
            <a:avLst>
              <a:gd name="adj" fmla="val 7018"/>
            </a:avLst>
          </a:prstGeom>
          <a:solidFill>
            <a:srgbClr val="111724"/>
          </a:solidFill>
          <a:ln w="12700">
            <a:solidFill>
              <a:srgbClr val="343C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200400"/>
            <a:ext cx="4160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supplementary deck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74920" y="3140964"/>
            <a:ext cx="1783080" cy="310896"/>
          </a:xfrm>
          <a:prstGeom prst="roundRect">
            <a:avLst>
              <a:gd name="adj" fmla="val 11765"/>
            </a:avLst>
          </a:prstGeom>
          <a:solidFill>
            <a:srgbClr val="173329"/>
          </a:solidFill>
          <a:ln w="10160">
            <a:solidFill>
              <a:srgbClr val="2F70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3241548"/>
            <a:ext cx="1563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2F705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658368" y="3739896"/>
            <a:ext cx="6492240" cy="521208"/>
          </a:xfrm>
          <a:prstGeom prst="roundRect">
            <a:avLst>
              <a:gd name="adj" fmla="val 7018"/>
            </a:avLst>
          </a:prstGeom>
          <a:solidFill>
            <a:srgbClr val="111724"/>
          </a:solidFill>
          <a:ln w="12700">
            <a:solidFill>
              <a:srgbClr val="343C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3904488"/>
            <a:ext cx="4160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Radeon Demo Video · 3–5 min recommended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3845052"/>
            <a:ext cx="1783080" cy="310896"/>
          </a:xfrm>
          <a:prstGeom prst="roundRect">
            <a:avLst>
              <a:gd name="adj" fmla="val 11765"/>
            </a:avLst>
          </a:prstGeom>
          <a:solidFill>
            <a:srgbClr val="3A2917"/>
          </a:solidFill>
          <a:ln w="10160">
            <a:solidFill>
              <a:srgbClr val="B66B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4648" y="3945636"/>
            <a:ext cx="1563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66B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PENDING FINAL CAPTURE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58368" y="4443984"/>
            <a:ext cx="6492240" cy="521208"/>
          </a:xfrm>
          <a:prstGeom prst="roundRect">
            <a:avLst>
              <a:gd name="adj" fmla="val 7018"/>
            </a:avLst>
          </a:prstGeom>
          <a:solidFill>
            <a:srgbClr val="111724"/>
          </a:solidFill>
          <a:ln w="12700">
            <a:solidFill>
              <a:srgbClr val="343C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608576"/>
            <a:ext cx="4160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Official fork + English PR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4920" y="4549140"/>
            <a:ext cx="1783080" cy="310896"/>
          </a:xfrm>
          <a:prstGeom prst="roundRect">
            <a:avLst>
              <a:gd name="adj" fmla="val 11765"/>
            </a:avLst>
          </a:prstGeom>
          <a:solidFill>
            <a:srgbClr val="3A2917"/>
          </a:solidFill>
          <a:ln w="10160">
            <a:solidFill>
              <a:srgbClr val="B66B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4649724"/>
            <a:ext cx="156362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dirty="0">
                <a:solidFill>
                  <a:srgbClr val="B66B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PENDING CLEAN EXPORT + PR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7543800" y="1627632"/>
            <a:ext cx="3977640" cy="3337560"/>
          </a:xfrm>
          <a:prstGeom prst="roundRect">
            <a:avLst>
              <a:gd name="adj" fmla="val 1644"/>
            </a:avLst>
          </a:prstGeom>
          <a:solidFill>
            <a:srgbClr val="111724"/>
          </a:solidFill>
          <a:ln w="19050">
            <a:solidFill>
              <a:srgbClr val="835E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82128" y="19659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OFFICIAL PR TITLE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882128" y="2395728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1, Banyan,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ProofLaunch: Multimodal GTM Studio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882128" y="370332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B8BE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submitter: sylvanccc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E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 destination: prooflaunch/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8BE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 language: English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5532120"/>
            <a:ext cx="10863072" cy="576072"/>
          </a:xfrm>
          <a:prstGeom prst="roundRect">
            <a:avLst>
              <a:gd name="adj" fmla="val 6349"/>
            </a:avLst>
          </a:prstGeom>
          <a:solidFill>
            <a:srgbClr val="835EFF"/>
          </a:solidFill>
          <a:ln w="12700">
            <a:solidFill>
              <a:srgbClr val="835E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5715000"/>
            <a:ext cx="10287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 STEP · Record one truthful live Radeon workflow, add the Demo Video, verify the clean export, then open the PR.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566928" y="6537960"/>
            <a:ext cx="9875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spc="70" kern="0" dirty="0">
                <a:solidFill>
                  <a:srgbClr val="919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TEAM BANYAN · PROOFLAUNCH · AMD RADEON HACKATHON 2026 · TRACK 1</a:t>
            </a:r>
            <a:endParaRPr lang="en-US" sz="720" dirty="0"/>
          </a:p>
        </p:txBody>
      </p:sp>
      <p:sp>
        <p:nvSpPr>
          <p:cNvPr id="31" name="Text 29"/>
          <p:cNvSpPr/>
          <p:nvPr/>
        </p:nvSpPr>
        <p:spPr>
          <a:xfrm>
            <a:off x="11045952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DD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Banyan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ProofLaunch: Multimodal GTM Studio</dc:title>
  <dc:subject>AMD AI DevMaster Hackathon 2026 — Track 1 submission</dc:subject>
  <dc:creator>Banyan</dc:creator>
  <cp:lastModifiedBy>Banyan</cp:lastModifiedBy>
  <cp:revision>1</cp:revision>
  <dcterms:created xsi:type="dcterms:W3CDTF">2026-08-06T15:45:42Z</dcterms:created>
  <dcterms:modified xsi:type="dcterms:W3CDTF">2026-08-06T15:45:42Z</dcterms:modified>
</cp:coreProperties>
</file>