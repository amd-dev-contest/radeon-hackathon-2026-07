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483096"/>
            <a:ext cx="11064240" cy="0"/>
          </a:xfrm>
          <a:prstGeom prst="line">
            <a:avLst/>
          </a:prstGeom>
          <a:noFill/>
          <a:ln w="7620">
            <a:solidFill>
              <a:srgbClr val="29324D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3A0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AutoFlow • AMD AI DevMaster Hackathon • Track 2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93A0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93A0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AutoFlow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667512" y="175564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C8D1E4"/>
                </a:solidFill>
              </a:rPr>
              <a:t>AMD Radeon Private AI Desktop Agent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85800" y="2304288"/>
            <a:ext cx="5989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8D1E4"/>
                </a:solidFill>
              </a:rPr>
              <a:t>A local-first agent that turns natural-language goals into observable computer actions — powered by AMD Radeon / ROCm inference and protected by risk-scoped execution.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3310128"/>
            <a:ext cx="2331720" cy="237744"/>
          </a:xfrm>
          <a:prstGeom prst="roundRect">
            <a:avLst>
              <a:gd name="adj" fmla="val 23077"/>
            </a:avLst>
          </a:prstGeom>
          <a:solidFill>
            <a:srgbClr val="ED1C24">
              <a:alpha val="95000"/>
            </a:srgbClr>
          </a:solidFill>
          <a:ln w="12700">
            <a:solidFill>
              <a:srgbClr val="ED1C2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3360420"/>
            <a:ext cx="21671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Track 2 • Private AI Agents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3182112" y="3310128"/>
            <a:ext cx="1938528" cy="237744"/>
          </a:xfrm>
          <a:prstGeom prst="roundRect">
            <a:avLst>
              <a:gd name="adj" fmla="val 23077"/>
            </a:avLst>
          </a:prstGeom>
          <a:solidFill>
            <a:srgbClr val="1E2B47">
              <a:alpha val="95000"/>
            </a:srgbClr>
          </a:solidFill>
          <a:ln w="12700">
            <a:solidFill>
              <a:srgbClr val="1E2B4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3360420"/>
            <a:ext cx="17739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Architecture Deck v1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7315200" y="914400"/>
            <a:ext cx="4069080" cy="4434840"/>
          </a:xfrm>
          <a:prstGeom prst="roundRect">
            <a:avLst>
              <a:gd name="adj" fmla="val 1798"/>
            </a:avLst>
          </a:prstGeom>
          <a:solidFill>
            <a:srgbClr val="0E172A"/>
          </a:solidFill>
          <a:ln w="8890">
            <a:solidFill>
              <a:srgbClr val="354569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18120" y="1298448"/>
            <a:ext cx="1170432" cy="713232"/>
          </a:xfrm>
          <a:prstGeom prst="roundRect">
            <a:avLst>
              <a:gd name="adj" fmla="val 10256"/>
            </a:avLst>
          </a:prstGeom>
          <a:solidFill>
            <a:srgbClr val="17223A"/>
          </a:solidFill>
          <a:ln w="13970">
            <a:solidFill>
              <a:srgbClr val="5DA9FF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27848" y="142646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User Goal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927848" y="168249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3A0BA"/>
                </a:solidFill>
              </a:rPr>
              <a:t>Natural language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9281160" y="1298448"/>
            <a:ext cx="1517904" cy="713232"/>
          </a:xfrm>
          <a:prstGeom prst="roundRect">
            <a:avLst>
              <a:gd name="adj" fmla="val 10256"/>
            </a:avLst>
          </a:prstGeom>
          <a:solidFill>
            <a:srgbClr val="17223A"/>
          </a:solidFill>
          <a:ln w="13970">
            <a:solidFill>
              <a:srgbClr val="FF8A3D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0888" y="142646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Agent Runtime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9390888" y="168249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3A0BA"/>
                </a:solidFill>
              </a:rPr>
              <a:t>Observe • Plan • Act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8997696" y="1655064"/>
            <a:ext cx="256032" cy="0"/>
          </a:xfrm>
          <a:prstGeom prst="line">
            <a:avLst/>
          </a:prstGeom>
          <a:noFill/>
          <a:ln w="15240">
            <a:solidFill>
              <a:srgbClr val="2B385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77072" y="2487168"/>
            <a:ext cx="1444752" cy="713232"/>
          </a:xfrm>
          <a:prstGeom prst="roundRect">
            <a:avLst>
              <a:gd name="adj" fmla="val 10256"/>
            </a:avLst>
          </a:prstGeom>
          <a:solidFill>
            <a:srgbClr val="17223A"/>
          </a:solidFill>
          <a:ln w="13970">
            <a:solidFill>
              <a:srgbClr val="ED1C24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615184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AMD ROCm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686800" y="2871216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3A0BA"/>
                </a:solidFill>
              </a:rPr>
              <a:t>Private inference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9646920" y="2011680"/>
            <a:ext cx="-228600" cy="438912"/>
          </a:xfrm>
          <a:prstGeom prst="line">
            <a:avLst/>
          </a:prstGeom>
          <a:noFill/>
          <a:ln w="15240">
            <a:solidFill>
              <a:srgbClr val="2B385A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818120" y="3703320"/>
            <a:ext cx="1627632" cy="713232"/>
          </a:xfrm>
          <a:prstGeom prst="roundRect">
            <a:avLst>
              <a:gd name="adj" fmla="val 10256"/>
            </a:avLst>
          </a:prstGeom>
          <a:solidFill>
            <a:srgbClr val="17223A"/>
          </a:solidFill>
          <a:ln w="13970">
            <a:solidFill>
              <a:srgbClr val="45D483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27848" y="3831336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Tools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7927848" y="4087368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3A0BA"/>
                </a:solidFill>
              </a:rPr>
              <a:t>Browser • Files • UIA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9829800" y="3703320"/>
            <a:ext cx="1170432" cy="713232"/>
          </a:xfrm>
          <a:prstGeom prst="roundRect">
            <a:avLst>
              <a:gd name="adj" fmla="val 10256"/>
            </a:avLst>
          </a:prstGeom>
          <a:solidFill>
            <a:srgbClr val="17223A"/>
          </a:solidFill>
          <a:ln w="13970">
            <a:solidFill>
              <a:srgbClr val="9B7CFF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39528" y="3831336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Evidence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9939528" y="408736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3A0BA"/>
                </a:solidFill>
              </a:rPr>
              <a:t>Verified response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9464040" y="4059936"/>
            <a:ext cx="338328" cy="0"/>
          </a:xfrm>
          <a:prstGeom prst="line">
            <a:avLst/>
          </a:prstGeom>
          <a:noFill/>
          <a:ln w="15240">
            <a:solidFill>
              <a:srgbClr val="2B385A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717536" y="4736592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AFF"/>
                </a:solidFill>
              </a:rPr>
              <a:t>Private model, local actions, observable evidence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93A0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Competition fit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3A0BA"/>
                </a:solidFill>
              </a:rPr>
              <a:t>AutoFlow is built for Track 2: local private AI agents with tool execution and AMD ROCm inference.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9372600" y="384048"/>
            <a:ext cx="2148840" cy="237744"/>
          </a:xfrm>
          <a:prstGeom prst="roundRect">
            <a:avLst>
              <a:gd name="adj" fmla="val 23077"/>
            </a:avLst>
          </a:prstGeom>
          <a:solidFill>
            <a:srgbClr val="ED1C24">
              <a:alpha val="95000"/>
            </a:srgbClr>
          </a:solidFill>
          <a:ln w="12700">
            <a:solidFill>
              <a:srgbClr val="ED1C2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54896" y="434340"/>
            <a:ext cx="1984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Track 2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9372600" y="694944"/>
            <a:ext cx="2148840" cy="237744"/>
          </a:xfrm>
          <a:prstGeom prst="roundRect">
            <a:avLst>
              <a:gd name="adj" fmla="val 23077"/>
            </a:avLst>
          </a:prstGeom>
          <a:solidFill>
            <a:srgbClr val="1E2B47">
              <a:alpha val="95000"/>
            </a:srgbClr>
          </a:solidFill>
          <a:ln w="12700">
            <a:solidFill>
              <a:srgbClr val="1E2B4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745236"/>
            <a:ext cx="1984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120 pts + bonus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58368" y="1188720"/>
            <a:ext cx="3474720" cy="4315968"/>
          </a:xfrm>
          <a:prstGeom prst="roundRect">
            <a:avLst>
              <a:gd name="adj" fmla="val 2105"/>
            </a:avLst>
          </a:prstGeom>
          <a:solidFill>
            <a:srgbClr val="17223A"/>
          </a:solidFill>
          <a:ln w="8890">
            <a:solidFill>
              <a:srgbClr val="ED1C24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463040"/>
            <a:ext cx="384048" cy="384048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5087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89888" y="15179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F"/>
                </a:solidFill>
              </a:rPr>
              <a:t>Scenario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96112" y="2157984"/>
            <a:ext cx="27889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1E4"/>
                </a:solidFill>
              </a:rPr>
              <a:t>A user describes the outcome, not a script. AutoFlow selects tools, executes computer work, verifies evidence, and reports a concrete result.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4352544" y="1188720"/>
            <a:ext cx="3474720" cy="4315968"/>
          </a:xfrm>
          <a:prstGeom prst="roundRect">
            <a:avLst>
              <a:gd name="adj" fmla="val 2105"/>
            </a:avLst>
          </a:prstGeom>
          <a:solidFill>
            <a:srgbClr val="17223A"/>
          </a:solidFill>
          <a:ln w="8890">
            <a:solidFill>
              <a:srgbClr val="FF8A3D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0288" y="14630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15087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⚙️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84064" y="15179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F"/>
                </a:solidFill>
              </a:rPr>
              <a:t>Required capabilities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572000" y="2084832"/>
            <a:ext cx="2743200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8D1E4"/>
                </a:solidFill>
              </a:rPr>
              <a:t>Local deployment on AMD Radeon / ROCm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D1E4"/>
                </a:solidFill>
              </a:rPr>
              <a:t>Tool invocation and workflow orchestration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D1E4"/>
                </a:solidFill>
              </a:rPr>
              <a:t>Multi-step planning and observable execution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1188720"/>
            <a:ext cx="3474720" cy="4315968"/>
          </a:xfrm>
          <a:prstGeom prst="roundRect">
            <a:avLst>
              <a:gd name="adj" fmla="val 2105"/>
            </a:avLst>
          </a:prstGeom>
          <a:solidFill>
            <a:srgbClr val="17223A"/>
          </a:solidFill>
          <a:ln w="8890">
            <a:solidFill>
              <a:srgbClr val="45D483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4464" y="1463040"/>
            <a:ext cx="384048" cy="384048"/>
          </a:xfrm>
          <a:prstGeom prst="ellipse">
            <a:avLst/>
          </a:prstGeom>
          <a:solidFill>
            <a:srgbClr val="45D483"/>
          </a:solidFill>
          <a:ln w="12700">
            <a:solidFill>
              <a:srgbClr val="45D4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84464" y="1508760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0" y="15179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F"/>
                </a:solidFill>
              </a:rPr>
              <a:t>Scoring angle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266176" y="2084832"/>
            <a:ext cx="2743200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8D1E4"/>
                </a:solidFill>
              </a:rPr>
              <a:t>60 pts: agent completeness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D1E4"/>
                </a:solidFill>
              </a:rPr>
              <a:t>40 pts: AMD Radeon / ROCm adaptation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D1E4"/>
                </a:solidFill>
              </a:rPr>
              <a:t>20 bonus: optimized Radeon Cloud inference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" y="599846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3A0BA"/>
                </a:solidFill>
              </a:rPr>
              <a:t>Message for judges: AutoFlow is not just a UI demo — it is a stable boundary between private inference, local computer control, and evidence-backed reporting.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93A0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problem: useful automation still breaks too easily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3A0BA"/>
                </a:solidFill>
              </a:rPr>
              <a:t>Coordinate scripts are fragile; cloud agents are powerful but often unsuitable for private desktop work.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31520" y="1389888"/>
            <a:ext cx="5166360" cy="1517904"/>
          </a:xfrm>
          <a:prstGeom prst="roundRect">
            <a:avLst>
              <a:gd name="adj" fmla="val 4819"/>
            </a:avLst>
          </a:prstGeom>
          <a:solidFill>
            <a:srgbClr val="17223A"/>
          </a:solidFill>
          <a:ln w="8890">
            <a:solidFill>
              <a:srgbClr val="ED1C24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682496"/>
            <a:ext cx="384048" cy="384048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2821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17904" y="1719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F"/>
                </a:solidFill>
              </a:rPr>
              <a:t>Fragile scripts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517904" y="2084832"/>
            <a:ext cx="398678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8D1E4"/>
                </a:solidFill>
              </a:rPr>
              <a:t>Recorded mouse coordinates fail when windows move, sites change, or resolution differs.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731520" y="3419856"/>
            <a:ext cx="5166360" cy="1517904"/>
          </a:xfrm>
          <a:prstGeom prst="roundRect">
            <a:avLst>
              <a:gd name="adj" fmla="val 4819"/>
            </a:avLst>
          </a:prstGeom>
          <a:solidFill>
            <a:srgbClr val="17223A"/>
          </a:solidFill>
          <a:ln w="8890">
            <a:solidFill>
              <a:srgbClr val="FF8A3D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712464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758184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17904" y="3749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F"/>
                </a:solidFill>
              </a:rPr>
              <a:t>Cloud privacy gap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517904" y="4114800"/>
            <a:ext cx="398678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8D1E4"/>
                </a:solidFill>
              </a:rPr>
              <a:t>Desktop screenshots, files, and credentials should not flow through general automation SaaS.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263640" y="1389888"/>
            <a:ext cx="5166360" cy="1517904"/>
          </a:xfrm>
          <a:prstGeom prst="roundRect">
            <a:avLst>
              <a:gd name="adj" fmla="val 4819"/>
            </a:avLst>
          </a:prstGeom>
          <a:solidFill>
            <a:srgbClr val="17223A"/>
          </a:solidFill>
          <a:ln w="8890">
            <a:solidFill>
              <a:srgbClr val="5DA9FF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682496"/>
            <a:ext cx="384048" cy="384048"/>
          </a:xfrm>
          <a:prstGeom prst="ellipse">
            <a:avLst/>
          </a:prstGeom>
          <a:solidFill>
            <a:srgbClr val="5DA9FF"/>
          </a:solidFill>
          <a:ln w="12700">
            <a:solidFill>
              <a:srgbClr val="5DA9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72821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⏱️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50024" y="1719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F"/>
                </a:solidFill>
              </a:rPr>
              <a:t>Manual repetition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050024" y="2084832"/>
            <a:ext cx="398678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8D1E4"/>
                </a:solidFill>
              </a:rPr>
              <a:t>Office workers still repeat browser, PDF, folder and app workflows by hand.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263640" y="3419856"/>
            <a:ext cx="5166360" cy="1517904"/>
          </a:xfrm>
          <a:prstGeom prst="roundRect">
            <a:avLst>
              <a:gd name="adj" fmla="val 4819"/>
            </a:avLst>
          </a:prstGeom>
          <a:solidFill>
            <a:srgbClr val="17223A"/>
          </a:solidFill>
          <a:ln w="8890">
            <a:solidFill>
              <a:srgbClr val="9B7CFF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712464"/>
            <a:ext cx="384048" cy="384048"/>
          </a:xfrm>
          <a:prstGeom prst="ellipse">
            <a:avLst/>
          </a:prstGeom>
          <a:solidFill>
            <a:srgbClr val="9B7CFF"/>
          </a:solidFill>
          <a:ln w="12700">
            <a:solidFill>
              <a:srgbClr val="9B7C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758184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🧾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50024" y="3749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F"/>
                </a:solidFill>
              </a:rPr>
              <a:t>Unverified outputs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050024" y="4114800"/>
            <a:ext cx="398678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8D1E4"/>
                </a:solidFill>
              </a:rPr>
              <a:t>Agents often answer without attaching concrete tool evidence to the result.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658368" y="599846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3A0BA"/>
                </a:solidFill>
              </a:rPr>
              <a:t>AutoFlow reframes the task from “replay these pixels” to “observe the current state, choose the safest tool, verify the outcome.”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93A0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thesis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3A0BA"/>
                </a:solidFill>
              </a:rPr>
              <a:t>Keep the model smart, keep execution local, and make every result observable.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41248" y="1234440"/>
            <a:ext cx="10515600" cy="4389120"/>
          </a:xfrm>
          <a:prstGeom prst="roundRect">
            <a:avLst>
              <a:gd name="adj" fmla="val 1667"/>
            </a:avLst>
          </a:prstGeom>
          <a:solidFill>
            <a:srgbClr val="0E172A"/>
          </a:solidFill>
          <a:ln w="8890">
            <a:solidFill>
              <a:srgbClr val="2B385A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2331720"/>
            <a:ext cx="1170432" cy="804672"/>
          </a:xfrm>
          <a:prstGeom prst="roundRect">
            <a:avLst>
              <a:gd name="adj" fmla="val 9091"/>
            </a:avLst>
          </a:prstGeom>
          <a:solidFill>
            <a:srgbClr val="17223A"/>
          </a:solidFill>
          <a:ln w="13970">
            <a:solidFill>
              <a:srgbClr val="5DA9FF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1328" y="2459736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Observe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481328" y="271576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3A0BA"/>
                </a:solidFill>
              </a:rPr>
              <a:t>Current page / files / UI tree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2560320" y="2724912"/>
            <a:ext cx="475488" cy="0"/>
          </a:xfrm>
          <a:prstGeom prst="line">
            <a:avLst/>
          </a:prstGeom>
          <a:noFill/>
          <a:ln w="12700">
            <a:solidFill>
              <a:srgbClr val="54617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63240" y="2331720"/>
            <a:ext cx="1170432" cy="804672"/>
          </a:xfrm>
          <a:prstGeom prst="roundRect">
            <a:avLst>
              <a:gd name="adj" fmla="val 9091"/>
            </a:avLst>
          </a:prstGeom>
          <a:solidFill>
            <a:srgbClr val="17223A"/>
          </a:solidFill>
          <a:ln w="13970">
            <a:solidFill>
              <a:srgbClr val="FF8A3D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2459736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Plan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172968" y="271576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3A0BA"/>
                </a:solidFill>
              </a:rPr>
              <a:t>One registered tool action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4251960" y="2724912"/>
            <a:ext cx="475488" cy="0"/>
          </a:xfrm>
          <a:prstGeom prst="line">
            <a:avLst/>
          </a:prstGeom>
          <a:noFill/>
          <a:ln w="12700">
            <a:solidFill>
              <a:srgbClr val="54617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54880" y="2331720"/>
            <a:ext cx="1170432" cy="804672"/>
          </a:xfrm>
          <a:prstGeom prst="roundRect">
            <a:avLst>
              <a:gd name="adj" fmla="val 9091"/>
            </a:avLst>
          </a:prstGeom>
          <a:solidFill>
            <a:srgbClr val="17223A"/>
          </a:solidFill>
          <a:ln w="13970">
            <a:solidFill>
              <a:srgbClr val="ED1C24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2459736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Authorize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864608" y="271576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3A0BA"/>
                </a:solidFill>
              </a:rPr>
              <a:t>Goal-scoped risk check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5943600" y="2724912"/>
            <a:ext cx="475488" cy="0"/>
          </a:xfrm>
          <a:prstGeom prst="line">
            <a:avLst/>
          </a:prstGeom>
          <a:noFill/>
          <a:ln w="12700">
            <a:solidFill>
              <a:srgbClr val="54617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46520" y="2331720"/>
            <a:ext cx="1170432" cy="804672"/>
          </a:xfrm>
          <a:prstGeom prst="roundRect">
            <a:avLst>
              <a:gd name="adj" fmla="val 9091"/>
            </a:avLst>
          </a:prstGeom>
          <a:solidFill>
            <a:srgbClr val="17223A"/>
          </a:solidFill>
          <a:ln w="13970">
            <a:solidFill>
              <a:srgbClr val="45D483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2459736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Act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556248" y="271576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3A0BA"/>
                </a:solidFill>
              </a:rPr>
              <a:t>Quietest applicable backend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7635240" y="2724912"/>
            <a:ext cx="475488" cy="0"/>
          </a:xfrm>
          <a:prstGeom prst="line">
            <a:avLst/>
          </a:prstGeom>
          <a:noFill/>
          <a:ln w="12700">
            <a:solidFill>
              <a:srgbClr val="54617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38160" y="2331720"/>
            <a:ext cx="1170432" cy="804672"/>
          </a:xfrm>
          <a:prstGeom prst="roundRect">
            <a:avLst>
              <a:gd name="adj" fmla="val 9091"/>
            </a:avLst>
          </a:prstGeom>
          <a:solidFill>
            <a:srgbClr val="17223A"/>
          </a:solidFill>
          <a:ln w="13970">
            <a:solidFill>
              <a:srgbClr val="9B7CFF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47888" y="2459736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Verify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247888" y="271576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3A0BA"/>
                </a:solidFill>
              </a:rPr>
              <a:t>Real tool result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9326880" y="2724912"/>
            <a:ext cx="475488" cy="0"/>
          </a:xfrm>
          <a:prstGeom prst="line">
            <a:avLst/>
          </a:prstGeom>
          <a:noFill/>
          <a:ln w="12700">
            <a:solidFill>
              <a:srgbClr val="54617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829800" y="2331720"/>
            <a:ext cx="1170432" cy="804672"/>
          </a:xfrm>
          <a:prstGeom prst="roundRect">
            <a:avLst>
              <a:gd name="adj" fmla="val 9091"/>
            </a:avLst>
          </a:prstGeom>
          <a:solidFill>
            <a:srgbClr val="17223A"/>
          </a:solidFill>
          <a:ln w="13970">
            <a:solidFill>
              <a:srgbClr val="FFB84D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39528" y="2459736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Report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9939528" y="271576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3A0BA"/>
                </a:solidFill>
              </a:rPr>
              <a:t>Evidence-backed answer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1417320" y="16824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Model ≠ uncontrolled computer access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26464" y="3685032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C8D1E4"/>
                </a:solidFill>
              </a:rPr>
              <a:t>The model proposes one tool action. The runtime owns authorization, execution, verification and final evidence.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8368" y="599846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3A0BA"/>
                </a:solidFill>
              </a:rPr>
              <a:t>This loop is the core architecture to show in both PPT and final product video.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93A0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Overall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3A0BA"/>
                </a:solidFill>
              </a:rPr>
              <a:t>Split the Windows interaction client from private AMD Radeon / ROCm inference.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847088" y="1664208"/>
            <a:ext cx="987552" cy="0"/>
          </a:xfrm>
          <a:prstGeom prst="line">
            <a:avLst/>
          </a:prstGeom>
          <a:noFill/>
          <a:ln w="12700">
            <a:solidFill>
              <a:srgbClr val="2B385A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315968" y="1664208"/>
            <a:ext cx="1170432" cy="0"/>
          </a:xfrm>
          <a:prstGeom prst="line">
            <a:avLst/>
          </a:prstGeom>
          <a:noFill/>
          <a:ln w="12700">
            <a:solidFill>
              <a:srgbClr val="2B385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040880" y="1664208"/>
            <a:ext cx="1188720" cy="0"/>
          </a:xfrm>
          <a:prstGeom prst="line">
            <a:avLst/>
          </a:prstGeom>
          <a:noFill/>
          <a:ln w="12700">
            <a:solidFill>
              <a:srgbClr val="2B385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236208" y="2121408"/>
            <a:ext cx="0" cy="758952"/>
          </a:xfrm>
          <a:prstGeom prst="line">
            <a:avLst/>
          </a:prstGeom>
          <a:noFill/>
          <a:ln w="12700">
            <a:solidFill>
              <a:srgbClr val="2B385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0" y="4297680"/>
            <a:ext cx="-1143000" cy="0"/>
          </a:xfrm>
          <a:prstGeom prst="line">
            <a:avLst/>
          </a:prstGeom>
          <a:noFill/>
          <a:ln w="12700">
            <a:solidFill>
              <a:srgbClr val="2B385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16352" y="4297680"/>
            <a:ext cx="-758952" cy="-2148840"/>
          </a:xfrm>
          <a:prstGeom prst="line">
            <a:avLst/>
          </a:prstGeom>
          <a:noFill/>
          <a:ln w="12700">
            <a:solidFill>
              <a:srgbClr val="2B385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8368" y="1298448"/>
            <a:ext cx="1188720" cy="749808"/>
          </a:xfrm>
          <a:prstGeom prst="roundRect">
            <a:avLst>
              <a:gd name="adj" fmla="val 9756"/>
            </a:avLst>
          </a:prstGeom>
          <a:solidFill>
            <a:srgbClr val="17223A"/>
          </a:solidFill>
          <a:ln w="13970">
            <a:solidFill>
              <a:srgbClr val="5DA9FF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426464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Local Web UI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68096" y="1682496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3A0BA"/>
                </a:solidFill>
              </a:rPr>
              <a:t>127.0.0.1 only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2852928" y="1298448"/>
            <a:ext cx="1463040" cy="749808"/>
          </a:xfrm>
          <a:prstGeom prst="roundRect">
            <a:avLst>
              <a:gd name="adj" fmla="val 9756"/>
            </a:avLst>
          </a:prstGeom>
          <a:solidFill>
            <a:srgbClr val="17223A"/>
          </a:solidFill>
          <a:ln w="13970">
            <a:solidFill>
              <a:srgbClr val="FF8A3D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142646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Agent Runtime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2962656" y="1682496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3A0BA"/>
                </a:solidFill>
              </a:rPr>
              <a:t>Session lock + loop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5504688" y="1298448"/>
            <a:ext cx="1536192" cy="749808"/>
          </a:xfrm>
          <a:prstGeom prst="roundRect">
            <a:avLst>
              <a:gd name="adj" fmla="val 9756"/>
            </a:avLst>
          </a:prstGeom>
          <a:solidFill>
            <a:srgbClr val="17223A"/>
          </a:solidFill>
          <a:ln w="13970">
            <a:solidFill>
              <a:srgbClr val="ED1C24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14416" y="14264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Risk Authorization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5614416" y="1682496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3A0BA"/>
                </a:solidFill>
              </a:rPr>
              <a:t>Goal-scoped effects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8247888" y="1298448"/>
            <a:ext cx="1371600" cy="749808"/>
          </a:xfrm>
          <a:prstGeom prst="roundRect">
            <a:avLst>
              <a:gd name="adj" fmla="val 9756"/>
            </a:avLst>
          </a:prstGeom>
          <a:solidFill>
            <a:srgbClr val="17223A"/>
          </a:solidFill>
          <a:ln w="13970">
            <a:solidFill>
              <a:srgbClr val="ED1C24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7616" y="1426464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AMD vLLM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8357616" y="1682496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3A0BA"/>
                </a:solidFill>
              </a:rPr>
              <a:t>Radeon + ROCm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9930384" y="1078992"/>
            <a:ext cx="1572768" cy="1188720"/>
          </a:xfrm>
          <a:prstGeom prst="roundRect">
            <a:avLst>
              <a:gd name="adj" fmla="val 6154"/>
            </a:avLst>
          </a:prstGeom>
          <a:solidFill>
            <a:srgbClr val="1E1420"/>
          </a:solidFill>
          <a:ln w="8890">
            <a:solidFill>
              <a:srgbClr val="ED1C24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76688" y="129844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1C24"/>
                </a:solidFill>
              </a:rPr>
              <a:t>GPU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076688" y="172821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3A0BA"/>
                </a:solidFill>
              </a:rPr>
              <a:t>Private inference host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276088" y="2926080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17223A"/>
          </a:solidFill>
          <a:ln w="13970">
            <a:solidFill>
              <a:srgbClr val="45D483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85816" y="3054096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Smart Silent Router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5385816" y="331012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3A0BA"/>
                </a:solidFill>
              </a:rPr>
              <a:t>Tool backend selection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2788920" y="3886200"/>
            <a:ext cx="1371600" cy="749808"/>
          </a:xfrm>
          <a:prstGeom prst="roundRect">
            <a:avLst>
              <a:gd name="adj" fmla="val 9756"/>
            </a:avLst>
          </a:prstGeom>
          <a:solidFill>
            <a:srgbClr val="17223A"/>
          </a:solidFill>
          <a:ln w="13970">
            <a:solidFill>
              <a:srgbClr val="5DA9FF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98648" y="4014216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Headless Web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2898648" y="4270248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3A0BA"/>
                </a:solidFill>
              </a:rPr>
              <a:t>Chromium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5440680" y="3886200"/>
            <a:ext cx="1371600" cy="749808"/>
          </a:xfrm>
          <a:prstGeom prst="roundRect">
            <a:avLst>
              <a:gd name="adj" fmla="val 9756"/>
            </a:avLst>
          </a:prstGeom>
          <a:solidFill>
            <a:srgbClr val="17223A"/>
          </a:solidFill>
          <a:ln w="13970">
            <a:solidFill>
              <a:srgbClr val="FFB84D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50408" y="4014216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Local Files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5550408" y="4270248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3A0BA"/>
                </a:solidFill>
              </a:rPr>
              <a:t>PDF / folders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8092440" y="3886200"/>
            <a:ext cx="1371600" cy="749808"/>
          </a:xfrm>
          <a:prstGeom prst="roundRect">
            <a:avLst>
              <a:gd name="adj" fmla="val 9756"/>
            </a:avLst>
          </a:prstGeom>
          <a:solidFill>
            <a:srgbClr val="17223A"/>
          </a:solidFill>
          <a:ln w="13970">
            <a:solidFill>
              <a:srgbClr val="9B7CFF">
                <a:alpha val="8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02168" y="4014216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Windows UIA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8202168" y="4270248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3A0BA"/>
                </a:solidFill>
              </a:rPr>
              <a:t>Semantic controls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676656" y="3886200"/>
            <a:ext cx="1371600" cy="749808"/>
          </a:xfrm>
          <a:prstGeom prst="roundRect">
            <a:avLst>
              <a:gd name="adj" fmla="val 9756"/>
            </a:avLst>
          </a:prstGeom>
          <a:solidFill>
            <a:srgbClr val="17223A"/>
          </a:solidFill>
          <a:ln w="13970">
            <a:solidFill>
              <a:srgbClr val="45D483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" y="4014216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Evidence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786384" y="4270248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3A0BA"/>
                </a:solidFill>
              </a:rPr>
              <a:t>Observed result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768096" y="5285232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8D1E4"/>
                </a:solidFill>
              </a:rPr>
              <a:t>Key design: the Windows client can stay on the user machine, while model inference can run on Radeon Cloud or a private ROCm host.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93A0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silent routing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3A0BA"/>
                </a:solidFill>
              </a:rPr>
              <a:t>AutoFlow does not force every task into foreground mouse control.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49808" y="1161288"/>
            <a:ext cx="10652760" cy="749808"/>
          </a:xfrm>
          <a:prstGeom prst="roundRect">
            <a:avLst>
              <a:gd name="adj" fmla="val 9756"/>
            </a:avLst>
          </a:prstGeom>
          <a:solidFill>
            <a:srgbClr val="17223A"/>
          </a:solidFill>
          <a:ln w="8890">
            <a:solidFill>
              <a:srgbClr val="5DA9FF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80744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7FAFF"/>
                </a:solidFill>
              </a:rPr>
              <a:t>Web research / downloads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749040" y="1380744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5DA9FF"/>
                </a:solidFill>
              </a:rPr>
              <a:t>Headless Chromium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91072" y="1362456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8D1E4"/>
                </a:solidFill>
              </a:rPr>
              <a:t>Silent, does not take over user mouse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749808" y="2194560"/>
            <a:ext cx="10652760" cy="749808"/>
          </a:xfrm>
          <a:prstGeom prst="roundRect">
            <a:avLst>
              <a:gd name="adj" fmla="val 9756"/>
            </a:avLst>
          </a:prstGeom>
          <a:solidFill>
            <a:srgbClr val="111A2E"/>
          </a:solidFill>
          <a:ln w="8890">
            <a:solidFill>
              <a:srgbClr val="FFB84D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414016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7FAFF"/>
                </a:solidFill>
              </a:rPr>
              <a:t>PDF and local file work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749040" y="2414016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B84D"/>
                </a:solidFill>
              </a:rPr>
              <a:t>Python / restricted PowerShell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91072" y="239572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8D1E4"/>
                </a:solidFill>
              </a:rPr>
              <a:t>Fast, deterministic, folder-scoped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49808" y="3227832"/>
            <a:ext cx="10652760" cy="749808"/>
          </a:xfrm>
          <a:prstGeom prst="roundRect">
            <a:avLst>
              <a:gd name="adj" fmla="val 9756"/>
            </a:avLst>
          </a:prstGeom>
          <a:solidFill>
            <a:srgbClr val="17223A"/>
          </a:solidFill>
          <a:ln w="8890">
            <a:solidFill>
              <a:srgbClr val="9B7CFF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447288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7FAFF"/>
                </a:solidFill>
              </a:rPr>
              <a:t>Desktop app control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49040" y="344728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9B7CFF"/>
                </a:solidFill>
              </a:rPr>
              <a:t>Windows UI Automation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91072" y="342900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8D1E4"/>
                </a:solidFill>
              </a:rPr>
              <a:t>Semantic accessibility controls first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49808" y="4261104"/>
            <a:ext cx="10652760" cy="749808"/>
          </a:xfrm>
          <a:prstGeom prst="roundRect">
            <a:avLst>
              <a:gd name="adj" fmla="val 9756"/>
            </a:avLst>
          </a:prstGeom>
          <a:solidFill>
            <a:srgbClr val="111A2E"/>
          </a:solidFill>
          <a:ln w="8890">
            <a:solidFill>
              <a:srgbClr val="ED1C24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48056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7FAFF"/>
                </a:solidFill>
              </a:rPr>
              <a:t>Unavoidable GUI input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49040" y="448056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D1C24"/>
                </a:solidFill>
              </a:rPr>
              <a:t>Foreground fallback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91072" y="446227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8D1E4"/>
                </a:solidFill>
              </a:rPr>
              <a:t>Last resort, explicit and observable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987552" y="94183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b="1" dirty="0">
                <a:solidFill>
                  <a:srgbClr val="93A0BA"/>
                </a:solidFill>
              </a:rPr>
              <a:t>TASK TYPE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3730752" y="94183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b="1" dirty="0">
                <a:solidFill>
                  <a:srgbClr val="93A0BA"/>
                </a:solidFill>
              </a:rPr>
              <a:t>BACKEND</a:t>
            </a:r>
            <a:endParaRPr lang="en-US" sz="620" dirty="0"/>
          </a:p>
        </p:txBody>
      </p:sp>
      <p:sp>
        <p:nvSpPr>
          <p:cNvPr id="23" name="Text 21"/>
          <p:cNvSpPr/>
          <p:nvPr/>
        </p:nvSpPr>
        <p:spPr>
          <a:xfrm>
            <a:off x="6291072" y="94183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b="1" dirty="0">
                <a:solidFill>
                  <a:srgbClr val="93A0BA"/>
                </a:solidFill>
              </a:rPr>
              <a:t>WHY IT MATTERS</a:t>
            </a:r>
            <a:endParaRPr lang="en-US" sz="620" dirty="0"/>
          </a:p>
        </p:txBody>
      </p:sp>
      <p:sp>
        <p:nvSpPr>
          <p:cNvPr id="24" name="Text 22"/>
          <p:cNvSpPr/>
          <p:nvPr/>
        </p:nvSpPr>
        <p:spPr>
          <a:xfrm>
            <a:off x="658368" y="599846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3A0BA"/>
                </a:solidFill>
              </a:rPr>
              <a:t>This is the practical value: the agent behaves like a capable assistant, but executes like a controlled local toolchain.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93A0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and trust boundaries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3A0BA"/>
                </a:solidFill>
              </a:rPr>
              <a:t>Model output is never treated as automatic permission to perform sensitive actions.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86384" y="1143000"/>
            <a:ext cx="4992624" cy="950976"/>
          </a:xfrm>
          <a:prstGeom prst="roundRect">
            <a:avLst>
              <a:gd name="adj" fmla="val 7692"/>
            </a:avLst>
          </a:prstGeom>
          <a:solidFill>
            <a:srgbClr val="17223A"/>
          </a:solidFill>
          <a:ln w="8890">
            <a:solidFill>
              <a:srgbClr val="5DA9FF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1344168"/>
            <a:ext cx="384048" cy="384048"/>
          </a:xfrm>
          <a:prstGeom prst="ellipse">
            <a:avLst/>
          </a:prstGeom>
          <a:solidFill>
            <a:srgbClr val="5DA9FF"/>
          </a:solidFill>
          <a:ln w="12700">
            <a:solidFill>
              <a:srgbClr val="5DA9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389888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36192" y="134416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7FAFF"/>
                </a:solidFill>
              </a:rPr>
              <a:t>Browser → Agent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536192" y="16184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C8D1E4"/>
                </a:solidFill>
              </a:rPr>
              <a:t>Page content is untrusted; it cannot override the user goal.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786384" y="2514600"/>
            <a:ext cx="4992624" cy="950976"/>
          </a:xfrm>
          <a:prstGeom prst="roundRect">
            <a:avLst>
              <a:gd name="adj" fmla="val 7692"/>
            </a:avLst>
          </a:prstGeom>
          <a:solidFill>
            <a:srgbClr val="17223A"/>
          </a:solidFill>
          <a:ln w="8890">
            <a:solidFill>
              <a:srgbClr val="45D483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2715768"/>
            <a:ext cx="384048" cy="384048"/>
          </a:xfrm>
          <a:prstGeom prst="ellipse">
            <a:avLst/>
          </a:prstGeom>
          <a:solidFill>
            <a:srgbClr val="45D483"/>
          </a:solidFill>
          <a:ln w="12700">
            <a:solidFill>
              <a:srgbClr val="45D48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761488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36192" y="271576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7FAFF"/>
                </a:solidFill>
              </a:rPr>
              <a:t>UI → Local API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36192" y="29900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C8D1E4"/>
                </a:solidFill>
              </a:rPr>
              <a:t>Same-origin local JSON checks; server binds to 127.0.0.1.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786384" y="3886200"/>
            <a:ext cx="4992624" cy="950976"/>
          </a:xfrm>
          <a:prstGeom prst="roundRect">
            <a:avLst>
              <a:gd name="adj" fmla="val 7692"/>
            </a:avLst>
          </a:prstGeom>
          <a:solidFill>
            <a:srgbClr val="17223A"/>
          </a:solidFill>
          <a:ln w="8890">
            <a:solidFill>
              <a:srgbClr val="ED1C24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" y="4087368"/>
            <a:ext cx="384048" cy="384048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4133088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36192" y="408736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7FAFF"/>
                </a:solidFill>
              </a:rPr>
              <a:t>Agent → Model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536192" y="43616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C8D1E4"/>
                </a:solidFill>
              </a:rPr>
              <a:t>Remote credential endpoints must use HTTPS.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6364224" y="1143000"/>
            <a:ext cx="4992624" cy="950976"/>
          </a:xfrm>
          <a:prstGeom prst="roundRect">
            <a:avLst>
              <a:gd name="adj" fmla="val 7692"/>
            </a:avLst>
          </a:prstGeom>
          <a:solidFill>
            <a:srgbClr val="17223A"/>
          </a:solidFill>
          <a:ln w="8890">
            <a:solidFill>
              <a:srgbClr val="FF8A3D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47104" y="1344168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47104" y="1389888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14032" y="134416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7FAFF"/>
                </a:solidFill>
              </a:rPr>
              <a:t>Model → Tools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14032" y="16184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C8D1E4"/>
                </a:solidFill>
              </a:rPr>
              <a:t>Registered tools only; every action gets risk classified.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6364224" y="2514600"/>
            <a:ext cx="4992624" cy="950976"/>
          </a:xfrm>
          <a:prstGeom prst="roundRect">
            <a:avLst>
              <a:gd name="adj" fmla="val 7692"/>
            </a:avLst>
          </a:prstGeom>
          <a:solidFill>
            <a:srgbClr val="17223A"/>
          </a:solidFill>
          <a:ln w="8890">
            <a:solidFill>
              <a:srgbClr val="FFB84D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47104" y="2715768"/>
            <a:ext cx="384048" cy="38404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47104" y="2761488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14032" y="271576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7FAFF"/>
                </a:solidFill>
              </a:rPr>
              <a:t>PowerShell → Files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14032" y="29900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C8D1E4"/>
                </a:solidFill>
              </a:rPr>
              <a:t>Literal, goal-scoped paths; opaque commands blocked.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6364224" y="3886200"/>
            <a:ext cx="4992624" cy="950976"/>
          </a:xfrm>
          <a:prstGeom prst="roundRect">
            <a:avLst>
              <a:gd name="adj" fmla="val 7692"/>
            </a:avLst>
          </a:prstGeom>
          <a:solidFill>
            <a:srgbClr val="17223A"/>
          </a:solidFill>
          <a:ln w="8890">
            <a:solidFill>
              <a:srgbClr val="9B7CFF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47104" y="4087368"/>
            <a:ext cx="384048" cy="384048"/>
          </a:xfrm>
          <a:prstGeom prst="ellipse">
            <a:avLst/>
          </a:prstGeom>
          <a:solidFill>
            <a:srgbClr val="9B7CFF"/>
          </a:solidFill>
          <a:ln w="12700">
            <a:solidFill>
              <a:srgbClr val="9B7C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47104" y="4133088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🔑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14032" y="408736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7FAFF"/>
                </a:solidFill>
              </a:rPr>
              <a:t>Credentials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114032" y="43616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C8D1E4"/>
                </a:solidFill>
              </a:rPr>
              <a:t>Stored in Windows Credential Manager; excluded from logs.</a:t>
            </a:r>
            <a:endParaRPr lang="en-US" sz="770" dirty="0"/>
          </a:p>
        </p:txBody>
      </p:sp>
      <p:sp>
        <p:nvSpPr>
          <p:cNvPr id="35" name="Text 33"/>
          <p:cNvSpPr/>
          <p:nvPr/>
        </p:nvSpPr>
        <p:spPr>
          <a:xfrm>
            <a:off x="658368" y="599846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3A0BA"/>
                </a:solidFill>
              </a:rPr>
              <a:t>For judges: this demonstrates privacy, permission control, and operational stability — all essential for local private agents.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93A0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AMD Radeon / ROCm adaptation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3A0BA"/>
                </a:solidFill>
              </a:rPr>
              <a:t>The AMD layer is explicit, measurable, and isolated from desktop automation.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9372600" y="384048"/>
            <a:ext cx="2148840" cy="237744"/>
          </a:xfrm>
          <a:prstGeom prst="roundRect">
            <a:avLst>
              <a:gd name="adj" fmla="val 23077"/>
            </a:avLst>
          </a:prstGeom>
          <a:solidFill>
            <a:srgbClr val="ED1C24">
              <a:alpha val="95000"/>
            </a:srgbClr>
          </a:solidFill>
          <a:ln w="12700">
            <a:solidFill>
              <a:srgbClr val="ED1C2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54896" y="434340"/>
            <a:ext cx="1984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No fake claims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9372600" y="694944"/>
            <a:ext cx="2148840" cy="237744"/>
          </a:xfrm>
          <a:prstGeom prst="roundRect">
            <a:avLst>
              <a:gd name="adj" fmla="val 23077"/>
            </a:avLst>
          </a:prstGeom>
          <a:solidFill>
            <a:srgbClr val="1E2B47">
              <a:alpha val="95000"/>
            </a:srgbClr>
          </a:solidFill>
          <a:ln w="12700">
            <a:solidFill>
              <a:srgbClr val="1E2B4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745236"/>
            <a:ext cx="1984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Evidence-first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786384" y="1216152"/>
            <a:ext cx="3401568" cy="3584448"/>
          </a:xfrm>
          <a:prstGeom prst="roundRect">
            <a:avLst>
              <a:gd name="adj" fmla="val 2151"/>
            </a:avLst>
          </a:prstGeom>
          <a:solidFill>
            <a:srgbClr val="17223A"/>
          </a:solidFill>
          <a:ln w="8890">
            <a:solidFill>
              <a:srgbClr val="ED1C24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" y="1481328"/>
            <a:ext cx="384048" cy="384048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1527048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F"/>
                </a:solidFill>
              </a:rPr>
              <a:t>Provider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24128" y="2176272"/>
            <a:ext cx="268833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C8D1E4"/>
                </a:solidFill>
              </a:rPr>
              <a:t>Dedicated AMD Radeon Cloud / ROCm provider with editable Base URL, model ID, and credential-safe API key handling.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4407408" y="1216152"/>
            <a:ext cx="3401568" cy="3584448"/>
          </a:xfrm>
          <a:prstGeom prst="roundRect">
            <a:avLst>
              <a:gd name="adj" fmla="val 2151"/>
            </a:avLst>
          </a:prstGeom>
          <a:solidFill>
            <a:srgbClr val="17223A"/>
          </a:solidFill>
          <a:ln w="8890">
            <a:solidFill>
              <a:srgbClr val="FF8A3D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90872" y="1481328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1527048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📊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93792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F"/>
                </a:solidFill>
              </a:rPr>
              <a:t>Evidence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645152" y="2176272"/>
            <a:ext cx="268833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C8D1E4"/>
                </a:solidFill>
              </a:rPr>
              <a:t>Environment diagnostics: Radeon visibility, rocminfo, rocm-smi, HIP, PyTorch HIP. Endpoint benchmark: latency without storing secrets.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8028432" y="1216152"/>
            <a:ext cx="3401568" cy="3584448"/>
          </a:xfrm>
          <a:prstGeom prst="roundRect">
            <a:avLst>
              <a:gd name="adj" fmla="val 2151"/>
            </a:avLst>
          </a:prstGeom>
          <a:solidFill>
            <a:srgbClr val="17223A"/>
          </a:solidFill>
          <a:ln w="8890">
            <a:solidFill>
              <a:srgbClr val="45D483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11896" y="1481328"/>
            <a:ext cx="384048" cy="384048"/>
          </a:xfrm>
          <a:prstGeom prst="ellipse">
            <a:avLst/>
          </a:prstGeom>
          <a:solidFill>
            <a:srgbClr val="45D483"/>
          </a:solidFill>
          <a:ln w="12700">
            <a:solidFill>
              <a:srgbClr val="45D4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11896" y="1527048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14816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AFF"/>
                </a:solidFill>
              </a:rPr>
              <a:t>Optimization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266176" y="2176272"/>
            <a:ext cx="268833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C8D1E4"/>
                </a:solidFill>
              </a:rPr>
              <a:t>Measure baseline, constrain JSON output, compare model size / precision, and choose the smallest model that reliably returns valid tool calls.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987552" y="50749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84D"/>
                </a:solidFill>
              </a:rPr>
              <a:t>Fill after product repair: GPU model • vLLM image • model ID • median latency • p95 latency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93A0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flow for the final video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3A0BA"/>
                </a:solidFill>
              </a:rPr>
              <a:t>Keep the video simple: prove AMD, connect model, run one stable end-to-end task, show evidence.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49808" y="1234440"/>
            <a:ext cx="3145536" cy="1335024"/>
          </a:xfrm>
          <a:prstGeom prst="roundRect">
            <a:avLst>
              <a:gd name="adj" fmla="val 5479"/>
            </a:avLst>
          </a:prstGeom>
          <a:solidFill>
            <a:srgbClr val="17223A"/>
          </a:solidFill>
          <a:ln w="8890">
            <a:solidFill>
              <a:srgbClr val="FF8A3D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1472184"/>
            <a:ext cx="493776" cy="493776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591056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27632" y="149047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F"/>
                </a:solidFill>
              </a:rPr>
              <a:t>Open with product thesis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627632" y="18013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C8D1E4"/>
                </a:solidFill>
              </a:rPr>
              <a:t>Home page + one-sentence problem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453128" y="1234440"/>
            <a:ext cx="3145536" cy="1335024"/>
          </a:xfrm>
          <a:prstGeom prst="roundRect">
            <a:avLst>
              <a:gd name="adj" fmla="val 5479"/>
            </a:avLst>
          </a:prstGeom>
          <a:solidFill>
            <a:srgbClr val="17223A"/>
          </a:solidFill>
          <a:ln w="8890">
            <a:solidFill>
              <a:srgbClr val="FF8A3D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54296" y="1472184"/>
            <a:ext cx="493776" cy="493776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1591056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30952" y="149047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F"/>
                </a:solidFill>
              </a:rPr>
              <a:t>Show AMD/ROCm proof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330952" y="18013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C8D1E4"/>
                </a:solidFill>
              </a:rPr>
              <a:t>rocminfo / rocm-smi + evidence JSON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156448" y="1234440"/>
            <a:ext cx="3145536" cy="1335024"/>
          </a:xfrm>
          <a:prstGeom prst="roundRect">
            <a:avLst>
              <a:gd name="adj" fmla="val 5479"/>
            </a:avLst>
          </a:prstGeom>
          <a:solidFill>
            <a:srgbClr val="17223A"/>
          </a:solidFill>
          <a:ln w="8890">
            <a:solidFill>
              <a:srgbClr val="FF8A3D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7616" y="1472184"/>
            <a:ext cx="493776" cy="493776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1591056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034272" y="149047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F"/>
                </a:solidFill>
              </a:rPr>
              <a:t>Connect private model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9034272" y="18013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C8D1E4"/>
                </a:solidFill>
              </a:rPr>
              <a:t>AMD provider selected, key masked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49808" y="3108960"/>
            <a:ext cx="3145536" cy="1335024"/>
          </a:xfrm>
          <a:prstGeom prst="roundRect">
            <a:avLst>
              <a:gd name="adj" fmla="val 5479"/>
            </a:avLst>
          </a:prstGeom>
          <a:solidFill>
            <a:srgbClr val="17223A"/>
          </a:solidFill>
          <a:ln w="8890">
            <a:solidFill>
              <a:srgbClr val="45D483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" y="3346704"/>
            <a:ext cx="493776" cy="493776"/>
          </a:xfrm>
          <a:prstGeom prst="ellipse">
            <a:avLst/>
          </a:prstGeom>
          <a:solidFill>
            <a:srgbClr val="45D483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3465576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627632" y="336499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F"/>
                </a:solidFill>
              </a:rPr>
              <a:t>Run silent task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1627632" y="3675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C8D1E4"/>
                </a:solidFill>
              </a:rPr>
              <a:t>Headless browser or file workflow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53128" y="3108960"/>
            <a:ext cx="3145536" cy="1335024"/>
          </a:xfrm>
          <a:prstGeom prst="roundRect">
            <a:avLst>
              <a:gd name="adj" fmla="val 5479"/>
            </a:avLst>
          </a:prstGeom>
          <a:solidFill>
            <a:srgbClr val="17223A"/>
          </a:solidFill>
          <a:ln w="8890">
            <a:solidFill>
              <a:srgbClr val="45D483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54296" y="3346704"/>
            <a:ext cx="493776" cy="493776"/>
          </a:xfrm>
          <a:prstGeom prst="ellipse">
            <a:avLst/>
          </a:prstGeom>
          <a:solidFill>
            <a:srgbClr val="45D483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54296" y="3465576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30952" y="336499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F"/>
                </a:solidFill>
              </a:rPr>
              <a:t>Show safety + benchmark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5330952" y="3675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C8D1E4"/>
                </a:solidFill>
              </a:rPr>
              <a:t>credential boundary + latency JSON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156448" y="3108960"/>
            <a:ext cx="3145536" cy="1335024"/>
          </a:xfrm>
          <a:prstGeom prst="roundRect">
            <a:avLst>
              <a:gd name="adj" fmla="val 5479"/>
            </a:avLst>
          </a:prstGeom>
          <a:solidFill>
            <a:srgbClr val="17223A"/>
          </a:solidFill>
          <a:ln w="8890">
            <a:solidFill>
              <a:srgbClr val="45D483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57616" y="3346704"/>
            <a:ext cx="493776" cy="493776"/>
          </a:xfrm>
          <a:prstGeom prst="ellipse">
            <a:avLst/>
          </a:prstGeom>
          <a:solidFill>
            <a:srgbClr val="45D483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57616" y="3465576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034272" y="336499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F"/>
                </a:solidFill>
              </a:rPr>
              <a:t>Close with repo materials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9034272" y="3675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C8D1E4"/>
                </a:solidFill>
              </a:rPr>
              <a:t>README + reproduction commands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58368" y="599846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3A0BA"/>
                </a:solidFill>
              </a:rPr>
              <a:t>Important: the deck is ready now. The video should wait until the product is stable, so the recording shows the repaired path rather than the broken branch.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93A0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already built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3A0BA"/>
                </a:solidFill>
              </a:rPr>
              <a:t>The submission is anchored by source code, documentation, tests, and a reproducible evidence workflow.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7FAFF"/>
                </a:solidFill>
              </a:rPr>
              <a:t>Source code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3154680" y="1261872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8D1E4"/>
                </a:solidFill>
              </a:rPr>
              <a:t>Complete project folder and runtime modules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8595360" y="1216152"/>
            <a:ext cx="1024128" cy="237744"/>
          </a:xfrm>
          <a:prstGeom prst="roundRect">
            <a:avLst>
              <a:gd name="adj" fmla="val 23077"/>
            </a:avLst>
          </a:prstGeom>
          <a:solidFill>
            <a:srgbClr val="45D483">
              <a:alpha val="95000"/>
            </a:srgbClr>
          </a:solidFill>
          <a:ln w="12700">
            <a:solidFill>
              <a:srgbClr val="45D48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77656" y="1266444"/>
            <a:ext cx="8595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Ready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859536" y="1664208"/>
            <a:ext cx="9418320" cy="0"/>
          </a:xfrm>
          <a:prstGeom prst="line">
            <a:avLst/>
          </a:prstGeom>
          <a:noFill/>
          <a:ln w="7620">
            <a:solidFill>
              <a:srgbClr val="2B385A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9339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7FAFF"/>
                </a:solidFill>
              </a:rPr>
              <a:t>README + startup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3154680" y="1975104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8D1E4"/>
                </a:solidFill>
              </a:rPr>
              <a:t>Install, run, provider connection, tests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8595360" y="1929384"/>
            <a:ext cx="1024128" cy="237744"/>
          </a:xfrm>
          <a:prstGeom prst="roundRect">
            <a:avLst>
              <a:gd name="adj" fmla="val 23077"/>
            </a:avLst>
          </a:prstGeom>
          <a:solidFill>
            <a:srgbClr val="45D483">
              <a:alpha val="95000"/>
            </a:srgbClr>
          </a:solidFill>
          <a:ln w="12700">
            <a:solidFill>
              <a:srgbClr val="45D48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77656" y="1979676"/>
            <a:ext cx="8595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Ready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859536" y="2377440"/>
            <a:ext cx="9418320" cy="0"/>
          </a:xfrm>
          <a:prstGeom prst="line">
            <a:avLst/>
          </a:prstGeom>
          <a:noFill/>
          <a:ln w="7620">
            <a:solidFill>
              <a:srgbClr val="2B385A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70662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7FAFF"/>
                </a:solidFill>
              </a:rPr>
              <a:t>Architecture docs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154680" y="2688336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8D1E4"/>
                </a:solidFill>
              </a:rPr>
              <a:t>Project specification, architecture, deployment guide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8595360" y="2642616"/>
            <a:ext cx="1024128" cy="237744"/>
          </a:xfrm>
          <a:prstGeom prst="roundRect">
            <a:avLst>
              <a:gd name="adj" fmla="val 23077"/>
            </a:avLst>
          </a:prstGeom>
          <a:solidFill>
            <a:srgbClr val="45D483">
              <a:alpha val="95000"/>
            </a:srgbClr>
          </a:solidFill>
          <a:ln w="12700">
            <a:solidFill>
              <a:srgbClr val="45D48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77656" y="2692908"/>
            <a:ext cx="8595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Ready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859536" y="3090672"/>
            <a:ext cx="9418320" cy="0"/>
          </a:xfrm>
          <a:prstGeom prst="line">
            <a:avLst/>
          </a:prstGeom>
          <a:noFill/>
          <a:ln w="7620">
            <a:solidFill>
              <a:srgbClr val="2B385A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41985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7FAFF"/>
                </a:solidFill>
              </a:rPr>
              <a:t>AMD provider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154680" y="3401568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8D1E4"/>
                </a:solidFill>
              </a:rPr>
              <a:t>Editable ROCm / Radeon endpoint and diagnostics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8595360" y="3355848"/>
            <a:ext cx="1024128" cy="237744"/>
          </a:xfrm>
          <a:prstGeom prst="roundRect">
            <a:avLst>
              <a:gd name="adj" fmla="val 23077"/>
            </a:avLst>
          </a:prstGeom>
          <a:solidFill>
            <a:srgbClr val="45D483">
              <a:alpha val="95000"/>
            </a:srgbClr>
          </a:solidFill>
          <a:ln w="12700">
            <a:solidFill>
              <a:srgbClr val="45D48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77656" y="3406140"/>
            <a:ext cx="8595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Ready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859536" y="3803904"/>
            <a:ext cx="9418320" cy="0"/>
          </a:xfrm>
          <a:prstGeom prst="line">
            <a:avLst/>
          </a:prstGeom>
          <a:noFill/>
          <a:ln w="7620">
            <a:solidFill>
              <a:srgbClr val="2B385A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133088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7FAFF"/>
                </a:solidFill>
              </a:rPr>
              <a:t>AMD hardware evidence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3154680" y="4114800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8D1E4"/>
                </a:solidFill>
              </a:rPr>
              <a:t>Run on Radeon Cloud after repair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8595360" y="4069080"/>
            <a:ext cx="1024128" cy="237744"/>
          </a:xfrm>
          <a:prstGeom prst="roundRect">
            <a:avLst>
              <a:gd name="adj" fmla="val 23077"/>
            </a:avLst>
          </a:prstGeom>
          <a:solidFill>
            <a:srgbClr val="FFB84D">
              <a:alpha val="95000"/>
            </a:srgbClr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77656" y="4119372"/>
            <a:ext cx="8595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Pending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859536" y="4517136"/>
            <a:ext cx="9418320" cy="0"/>
          </a:xfrm>
          <a:prstGeom prst="line">
            <a:avLst/>
          </a:prstGeom>
          <a:noFill/>
          <a:ln w="7620">
            <a:solidFill>
              <a:srgbClr val="2B385A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846320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7FAFF"/>
                </a:solidFill>
              </a:rPr>
              <a:t>Demo video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3154680" y="4828032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8D1E4"/>
                </a:solidFill>
              </a:rPr>
              <a:t>Record after stable product path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8595360" y="4782312"/>
            <a:ext cx="1024128" cy="237744"/>
          </a:xfrm>
          <a:prstGeom prst="roundRect">
            <a:avLst>
              <a:gd name="adj" fmla="val 23077"/>
            </a:avLst>
          </a:prstGeom>
          <a:solidFill>
            <a:srgbClr val="FFB84D">
              <a:alpha val="95000"/>
            </a:srgbClr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77656" y="4832604"/>
            <a:ext cx="8595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Pending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859536" y="5230368"/>
            <a:ext cx="9418320" cy="0"/>
          </a:xfrm>
          <a:prstGeom prst="line">
            <a:avLst/>
          </a:prstGeom>
          <a:noFill/>
          <a:ln w="7620">
            <a:solidFill>
              <a:srgbClr val="2B385A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95560" y="1243584"/>
            <a:ext cx="1115568" cy="3520440"/>
          </a:xfrm>
          <a:prstGeom prst="roundRect">
            <a:avLst>
              <a:gd name="adj" fmla="val 6557"/>
            </a:avLst>
          </a:prstGeom>
          <a:solidFill>
            <a:srgbClr val="1B1020"/>
          </a:solidFill>
          <a:ln w="8890">
            <a:solidFill>
              <a:srgbClr val="ED1C24">
                <a:alpha val="8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05288" y="150876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Focus now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396728" y="2011680"/>
            <a:ext cx="7132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A3D"/>
                </a:solidFill>
              </a:rPr>
              <a:t>rollback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8A3D"/>
                </a:solidFill>
              </a:rPr>
              <a:t>stabilize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8A3D"/>
                </a:solidFill>
              </a:rPr>
              <a:t>record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58368" y="5998464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3A0BA"/>
                </a:solidFill>
              </a:rPr>
              <a:t>Do not expand scope in the final hour: stabilize one demonstrable path and keep the PR materials internally consistent.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93A0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after MVP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3A0BA"/>
                </a:solidFill>
              </a:rPr>
              <a:t>A credible path from hackathon prototype to a real private automation product.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0" y="2295144"/>
            <a:ext cx="429768" cy="0"/>
          </a:xfrm>
          <a:prstGeom prst="line">
            <a:avLst/>
          </a:prstGeom>
          <a:noFill/>
          <a:ln w="13970">
            <a:solidFill>
              <a:srgbClr val="2B385A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68680" y="1993392"/>
            <a:ext cx="2011680" cy="621792"/>
          </a:xfrm>
          <a:prstGeom prst="roundRect">
            <a:avLst>
              <a:gd name="adj" fmla="val 11765"/>
            </a:avLst>
          </a:prstGeom>
          <a:solidFill>
            <a:srgbClr val="17223A"/>
          </a:solidFill>
          <a:ln w="13970">
            <a:solidFill>
              <a:srgbClr val="45D483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12140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MVP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1920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C8D1E4"/>
                </a:solidFill>
              </a:rPr>
              <a:t>Natural-language goals, browser/file/UIA tools, AMD provider, evidence loop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5989320" y="2295144"/>
            <a:ext cx="429768" cy="0"/>
          </a:xfrm>
          <a:prstGeom prst="line">
            <a:avLst/>
          </a:prstGeom>
          <a:noFill/>
          <a:ln w="13970">
            <a:solidFill>
              <a:srgbClr val="2B385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57600" y="1993392"/>
            <a:ext cx="2011680" cy="621792"/>
          </a:xfrm>
          <a:prstGeom prst="roundRect">
            <a:avLst>
              <a:gd name="adj" fmla="val 11765"/>
            </a:avLst>
          </a:prstGeom>
          <a:solidFill>
            <a:srgbClr val="17223A"/>
          </a:solidFill>
          <a:ln w="13970">
            <a:solidFill>
              <a:srgbClr val="5DA9FF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212140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Runtime hardening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703320" y="2926080"/>
            <a:ext cx="1920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C8D1E4"/>
                </a:solidFill>
              </a:rPr>
              <a:t>More tool receipts, replay logs, task lock visibility, failure recovery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8778240" y="2295144"/>
            <a:ext cx="429768" cy="0"/>
          </a:xfrm>
          <a:prstGeom prst="line">
            <a:avLst/>
          </a:prstGeom>
          <a:noFill/>
          <a:ln w="13970">
            <a:solidFill>
              <a:srgbClr val="2B385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46520" y="1993392"/>
            <a:ext cx="2011680" cy="621792"/>
          </a:xfrm>
          <a:prstGeom prst="roundRect">
            <a:avLst>
              <a:gd name="adj" fmla="val 11765"/>
            </a:avLst>
          </a:prstGeom>
          <a:solidFill>
            <a:srgbClr val="17223A"/>
          </a:solidFill>
          <a:ln w="13970">
            <a:solidFill>
              <a:srgbClr val="FF8A3D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212140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Enterprise control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492240" y="2926080"/>
            <a:ext cx="1920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C8D1E4"/>
                </a:solidFill>
              </a:rPr>
              <a:t>Policy engine, team credential vault, audit export, per-app permissions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9235440" y="1993392"/>
            <a:ext cx="2011680" cy="621792"/>
          </a:xfrm>
          <a:prstGeom prst="roundRect">
            <a:avLst>
              <a:gd name="adj" fmla="val 11765"/>
            </a:avLst>
          </a:prstGeom>
          <a:solidFill>
            <a:srgbClr val="17223A"/>
          </a:solidFill>
          <a:ln w="13970">
            <a:solidFill>
              <a:srgbClr val="9B7CFF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45168" y="212140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7FAFF"/>
                </a:solidFill>
              </a:rPr>
              <a:t>Skill marketplace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9281160" y="2926080"/>
            <a:ext cx="1920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C8D1E4"/>
                </a:solidFill>
              </a:rPr>
              <a:t>Reusable verified workflows for office, finance, research and operations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868680" y="4434840"/>
            <a:ext cx="10287000" cy="658368"/>
          </a:xfrm>
          <a:prstGeom prst="roundRect">
            <a:avLst>
              <a:gd name="adj" fmla="val 11111"/>
            </a:avLst>
          </a:prstGeom>
          <a:solidFill>
            <a:srgbClr val="17223A"/>
          </a:solidFill>
          <a:ln w="8890">
            <a:solidFill>
              <a:srgbClr val="2B385A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4645152"/>
            <a:ext cx="9829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Strategic position: AutoFlow is a local-first “AI operations layer” for private desktop work — not a generic chatbot and not a brittle macro recorder.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93A0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message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3A0BA"/>
                </a:solidFill>
              </a:rPr>
              <a:t>AutoFlow turns private inference into safe, useful computer work.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05840" y="1261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D1C24"/>
                </a:solidFill>
              </a:rPr>
              <a:t>Private model inference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33088" y="1261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3A0BA"/>
                </a:solidFill>
              </a:rPr>
              <a:t>+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0" y="1261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8A3D"/>
                </a:solidFill>
              </a:rPr>
              <a:t>Local tool execution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99248" y="12618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3A0BA"/>
                </a:solidFill>
              </a:rPr>
              <a:t>+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83880" y="1261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5D483"/>
                </a:solidFill>
              </a:rPr>
              <a:t>Evidence-backed results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143000" y="2176272"/>
            <a:ext cx="9829800" cy="2011680"/>
          </a:xfrm>
          <a:prstGeom prst="roundRect">
            <a:avLst>
              <a:gd name="adj" fmla="val 3636"/>
            </a:avLst>
          </a:prstGeom>
          <a:solidFill>
            <a:srgbClr val="111A2E"/>
          </a:solidFill>
          <a:ln w="8890">
            <a:solidFill>
              <a:srgbClr val="3A486A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19072" y="2816352"/>
            <a:ext cx="8732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AFF"/>
                </a:solidFill>
              </a:rPr>
              <a:t>That is the missing layer between powerful local AI and the real computer tasks people actually need done.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880360" y="4645152"/>
            <a:ext cx="6446520" cy="237744"/>
          </a:xfrm>
          <a:prstGeom prst="roundRect">
            <a:avLst>
              <a:gd name="adj" fmla="val 23077"/>
            </a:avLst>
          </a:prstGeom>
          <a:solidFill>
            <a:srgbClr val="ED1C24">
              <a:alpha val="95000"/>
            </a:srgbClr>
          </a:solidFill>
          <a:ln w="12700">
            <a:solidFill>
              <a:srgbClr val="ED1C2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2656" y="4695444"/>
            <a:ext cx="6281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Next: stabilize the product path → capture AMD proof → record demo video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93A0B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AutoFlow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AutoFlow — AMD Radeon Private AI Desktop Agent</dc:title>
  <dc:subject>AutoFlow AMD Track 2 architecture presentation</dc:subject>
  <dc:creator>OpenAI</dc:creator>
  <cp:lastModifiedBy>OpenAI</cp:lastModifiedBy>
  <cp:revision>1</cp:revision>
  <dcterms:created xsi:type="dcterms:W3CDTF">2026-08-06T15:05:02Z</dcterms:created>
  <dcterms:modified xsi:type="dcterms:W3CDTF">2026-08-06T15:05:02Z</dcterms:modified>
</cp:coreProperties>
</file>