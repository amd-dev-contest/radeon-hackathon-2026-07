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67ca04182_4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67ca04182_4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67ca04182_6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67ca04182_6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67ca04182_4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f67ca04182_4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67ca04182_4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67ca04182_4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67ca04182_4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67ca04182_4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67ca04182_4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f67ca04182_4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67ca04182_4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67ca04182_4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67ca04182_4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67ca04182_4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67ca04182_4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67ca04182_4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67ca04182_4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f67ca04182_4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pmc.ncbi.nlm.nih.gov/articles/PMC11910488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pmc.ncbi.nlm.nih.gov/articles/PMC11910488/" TargetMode="External"/><Relationship Id="rId4" Type="http://schemas.openxmlformats.org/officeDocument/2006/relationships/image" Target="../media/image14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rcr.ac.uk/media/5befglss/rcr-census-clinical-radiology-workforce-census-2023.pdf" TargetMode="External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jacr.org/article/S1546-1440(24)00909-8/fulltext" TargetMode="External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sciencedirect.com/science/article/pii/S1078817425001452" TargetMode="External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hyperlink" Target="https://www.koreatimes.co.kr/southkorea/society/20241224/korea-becomes-super-aged-society" TargetMode="External"/><Relationship Id="rId5" Type="http://schemas.openxmlformats.org/officeDocument/2006/relationships/hyperlink" Target="https://www.nomura.co.jp/fin-wing/column/aging-society_en/" TargetMode="External"/><Relationship Id="rId6" Type="http://schemas.openxmlformats.org/officeDocument/2006/relationships/image" Target="../media/image2.png"/><Relationship Id="rId7" Type="http://schemas.openxmlformats.org/officeDocument/2006/relationships/image" Target="../media/image7.png"/><Relationship Id="rId8" Type="http://schemas.openxmlformats.org/officeDocument/2006/relationships/hyperlink" Target="https://www.bangkokpost.com/business/general/667928/super-aged-society-a-broadly-neglected-national-agenda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pmc.ncbi.nlm.nih.gov/articles/PMC10700991/" TargetMode="External"/><Relationship Id="rId4" Type="http://schemas.openxmlformats.org/officeDocument/2006/relationships/image" Target="../media/image15.png"/><Relationship Id="rId5" Type="http://schemas.openxmlformats.org/officeDocument/2006/relationships/image" Target="../media/image8.png"/><Relationship Id="rId6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pmc.ncbi.nlm.nih.gov/articles/PMC4803980/" TargetMode="External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pmc.ncbi.nlm.nih.gov/articles/PMC4803980/" TargetMode="External"/><Relationship Id="rId4" Type="http://schemas.openxmlformats.org/officeDocument/2006/relationships/image" Target="../media/image10.png"/><Relationship Id="rId5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7000">
                <a:solidFill>
                  <a:schemeClr val="accent1"/>
                </a:solidFill>
              </a:rPr>
              <a:t>RibEye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2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de" sz="2250">
                <a:solidFill>
                  <a:schemeClr val="dk1"/>
                </a:solidFill>
              </a:rPr>
              <a:t>AMD AI DevMaster Hackathon</a:t>
            </a:r>
            <a:br>
              <a:rPr lang="de" sz="2250">
                <a:solidFill>
                  <a:schemeClr val="dk1"/>
                </a:solidFill>
              </a:rPr>
            </a:br>
            <a:r>
              <a:rPr lang="de" sz="2250">
                <a:solidFill>
                  <a:schemeClr val="dk1"/>
                </a:solidFill>
              </a:rPr>
              <a:t>Track 1: Multimodal AI</a:t>
            </a:r>
            <a:br>
              <a:rPr lang="de" sz="2250">
                <a:solidFill>
                  <a:schemeClr val="dk1"/>
                </a:solidFill>
              </a:rPr>
            </a:br>
            <a:r>
              <a:rPr lang="de" sz="2250">
                <a:solidFill>
                  <a:schemeClr val="dk1"/>
                </a:solidFill>
              </a:rPr>
              <a:t>Neural Ninjas</a:t>
            </a:r>
            <a:endParaRPr sz="2250">
              <a:solidFill>
                <a:schemeClr val="dk1"/>
              </a:solidFill>
            </a:endParaRPr>
          </a:p>
          <a:p>
            <a:pPr indent="0" lvl="0" marL="2743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de"/>
              <a:t>	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7000" y="75450"/>
            <a:ext cx="2631174" cy="2631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Europe: Radiologist Shortage </a:t>
            </a:r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460200" y="2272800"/>
            <a:ext cx="8223600" cy="21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2200">
                <a:solidFill>
                  <a:schemeClr val="dk2"/>
                </a:solidFill>
              </a:rPr>
              <a:t>In 17 countries in Europe </a:t>
            </a:r>
            <a:endParaRPr sz="22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200">
                <a:solidFill>
                  <a:schemeClr val="dk2"/>
                </a:solidFill>
              </a:rPr>
              <a:t>19%</a:t>
            </a:r>
            <a:r>
              <a:rPr lang="de" sz="2200">
                <a:solidFill>
                  <a:schemeClr val="dk2"/>
                </a:solidFill>
              </a:rPr>
              <a:t> of the radiologists will </a:t>
            </a:r>
            <a:r>
              <a:rPr b="1" lang="de" sz="2200">
                <a:solidFill>
                  <a:schemeClr val="dk2"/>
                </a:solidFill>
              </a:rPr>
              <a:t>retire in next 5 years</a:t>
            </a:r>
            <a:r>
              <a:rPr lang="de" sz="2200">
                <a:solidFill>
                  <a:schemeClr val="dk2"/>
                </a:solidFill>
              </a:rPr>
              <a:t> and </a:t>
            </a:r>
            <a:endParaRPr sz="22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" sz="2200">
                <a:solidFill>
                  <a:schemeClr val="dk2"/>
                </a:solidFill>
              </a:rPr>
              <a:t>45% are over 51 years</a:t>
            </a:r>
            <a:endParaRPr b="1" sz="2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5401800" y="4804800"/>
            <a:ext cx="374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000">
                <a:solidFill>
                  <a:schemeClr val="dk2"/>
                </a:solidFill>
              </a:rPr>
              <a:t>EU-REST- </a:t>
            </a:r>
            <a:r>
              <a:rPr lang="de" sz="10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https://pmc.ncbi.nlm.nih.gov/articles/PMC11910488/</a:t>
            </a:r>
            <a:endParaRPr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Europe: Radiologist Shortage </a:t>
            </a:r>
            <a:endParaRPr/>
          </a:p>
        </p:txBody>
      </p:sp>
      <p:sp>
        <p:nvSpPr>
          <p:cNvPr id="69" name="Google Shape;69;p15"/>
          <p:cNvSpPr txBox="1"/>
          <p:nvPr/>
        </p:nvSpPr>
        <p:spPr>
          <a:xfrm>
            <a:off x="5298600" y="4804800"/>
            <a:ext cx="384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000">
                <a:solidFill>
                  <a:schemeClr val="dk2"/>
                </a:solidFill>
              </a:rPr>
              <a:t>EU-REST- </a:t>
            </a:r>
            <a:r>
              <a:rPr lang="de" sz="10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https://pmc.ncbi.nlm.nih.gov/articles/PMC11910488/</a:t>
            </a:r>
            <a:endParaRPr sz="1000"/>
          </a:p>
        </p:txBody>
      </p:sp>
      <p:sp>
        <p:nvSpPr>
          <p:cNvPr id="70" name="Google Shape;70;p15"/>
          <p:cNvSpPr txBox="1"/>
          <p:nvPr/>
        </p:nvSpPr>
        <p:spPr>
          <a:xfrm>
            <a:off x="3152025" y="2398325"/>
            <a:ext cx="35103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6000">
                <a:solidFill>
                  <a:schemeClr val="dk2"/>
                </a:solidFill>
              </a:rPr>
              <a:t>19%</a:t>
            </a:r>
            <a:r>
              <a:rPr lang="de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2200">
                <a:solidFill>
                  <a:schemeClr val="dk2"/>
                </a:solidFill>
              </a:rPr>
              <a:t>of the radiologists</a:t>
            </a:r>
            <a:r>
              <a:rPr lang="de" sz="1800">
                <a:solidFill>
                  <a:schemeClr val="dk2"/>
                </a:solidFill>
              </a:rPr>
              <a:t> </a:t>
            </a:r>
            <a:r>
              <a:rPr lang="de" sz="2200">
                <a:solidFill>
                  <a:schemeClr val="dk2"/>
                </a:solidFill>
              </a:rPr>
              <a:t>will </a:t>
            </a:r>
            <a:r>
              <a:rPr b="1" lang="de" sz="2200">
                <a:solidFill>
                  <a:schemeClr val="dk2"/>
                </a:solidFill>
              </a:rPr>
              <a:t>retire in next 5 years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311700" y="2398325"/>
            <a:ext cx="35103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6000">
                <a:solidFill>
                  <a:schemeClr val="dk2"/>
                </a:solidFill>
              </a:rPr>
              <a:t>17</a:t>
            </a:r>
            <a:endParaRPr b="1" sz="6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2200">
                <a:solidFill>
                  <a:schemeClr val="dk2"/>
                </a:solidFill>
              </a:rPr>
              <a:t>countries in Europe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6475425" y="2398325"/>
            <a:ext cx="31440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6000">
                <a:solidFill>
                  <a:schemeClr val="dk2"/>
                </a:solidFill>
              </a:rPr>
              <a:t>45</a:t>
            </a:r>
            <a:r>
              <a:rPr b="1" lang="de" sz="4000">
                <a:solidFill>
                  <a:schemeClr val="dk2"/>
                </a:solidFill>
              </a:rPr>
              <a:t>%</a:t>
            </a:r>
            <a:endParaRPr b="1" sz="4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200">
                <a:solidFill>
                  <a:schemeClr val="dk2"/>
                </a:solidFill>
              </a:rPr>
              <a:t>are already over </a:t>
            </a:r>
            <a:endParaRPr b="1" sz="2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" sz="2200">
                <a:solidFill>
                  <a:schemeClr val="dk2"/>
                </a:solidFill>
              </a:rPr>
              <a:t>the age of 51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6525" y="1230450"/>
            <a:ext cx="1250749" cy="1250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2350" y="1111588"/>
            <a:ext cx="1488475" cy="148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29875" y="1230450"/>
            <a:ext cx="1250749" cy="125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GB: Radiologist Shortage </a:t>
            </a:r>
            <a:endParaRPr/>
          </a:p>
        </p:txBody>
      </p:sp>
      <p:sp>
        <p:nvSpPr>
          <p:cNvPr id="81" name="Google Shape;81;p16"/>
          <p:cNvSpPr txBox="1"/>
          <p:nvPr/>
        </p:nvSpPr>
        <p:spPr>
          <a:xfrm>
            <a:off x="483600" y="4804800"/>
            <a:ext cx="866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000"/>
              <a:t>The Royal College of Radiologists Clinical Radiology -  </a:t>
            </a:r>
            <a:r>
              <a:rPr lang="de" sz="10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https://www.rcr.ac.uk/media/5befglss/rcr-census-clinical-radiology-workforce-census-2023.pdf</a:t>
            </a:r>
            <a:endParaRPr sz="1000"/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8650" y="1308750"/>
            <a:ext cx="5306700" cy="3135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USA: Radiologist Shortage </a:t>
            </a:r>
            <a:endParaRPr/>
          </a:p>
        </p:txBody>
      </p:sp>
      <p:sp>
        <p:nvSpPr>
          <p:cNvPr id="88" name="Google Shape;88;p17"/>
          <p:cNvSpPr txBox="1"/>
          <p:nvPr/>
        </p:nvSpPr>
        <p:spPr>
          <a:xfrm>
            <a:off x="4572000" y="2207450"/>
            <a:ext cx="4111800" cy="22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2200">
                <a:solidFill>
                  <a:schemeClr val="dk2"/>
                </a:solidFill>
              </a:rPr>
              <a:t>Relative </a:t>
            </a:r>
            <a:r>
              <a:rPr b="1" lang="de" sz="2600">
                <a:solidFill>
                  <a:schemeClr val="dk2"/>
                </a:solidFill>
              </a:rPr>
              <a:t>imbalance </a:t>
            </a:r>
            <a:r>
              <a:rPr lang="de" sz="2200">
                <a:solidFill>
                  <a:schemeClr val="dk2"/>
                </a:solidFill>
              </a:rPr>
              <a:t>between radiology </a:t>
            </a:r>
            <a:r>
              <a:rPr b="1" lang="de" sz="2200">
                <a:solidFill>
                  <a:schemeClr val="dk2"/>
                </a:solidFill>
              </a:rPr>
              <a:t>supply and demand</a:t>
            </a:r>
            <a:r>
              <a:rPr lang="de" sz="2200">
                <a:solidFill>
                  <a:schemeClr val="dk2"/>
                </a:solidFill>
              </a:rPr>
              <a:t> will persist without residency growth</a:t>
            </a:r>
            <a:endParaRPr sz="22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575675" y="4804800"/>
            <a:ext cx="856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000">
                <a:solidFill>
                  <a:schemeClr val="dk1"/>
                </a:solidFill>
              </a:rPr>
              <a:t>Projected US Radiologist Supply, 2025 to 2055, Journal of American College of Radiology </a:t>
            </a:r>
            <a:r>
              <a:rPr lang="de" sz="10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https://www.jacr.org/article/S1546-1440(24)00909-8/fulltext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0225" y="1285900"/>
            <a:ext cx="3077626" cy="3077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Africa: </a:t>
            </a:r>
            <a:r>
              <a:rPr lang="de"/>
              <a:t>Radiologist </a:t>
            </a:r>
            <a:r>
              <a:rPr lang="de"/>
              <a:t>Shortage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497175" y="1994150"/>
            <a:ext cx="4177800" cy="21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rPr lang="de" sz="2240"/>
              <a:t>Radiography professionals </a:t>
            </a:r>
            <a:r>
              <a:rPr b="1" lang="de" sz="2240"/>
              <a:t>migrate to high-income countries</a:t>
            </a:r>
            <a:r>
              <a:rPr lang="de" sz="2240"/>
              <a:t> with better-resourced health systems</a:t>
            </a:r>
            <a:endParaRPr sz="2240"/>
          </a:p>
        </p:txBody>
      </p:sp>
      <p:sp>
        <p:nvSpPr>
          <p:cNvPr id="97" name="Google Shape;97;p18"/>
          <p:cNvSpPr txBox="1"/>
          <p:nvPr/>
        </p:nvSpPr>
        <p:spPr>
          <a:xfrm>
            <a:off x="543050" y="4627800"/>
            <a:ext cx="86010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de" sz="1000">
                <a:solidFill>
                  <a:schemeClr val="dk1"/>
                </a:solidFill>
              </a:rPr>
              <a:t>Challenges and strategies for retaining Africa’s radiography workforce in the continent amidst a competitive global market: Insights from 17 countries</a:t>
            </a:r>
            <a:r>
              <a:rPr lang="de" sz="1000">
                <a:solidFill>
                  <a:schemeClr val="dk2"/>
                </a:solidFill>
              </a:rPr>
              <a:t> </a:t>
            </a:r>
            <a:r>
              <a:rPr lang="de" sz="10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https://www.sciencedirect.com/science/article/pii/S1078817425001452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4575" y="2122375"/>
            <a:ext cx="1613325" cy="161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Super Aged Societies</a:t>
            </a:r>
            <a:r>
              <a:rPr lang="de"/>
              <a:t>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 Global Phenomenon</a:t>
            </a:r>
            <a:endParaRPr/>
          </a:p>
        </p:txBody>
      </p:sp>
      <p:pic>
        <p:nvPicPr>
          <p:cNvPr id="104" name="Google Shape;104;p19"/>
          <p:cNvPicPr preferRelativeResize="0"/>
          <p:nvPr/>
        </p:nvPicPr>
        <p:blipFill rotWithShape="1">
          <a:blip r:embed="rId3">
            <a:alphaModFix/>
          </a:blip>
          <a:srcRect b="5132" l="0" r="0" t="0"/>
          <a:stretch/>
        </p:blipFill>
        <p:spPr>
          <a:xfrm>
            <a:off x="5561400" y="24675"/>
            <a:ext cx="3449800" cy="377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9"/>
          <p:cNvSpPr txBox="1"/>
          <p:nvPr/>
        </p:nvSpPr>
        <p:spPr>
          <a:xfrm>
            <a:off x="2714700" y="4804800"/>
            <a:ext cx="6429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000"/>
              <a:t>Korean Times - </a:t>
            </a:r>
            <a:r>
              <a:rPr lang="de" sz="1000" u="sng">
                <a:solidFill>
                  <a:schemeClr val="hlink"/>
                </a:solidFill>
                <a:hlinkClick r:id="rId4"/>
              </a:rPr>
              <a:t>https://www.koreatimes.co.kr/southkorea/society/20241224/korea-becomes-super-aged-society</a:t>
            </a:r>
            <a:r>
              <a:rPr lang="de" sz="1000"/>
              <a:t> </a:t>
            </a:r>
            <a:endParaRPr sz="1000"/>
          </a:p>
        </p:txBody>
      </p:sp>
      <p:sp>
        <p:nvSpPr>
          <p:cNvPr id="106" name="Google Shape;106;p19"/>
          <p:cNvSpPr txBox="1"/>
          <p:nvPr/>
        </p:nvSpPr>
        <p:spPr>
          <a:xfrm>
            <a:off x="2714700" y="4630775"/>
            <a:ext cx="693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000"/>
              <a:t>Nomura Holdings - </a:t>
            </a:r>
            <a:r>
              <a:rPr lang="de" sz="1000" u="sng">
                <a:solidFill>
                  <a:schemeClr val="hlink"/>
                </a:solidFill>
                <a:hlinkClick r:id="rId5"/>
              </a:rPr>
              <a:t>https://www.nomura.co.jp/fin-wing/column/aging-society_en/</a:t>
            </a:r>
            <a:endParaRPr sz="1000"/>
          </a:p>
        </p:txBody>
      </p:sp>
      <p:pic>
        <p:nvPicPr>
          <p:cNvPr id="107" name="Google Shape;107;p19"/>
          <p:cNvPicPr preferRelativeResize="0"/>
          <p:nvPr/>
        </p:nvPicPr>
        <p:blipFill rotWithShape="1">
          <a:blip r:embed="rId6">
            <a:alphaModFix/>
          </a:blip>
          <a:srcRect b="3820" l="2835" r="2333" t="3690"/>
          <a:stretch/>
        </p:blipFill>
        <p:spPr>
          <a:xfrm>
            <a:off x="604000" y="1305500"/>
            <a:ext cx="3942952" cy="27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26601" y="813349"/>
            <a:ext cx="813845" cy="150392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 txBox="1"/>
          <p:nvPr/>
        </p:nvSpPr>
        <p:spPr>
          <a:xfrm>
            <a:off x="2714700" y="4466100"/>
            <a:ext cx="900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000">
                <a:solidFill>
                  <a:schemeClr val="dk1"/>
                </a:solidFill>
              </a:rPr>
              <a:t>Bangkok Post - </a:t>
            </a:r>
            <a:r>
              <a:rPr lang="de" sz="1000" u="sng">
                <a:solidFill>
                  <a:schemeClr val="accent5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https://www.bangkokpost.com/business/general/667928/super-aged-society-a-broadly-neglected-national-agenda</a:t>
            </a:r>
            <a:r>
              <a:rPr lang="de" sz="10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630975" y="3928129"/>
            <a:ext cx="512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de"/>
              <a:t>Average </a:t>
            </a:r>
            <a:r>
              <a:rPr b="1" lang="de" sz="2492"/>
              <a:t>20%</a:t>
            </a:r>
            <a:r>
              <a:rPr lang="de"/>
              <a:t> of population older than 65 years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Radiologists Training &amp; Task</a:t>
            </a:r>
            <a:endParaRPr/>
          </a:p>
        </p:txBody>
      </p:sp>
      <p:sp>
        <p:nvSpPr>
          <p:cNvPr id="116" name="Google Shape;116;p20"/>
          <p:cNvSpPr txBox="1"/>
          <p:nvPr/>
        </p:nvSpPr>
        <p:spPr>
          <a:xfrm>
            <a:off x="1535400" y="4804800"/>
            <a:ext cx="760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de" sz="1000">
                <a:solidFill>
                  <a:schemeClr val="dk1"/>
                </a:solidFill>
              </a:rPr>
              <a:t>The Growing Problem of Radiologist Shortages: Perspectives From Singapore </a:t>
            </a:r>
            <a:r>
              <a:rPr lang="de" sz="10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https://pmc.ncbi.nlm.nih.gov/articles/PMC10700991/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5850" y="1685650"/>
            <a:ext cx="1450476" cy="145047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0"/>
          <p:cNvSpPr txBox="1"/>
          <p:nvPr/>
        </p:nvSpPr>
        <p:spPr>
          <a:xfrm>
            <a:off x="817325" y="3373775"/>
            <a:ext cx="196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de" sz="1800">
                <a:solidFill>
                  <a:schemeClr val="dk2"/>
                </a:solidFill>
              </a:rPr>
              <a:t>Time-consuming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3169700" y="3373775"/>
            <a:ext cx="232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de" sz="1800">
                <a:solidFill>
                  <a:schemeClr val="dk2"/>
                </a:solidFill>
              </a:rPr>
              <a:t>limited residencies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0" name="Google Shape;120;p20"/>
          <p:cNvSpPr txBox="1"/>
          <p:nvPr/>
        </p:nvSpPr>
        <p:spPr>
          <a:xfrm>
            <a:off x="5577975" y="3373775"/>
            <a:ext cx="35103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de" sz="1800">
                <a:solidFill>
                  <a:schemeClr val="dk2"/>
                </a:solidFill>
              </a:rPr>
              <a:t>limited by number of qualified radiologists available to conduct training and examination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21" name="Google Shape;12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48826" y="1526588"/>
            <a:ext cx="1768600" cy="176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53176" y="1385275"/>
            <a:ext cx="2051250" cy="205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Scenario: Emergency Room</a:t>
            </a:r>
            <a:endParaRPr/>
          </a:p>
        </p:txBody>
      </p:sp>
      <p:sp>
        <p:nvSpPr>
          <p:cNvPr id="128" name="Google Shape;128;p21"/>
          <p:cNvSpPr txBox="1"/>
          <p:nvPr>
            <p:ph idx="1" type="body"/>
          </p:nvPr>
        </p:nvSpPr>
        <p:spPr>
          <a:xfrm>
            <a:off x="4303200" y="1750250"/>
            <a:ext cx="3910800" cy="207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de" sz="2200"/>
              <a:t>A</a:t>
            </a:r>
            <a:r>
              <a:rPr b="1" lang="de" sz="2200"/>
              <a:t>verage total waiting time</a:t>
            </a:r>
            <a:r>
              <a:rPr lang="de" sz="2200"/>
              <a:t> in the emergency department is estima</a:t>
            </a:r>
            <a:r>
              <a:rPr lang="de" sz="2200"/>
              <a:t>t</a:t>
            </a:r>
            <a:r>
              <a:rPr lang="de" sz="2200"/>
              <a:t>ed </a:t>
            </a:r>
            <a:br>
              <a:rPr lang="de" sz="2200"/>
            </a:br>
            <a:endParaRPr sz="2200"/>
          </a:p>
        </p:txBody>
      </p:sp>
      <p:sp>
        <p:nvSpPr>
          <p:cNvPr id="129" name="Google Shape;129;p21"/>
          <p:cNvSpPr txBox="1"/>
          <p:nvPr/>
        </p:nvSpPr>
        <p:spPr>
          <a:xfrm>
            <a:off x="2510800" y="4627800"/>
            <a:ext cx="91440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de" sz="1000">
                <a:solidFill>
                  <a:schemeClr val="dk1"/>
                </a:solidFill>
              </a:rPr>
              <a:t>Measuring and Analyzing Waiting Time Indicators of Patients’ Admitted in Emergency Department: A Case Study - </a:t>
            </a:r>
            <a:r>
              <a:rPr lang="de" sz="1000" u="sng">
                <a:solidFill>
                  <a:schemeClr val="hlink"/>
                </a:solidFill>
                <a:hlinkClick r:id="rId3"/>
              </a:rPr>
              <a:t>https://pmc.ncbi.nlm.nih.gov/articles/PMC4803980/</a:t>
            </a:r>
            <a:r>
              <a:rPr lang="de" sz="1000"/>
              <a:t> </a:t>
            </a:r>
            <a:endParaRPr sz="1000"/>
          </a:p>
        </p:txBody>
      </p:sp>
      <p:pic>
        <p:nvPicPr>
          <p:cNvPr id="130" name="Google Shape;13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0125" y="1370500"/>
            <a:ext cx="2615800" cy="261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1"/>
          <p:cNvSpPr txBox="1"/>
          <p:nvPr/>
        </p:nvSpPr>
        <p:spPr>
          <a:xfrm>
            <a:off x="5997425" y="2346275"/>
            <a:ext cx="3510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" sz="7000">
                <a:solidFill>
                  <a:schemeClr val="dk2"/>
                </a:solidFill>
              </a:rPr>
              <a:t>210 </a:t>
            </a:r>
            <a:r>
              <a:rPr b="1" lang="de" sz="2200">
                <a:solidFill>
                  <a:schemeClr val="dk2"/>
                </a:solidFill>
              </a:rPr>
              <a:t>mins</a:t>
            </a:r>
            <a:endParaRPr b="1" sz="2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Scenario: Emergency Room</a:t>
            </a:r>
            <a:endParaRPr/>
          </a:p>
        </p:txBody>
      </p:sp>
      <p:sp>
        <p:nvSpPr>
          <p:cNvPr id="137" name="Google Shape;13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Several patients with different issues are admitted to the ER</a:t>
            </a:r>
            <a:endParaRPr/>
          </a:p>
          <a:p>
            <a:pPr indent="-317500" lvl="1" marL="914400" rtl="0" algn="l">
              <a:spcBef>
                <a:spcPts val="1200"/>
              </a:spcBef>
              <a:spcAft>
                <a:spcPts val="0"/>
              </a:spcAft>
              <a:buSzPts val="1400"/>
              <a:buChar char="○"/>
            </a:pPr>
            <a:r>
              <a:rPr lang="de"/>
              <a:t>People with fall injuries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"/>
              <a:t>People with wounds near the chest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"/>
              <a:t>People with respiratory issues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2743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All waiting to be seen by a </a:t>
            </a:r>
            <a:r>
              <a:rPr b="1" lang="de"/>
              <a:t>radiologist</a:t>
            </a:r>
            <a:r>
              <a:rPr lang="de"/>
              <a:t> first before being admitted to further, specialized treatment.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2"/>
          <p:cNvSpPr txBox="1"/>
          <p:nvPr/>
        </p:nvSpPr>
        <p:spPr>
          <a:xfrm>
            <a:off x="2554150" y="4627800"/>
            <a:ext cx="83511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de" sz="1000">
                <a:solidFill>
                  <a:schemeClr val="dk1"/>
                </a:solidFill>
              </a:rPr>
              <a:t>Measuring and Analyzing Waiting Time Indicators of Patients’ Admitted in Emergency Department: A Case Study - </a:t>
            </a:r>
            <a:r>
              <a:rPr lang="de" sz="1000" u="sng">
                <a:solidFill>
                  <a:schemeClr val="hlink"/>
                </a:solidFill>
                <a:hlinkClick r:id="rId3"/>
              </a:rPr>
              <a:t>https://pmc.ncbi.nlm.nih.gov/articles/PMC4803980/</a:t>
            </a:r>
            <a:r>
              <a:rPr lang="de" sz="1000"/>
              <a:t> </a:t>
            </a:r>
            <a:endParaRPr sz="1000"/>
          </a:p>
        </p:txBody>
      </p:sp>
      <p:pic>
        <p:nvPicPr>
          <p:cNvPr id="139" name="Google Shape;13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4700" y="1285225"/>
            <a:ext cx="1121325" cy="112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89700" y="2910625"/>
            <a:ext cx="998775" cy="99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Scenario: Emergency Room with </a:t>
            </a:r>
            <a:endParaRPr b="1"/>
          </a:p>
        </p:txBody>
      </p:sp>
      <p:sp>
        <p:nvSpPr>
          <p:cNvPr id="146" name="Google Shape;14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Ad hoc</a:t>
            </a:r>
            <a:r>
              <a:rPr lang="de"/>
              <a:t> secondary diagnosis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/>
              <a:t>Helps </a:t>
            </a:r>
            <a:r>
              <a:rPr lang="de"/>
              <a:t>personnel prioritize patients</a:t>
            </a:r>
            <a:endParaRPr/>
          </a:p>
          <a:p>
            <a:pPr indent="-317500" lvl="1" marL="914400" rtl="0" algn="l">
              <a:spcBef>
                <a:spcPts val="1200"/>
              </a:spcBef>
              <a:spcAft>
                <a:spcPts val="0"/>
              </a:spcAft>
              <a:buSzPts val="1400"/>
              <a:buChar char="○"/>
            </a:pPr>
            <a:r>
              <a:rPr lang="de"/>
              <a:t>based on severity levels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Patients get </a:t>
            </a:r>
            <a:r>
              <a:rPr b="1" lang="de"/>
              <a:t>faster treatment</a:t>
            </a:r>
            <a:r>
              <a:rPr lang="de"/>
              <a:t> if urgent </a:t>
            </a:r>
            <a:endParaRPr/>
          </a:p>
          <a:p>
            <a:pPr indent="-317500" lvl="1" marL="914400" rtl="0" algn="l">
              <a:spcBef>
                <a:spcPts val="1200"/>
              </a:spcBef>
              <a:spcAft>
                <a:spcPts val="0"/>
              </a:spcAft>
              <a:buSzPts val="1400"/>
              <a:buChar char="○"/>
            </a:pPr>
            <a:r>
              <a:rPr lang="de"/>
              <a:t>while awaiting the radiologist’s </a:t>
            </a:r>
            <a:r>
              <a:rPr lang="de"/>
              <a:t>confirmed</a:t>
            </a:r>
            <a:r>
              <a:rPr lang="de"/>
              <a:t> diagnosis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1625" y="1422275"/>
            <a:ext cx="2631174" cy="2631174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3"/>
          <p:cNvSpPr txBox="1"/>
          <p:nvPr/>
        </p:nvSpPr>
        <p:spPr>
          <a:xfrm>
            <a:off x="5162450" y="100325"/>
            <a:ext cx="4083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" sz="7000">
                <a:solidFill>
                  <a:schemeClr val="accent1"/>
                </a:solidFill>
              </a:rPr>
              <a:t>RibEye</a:t>
            </a:r>
            <a:endParaRPr sz="7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