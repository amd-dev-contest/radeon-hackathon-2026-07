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E8E8F0"/>
                </a:solidFill>
                <a:latin typeface="Calibri"/>
              </a:defRPr>
            </a:pPr>
            <a:r>
              <a:t>PERCIQA CORTEX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8E53"/>
                </a:solidFill>
                <a:latin typeface="Calibri"/>
              </a:defRPr>
            </a:pPr>
            <a:r>
              <a:t>Decentralized agent memory with cryptographic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0"/>
                </a:solidFill>
                <a:latin typeface="Calibri"/>
              </a:defRPr>
            </a:pPr>
            <a:r>
              <a:t>AMD AI DevMaster Hackathon 2026 — Track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0"/>
                </a:solidFill>
                <a:latin typeface="Calibri"/>
              </a:defRPr>
            </a:pPr>
            <a:r>
              <a:t>orbinix · excelle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E8F0"/>
                </a:solidFill>
                <a:latin typeface="Calibri"/>
              </a:defRPr>
            </a:pPr>
            <a:r>
              <a:t>Every SOC is an island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5029200" cy="1828800"/>
          </a:xfrm>
          <a:prstGeom prst="rect">
            <a:avLst/>
          </a:prstGeom>
          <a:solidFill>
            <a:srgbClr val="14141E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E8272D"/>
                </a:solidFill>
                <a:latin typeface="Calibri"/>
              </a:defRPr>
            </a:pPr>
            <a:r>
              <a:t>CSV dumps</a:t>
            </a:r>
          </a:p>
          <a:p>
            <a:pPr>
              <a:defRPr sz="1300">
                <a:solidFill>
                  <a:srgbClr val="8888A0"/>
                </a:solidFill>
                <a:latin typeface="Calibri"/>
              </a:defRPr>
            </a:pPr>
            <a:r>
              <a:t>Threat intel shared as spreadsheets — no machine readability, no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103120"/>
            <a:ext cx="5029200" cy="1828800"/>
          </a:xfrm>
          <a:prstGeom prst="rect">
            <a:avLst/>
          </a:prstGeom>
          <a:solidFill>
            <a:srgbClr val="14141E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E8272D"/>
                </a:solidFill>
                <a:latin typeface="Calibri"/>
              </a:defRPr>
            </a:pPr>
            <a:r>
              <a:t>No provenance</a:t>
            </a:r>
          </a:p>
          <a:p>
            <a:pPr>
              <a:defRPr sz="1300">
                <a:solidFill>
                  <a:srgbClr val="8888A0"/>
                </a:solidFill>
                <a:latin typeface="Calibri"/>
              </a:defRPr>
            </a:pPr>
            <a:r>
              <a:t>"Who said this? When? From what data?" — answered by trust alone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5029200" cy="1828800"/>
          </a:xfrm>
          <a:prstGeom prst="rect">
            <a:avLst/>
          </a:prstGeom>
          <a:solidFill>
            <a:srgbClr val="14141E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E8272D"/>
                </a:solidFill>
                <a:latin typeface="Calibri"/>
              </a:defRPr>
            </a:pPr>
            <a:r>
              <a:t>Vendor lock</a:t>
            </a:r>
          </a:p>
          <a:p>
            <a:pPr>
              <a:defRPr sz="1300">
                <a:solidFill>
                  <a:srgbClr val="8888A0"/>
                </a:solidFill>
                <a:latin typeface="Calibri"/>
              </a:defRPr>
            </a:pPr>
            <a:r>
              <a:t>Centralized platforms require trusting a vendor with cross-org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4206240"/>
            <a:ext cx="5029200" cy="1828800"/>
          </a:xfrm>
          <a:prstGeom prst="rect">
            <a:avLst/>
          </a:prstGeom>
          <a:solidFill>
            <a:srgbClr val="14141E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E8272D"/>
                </a:solidFill>
                <a:latin typeface="Calibri"/>
              </a:defRPr>
            </a:pPr>
            <a:r>
              <a:t>Sovereignty tradeoff</a:t>
            </a:r>
          </a:p>
          <a:p>
            <a:pPr>
              <a:defRPr sz="1300">
                <a:solidFill>
                  <a:srgbClr val="8888A0"/>
                </a:solidFill>
                <a:latin typeface="Calibri"/>
              </a:defRPr>
            </a:pPr>
            <a:r>
              <a:t>Collaboration vs. data sovereignty — treated as a binary choice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E8F0"/>
                </a:solidFill>
                <a:latin typeface="Calibri"/>
              </a:defRPr>
            </a:pPr>
            <a:r>
              <a:t>Cortex Memory Fabric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0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3474720" cy="2286000"/>
          </a:xfrm>
          <a:prstGeom prst="rect">
            <a:avLst/>
          </a:prstGeom>
          <a:solidFill>
            <a:srgbClr val="14141E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E8272D"/>
                </a:solidFill>
                <a:latin typeface="Calibri"/>
              </a:defRPr>
            </a:pPr>
            <a:r>
              <a:t>Publish</a:t>
            </a:r>
          </a:p>
          <a:p>
            <a:pPr>
              <a:defRPr sz="1300">
                <a:solidFill>
                  <a:srgbClr val="8888A0"/>
                </a:solidFill>
                <a:latin typeface="Calibri"/>
              </a:defRPr>
            </a:pPr>
            <a:r>
              <a:t>Agents produce signed memory articles with full provenance — source hash, DID, timestamp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103120"/>
            <a:ext cx="3474720" cy="2286000"/>
          </a:xfrm>
          <a:prstGeom prst="rect">
            <a:avLst/>
          </a:prstGeom>
          <a:solidFill>
            <a:srgbClr val="14141E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E8272D"/>
                </a:solidFill>
                <a:latin typeface="Calibri"/>
              </a:defRPr>
            </a:pPr>
            <a:r>
              <a:t>Query</a:t>
            </a:r>
          </a:p>
          <a:p>
            <a:pPr>
              <a:defRPr sz="1300">
                <a:solidFill>
                  <a:srgbClr val="8888A0"/>
                </a:solidFill>
                <a:latin typeface="Calibri"/>
              </a:defRPr>
            </a:pPr>
            <a:r>
              <a:t>Semantic retrieval across org boundaries, ranked by hybrid cosine + trust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2103120"/>
            <a:ext cx="3474720" cy="2286000"/>
          </a:xfrm>
          <a:prstGeom prst="rect">
            <a:avLst/>
          </a:prstGeom>
          <a:solidFill>
            <a:srgbClr val="14141E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E8272D"/>
                </a:solidFill>
                <a:latin typeface="Calibri"/>
              </a:defRPr>
            </a:pPr>
            <a:r>
              <a:t>Derive</a:t>
            </a:r>
          </a:p>
          <a:p>
            <a:pPr>
              <a:defRPr sz="1300">
                <a:solidFill>
                  <a:srgbClr val="8888A0"/>
                </a:solidFill>
                <a:latin typeface="Calibri"/>
              </a:defRPr>
            </a:pPr>
            <a:r>
              <a:t>New articles cite sources; trust propagates through the provenance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0"/>
                </a:solidFill>
                <a:latin typeface="Calibri"/>
              </a:defRPr>
            </a:pPr>
            <a:r>
              <a:t>Ed25519 signatures on every article  ·  Scope ACLs: private | partner | public  ·  Trust formula: 0.6(base) + 0.4(source) - penalty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E8F0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0"/>
                </a:solidFill>
                <a:latin typeface="Calibri"/>
              </a:defRPr>
            </a:pPr>
            <a:r>
              <a:t>Two sovereign nodes, one broker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0"/>
                </a:solidFill>
                <a:latin typeface="Consolas"/>
              </a:defRPr>
            </a:pPr>
            <a:r>
              <a:t>                     ┌──────────────────┐</a:t>
            </a:r>
            <a:br/>
            <a:r>
              <a:t>                     │  Fabric Broker    │</a:t>
            </a:r>
            <a:br/>
            <a:r>
              <a:t>                     │  (WS + ACL)       │</a:t>
            </a:r>
            <a:br/>
            <a:r>
              <a:t>                     └──────┬───────┬────┘</a:t>
            </a:r>
            <a:br/>
            <a:r>
              <a:t>                            │       │</a:t>
            </a:r>
            <a:br/>
            <a:r>
              <a:t>              ┌─────────────▼┐  ┌───▼─────────────┐</a:t>
            </a:r>
            <a:br/>
            <a:r>
              <a:t>              │ SOC Alpha     │  │ SOC Beta          │</a:t>
            </a:r>
            <a:br/>
            <a:r>
              <a:t>              │ Agent + Node  │  │ Agent + Node      │</a:t>
            </a:r>
            <a:br/>
            <a:r>
              <a:t>              │ (LangChain)   │  │ (LlamaIndex)      │</a:t>
            </a:r>
            <a:br/>
            <a:r>
              <a:t>              │ Embedder(GPU) │  │ Embedder(GPU)     │</a:t>
            </a:r>
            <a:br/>
            <a:r>
              <a:t>              │ ArticleStore  │  │ ArticleStore      │</a:t>
            </a:r>
            <a:br/>
            <a:r>
              <a:t>              │ VectorIndex   │  │ VectorIndex       │</a:t>
            </a:r>
            <a:br/>
            <a:r>
              <a:t>              │ TrustEngine   │  │ TrustEngine       │</a:t>
            </a:r>
            <a:br/>
            <a:r>
              <a:t>              │ Signer        │  │ Signer            │</a:t>
            </a:r>
            <a:br/>
            <a:r>
              <a:t>              └───────────────┘  └───────────────────┘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E8F0"/>
                </a:solidFill>
                <a:latin typeface="Calibri"/>
              </a:defRPr>
            </a:pPr>
            <a:r>
              <a:t>Live Demo — F1 SOC Consortium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0"/>
                </a:solidFill>
                <a:latin typeface="Calibri"/>
              </a:defRPr>
            </a:pPr>
            <a:r>
              <a:t>Console UI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5029200" cy="1645920"/>
          </a:xfrm>
          <a:prstGeom prst="rect">
            <a:avLst/>
          </a:prstGeom>
          <a:solidFill>
            <a:srgbClr val="14141E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E8272D"/>
                </a:solidFill>
                <a:latin typeface="Calibri"/>
              </a:defRPr>
            </a:pPr>
            <a:r>
              <a:t>ATT&amp;CK Matrix</a:t>
            </a:r>
          </a:p>
          <a:p>
            <a:pPr>
              <a:defRPr sz="1300">
                <a:solidFill>
                  <a:srgbClr val="8888A0"/>
                </a:solidFill>
                <a:latin typeface="Calibri"/>
              </a:defRPr>
            </a:pPr>
            <a:r>
              <a:t>210 techniques live-updating as findings flow between SOCs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103120"/>
            <a:ext cx="5029200" cy="1645920"/>
          </a:xfrm>
          <a:prstGeom prst="rect">
            <a:avLst/>
          </a:prstGeom>
          <a:solidFill>
            <a:srgbClr val="14141E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E8272D"/>
                </a:solidFill>
                <a:latin typeface="Calibri"/>
              </a:defRPr>
            </a:pPr>
            <a:r>
              <a:t>Provenance Graph</a:t>
            </a:r>
          </a:p>
          <a:p>
            <a:pPr>
              <a:defRPr sz="1300">
                <a:solidFill>
                  <a:srgbClr val="8888A0"/>
                </a:solidFill>
                <a:latin typeface="Calibri"/>
              </a:defRPr>
            </a:pPr>
            <a:r>
              <a:t>Force-directed graph showing citation edges forming in real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114800"/>
            <a:ext cx="5029200" cy="1645920"/>
          </a:xfrm>
          <a:prstGeom prst="rect">
            <a:avLst/>
          </a:prstGeom>
          <a:solidFill>
            <a:srgbClr val="14141E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E8272D"/>
                </a:solidFill>
                <a:latin typeface="Calibri"/>
              </a:defRPr>
            </a:pPr>
            <a:r>
              <a:t>Trust Scores</a:t>
            </a:r>
          </a:p>
          <a:p>
            <a:pPr>
              <a:defRPr sz="1300">
                <a:solidFill>
                  <a:srgbClr val="8888A0"/>
                </a:solidFill>
                <a:latin typeface="Calibri"/>
              </a:defRPr>
            </a:pPr>
            <a:r>
              <a:t>Every article scored 0–1, visible as rings on article cards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4114800"/>
            <a:ext cx="5029200" cy="1645920"/>
          </a:xfrm>
          <a:prstGeom prst="rect">
            <a:avLst/>
          </a:prstGeom>
          <a:solidFill>
            <a:srgbClr val="14141E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E8272D"/>
                </a:solidFill>
                <a:latin typeface="Calibri"/>
              </a:defRPr>
            </a:pPr>
            <a:r>
              <a:t>Bench Panel</a:t>
            </a:r>
          </a:p>
          <a:p>
            <a:pPr>
              <a:defRPr sz="1300">
                <a:solidFill>
                  <a:srgbClr val="8888A0"/>
                </a:solidFill>
                <a:latin typeface="Calibri"/>
              </a:defRPr>
            </a:pPr>
            <a:r>
              <a:t>Live Radeon vs CPU throughput comparison running every 2 seconds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E8F0"/>
                </a:solidFill>
                <a:latin typeface="Calibri"/>
              </a:defRPr>
            </a:pPr>
            <a:r>
              <a:t>Load-Bearing GPU Acceleration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0"/>
                </a:solidFill>
                <a:latin typeface="Calibri"/>
              </a:defRPr>
            </a:pPr>
            <a:r>
              <a:t>AMD Radeon / ROCm — bge-small-en-v1.5 on MI300X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8E53"/>
                </a:solidFill>
                <a:latin typeface="Calibri"/>
              </a:defRPr>
            </a:pPr>
            <a:r>
              <a:t>1,004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0"/>
                </a:solidFill>
                <a:latin typeface="Calibri"/>
              </a:defRPr>
            </a:pPr>
            <a:r>
              <a:t>embeds/sec on Radeon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8288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8E53"/>
                </a:solidFill>
                <a:latin typeface="Calibri"/>
              </a:defRPr>
            </a:pPr>
            <a:r>
              <a:t>4x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0"/>
                </a:solidFill>
                <a:latin typeface="Calibri"/>
              </a:defRPr>
            </a:pPr>
            <a:r>
              <a:t>vs CPU throughput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8E53"/>
                </a:solidFill>
                <a:latin typeface="Calibri"/>
              </a:defRPr>
            </a:pPr>
            <a:r>
              <a:t>6.68ms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0"/>
                </a:solidFill>
                <a:latin typeface="Calibri"/>
              </a:defRPr>
            </a:pPr>
            <a:r>
              <a:t>single-embed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0"/>
                </a:solidFill>
                <a:latin typeface="Calibri"/>
              </a:defRPr>
            </a:pPr>
            <a:r>
              <a:t>ROCm 7.2  ·  PyTorch 2.9  ·  MI300X  ·  bge-small-en-v1.5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F0"/>
                </a:solidFill>
                <a:latin typeface="Consolas"/>
              </a:defRPr>
            </a:pPr>
            <a:r>
              <a:t>Benchmark                Radeon MI300X     CPU (M4 Pro)     Target</a:t>
            </a:r>
            <a:br/>
            <a:r>
              <a:t>Single embed latency     6.68 ms          65.35 ms         ≤30 ms</a:t>
            </a:r>
            <a:br/>
            <a:r>
              <a:t>Batch 16 latency         9.45 ms          65.35 ms         ≤80 ms</a:t>
            </a:r>
            <a:br/>
            <a:r>
              <a:t>Batch 16 throughput      1,004 emb/s      245 emb/s         ≥350 emb/s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E8F0"/>
                </a:solidFill>
                <a:latin typeface="Calibri"/>
              </a:defRPr>
            </a:pPr>
            <a:r>
              <a:t>Domain-General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0"/>
                </a:solidFill>
                <a:latin typeface="Calibri"/>
              </a:defRPr>
            </a:pPr>
            <a:r>
              <a:t>Same fabric, any domain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5029200" cy="1828800"/>
          </a:xfrm>
          <a:prstGeom prst="rect">
            <a:avLst/>
          </a:prstGeom>
          <a:solidFill>
            <a:srgbClr val="14141E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E8272D"/>
                </a:solidFill>
                <a:latin typeface="Calibri"/>
              </a:defRPr>
            </a:pPr>
            <a:r>
              <a:t>F1 SOC Consortium</a:t>
            </a:r>
          </a:p>
          <a:p>
            <a:pPr>
              <a:defRPr sz="1300">
                <a:solidFill>
                  <a:srgbClr val="8888A0"/>
                </a:solidFill>
                <a:latin typeface="Calibri"/>
              </a:defRPr>
            </a:pPr>
            <a:r>
              <a:t>Cyber threat intel sharing between SOCs with cryptographic provenance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103120"/>
            <a:ext cx="5029200" cy="1828800"/>
          </a:xfrm>
          <a:prstGeom prst="rect">
            <a:avLst/>
          </a:prstGeom>
          <a:solidFill>
            <a:srgbClr val="14141E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E8272D"/>
                </a:solidFill>
                <a:latin typeface="Calibri"/>
              </a:defRPr>
            </a:pPr>
            <a:r>
              <a:t>Healthcare R&amp;D</a:t>
            </a:r>
          </a:p>
          <a:p>
            <a:pPr>
              <a:defRPr sz="1300">
                <a:solidFill>
                  <a:srgbClr val="8888A0"/>
                </a:solidFill>
                <a:latin typeface="Calibri"/>
              </a:defRPr>
            </a:pPr>
            <a:r>
              <a:t>Hospital + research lab: findings flow without exposing patient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5029200" cy="1828800"/>
          </a:xfrm>
          <a:prstGeom prst="rect">
            <a:avLst/>
          </a:prstGeom>
          <a:solidFill>
            <a:srgbClr val="14141E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E8272D"/>
                </a:solidFill>
                <a:latin typeface="Calibri"/>
              </a:defRPr>
            </a:pPr>
            <a:r>
              <a:t>Legal Precedent</a:t>
            </a:r>
          </a:p>
          <a:p>
            <a:pPr>
              <a:defRPr sz="1300">
                <a:solidFill>
                  <a:srgbClr val="8888A0"/>
                </a:solidFill>
                <a:latin typeface="Calibri"/>
              </a:defRPr>
            </a:pPr>
            <a:r>
              <a:t>Law firms share precedent analyses without exposing client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4206240"/>
            <a:ext cx="5029200" cy="1828800"/>
          </a:xfrm>
          <a:prstGeom prst="rect">
            <a:avLst/>
          </a:prstGeom>
          <a:solidFill>
            <a:srgbClr val="14141E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E8272D"/>
                </a:solidFill>
                <a:latin typeface="Calibri"/>
              </a:defRPr>
            </a:pPr>
            <a:r>
              <a:t>Financial Intel</a:t>
            </a:r>
          </a:p>
          <a:p>
            <a:pPr>
              <a:defRPr sz="1300">
                <a:solidFill>
                  <a:srgbClr val="8888A0"/>
                </a:solidFill>
                <a:latin typeface="Calibri"/>
              </a:defRPr>
            </a:pPr>
            <a:r>
              <a:t>Fraud pattern sharing between banks without exposing customer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E8F0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0"/>
                </a:solidFill>
                <a:latin typeface="Calibri"/>
              </a:defRPr>
            </a:pPr>
            <a:r>
              <a:t>Post-hackathon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8F0"/>
                </a:solidFill>
                <a:latin typeface="Calibri"/>
              </a:defRPr>
            </a:pPr>
            <a:r>
              <a:t>  1.  Open-source the fabric protocol as perciqa-cortex-spec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8F0"/>
                </a:solidFill>
                <a:latin typeface="Calibri"/>
              </a:defRPr>
            </a:pPr>
            <a:r>
              <a:t>  2.  P1 Cipher — zero-knowledge proofs of provenance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8F0"/>
                </a:solidFill>
                <a:latin typeface="Calibri"/>
              </a:defRPr>
            </a:pPr>
            <a:r>
              <a:t>  3.  P2 Ledger — tamper-evident audit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8F0"/>
                </a:solidFill>
                <a:latin typeface="Calibri"/>
              </a:defRPr>
            </a:pPr>
            <a:r>
              <a:t>  4.  ISAC deployment — hosted offering for SOC consortium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8F0"/>
                </a:solidFill>
                <a:latin typeface="Calibri"/>
              </a:defRPr>
            </a:pPr>
            <a:r>
              <a:t>  5.  Enterprise — healthcare, finance, and legal registries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E8F0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286000"/>
            <a:ext cx="3657600" cy="1828800"/>
          </a:xfrm>
          <a:prstGeom prst="rect">
            <a:avLst/>
          </a:prstGeom>
          <a:solidFill>
            <a:srgbClr val="14141E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E8272D"/>
                </a:solidFill>
                <a:latin typeface="Calibri"/>
              </a:defRPr>
            </a:pPr>
            <a:r>
              <a:t>orbinix</a:t>
            </a:r>
          </a:p>
          <a:p>
            <a:pPr>
              <a:defRPr sz="1300">
                <a:solidFill>
                  <a:srgbClr val="8888A0"/>
                </a:solidFill>
                <a:latin typeface="Calibri"/>
              </a:defRPr>
            </a:pPr>
            <a:r>
              <a:t>Architecture, core, node, broker, console, demo — solo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2286000"/>
            <a:ext cx="3657600" cy="1828800"/>
          </a:xfrm>
          <a:prstGeom prst="rect">
            <a:avLst/>
          </a:prstGeom>
          <a:solidFill>
            <a:srgbClr val="14141E"/>
          </a:solidFill>
          <a:ln w="6350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E8272D"/>
                </a:solidFill>
                <a:latin typeface="Calibri"/>
              </a:defRPr>
            </a:pPr>
            <a:r>
              <a:t>excelle</a:t>
            </a:r>
          </a:p>
          <a:p>
            <a:pPr>
              <a:defRPr sz="1300">
                <a:solidFill>
                  <a:srgbClr val="8888A0"/>
                </a:solidFill>
                <a:latin typeface="Calibri"/>
              </a:defRPr>
            </a:pPr>
            <a:r>
              <a:t>Co-author, code review, design guidance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E8E8F0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8E53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0"/>
                </a:solidFill>
                <a:latin typeface="Calibri"/>
              </a:defRPr>
            </a:pPr>
            <a:r>
              <a:t>"Imagine a 2028 where agents have verifiable memory across organizations. This is the first step."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0"/>
                </a:solidFill>
                <a:latin typeface="Calibri"/>
              </a:defRPr>
            </a:pPr>
            <a:r>
              <a:t>Track 2, Perciqa, Cortex  ·  github.com/perciqa/cortex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