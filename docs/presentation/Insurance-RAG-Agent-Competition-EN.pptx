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463040"/>
            <a:ext cx="54864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00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INSURANCE RAG AGENT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spc="100" kern="0" dirty="0">
                <a:solidFill>
                  <a:srgbClr val="B0C4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AI Agent for Insurance Business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 Deployment · AMD Radeon GPU + ROCm · 5 Core Capabilities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755648" cy="274320"/>
          </a:xfrm>
          <a:prstGeom prst="roundRect">
            <a:avLst>
              <a:gd name="adj" fmla="val 13333"/>
            </a:avLst>
          </a:prstGeom>
          <a:solidFill>
            <a:srgbClr val="1C7293">
              <a:alpha val="3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84048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Radeon gfx1100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95728" y="3840480"/>
            <a:ext cx="1014984" cy="274320"/>
          </a:xfrm>
          <a:prstGeom prst="roundRect">
            <a:avLst>
              <a:gd name="adj" fmla="val 13333"/>
            </a:avLst>
          </a:prstGeom>
          <a:solidFill>
            <a:srgbClr val="21295C">
              <a:alpha val="30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5728" y="3840480"/>
            <a:ext cx="101498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ROCm 6.16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93592" y="3840480"/>
            <a:ext cx="932688" cy="274320"/>
          </a:xfrm>
          <a:prstGeom prst="roundRect">
            <a:avLst>
              <a:gd name="adj" fmla="val 13333"/>
            </a:avLst>
          </a:prstGeom>
          <a:solidFill>
            <a:srgbClr val="1C7293">
              <a:alpha val="3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3840480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Qwen3-8B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3840480"/>
            <a:ext cx="603504" cy="274320"/>
          </a:xfrm>
          <a:prstGeom prst="roundRect">
            <a:avLst>
              <a:gd name="adj" fmla="val 13333"/>
            </a:avLst>
          </a:prstGeom>
          <a:solidFill>
            <a:srgbClr val="21295C">
              <a:alpha val="30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3840480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95544" y="3840480"/>
            <a:ext cx="1837944" cy="274320"/>
          </a:xfrm>
          <a:prstGeom prst="roundRect">
            <a:avLst>
              <a:gd name="adj" fmla="val 13333"/>
            </a:avLst>
          </a:prstGeom>
          <a:solidFill>
            <a:srgbClr val="1C7293">
              <a:alpha val="3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95544" y="3840480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Agently TriggerFlow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343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· Private AI Agents Development &amp; Local Deployment</a:t>
            </a:r>
            <a:endParaRPr lang="en-US" sz="10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52728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52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&amp; Localization Value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43560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business pain points · Fully local deployment value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282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70992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Capabilities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19110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Tool Use · Multi-Step Tasks · Multi-Turn Memory · Access Control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03704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037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18541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38658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7-layer architecture · TriggerFlow 6-step business 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79192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6791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6609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Multi-Step Task Planning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286207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Sub-query decomposition · Parallel retrieval · User correction replan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13639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Access Control &amp; Privacy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33375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whitelist · Audit logging · Citation validation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630168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6301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6118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ROCm Inference Optimization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381304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comparison groups · 2.93x throughput gain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105656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1056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40873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&amp; Value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428853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· Privacy · Reproducibility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8234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RAG Agent · AMD ROCm · vLLM · Agently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4672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Insurance Pain Points &amp; Localization Value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7548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353312"/>
            <a:ext cx="274320" cy="2743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353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30759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Clauses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policies span dozens of pages with dense terminology; manual review is highly inefficient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92808"/>
            <a:ext cx="47548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011680"/>
            <a:ext cx="274320" cy="2743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19659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Links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1671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insurance documents contain cross-references that manual search cannot fully cover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51176"/>
            <a:ext cx="47548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2670048"/>
            <a:ext cx="274320" cy="2743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6243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Customer Wait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8254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customers ask about claims, staff must review multiple documents before responding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209544"/>
            <a:ext cx="47548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328416"/>
            <a:ext cx="274320" cy="2743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328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28269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Forgetting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4838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history and preferences cannot persist across sessions, requiring re-communication each time</a:t>
            </a:r>
            <a:endParaRPr lang="en-US" sz="900" dirty="0"/>
          </a:p>
        </p:txBody>
      </p:sp>
      <p:pic>
        <p:nvPicPr>
          <p:cNvPr id="26" name="Image 0" descr="/Users/mampod/Documents/智能系统/insurance-rag-agent-cn/competition-ppt/images/image-painpoints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234440"/>
            <a:ext cx="3200400" cy="2400300"/>
          </a:xfrm>
          <a:prstGeom prst="ellipse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5486400" y="381762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23560" y="389077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Deployment Value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623560" y="411022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within enterprise · No cloud dependency · Full audit trail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57200" y="48234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RAG Agent · AMD ROCm · vLLM · Agently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04672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Core Capabilities · All Requirements Met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20624" y="1325880"/>
            <a:ext cx="1572768" cy="23774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32588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420624" y="1554480"/>
            <a:ext cx="1572768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2064" y="192024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Knowledge RAG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2240280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BM25 hybrid retrieval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rewrite · Multi-format parsing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1325880"/>
            <a:ext cx="1572768" cy="23774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132588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2103120" y="1554480"/>
            <a:ext cx="1572768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137160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94560" y="192024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2240280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read/write · Doc analysis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query · Search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custom tool types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85616" y="1325880"/>
            <a:ext cx="1572768" cy="23774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85616" y="132588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20" name="Shape 18"/>
          <p:cNvSpPr/>
          <p:nvPr/>
        </p:nvSpPr>
        <p:spPr>
          <a:xfrm>
            <a:off x="3785616" y="1554480"/>
            <a:ext cx="1572768" cy="228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3785616" y="137160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77056" y="192024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Planning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77056" y="2240280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TriggerFlow 6-step orchestration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Sub-query split + parallel fetch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validation + fallback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68112" y="1325880"/>
            <a:ext cx="1572768" cy="23774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68112" y="132588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26" name="Shape 24"/>
          <p:cNvSpPr/>
          <p:nvPr/>
        </p:nvSpPr>
        <p:spPr>
          <a:xfrm>
            <a:off x="5468112" y="1554480"/>
            <a:ext cx="1572768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5468112" y="137160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59552" y="192024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Memory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59552" y="2240280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short-term memory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evidence store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long-term preferences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50608" y="1325880"/>
            <a:ext cx="1572768" cy="23774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50608" y="132588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32" name="Shape 30"/>
          <p:cNvSpPr/>
          <p:nvPr/>
        </p:nvSpPr>
        <p:spPr>
          <a:xfrm>
            <a:off x="7150608" y="1554480"/>
            <a:ext cx="1572768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7150608" y="137160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242048" y="192024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&amp; Privacy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42048" y="2240280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whitelist + scope filter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· Citation validation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ownership isolation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minimum: implement at least 2 of 5 capabilities · This project implements all 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8234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RAG Agent · AMD ROCm · vLLM · Agently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04672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  <p:sp>
        <p:nvSpPr>
          <p:cNvPr id="3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7-Layer System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011680" cy="420624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Layer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5989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188720"/>
            <a:ext cx="57607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on ROCm · Qwen3-8B · BGE-M3 Embedding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2011680" cy="420624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6420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Layer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1664208"/>
            <a:ext cx="5989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664208"/>
            <a:ext cx="57607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ANN + BM25 term frequency + Cross-Encoder rerank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139696"/>
            <a:ext cx="2011680" cy="420624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3969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06040" y="2139696"/>
            <a:ext cx="5989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139696"/>
            <a:ext cx="57607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TriggerFlow 6-step flow · Understand → Plan → Validate → Fetch → Answer → Finalize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615184"/>
            <a:ext cx="2011680" cy="420624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61518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Layer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06040" y="2615184"/>
            <a:ext cx="5989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2615184"/>
            <a:ext cx="57607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file_tools · doc_tools · data_query · 4 custom tool types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090672"/>
            <a:ext cx="2011680" cy="420624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090672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06040" y="3090672"/>
            <a:ext cx="5989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090672"/>
            <a:ext cx="57607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short-term + Task workspace + Namespace long-term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566160"/>
            <a:ext cx="2011680" cy="420624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56616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06040" y="3566160"/>
            <a:ext cx="5989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3566160"/>
            <a:ext cx="57607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whitelist + scope filter + audit logging + citation validation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041648"/>
            <a:ext cx="2011680" cy="420624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04164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Layer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06040" y="4041648"/>
            <a:ext cx="5989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4041648"/>
            <a:ext cx="57607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 + task quality evaluation + GPU evidence collection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60857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persistence layer spans all layers · Record + File storage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8234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RAG Agent · AMD ROCm · vLLM · Agently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04672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sp>
        <p:nvSpPr>
          <p:cNvPr id="3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TriggerFlow 6-Step Business Flow · Visible Retry Edges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234440" cy="16459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1540" y="148132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91540" y="1481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natural language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memory recall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709928" y="2103120"/>
            <a:ext cx="128016" cy="182880"/>
          </a:xfrm>
          <a:prstGeom prst="rightArrow">
            <a:avLst/>
          </a:prstGeom>
          <a:solidFill>
            <a:srgbClr val="8B9BB0"/>
          </a:solidFill>
          <a:ln/>
        </p:spPr>
      </p:sp>
      <p:sp>
        <p:nvSpPr>
          <p:cNvPr id="12" name="Shape 10"/>
          <p:cNvSpPr/>
          <p:nvPr/>
        </p:nvSpPr>
        <p:spPr>
          <a:xfrm>
            <a:off x="1856232" y="1371600"/>
            <a:ext cx="1234440" cy="16459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90572" y="14813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2290572" y="1481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01952" y="193852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01952" y="21945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query method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route: rag/data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08960" y="2103120"/>
            <a:ext cx="128016" cy="182880"/>
          </a:xfrm>
          <a:prstGeom prst="rightArrow">
            <a:avLst/>
          </a:prstGeom>
          <a:solidFill>
            <a:srgbClr val="8B9BB0"/>
          </a:solidFill>
          <a:ln/>
        </p:spPr>
      </p:sp>
      <p:sp>
        <p:nvSpPr>
          <p:cNvPr id="18" name="Shape 16"/>
          <p:cNvSpPr/>
          <p:nvPr/>
        </p:nvSpPr>
        <p:spPr>
          <a:xfrm>
            <a:off x="3255264" y="1371600"/>
            <a:ext cx="1234440" cy="16459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89604" y="1481328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89604" y="1481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00984" y="193852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00984" y="21945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query correctness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failures → blocked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07992" y="2103120"/>
            <a:ext cx="128016" cy="182880"/>
          </a:xfrm>
          <a:prstGeom prst="rightArrow">
            <a:avLst/>
          </a:prstGeom>
          <a:solidFill>
            <a:srgbClr val="8B9BB0"/>
          </a:solidFill>
          <a:ln/>
        </p:spPr>
      </p:sp>
      <p:sp>
        <p:nvSpPr>
          <p:cNvPr id="24" name="Shape 22"/>
          <p:cNvSpPr/>
          <p:nvPr/>
        </p:nvSpPr>
        <p:spPr>
          <a:xfrm>
            <a:off x="4654296" y="1371600"/>
            <a:ext cx="1234440" cy="16459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88636" y="148132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5088636" y="1481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0016" y="193852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0016" y="21945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+ rewrite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packaging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07024" y="2103120"/>
            <a:ext cx="128016" cy="182880"/>
          </a:xfrm>
          <a:prstGeom prst="rightArrow">
            <a:avLst/>
          </a:prstGeom>
          <a:solidFill>
            <a:srgbClr val="8B9BB0"/>
          </a:solidFill>
          <a:ln/>
        </p:spPr>
      </p:sp>
      <p:sp>
        <p:nvSpPr>
          <p:cNvPr id="30" name="Shape 28"/>
          <p:cNvSpPr/>
          <p:nvPr/>
        </p:nvSpPr>
        <p:spPr>
          <a:xfrm>
            <a:off x="6053328" y="1371600"/>
            <a:ext cx="1234440" cy="16459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87668" y="14813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487668" y="1481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99048" y="193852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99048" y="21945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answer + citations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 + retry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306056" y="2103120"/>
            <a:ext cx="128016" cy="182880"/>
          </a:xfrm>
          <a:prstGeom prst="rightArrow">
            <a:avLst/>
          </a:prstGeom>
          <a:solidFill>
            <a:srgbClr val="8B9BB0"/>
          </a:solidFill>
          <a:ln/>
        </p:spPr>
      </p:sp>
      <p:sp>
        <p:nvSpPr>
          <p:cNvPr id="36" name="Shape 34"/>
          <p:cNvSpPr/>
          <p:nvPr/>
        </p:nvSpPr>
        <p:spPr>
          <a:xfrm>
            <a:off x="7452360" y="1371600"/>
            <a:ext cx="1234440" cy="16459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86700" y="1481328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8" name="Text 36"/>
          <p:cNvSpPr/>
          <p:nvPr/>
        </p:nvSpPr>
        <p:spPr>
          <a:xfrm>
            <a:off x="7886700" y="1481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98080" y="193852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finalize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98080" y="21945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persistence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extraction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32461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2F8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3291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Retry Edges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" y="353872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Step3 → Step2 (retry_plan)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480560" y="353872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Step4 → Step2 (retry_plan)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0080" y="3685032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Step5 → Step5 (retry_answer)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480560" y="3685032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blocked → finalize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" y="48234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RAG Agent · AMD ROCm · vLLM · Agently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04672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  <p:sp>
        <p:nvSpPr>
          <p:cNvPr id="4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Multi-Step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Multi-Step Task Planning · Sub-Query &amp; Parallel Retrieval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Compare coverage between Employer Liability and Group Accident Insurance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Step2 · plan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3545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65960"/>
            <a:ext cx="21717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Sub-query 1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Liability coverage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2-Employer-Liability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48940" y="1920240"/>
            <a:ext cx="23545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0380" y="1965960"/>
            <a:ext cx="21717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Sub-query 2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Accident coverage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3-Group-Accident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Step4 · fetch (asyncio.gather parallel retrieval)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EAF2F8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2-way parallel retrieval → sub_query_results records hits &amp; sources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Step5 · answer (comparative synthesis + quality check)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4846320" cy="502920"/>
          </a:xfrm>
          <a:prstGeom prst="roundRect">
            <a:avLst>
              <a:gd name="adj" fmla="val 14545"/>
            </a:avLst>
          </a:prstGeom>
          <a:solidFill>
            <a:srgbClr val="1AAF6C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66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comparison answer · Trace: business.plan.generated (sub_query_count: 2)</a:t>
            </a:r>
            <a:endParaRPr lang="en-US" sz="800" dirty="0"/>
          </a:p>
        </p:txBody>
      </p:sp>
      <p:pic>
        <p:nvPicPr>
          <p:cNvPr id="19" name="Image 0" descr="/Users/mampod/Documents/智能系统/insurance-rag-agent-cn/competition-ppt/images/image-f3-multistep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1234440"/>
            <a:ext cx="3108960" cy="2331720"/>
          </a:xfrm>
          <a:prstGeom prst="ellipse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577840" y="370332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0" y="37490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5-7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577840" y="402336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178040" y="370332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1C7293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78040" y="37490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2-way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178040" y="402336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retrieval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57200" y="48234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RAG Agent · AMD ROCm · vLLM · Agently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04672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User Correction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Correction → Replanning (R-16 Multi-Turn)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137160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618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 · User Misspeak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48132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employee is injured in a traffic accident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 to work — can Employer Liability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cover this?"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 answers based on Employer Liability doc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292608" cy="22860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1887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188720"/>
            <a:ext cx="54864" cy="1371600"/>
          </a:xfrm>
          <a:prstGeom prst="rect">
            <a:avLst/>
          </a:prstGeom>
          <a:solidFill>
            <a:srgbClr val="1AAF6C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2618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2 · User Correction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4813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"Wait, I misspoke — it should be Group Accident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Insurance, not Employer Liability. Please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again."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Detects correction → Replans → Hits Group Accident Insurance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Replanning Flow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0175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017520"/>
            <a:ext cx="1828800" cy="256032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017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Step1 Detect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31927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intent detected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correction_notice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377440" y="3337560"/>
            <a:ext cx="182880" cy="182880"/>
          </a:xfrm>
          <a:prstGeom prst="rightArrow">
            <a:avLst/>
          </a:prstGeom>
          <a:solidFill>
            <a:srgbClr val="8B9BB0"/>
          </a:solidFill>
          <a:ln/>
        </p:spPr>
      </p:sp>
      <p:sp>
        <p:nvSpPr>
          <p:cNvPr id="23" name="Shape 21"/>
          <p:cNvSpPr/>
          <p:nvPr/>
        </p:nvSpPr>
        <p:spPr>
          <a:xfrm>
            <a:off x="2606040" y="30175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06040" y="3017520"/>
            <a:ext cx="1828800" cy="2560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2606040" y="3017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Step2 Replan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97480" y="331927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correction prompt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Group Accident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480560" y="3337560"/>
            <a:ext cx="182880" cy="182880"/>
          </a:xfrm>
          <a:prstGeom prst="rightArrow">
            <a:avLst/>
          </a:prstGeom>
          <a:solidFill>
            <a:srgbClr val="8B9BB0"/>
          </a:solidFill>
          <a:ln/>
        </p:spPr>
      </p:sp>
      <p:sp>
        <p:nvSpPr>
          <p:cNvPr id="28" name="Shape 26"/>
          <p:cNvSpPr/>
          <p:nvPr/>
        </p:nvSpPr>
        <p:spPr>
          <a:xfrm>
            <a:off x="4709160" y="30175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3017520"/>
            <a:ext cx="1828800" cy="2560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3017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Step4 Re-fetch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331927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Group Accident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document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583680" y="3337560"/>
            <a:ext cx="182880" cy="182880"/>
          </a:xfrm>
          <a:prstGeom prst="rightArrow">
            <a:avLst/>
          </a:prstGeom>
          <a:solidFill>
            <a:srgbClr val="8B9BB0"/>
          </a:solidFill>
          <a:ln/>
        </p:spPr>
      </p:sp>
      <p:sp>
        <p:nvSpPr>
          <p:cNvPr id="33" name="Shape 31"/>
          <p:cNvSpPr/>
          <p:nvPr/>
        </p:nvSpPr>
        <p:spPr>
          <a:xfrm>
            <a:off x="6812280" y="30175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12280" y="3017520"/>
            <a:ext cx="1828800" cy="256032"/>
          </a:xfrm>
          <a:prstGeom prst="rect">
            <a:avLst/>
          </a:prstGeom>
          <a:solidFill>
            <a:srgbClr val="1AAF6C"/>
          </a:solidFill>
          <a:ln/>
        </p:spPr>
      </p:sp>
      <p:sp>
        <p:nvSpPr>
          <p:cNvPr id="35" name="Text 33"/>
          <p:cNvSpPr/>
          <p:nvPr/>
        </p:nvSpPr>
        <p:spPr>
          <a:xfrm>
            <a:off x="6812280" y="3017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Step5 Corrected Answer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03720" y="331927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accident dual payout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Contrasts with Turn 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45948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official scoring item: "Replanning &amp; execution after user feedback" in multi-turn interaction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48234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RAG Agent · AMD ROCm · vLLM · Agently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04672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Access Control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Control &amp; Privacy · Four Security Mechanisms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32588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2618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Whitelist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4630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check_path_allowed() validation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paths rejected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1719072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/etc/passwd → Blocked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039112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176272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1762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1122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3134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format logging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· actor · action · resource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05840" y="2569464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audit: file_read / downloads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2889504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026664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026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296265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Filtering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16382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scope filter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ownership isolation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05840" y="3419856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sessions data isolated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3739896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3877056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8130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Validation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01421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validate_citations() check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fabricated citations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05840" y="4270248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[[ref:xxx]] must be in offered_ref_keys</a:t>
            </a:r>
            <a:endParaRPr lang="en-US" sz="750" dirty="0"/>
          </a:p>
        </p:txBody>
      </p:sp>
      <p:pic>
        <p:nvPicPr>
          <p:cNvPr id="30" name="Image 0" descr="/Users/mampod/Documents/智能系统/insurance-rag-agent-cn/competition-ppt/images/image-f5-security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188720"/>
            <a:ext cx="2926080" cy="2194560"/>
          </a:xfrm>
          <a:prstGeom prst="ellipse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5760720" y="3520440"/>
            <a:ext cx="2926080" cy="1165860"/>
          </a:xfrm>
          <a:prstGeom prst="roundRect">
            <a:avLst>
              <a:gd name="adj" fmla="val 6275"/>
            </a:avLst>
          </a:prstGeom>
          <a:solidFill>
            <a:srgbClr val="0D1117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70448" y="3575304"/>
            <a:ext cx="270662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Example (JSONL)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870448" y="3776472"/>
            <a:ext cx="2706624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"event_type": "file_read"</a:t>
            </a:r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"actor": "session_abc123"</a:t>
            </a:r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"action": "DENIED"</a:t>
            </a:r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"resource": "/etc/passwd"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457200" y="48234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RAG Agent · AMD ROCm · vLLM · Agently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04672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ROCm Inference Optimization · 6 Groups · 2.93x Throughput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AMD Radeon gfx1100 (48GB VRAM) · ROCm 6.16 · Qwen3-8B · vLLM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1554480"/>
                <a:gridCol w="1554480"/>
                <a:gridCol w="16459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Group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Optimized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Gain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A: Concurrency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C7D"/>
                          </a:solidFill>
                        </a:rPr>
                        <a:t>conc 1→4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C7D"/>
                          </a:solidFill>
                        </a:rPr>
                        <a:t>47.7 tok/s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173.3 tok/s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AF6C"/>
                          </a:solidFill>
                        </a:rPr>
                        <a:t>3.63x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B: TunableOps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C7D"/>
                          </a:solidFill>
                        </a:rPr>
                        <a:t>Auto-tuning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C7D"/>
                          </a:solidFill>
                        </a:rPr>
                        <a:t>173.3 tok/s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C7D"/>
                          </a:solidFill>
                        </a:rPr>
                        <a:t>173.2 tok/s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BB0"/>
                          </a:solidFill>
                        </a:rPr>
                        <a:t>Marginal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C1: OSL Limit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C7D"/>
                          </a:solidFill>
                        </a:rPr>
                        <a:t>max_tokens 512→64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C7D"/>
                          </a:solidFill>
                        </a:rPr>
                        <a:t>P50=11.81s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P50=1.54s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AF6C"/>
                          </a:solidFill>
                        </a:rPr>
                        <a:t>7.7x 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C2: INT4 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C7D"/>
                          </a:solidFill>
                        </a:rPr>
                        <a:t>FP16→INT4 GPTQ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C7D"/>
                          </a:solidFill>
                        </a:rPr>
                        <a:t>173.3 tok/s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309.5 tok/s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AF6C"/>
                          </a:solidFill>
                        </a:rPr>
                        <a:t>1.79x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C3: Batch+HIP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C7D"/>
                          </a:solidFill>
                        </a:rPr>
                        <a:t>batch=16+HIPGraph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C7D"/>
                          </a:solidFill>
                        </a:rPr>
                        <a:t>309.5 tok/s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508.2 tok/s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AF6C"/>
                          </a:solidFill>
                        </a:rPr>
                        <a:t>1.64x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C4: Hybrid RAG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C7D"/>
                          </a:solidFill>
                        </a:rPr>
                        <a:t>FAISS→3-way fusion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C7D"/>
                          </a:solidFill>
                        </a:rPr>
                        <a:t>0.7357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0.8997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AF6C"/>
                          </a:solidFill>
                        </a:rPr>
                        <a:t>+22.3%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4290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429000"/>
            <a:ext cx="54864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2.93x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4360" y="37947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throughput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3931920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173.3 → 508.2 tok/s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246120" y="34290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3429000"/>
            <a:ext cx="54864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7.7x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383280" y="37947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latency reduction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383280" y="3931920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11.81s → 1.54s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035040" y="34290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35040" y="3429000"/>
            <a:ext cx="54864" cy="685800"/>
          </a:xfrm>
          <a:prstGeom prst="rect">
            <a:avLst/>
          </a:prstGeom>
          <a:solidFill>
            <a:srgbClr val="1AAF6C"/>
          </a:solidFill>
          <a:ln/>
        </p:spPr>
      </p:sp>
      <p:sp>
        <p:nvSpPr>
          <p:cNvPr id="20" name="Text 17"/>
          <p:cNvSpPr/>
          <p:nvPr/>
        </p:nvSpPr>
        <p:spPr>
          <a:xfrm>
            <a:off x="617220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A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+22.3%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172200" y="37947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precision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172200" y="3931920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0.7357 → 0.8997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57200" y="48234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RAG Agent · AMD ROCm · vLLM · Agently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04672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 &amp; Value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100584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10-50x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12801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clause lookup from minutes to seconds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latency 1.54s · Retrieval 18.8ms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029968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29968"/>
            <a:ext cx="100584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29968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21214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Protection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23500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 deployment · Data stays in enterprise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dependency · Full audit trail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71216"/>
            <a:ext cx="1005840" cy="74980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7121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29626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Complete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00200" y="31912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official capability requirements met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Tools · Multi-step · Memory · Security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712464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12464"/>
            <a:ext cx="1005840" cy="749808"/>
          </a:xfrm>
          <a:prstGeom prst="rect">
            <a:avLst/>
          </a:prstGeom>
          <a:solidFill>
            <a:srgbClr val="1AAF6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12464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groups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00200" y="38039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00200" y="403250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comparison groups with reproducible scripts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vllm_profile · vllm_tune · load_test</a:t>
            </a:r>
            <a:endParaRPr lang="en-US" sz="850" dirty="0"/>
          </a:p>
        </p:txBody>
      </p:sp>
      <p:pic>
        <p:nvPicPr>
          <p:cNvPr id="26" name="Image 0" descr="/Users/mampod/Documents/智能系统/insurance-rag-agent-cn/competition-ppt/images/image-results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188720"/>
            <a:ext cx="2926080" cy="2194560"/>
          </a:xfrm>
          <a:prstGeom prst="ellipse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5760720" y="3520440"/>
            <a:ext cx="2926080" cy="1165860"/>
          </a:xfrm>
          <a:prstGeom prst="roundRect">
            <a:avLst>
              <a:gd name="adj" fmla="val 6275"/>
            </a:avLst>
          </a:prstGeom>
          <a:solidFill>
            <a:srgbClr val="065A82"/>
          </a:solidFill>
          <a:ln w="6350">
            <a:solidFill>
              <a:srgbClr val="D5DD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97880" y="3575304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Performance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897880" y="377647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chunks · 50 queries · avg 22.5ms · P95 18.8ms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897880" y="393192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score: 0.7357 → 0.8997 (+22.3%)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57200" y="48234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RAG Agent · AMD ROCm · vLLM · Agently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04672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8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B0C4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Insurance RAG Agent · Private AI Agent for Insurance Business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Radeon GPU + ROCm · vLLM · Agently TriggerFlow · Qwen3-8B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220724" cy="274320"/>
          </a:xfrm>
          <a:prstGeom prst="roundRect">
            <a:avLst>
              <a:gd name="adj" fmla="val 13333"/>
            </a:avLst>
          </a:prstGeom>
          <a:solidFill>
            <a:srgbClr val="1C7293">
              <a:alpha val="4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840480"/>
            <a:ext cx="12207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0804" y="3840480"/>
            <a:ext cx="1842516" cy="274320"/>
          </a:xfrm>
          <a:prstGeom prst="roundRect">
            <a:avLst>
              <a:gd name="adj" fmla="val 13333"/>
            </a:avLst>
          </a:prstGeom>
          <a:solidFill>
            <a:srgbClr val="1C7293">
              <a:alpha val="4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0804" y="3840480"/>
            <a:ext cx="184251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Capabilities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86200" y="3840480"/>
            <a:ext cx="1609344" cy="274320"/>
          </a:xfrm>
          <a:prstGeom prst="roundRect">
            <a:avLst>
              <a:gd name="adj" fmla="val 13333"/>
            </a:avLst>
          </a:prstGeom>
          <a:solidFill>
            <a:srgbClr val="1C7293">
              <a:alpha val="4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384048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2.93x Throughput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78424" y="3840480"/>
            <a:ext cx="1842516" cy="274320"/>
          </a:xfrm>
          <a:prstGeom prst="roundRect">
            <a:avLst>
              <a:gd name="adj" fmla="val 13333"/>
            </a:avLst>
          </a:prstGeom>
          <a:solidFill>
            <a:srgbClr val="1C7293">
              <a:alpha val="4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78424" y="3840480"/>
            <a:ext cx="184251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Comparison Groups</a:t>
            </a:r>
            <a:endParaRPr lang="en-US" sz="9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RAG Agent — Competition Presentation (EN)</dc:title>
  <dc:subject>PptxGenJS Presentation</dc:subject>
  <dc:creator>Insurance RAG Agent Team</dc:creator>
  <cp:lastModifiedBy>Insurance RAG Agent Team</cp:lastModifiedBy>
  <cp:revision>1</cp:revision>
  <dcterms:created xsi:type="dcterms:W3CDTF">2026-08-06T07:45:19Z</dcterms:created>
  <dcterms:modified xsi:type="dcterms:W3CDTF">2026-08-06T07:45:19Z</dcterms:modified>
</cp:coreProperties>
</file>