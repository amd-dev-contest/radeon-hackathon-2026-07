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 Italics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Open Sans Bold" charset="1" panose="020B0806030504020204"/>
      <p:regular r:id="rId16"/>
    </p:embeddedFont>
    <p:embeddedFont>
      <p:font typeface="Poppins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9943" y="6437582"/>
            <a:ext cx="2652117" cy="3086100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36002" y="8852020"/>
            <a:ext cx="2652117" cy="3086100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816115" y="4021227"/>
            <a:ext cx="2652117" cy="3086100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53823" y="8852020"/>
            <a:ext cx="2652117" cy="3086100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279881" y="6437582"/>
            <a:ext cx="2652117" cy="3086100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485978" y="3542649"/>
            <a:ext cx="3201702" cy="3201702"/>
          </a:xfrm>
          <a:custGeom>
            <a:avLst/>
            <a:gdLst/>
            <a:ahLst/>
            <a:cxnLst/>
            <a:rect r="r" b="b" t="t" l="l"/>
            <a:pathLst>
              <a:path h="3201702" w="3201702">
                <a:moveTo>
                  <a:pt x="0" y="0"/>
                </a:moveTo>
                <a:lnTo>
                  <a:pt x="3201702" y="0"/>
                </a:lnTo>
                <a:lnTo>
                  <a:pt x="3201702" y="3201702"/>
                </a:lnTo>
                <a:lnTo>
                  <a:pt x="0" y="3201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06792" y="9037807"/>
            <a:ext cx="1791012" cy="1007445"/>
          </a:xfrm>
          <a:custGeom>
            <a:avLst/>
            <a:gdLst/>
            <a:ahLst/>
            <a:cxnLst/>
            <a:rect r="r" b="b" t="t" l="l"/>
            <a:pathLst>
              <a:path h="1007445" w="1791012">
                <a:moveTo>
                  <a:pt x="0" y="0"/>
                </a:moveTo>
                <a:lnTo>
                  <a:pt x="1791013" y="0"/>
                </a:lnTo>
                <a:lnTo>
                  <a:pt x="1791013" y="1007445"/>
                </a:lnTo>
                <a:lnTo>
                  <a:pt x="0" y="1007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328154" y="-357038"/>
            <a:ext cx="2652117" cy="3086100"/>
            <a:chOff x="0" y="0"/>
            <a:chExt cx="6985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002095" y="-2773392"/>
            <a:ext cx="2652117" cy="3086100"/>
            <a:chOff x="0" y="0"/>
            <a:chExt cx="6985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864388" y="2057400"/>
            <a:ext cx="2652117" cy="3086100"/>
            <a:chOff x="0" y="0"/>
            <a:chExt cx="6985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538329" y="-357038"/>
            <a:ext cx="2652117" cy="3086100"/>
            <a:chOff x="0" y="0"/>
            <a:chExt cx="6985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002416" y="4188778"/>
            <a:ext cx="7766766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Aetheris VTE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11530" y="5745797"/>
            <a:ext cx="7869278" cy="164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local, private AI coding agent, powered by VTE. Your own AMD Native AI Ecossystem!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6820" y="27478"/>
            <a:ext cx="8863260" cy="10313612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78061" y="645650"/>
            <a:ext cx="7800777" cy="9077268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984767" y="2937971"/>
            <a:ext cx="6318465" cy="439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Every AI coding assistant sends your code somewhere else. Aetheris doesn't.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88658" y="207102"/>
            <a:ext cx="1054684" cy="1054684"/>
          </a:xfrm>
          <a:custGeom>
            <a:avLst/>
            <a:gdLst/>
            <a:ahLst/>
            <a:cxnLst/>
            <a:rect r="r" b="b" t="t" l="l"/>
            <a:pathLst>
              <a:path h="1054684" w="1054684">
                <a:moveTo>
                  <a:pt x="0" y="0"/>
                </a:moveTo>
                <a:lnTo>
                  <a:pt x="1054684" y="0"/>
                </a:lnTo>
                <a:lnTo>
                  <a:pt x="1054684" y="1054683"/>
                </a:lnTo>
                <a:lnTo>
                  <a:pt x="0" y="1054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34868" y="8258004"/>
            <a:ext cx="2824432" cy="2513745"/>
          </a:xfrm>
          <a:custGeom>
            <a:avLst/>
            <a:gdLst/>
            <a:ahLst/>
            <a:cxnLst/>
            <a:rect r="r" b="b" t="t" l="l"/>
            <a:pathLst>
              <a:path h="2513745" w="2824432">
                <a:moveTo>
                  <a:pt x="0" y="0"/>
                </a:moveTo>
                <a:lnTo>
                  <a:pt x="2824432" y="0"/>
                </a:lnTo>
                <a:lnTo>
                  <a:pt x="2824432" y="2513745"/>
                </a:lnTo>
                <a:lnTo>
                  <a:pt x="0" y="2513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14405" y="1664083"/>
            <a:ext cx="6446208" cy="6958835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785444" y="1323376"/>
            <a:ext cx="1353370" cy="1251867"/>
          </a:xfrm>
          <a:custGeom>
            <a:avLst/>
            <a:gdLst/>
            <a:ahLst/>
            <a:cxnLst/>
            <a:rect r="r" b="b" t="t" l="l"/>
            <a:pathLst>
              <a:path h="1251867" w="1353370">
                <a:moveTo>
                  <a:pt x="0" y="0"/>
                </a:moveTo>
                <a:lnTo>
                  <a:pt x="1353370" y="0"/>
                </a:lnTo>
                <a:lnTo>
                  <a:pt x="1353370" y="1251867"/>
                </a:lnTo>
                <a:lnTo>
                  <a:pt x="0" y="125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444" y="2932682"/>
            <a:ext cx="1353370" cy="1251867"/>
          </a:xfrm>
          <a:custGeom>
            <a:avLst/>
            <a:gdLst/>
            <a:ahLst/>
            <a:cxnLst/>
            <a:rect r="r" b="b" t="t" l="l"/>
            <a:pathLst>
              <a:path h="1251867" w="1353370">
                <a:moveTo>
                  <a:pt x="0" y="0"/>
                </a:moveTo>
                <a:lnTo>
                  <a:pt x="1353370" y="0"/>
                </a:lnTo>
                <a:lnTo>
                  <a:pt x="1353370" y="1251867"/>
                </a:lnTo>
                <a:lnTo>
                  <a:pt x="0" y="125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5444" y="4546499"/>
            <a:ext cx="1353370" cy="1251867"/>
          </a:xfrm>
          <a:custGeom>
            <a:avLst/>
            <a:gdLst/>
            <a:ahLst/>
            <a:cxnLst/>
            <a:rect r="r" b="b" t="t" l="l"/>
            <a:pathLst>
              <a:path h="1251867" w="1353370">
                <a:moveTo>
                  <a:pt x="0" y="0"/>
                </a:moveTo>
                <a:lnTo>
                  <a:pt x="1353370" y="0"/>
                </a:lnTo>
                <a:lnTo>
                  <a:pt x="1353370" y="1251867"/>
                </a:lnTo>
                <a:lnTo>
                  <a:pt x="0" y="125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444" y="6160316"/>
            <a:ext cx="1353370" cy="1251867"/>
          </a:xfrm>
          <a:custGeom>
            <a:avLst/>
            <a:gdLst/>
            <a:ahLst/>
            <a:cxnLst/>
            <a:rect r="r" b="b" t="t" l="l"/>
            <a:pathLst>
              <a:path h="1251867" w="1353370">
                <a:moveTo>
                  <a:pt x="0" y="0"/>
                </a:moveTo>
                <a:lnTo>
                  <a:pt x="1353370" y="0"/>
                </a:lnTo>
                <a:lnTo>
                  <a:pt x="1353370" y="1251867"/>
                </a:lnTo>
                <a:lnTo>
                  <a:pt x="0" y="125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5444" y="7711757"/>
            <a:ext cx="1353370" cy="1251867"/>
          </a:xfrm>
          <a:custGeom>
            <a:avLst/>
            <a:gdLst/>
            <a:ahLst/>
            <a:cxnLst/>
            <a:rect r="r" b="b" t="t" l="l"/>
            <a:pathLst>
              <a:path h="1251867" w="1353370">
                <a:moveTo>
                  <a:pt x="0" y="0"/>
                </a:moveTo>
                <a:lnTo>
                  <a:pt x="1353370" y="0"/>
                </a:lnTo>
                <a:lnTo>
                  <a:pt x="1353370" y="1251867"/>
                </a:lnTo>
                <a:lnTo>
                  <a:pt x="0" y="125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785444" y="7561970"/>
            <a:ext cx="8424063" cy="0"/>
          </a:xfrm>
          <a:prstGeom prst="line">
            <a:avLst/>
          </a:prstGeom>
          <a:ln cap="flat" w="38100">
            <a:solidFill>
              <a:srgbClr val="03030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85444" y="5979341"/>
            <a:ext cx="8424063" cy="0"/>
          </a:xfrm>
          <a:prstGeom prst="line">
            <a:avLst/>
          </a:prstGeom>
          <a:ln cap="flat" w="38100">
            <a:solidFill>
              <a:srgbClr val="03030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85444" y="4394099"/>
            <a:ext cx="8424063" cy="0"/>
          </a:xfrm>
          <a:prstGeom prst="line">
            <a:avLst/>
          </a:prstGeom>
          <a:ln cap="flat" w="38100">
            <a:solidFill>
              <a:srgbClr val="03030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19937" y="2723132"/>
            <a:ext cx="8424063" cy="0"/>
          </a:xfrm>
          <a:prstGeom prst="line">
            <a:avLst/>
          </a:prstGeom>
          <a:ln cap="flat" w="38100">
            <a:solidFill>
              <a:srgbClr val="030303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2700000">
            <a:off x="-1275463" y="8898577"/>
            <a:ext cx="3086100" cy="2700338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13401" y="1422260"/>
            <a:ext cx="6090818" cy="115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 Invocation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(Bash, file read/write/delete, git, codebase search, web search)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13401" y="2940761"/>
            <a:ext cx="6090818" cy="115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Multi-step planning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(Hard server-side toggle between Planner and Builder modes)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3401" y="4568865"/>
            <a:ext cx="5807114" cy="115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multi-turn memory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(Durable across sessions, independent of chat transcript)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3401" y="6150791"/>
            <a:ext cx="6570932" cy="115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knowledge retrieval (RAG)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(Zero-overhead TF-IDF Skill Library, no secondary neural embedding model required)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3401" y="7733420"/>
            <a:ext cx="6570932" cy="115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Permission control &amp; privacy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(Local auth gate, human-in-the-loop explicit approval for destructive writes/shell execution or web-read tool)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20024" y="4251224"/>
            <a:ext cx="634970" cy="127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7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398935" y="-1324853"/>
            <a:ext cx="3086100" cy="2700338"/>
            <a:chOff x="0" y="0"/>
            <a:chExt cx="812800" cy="711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4343433">
            <a:off x="16552293" y="9065185"/>
            <a:ext cx="3086100" cy="2700338"/>
            <a:chOff x="0" y="0"/>
            <a:chExt cx="812800" cy="71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1352310" y="-1746589"/>
            <a:ext cx="3086100" cy="2700338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00450"/>
            <a:ext cx="2587685" cy="2511006"/>
            <a:chOff x="0" y="0"/>
            <a:chExt cx="681530" cy="661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1530" cy="661335"/>
            </a:xfrm>
            <a:custGeom>
              <a:avLst/>
              <a:gdLst/>
              <a:ahLst/>
              <a:cxnLst/>
              <a:rect r="r" b="b" t="t" l="l"/>
              <a:pathLst>
                <a:path h="661335" w="681530">
                  <a:moveTo>
                    <a:pt x="56845" y="0"/>
                  </a:moveTo>
                  <a:lnTo>
                    <a:pt x="624685" y="0"/>
                  </a:lnTo>
                  <a:cubicBezTo>
                    <a:pt x="656080" y="0"/>
                    <a:pt x="681530" y="25450"/>
                    <a:pt x="681530" y="56845"/>
                  </a:cubicBezTo>
                  <a:lnTo>
                    <a:pt x="681530" y="604490"/>
                  </a:lnTo>
                  <a:cubicBezTo>
                    <a:pt x="681530" y="635885"/>
                    <a:pt x="656080" y="661335"/>
                    <a:pt x="624685" y="661335"/>
                  </a:cubicBezTo>
                  <a:lnTo>
                    <a:pt x="56845" y="661335"/>
                  </a:lnTo>
                  <a:cubicBezTo>
                    <a:pt x="25450" y="661335"/>
                    <a:pt x="0" y="635885"/>
                    <a:pt x="0" y="604490"/>
                  </a:cubicBezTo>
                  <a:lnTo>
                    <a:pt x="0" y="56845"/>
                  </a:lnTo>
                  <a:cubicBezTo>
                    <a:pt x="0" y="25450"/>
                    <a:pt x="25450" y="0"/>
                    <a:pt x="56845" y="0"/>
                  </a:cubicBezTo>
                  <a:close/>
                </a:path>
              </a:pathLst>
            </a:custGeom>
            <a:solidFill>
              <a:srgbClr val="030303"/>
            </a:solidFill>
            <a:ln w="228600" cap="sq">
              <a:solidFill>
                <a:srgbClr val="32F08C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81530" cy="69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4949" y="3600450"/>
            <a:ext cx="2587685" cy="2511006"/>
            <a:chOff x="0" y="0"/>
            <a:chExt cx="681530" cy="6613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1530" cy="661335"/>
            </a:xfrm>
            <a:custGeom>
              <a:avLst/>
              <a:gdLst/>
              <a:ahLst/>
              <a:cxnLst/>
              <a:rect r="r" b="b" t="t" l="l"/>
              <a:pathLst>
                <a:path h="661335" w="681530">
                  <a:moveTo>
                    <a:pt x="56845" y="0"/>
                  </a:moveTo>
                  <a:lnTo>
                    <a:pt x="624685" y="0"/>
                  </a:lnTo>
                  <a:cubicBezTo>
                    <a:pt x="656080" y="0"/>
                    <a:pt x="681530" y="25450"/>
                    <a:pt x="681530" y="56845"/>
                  </a:cubicBezTo>
                  <a:lnTo>
                    <a:pt x="681530" y="604490"/>
                  </a:lnTo>
                  <a:cubicBezTo>
                    <a:pt x="681530" y="635885"/>
                    <a:pt x="656080" y="661335"/>
                    <a:pt x="624685" y="661335"/>
                  </a:cubicBezTo>
                  <a:lnTo>
                    <a:pt x="56845" y="661335"/>
                  </a:lnTo>
                  <a:cubicBezTo>
                    <a:pt x="25450" y="661335"/>
                    <a:pt x="0" y="635885"/>
                    <a:pt x="0" y="604490"/>
                  </a:cubicBezTo>
                  <a:lnTo>
                    <a:pt x="0" y="56845"/>
                  </a:lnTo>
                  <a:cubicBezTo>
                    <a:pt x="0" y="25450"/>
                    <a:pt x="25450" y="0"/>
                    <a:pt x="56845" y="0"/>
                  </a:cubicBezTo>
                  <a:close/>
                </a:path>
              </a:pathLst>
            </a:custGeom>
            <a:solidFill>
              <a:srgbClr val="030303"/>
            </a:solidFill>
            <a:ln w="228600" cap="sq">
              <a:solidFill>
                <a:srgbClr val="32F08C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81530" cy="69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17484" y="3600450"/>
            <a:ext cx="2587685" cy="2511006"/>
            <a:chOff x="0" y="0"/>
            <a:chExt cx="681530" cy="6613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1530" cy="661335"/>
            </a:xfrm>
            <a:custGeom>
              <a:avLst/>
              <a:gdLst/>
              <a:ahLst/>
              <a:cxnLst/>
              <a:rect r="r" b="b" t="t" l="l"/>
              <a:pathLst>
                <a:path h="661335" w="681530">
                  <a:moveTo>
                    <a:pt x="56845" y="0"/>
                  </a:moveTo>
                  <a:lnTo>
                    <a:pt x="624685" y="0"/>
                  </a:lnTo>
                  <a:cubicBezTo>
                    <a:pt x="656080" y="0"/>
                    <a:pt x="681530" y="25450"/>
                    <a:pt x="681530" y="56845"/>
                  </a:cubicBezTo>
                  <a:lnTo>
                    <a:pt x="681530" y="604490"/>
                  </a:lnTo>
                  <a:cubicBezTo>
                    <a:pt x="681530" y="635885"/>
                    <a:pt x="656080" y="661335"/>
                    <a:pt x="624685" y="661335"/>
                  </a:cubicBezTo>
                  <a:lnTo>
                    <a:pt x="56845" y="661335"/>
                  </a:lnTo>
                  <a:cubicBezTo>
                    <a:pt x="25450" y="661335"/>
                    <a:pt x="0" y="635885"/>
                    <a:pt x="0" y="604490"/>
                  </a:cubicBezTo>
                  <a:lnTo>
                    <a:pt x="0" y="56845"/>
                  </a:lnTo>
                  <a:cubicBezTo>
                    <a:pt x="0" y="25450"/>
                    <a:pt x="25450" y="0"/>
                    <a:pt x="56845" y="0"/>
                  </a:cubicBezTo>
                  <a:close/>
                </a:path>
              </a:pathLst>
            </a:custGeom>
            <a:solidFill>
              <a:srgbClr val="030303"/>
            </a:solidFill>
            <a:ln w="228600" cap="sq">
              <a:solidFill>
                <a:srgbClr val="32F08C"/>
              </a:solidFill>
              <a:prstDash val="lg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81530" cy="69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10019" y="3600450"/>
            <a:ext cx="2587685" cy="2511006"/>
            <a:chOff x="0" y="0"/>
            <a:chExt cx="681530" cy="6613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1530" cy="661335"/>
            </a:xfrm>
            <a:custGeom>
              <a:avLst/>
              <a:gdLst/>
              <a:ahLst/>
              <a:cxnLst/>
              <a:rect r="r" b="b" t="t" l="l"/>
              <a:pathLst>
                <a:path h="661335" w="681530">
                  <a:moveTo>
                    <a:pt x="56845" y="0"/>
                  </a:moveTo>
                  <a:lnTo>
                    <a:pt x="624685" y="0"/>
                  </a:lnTo>
                  <a:cubicBezTo>
                    <a:pt x="656080" y="0"/>
                    <a:pt x="681530" y="25450"/>
                    <a:pt x="681530" y="56845"/>
                  </a:cubicBezTo>
                  <a:lnTo>
                    <a:pt x="681530" y="604490"/>
                  </a:lnTo>
                  <a:cubicBezTo>
                    <a:pt x="681530" y="635885"/>
                    <a:pt x="656080" y="661335"/>
                    <a:pt x="624685" y="661335"/>
                  </a:cubicBezTo>
                  <a:lnTo>
                    <a:pt x="56845" y="661335"/>
                  </a:lnTo>
                  <a:cubicBezTo>
                    <a:pt x="25450" y="661335"/>
                    <a:pt x="0" y="635885"/>
                    <a:pt x="0" y="604490"/>
                  </a:cubicBezTo>
                  <a:lnTo>
                    <a:pt x="0" y="56845"/>
                  </a:lnTo>
                  <a:cubicBezTo>
                    <a:pt x="0" y="25450"/>
                    <a:pt x="25450" y="0"/>
                    <a:pt x="56845" y="0"/>
                  </a:cubicBezTo>
                  <a:close/>
                </a:path>
              </a:pathLst>
            </a:custGeom>
            <a:solidFill>
              <a:srgbClr val="030303"/>
            </a:solidFill>
            <a:ln w="228600" cap="sq">
              <a:solidFill>
                <a:srgbClr val="32F08C"/>
              </a:solidFill>
              <a:prstDash val="lg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81530" cy="69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02554" y="3600450"/>
            <a:ext cx="2587685" cy="2511006"/>
            <a:chOff x="0" y="0"/>
            <a:chExt cx="681530" cy="6613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1530" cy="661335"/>
            </a:xfrm>
            <a:custGeom>
              <a:avLst/>
              <a:gdLst/>
              <a:ahLst/>
              <a:cxnLst/>
              <a:rect r="r" b="b" t="t" l="l"/>
              <a:pathLst>
                <a:path h="661335" w="681530">
                  <a:moveTo>
                    <a:pt x="56845" y="0"/>
                  </a:moveTo>
                  <a:lnTo>
                    <a:pt x="624685" y="0"/>
                  </a:lnTo>
                  <a:cubicBezTo>
                    <a:pt x="656080" y="0"/>
                    <a:pt x="681530" y="25450"/>
                    <a:pt x="681530" y="56845"/>
                  </a:cubicBezTo>
                  <a:lnTo>
                    <a:pt x="681530" y="604490"/>
                  </a:lnTo>
                  <a:cubicBezTo>
                    <a:pt x="681530" y="635885"/>
                    <a:pt x="656080" y="661335"/>
                    <a:pt x="624685" y="661335"/>
                  </a:cubicBezTo>
                  <a:lnTo>
                    <a:pt x="56845" y="661335"/>
                  </a:lnTo>
                  <a:cubicBezTo>
                    <a:pt x="25450" y="661335"/>
                    <a:pt x="0" y="635885"/>
                    <a:pt x="0" y="604490"/>
                  </a:cubicBezTo>
                  <a:lnTo>
                    <a:pt x="0" y="56845"/>
                  </a:lnTo>
                  <a:cubicBezTo>
                    <a:pt x="0" y="25450"/>
                    <a:pt x="25450" y="0"/>
                    <a:pt x="56845" y="0"/>
                  </a:cubicBezTo>
                  <a:close/>
                </a:path>
              </a:pathLst>
            </a:custGeom>
            <a:solidFill>
              <a:srgbClr val="030303"/>
            </a:solidFill>
            <a:ln w="228600" cap="sq">
              <a:solidFill>
                <a:srgbClr val="32F08C"/>
              </a:solidFill>
              <a:prstDash val="lgDash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1530" cy="69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3439" y="6747320"/>
            <a:ext cx="5880220" cy="2510980"/>
            <a:chOff x="0" y="0"/>
            <a:chExt cx="1548638" cy="6611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8638" cy="661162"/>
            </a:xfrm>
            <a:custGeom>
              <a:avLst/>
              <a:gdLst/>
              <a:ahLst/>
              <a:cxnLst/>
              <a:rect r="r" b="b" t="t" l="l"/>
              <a:pathLst>
                <a:path h="661162" w="1548638">
                  <a:moveTo>
                    <a:pt x="1548638" y="48714"/>
                  </a:moveTo>
                  <a:lnTo>
                    <a:pt x="1548638" y="612448"/>
                  </a:lnTo>
                  <a:cubicBezTo>
                    <a:pt x="1548638" y="639352"/>
                    <a:pt x="1526828" y="661162"/>
                    <a:pt x="1499924" y="661162"/>
                  </a:cubicBezTo>
                  <a:lnTo>
                    <a:pt x="48714" y="661162"/>
                  </a:lnTo>
                  <a:cubicBezTo>
                    <a:pt x="21810" y="661162"/>
                    <a:pt x="0" y="639352"/>
                    <a:pt x="0" y="612448"/>
                  </a:cubicBezTo>
                  <a:lnTo>
                    <a:pt x="0" y="48714"/>
                  </a:lnTo>
                  <a:cubicBezTo>
                    <a:pt x="0" y="21810"/>
                    <a:pt x="21810" y="0"/>
                    <a:pt x="48714" y="0"/>
                  </a:cubicBezTo>
                  <a:lnTo>
                    <a:pt x="1499924" y="0"/>
                  </a:lnTo>
                  <a:cubicBezTo>
                    <a:pt x="1526828" y="0"/>
                    <a:pt x="1548638" y="21810"/>
                    <a:pt x="1548638" y="48714"/>
                  </a:cubicBezTo>
                  <a:close/>
                </a:path>
              </a:pathLst>
            </a:custGeom>
            <a:solidFill>
              <a:srgbClr val="030303"/>
            </a:solidFill>
            <a:ln w="104775" cap="rnd">
              <a:solidFill>
                <a:srgbClr val="32F08C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8638" cy="699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0667429" y="6429388"/>
            <a:ext cx="6492240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13913549" y="6429388"/>
            <a:ext cx="0" cy="3181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501358" y="501358"/>
            <a:ext cx="1054684" cy="1054684"/>
          </a:xfrm>
          <a:custGeom>
            <a:avLst/>
            <a:gdLst/>
            <a:ahLst/>
            <a:cxnLst/>
            <a:rect r="r" b="b" t="t" l="l"/>
            <a:pathLst>
              <a:path h="1054684" w="1054684">
                <a:moveTo>
                  <a:pt x="0" y="0"/>
                </a:moveTo>
                <a:lnTo>
                  <a:pt x="1054684" y="0"/>
                </a:lnTo>
                <a:lnTo>
                  <a:pt x="1054684" y="1054684"/>
                </a:lnTo>
                <a:lnTo>
                  <a:pt x="0" y="1054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65280" y="4298317"/>
            <a:ext cx="2714525" cy="80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Flutter UI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(Desktop App)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61529" y="4138086"/>
            <a:ext cx="2714525" cy="131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Backend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(FastAPI, LocalPipe)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54064" y="4159994"/>
            <a:ext cx="2714525" cy="80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Agent Loop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(Tool dispatch &amp; RAG)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46599" y="4138086"/>
            <a:ext cx="2714525" cy="133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VTE Engine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(Custom HIP Kernels,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Inference engine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scratch)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39134" y="4159994"/>
            <a:ext cx="2714525" cy="106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AMD GPU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(Bare-metal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execution</a:t>
            </a: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10558" y="7182708"/>
            <a:ext cx="5005981" cy="158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engine pre-allocates persistent activation buffers for every intermediate tensor up front, capturing the decode path into a HIP Graph to eliminate Python-side dispatch overhead.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101" y="5939167"/>
            <a:ext cx="3162779" cy="3009421"/>
            <a:chOff x="0" y="0"/>
            <a:chExt cx="832995" cy="7926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2995" cy="792605"/>
            </a:xfrm>
            <a:custGeom>
              <a:avLst/>
              <a:gdLst/>
              <a:ahLst/>
              <a:cxnLst/>
              <a:rect r="r" b="b" t="t" l="l"/>
              <a:pathLst>
                <a:path h="792605" w="832995">
                  <a:moveTo>
                    <a:pt x="0" y="0"/>
                  </a:moveTo>
                  <a:lnTo>
                    <a:pt x="832995" y="0"/>
                  </a:lnTo>
                  <a:lnTo>
                    <a:pt x="832995" y="792605"/>
                  </a:lnTo>
                  <a:lnTo>
                    <a:pt x="0" y="792605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32995" cy="83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86180" y="-732886"/>
            <a:ext cx="3162779" cy="3009421"/>
            <a:chOff x="0" y="0"/>
            <a:chExt cx="832995" cy="792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2995" cy="792605"/>
            </a:xfrm>
            <a:custGeom>
              <a:avLst/>
              <a:gdLst/>
              <a:ahLst/>
              <a:cxnLst/>
              <a:rect r="r" b="b" t="t" l="l"/>
              <a:pathLst>
                <a:path h="792605" w="832995">
                  <a:moveTo>
                    <a:pt x="0" y="0"/>
                  </a:moveTo>
                  <a:lnTo>
                    <a:pt x="832995" y="0"/>
                  </a:lnTo>
                  <a:lnTo>
                    <a:pt x="832995" y="792605"/>
                  </a:lnTo>
                  <a:lnTo>
                    <a:pt x="0" y="792605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32995" cy="83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403" y="1817658"/>
            <a:ext cx="6766704" cy="6459987"/>
            <a:chOff x="0" y="0"/>
            <a:chExt cx="1782177" cy="1701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2177" cy="1701396"/>
            </a:xfrm>
            <a:custGeom>
              <a:avLst/>
              <a:gdLst/>
              <a:ahLst/>
              <a:cxnLst/>
              <a:rect r="r" b="b" t="t" l="l"/>
              <a:pathLst>
                <a:path h="1701396" w="1782177">
                  <a:moveTo>
                    <a:pt x="0" y="0"/>
                  </a:moveTo>
                  <a:lnTo>
                    <a:pt x="1782177" y="0"/>
                  </a:lnTo>
                  <a:lnTo>
                    <a:pt x="1782177" y="1701396"/>
                  </a:lnTo>
                  <a:lnTo>
                    <a:pt x="0" y="1701396"/>
                  </a:lnTo>
                  <a:close/>
                </a:path>
              </a:pathLst>
            </a:custGeom>
            <a:solidFill>
              <a:srgbClr val="03030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2177" cy="1739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9969" y="2316073"/>
            <a:ext cx="5961572" cy="5654855"/>
            <a:chOff x="0" y="0"/>
            <a:chExt cx="1570126" cy="14893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70126" cy="1489344"/>
            </a:xfrm>
            <a:custGeom>
              <a:avLst/>
              <a:gdLst/>
              <a:ahLst/>
              <a:cxnLst/>
              <a:rect r="r" b="b" t="t" l="l"/>
              <a:pathLst>
                <a:path h="1489344" w="1570126">
                  <a:moveTo>
                    <a:pt x="0" y="0"/>
                  </a:moveTo>
                  <a:lnTo>
                    <a:pt x="1570126" y="0"/>
                  </a:lnTo>
                  <a:lnTo>
                    <a:pt x="1570126" y="1489344"/>
                  </a:lnTo>
                  <a:lnTo>
                    <a:pt x="0" y="1489344"/>
                  </a:lnTo>
                  <a:close/>
                </a:path>
              </a:pathLst>
            </a:custGeom>
            <a:solidFill>
              <a:srgbClr val="F7F7F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70126" cy="1527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2697" y="2360930"/>
            <a:ext cx="5536116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 didn't use Ollama or Llama.cpp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15637" y="454684"/>
            <a:ext cx="3162779" cy="3009421"/>
            <a:chOff x="0" y="0"/>
            <a:chExt cx="832995" cy="7926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2995" cy="792605"/>
            </a:xfrm>
            <a:custGeom>
              <a:avLst/>
              <a:gdLst/>
              <a:ahLst/>
              <a:cxnLst/>
              <a:rect r="r" b="b" t="t" l="l"/>
              <a:pathLst>
                <a:path h="792605" w="832995">
                  <a:moveTo>
                    <a:pt x="0" y="0"/>
                  </a:moveTo>
                  <a:lnTo>
                    <a:pt x="832995" y="0"/>
                  </a:lnTo>
                  <a:lnTo>
                    <a:pt x="832995" y="792605"/>
                  </a:lnTo>
                  <a:lnTo>
                    <a:pt x="0" y="792605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32995" cy="83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7443877"/>
            <a:ext cx="3162779" cy="3009421"/>
            <a:chOff x="0" y="0"/>
            <a:chExt cx="832995" cy="7926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2995" cy="792605"/>
            </a:xfrm>
            <a:custGeom>
              <a:avLst/>
              <a:gdLst/>
              <a:ahLst/>
              <a:cxnLst/>
              <a:rect r="r" b="b" t="t" l="l"/>
              <a:pathLst>
                <a:path h="792605" w="832995">
                  <a:moveTo>
                    <a:pt x="0" y="0"/>
                  </a:moveTo>
                  <a:lnTo>
                    <a:pt x="832995" y="0"/>
                  </a:lnTo>
                  <a:lnTo>
                    <a:pt x="832995" y="792605"/>
                  </a:lnTo>
                  <a:lnTo>
                    <a:pt x="0" y="792605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32995" cy="83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891307" y="5241943"/>
            <a:ext cx="5690233" cy="181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built our own AMD Native inference engine form scratch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915252" y="2035513"/>
            <a:ext cx="10581287" cy="66224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12992" y="653724"/>
            <a:ext cx="11972736" cy="8979552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0" y="1367658"/>
            <a:ext cx="2338477" cy="233847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0591" y="93980"/>
            <a:ext cx="5468541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Vitals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591" y="1771649"/>
            <a:ext cx="5012323" cy="21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06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Radeon PRO W7900 Cloud Instance</a:t>
            </a:r>
          </a:p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(96 CUs, 48Gb). Running the massive Granite 4.1 30B (Q8_O) and Llama 3.1 70B Q4_K_M.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4306941"/>
            <a:ext cx="2338477" cy="23384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7245494"/>
            <a:ext cx="2338477" cy="233847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00591" y="4706991"/>
            <a:ext cx="5012323" cy="128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06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Peak Temp: 55C</a:t>
            </a:r>
          </a:p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Zero thermal throttling across back-to-back generations.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591" y="7645544"/>
            <a:ext cx="5012323" cy="128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06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Peak Power: 243W</a:t>
            </a:r>
          </a:p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Sustained perfectly against the 241W TDP limit.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 rot="0">
            <a:off x="7600343" y="1074856"/>
            <a:ext cx="10913468" cy="871142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67152" y="500720"/>
            <a:ext cx="10913468" cy="8711423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651633" y="6664024"/>
            <a:ext cx="5674546" cy="1399157"/>
            <a:chOff x="0" y="0"/>
            <a:chExt cx="1494531" cy="368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4531" cy="368502"/>
            </a:xfrm>
            <a:custGeom>
              <a:avLst/>
              <a:gdLst/>
              <a:ahLst/>
              <a:cxnLst/>
              <a:rect r="r" b="b" t="t" l="l"/>
              <a:pathLst>
                <a:path h="368502" w="1494531">
                  <a:moveTo>
                    <a:pt x="0" y="0"/>
                  </a:moveTo>
                  <a:lnTo>
                    <a:pt x="1494531" y="0"/>
                  </a:lnTo>
                  <a:lnTo>
                    <a:pt x="1494531" y="368502"/>
                  </a:lnTo>
                  <a:lnTo>
                    <a:pt x="0" y="36850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4531" cy="406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1633" y="1267301"/>
            <a:ext cx="5674546" cy="185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32F08C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beyond the hackathon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1633" y="3725090"/>
            <a:ext cx="5674546" cy="22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6"/>
              </a:lnSpc>
            </a:pPr>
            <a:r>
              <a:rPr lang="en-US" sz="31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VTE is currently in review as an official experimental backend for AMD Lemonade local LLM server.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1633" y="6664024"/>
            <a:ext cx="613716" cy="1399157"/>
            <a:chOff x="0" y="0"/>
            <a:chExt cx="161637" cy="3685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637" cy="368502"/>
            </a:xfrm>
            <a:custGeom>
              <a:avLst/>
              <a:gdLst/>
              <a:ahLst/>
              <a:cxnLst/>
              <a:rect r="r" b="b" t="t" l="l"/>
              <a:pathLst>
                <a:path h="368502" w="161637">
                  <a:moveTo>
                    <a:pt x="0" y="0"/>
                  </a:moveTo>
                  <a:lnTo>
                    <a:pt x="161637" y="0"/>
                  </a:lnTo>
                  <a:lnTo>
                    <a:pt x="161637" y="368502"/>
                  </a:lnTo>
                  <a:lnTo>
                    <a:pt x="0" y="368502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1637" cy="406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70825" y="6970778"/>
            <a:ext cx="4524357" cy="72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0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Credited by name in Lemonade's official v11.5.0 release notes.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1633" y="8302688"/>
            <a:ext cx="5674546" cy="1399157"/>
            <a:chOff x="0" y="0"/>
            <a:chExt cx="1494531" cy="3685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4531" cy="368502"/>
            </a:xfrm>
            <a:custGeom>
              <a:avLst/>
              <a:gdLst/>
              <a:ahLst/>
              <a:cxnLst/>
              <a:rect r="r" b="b" t="t" l="l"/>
              <a:pathLst>
                <a:path h="368502" w="1494531">
                  <a:moveTo>
                    <a:pt x="0" y="0"/>
                  </a:moveTo>
                  <a:lnTo>
                    <a:pt x="1494531" y="0"/>
                  </a:lnTo>
                  <a:lnTo>
                    <a:pt x="1494531" y="368502"/>
                  </a:lnTo>
                  <a:lnTo>
                    <a:pt x="0" y="36850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94531" cy="406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1633" y="8302688"/>
            <a:ext cx="613716" cy="1399157"/>
            <a:chOff x="0" y="0"/>
            <a:chExt cx="161637" cy="3685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637" cy="368502"/>
            </a:xfrm>
            <a:custGeom>
              <a:avLst/>
              <a:gdLst/>
              <a:ahLst/>
              <a:cxnLst/>
              <a:rect r="r" b="b" t="t" l="l"/>
              <a:pathLst>
                <a:path h="368502" w="161637">
                  <a:moveTo>
                    <a:pt x="0" y="0"/>
                  </a:moveTo>
                  <a:lnTo>
                    <a:pt x="161637" y="0"/>
                  </a:lnTo>
                  <a:lnTo>
                    <a:pt x="161637" y="368502"/>
                  </a:lnTo>
                  <a:lnTo>
                    <a:pt x="0" y="368502"/>
                  </a:lnTo>
                  <a:close/>
                </a:path>
              </a:pathLst>
            </a:custGeom>
            <a:solidFill>
              <a:srgbClr val="32F08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1637" cy="406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70825" y="8609443"/>
            <a:ext cx="4524357" cy="72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0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Directly upstreamed the RX 7600 hardware detection fixes.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38229" y="4188778"/>
            <a:ext cx="7811542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32F08C"/>
                </a:solidFill>
                <a:latin typeface="Poppins Bold"/>
                <a:ea typeface="Poppins Bold"/>
                <a:cs typeface="Poppins Bold"/>
                <a:sym typeface="Poppins Bold"/>
              </a:rPr>
              <a:t>Aetheris </a:t>
            </a:r>
            <a:r>
              <a:rPr lang="en-US" sz="9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VTE.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04507" y="2258271"/>
            <a:ext cx="1878986" cy="1878986"/>
          </a:xfrm>
          <a:custGeom>
            <a:avLst/>
            <a:gdLst/>
            <a:ahLst/>
            <a:cxnLst/>
            <a:rect r="r" b="b" t="t" l="l"/>
            <a:pathLst>
              <a:path h="1878986" w="1878986">
                <a:moveTo>
                  <a:pt x="0" y="0"/>
                </a:moveTo>
                <a:lnTo>
                  <a:pt x="1878986" y="0"/>
                </a:lnTo>
                <a:lnTo>
                  <a:pt x="1878986" y="1878986"/>
                </a:lnTo>
                <a:lnTo>
                  <a:pt x="0" y="1878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11254" y="5736272"/>
            <a:ext cx="7265491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 own AMD Native ecossystem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10362" y="8960485"/>
            <a:ext cx="606727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by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Kaue Oliveira Costa (kyuubyN)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26201" y="9482612"/>
            <a:ext cx="383559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 love, from Brazil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DAHQDxTWs6Y</dc:identifier>
  <dcterms:modified xsi:type="dcterms:W3CDTF">2011-08-01T06:04:30Z</dcterms:modified>
  <cp:revision>1</cp:revision>
  <dc:title>Aetheris + VTE</dc:title>
</cp:coreProperties>
</file>