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3"/>
  </p:normalViewPr>
  <p:slideViewPr>
    <p:cSldViewPr snapToGrid="0" snapToObjects="1">
      <p:cViewPr varScale="1">
        <p:scale>
          <a:sx n="95" d="100"/>
          <a:sy n="95" d="100"/>
        </p:scale>
        <p:origin x="200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source deck: ForgeAI_AMD_Track2_Pitch_Deck_v3.pptx</a:t>
            </a:r>
          </a:p>
          <a:p>
            <a:r>
              <a:t>- Local brand source: frontend/src/components/AppShell.tsx and frontend/src/styles/global.css</a:t>
            </a:r>
          </a:p>
          <a:p>
            <a:r>
              <a:t>- Product screenshots: original embedded captures from the source deck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source deck: ForgeAI_AMD_Track2_Pitch_Deck_v3.pptx</a:t>
            </a:r>
          </a:p>
          <a:p>
            <a:r>
              <a:t>- Local brand source: frontend/src/components/AppShell.tsx and frontend/src/styles/global.css</a:t>
            </a:r>
          </a:p>
          <a:p>
            <a:r>
              <a:t>- Product screenshots: original embedded captures from the source deck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source deck: ForgeAI_AMD_Track2_Pitch_Deck_v3.pptx</a:t>
            </a:r>
          </a:p>
          <a:p>
            <a:r>
              <a:t>- Local brand source: frontend/src/components/AppShell.tsx and frontend/src/styles/global.css</a:t>
            </a:r>
          </a:p>
          <a:p>
            <a:r>
              <a:t>- Product screenshots: original embedded captures from the source deck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source deck: ForgeAI_AMD_Track2_Pitch_Deck_v3.pptx</a:t>
            </a:r>
          </a:p>
          <a:p>
            <a:r>
              <a:t>- Local brand source: frontend/src/components/AppShell.tsx and frontend/src/styles/global.css</a:t>
            </a:r>
          </a:p>
          <a:p>
            <a:r>
              <a:t>- Product screenshots: original embedded captures from the source deck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source deck: ForgeAI_AMD_Track2_Pitch_Deck_v3.pptx</a:t>
            </a:r>
          </a:p>
          <a:p>
            <a:r>
              <a:t>- Local brand source: frontend/src/components/AppShell.tsx and frontend/src/styles/global.css</a:t>
            </a:r>
          </a:p>
          <a:p>
            <a:r>
              <a:t>- Product screenshots: original embedded captures from the source deck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source deck: ForgeAI_AMD_Track2_Pitch_Deck_v3.pptx</a:t>
            </a:r>
          </a:p>
          <a:p>
            <a:r>
              <a:t>- Local brand source: frontend/src/components/AppShell.tsx and frontend/src/styles/global.css</a:t>
            </a:r>
          </a:p>
          <a:p>
            <a:r>
              <a:t>- Product screenshots: original embedded captures from the source deck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source deck: ForgeAI_AMD_Track2_Pitch_Deck_v3.pptx</a:t>
            </a:r>
          </a:p>
          <a:p>
            <a:r>
              <a:t>- Local brand source: frontend/src/components/AppShell.tsx and frontend/src/styles/global.css</a:t>
            </a:r>
          </a:p>
          <a:p>
            <a:r>
              <a:t>- Product screenshots: original embedded captures from the source deck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source deck: ForgeAI_AMD_Track2_Pitch_Deck_v3.pptx</a:t>
            </a:r>
          </a:p>
          <a:p>
            <a:r>
              <a:t>- Local brand source: frontend/src/components/AppShell.tsx and frontend/src/styles/global.css</a:t>
            </a:r>
          </a:p>
          <a:p>
            <a:r>
              <a:t>- Product screenshots: original embedded captures from the source deck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source deck: ForgeAI_AMD_Track2_Pitch_Deck_v3.pptx</a:t>
            </a:r>
          </a:p>
          <a:p>
            <a:r>
              <a:t>- Local brand source: frontend/src/components/AppShell.tsx and frontend/src/styles/global.css</a:t>
            </a:r>
          </a:p>
          <a:p>
            <a:r>
              <a:t>- Product screenshots: original embedded captures from the source deck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source deck: ForgeAI_AMD_Track2_Pitch_Deck_v3.pptx</a:t>
            </a:r>
          </a:p>
          <a:p>
            <a:r>
              <a:t>- Local brand source: frontend/src/components/AppShell.tsx and frontend/src/styles/global.css</a:t>
            </a:r>
          </a:p>
          <a:p>
            <a:r>
              <a:t>- Product screenshots: original embedded captures from the source deck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3AFA99-2DCD-49CF-8394-5C64877FC6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0B10"/>
          </a:solidFill>
          <a:ln w="12700">
            <a:solidFill>
              <a:srgbClr val="060B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51705AE-903B-4CFD-9A1D-9268E57E0B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0D1D28A-8EC2-4A60-9012-CE77ED666546}"/>
              </a:ext>
            </a:extLst>
          </p:cNvPr>
          <p:cNvSpPr>
            <a:spLocks noGrp="1"/>
          </p:cNvSpPr>
          <p:nvPr/>
        </p:nvSpPr>
        <p:spPr>
          <a:xfrm>
            <a:off x="228600" y="164592"/>
            <a:ext cx="2377440" cy="16459"/>
          </a:xfrm>
          <a:prstGeom prst="rect">
            <a:avLst/>
          </a:prstGeom>
          <a:solidFill>
            <a:srgbClr val="54D8C8">
              <a:alpha val="35000"/>
            </a:srgbClr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243227A-CC2C-4FAA-B308-6CE63394B225}"/>
              </a:ext>
            </a:extLst>
          </p:cNvPr>
          <p:cNvSpPr>
            <a:spLocks noGrp="1"/>
          </p:cNvSpPr>
          <p:nvPr/>
        </p:nvSpPr>
        <p:spPr>
          <a:xfrm>
            <a:off x="9555480" y="6236208"/>
            <a:ext cx="2011680" cy="16459"/>
          </a:xfrm>
          <a:prstGeom prst="rect">
            <a:avLst/>
          </a:prstGeom>
          <a:solidFill>
            <a:srgbClr val="ED1C24"/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B30A040-6662-4E70-9D6B-149F418AB1D2}"/>
              </a:ext>
            </a:extLst>
          </p:cNvPr>
          <p:cNvSpPr>
            <a:spLocks noGrp="1"/>
          </p:cNvSpPr>
          <p:nvPr/>
        </p:nvSpPr>
        <p:spPr>
          <a:xfrm>
            <a:off x="658368" y="15544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54D8C8"/>
                </a:solidFill>
              </a:rPr>
              <a:t>AMD AI DEVMASTER · TRACK 2</a:t>
            </a:r>
            <a:endParaRPr sz="7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7A49265-6470-4102-83B5-11C256284DEE}"/>
              </a:ext>
            </a:extLst>
          </p:cNvPr>
          <p:cNvSpPr>
            <a:spLocks noGrp="1"/>
          </p:cNvSpPr>
          <p:nvPr/>
        </p:nvSpPr>
        <p:spPr>
          <a:xfrm>
            <a:off x="635508" y="1725930"/>
            <a:ext cx="4480560" cy="1417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b="1">
                <a:solidFill>
                  <a:srgbClr val="EDF2F5"/>
                </a:solidFill>
              </a:defRPr>
            </a:pPr>
            <a:r>
              <a:rPr sz="5200" b="1">
                <a:solidFill>
                  <a:srgbClr val="EDF2F5"/>
                </a:solidFill>
                <a:latin typeface="Aptos Display"/>
                <a:ea typeface="Aptos Display"/>
                <a:cs typeface="Aptos Display"/>
              </a:rPr>
              <a:t>ForgeAI</a:t>
            </a:r>
            <a:endParaRPr sz="5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5C47238-750F-4FED-A6BE-6195913695F5}"/>
              </a:ext>
            </a:extLst>
          </p:cNvPr>
          <p:cNvSpPr>
            <a:spLocks noGrp="1"/>
          </p:cNvSpPr>
          <p:nvPr/>
        </p:nvSpPr>
        <p:spPr>
          <a:xfrm>
            <a:off x="658368" y="2788920"/>
            <a:ext cx="4434840" cy="50292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500">
                <a:solidFill>
                  <a:srgbClr val="A2B2C0"/>
                </a:solidFill>
              </a:rPr>
              <a:t>Private, evidence-backed engineering decisions through deterministic multi-agent analysis.</a:t>
            </a:r>
            <a:endParaRPr sz="15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272CC8C-ED7A-46CD-9E43-B6279FEE0847}"/>
              </a:ext>
            </a:extLst>
          </p:cNvPr>
          <p:cNvSpPr>
            <a:spLocks noGrp="1"/>
          </p:cNvSpPr>
          <p:nvPr/>
        </p:nvSpPr>
        <p:spPr>
          <a:xfrm>
            <a:off x="658368" y="3520440"/>
            <a:ext cx="2834640" cy="292608"/>
          </a:xfrm>
          <a:prstGeom prst="roundRect">
            <a:avLst>
              <a:gd name="adj" fmla="val 18750"/>
            </a:avLst>
          </a:prstGeom>
          <a:solidFill>
            <a:srgbClr val="54D8C8">
              <a:alpha val="22000"/>
            </a:srgbClr>
          </a:solidFill>
          <a:ln w="12700">
            <a:solidFill>
              <a:srgbClr val="54D8C8">
                <a:alpha val="8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6BB3977-5627-4251-866C-D255EFC2E38E}"/>
              </a:ext>
            </a:extLst>
          </p:cNvPr>
          <p:cNvSpPr>
            <a:spLocks noGrp="1"/>
          </p:cNvSpPr>
          <p:nvPr/>
        </p:nvSpPr>
        <p:spPr>
          <a:xfrm>
            <a:off x="768096" y="3593592"/>
            <a:ext cx="2615184" cy="1097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 b="1">
                <a:solidFill>
                  <a:srgbClr val="54D8C8"/>
                </a:solidFill>
              </a:rPr>
              <a:t>VERIFIED AMD RADEON CLOUD INFERENCE</a:t>
            </a:r>
            <a:endParaRPr sz="7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CCA72AE-94C5-4ADF-B647-B94538618DDC}"/>
              </a:ext>
            </a:extLst>
          </p:cNvPr>
          <p:cNvSpPr>
            <a:spLocks noGrp="1"/>
          </p:cNvSpPr>
          <p:nvPr/>
        </p:nvSpPr>
        <p:spPr>
          <a:xfrm>
            <a:off x="658368" y="416052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101B24">
              <a:alpha val="92000"/>
            </a:srgbClr>
          </a:solidFill>
          <a:ln w="12700">
            <a:solidFill>
              <a:srgbClr val="23404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2B79FDE-A29E-49C4-A08F-589EE8A77EB5}"/>
              </a:ext>
            </a:extLst>
          </p:cNvPr>
          <p:cNvSpPr>
            <a:spLocks noGrp="1"/>
          </p:cNvSpPr>
          <p:nvPr/>
        </p:nvSpPr>
        <p:spPr>
          <a:xfrm>
            <a:off x="658368" y="427939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5</a:t>
            </a:r>
            <a:endParaRPr sz="24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75F0A8D-C825-4B8E-BC1F-387EB7B081FD}"/>
              </a:ext>
            </a:extLst>
          </p:cNvPr>
          <p:cNvSpPr>
            <a:spLocks noGrp="1"/>
          </p:cNvSpPr>
          <p:nvPr/>
        </p:nvSpPr>
        <p:spPr>
          <a:xfrm>
            <a:off x="731520" y="4727448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A2B2C0"/>
                </a:solidFill>
              </a:rPr>
              <a:t>bounded reasoning roles</a:t>
            </a:r>
            <a:endParaRPr sz="7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2D80283-6062-4F15-BE46-E20181BE6AC5}"/>
              </a:ext>
            </a:extLst>
          </p:cNvPr>
          <p:cNvSpPr>
            <a:spLocks noGrp="1"/>
          </p:cNvSpPr>
          <p:nvPr/>
        </p:nvSpPr>
        <p:spPr>
          <a:xfrm>
            <a:off x="2130552" y="416052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101B24">
              <a:alpha val="92000"/>
            </a:srgbClr>
          </a:solidFill>
          <a:ln w="12700">
            <a:solidFill>
              <a:srgbClr val="23404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A9CBAA6-65FB-4AB6-ACF6-51B03D99FA57}"/>
              </a:ext>
            </a:extLst>
          </p:cNvPr>
          <p:cNvSpPr>
            <a:spLocks noGrp="1"/>
          </p:cNvSpPr>
          <p:nvPr/>
        </p:nvSpPr>
        <p:spPr>
          <a:xfrm>
            <a:off x="2130552" y="427939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106s</a:t>
            </a:r>
            <a:endParaRPr sz="24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A8D40B9-825B-48D6-B142-6EFC89DB6804}"/>
              </a:ext>
            </a:extLst>
          </p:cNvPr>
          <p:cNvSpPr>
            <a:spLocks noGrp="1"/>
          </p:cNvSpPr>
          <p:nvPr/>
        </p:nvSpPr>
        <p:spPr>
          <a:xfrm>
            <a:off x="2203704" y="4727448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A2B2C0"/>
                </a:solidFill>
              </a:rPr>
              <a:t>verified AMD workflow</a:t>
            </a:r>
            <a:endParaRPr sz="7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E292880-40EF-4BCE-B87D-E28204C87D76}"/>
              </a:ext>
            </a:extLst>
          </p:cNvPr>
          <p:cNvSpPr>
            <a:spLocks noGrp="1"/>
          </p:cNvSpPr>
          <p:nvPr/>
        </p:nvSpPr>
        <p:spPr>
          <a:xfrm>
            <a:off x="3602736" y="416052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101B24">
              <a:alpha val="92000"/>
            </a:srgbClr>
          </a:solidFill>
          <a:ln w="12700">
            <a:solidFill>
              <a:srgbClr val="23404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97CAF68-4CDF-4F51-96AA-E949FFD7F104}"/>
              </a:ext>
            </a:extLst>
          </p:cNvPr>
          <p:cNvSpPr>
            <a:spLocks noGrp="1"/>
          </p:cNvSpPr>
          <p:nvPr/>
        </p:nvSpPr>
        <p:spPr>
          <a:xfrm>
            <a:off x="3602736" y="427939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0</a:t>
            </a:r>
            <a:endParaRPr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7C166E4-0B55-432D-A712-33E9B3800962}"/>
              </a:ext>
            </a:extLst>
          </p:cNvPr>
          <p:cNvSpPr>
            <a:spLocks noGrp="1"/>
          </p:cNvSpPr>
          <p:nvPr/>
        </p:nvSpPr>
        <p:spPr>
          <a:xfrm>
            <a:off x="3675888" y="4727448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A2B2C0"/>
                </a:solidFill>
              </a:rPr>
              <a:t>retries / repairs</a:t>
            </a:r>
            <a:endParaRPr sz="700"/>
          </a:p>
        </p:txBody>
      </p:sp>
      <p:pic>
        <p:nvPicPr>
          <p:cNvPr id="50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19750" y="1066800"/>
            <a:ext cx="5924550" cy="3267075"/>
          </a:xfrm>
          <a:prstGeom prst="roundRect">
            <a:avLst>
              <a:gd name="adj" fmla="val 2332"/>
            </a:avLst>
          </a:prstGeom>
        </p:spPr>
      </p:pic>
      <p:sp>
        <p:nvSpPr>
          <p:cNvPr id="27" name="Text 24">
            <a:extLst>
              <a:ext uri="{FF2B5EF4-FFF2-40B4-BE49-F238E27FC236}">
                <a16:creationId xmlns:a16="http://schemas.microsoft.com/office/drawing/2014/main" id="{313FC04D-528A-4077-996B-39FE34D64956}"/>
              </a:ext>
            </a:extLst>
          </p:cNvPr>
          <p:cNvSpPr>
            <a:spLocks noGrp="1"/>
          </p:cNvSpPr>
          <p:nvPr/>
        </p:nvSpPr>
        <p:spPr>
          <a:xfrm>
            <a:off x="11155680" y="6492240"/>
            <a:ext cx="32004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b="1">
                <a:solidFill>
                  <a:srgbClr val="ED1C24"/>
                </a:solidFill>
              </a:defRPr>
            </a:pPr>
            <a:r>
              <a:rPr sz="800" b="1">
                <a:solidFill>
                  <a:srgbClr val="ED1C24"/>
                </a:solidFill>
              </a:rPr>
              <a:t>01</a:t>
            </a:r>
            <a:endParaRPr sz="80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A5A0641C-4D37-4B19-8CE4-A40097BC569B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637281"/>
                </a:solidFill>
              </a:rPr>
              <a:t>AMD AI DevMaster Hackathon · Track 2</a:t>
            </a:r>
            <a:endParaRPr sz="7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A36CF2-EDA8-433A-8598-DA3A22D50C8F}"/>
              </a:ext>
            </a:extLst>
          </p:cNvPr>
          <p:cNvSpPr>
            <a:spLocks noGrp="1"/>
          </p:cNvSpPr>
          <p:nvPr/>
        </p:nvSpPr>
        <p:spPr>
          <a:xfrm>
            <a:off x="822960" y="5394960"/>
            <a:ext cx="420624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EFF4F7"/>
                </a:solidFill>
                <a:latin typeface="Aptos Display"/>
                <a:ea typeface="Aptos Display"/>
                <a:cs typeface="Aptos Display"/>
              </a:rPr>
              <a:t>ABHISHEK HERBERT SAMUEL</a:t>
            </a:r>
          </a:p>
          <a:p>
            <a:pPr algn="l">
              <a:spcBef>
                <a:spcPts val="200"/>
              </a:spcBef>
              <a:buNone/>
            </a:pPr>
            <a:r>
              <a:rPr sz="850" b="1">
                <a:solidFill>
                  <a:srgbClr val="5DD7C9"/>
                </a:solidFill>
                <a:latin typeface="Aptos"/>
                <a:ea typeface="Aptos"/>
                <a:cs typeface="Aptos"/>
              </a:rPr>
              <a:t>SOLO PARTICIPANT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90550" y="459499"/>
            <a:ext cx="2647950" cy="54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289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DF734F-5B65-4FB7-9919-1F075846A7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0"/>
          </a:solidFill>
          <a:ln w="12700">
            <a:solidFill>
              <a:srgbClr val="060B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63112AF-E9B9-4C0F-8FC9-5BBAB2D3AC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FFA7172-1BE0-44EE-B736-55F4E68F0041}"/>
              </a:ext>
            </a:extLst>
          </p:cNvPr>
          <p:cNvSpPr>
            <a:spLocks noGrp="1"/>
          </p:cNvSpPr>
          <p:nvPr/>
        </p:nvSpPr>
        <p:spPr>
          <a:xfrm>
            <a:off x="228600" y="164592"/>
            <a:ext cx="2377440" cy="16459"/>
          </a:xfrm>
          <a:prstGeom prst="rect">
            <a:avLst/>
          </a:prstGeom>
          <a:solidFill>
            <a:srgbClr val="54D8C8">
              <a:alpha val="35000"/>
            </a:srgbClr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F67F7B3-22F6-4CF9-B4A7-3EC95BCC6C1A}"/>
              </a:ext>
            </a:extLst>
          </p:cNvPr>
          <p:cNvSpPr>
            <a:spLocks noGrp="1"/>
          </p:cNvSpPr>
          <p:nvPr/>
        </p:nvSpPr>
        <p:spPr>
          <a:xfrm>
            <a:off x="9555480" y="6236208"/>
            <a:ext cx="2011680" cy="16459"/>
          </a:xfrm>
          <a:prstGeom prst="rect">
            <a:avLst/>
          </a:prstGeom>
          <a:solidFill>
            <a:srgbClr val="ED1C24"/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11E6422-C58E-46A6-AEFD-234EA28A22FD}"/>
              </a:ext>
            </a:extLst>
          </p:cNvPr>
          <p:cNvSpPr>
            <a:spLocks noGrp="1"/>
          </p:cNvSpPr>
          <p:nvPr/>
        </p:nvSpPr>
        <p:spPr>
          <a:xfrm>
            <a:off x="658368" y="105156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54D8C8"/>
                </a:solidFill>
              </a:rPr>
              <a:t>PROBLEM</a:t>
            </a:r>
            <a:endParaRPr sz="7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3CAD005-38D5-4D42-B26F-C69C5909E2B0}"/>
              </a:ext>
            </a:extLst>
          </p:cNvPr>
          <p:cNvSpPr>
            <a:spLocks noGrp="1"/>
          </p:cNvSpPr>
          <p:nvPr/>
        </p:nvSpPr>
        <p:spPr>
          <a:xfrm>
            <a:off x="658368" y="1389888"/>
            <a:ext cx="5394960" cy="1417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b="1">
                <a:solidFill>
                  <a:srgbClr val="EDF2F5"/>
                </a:solidFill>
              </a:defRPr>
            </a:pPr>
            <a:r>
              <a:rPr sz="2800" b="1">
                <a:solidFill>
                  <a:srgbClr val="EDF2F5"/>
                </a:solidFill>
                <a:latin typeface="Aptos Display"/>
                <a:ea typeface="Aptos Display"/>
                <a:cs typeface="Aptos Display"/>
              </a:rPr>
              <a:t>Engineering review still lives between scattered facts and ambiguous asks.</a:t>
            </a:r>
            <a:endParaRPr sz="28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6094FC7-812F-46C2-BBFF-FA5B7EBC4F5D}"/>
              </a:ext>
            </a:extLst>
          </p:cNvPr>
          <p:cNvSpPr>
            <a:spLocks noGrp="1"/>
          </p:cNvSpPr>
          <p:nvPr/>
        </p:nvSpPr>
        <p:spPr>
          <a:xfrm>
            <a:off x="685800" y="2697480"/>
            <a:ext cx="4800600" cy="82296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A2B2C0"/>
                </a:solidFill>
              </a:rPr>
              <a:t>Feature requests arrive incomplete. Local architecture, compliance constraints, API contracts, and past decisions are scattered. Generic chatbots often produce plausible output without provenance or durable review state.</a:t>
            </a:r>
            <a:endParaRPr sz="11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09EB36C-13FE-4754-9B78-707C19C53073}"/>
              </a:ext>
            </a:extLst>
          </p:cNvPr>
          <p:cNvSpPr>
            <a:spLocks noGrp="1"/>
          </p:cNvSpPr>
          <p:nvPr/>
        </p:nvSpPr>
        <p:spPr>
          <a:xfrm>
            <a:off x="713232" y="3675888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8A1C4B5-E61E-4E76-9E3F-F123441701B8}"/>
              </a:ext>
            </a:extLst>
          </p:cNvPr>
          <p:cNvSpPr>
            <a:spLocks noGrp="1"/>
          </p:cNvSpPr>
          <p:nvPr/>
        </p:nvSpPr>
        <p:spPr>
          <a:xfrm>
            <a:off x="877824" y="3794760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F4F8FB"/>
                </a:solidFill>
              </a:rPr>
              <a:t>Ambiguous request</a:t>
            </a:r>
            <a:endParaRPr sz="10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9E1E382-27D8-439B-B492-B6CEAF63A032}"/>
              </a:ext>
            </a:extLst>
          </p:cNvPr>
          <p:cNvSpPr>
            <a:spLocks noGrp="1"/>
          </p:cNvSpPr>
          <p:nvPr/>
        </p:nvSpPr>
        <p:spPr>
          <a:xfrm>
            <a:off x="877824" y="399592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80">
                <a:solidFill>
                  <a:srgbClr val="A2B2C0"/>
                </a:solidFill>
              </a:rPr>
              <a:t>Different teams implement different interpretations</a:t>
            </a:r>
            <a:endParaRPr sz="78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85B4C93-330C-4B44-9F09-83B5251D11FC}"/>
              </a:ext>
            </a:extLst>
          </p:cNvPr>
          <p:cNvSpPr>
            <a:spLocks noGrp="1"/>
          </p:cNvSpPr>
          <p:nvPr/>
        </p:nvSpPr>
        <p:spPr>
          <a:xfrm>
            <a:off x="3502152" y="3675888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4B9F5A5-6FE0-4973-9D14-FDA0415F45B7}"/>
              </a:ext>
            </a:extLst>
          </p:cNvPr>
          <p:cNvSpPr>
            <a:spLocks noGrp="1"/>
          </p:cNvSpPr>
          <p:nvPr/>
        </p:nvSpPr>
        <p:spPr>
          <a:xfrm>
            <a:off x="3666744" y="3794760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F4F8FB"/>
                </a:solidFill>
              </a:rPr>
              <a:t>Scattered local knowledge</a:t>
            </a:r>
            <a:endParaRPr sz="10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F74B3D7-95E5-4E5B-8AD8-699D70214921}"/>
              </a:ext>
            </a:extLst>
          </p:cNvPr>
          <p:cNvSpPr>
            <a:spLocks noGrp="1"/>
          </p:cNvSpPr>
          <p:nvPr/>
        </p:nvSpPr>
        <p:spPr>
          <a:xfrm>
            <a:off x="3666744" y="399592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80">
                <a:solidFill>
                  <a:srgbClr val="A2B2C0"/>
                </a:solidFill>
              </a:rPr>
              <a:t>ADRs, policies and schemas are overlooked</a:t>
            </a:r>
            <a:endParaRPr sz="78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2A39AC3-ECF6-4561-855F-B8ABDB24803B}"/>
              </a:ext>
            </a:extLst>
          </p:cNvPr>
          <p:cNvSpPr>
            <a:spLocks noGrp="1"/>
          </p:cNvSpPr>
          <p:nvPr/>
        </p:nvSpPr>
        <p:spPr>
          <a:xfrm>
            <a:off x="713232" y="4636008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76C710D-3BC6-413F-BD4F-682AD96FE0A9}"/>
              </a:ext>
            </a:extLst>
          </p:cNvPr>
          <p:cNvSpPr>
            <a:spLocks noGrp="1"/>
          </p:cNvSpPr>
          <p:nvPr/>
        </p:nvSpPr>
        <p:spPr>
          <a:xfrm>
            <a:off x="877824" y="4754880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F4F8FB"/>
                </a:solidFill>
              </a:rPr>
              <a:t>Opaque AI output</a:t>
            </a:r>
            <a:endParaRPr sz="10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FF0A664-AE48-48DC-BBB3-AEB73B4C0D3C}"/>
              </a:ext>
            </a:extLst>
          </p:cNvPr>
          <p:cNvSpPr>
            <a:spLocks noGrp="1"/>
          </p:cNvSpPr>
          <p:nvPr/>
        </p:nvSpPr>
        <p:spPr>
          <a:xfrm>
            <a:off x="877824" y="495604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80">
                <a:solidFill>
                  <a:srgbClr val="A2B2C0"/>
                </a:solidFill>
              </a:rPr>
              <a:t>Recommendations cannot be audited</a:t>
            </a:r>
            <a:endParaRPr sz="78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99BB1019-84B4-43BA-A9AC-CD4BA63E4979}"/>
              </a:ext>
            </a:extLst>
          </p:cNvPr>
          <p:cNvSpPr>
            <a:spLocks noGrp="1"/>
          </p:cNvSpPr>
          <p:nvPr/>
        </p:nvSpPr>
        <p:spPr>
          <a:xfrm>
            <a:off x="3502152" y="4636008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07999A8-1999-411F-A9EF-5EF7FBAF74CC}"/>
              </a:ext>
            </a:extLst>
          </p:cNvPr>
          <p:cNvSpPr>
            <a:spLocks noGrp="1"/>
          </p:cNvSpPr>
          <p:nvPr/>
        </p:nvSpPr>
        <p:spPr>
          <a:xfrm>
            <a:off x="3666744" y="4754880"/>
            <a:ext cx="210312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F4F8FB"/>
                </a:solidFill>
              </a:rPr>
              <a:t>Unchallenged proposal</a:t>
            </a:r>
            <a:endParaRPr sz="105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DF30B81-6B64-49D3-B4E3-146A7E106CB4}"/>
              </a:ext>
            </a:extLst>
          </p:cNvPr>
          <p:cNvSpPr>
            <a:spLocks noGrp="1"/>
          </p:cNvSpPr>
          <p:nvPr/>
        </p:nvSpPr>
        <p:spPr>
          <a:xfrm>
            <a:off x="3666744" y="4956048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80">
                <a:solidFill>
                  <a:srgbClr val="A2B2C0"/>
                </a:solidFill>
              </a:rPr>
              <a:t>Security and operational risks survive review</a:t>
            </a:r>
            <a:endParaRPr sz="780"/>
          </a:p>
        </p:txBody>
      </p:sp>
      <p:pic>
        <p:nvPicPr>
          <p:cNvPr id="5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29400" y="1428750"/>
            <a:ext cx="4800600" cy="2724150"/>
          </a:xfrm>
          <a:prstGeom prst="roundRect">
            <a:avLst>
              <a:gd name="adj" fmla="val 2797"/>
            </a:avLst>
          </a:prstGeom>
        </p:spPr>
      </p:pic>
      <p:sp>
        <p:nvSpPr>
          <p:cNvPr id="27" name="Shape 24">
            <a:extLst>
              <a:ext uri="{FF2B5EF4-FFF2-40B4-BE49-F238E27FC236}">
                <a16:creationId xmlns:a16="http://schemas.microsoft.com/office/drawing/2014/main" id="{52A9F257-2772-4836-A530-FCCE67BC2FC2}"/>
              </a:ext>
            </a:extLst>
          </p:cNvPr>
          <p:cNvSpPr>
            <a:spLocks noGrp="1"/>
          </p:cNvSpPr>
          <p:nvPr/>
        </p:nvSpPr>
        <p:spPr>
          <a:xfrm>
            <a:off x="5989320" y="1097280"/>
            <a:ext cx="0" cy="4709160"/>
          </a:xfrm>
          <a:prstGeom prst="line">
            <a:avLst/>
          </a:prstGeom>
          <a:noFill/>
          <a:ln w="15240">
            <a:solidFill>
              <a:srgbClr val="54D8C8">
                <a:alpha val="5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F2577844-FADF-444B-8143-1675C5B63F39}"/>
              </a:ext>
            </a:extLst>
          </p:cNvPr>
          <p:cNvSpPr>
            <a:spLocks noGrp="1"/>
          </p:cNvSpPr>
          <p:nvPr/>
        </p:nvSpPr>
        <p:spPr>
          <a:xfrm>
            <a:off x="6720840" y="4572000"/>
            <a:ext cx="4434840" cy="9144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2300" b="1">
                <a:solidFill>
                  <a:srgbClr val="F4F8FB"/>
                </a:solidFill>
              </a:rPr>
              <a:t>ForgeAI turns the pre-coding decision gap into a bounded, inspectable workflow.</a:t>
            </a:r>
            <a:endParaRPr sz="230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AC3CB8EB-04A0-4E30-8283-A4B839CC9E84}"/>
              </a:ext>
            </a:extLst>
          </p:cNvPr>
          <p:cNvSpPr>
            <a:spLocks noGrp="1"/>
          </p:cNvSpPr>
          <p:nvPr/>
        </p:nvSpPr>
        <p:spPr>
          <a:xfrm>
            <a:off x="11155680" y="6492240"/>
            <a:ext cx="32004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b="1">
                <a:solidFill>
                  <a:srgbClr val="ED1C24"/>
                </a:solidFill>
              </a:defRPr>
            </a:pPr>
            <a:r>
              <a:rPr sz="800" b="1">
                <a:solidFill>
                  <a:srgbClr val="ED1C24"/>
                </a:solidFill>
              </a:rPr>
              <a:t>02</a:t>
            </a:r>
            <a:endParaRPr sz="8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99E36056-BCB8-4AD3-BA75-7596A8FA8E8A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637281"/>
                </a:solidFill>
              </a:rPr>
              <a:t>AMD AI DevMaster Hackathon · Track 2</a:t>
            </a:r>
            <a:endParaRPr sz="750"/>
          </a:p>
        </p:txBody>
      </p:sp>
      <p:pic>
        <p:nvPicPr>
          <p:cNvPr id="57" name="Picture 5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95300" y="344214"/>
            <a:ext cx="2381250" cy="49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741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014F10-A97F-4F23-8DFF-D3FCA3FBD0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0"/>
          </a:solidFill>
          <a:ln w="12700">
            <a:solidFill>
              <a:srgbClr val="060B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B3AB2FD-32D1-4CFD-9236-F3947AA2CC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AD44FF9-6F72-4ACB-B643-3674A4DA5CAF}"/>
              </a:ext>
            </a:extLst>
          </p:cNvPr>
          <p:cNvSpPr>
            <a:spLocks noGrp="1"/>
          </p:cNvSpPr>
          <p:nvPr/>
        </p:nvSpPr>
        <p:spPr>
          <a:xfrm>
            <a:off x="228600" y="164592"/>
            <a:ext cx="2377440" cy="16459"/>
          </a:xfrm>
          <a:prstGeom prst="rect">
            <a:avLst/>
          </a:prstGeom>
          <a:solidFill>
            <a:srgbClr val="54D8C8">
              <a:alpha val="35000"/>
            </a:srgbClr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E022183-6BD3-4D15-99EF-DFA414DA6D1F}"/>
              </a:ext>
            </a:extLst>
          </p:cNvPr>
          <p:cNvSpPr>
            <a:spLocks noGrp="1"/>
          </p:cNvSpPr>
          <p:nvPr/>
        </p:nvSpPr>
        <p:spPr>
          <a:xfrm>
            <a:off x="9555480" y="6236208"/>
            <a:ext cx="2011680" cy="16459"/>
          </a:xfrm>
          <a:prstGeom prst="rect">
            <a:avLst/>
          </a:prstGeom>
          <a:solidFill>
            <a:srgbClr val="ED1C24"/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A381D1B-6AB0-443B-96B7-992F6E7F9238}"/>
              </a:ext>
            </a:extLst>
          </p:cNvPr>
          <p:cNvSpPr>
            <a:spLocks noGrp="1"/>
          </p:cNvSpPr>
          <p:nvPr/>
        </p:nvSpPr>
        <p:spPr>
          <a:xfrm>
            <a:off x="658368" y="105156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54D8C8"/>
                </a:solidFill>
              </a:rPr>
              <a:t>SOLUTION OVERVIEW</a:t>
            </a:r>
            <a:endParaRPr sz="7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B61E40A-00B2-428D-906C-B9170150EF10}"/>
              </a:ext>
            </a:extLst>
          </p:cNvPr>
          <p:cNvSpPr>
            <a:spLocks noGrp="1"/>
          </p:cNvSpPr>
          <p:nvPr/>
        </p:nvSpPr>
        <p:spPr>
          <a:xfrm>
            <a:off x="658368" y="1353312"/>
            <a:ext cx="4937760" cy="1417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b="1">
                <a:solidFill>
                  <a:srgbClr val="EDF2F5"/>
                </a:solidFill>
              </a:defRPr>
            </a:pPr>
            <a:r>
              <a:rPr sz="3400" b="1">
                <a:solidFill>
                  <a:srgbClr val="EDF2F5"/>
                </a:solidFill>
                <a:latin typeface="Aptos Display"/>
                <a:ea typeface="Aptos Display"/>
                <a:cs typeface="Aptos Display"/>
              </a:rPr>
              <a:t>Feature request →</a:t>
            </a:r>
            <a:endParaRPr sz="3400"/>
          </a:p>
          <a:p>
            <a:pPr marL="0" indent="0">
              <a:buNone/>
              <a:defRPr b="1">
                <a:solidFill>
                  <a:srgbClr val="EDF2F5"/>
                </a:solidFill>
              </a:defRPr>
            </a:pPr>
            <a:r>
              <a:rPr sz="3400" b="1">
                <a:solidFill>
                  <a:srgbClr val="EDF2F5"/>
                </a:solidFill>
                <a:latin typeface="Aptos Display"/>
                <a:ea typeface="Aptos Display"/>
                <a:cs typeface="Aptos Display"/>
              </a:rPr>
              <a:t>Decision package.</a:t>
            </a:r>
            <a:endParaRPr sz="3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6644B81-44D7-4925-A8C4-EF6F8F472157}"/>
              </a:ext>
            </a:extLst>
          </p:cNvPr>
          <p:cNvSpPr>
            <a:spLocks noGrp="1"/>
          </p:cNvSpPr>
          <p:nvPr/>
        </p:nvSpPr>
        <p:spPr>
          <a:xfrm>
            <a:off x="676656" y="2679192"/>
            <a:ext cx="4709160" cy="50292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20">
                <a:solidFill>
                  <a:srgbClr val="A2B2C0"/>
                </a:solidFill>
              </a:rPr>
              <a:t>A fixed agent workflow produces an artifact that can be reviewed, exported, and revisited.</a:t>
            </a:r>
            <a:endParaRPr sz="122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7A7FD78-0410-4BE9-A867-466408EE7A05}"/>
              </a:ext>
            </a:extLst>
          </p:cNvPr>
          <p:cNvSpPr>
            <a:spLocks noGrp="1"/>
          </p:cNvSpPr>
          <p:nvPr/>
        </p:nvSpPr>
        <p:spPr>
          <a:xfrm>
            <a:off x="676656" y="3246120"/>
            <a:ext cx="1161288" cy="502920"/>
          </a:xfrm>
          <a:prstGeom prst="roundRect">
            <a:avLst>
              <a:gd name="adj" fmla="val 14545"/>
            </a:avLst>
          </a:prstGeom>
          <a:solidFill>
            <a:srgbClr val="16A18F">
              <a:alpha val="82000"/>
            </a:srgbClr>
          </a:solidFill>
          <a:ln w="13970">
            <a:solidFill>
              <a:srgbClr val="16A1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1EB88A7-3564-4439-8180-C20BE2EB0486}"/>
              </a:ext>
            </a:extLst>
          </p:cNvPr>
          <p:cNvSpPr>
            <a:spLocks noGrp="1"/>
          </p:cNvSpPr>
          <p:nvPr/>
        </p:nvSpPr>
        <p:spPr>
          <a:xfrm>
            <a:off x="722376" y="3410712"/>
            <a:ext cx="1069848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Request</a:t>
            </a:r>
            <a:endParaRPr sz="9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0907AA1-5EE8-4AF6-B044-05B7704295DF}"/>
              </a:ext>
            </a:extLst>
          </p:cNvPr>
          <p:cNvSpPr>
            <a:spLocks noGrp="1"/>
          </p:cNvSpPr>
          <p:nvPr/>
        </p:nvSpPr>
        <p:spPr>
          <a:xfrm>
            <a:off x="640080" y="3867912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A2B2C0"/>
                </a:solidFill>
              </a:rPr>
              <a:t>Ambiguous feature ask</a:t>
            </a:r>
            <a:endParaRPr sz="7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710B574-DE83-40DB-A061-A2BBD67A01D8}"/>
              </a:ext>
            </a:extLst>
          </p:cNvPr>
          <p:cNvSpPr>
            <a:spLocks noGrp="1"/>
          </p:cNvSpPr>
          <p:nvPr/>
        </p:nvSpPr>
        <p:spPr>
          <a:xfrm>
            <a:off x="1847088" y="3502152"/>
            <a:ext cx="768096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D1DB0A1-ECAF-4763-86BE-A7733F5585F9}"/>
              </a:ext>
            </a:extLst>
          </p:cNvPr>
          <p:cNvSpPr>
            <a:spLocks noGrp="1"/>
          </p:cNvSpPr>
          <p:nvPr/>
        </p:nvSpPr>
        <p:spPr>
          <a:xfrm>
            <a:off x="2688336" y="3246120"/>
            <a:ext cx="1161288" cy="502920"/>
          </a:xfrm>
          <a:prstGeom prst="roundRect">
            <a:avLst>
              <a:gd name="adj" fmla="val 14545"/>
            </a:avLst>
          </a:prstGeom>
          <a:solidFill>
            <a:srgbClr val="54D8C8">
              <a:alpha val="82000"/>
            </a:srgbClr>
          </a:solidFill>
          <a:ln w="1397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5DC8CD7-AE96-4122-B111-41A6A3DFF25F}"/>
              </a:ext>
            </a:extLst>
          </p:cNvPr>
          <p:cNvSpPr>
            <a:spLocks noGrp="1"/>
          </p:cNvSpPr>
          <p:nvPr/>
        </p:nvSpPr>
        <p:spPr>
          <a:xfrm>
            <a:off x="2734056" y="3410712"/>
            <a:ext cx="1069848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Local docs</a:t>
            </a:r>
            <a:endParaRPr sz="9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E43E81B-472E-4BDE-8A54-BC59719FC6E0}"/>
              </a:ext>
            </a:extLst>
          </p:cNvPr>
          <p:cNvSpPr>
            <a:spLocks noGrp="1"/>
          </p:cNvSpPr>
          <p:nvPr/>
        </p:nvSpPr>
        <p:spPr>
          <a:xfrm>
            <a:off x="2651760" y="3867912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A2B2C0"/>
                </a:solidFill>
              </a:rPr>
              <a:t>MercuryPay evidence</a:t>
            </a:r>
            <a:endParaRPr sz="7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618FFB0-84CB-49B6-808F-635F86498B35}"/>
              </a:ext>
            </a:extLst>
          </p:cNvPr>
          <p:cNvSpPr>
            <a:spLocks noGrp="1"/>
          </p:cNvSpPr>
          <p:nvPr/>
        </p:nvSpPr>
        <p:spPr>
          <a:xfrm>
            <a:off x="3858768" y="3502152"/>
            <a:ext cx="768096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3EEE4D3-0912-487A-B97F-760EC6C55880}"/>
              </a:ext>
            </a:extLst>
          </p:cNvPr>
          <p:cNvSpPr>
            <a:spLocks noGrp="1"/>
          </p:cNvSpPr>
          <p:nvPr/>
        </p:nvSpPr>
        <p:spPr>
          <a:xfrm>
            <a:off x="4700016" y="3246120"/>
            <a:ext cx="1161288" cy="502920"/>
          </a:xfrm>
          <a:prstGeom prst="roundRect">
            <a:avLst>
              <a:gd name="adj" fmla="val 14545"/>
            </a:avLst>
          </a:prstGeom>
          <a:solidFill>
            <a:srgbClr val="54D8C8">
              <a:alpha val="82000"/>
            </a:srgbClr>
          </a:solidFill>
          <a:ln w="1397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34654BD-A082-4C39-B203-F2E7ACC0EACC}"/>
              </a:ext>
            </a:extLst>
          </p:cNvPr>
          <p:cNvSpPr>
            <a:spLocks noGrp="1"/>
          </p:cNvSpPr>
          <p:nvPr/>
        </p:nvSpPr>
        <p:spPr>
          <a:xfrm>
            <a:off x="4745736" y="3410712"/>
            <a:ext cx="1069848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Agents</a:t>
            </a:r>
            <a:endParaRPr sz="95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8379291-63CF-4CAC-A22F-A3CD926AE072}"/>
              </a:ext>
            </a:extLst>
          </p:cNvPr>
          <p:cNvSpPr>
            <a:spLocks noGrp="1"/>
          </p:cNvSpPr>
          <p:nvPr/>
        </p:nvSpPr>
        <p:spPr>
          <a:xfrm>
            <a:off x="4663440" y="3867912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A2B2C0"/>
                </a:solidFill>
              </a:rPr>
              <a:t>Discovery → Revision</a:t>
            </a:r>
            <a:endParaRPr sz="75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9A389FD-874C-42E6-8835-CFAE480D381B}"/>
              </a:ext>
            </a:extLst>
          </p:cNvPr>
          <p:cNvSpPr>
            <a:spLocks noGrp="1"/>
          </p:cNvSpPr>
          <p:nvPr/>
        </p:nvSpPr>
        <p:spPr>
          <a:xfrm>
            <a:off x="5870448" y="3502152"/>
            <a:ext cx="768096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5BA4DC1-B73E-44D4-A43D-35B9A44A8821}"/>
              </a:ext>
            </a:extLst>
          </p:cNvPr>
          <p:cNvSpPr>
            <a:spLocks noGrp="1"/>
          </p:cNvSpPr>
          <p:nvPr/>
        </p:nvSpPr>
        <p:spPr>
          <a:xfrm>
            <a:off x="6711696" y="3246120"/>
            <a:ext cx="1161288" cy="502920"/>
          </a:xfrm>
          <a:prstGeom prst="roundRect">
            <a:avLst>
              <a:gd name="adj" fmla="val 14545"/>
            </a:avLst>
          </a:prstGeom>
          <a:solidFill>
            <a:srgbClr val="54D8C8">
              <a:alpha val="82000"/>
            </a:srgbClr>
          </a:solidFill>
          <a:ln w="1397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928CF01-A209-4DA3-B8D4-5B35CEC8E5DB}"/>
              </a:ext>
            </a:extLst>
          </p:cNvPr>
          <p:cNvSpPr>
            <a:spLocks noGrp="1"/>
          </p:cNvSpPr>
          <p:nvPr/>
        </p:nvSpPr>
        <p:spPr>
          <a:xfrm>
            <a:off x="6757416" y="3410712"/>
            <a:ext cx="1069848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EDP</a:t>
            </a:r>
            <a:endParaRPr sz="95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1F0964A-1D6A-4B82-9988-5E4C0E4B511A}"/>
              </a:ext>
            </a:extLst>
          </p:cNvPr>
          <p:cNvSpPr>
            <a:spLocks noGrp="1"/>
          </p:cNvSpPr>
          <p:nvPr/>
        </p:nvSpPr>
        <p:spPr>
          <a:xfrm>
            <a:off x="6675120" y="3867912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A2B2C0"/>
                </a:solidFill>
              </a:rPr>
              <a:t>Validated decision</a:t>
            </a:r>
            <a:endParaRPr sz="750"/>
          </a:p>
        </p:txBody>
      </p:sp>
      <p:pic>
        <p:nvPicPr>
          <p:cNvPr id="6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29400" y="1238250"/>
            <a:ext cx="4800600" cy="2647950"/>
          </a:xfrm>
          <a:prstGeom prst="roundRect">
            <a:avLst>
              <a:gd name="adj" fmla="val 2878"/>
            </a:avLst>
          </a:prstGeom>
        </p:spPr>
      </p:pic>
      <p:sp>
        <p:nvSpPr>
          <p:cNvPr id="30" name="Shape 27">
            <a:extLst>
              <a:ext uri="{FF2B5EF4-FFF2-40B4-BE49-F238E27FC236}">
                <a16:creationId xmlns:a16="http://schemas.microsoft.com/office/drawing/2014/main" id="{F87A2AFD-D256-497D-A7E2-BE19E55FA538}"/>
              </a:ext>
            </a:extLst>
          </p:cNvPr>
          <p:cNvSpPr>
            <a:spLocks noGrp="1"/>
          </p:cNvSpPr>
          <p:nvPr/>
        </p:nvSpPr>
        <p:spPr>
          <a:xfrm>
            <a:off x="6629400" y="507492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101B24">
              <a:alpha val="92000"/>
            </a:srgbClr>
          </a:solidFill>
          <a:ln w="12700">
            <a:solidFill>
              <a:srgbClr val="23404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A5E734FE-D583-494E-935B-B79BFD8FDFED}"/>
              </a:ext>
            </a:extLst>
          </p:cNvPr>
          <p:cNvSpPr>
            <a:spLocks noGrp="1"/>
          </p:cNvSpPr>
          <p:nvPr/>
        </p:nvSpPr>
        <p:spPr>
          <a:xfrm>
            <a:off x="6629400" y="519379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JSON</a:t>
            </a:r>
            <a:endParaRPr sz="240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65D4407B-3B53-4AAB-A5AA-19659BE606DE}"/>
              </a:ext>
            </a:extLst>
          </p:cNvPr>
          <p:cNvSpPr>
            <a:spLocks noGrp="1"/>
          </p:cNvSpPr>
          <p:nvPr/>
        </p:nvSpPr>
        <p:spPr>
          <a:xfrm>
            <a:off x="6702552" y="5641848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A2B2C0"/>
                </a:solidFill>
              </a:rPr>
              <a:t>machine-readable export</a:t>
            </a:r>
            <a:endParaRPr sz="70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6B631FA7-5B43-4A37-A015-3BF9C49E5305}"/>
              </a:ext>
            </a:extLst>
          </p:cNvPr>
          <p:cNvSpPr>
            <a:spLocks noGrp="1"/>
          </p:cNvSpPr>
          <p:nvPr/>
        </p:nvSpPr>
        <p:spPr>
          <a:xfrm>
            <a:off x="8183880" y="507492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101B24">
              <a:alpha val="92000"/>
            </a:srgbClr>
          </a:solidFill>
          <a:ln w="12700">
            <a:solidFill>
              <a:srgbClr val="23404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301083F-9D75-4550-A0AC-E7E195236E2B}"/>
              </a:ext>
            </a:extLst>
          </p:cNvPr>
          <p:cNvSpPr>
            <a:spLocks noGrp="1"/>
          </p:cNvSpPr>
          <p:nvPr/>
        </p:nvSpPr>
        <p:spPr>
          <a:xfrm>
            <a:off x="8183880" y="519379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MD</a:t>
            </a:r>
            <a:endParaRPr sz="240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4F3D5AEF-35AE-424F-9469-70900B7A0FAC}"/>
              </a:ext>
            </a:extLst>
          </p:cNvPr>
          <p:cNvSpPr>
            <a:spLocks noGrp="1"/>
          </p:cNvSpPr>
          <p:nvPr/>
        </p:nvSpPr>
        <p:spPr>
          <a:xfrm>
            <a:off x="8257032" y="5641848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A2B2C0"/>
                </a:solidFill>
              </a:rPr>
              <a:t>human-readable export</a:t>
            </a:r>
            <a:endParaRPr sz="70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44B85BF0-D2C8-4AC4-8B55-645BBC4D1068}"/>
              </a:ext>
            </a:extLst>
          </p:cNvPr>
          <p:cNvSpPr>
            <a:spLocks noGrp="1"/>
          </p:cNvSpPr>
          <p:nvPr/>
        </p:nvSpPr>
        <p:spPr>
          <a:xfrm>
            <a:off x="9738360" y="507492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101B24">
              <a:alpha val="92000"/>
            </a:srgbClr>
          </a:solidFill>
          <a:ln w="12700">
            <a:solidFill>
              <a:srgbClr val="23404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CC7D3338-0E33-45FD-9A53-00A0D35EB456}"/>
              </a:ext>
            </a:extLst>
          </p:cNvPr>
          <p:cNvSpPr>
            <a:spLocks noGrp="1"/>
          </p:cNvSpPr>
          <p:nvPr/>
        </p:nvSpPr>
        <p:spPr>
          <a:xfrm>
            <a:off x="9738360" y="519379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EDP</a:t>
            </a:r>
            <a:endParaRPr sz="2400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236F3766-7E67-492A-BCF9-0DAE91864DF7}"/>
              </a:ext>
            </a:extLst>
          </p:cNvPr>
          <p:cNvSpPr>
            <a:spLocks noGrp="1"/>
          </p:cNvSpPr>
          <p:nvPr/>
        </p:nvSpPr>
        <p:spPr>
          <a:xfrm>
            <a:off x="9811512" y="5641848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A2B2C0"/>
                </a:solidFill>
              </a:rPr>
              <a:t>decision package</a:t>
            </a:r>
            <a:endParaRPr sz="7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FE71CAF7-4402-4084-B51E-B5DE16227E57}"/>
              </a:ext>
            </a:extLst>
          </p:cNvPr>
          <p:cNvSpPr>
            <a:spLocks noGrp="1"/>
          </p:cNvSpPr>
          <p:nvPr/>
        </p:nvSpPr>
        <p:spPr>
          <a:xfrm>
            <a:off x="11155680" y="6492240"/>
            <a:ext cx="32004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b="1">
                <a:solidFill>
                  <a:srgbClr val="ED1C24"/>
                </a:solidFill>
              </a:defRPr>
            </a:pPr>
            <a:r>
              <a:rPr sz="800" b="1">
                <a:solidFill>
                  <a:srgbClr val="ED1C24"/>
                </a:solidFill>
              </a:rPr>
              <a:t>03</a:t>
            </a:r>
            <a:endParaRPr sz="800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53A04498-9E21-46B6-ABE7-B7592CD9BD47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637281"/>
                </a:solidFill>
              </a:rPr>
              <a:t>AMD AI DevMaster Hackathon · Track 2</a:t>
            </a:r>
            <a:endParaRPr sz="750"/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95300" y="344214"/>
            <a:ext cx="2381250" cy="49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679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56C706C-D37B-4B09-983C-350A9B83348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0"/>
          </a:solidFill>
          <a:ln w="12700">
            <a:solidFill>
              <a:srgbClr val="060B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C17A5D8-C0D4-4D23-9826-7D2CED1DA6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6B83638-C14D-479B-A2BA-14777221C3F7}"/>
              </a:ext>
            </a:extLst>
          </p:cNvPr>
          <p:cNvSpPr>
            <a:spLocks noGrp="1"/>
          </p:cNvSpPr>
          <p:nvPr/>
        </p:nvSpPr>
        <p:spPr>
          <a:xfrm>
            <a:off x="228600" y="164592"/>
            <a:ext cx="2377440" cy="16459"/>
          </a:xfrm>
          <a:prstGeom prst="rect">
            <a:avLst/>
          </a:prstGeom>
          <a:solidFill>
            <a:srgbClr val="54D8C8">
              <a:alpha val="35000"/>
            </a:srgbClr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3994B5D-6DEF-472C-9E00-D12B3B2F0B85}"/>
              </a:ext>
            </a:extLst>
          </p:cNvPr>
          <p:cNvSpPr>
            <a:spLocks noGrp="1"/>
          </p:cNvSpPr>
          <p:nvPr/>
        </p:nvSpPr>
        <p:spPr>
          <a:xfrm>
            <a:off x="9555480" y="6236208"/>
            <a:ext cx="2011680" cy="16459"/>
          </a:xfrm>
          <a:prstGeom prst="rect">
            <a:avLst/>
          </a:prstGeom>
          <a:solidFill>
            <a:srgbClr val="ED1C24"/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9549538-45B4-4A10-BE10-D7D69EB1C365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399593" cy="399593"/>
          </a:xfrm>
          <a:prstGeom prst="diamond">
            <a:avLst/>
          </a:prstGeom>
          <a:solidFill>
            <a:srgbClr val="060B10">
              <a:alpha val="0"/>
            </a:srgbClr>
          </a:solidFill>
          <a:ln w="1524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CA06450-A561-4916-AFEF-7C177DD03916}"/>
              </a:ext>
            </a:extLst>
          </p:cNvPr>
          <p:cNvSpPr>
            <a:spLocks noGrp="1"/>
          </p:cNvSpPr>
          <p:nvPr/>
        </p:nvSpPr>
        <p:spPr>
          <a:xfrm>
            <a:off x="641909" y="496976"/>
            <a:ext cx="156362" cy="15636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4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F</a:t>
            </a:r>
            <a:endParaRPr sz="114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723A305-0D07-4A50-A086-00E047ECB863}"/>
              </a:ext>
            </a:extLst>
          </p:cNvPr>
          <p:cNvSpPr>
            <a:spLocks noGrp="1"/>
          </p:cNvSpPr>
          <p:nvPr/>
        </p:nvSpPr>
        <p:spPr>
          <a:xfrm>
            <a:off x="1041502" y="392735"/>
            <a:ext cx="1389888" cy="191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35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ForgeAI</a:t>
            </a:r>
            <a:endParaRPr sz="1235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BA46880-90E4-4EFA-8F55-1FAEF1DD9837}"/>
              </a:ext>
            </a:extLst>
          </p:cNvPr>
          <p:cNvSpPr>
            <a:spLocks noGrp="1"/>
          </p:cNvSpPr>
          <p:nvPr/>
        </p:nvSpPr>
        <p:spPr>
          <a:xfrm>
            <a:off x="1041502" y="592531"/>
            <a:ext cx="1737360" cy="1303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570">
                <a:solidFill>
                  <a:srgbClr val="A2B2C0"/>
                </a:solidFill>
              </a:rPr>
              <a:t>ENGINEERING INTELLIGENCE</a:t>
            </a:r>
            <a:endParaRPr sz="57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0322413-14DC-48F6-9196-EA55785D3DE8}"/>
              </a:ext>
            </a:extLst>
          </p:cNvPr>
          <p:cNvSpPr>
            <a:spLocks noGrp="1"/>
          </p:cNvSpPr>
          <p:nvPr/>
        </p:nvSpPr>
        <p:spPr>
          <a:xfrm>
            <a:off x="658368" y="105156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54D8C8"/>
                </a:solidFill>
              </a:rPr>
              <a:t>SYSTEM ARCHITECTURE</a:t>
            </a:r>
            <a:endParaRPr sz="7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83CB0AD-5134-4851-AA39-6B568A15F6D5}"/>
              </a:ext>
            </a:extLst>
          </p:cNvPr>
          <p:cNvSpPr>
            <a:spLocks noGrp="1"/>
          </p:cNvSpPr>
          <p:nvPr/>
        </p:nvSpPr>
        <p:spPr>
          <a:xfrm>
            <a:off x="658368" y="1344168"/>
            <a:ext cx="4389120" cy="1417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b="1">
                <a:solidFill>
                  <a:srgbClr val="EDF2F5"/>
                </a:solidFill>
              </a:defRPr>
            </a:pPr>
            <a:r>
              <a:rPr sz="3400" b="1">
                <a:solidFill>
                  <a:srgbClr val="EDF2F5"/>
                </a:solidFill>
                <a:latin typeface="Aptos Display"/>
                <a:ea typeface="Aptos Display"/>
                <a:cs typeface="Aptos Display"/>
              </a:rPr>
              <a:t>One engine.</a:t>
            </a:r>
            <a:endParaRPr sz="3400"/>
          </a:p>
          <a:p>
            <a:pPr marL="0" indent="0">
              <a:buNone/>
              <a:defRPr b="1">
                <a:solidFill>
                  <a:srgbClr val="EDF2F5"/>
                </a:solidFill>
              </a:defRPr>
            </a:pPr>
            <a:r>
              <a:rPr sz="3400" b="1">
                <a:solidFill>
                  <a:srgbClr val="EDF2F5"/>
                </a:solidFill>
                <a:latin typeface="Aptos Display"/>
                <a:ea typeface="Aptos Display"/>
                <a:cs typeface="Aptos Display"/>
              </a:rPr>
              <a:t>Two transports.</a:t>
            </a:r>
            <a:endParaRPr sz="3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669D0BE-80D3-4921-94AE-90D1A89FA6F7}"/>
              </a:ext>
            </a:extLst>
          </p:cNvPr>
          <p:cNvSpPr>
            <a:spLocks noGrp="1"/>
          </p:cNvSpPr>
          <p:nvPr/>
        </p:nvSpPr>
        <p:spPr>
          <a:xfrm>
            <a:off x="685800" y="2670048"/>
            <a:ext cx="4206240" cy="32004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  <a:defRPr>
                <a:solidFill>
                  <a:srgbClr val="85929F"/>
                </a:solidFill>
              </a:defRPr>
            </a:pPr>
            <a:r>
              <a:rPr sz="1150">
                <a:solidFill>
                  <a:srgbClr val="85929F"/>
                </a:solidFill>
              </a:rPr>
              <a:t>Explicit boundaries: transport code never owns workflow logic.</a:t>
            </a:r>
            <a:endParaRPr sz="11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7030073-29F4-4C3F-9E02-6A4C7FF33104}"/>
              </a:ext>
            </a:extLst>
          </p:cNvPr>
          <p:cNvSpPr>
            <a:spLocks noGrp="1"/>
          </p:cNvSpPr>
          <p:nvPr/>
        </p:nvSpPr>
        <p:spPr>
          <a:xfrm>
            <a:off x="713232" y="3886200"/>
            <a:ext cx="1490472" cy="914400"/>
          </a:xfrm>
          <a:prstGeom prst="roundRect">
            <a:avLst>
              <a:gd name="adj" fmla="val 8000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8C4871F-44E0-47C7-A8D5-9D3017BA204E}"/>
              </a:ext>
            </a:extLst>
          </p:cNvPr>
          <p:cNvSpPr>
            <a:spLocks noGrp="1"/>
          </p:cNvSpPr>
          <p:nvPr/>
        </p:nvSpPr>
        <p:spPr>
          <a:xfrm>
            <a:off x="786384" y="4105656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4F8FB"/>
                </a:solidFill>
              </a:rPr>
              <a:t>React UI</a:t>
            </a:r>
            <a:endParaRPr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6A4DC99-76E9-4925-B0E1-F49E96543412}"/>
              </a:ext>
            </a:extLst>
          </p:cNvPr>
          <p:cNvSpPr>
            <a:spLocks noGrp="1"/>
          </p:cNvSpPr>
          <p:nvPr/>
        </p:nvSpPr>
        <p:spPr>
          <a:xfrm>
            <a:off x="822960" y="4389120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>
                <a:solidFill>
                  <a:srgbClr val="A2B2C0"/>
                </a:solidFill>
              </a:rPr>
              <a:t>Setup + workspace</a:t>
            </a:r>
            <a:endParaRPr sz="7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0216ADB-903F-4332-8F9A-D8DC34A38A6C}"/>
              </a:ext>
            </a:extLst>
          </p:cNvPr>
          <p:cNvSpPr>
            <a:spLocks noGrp="1"/>
          </p:cNvSpPr>
          <p:nvPr/>
        </p:nvSpPr>
        <p:spPr>
          <a:xfrm>
            <a:off x="2231136" y="4343400"/>
            <a:ext cx="265176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1FF88E7-453A-4490-8357-C036B174ECA4}"/>
              </a:ext>
            </a:extLst>
          </p:cNvPr>
          <p:cNvSpPr>
            <a:spLocks noGrp="1"/>
          </p:cNvSpPr>
          <p:nvPr/>
        </p:nvSpPr>
        <p:spPr>
          <a:xfrm>
            <a:off x="2560320" y="3886200"/>
            <a:ext cx="1490472" cy="914400"/>
          </a:xfrm>
          <a:prstGeom prst="roundRect">
            <a:avLst>
              <a:gd name="adj" fmla="val 8000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D91311E-1295-48F9-BA5A-AAE5E1362935}"/>
              </a:ext>
            </a:extLst>
          </p:cNvPr>
          <p:cNvSpPr>
            <a:spLocks noGrp="1"/>
          </p:cNvSpPr>
          <p:nvPr/>
        </p:nvSpPr>
        <p:spPr>
          <a:xfrm>
            <a:off x="2633472" y="4105656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4F8FB"/>
                </a:solidFill>
              </a:rPr>
              <a:t>FastAPI</a:t>
            </a:r>
            <a:endParaRPr sz="12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D382DDE-C14A-4ECB-8200-28325B12948C}"/>
              </a:ext>
            </a:extLst>
          </p:cNvPr>
          <p:cNvSpPr>
            <a:spLocks noGrp="1"/>
          </p:cNvSpPr>
          <p:nvPr/>
        </p:nvSpPr>
        <p:spPr>
          <a:xfrm>
            <a:off x="2670048" y="4389120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>
                <a:solidFill>
                  <a:srgbClr val="A2B2C0"/>
                </a:solidFill>
              </a:rPr>
              <a:t>Transport only</a:t>
            </a:r>
            <a:endParaRPr sz="7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C8EB5DD-F39E-49ED-B95E-390C166C5E46}"/>
              </a:ext>
            </a:extLst>
          </p:cNvPr>
          <p:cNvSpPr>
            <a:spLocks noGrp="1"/>
          </p:cNvSpPr>
          <p:nvPr/>
        </p:nvSpPr>
        <p:spPr>
          <a:xfrm>
            <a:off x="4078224" y="4343400"/>
            <a:ext cx="265176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950157B-8F2E-4DC9-BBC1-2093C37918F7}"/>
              </a:ext>
            </a:extLst>
          </p:cNvPr>
          <p:cNvSpPr>
            <a:spLocks noGrp="1"/>
          </p:cNvSpPr>
          <p:nvPr/>
        </p:nvSpPr>
        <p:spPr>
          <a:xfrm>
            <a:off x="4407408" y="3886200"/>
            <a:ext cx="1490472" cy="914400"/>
          </a:xfrm>
          <a:prstGeom prst="roundRect">
            <a:avLst>
              <a:gd name="adj" fmla="val 8000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8923057-8EAE-47E6-8ED0-FF03DFB2678D}"/>
              </a:ext>
            </a:extLst>
          </p:cNvPr>
          <p:cNvSpPr>
            <a:spLocks noGrp="1"/>
          </p:cNvSpPr>
          <p:nvPr/>
        </p:nvSpPr>
        <p:spPr>
          <a:xfrm>
            <a:off x="4480560" y="4105656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4F8FB"/>
                </a:solidFill>
              </a:rPr>
              <a:t>Application</a:t>
            </a:r>
            <a:endParaRPr sz="12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A75F979-9927-4C9C-8058-F9FC53E3881B}"/>
              </a:ext>
            </a:extLst>
          </p:cNvPr>
          <p:cNvSpPr>
            <a:spLocks noGrp="1"/>
          </p:cNvSpPr>
          <p:nvPr/>
        </p:nvSpPr>
        <p:spPr>
          <a:xfrm>
            <a:off x="4517136" y="4389120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>
                <a:solidFill>
                  <a:srgbClr val="A2B2C0"/>
                </a:solidFill>
              </a:rPr>
              <a:t>Facade + runner</a:t>
            </a:r>
            <a:endParaRPr sz="75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7A8C2C0-3799-465D-B88D-C2CD73EB1663}"/>
              </a:ext>
            </a:extLst>
          </p:cNvPr>
          <p:cNvSpPr>
            <a:spLocks noGrp="1"/>
          </p:cNvSpPr>
          <p:nvPr/>
        </p:nvSpPr>
        <p:spPr>
          <a:xfrm>
            <a:off x="5925312" y="4343400"/>
            <a:ext cx="265176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90C6C26-1687-42E1-968A-BFFED92C5FD8}"/>
              </a:ext>
            </a:extLst>
          </p:cNvPr>
          <p:cNvSpPr>
            <a:spLocks noGrp="1"/>
          </p:cNvSpPr>
          <p:nvPr/>
        </p:nvSpPr>
        <p:spPr>
          <a:xfrm>
            <a:off x="6254496" y="3886200"/>
            <a:ext cx="1490472" cy="914400"/>
          </a:xfrm>
          <a:prstGeom prst="roundRect">
            <a:avLst>
              <a:gd name="adj" fmla="val 8000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54D8C8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E937523-C855-400C-9227-61DFDB07AB96}"/>
              </a:ext>
            </a:extLst>
          </p:cNvPr>
          <p:cNvSpPr>
            <a:spLocks noGrp="1"/>
          </p:cNvSpPr>
          <p:nvPr/>
        </p:nvSpPr>
        <p:spPr>
          <a:xfrm>
            <a:off x="6327648" y="4105656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4F8FB"/>
                </a:solidFill>
              </a:rPr>
              <a:t>Agents</a:t>
            </a:r>
            <a:endParaRPr sz="12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EE26F69-02C9-4C6A-8C9C-00174D3E4E6D}"/>
              </a:ext>
            </a:extLst>
          </p:cNvPr>
          <p:cNvSpPr>
            <a:spLocks noGrp="1"/>
          </p:cNvSpPr>
          <p:nvPr/>
        </p:nvSpPr>
        <p:spPr>
          <a:xfrm>
            <a:off x="6364224" y="4389120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>
                <a:solidFill>
                  <a:srgbClr val="A2B2C0"/>
                </a:solidFill>
              </a:rPr>
              <a:t>Bounded roles</a:t>
            </a:r>
            <a:endParaRPr sz="75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1BDC548-BE0E-4523-87EF-A81FCB51F394}"/>
              </a:ext>
            </a:extLst>
          </p:cNvPr>
          <p:cNvSpPr>
            <a:spLocks noGrp="1"/>
          </p:cNvSpPr>
          <p:nvPr/>
        </p:nvSpPr>
        <p:spPr>
          <a:xfrm>
            <a:off x="7772400" y="4343400"/>
            <a:ext cx="265176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BABFB7F-7330-4F89-A09D-955244A0DB12}"/>
              </a:ext>
            </a:extLst>
          </p:cNvPr>
          <p:cNvSpPr>
            <a:spLocks noGrp="1"/>
          </p:cNvSpPr>
          <p:nvPr/>
        </p:nvSpPr>
        <p:spPr>
          <a:xfrm>
            <a:off x="8101584" y="3886200"/>
            <a:ext cx="1490472" cy="914400"/>
          </a:xfrm>
          <a:prstGeom prst="roundRect">
            <a:avLst>
              <a:gd name="adj" fmla="val 8000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54D8C8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FCBBCB8-B3FE-497F-AEB8-22DF7B44784F}"/>
              </a:ext>
            </a:extLst>
          </p:cNvPr>
          <p:cNvSpPr>
            <a:spLocks noGrp="1"/>
          </p:cNvSpPr>
          <p:nvPr/>
        </p:nvSpPr>
        <p:spPr>
          <a:xfrm>
            <a:off x="8174736" y="4105656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4F8FB"/>
                </a:solidFill>
              </a:rPr>
              <a:t>SQLite</a:t>
            </a:r>
            <a:endParaRPr sz="12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DA72A8E4-0997-4B9D-87E5-F9B6DBC59DEC}"/>
              </a:ext>
            </a:extLst>
          </p:cNvPr>
          <p:cNvSpPr>
            <a:spLocks noGrp="1"/>
          </p:cNvSpPr>
          <p:nvPr/>
        </p:nvSpPr>
        <p:spPr>
          <a:xfrm>
            <a:off x="8211312" y="4389120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>
                <a:solidFill>
                  <a:srgbClr val="A2B2C0"/>
                </a:solidFill>
              </a:rPr>
              <a:t>FTS5 + persistence</a:t>
            </a:r>
            <a:endParaRPr sz="75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1C92E91-EF0B-47F4-AFD4-863A26E27316}"/>
              </a:ext>
            </a:extLst>
          </p:cNvPr>
          <p:cNvSpPr>
            <a:spLocks noGrp="1"/>
          </p:cNvSpPr>
          <p:nvPr/>
        </p:nvSpPr>
        <p:spPr>
          <a:xfrm>
            <a:off x="9619488" y="4343400"/>
            <a:ext cx="265176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28B516D4-1E1B-445B-AE5F-3699B1541AB2}"/>
              </a:ext>
            </a:extLst>
          </p:cNvPr>
          <p:cNvSpPr>
            <a:spLocks noGrp="1"/>
          </p:cNvSpPr>
          <p:nvPr/>
        </p:nvSpPr>
        <p:spPr>
          <a:xfrm>
            <a:off x="9948672" y="3886200"/>
            <a:ext cx="1490472" cy="914400"/>
          </a:xfrm>
          <a:prstGeom prst="roundRect">
            <a:avLst>
              <a:gd name="adj" fmla="val 8000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54D8C8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AF12920-B672-4439-8270-390E59BF2C8B}"/>
              </a:ext>
            </a:extLst>
          </p:cNvPr>
          <p:cNvSpPr>
            <a:spLocks noGrp="1"/>
          </p:cNvSpPr>
          <p:nvPr/>
        </p:nvSpPr>
        <p:spPr>
          <a:xfrm>
            <a:off x="10021824" y="4105656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4F8FB"/>
                </a:solidFill>
              </a:rPr>
              <a:t>AMD API</a:t>
            </a:r>
            <a:endParaRPr sz="12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40B749E-A7DB-47CE-A2A7-DB3573635776}"/>
              </a:ext>
            </a:extLst>
          </p:cNvPr>
          <p:cNvSpPr>
            <a:spLocks noGrp="1"/>
          </p:cNvSpPr>
          <p:nvPr/>
        </p:nvSpPr>
        <p:spPr>
          <a:xfrm>
            <a:off x="10058400" y="4389120"/>
            <a:ext cx="1261872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50">
                <a:solidFill>
                  <a:srgbClr val="A2B2C0"/>
                </a:solidFill>
              </a:rPr>
              <a:t>OpenAI-compatible</a:t>
            </a:r>
            <a:endParaRPr sz="75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05737C8F-34CE-4DED-A596-1D72C38B8F2A}"/>
              </a:ext>
            </a:extLst>
          </p:cNvPr>
          <p:cNvSpPr>
            <a:spLocks noGrp="1"/>
          </p:cNvSpPr>
          <p:nvPr/>
        </p:nvSpPr>
        <p:spPr>
          <a:xfrm>
            <a:off x="6629400" y="1600200"/>
            <a:ext cx="109728" cy="109728"/>
          </a:xfrm>
          <a:prstGeom prst="ellipse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EB8EFA09-9EA3-4918-9D3D-B0DC1094215E}"/>
              </a:ext>
            </a:extLst>
          </p:cNvPr>
          <p:cNvSpPr>
            <a:spLocks noGrp="1"/>
          </p:cNvSpPr>
          <p:nvPr/>
        </p:nvSpPr>
        <p:spPr>
          <a:xfrm>
            <a:off x="6812280" y="1554480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4F8FB"/>
                </a:solidFill>
              </a:rPr>
              <a:t>Provider-independent domain invariants</a:t>
            </a:r>
            <a:endParaRPr sz="120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BDD013AD-28C6-4880-8505-A3BC0895CFD9}"/>
              </a:ext>
            </a:extLst>
          </p:cNvPr>
          <p:cNvSpPr>
            <a:spLocks noGrp="1"/>
          </p:cNvSpPr>
          <p:nvPr/>
        </p:nvSpPr>
        <p:spPr>
          <a:xfrm>
            <a:off x="6629400" y="2103120"/>
            <a:ext cx="109728" cy="109728"/>
          </a:xfrm>
          <a:prstGeom prst="ellipse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C2C45E2-DC0A-426F-8214-3DD97076FE87}"/>
              </a:ext>
            </a:extLst>
          </p:cNvPr>
          <p:cNvSpPr>
            <a:spLocks noGrp="1"/>
          </p:cNvSpPr>
          <p:nvPr/>
        </p:nvSpPr>
        <p:spPr>
          <a:xfrm>
            <a:off x="6812280" y="2057400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4F8FB"/>
                </a:solidFill>
              </a:rPr>
              <a:t>Application-owned transitions and validation</a:t>
            </a:r>
            <a:endParaRPr sz="120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81AC6DA-157F-4371-9FAF-9AABC8E2CDFE}"/>
              </a:ext>
            </a:extLst>
          </p:cNvPr>
          <p:cNvSpPr>
            <a:spLocks noGrp="1"/>
          </p:cNvSpPr>
          <p:nvPr/>
        </p:nvSpPr>
        <p:spPr>
          <a:xfrm>
            <a:off x="6629400" y="2606040"/>
            <a:ext cx="109728" cy="109728"/>
          </a:xfrm>
          <a:prstGeom prst="ellipse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E789C7B-FCFC-4FB2-BE0E-2B7075DF6F2C}"/>
              </a:ext>
            </a:extLst>
          </p:cNvPr>
          <p:cNvSpPr>
            <a:spLocks noGrp="1"/>
          </p:cNvSpPr>
          <p:nvPr/>
        </p:nvSpPr>
        <p:spPr>
          <a:xfrm>
            <a:off x="6812280" y="2560320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4F8FB"/>
                </a:solidFill>
              </a:rPr>
              <a:t>Adapters for parsing, retrieval, SQLite and inference</a:t>
            </a:r>
            <a:endParaRPr sz="120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6552E0A5-A93C-41F4-A41A-569CC9E18C31}"/>
              </a:ext>
            </a:extLst>
          </p:cNvPr>
          <p:cNvSpPr>
            <a:spLocks noGrp="1"/>
          </p:cNvSpPr>
          <p:nvPr/>
        </p:nvSpPr>
        <p:spPr>
          <a:xfrm>
            <a:off x="6629400" y="3108960"/>
            <a:ext cx="109728" cy="109728"/>
          </a:xfrm>
          <a:prstGeom prst="ellipse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A2DA224-431D-446C-AF79-176023E4ED7C}"/>
              </a:ext>
            </a:extLst>
          </p:cNvPr>
          <p:cNvSpPr>
            <a:spLocks noGrp="1"/>
          </p:cNvSpPr>
          <p:nvPr/>
        </p:nvSpPr>
        <p:spPr>
          <a:xfrm>
            <a:off x="6812280" y="3063240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F4F8FB"/>
                </a:solidFill>
              </a:rPr>
              <a:t>Frontend consumes API, never database internals</a:t>
            </a:r>
            <a:endParaRPr sz="120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35001935-4CA3-4F34-BF3C-5AFA4F238BF0}"/>
              </a:ext>
            </a:extLst>
          </p:cNvPr>
          <p:cNvSpPr>
            <a:spLocks noGrp="1"/>
          </p:cNvSpPr>
          <p:nvPr/>
        </p:nvSpPr>
        <p:spPr>
          <a:xfrm>
            <a:off x="11155680" y="6492240"/>
            <a:ext cx="32004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b="1">
                <a:solidFill>
                  <a:srgbClr val="ED1C24"/>
                </a:solidFill>
              </a:defRPr>
            </a:pPr>
            <a:r>
              <a:rPr sz="800" b="1">
                <a:solidFill>
                  <a:srgbClr val="ED1C24"/>
                </a:solidFill>
              </a:rPr>
              <a:t>04</a:t>
            </a:r>
            <a:endParaRPr sz="800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EC47CC3C-D26B-4BC2-86A1-2AAD65BF13B1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637281"/>
                </a:solidFill>
              </a:rPr>
              <a:t>AMD AI DevMaster Hackathon · Track 2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025869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2BBD0AC-E220-4477-9F68-DDB7366A6B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0"/>
          </a:solidFill>
          <a:ln w="12700">
            <a:solidFill>
              <a:srgbClr val="060B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459802B-71B4-4F80-AF45-75CDAEC9C4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04AFA5E-A4AC-4ECA-BDCE-D82A7A9F3D3B}"/>
              </a:ext>
            </a:extLst>
          </p:cNvPr>
          <p:cNvSpPr>
            <a:spLocks noGrp="1"/>
          </p:cNvSpPr>
          <p:nvPr/>
        </p:nvSpPr>
        <p:spPr>
          <a:xfrm>
            <a:off x="228600" y="164592"/>
            <a:ext cx="2377440" cy="16459"/>
          </a:xfrm>
          <a:prstGeom prst="rect">
            <a:avLst/>
          </a:prstGeom>
          <a:solidFill>
            <a:srgbClr val="54D8C8">
              <a:alpha val="35000"/>
            </a:srgbClr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960F0FD-EFFB-497D-A96A-817651C1E340}"/>
              </a:ext>
            </a:extLst>
          </p:cNvPr>
          <p:cNvSpPr>
            <a:spLocks noGrp="1"/>
          </p:cNvSpPr>
          <p:nvPr/>
        </p:nvSpPr>
        <p:spPr>
          <a:xfrm>
            <a:off x="9555480" y="6236208"/>
            <a:ext cx="2011680" cy="16459"/>
          </a:xfrm>
          <a:prstGeom prst="rect">
            <a:avLst/>
          </a:prstGeom>
          <a:solidFill>
            <a:srgbClr val="ED1C24"/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958D751-D596-4EE1-9054-6F446031B246}"/>
              </a:ext>
            </a:extLst>
          </p:cNvPr>
          <p:cNvSpPr>
            <a:spLocks noGrp="1"/>
          </p:cNvSpPr>
          <p:nvPr/>
        </p:nvSpPr>
        <p:spPr>
          <a:xfrm>
            <a:off x="658368" y="105156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54D8C8"/>
                </a:solidFill>
              </a:rPr>
              <a:t>FIVE-AGENT WORKFLOW</a:t>
            </a:r>
            <a:endParaRPr sz="7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490DB0A-FF59-4007-9C5C-F8977C58AA4A}"/>
              </a:ext>
            </a:extLst>
          </p:cNvPr>
          <p:cNvSpPr>
            <a:spLocks noGrp="1"/>
          </p:cNvSpPr>
          <p:nvPr/>
        </p:nvSpPr>
        <p:spPr>
          <a:xfrm>
            <a:off x="658368" y="1325880"/>
            <a:ext cx="5120640" cy="1417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b="1">
                <a:solidFill>
                  <a:srgbClr val="EDF2F5"/>
                </a:solidFill>
              </a:defRPr>
            </a:pPr>
            <a:r>
              <a:rPr sz="3400" b="1">
                <a:solidFill>
                  <a:srgbClr val="EDF2F5"/>
                </a:solidFill>
                <a:latin typeface="Aptos Display"/>
                <a:ea typeface="Aptos Display"/>
                <a:cs typeface="Aptos Display"/>
              </a:rPr>
              <a:t>Fixed state machine.</a:t>
            </a:r>
            <a:endParaRPr sz="3400"/>
          </a:p>
          <a:p>
            <a:pPr marL="0" indent="0">
              <a:buNone/>
              <a:defRPr b="1">
                <a:solidFill>
                  <a:srgbClr val="EDF2F5"/>
                </a:solidFill>
              </a:defRPr>
            </a:pPr>
            <a:r>
              <a:rPr sz="3400" b="1">
                <a:solidFill>
                  <a:srgbClr val="EDF2F5"/>
                </a:solidFill>
                <a:latin typeface="Aptos Display"/>
                <a:ea typeface="Aptos Display"/>
                <a:cs typeface="Aptos Display"/>
              </a:rPr>
              <a:t>Bounded agents.</a:t>
            </a:r>
            <a:endParaRPr sz="34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A229A0E-26C6-44B3-A329-C28B25BA0D3C}"/>
              </a:ext>
            </a:extLst>
          </p:cNvPr>
          <p:cNvSpPr>
            <a:spLocks noGrp="1"/>
          </p:cNvSpPr>
          <p:nvPr/>
        </p:nvSpPr>
        <p:spPr>
          <a:xfrm>
            <a:off x="658368" y="3035808"/>
            <a:ext cx="1161288" cy="502920"/>
          </a:xfrm>
          <a:prstGeom prst="roundRect">
            <a:avLst>
              <a:gd name="adj" fmla="val 14545"/>
            </a:avLst>
          </a:prstGeom>
          <a:solidFill>
            <a:srgbClr val="16A18F">
              <a:alpha val="82000"/>
            </a:srgbClr>
          </a:solidFill>
          <a:ln w="13970">
            <a:solidFill>
              <a:srgbClr val="16A1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70A86E5-6B14-4863-A92C-9F19E5B192E6}"/>
              </a:ext>
            </a:extLst>
          </p:cNvPr>
          <p:cNvSpPr>
            <a:spLocks noGrp="1"/>
          </p:cNvSpPr>
          <p:nvPr/>
        </p:nvSpPr>
        <p:spPr>
          <a:xfrm>
            <a:off x="704088" y="3200400"/>
            <a:ext cx="1069848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Discovery</a:t>
            </a:r>
            <a:endParaRPr sz="9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A577E6E-1976-406A-AFC9-186F125E7C44}"/>
              </a:ext>
            </a:extLst>
          </p:cNvPr>
          <p:cNvSpPr>
            <a:spLocks noGrp="1"/>
          </p:cNvSpPr>
          <p:nvPr/>
        </p:nvSpPr>
        <p:spPr>
          <a:xfrm>
            <a:off x="1819656" y="3291840"/>
            <a:ext cx="173736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FF132D2-D60A-4D54-BDB9-2D77225DC70E}"/>
              </a:ext>
            </a:extLst>
          </p:cNvPr>
          <p:cNvSpPr>
            <a:spLocks noGrp="1"/>
          </p:cNvSpPr>
          <p:nvPr/>
        </p:nvSpPr>
        <p:spPr>
          <a:xfrm>
            <a:off x="2029968" y="3035808"/>
            <a:ext cx="1161288" cy="502920"/>
          </a:xfrm>
          <a:prstGeom prst="roundRect">
            <a:avLst>
              <a:gd name="adj" fmla="val 14545"/>
            </a:avLst>
          </a:prstGeom>
          <a:solidFill>
            <a:srgbClr val="0F1820">
              <a:alpha val="82000"/>
            </a:srgbClr>
          </a:solidFill>
          <a:ln w="13970">
            <a:solidFill>
              <a:srgbClr val="0F18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382ADA8-74E6-40F5-98EA-7F9A37E9CAFD}"/>
              </a:ext>
            </a:extLst>
          </p:cNvPr>
          <p:cNvSpPr>
            <a:spLocks noGrp="1"/>
          </p:cNvSpPr>
          <p:nvPr/>
        </p:nvSpPr>
        <p:spPr>
          <a:xfrm>
            <a:off x="2075688" y="3200400"/>
            <a:ext cx="1069848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Retrieval</a:t>
            </a:r>
            <a:endParaRPr sz="9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796C60E-C69B-4797-A773-FF771AFE74A8}"/>
              </a:ext>
            </a:extLst>
          </p:cNvPr>
          <p:cNvSpPr>
            <a:spLocks noGrp="1"/>
          </p:cNvSpPr>
          <p:nvPr/>
        </p:nvSpPr>
        <p:spPr>
          <a:xfrm>
            <a:off x="3191256" y="3291840"/>
            <a:ext cx="173736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2436BF3-5E4E-49E8-BCC8-9306384EA9B2}"/>
              </a:ext>
            </a:extLst>
          </p:cNvPr>
          <p:cNvSpPr>
            <a:spLocks noGrp="1"/>
          </p:cNvSpPr>
          <p:nvPr/>
        </p:nvSpPr>
        <p:spPr>
          <a:xfrm>
            <a:off x="3401568" y="3035808"/>
            <a:ext cx="1161288" cy="502920"/>
          </a:xfrm>
          <a:prstGeom prst="roundRect">
            <a:avLst>
              <a:gd name="adj" fmla="val 14545"/>
            </a:avLst>
          </a:prstGeom>
          <a:solidFill>
            <a:srgbClr val="16A18F">
              <a:alpha val="82000"/>
            </a:srgbClr>
          </a:solidFill>
          <a:ln w="13970">
            <a:solidFill>
              <a:srgbClr val="16A1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42655DC-E483-4267-B360-32D5594E3E48}"/>
              </a:ext>
            </a:extLst>
          </p:cNvPr>
          <p:cNvSpPr>
            <a:spLocks noGrp="1"/>
          </p:cNvSpPr>
          <p:nvPr/>
        </p:nvSpPr>
        <p:spPr>
          <a:xfrm>
            <a:off x="3447288" y="3200400"/>
            <a:ext cx="1069848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Evidence</a:t>
            </a:r>
            <a:endParaRPr sz="9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9D3F235-CAFF-46B0-AD74-7847D3FF58F7}"/>
              </a:ext>
            </a:extLst>
          </p:cNvPr>
          <p:cNvSpPr>
            <a:spLocks noGrp="1"/>
          </p:cNvSpPr>
          <p:nvPr/>
        </p:nvSpPr>
        <p:spPr>
          <a:xfrm>
            <a:off x="4562856" y="3291840"/>
            <a:ext cx="173736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A1CBBB1-C27D-420B-939D-F65ADA86E86A}"/>
              </a:ext>
            </a:extLst>
          </p:cNvPr>
          <p:cNvSpPr>
            <a:spLocks noGrp="1"/>
          </p:cNvSpPr>
          <p:nvPr/>
        </p:nvSpPr>
        <p:spPr>
          <a:xfrm>
            <a:off x="4773168" y="3035808"/>
            <a:ext cx="1161288" cy="502920"/>
          </a:xfrm>
          <a:prstGeom prst="roundRect">
            <a:avLst>
              <a:gd name="adj" fmla="val 14545"/>
            </a:avLst>
          </a:prstGeom>
          <a:solidFill>
            <a:srgbClr val="16A18F">
              <a:alpha val="82000"/>
            </a:srgbClr>
          </a:solidFill>
          <a:ln w="13970">
            <a:solidFill>
              <a:srgbClr val="16A1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8A59119-F57A-4A33-8334-3C4DFBD0BB7B}"/>
              </a:ext>
            </a:extLst>
          </p:cNvPr>
          <p:cNvSpPr>
            <a:spLocks noGrp="1"/>
          </p:cNvSpPr>
          <p:nvPr/>
        </p:nvSpPr>
        <p:spPr>
          <a:xfrm>
            <a:off x="4818888" y="3200400"/>
            <a:ext cx="1069848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Solution</a:t>
            </a:r>
            <a:endParaRPr sz="95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5CC8E3B2-BE88-49C9-81E8-09A981C73219}"/>
              </a:ext>
            </a:extLst>
          </p:cNvPr>
          <p:cNvSpPr>
            <a:spLocks noGrp="1"/>
          </p:cNvSpPr>
          <p:nvPr/>
        </p:nvSpPr>
        <p:spPr>
          <a:xfrm>
            <a:off x="5934456" y="3291840"/>
            <a:ext cx="173736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FCB6563-B006-42E4-83CA-807B5632852B}"/>
              </a:ext>
            </a:extLst>
          </p:cNvPr>
          <p:cNvSpPr>
            <a:spLocks noGrp="1"/>
          </p:cNvSpPr>
          <p:nvPr/>
        </p:nvSpPr>
        <p:spPr>
          <a:xfrm>
            <a:off x="6144768" y="3035808"/>
            <a:ext cx="1161288" cy="502920"/>
          </a:xfrm>
          <a:prstGeom prst="roundRect">
            <a:avLst>
              <a:gd name="adj" fmla="val 14545"/>
            </a:avLst>
          </a:prstGeom>
          <a:solidFill>
            <a:srgbClr val="16A18F">
              <a:alpha val="82000"/>
            </a:srgbClr>
          </a:solidFill>
          <a:ln w="13970">
            <a:solidFill>
              <a:srgbClr val="16A1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9C67D1A-D7F1-4002-9E0E-13B462919379}"/>
              </a:ext>
            </a:extLst>
          </p:cNvPr>
          <p:cNvSpPr>
            <a:spLocks noGrp="1"/>
          </p:cNvSpPr>
          <p:nvPr/>
        </p:nvSpPr>
        <p:spPr>
          <a:xfrm>
            <a:off x="6190488" y="3200400"/>
            <a:ext cx="1069848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Critique</a:t>
            </a:r>
            <a:endParaRPr sz="95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611779A-6978-4A3F-A255-99214C1CFECF}"/>
              </a:ext>
            </a:extLst>
          </p:cNvPr>
          <p:cNvSpPr>
            <a:spLocks noGrp="1"/>
          </p:cNvSpPr>
          <p:nvPr/>
        </p:nvSpPr>
        <p:spPr>
          <a:xfrm>
            <a:off x="7306056" y="3291840"/>
            <a:ext cx="173736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C0329A7-9AA1-4E65-9AB6-EFD4A7B15BC5}"/>
              </a:ext>
            </a:extLst>
          </p:cNvPr>
          <p:cNvSpPr>
            <a:spLocks noGrp="1"/>
          </p:cNvSpPr>
          <p:nvPr/>
        </p:nvSpPr>
        <p:spPr>
          <a:xfrm>
            <a:off x="7516368" y="3035808"/>
            <a:ext cx="1161288" cy="502920"/>
          </a:xfrm>
          <a:prstGeom prst="roundRect">
            <a:avLst>
              <a:gd name="adj" fmla="val 14545"/>
            </a:avLst>
          </a:prstGeom>
          <a:solidFill>
            <a:srgbClr val="16A18F">
              <a:alpha val="82000"/>
            </a:srgbClr>
          </a:solidFill>
          <a:ln w="13970">
            <a:solidFill>
              <a:srgbClr val="16A1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315B170-EA57-425E-A0DE-167ACF2ECE5D}"/>
              </a:ext>
            </a:extLst>
          </p:cNvPr>
          <p:cNvSpPr>
            <a:spLocks noGrp="1"/>
          </p:cNvSpPr>
          <p:nvPr/>
        </p:nvSpPr>
        <p:spPr>
          <a:xfrm>
            <a:off x="7562088" y="3200400"/>
            <a:ext cx="1069848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Revision</a:t>
            </a:r>
            <a:endParaRPr sz="95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B2940D1-2C29-45EC-9B2F-F49EFDD14A3E}"/>
              </a:ext>
            </a:extLst>
          </p:cNvPr>
          <p:cNvSpPr>
            <a:spLocks noGrp="1"/>
          </p:cNvSpPr>
          <p:nvPr/>
        </p:nvSpPr>
        <p:spPr>
          <a:xfrm>
            <a:off x="8677656" y="3291840"/>
            <a:ext cx="173736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5E7AFF4-CBFB-46C8-9248-CDA6A0A1AC37}"/>
              </a:ext>
            </a:extLst>
          </p:cNvPr>
          <p:cNvSpPr>
            <a:spLocks noGrp="1"/>
          </p:cNvSpPr>
          <p:nvPr/>
        </p:nvSpPr>
        <p:spPr>
          <a:xfrm>
            <a:off x="8887968" y="3035808"/>
            <a:ext cx="1161288" cy="502920"/>
          </a:xfrm>
          <a:prstGeom prst="roundRect">
            <a:avLst>
              <a:gd name="adj" fmla="val 14545"/>
            </a:avLst>
          </a:prstGeom>
          <a:solidFill>
            <a:srgbClr val="0F1820">
              <a:alpha val="82000"/>
            </a:srgbClr>
          </a:solidFill>
          <a:ln w="13970">
            <a:solidFill>
              <a:srgbClr val="0F18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B88A235-1E00-446C-9CEA-9804A14E77BD}"/>
              </a:ext>
            </a:extLst>
          </p:cNvPr>
          <p:cNvSpPr>
            <a:spLocks noGrp="1"/>
          </p:cNvSpPr>
          <p:nvPr/>
        </p:nvSpPr>
        <p:spPr>
          <a:xfrm>
            <a:off x="8933688" y="3200400"/>
            <a:ext cx="1069848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Validate</a:t>
            </a:r>
            <a:endParaRPr sz="95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5F2926A-B9C5-4366-AC05-7A2B74ED2419}"/>
              </a:ext>
            </a:extLst>
          </p:cNvPr>
          <p:cNvSpPr>
            <a:spLocks noGrp="1"/>
          </p:cNvSpPr>
          <p:nvPr/>
        </p:nvSpPr>
        <p:spPr>
          <a:xfrm>
            <a:off x="10049256" y="3291840"/>
            <a:ext cx="173736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6D572147-1157-4F19-A4C6-D26DCA9A6246}"/>
              </a:ext>
            </a:extLst>
          </p:cNvPr>
          <p:cNvSpPr>
            <a:spLocks noGrp="1"/>
          </p:cNvSpPr>
          <p:nvPr/>
        </p:nvSpPr>
        <p:spPr>
          <a:xfrm>
            <a:off x="10259568" y="3035808"/>
            <a:ext cx="1161288" cy="502920"/>
          </a:xfrm>
          <a:prstGeom prst="roundRect">
            <a:avLst>
              <a:gd name="adj" fmla="val 14545"/>
            </a:avLst>
          </a:prstGeom>
          <a:solidFill>
            <a:srgbClr val="0F1820">
              <a:alpha val="82000"/>
            </a:srgbClr>
          </a:solidFill>
          <a:ln w="13970">
            <a:solidFill>
              <a:srgbClr val="0F18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B6DAD96-FBB5-436B-B1C7-77849C8EC9E3}"/>
              </a:ext>
            </a:extLst>
          </p:cNvPr>
          <p:cNvSpPr>
            <a:spLocks noGrp="1"/>
          </p:cNvSpPr>
          <p:nvPr/>
        </p:nvSpPr>
        <p:spPr>
          <a:xfrm>
            <a:off x="10305288" y="3200400"/>
            <a:ext cx="1069848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Persist</a:t>
            </a:r>
            <a:endParaRPr sz="95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702D023E-CB7F-4CF5-90C7-C138F9EA66B2}"/>
              </a:ext>
            </a:extLst>
          </p:cNvPr>
          <p:cNvSpPr>
            <a:spLocks noGrp="1"/>
          </p:cNvSpPr>
          <p:nvPr/>
        </p:nvSpPr>
        <p:spPr>
          <a:xfrm>
            <a:off x="749808" y="374904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F6C34F">
              <a:alpha val="12000"/>
            </a:srgbClr>
          </a:solidFill>
          <a:ln w="12700">
            <a:solidFill>
              <a:srgbClr val="F6C3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348BBD7-EBD4-4B4C-A063-7FE536E62D93}"/>
              </a:ext>
            </a:extLst>
          </p:cNvPr>
          <p:cNvSpPr>
            <a:spLocks noGrp="1"/>
          </p:cNvSpPr>
          <p:nvPr/>
        </p:nvSpPr>
        <p:spPr>
          <a:xfrm>
            <a:off x="868680" y="3877056"/>
            <a:ext cx="1508760" cy="1005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20" b="1">
                <a:solidFill>
                  <a:srgbClr val="F6C34F"/>
                </a:solidFill>
              </a:rPr>
              <a:t>Clarification pause + resume</a:t>
            </a:r>
            <a:endParaRPr sz="72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6A57DE49-DCFF-4AA8-9366-E1CFECD09102}"/>
              </a:ext>
            </a:extLst>
          </p:cNvPr>
          <p:cNvSpPr>
            <a:spLocks noGrp="1"/>
          </p:cNvSpPr>
          <p:nvPr/>
        </p:nvSpPr>
        <p:spPr>
          <a:xfrm>
            <a:off x="822960" y="4956048"/>
            <a:ext cx="2377440" cy="512064"/>
          </a:xfrm>
          <a:prstGeom prst="roundRect">
            <a:avLst>
              <a:gd name="adj" fmla="val 14286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A809D873-463D-416C-8A9D-1C6E06B94C9B}"/>
              </a:ext>
            </a:extLst>
          </p:cNvPr>
          <p:cNvSpPr>
            <a:spLocks noGrp="1"/>
          </p:cNvSpPr>
          <p:nvPr/>
        </p:nvSpPr>
        <p:spPr>
          <a:xfrm>
            <a:off x="960120" y="5120640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20">
                <a:solidFill>
                  <a:srgbClr val="F4F8FB"/>
                </a:solidFill>
              </a:rPr>
              <a:t>Typed input/output contracts</a:t>
            </a:r>
            <a:endParaRPr sz="92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5CBA1C23-5EC7-4A9A-B759-1EA51646E49D}"/>
              </a:ext>
            </a:extLst>
          </p:cNvPr>
          <p:cNvSpPr>
            <a:spLocks noGrp="1"/>
          </p:cNvSpPr>
          <p:nvPr/>
        </p:nvSpPr>
        <p:spPr>
          <a:xfrm>
            <a:off x="3611880" y="4956048"/>
            <a:ext cx="2377440" cy="512064"/>
          </a:xfrm>
          <a:prstGeom prst="roundRect">
            <a:avLst>
              <a:gd name="adj" fmla="val 14286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BE5E40C-1B82-429B-9311-2185DACCD223}"/>
              </a:ext>
            </a:extLst>
          </p:cNvPr>
          <p:cNvSpPr>
            <a:spLocks noGrp="1"/>
          </p:cNvSpPr>
          <p:nvPr/>
        </p:nvSpPr>
        <p:spPr>
          <a:xfrm>
            <a:off x="3749040" y="5120640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20">
                <a:solidFill>
                  <a:srgbClr val="F4F8FB"/>
                </a:solidFill>
              </a:rPr>
              <a:t>Invalid output cannot advance</a:t>
            </a:r>
            <a:endParaRPr sz="92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50449E15-47A1-4BEA-BA9A-F30F57E010C6}"/>
              </a:ext>
            </a:extLst>
          </p:cNvPr>
          <p:cNvSpPr>
            <a:spLocks noGrp="1"/>
          </p:cNvSpPr>
          <p:nvPr/>
        </p:nvSpPr>
        <p:spPr>
          <a:xfrm>
            <a:off x="6400800" y="4956048"/>
            <a:ext cx="2377440" cy="512064"/>
          </a:xfrm>
          <a:prstGeom prst="roundRect">
            <a:avLst>
              <a:gd name="adj" fmla="val 14286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1D62FE6-EFCF-48F8-8F2D-57BC6F83A4ED}"/>
              </a:ext>
            </a:extLst>
          </p:cNvPr>
          <p:cNvSpPr>
            <a:spLocks noGrp="1"/>
          </p:cNvSpPr>
          <p:nvPr/>
        </p:nvSpPr>
        <p:spPr>
          <a:xfrm>
            <a:off x="6537960" y="5120640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20">
                <a:solidFill>
                  <a:srgbClr val="F4F8FB"/>
                </a:solidFill>
              </a:rPr>
              <a:t>Events, timings and provider metadata are persisted</a:t>
            </a:r>
            <a:endParaRPr sz="92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77101AA4-7807-4432-B9D7-64DFE9DDAA5D}"/>
              </a:ext>
            </a:extLst>
          </p:cNvPr>
          <p:cNvSpPr>
            <a:spLocks noGrp="1"/>
          </p:cNvSpPr>
          <p:nvPr/>
        </p:nvSpPr>
        <p:spPr>
          <a:xfrm>
            <a:off x="9189720" y="4956048"/>
            <a:ext cx="2377440" cy="512064"/>
          </a:xfrm>
          <a:prstGeom prst="roundRect">
            <a:avLst>
              <a:gd name="adj" fmla="val 14286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A1972525-DBFA-421C-9EC4-34FFA5A5C965}"/>
              </a:ext>
            </a:extLst>
          </p:cNvPr>
          <p:cNvSpPr>
            <a:spLocks noGrp="1"/>
          </p:cNvSpPr>
          <p:nvPr/>
        </p:nvSpPr>
        <p:spPr>
          <a:xfrm>
            <a:off x="9326880" y="5120640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20">
                <a:solidFill>
                  <a:srgbClr val="F4F8FB"/>
                </a:solidFill>
              </a:rPr>
              <a:t>Critic findings receive exactly one Revision disposition</a:t>
            </a:r>
            <a:endParaRPr sz="92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4E5E2042-2592-4064-9828-CE8E52B681EE}"/>
              </a:ext>
            </a:extLst>
          </p:cNvPr>
          <p:cNvSpPr>
            <a:spLocks noGrp="1"/>
          </p:cNvSpPr>
          <p:nvPr/>
        </p:nvSpPr>
        <p:spPr>
          <a:xfrm>
            <a:off x="7132320" y="162763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4F8FB"/>
                </a:solidFill>
              </a:rPr>
              <a:t>Human checkpoint</a:t>
            </a:r>
            <a:endParaRPr sz="180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917DD7CA-4A7D-40C9-A26B-D15E8736056A}"/>
              </a:ext>
            </a:extLst>
          </p:cNvPr>
          <p:cNvSpPr>
            <a:spLocks noGrp="1"/>
          </p:cNvSpPr>
          <p:nvPr/>
        </p:nvSpPr>
        <p:spPr>
          <a:xfrm>
            <a:off x="7132320" y="1993392"/>
            <a:ext cx="3840480" cy="43891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A2B2C0"/>
                </a:solidFill>
              </a:rPr>
              <a:t>Discovery pauses before retrieval, asks ordered questions, and resumes without rerunning earlier reasoning.</a:t>
            </a:r>
            <a:endParaRPr sz="1150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D1DD4B80-3E75-4786-BB0F-90A857B3852A}"/>
              </a:ext>
            </a:extLst>
          </p:cNvPr>
          <p:cNvSpPr>
            <a:spLocks noGrp="1"/>
          </p:cNvSpPr>
          <p:nvPr/>
        </p:nvSpPr>
        <p:spPr>
          <a:xfrm>
            <a:off x="11155680" y="6492240"/>
            <a:ext cx="32004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b="1">
                <a:solidFill>
                  <a:srgbClr val="ED1C24"/>
                </a:solidFill>
              </a:defRPr>
            </a:pPr>
            <a:r>
              <a:rPr sz="800" b="1">
                <a:solidFill>
                  <a:srgbClr val="ED1C24"/>
                </a:solidFill>
              </a:rPr>
              <a:t>05</a:t>
            </a:r>
            <a:endParaRPr sz="800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65C84000-5955-44EA-802B-C1DEEFFBA4E8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637281"/>
                </a:solidFill>
              </a:rPr>
              <a:t>AMD AI DevMaster Hackathon · Track 2</a:t>
            </a:r>
            <a:endParaRPr sz="750"/>
          </a:p>
        </p:txBody>
      </p:sp>
      <p:pic>
        <p:nvPicPr>
          <p:cNvPr id="97" name="Picture 9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344214"/>
            <a:ext cx="2381250" cy="49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080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72B1A1-D207-46ED-9EC6-D1C521D9E5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0"/>
          </a:solidFill>
          <a:ln w="12700">
            <a:solidFill>
              <a:srgbClr val="060B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3FFF769-B4B7-4C8C-8F6D-E2919755EE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B3BB5E2-3115-4C03-99E3-5591918531BF}"/>
              </a:ext>
            </a:extLst>
          </p:cNvPr>
          <p:cNvSpPr>
            <a:spLocks noGrp="1"/>
          </p:cNvSpPr>
          <p:nvPr/>
        </p:nvSpPr>
        <p:spPr>
          <a:xfrm>
            <a:off x="228600" y="164592"/>
            <a:ext cx="2377440" cy="16459"/>
          </a:xfrm>
          <a:prstGeom prst="rect">
            <a:avLst/>
          </a:prstGeom>
          <a:solidFill>
            <a:srgbClr val="54D8C8">
              <a:alpha val="35000"/>
            </a:srgbClr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7A937E9-10C8-45A0-B252-47EAFCDE24F6}"/>
              </a:ext>
            </a:extLst>
          </p:cNvPr>
          <p:cNvSpPr>
            <a:spLocks noGrp="1"/>
          </p:cNvSpPr>
          <p:nvPr/>
        </p:nvSpPr>
        <p:spPr>
          <a:xfrm>
            <a:off x="9555480" y="6236208"/>
            <a:ext cx="2011680" cy="16459"/>
          </a:xfrm>
          <a:prstGeom prst="rect">
            <a:avLst/>
          </a:prstGeom>
          <a:solidFill>
            <a:srgbClr val="ED1C24"/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F342D48-4D6B-4C01-BB22-A65E301ABD01}"/>
              </a:ext>
            </a:extLst>
          </p:cNvPr>
          <p:cNvSpPr>
            <a:spLocks noGrp="1"/>
          </p:cNvSpPr>
          <p:nvPr/>
        </p:nvSpPr>
        <p:spPr>
          <a:xfrm>
            <a:off x="658368" y="105156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54D8C8"/>
                </a:solidFill>
              </a:rPr>
              <a:t>TRUST ARCHITECTURE</a:t>
            </a:r>
            <a:endParaRPr sz="7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9AC3857-7CEB-4FFA-BA10-7958450C31C9}"/>
              </a:ext>
            </a:extLst>
          </p:cNvPr>
          <p:cNvSpPr>
            <a:spLocks noGrp="1"/>
          </p:cNvSpPr>
          <p:nvPr/>
        </p:nvSpPr>
        <p:spPr>
          <a:xfrm>
            <a:off x="658368" y="1298448"/>
            <a:ext cx="4937760" cy="1417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b="1">
                <a:solidFill>
                  <a:srgbClr val="EDF2F5"/>
                </a:solidFill>
              </a:defRPr>
            </a:pPr>
            <a:r>
              <a:rPr sz="3200" b="1">
                <a:solidFill>
                  <a:srgbClr val="EDF2F5"/>
                </a:solidFill>
                <a:latin typeface="Aptos Display"/>
                <a:ea typeface="Aptos Display"/>
                <a:cs typeface="Aptos Display"/>
              </a:rPr>
              <a:t>The model chooses.</a:t>
            </a:r>
            <a:endParaRPr sz="3200"/>
          </a:p>
          <a:p>
            <a:pPr marL="0" indent="0">
              <a:buNone/>
              <a:defRPr b="1">
                <a:solidFill>
                  <a:srgbClr val="EDF2F5"/>
                </a:solidFill>
              </a:defRPr>
            </a:pPr>
            <a:r>
              <a:rPr sz="3200" b="1">
                <a:solidFill>
                  <a:srgbClr val="EDF2F5"/>
                </a:solidFill>
                <a:latin typeface="Aptos Display"/>
                <a:ea typeface="Aptos Display"/>
                <a:cs typeface="Aptos Display"/>
              </a:rPr>
              <a:t>ForgeAI proves.</a:t>
            </a:r>
            <a:endParaRPr sz="3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AB07672-5824-4F2D-9F0C-7927B0260E38}"/>
              </a:ext>
            </a:extLst>
          </p:cNvPr>
          <p:cNvSpPr>
            <a:spLocks noGrp="1"/>
          </p:cNvSpPr>
          <p:nvPr/>
        </p:nvSpPr>
        <p:spPr>
          <a:xfrm>
            <a:off x="676656" y="2487168"/>
            <a:ext cx="5120640" cy="50292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220">
                <a:solidFill>
                  <a:srgbClr val="A2B2C0"/>
                </a:solidFill>
              </a:rPr>
              <a:t>Reasoning models are not asked to reproduce hashes, paths, excerpts, line ranges or canonical IDs.</a:t>
            </a:r>
            <a:endParaRPr sz="122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19F79D5-B9A3-4E0F-B9FB-FFFDB123077C}"/>
              </a:ext>
            </a:extLst>
          </p:cNvPr>
          <p:cNvSpPr>
            <a:spLocks noGrp="1"/>
          </p:cNvSpPr>
          <p:nvPr/>
        </p:nvSpPr>
        <p:spPr>
          <a:xfrm>
            <a:off x="749808" y="3127248"/>
            <a:ext cx="1645920" cy="768096"/>
          </a:xfrm>
          <a:prstGeom prst="roundRect">
            <a:avLst>
              <a:gd name="adj" fmla="val 9524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C7BBFAA-C7CC-44C4-B56B-52EE9EE34D20}"/>
              </a:ext>
            </a:extLst>
          </p:cNvPr>
          <p:cNvSpPr>
            <a:spLocks noGrp="1"/>
          </p:cNvSpPr>
          <p:nvPr/>
        </p:nvSpPr>
        <p:spPr>
          <a:xfrm>
            <a:off x="859536" y="3291840"/>
            <a:ext cx="1426464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4F8FB"/>
                </a:solidFill>
              </a:rPr>
              <a:t>Local files</a:t>
            </a:r>
            <a:endParaRPr sz="11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ACC386C-42AB-4E6D-9E16-AA30B44C6681}"/>
              </a:ext>
            </a:extLst>
          </p:cNvPr>
          <p:cNvSpPr>
            <a:spLocks noGrp="1"/>
          </p:cNvSpPr>
          <p:nvPr/>
        </p:nvSpPr>
        <p:spPr>
          <a:xfrm>
            <a:off x="859536" y="3557016"/>
            <a:ext cx="1426464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40">
                <a:solidFill>
                  <a:srgbClr val="A2B2C0"/>
                </a:solidFill>
              </a:rPr>
              <a:t>Source of truth</a:t>
            </a:r>
            <a:endParaRPr sz="74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1B9821C-A69F-4A0D-83F8-556C185E85D1}"/>
              </a:ext>
            </a:extLst>
          </p:cNvPr>
          <p:cNvSpPr>
            <a:spLocks noGrp="1"/>
          </p:cNvSpPr>
          <p:nvPr/>
        </p:nvSpPr>
        <p:spPr>
          <a:xfrm>
            <a:off x="2414016" y="3511296"/>
            <a:ext cx="420624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202D73D-218F-4F08-9DAE-60E4FC17A089}"/>
              </a:ext>
            </a:extLst>
          </p:cNvPr>
          <p:cNvSpPr>
            <a:spLocks noGrp="1"/>
          </p:cNvSpPr>
          <p:nvPr/>
        </p:nvSpPr>
        <p:spPr>
          <a:xfrm>
            <a:off x="2898648" y="3127248"/>
            <a:ext cx="1645920" cy="768096"/>
          </a:xfrm>
          <a:prstGeom prst="roundRect">
            <a:avLst>
              <a:gd name="adj" fmla="val 9524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67E0109-7508-4C25-8E43-F33E1D80C252}"/>
              </a:ext>
            </a:extLst>
          </p:cNvPr>
          <p:cNvSpPr>
            <a:spLocks noGrp="1"/>
          </p:cNvSpPr>
          <p:nvPr/>
        </p:nvSpPr>
        <p:spPr>
          <a:xfrm>
            <a:off x="3008376" y="3291840"/>
            <a:ext cx="1426464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4F8FB"/>
                </a:solidFill>
              </a:rPr>
              <a:t>Chunks + hash</a:t>
            </a:r>
            <a:endParaRPr sz="11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00C671B-97CD-47BA-98AC-16EF2ABE962E}"/>
              </a:ext>
            </a:extLst>
          </p:cNvPr>
          <p:cNvSpPr>
            <a:spLocks noGrp="1"/>
          </p:cNvSpPr>
          <p:nvPr/>
        </p:nvSpPr>
        <p:spPr>
          <a:xfrm>
            <a:off x="3008376" y="3557016"/>
            <a:ext cx="1426464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40">
                <a:solidFill>
                  <a:srgbClr val="A2B2C0"/>
                </a:solidFill>
              </a:rPr>
              <a:t>Deterministic</a:t>
            </a:r>
            <a:endParaRPr sz="74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C99443A-5179-4180-AF36-692CEFE03637}"/>
              </a:ext>
            </a:extLst>
          </p:cNvPr>
          <p:cNvSpPr>
            <a:spLocks noGrp="1"/>
          </p:cNvSpPr>
          <p:nvPr/>
        </p:nvSpPr>
        <p:spPr>
          <a:xfrm>
            <a:off x="4562856" y="3511296"/>
            <a:ext cx="420624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E185209-BABF-41C9-A58A-AA47FA58E0F4}"/>
              </a:ext>
            </a:extLst>
          </p:cNvPr>
          <p:cNvSpPr>
            <a:spLocks noGrp="1"/>
          </p:cNvSpPr>
          <p:nvPr/>
        </p:nvSpPr>
        <p:spPr>
          <a:xfrm>
            <a:off x="5047488" y="3127248"/>
            <a:ext cx="1645920" cy="768096"/>
          </a:xfrm>
          <a:prstGeom prst="roundRect">
            <a:avLst>
              <a:gd name="adj" fmla="val 9524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D0B4BCA-59E4-4083-945E-E640808044AB}"/>
              </a:ext>
            </a:extLst>
          </p:cNvPr>
          <p:cNvSpPr>
            <a:spLocks noGrp="1"/>
          </p:cNvSpPr>
          <p:nvPr/>
        </p:nvSpPr>
        <p:spPr>
          <a:xfrm>
            <a:off x="5157216" y="3291840"/>
            <a:ext cx="1426464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4F8FB"/>
                </a:solidFill>
              </a:rPr>
              <a:t>C1, C2, C3</a:t>
            </a:r>
            <a:endParaRPr sz="115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7F82422-3636-4E56-8C41-87948DBFE1AF}"/>
              </a:ext>
            </a:extLst>
          </p:cNvPr>
          <p:cNvSpPr>
            <a:spLocks noGrp="1"/>
          </p:cNvSpPr>
          <p:nvPr/>
        </p:nvSpPr>
        <p:spPr>
          <a:xfrm>
            <a:off x="5157216" y="3557016"/>
            <a:ext cx="1426464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40">
                <a:solidFill>
                  <a:srgbClr val="A2B2C0"/>
                </a:solidFill>
              </a:rPr>
              <a:t>Short labels</a:t>
            </a:r>
            <a:endParaRPr sz="74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651DA2F-14C3-4AE6-A84B-5349753ADE15}"/>
              </a:ext>
            </a:extLst>
          </p:cNvPr>
          <p:cNvSpPr>
            <a:spLocks noGrp="1"/>
          </p:cNvSpPr>
          <p:nvPr/>
        </p:nvSpPr>
        <p:spPr>
          <a:xfrm>
            <a:off x="6711696" y="3511296"/>
            <a:ext cx="420624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2091B4B-B570-429E-94ED-8622D67DA070}"/>
              </a:ext>
            </a:extLst>
          </p:cNvPr>
          <p:cNvSpPr>
            <a:spLocks noGrp="1"/>
          </p:cNvSpPr>
          <p:nvPr/>
        </p:nvSpPr>
        <p:spPr>
          <a:xfrm>
            <a:off x="7196328" y="3127248"/>
            <a:ext cx="1645920" cy="768096"/>
          </a:xfrm>
          <a:prstGeom prst="roundRect">
            <a:avLst>
              <a:gd name="adj" fmla="val 9524"/>
            </a:avLst>
          </a:prstGeom>
          <a:solidFill>
            <a:srgbClr val="093B38">
              <a:alpha val="98000"/>
            </a:srgbClr>
          </a:solidFill>
          <a:ln w="12700">
            <a:solidFill>
              <a:srgbClr val="54D8C8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ECD641A-F16F-44AA-AEF0-22B71737AD0A}"/>
              </a:ext>
            </a:extLst>
          </p:cNvPr>
          <p:cNvSpPr>
            <a:spLocks noGrp="1"/>
          </p:cNvSpPr>
          <p:nvPr/>
        </p:nvSpPr>
        <p:spPr>
          <a:xfrm>
            <a:off x="7306056" y="3291840"/>
            <a:ext cx="1426464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4F8FB"/>
                </a:solidFill>
              </a:rPr>
              <a:t>Model selects</a:t>
            </a:r>
            <a:endParaRPr sz="115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E3F6159-E758-4A90-ADD0-74CBCA2016D9}"/>
              </a:ext>
            </a:extLst>
          </p:cNvPr>
          <p:cNvSpPr>
            <a:spLocks noGrp="1"/>
          </p:cNvSpPr>
          <p:nvPr/>
        </p:nvSpPr>
        <p:spPr>
          <a:xfrm>
            <a:off x="7306056" y="3557016"/>
            <a:ext cx="1426464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40">
                <a:solidFill>
                  <a:srgbClr val="A2B2C0"/>
                </a:solidFill>
              </a:rPr>
              <a:t>Judgment only</a:t>
            </a:r>
            <a:endParaRPr sz="74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545E26F-CFEB-4EE8-9857-1FE38EC43557}"/>
              </a:ext>
            </a:extLst>
          </p:cNvPr>
          <p:cNvSpPr>
            <a:spLocks noGrp="1"/>
          </p:cNvSpPr>
          <p:nvPr/>
        </p:nvSpPr>
        <p:spPr>
          <a:xfrm>
            <a:off x="8860536" y="3511296"/>
            <a:ext cx="420624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47ED951-13FC-48BB-B9DD-313870D7D5F9}"/>
              </a:ext>
            </a:extLst>
          </p:cNvPr>
          <p:cNvSpPr>
            <a:spLocks noGrp="1"/>
          </p:cNvSpPr>
          <p:nvPr/>
        </p:nvSpPr>
        <p:spPr>
          <a:xfrm>
            <a:off x="9345168" y="3127248"/>
            <a:ext cx="1645920" cy="768096"/>
          </a:xfrm>
          <a:prstGeom prst="roundRect">
            <a:avLst>
              <a:gd name="adj" fmla="val 9524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C0F943A-5D5D-4E51-96AF-44A38F57EB3D}"/>
              </a:ext>
            </a:extLst>
          </p:cNvPr>
          <p:cNvSpPr>
            <a:spLocks noGrp="1"/>
          </p:cNvSpPr>
          <p:nvPr/>
        </p:nvSpPr>
        <p:spPr>
          <a:xfrm>
            <a:off x="9454896" y="3291840"/>
            <a:ext cx="1426464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50" b="1">
                <a:solidFill>
                  <a:srgbClr val="F4F8FB"/>
                </a:solidFill>
              </a:rPr>
              <a:t>Reconstruct</a:t>
            </a:r>
            <a:endParaRPr sz="115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99D66B93-86EA-4F37-96D2-41DB56FAFB79}"/>
              </a:ext>
            </a:extLst>
          </p:cNvPr>
          <p:cNvSpPr>
            <a:spLocks noGrp="1"/>
          </p:cNvSpPr>
          <p:nvPr/>
        </p:nvSpPr>
        <p:spPr>
          <a:xfrm>
            <a:off x="9454896" y="3557016"/>
            <a:ext cx="1426464" cy="1188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740">
                <a:solidFill>
                  <a:srgbClr val="A2B2C0"/>
                </a:solidFill>
              </a:rPr>
              <a:t>Trusted EDP</a:t>
            </a:r>
            <a:endParaRPr sz="74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282A2F2A-A007-4D0C-BCA7-BE10D3E73FA9}"/>
              </a:ext>
            </a:extLst>
          </p:cNvPr>
          <p:cNvSpPr>
            <a:spLocks noGrp="1"/>
          </p:cNvSpPr>
          <p:nvPr/>
        </p:nvSpPr>
        <p:spPr>
          <a:xfrm>
            <a:off x="6720840" y="461772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093B38">
              <a:alpha val="98000"/>
            </a:srgbClr>
          </a:solidFill>
          <a:ln w="12700">
            <a:solidFill>
              <a:srgbClr val="54D8C8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EC8EB74-FE49-48B9-B918-3FDF1CBBFCA0}"/>
              </a:ext>
            </a:extLst>
          </p:cNvPr>
          <p:cNvSpPr>
            <a:spLocks noGrp="1"/>
          </p:cNvSpPr>
          <p:nvPr/>
        </p:nvSpPr>
        <p:spPr>
          <a:xfrm>
            <a:off x="6931152" y="4855464"/>
            <a:ext cx="37033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4F8FB"/>
                </a:solidFill>
              </a:rPr>
              <a:t>Trusted public EvidenceOutput</a:t>
            </a:r>
            <a:endParaRPr sz="15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8AF9F43-C0C1-4BFC-9F09-7EF88BCE0F32}"/>
              </a:ext>
            </a:extLst>
          </p:cNvPr>
          <p:cNvSpPr>
            <a:spLocks noGrp="1"/>
          </p:cNvSpPr>
          <p:nvPr/>
        </p:nvSpPr>
        <p:spPr>
          <a:xfrm>
            <a:off x="6931152" y="5120640"/>
            <a:ext cx="37033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850">
                <a:solidFill>
                  <a:srgbClr val="A2B2C0"/>
                </a:solidFill>
              </a:rPr>
              <a:t>IDs, paths, lines, excerpt and hash copied from retrieval</a:t>
            </a:r>
            <a:endParaRPr sz="85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2CFB1542-F615-4DDE-AE72-887308C8876C}"/>
              </a:ext>
            </a:extLst>
          </p:cNvPr>
          <p:cNvSpPr>
            <a:spLocks noGrp="1"/>
          </p:cNvSpPr>
          <p:nvPr/>
        </p:nvSpPr>
        <p:spPr>
          <a:xfrm>
            <a:off x="822960" y="5623560"/>
            <a:ext cx="2423160" cy="411480"/>
          </a:xfrm>
          <a:prstGeom prst="roundRect">
            <a:avLst>
              <a:gd name="adj" fmla="val 17778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AEF5B37-A1CD-4E45-8883-5FB47CEFF3A2}"/>
              </a:ext>
            </a:extLst>
          </p:cNvPr>
          <p:cNvSpPr>
            <a:spLocks noGrp="1"/>
          </p:cNvSpPr>
          <p:nvPr/>
        </p:nvSpPr>
        <p:spPr>
          <a:xfrm>
            <a:off x="932688" y="5760720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80">
                <a:solidFill>
                  <a:srgbClr val="F4F8FB"/>
                </a:solidFill>
              </a:rPr>
              <a:t>Model never supplies provenance</a:t>
            </a:r>
            <a:endParaRPr sz="78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88D94A56-C248-4CBA-A162-4C34FA62BC98}"/>
              </a:ext>
            </a:extLst>
          </p:cNvPr>
          <p:cNvSpPr>
            <a:spLocks noGrp="1"/>
          </p:cNvSpPr>
          <p:nvPr/>
        </p:nvSpPr>
        <p:spPr>
          <a:xfrm>
            <a:off x="3703320" y="5623560"/>
            <a:ext cx="2423160" cy="411480"/>
          </a:xfrm>
          <a:prstGeom prst="roundRect">
            <a:avLst>
              <a:gd name="adj" fmla="val 17778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96C77639-AF28-4118-8A21-77D089C4B502}"/>
              </a:ext>
            </a:extLst>
          </p:cNvPr>
          <p:cNvSpPr>
            <a:spLocks noGrp="1"/>
          </p:cNvSpPr>
          <p:nvPr/>
        </p:nvSpPr>
        <p:spPr>
          <a:xfrm>
            <a:off x="3813048" y="5760720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80">
                <a:solidFill>
                  <a:srgbClr val="F4F8FB"/>
                </a:solidFill>
              </a:rPr>
              <a:t>Unknown or duplicate labels rejected</a:t>
            </a:r>
            <a:endParaRPr sz="78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3106A1E1-3CED-49D2-83D6-5DA571223790}"/>
              </a:ext>
            </a:extLst>
          </p:cNvPr>
          <p:cNvSpPr>
            <a:spLocks noGrp="1"/>
          </p:cNvSpPr>
          <p:nvPr/>
        </p:nvSpPr>
        <p:spPr>
          <a:xfrm>
            <a:off x="6583680" y="5623560"/>
            <a:ext cx="2423160" cy="411480"/>
          </a:xfrm>
          <a:prstGeom prst="roundRect">
            <a:avLst>
              <a:gd name="adj" fmla="val 17778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4BCFBC3-BEE4-454D-952E-45DEE9BF39BF}"/>
              </a:ext>
            </a:extLst>
          </p:cNvPr>
          <p:cNvSpPr>
            <a:spLocks noGrp="1"/>
          </p:cNvSpPr>
          <p:nvPr/>
        </p:nvSpPr>
        <p:spPr>
          <a:xfrm>
            <a:off x="6693408" y="5760720"/>
            <a:ext cx="2194560" cy="10972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80">
                <a:solidFill>
                  <a:srgbClr val="F4F8FB"/>
                </a:solidFill>
              </a:rPr>
              <a:t>Raw model outputs not persisted</a:t>
            </a:r>
            <a:endParaRPr sz="78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CFE48F5A-3FF1-46F8-8F66-1ED6AF3DFC19}"/>
              </a:ext>
            </a:extLst>
          </p:cNvPr>
          <p:cNvSpPr>
            <a:spLocks noGrp="1"/>
          </p:cNvSpPr>
          <p:nvPr/>
        </p:nvSpPr>
        <p:spPr>
          <a:xfrm>
            <a:off x="11155680" y="6492240"/>
            <a:ext cx="32004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b="1">
                <a:solidFill>
                  <a:srgbClr val="ED1C24"/>
                </a:solidFill>
              </a:defRPr>
            </a:pPr>
            <a:r>
              <a:rPr sz="800" b="1">
                <a:solidFill>
                  <a:srgbClr val="ED1C24"/>
                </a:solidFill>
              </a:rPr>
              <a:t>06</a:t>
            </a:r>
            <a:endParaRPr sz="80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374A573-6515-4D05-84C7-2AA7441AC7B0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637281"/>
                </a:solidFill>
              </a:rPr>
              <a:t>AMD AI DevMaster Hackathon · Track 2</a:t>
            </a:r>
            <a:endParaRPr sz="750"/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300" y="344214"/>
            <a:ext cx="2381250" cy="49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613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13C2DEE-E222-4DE4-9568-90AF6FFF52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0"/>
          </a:solidFill>
          <a:ln w="12700">
            <a:solidFill>
              <a:srgbClr val="060B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553F502-F8E4-41FC-A847-2CEF3EA010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F7B2144-DD93-4BBF-AA18-876A4DB55C57}"/>
              </a:ext>
            </a:extLst>
          </p:cNvPr>
          <p:cNvSpPr>
            <a:spLocks noGrp="1"/>
          </p:cNvSpPr>
          <p:nvPr/>
        </p:nvSpPr>
        <p:spPr>
          <a:xfrm>
            <a:off x="228600" y="164592"/>
            <a:ext cx="2377440" cy="16459"/>
          </a:xfrm>
          <a:prstGeom prst="rect">
            <a:avLst/>
          </a:prstGeom>
          <a:solidFill>
            <a:srgbClr val="54D8C8">
              <a:alpha val="35000"/>
            </a:srgbClr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1765086-00E7-4219-AFB8-044B361A8533}"/>
              </a:ext>
            </a:extLst>
          </p:cNvPr>
          <p:cNvSpPr>
            <a:spLocks noGrp="1"/>
          </p:cNvSpPr>
          <p:nvPr/>
        </p:nvSpPr>
        <p:spPr>
          <a:xfrm>
            <a:off x="9555480" y="6236208"/>
            <a:ext cx="2011680" cy="16459"/>
          </a:xfrm>
          <a:prstGeom prst="rect">
            <a:avLst/>
          </a:prstGeom>
          <a:solidFill>
            <a:srgbClr val="ED1C24"/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4A83EEA-D13C-4091-9534-28B7A205812D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399593" cy="399593"/>
          </a:xfrm>
          <a:prstGeom prst="diamond">
            <a:avLst/>
          </a:prstGeom>
          <a:solidFill>
            <a:srgbClr val="060B10">
              <a:alpha val="0"/>
            </a:srgbClr>
          </a:solidFill>
          <a:ln w="1524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684E953-0DA4-4F79-9F6F-3B64DC330226}"/>
              </a:ext>
            </a:extLst>
          </p:cNvPr>
          <p:cNvSpPr>
            <a:spLocks noGrp="1"/>
          </p:cNvSpPr>
          <p:nvPr/>
        </p:nvSpPr>
        <p:spPr>
          <a:xfrm>
            <a:off x="641909" y="496976"/>
            <a:ext cx="156362" cy="15636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4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F</a:t>
            </a:r>
            <a:endParaRPr sz="114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3A3B744-0259-47CE-948E-D8AD4689AF85}"/>
              </a:ext>
            </a:extLst>
          </p:cNvPr>
          <p:cNvSpPr>
            <a:spLocks noGrp="1"/>
          </p:cNvSpPr>
          <p:nvPr/>
        </p:nvSpPr>
        <p:spPr>
          <a:xfrm>
            <a:off x="1041502" y="392735"/>
            <a:ext cx="1389888" cy="191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35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ForgeAI</a:t>
            </a:r>
            <a:endParaRPr sz="1235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0D37A6C-65D0-4863-BF85-D1212D2277E1}"/>
              </a:ext>
            </a:extLst>
          </p:cNvPr>
          <p:cNvSpPr>
            <a:spLocks noGrp="1"/>
          </p:cNvSpPr>
          <p:nvPr/>
        </p:nvSpPr>
        <p:spPr>
          <a:xfrm>
            <a:off x="1041502" y="592531"/>
            <a:ext cx="1737360" cy="1303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570">
                <a:solidFill>
                  <a:srgbClr val="A2B2C0"/>
                </a:solidFill>
              </a:rPr>
              <a:t>ENGINEERING INTELLIGENCE</a:t>
            </a:r>
            <a:endParaRPr sz="57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94DFBB7-B792-41AB-B6F2-3D44369A7284}"/>
              </a:ext>
            </a:extLst>
          </p:cNvPr>
          <p:cNvSpPr>
            <a:spLocks noGrp="1"/>
          </p:cNvSpPr>
          <p:nvPr/>
        </p:nvSpPr>
        <p:spPr>
          <a:xfrm>
            <a:off x="658368" y="105156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54D8C8"/>
                </a:solidFill>
              </a:rPr>
              <a:t>AMD INTEGRATION</a:t>
            </a:r>
            <a:endParaRPr sz="7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E7F2A85-B66D-4EA3-A03A-4C1315642A51}"/>
              </a:ext>
            </a:extLst>
          </p:cNvPr>
          <p:cNvSpPr>
            <a:spLocks noGrp="1"/>
          </p:cNvSpPr>
          <p:nvPr/>
        </p:nvSpPr>
        <p:spPr>
          <a:xfrm>
            <a:off x="658368" y="1298448"/>
            <a:ext cx="4937760" cy="1417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b="1">
                <a:solidFill>
                  <a:srgbClr val="EDF2F5"/>
                </a:solidFill>
              </a:defRPr>
            </a:pPr>
            <a:r>
              <a:rPr sz="3400" b="1">
                <a:solidFill>
                  <a:srgbClr val="EDF2F5"/>
                </a:solidFill>
                <a:latin typeface="Aptos Display"/>
                <a:ea typeface="Aptos Display"/>
                <a:cs typeface="Aptos Display"/>
              </a:rPr>
              <a:t>Verified on AMD</a:t>
            </a:r>
            <a:endParaRPr sz="3400"/>
          </a:p>
          <a:p>
            <a:pPr marL="0" indent="0">
              <a:buNone/>
              <a:defRPr b="1">
                <a:solidFill>
                  <a:srgbClr val="EDF2F5"/>
                </a:solidFill>
              </a:defRPr>
            </a:pPr>
            <a:r>
              <a:rPr sz="3400" b="1">
                <a:solidFill>
                  <a:srgbClr val="EDF2F5"/>
                </a:solidFill>
                <a:latin typeface="Aptos Display"/>
                <a:ea typeface="Aptos Display"/>
                <a:cs typeface="Aptos Display"/>
              </a:rPr>
              <a:t>Radeon Cloud.</a:t>
            </a:r>
            <a:endParaRPr sz="3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78CDB53-2ADF-41AB-BC3D-632BD84F8588}"/>
              </a:ext>
            </a:extLst>
          </p:cNvPr>
          <p:cNvSpPr>
            <a:spLocks noGrp="1"/>
          </p:cNvSpPr>
          <p:nvPr/>
        </p:nvSpPr>
        <p:spPr>
          <a:xfrm>
            <a:off x="685800" y="2542032"/>
            <a:ext cx="4846320" cy="530352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A2B2C0"/>
                </a:solidFill>
              </a:rPr>
              <a:t>The successful live workflow used AMD Radeon Cloud’s shared DeepSeek-V4-Flash endpoint through a provider-neutral OpenAI-compatible adapter.</a:t>
            </a:r>
            <a:endParaRPr sz="11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B406A03-7C90-46B9-97B6-C42DB201F70C}"/>
              </a:ext>
            </a:extLst>
          </p:cNvPr>
          <p:cNvSpPr>
            <a:spLocks noGrp="1"/>
          </p:cNvSpPr>
          <p:nvPr/>
        </p:nvSpPr>
        <p:spPr>
          <a:xfrm>
            <a:off x="731520" y="3054096"/>
            <a:ext cx="4800600" cy="338328"/>
          </a:xfrm>
          <a:prstGeom prst="roundRect">
            <a:avLst>
              <a:gd name="adj" fmla="val 21622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39DB051-91D1-46C1-9F4D-2C9A01F74415}"/>
              </a:ext>
            </a:extLst>
          </p:cNvPr>
          <p:cNvSpPr>
            <a:spLocks noGrp="1"/>
          </p:cNvSpPr>
          <p:nvPr/>
        </p:nvSpPr>
        <p:spPr>
          <a:xfrm>
            <a:off x="914400" y="3154680"/>
            <a:ext cx="1143000" cy="91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A2B2C0"/>
                </a:solidFill>
              </a:rPr>
              <a:t>Model</a:t>
            </a:r>
            <a:endParaRPr sz="7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E609E8A-3937-41F9-8BAE-0B0C8927F03A}"/>
              </a:ext>
            </a:extLst>
          </p:cNvPr>
          <p:cNvSpPr>
            <a:spLocks noGrp="1"/>
          </p:cNvSpPr>
          <p:nvPr/>
        </p:nvSpPr>
        <p:spPr>
          <a:xfrm>
            <a:off x="1901952" y="3154680"/>
            <a:ext cx="3383280" cy="914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F4F8FB"/>
                </a:solidFill>
              </a:rPr>
              <a:t>DeepSeek-V4-Flash</a:t>
            </a:r>
            <a:endParaRPr sz="7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B6D3BCB-F058-4EDC-A9D1-96A325371635}"/>
              </a:ext>
            </a:extLst>
          </p:cNvPr>
          <p:cNvSpPr>
            <a:spLocks noGrp="1"/>
          </p:cNvSpPr>
          <p:nvPr/>
        </p:nvSpPr>
        <p:spPr>
          <a:xfrm>
            <a:off x="731520" y="3493008"/>
            <a:ext cx="4800600" cy="338328"/>
          </a:xfrm>
          <a:prstGeom prst="roundRect">
            <a:avLst>
              <a:gd name="adj" fmla="val 21622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FCA47CB-A473-423B-861D-2B77E4BCA8B3}"/>
              </a:ext>
            </a:extLst>
          </p:cNvPr>
          <p:cNvSpPr>
            <a:spLocks noGrp="1"/>
          </p:cNvSpPr>
          <p:nvPr/>
        </p:nvSpPr>
        <p:spPr>
          <a:xfrm>
            <a:off x="914400" y="3593592"/>
            <a:ext cx="1143000" cy="91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A2B2C0"/>
                </a:solidFill>
              </a:rPr>
              <a:t>Served as</a:t>
            </a:r>
            <a:endParaRPr sz="7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F003523-DFCF-4287-9AE9-826D95E4D703}"/>
              </a:ext>
            </a:extLst>
          </p:cNvPr>
          <p:cNvSpPr>
            <a:spLocks noGrp="1"/>
          </p:cNvSpPr>
          <p:nvPr/>
        </p:nvSpPr>
        <p:spPr>
          <a:xfrm>
            <a:off x="1901952" y="3593592"/>
            <a:ext cx="3383280" cy="914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F4F8FB"/>
                </a:solidFill>
              </a:rPr>
              <a:t>radeon-deepseek/DeepSeek-V4-Flash</a:t>
            </a:r>
            <a:endParaRPr sz="75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17236464-EF1C-45CB-B2F7-DBDFDB26AAF2}"/>
              </a:ext>
            </a:extLst>
          </p:cNvPr>
          <p:cNvSpPr>
            <a:spLocks noGrp="1"/>
          </p:cNvSpPr>
          <p:nvPr/>
        </p:nvSpPr>
        <p:spPr>
          <a:xfrm>
            <a:off x="731520" y="3931920"/>
            <a:ext cx="4800600" cy="338328"/>
          </a:xfrm>
          <a:prstGeom prst="roundRect">
            <a:avLst>
              <a:gd name="adj" fmla="val 21622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7E148DA-1698-4FF7-9B4F-CCD0E55DB96E}"/>
              </a:ext>
            </a:extLst>
          </p:cNvPr>
          <p:cNvSpPr>
            <a:spLocks noGrp="1"/>
          </p:cNvSpPr>
          <p:nvPr/>
        </p:nvSpPr>
        <p:spPr>
          <a:xfrm>
            <a:off x="914400" y="4032504"/>
            <a:ext cx="1143000" cy="91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A2B2C0"/>
                </a:solidFill>
              </a:rPr>
              <a:t>Mode</a:t>
            </a:r>
            <a:endParaRPr sz="7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E6FFB0C-86EF-4A7D-A608-FE1E59D99B77}"/>
              </a:ext>
            </a:extLst>
          </p:cNvPr>
          <p:cNvSpPr>
            <a:spLocks noGrp="1"/>
          </p:cNvSpPr>
          <p:nvPr/>
        </p:nvSpPr>
        <p:spPr>
          <a:xfrm>
            <a:off x="1901952" y="4032504"/>
            <a:ext cx="3383280" cy="914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F4F8FB"/>
                </a:solidFill>
              </a:rPr>
              <a:t>json_object</a:t>
            </a:r>
            <a:endParaRPr sz="7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5A55EDC-0022-4CBC-8C88-255F894C94E2}"/>
              </a:ext>
            </a:extLst>
          </p:cNvPr>
          <p:cNvSpPr>
            <a:spLocks noGrp="1"/>
          </p:cNvSpPr>
          <p:nvPr/>
        </p:nvSpPr>
        <p:spPr>
          <a:xfrm>
            <a:off x="731520" y="4370832"/>
            <a:ext cx="4800600" cy="338328"/>
          </a:xfrm>
          <a:prstGeom prst="roundRect">
            <a:avLst>
              <a:gd name="adj" fmla="val 21622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17B63B5-57F9-489A-B7A5-D2A10BC05536}"/>
              </a:ext>
            </a:extLst>
          </p:cNvPr>
          <p:cNvSpPr>
            <a:spLocks noGrp="1"/>
          </p:cNvSpPr>
          <p:nvPr/>
        </p:nvSpPr>
        <p:spPr>
          <a:xfrm>
            <a:off x="914400" y="4471416"/>
            <a:ext cx="1143000" cy="91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A2B2C0"/>
                </a:solidFill>
              </a:rPr>
              <a:t>Timeout</a:t>
            </a:r>
            <a:endParaRPr sz="75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B1F4CB0-F900-4045-B6F4-3D469C265FFF}"/>
              </a:ext>
            </a:extLst>
          </p:cNvPr>
          <p:cNvSpPr>
            <a:spLocks noGrp="1"/>
          </p:cNvSpPr>
          <p:nvPr/>
        </p:nvSpPr>
        <p:spPr>
          <a:xfrm>
            <a:off x="1901952" y="4471416"/>
            <a:ext cx="3383280" cy="914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F4F8FB"/>
                </a:solidFill>
              </a:rPr>
              <a:t>300s</a:t>
            </a:r>
            <a:endParaRPr sz="75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1637B56-100A-4E5F-B247-5EBFDD90D5D9}"/>
              </a:ext>
            </a:extLst>
          </p:cNvPr>
          <p:cNvSpPr>
            <a:spLocks noGrp="1"/>
          </p:cNvSpPr>
          <p:nvPr/>
        </p:nvSpPr>
        <p:spPr>
          <a:xfrm>
            <a:off x="731520" y="4809744"/>
            <a:ext cx="4800600" cy="338328"/>
          </a:xfrm>
          <a:prstGeom prst="roundRect">
            <a:avLst>
              <a:gd name="adj" fmla="val 21622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9F76ED4-3013-4AEA-AE24-AC8E328AF0FD}"/>
              </a:ext>
            </a:extLst>
          </p:cNvPr>
          <p:cNvSpPr>
            <a:spLocks noGrp="1"/>
          </p:cNvSpPr>
          <p:nvPr/>
        </p:nvSpPr>
        <p:spPr>
          <a:xfrm>
            <a:off x="914400" y="4910328"/>
            <a:ext cx="1143000" cy="914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A2B2C0"/>
                </a:solidFill>
              </a:rPr>
              <a:t>Provider retries</a:t>
            </a:r>
            <a:endParaRPr sz="75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C063BFB-980D-4BFA-978D-87294C390822}"/>
              </a:ext>
            </a:extLst>
          </p:cNvPr>
          <p:cNvSpPr>
            <a:spLocks noGrp="1"/>
          </p:cNvSpPr>
          <p:nvPr/>
        </p:nvSpPr>
        <p:spPr>
          <a:xfrm>
            <a:off x="1901952" y="4910328"/>
            <a:ext cx="3383280" cy="914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750">
                <a:solidFill>
                  <a:srgbClr val="F4F8FB"/>
                </a:solidFill>
              </a:rPr>
              <a:t>0</a:t>
            </a:r>
            <a:endParaRPr sz="75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FE46666-EB45-489F-BADC-A3147DFCE6A7}"/>
              </a:ext>
            </a:extLst>
          </p:cNvPr>
          <p:cNvSpPr>
            <a:spLocks noGrp="1"/>
          </p:cNvSpPr>
          <p:nvPr/>
        </p:nvSpPr>
        <p:spPr>
          <a:xfrm>
            <a:off x="6492240" y="1664208"/>
            <a:ext cx="5029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A2B2C0"/>
                </a:solidFill>
              </a:rPr>
              <a:t>Disc</a:t>
            </a:r>
            <a:endParaRPr sz="85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22A35C95-3864-4DE0-BC8C-8B276987D8D7}"/>
              </a:ext>
            </a:extLst>
          </p:cNvPr>
          <p:cNvSpPr>
            <a:spLocks noGrp="1"/>
          </p:cNvSpPr>
          <p:nvPr/>
        </p:nvSpPr>
        <p:spPr>
          <a:xfrm>
            <a:off x="7095744" y="1664208"/>
            <a:ext cx="3840480" cy="146304"/>
          </a:xfrm>
          <a:prstGeom prst="rect">
            <a:avLst/>
          </a:prstGeom>
          <a:solidFill>
            <a:srgbClr val="15242D"/>
          </a:solidFill>
          <a:ln w="12700">
            <a:solidFill>
              <a:srgbClr val="1524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91E4A00-C778-4685-B12C-4AF9195AA495}"/>
              </a:ext>
            </a:extLst>
          </p:cNvPr>
          <p:cNvSpPr>
            <a:spLocks noGrp="1"/>
          </p:cNvSpPr>
          <p:nvPr/>
        </p:nvSpPr>
        <p:spPr>
          <a:xfrm>
            <a:off x="7095744" y="1664208"/>
            <a:ext cx="2356775" cy="146304"/>
          </a:xfrm>
          <a:prstGeom prst="rect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FE2FE6B-B770-4C2B-B96D-B32CE2DBB97F}"/>
              </a:ext>
            </a:extLst>
          </p:cNvPr>
          <p:cNvSpPr>
            <a:spLocks noGrp="1"/>
          </p:cNvSpPr>
          <p:nvPr/>
        </p:nvSpPr>
        <p:spPr>
          <a:xfrm>
            <a:off x="11018520" y="1636776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>
                <a:solidFill>
                  <a:srgbClr val="F4F8FB"/>
                </a:solidFill>
              </a:rPr>
              <a:t>18.41s</a:t>
            </a:r>
            <a:endParaRPr sz="80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C23A754-D1DF-4D0F-B614-EF5DE743D828}"/>
              </a:ext>
            </a:extLst>
          </p:cNvPr>
          <p:cNvSpPr>
            <a:spLocks noGrp="1"/>
          </p:cNvSpPr>
          <p:nvPr/>
        </p:nvSpPr>
        <p:spPr>
          <a:xfrm>
            <a:off x="6492240" y="2258568"/>
            <a:ext cx="5029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A2B2C0"/>
                </a:solidFill>
              </a:rPr>
              <a:t>Evid</a:t>
            </a:r>
            <a:endParaRPr sz="85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EE59988-6D20-4C56-9AEE-40CE839BFAA0}"/>
              </a:ext>
            </a:extLst>
          </p:cNvPr>
          <p:cNvSpPr>
            <a:spLocks noGrp="1"/>
          </p:cNvSpPr>
          <p:nvPr/>
        </p:nvSpPr>
        <p:spPr>
          <a:xfrm>
            <a:off x="7095744" y="2258568"/>
            <a:ext cx="3840480" cy="146304"/>
          </a:xfrm>
          <a:prstGeom prst="rect">
            <a:avLst/>
          </a:prstGeom>
          <a:solidFill>
            <a:srgbClr val="15242D"/>
          </a:solidFill>
          <a:ln w="12700">
            <a:solidFill>
              <a:srgbClr val="1524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5DC23C7-3D39-4B3F-A993-9BE47DD1E837}"/>
              </a:ext>
            </a:extLst>
          </p:cNvPr>
          <p:cNvSpPr>
            <a:spLocks noGrp="1"/>
          </p:cNvSpPr>
          <p:nvPr/>
        </p:nvSpPr>
        <p:spPr>
          <a:xfrm>
            <a:off x="7095744" y="2258568"/>
            <a:ext cx="1365931" cy="146304"/>
          </a:xfrm>
          <a:prstGeom prst="rect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53AB7129-ADF2-441B-8C0B-B148C8D460E6}"/>
              </a:ext>
            </a:extLst>
          </p:cNvPr>
          <p:cNvSpPr>
            <a:spLocks noGrp="1"/>
          </p:cNvSpPr>
          <p:nvPr/>
        </p:nvSpPr>
        <p:spPr>
          <a:xfrm>
            <a:off x="11018520" y="2231136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>
                <a:solidFill>
                  <a:srgbClr val="F4F8FB"/>
                </a:solidFill>
              </a:rPr>
              <a:t>10.67s</a:t>
            </a:r>
            <a:endParaRPr sz="80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7C795B56-D6B6-4320-8D95-9976F5E46D2D}"/>
              </a:ext>
            </a:extLst>
          </p:cNvPr>
          <p:cNvSpPr>
            <a:spLocks noGrp="1"/>
          </p:cNvSpPr>
          <p:nvPr/>
        </p:nvSpPr>
        <p:spPr>
          <a:xfrm>
            <a:off x="6492240" y="2852928"/>
            <a:ext cx="5029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A2B2C0"/>
                </a:solidFill>
              </a:rPr>
              <a:t>Sol</a:t>
            </a:r>
            <a:endParaRPr sz="85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A2C62B59-D771-40F8-89C8-CA4E7C66EA81}"/>
              </a:ext>
            </a:extLst>
          </p:cNvPr>
          <p:cNvSpPr>
            <a:spLocks noGrp="1"/>
          </p:cNvSpPr>
          <p:nvPr/>
        </p:nvSpPr>
        <p:spPr>
          <a:xfrm>
            <a:off x="7095744" y="2852928"/>
            <a:ext cx="3840480" cy="146304"/>
          </a:xfrm>
          <a:prstGeom prst="rect">
            <a:avLst/>
          </a:prstGeom>
          <a:solidFill>
            <a:srgbClr val="15242D"/>
          </a:solidFill>
          <a:ln w="12700">
            <a:solidFill>
              <a:srgbClr val="1524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73AB92D-A196-42D3-8AFB-2C4797497418}"/>
              </a:ext>
            </a:extLst>
          </p:cNvPr>
          <p:cNvSpPr>
            <a:spLocks noGrp="1"/>
          </p:cNvSpPr>
          <p:nvPr/>
        </p:nvSpPr>
        <p:spPr>
          <a:xfrm>
            <a:off x="7095744" y="2852928"/>
            <a:ext cx="3723985" cy="146304"/>
          </a:xfrm>
          <a:prstGeom prst="rect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DB3F2A0-BF79-459A-B15A-52625AF64901}"/>
              </a:ext>
            </a:extLst>
          </p:cNvPr>
          <p:cNvSpPr>
            <a:spLocks noGrp="1"/>
          </p:cNvSpPr>
          <p:nvPr/>
        </p:nvSpPr>
        <p:spPr>
          <a:xfrm>
            <a:off x="11018520" y="2825496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>
                <a:solidFill>
                  <a:srgbClr val="F4F8FB"/>
                </a:solidFill>
              </a:rPr>
              <a:t>29.09s</a:t>
            </a:r>
            <a:endParaRPr sz="80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17E23C57-8FC4-4B19-90BE-F797A5F04839}"/>
              </a:ext>
            </a:extLst>
          </p:cNvPr>
          <p:cNvSpPr>
            <a:spLocks noGrp="1"/>
          </p:cNvSpPr>
          <p:nvPr/>
        </p:nvSpPr>
        <p:spPr>
          <a:xfrm>
            <a:off x="6492240" y="3447288"/>
            <a:ext cx="5029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A2B2C0"/>
                </a:solidFill>
              </a:rPr>
              <a:t>Crit</a:t>
            </a:r>
            <a:endParaRPr sz="85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A5E102FC-603A-477B-87B5-CF74FEC4DD47}"/>
              </a:ext>
            </a:extLst>
          </p:cNvPr>
          <p:cNvSpPr>
            <a:spLocks noGrp="1"/>
          </p:cNvSpPr>
          <p:nvPr/>
        </p:nvSpPr>
        <p:spPr>
          <a:xfrm>
            <a:off x="7095744" y="3447288"/>
            <a:ext cx="3840480" cy="146304"/>
          </a:xfrm>
          <a:prstGeom prst="rect">
            <a:avLst/>
          </a:prstGeom>
          <a:solidFill>
            <a:srgbClr val="15242D"/>
          </a:solidFill>
          <a:ln w="12700">
            <a:solidFill>
              <a:srgbClr val="1524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99DBBF06-72CE-4805-93B9-E7ABEE404BA0}"/>
              </a:ext>
            </a:extLst>
          </p:cNvPr>
          <p:cNvSpPr>
            <a:spLocks noGrp="1"/>
          </p:cNvSpPr>
          <p:nvPr/>
        </p:nvSpPr>
        <p:spPr>
          <a:xfrm>
            <a:off x="7095744" y="3447288"/>
            <a:ext cx="3722705" cy="146304"/>
          </a:xfrm>
          <a:prstGeom prst="rect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6B0FFA0-2588-46F8-AFA4-88A760542046}"/>
              </a:ext>
            </a:extLst>
          </p:cNvPr>
          <p:cNvSpPr>
            <a:spLocks noGrp="1"/>
          </p:cNvSpPr>
          <p:nvPr/>
        </p:nvSpPr>
        <p:spPr>
          <a:xfrm>
            <a:off x="11018520" y="3419856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>
                <a:solidFill>
                  <a:srgbClr val="F4F8FB"/>
                </a:solidFill>
              </a:rPr>
              <a:t>29.08s</a:t>
            </a:r>
            <a:endParaRPr sz="80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5DE5466F-10D4-407A-AE67-09780F3D192A}"/>
              </a:ext>
            </a:extLst>
          </p:cNvPr>
          <p:cNvSpPr>
            <a:spLocks noGrp="1"/>
          </p:cNvSpPr>
          <p:nvPr/>
        </p:nvSpPr>
        <p:spPr>
          <a:xfrm>
            <a:off x="6492240" y="4041648"/>
            <a:ext cx="5029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50">
                <a:solidFill>
                  <a:srgbClr val="A2B2C0"/>
                </a:solidFill>
              </a:rPr>
              <a:t>Rev</a:t>
            </a:r>
            <a:endParaRPr sz="85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460EEE34-9CEB-4D05-B956-017F93ED5A16}"/>
              </a:ext>
            </a:extLst>
          </p:cNvPr>
          <p:cNvSpPr>
            <a:spLocks noGrp="1"/>
          </p:cNvSpPr>
          <p:nvPr/>
        </p:nvSpPr>
        <p:spPr>
          <a:xfrm>
            <a:off x="7095744" y="4041648"/>
            <a:ext cx="3840480" cy="146304"/>
          </a:xfrm>
          <a:prstGeom prst="rect">
            <a:avLst/>
          </a:prstGeom>
          <a:solidFill>
            <a:srgbClr val="15242D"/>
          </a:solidFill>
          <a:ln w="12700">
            <a:solidFill>
              <a:srgbClr val="15242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5CF693C4-E7C8-4F46-89E0-52474F89265D}"/>
              </a:ext>
            </a:extLst>
          </p:cNvPr>
          <p:cNvSpPr>
            <a:spLocks noGrp="1"/>
          </p:cNvSpPr>
          <p:nvPr/>
        </p:nvSpPr>
        <p:spPr>
          <a:xfrm>
            <a:off x="7095744" y="4041648"/>
            <a:ext cx="2424623" cy="146304"/>
          </a:xfrm>
          <a:prstGeom prst="rect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B6F355A-7DBE-46AE-A21A-68E4EEDA740D}"/>
              </a:ext>
            </a:extLst>
          </p:cNvPr>
          <p:cNvSpPr>
            <a:spLocks noGrp="1"/>
          </p:cNvSpPr>
          <p:nvPr/>
        </p:nvSpPr>
        <p:spPr>
          <a:xfrm>
            <a:off x="11018520" y="4014216"/>
            <a:ext cx="73152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800">
                <a:solidFill>
                  <a:srgbClr val="F4F8FB"/>
                </a:solidFill>
              </a:rPr>
              <a:t>18.94s</a:t>
            </a:r>
            <a:endParaRPr sz="80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BAA55D66-9760-42A4-A9C0-1DA70B2298A8}"/>
              </a:ext>
            </a:extLst>
          </p:cNvPr>
          <p:cNvSpPr>
            <a:spLocks noGrp="1"/>
          </p:cNvSpPr>
          <p:nvPr/>
        </p:nvSpPr>
        <p:spPr>
          <a:xfrm>
            <a:off x="6537960" y="493776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101B24">
              <a:alpha val="92000"/>
            </a:srgbClr>
          </a:solidFill>
          <a:ln w="12700">
            <a:solidFill>
              <a:srgbClr val="23404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FF6A9599-6A01-44CD-8447-49E7592B2D9A}"/>
              </a:ext>
            </a:extLst>
          </p:cNvPr>
          <p:cNvSpPr>
            <a:spLocks noGrp="1"/>
          </p:cNvSpPr>
          <p:nvPr/>
        </p:nvSpPr>
        <p:spPr>
          <a:xfrm>
            <a:off x="6537960" y="505663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106.29s</a:t>
            </a:r>
            <a:endParaRPr sz="240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B7C65FF0-1DAF-4D1B-9B89-2FA0059BE854}"/>
              </a:ext>
            </a:extLst>
          </p:cNvPr>
          <p:cNvSpPr>
            <a:spLocks noGrp="1"/>
          </p:cNvSpPr>
          <p:nvPr/>
        </p:nvSpPr>
        <p:spPr>
          <a:xfrm>
            <a:off x="6611112" y="5504688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A2B2C0"/>
                </a:solidFill>
              </a:rPr>
              <a:t>total command latency</a:t>
            </a:r>
            <a:endParaRPr sz="70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82CA5DE0-7E7E-4D56-87C0-06DD8C381CF7}"/>
              </a:ext>
            </a:extLst>
          </p:cNvPr>
          <p:cNvSpPr>
            <a:spLocks noGrp="1"/>
          </p:cNvSpPr>
          <p:nvPr/>
        </p:nvSpPr>
        <p:spPr>
          <a:xfrm>
            <a:off x="8028432" y="493776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101B24">
              <a:alpha val="92000"/>
            </a:srgbClr>
          </a:solidFill>
          <a:ln w="12700">
            <a:solidFill>
              <a:srgbClr val="23404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15888BC8-933F-424D-8411-6A49A1BE1C72}"/>
              </a:ext>
            </a:extLst>
          </p:cNvPr>
          <p:cNvSpPr>
            <a:spLocks noGrp="1"/>
          </p:cNvSpPr>
          <p:nvPr/>
        </p:nvSpPr>
        <p:spPr>
          <a:xfrm>
            <a:off x="8028432" y="505663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20,556</a:t>
            </a:r>
            <a:endParaRPr sz="240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5383037B-E5D2-42A6-BE06-81AF2A573EEA}"/>
              </a:ext>
            </a:extLst>
          </p:cNvPr>
          <p:cNvSpPr>
            <a:spLocks noGrp="1"/>
          </p:cNvSpPr>
          <p:nvPr/>
        </p:nvSpPr>
        <p:spPr>
          <a:xfrm>
            <a:off x="8101584" y="5504688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A2B2C0"/>
                </a:solidFill>
              </a:rPr>
              <a:t>model tokens</a:t>
            </a:r>
            <a:endParaRPr sz="70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C26933C5-84DF-47BB-8D46-AEE7B11EF743}"/>
              </a:ext>
            </a:extLst>
          </p:cNvPr>
          <p:cNvSpPr>
            <a:spLocks noGrp="1"/>
          </p:cNvSpPr>
          <p:nvPr/>
        </p:nvSpPr>
        <p:spPr>
          <a:xfrm>
            <a:off x="9518904" y="4937760"/>
            <a:ext cx="1325880" cy="914400"/>
          </a:xfrm>
          <a:prstGeom prst="roundRect">
            <a:avLst>
              <a:gd name="adj" fmla="val 6000"/>
            </a:avLst>
          </a:prstGeom>
          <a:solidFill>
            <a:srgbClr val="101B24">
              <a:alpha val="92000"/>
            </a:srgbClr>
          </a:solidFill>
          <a:ln w="12700">
            <a:solidFill>
              <a:srgbClr val="23404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DE64346D-A25E-4166-9BA7-0EB08F84C75D}"/>
              </a:ext>
            </a:extLst>
          </p:cNvPr>
          <p:cNvSpPr>
            <a:spLocks noGrp="1"/>
          </p:cNvSpPr>
          <p:nvPr/>
        </p:nvSpPr>
        <p:spPr>
          <a:xfrm>
            <a:off x="9518904" y="5056632"/>
            <a:ext cx="132588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10/10</a:t>
            </a:r>
            <a:endParaRPr sz="2400"/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C91560B6-5921-4CFB-A9EC-37C761A94E01}"/>
              </a:ext>
            </a:extLst>
          </p:cNvPr>
          <p:cNvSpPr>
            <a:spLocks noGrp="1"/>
          </p:cNvSpPr>
          <p:nvPr/>
        </p:nvSpPr>
        <p:spPr>
          <a:xfrm>
            <a:off x="9592056" y="5504688"/>
            <a:ext cx="117957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A2B2C0"/>
                </a:solidFill>
              </a:rPr>
              <a:t>critic dispositions accepted</a:t>
            </a:r>
            <a:endParaRPr sz="700"/>
          </a:p>
        </p:txBody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7757C276-4022-44F6-BE1D-D6BE37A27D17}"/>
              </a:ext>
            </a:extLst>
          </p:cNvPr>
          <p:cNvSpPr>
            <a:spLocks noGrp="1"/>
          </p:cNvSpPr>
          <p:nvPr/>
        </p:nvSpPr>
        <p:spPr>
          <a:xfrm>
            <a:off x="11155680" y="6492240"/>
            <a:ext cx="32004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b="1">
                <a:solidFill>
                  <a:srgbClr val="ED1C24"/>
                </a:solidFill>
              </a:defRPr>
            </a:pPr>
            <a:r>
              <a:rPr sz="800" b="1">
                <a:solidFill>
                  <a:srgbClr val="ED1C24"/>
                </a:solidFill>
              </a:rPr>
              <a:t>07</a:t>
            </a:r>
            <a:endParaRPr sz="800"/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6394EEC0-BBDD-4BF5-98F1-EBA41DFD5DC4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637281"/>
                </a:solidFill>
              </a:rPr>
              <a:t>AMD AI DevMaster Hackathon · Track 2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425134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EECEFD-1E16-4619-B1D7-0E54A3E264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0"/>
          </a:solidFill>
          <a:ln w="12700">
            <a:solidFill>
              <a:srgbClr val="060B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58B7D71-458A-45B9-B297-F03F73CF85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A121874-2AA0-4F20-8AD7-23809FEBA7EE}"/>
              </a:ext>
            </a:extLst>
          </p:cNvPr>
          <p:cNvSpPr>
            <a:spLocks noGrp="1"/>
          </p:cNvSpPr>
          <p:nvPr/>
        </p:nvSpPr>
        <p:spPr>
          <a:xfrm>
            <a:off x="228600" y="164592"/>
            <a:ext cx="2377440" cy="16459"/>
          </a:xfrm>
          <a:prstGeom prst="rect">
            <a:avLst/>
          </a:prstGeom>
          <a:solidFill>
            <a:srgbClr val="54D8C8">
              <a:alpha val="35000"/>
            </a:srgbClr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2B36F1F-4BA3-4E5B-BFB8-76DB3257EEAD}"/>
              </a:ext>
            </a:extLst>
          </p:cNvPr>
          <p:cNvSpPr>
            <a:spLocks noGrp="1"/>
          </p:cNvSpPr>
          <p:nvPr/>
        </p:nvSpPr>
        <p:spPr>
          <a:xfrm>
            <a:off x="9555480" y="6236208"/>
            <a:ext cx="2011680" cy="16459"/>
          </a:xfrm>
          <a:prstGeom prst="rect">
            <a:avLst/>
          </a:prstGeom>
          <a:solidFill>
            <a:srgbClr val="ED1C24"/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4E27197-518D-4783-8308-16D696EC20FA}"/>
              </a:ext>
            </a:extLst>
          </p:cNvPr>
          <p:cNvSpPr>
            <a:spLocks noGrp="1"/>
          </p:cNvSpPr>
          <p:nvPr/>
        </p:nvSpPr>
        <p:spPr>
          <a:xfrm>
            <a:off x="658368" y="105156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54D8C8"/>
                </a:solidFill>
              </a:rPr>
              <a:t>PRODUCT EXPERIENCE</a:t>
            </a:r>
            <a:endParaRPr sz="7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50421CD-21D1-4FBF-8347-D415F19BEDB4}"/>
              </a:ext>
            </a:extLst>
          </p:cNvPr>
          <p:cNvSpPr>
            <a:spLocks noGrp="1"/>
          </p:cNvSpPr>
          <p:nvPr/>
        </p:nvSpPr>
        <p:spPr>
          <a:xfrm>
            <a:off x="658368" y="1298448"/>
            <a:ext cx="4846320" cy="1417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  <a:defRPr b="1">
                <a:solidFill>
                  <a:srgbClr val="EDF2F5"/>
                </a:solidFill>
              </a:defRPr>
            </a:pPr>
            <a:r>
              <a:rPr sz="3200" b="1">
                <a:solidFill>
                  <a:srgbClr val="EDF2F5"/>
                </a:solidFill>
                <a:latin typeface="Aptos Display"/>
                <a:ea typeface="Aptos Display"/>
                <a:cs typeface="Aptos Display"/>
              </a:rPr>
              <a:t>A workspace built for</a:t>
            </a:r>
            <a:endParaRPr sz="3200"/>
          </a:p>
          <a:p>
            <a:pPr marL="0" indent="0">
              <a:buNone/>
              <a:defRPr b="1">
                <a:solidFill>
                  <a:srgbClr val="EDF2F5"/>
                </a:solidFill>
              </a:defRPr>
            </a:pPr>
            <a:r>
              <a:rPr sz="3200" b="1">
                <a:solidFill>
                  <a:srgbClr val="EDF2F5"/>
                </a:solidFill>
                <a:latin typeface="Aptos Display"/>
                <a:ea typeface="Aptos Display"/>
                <a:cs typeface="Aptos Display"/>
              </a:rPr>
              <a:t>trust, not theatre.</a:t>
            </a:r>
            <a:endParaRPr sz="3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9068288-3CDA-40B8-8400-B749FD46CA55}"/>
              </a:ext>
            </a:extLst>
          </p:cNvPr>
          <p:cNvSpPr>
            <a:spLocks noGrp="1"/>
          </p:cNvSpPr>
          <p:nvPr/>
        </p:nvSpPr>
        <p:spPr>
          <a:xfrm>
            <a:off x="676656" y="2542032"/>
            <a:ext cx="4754880" cy="502920"/>
          </a:xfrm>
          <a:prstGeom prst="rect">
            <a:avLst/>
          </a:prstGeom>
          <a:noFill/>
        </p:spPr>
        <p:txBody>
          <a:bodyPr wrap="square" lIns="254" tIns="254" rIns="254" bIns="254" anchor="ctr">
            <a:normAutofit/>
          </a:bodyPr>
          <a:lstStyle/>
          <a:p>
            <a:pPr marL="0" indent="0">
              <a:buNone/>
            </a:pPr>
            <a:r>
              <a:rPr sz="1150">
                <a:solidFill>
                  <a:srgbClr val="A2B2C0"/>
                </a:solidFill>
              </a:rPr>
              <a:t>Live analyses and completed workflow inspection are separated. The demo replay is explicitly labeled and uses persisted outputs only.</a:t>
            </a:r>
            <a:endParaRPr sz="1150"/>
          </a:p>
        </p:txBody>
      </p:sp>
      <p:pic>
        <p:nvPicPr>
          <p:cNvPr id="3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3900" y="3067050"/>
            <a:ext cx="5086350" cy="2286000"/>
          </a:xfrm>
          <a:prstGeom prst="roundRect">
            <a:avLst>
              <a:gd name="adj" fmla="val 3333"/>
            </a:avLst>
          </a:prstGeom>
        </p:spPr>
      </p:pic>
      <p:pic>
        <p:nvPicPr>
          <p:cNvPr id="38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29350" y="3067050"/>
            <a:ext cx="5219700" cy="2286000"/>
          </a:xfrm>
          <a:prstGeom prst="roundRect">
            <a:avLst>
              <a:gd name="adj" fmla="val 3333"/>
            </a:avLst>
          </a:prstGeom>
        </p:spPr>
      </p:pic>
      <p:sp>
        <p:nvSpPr>
          <p:cNvPr id="17" name="Shape 13">
            <a:extLst>
              <a:ext uri="{FF2B5EF4-FFF2-40B4-BE49-F238E27FC236}">
                <a16:creationId xmlns:a16="http://schemas.microsoft.com/office/drawing/2014/main" id="{5680D8C1-FCE6-4B27-8874-E0705CD13AAE}"/>
              </a:ext>
            </a:extLst>
          </p:cNvPr>
          <p:cNvSpPr>
            <a:spLocks noGrp="1"/>
          </p:cNvSpPr>
          <p:nvPr/>
        </p:nvSpPr>
        <p:spPr>
          <a:xfrm>
            <a:off x="6309360" y="5532120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D014745-DE05-47C0-89EB-9F6436A6FA68}"/>
              </a:ext>
            </a:extLst>
          </p:cNvPr>
          <p:cNvSpPr>
            <a:spLocks noGrp="1"/>
          </p:cNvSpPr>
          <p:nvPr/>
        </p:nvSpPr>
        <p:spPr>
          <a:xfrm>
            <a:off x="6382512" y="56967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20">
                <a:solidFill>
                  <a:srgbClr val="F4F8FB"/>
                </a:solidFill>
              </a:rPr>
              <a:t>Visible stage timings</a:t>
            </a:r>
            <a:endParaRPr sz="72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D8883889-340C-43FA-BC7A-C2733D93FB14}"/>
              </a:ext>
            </a:extLst>
          </p:cNvPr>
          <p:cNvSpPr>
            <a:spLocks noGrp="1"/>
          </p:cNvSpPr>
          <p:nvPr/>
        </p:nvSpPr>
        <p:spPr>
          <a:xfrm>
            <a:off x="7543800" y="5532120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9E721DF2-C7BC-4087-814C-445A13E5FBD8}"/>
              </a:ext>
            </a:extLst>
          </p:cNvPr>
          <p:cNvSpPr>
            <a:spLocks noGrp="1"/>
          </p:cNvSpPr>
          <p:nvPr/>
        </p:nvSpPr>
        <p:spPr>
          <a:xfrm>
            <a:off x="7616952" y="56967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20">
                <a:solidFill>
                  <a:srgbClr val="F4F8FB"/>
                </a:solidFill>
              </a:rPr>
              <a:t>Safe failure states</a:t>
            </a:r>
            <a:endParaRPr sz="72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AF75B249-AFEB-415C-8CF6-391A20D18756}"/>
              </a:ext>
            </a:extLst>
          </p:cNvPr>
          <p:cNvSpPr>
            <a:spLocks noGrp="1"/>
          </p:cNvSpPr>
          <p:nvPr/>
        </p:nvSpPr>
        <p:spPr>
          <a:xfrm>
            <a:off x="8778240" y="5532120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672E85C8-4884-4353-BA24-B318762E8CD1}"/>
              </a:ext>
            </a:extLst>
          </p:cNvPr>
          <p:cNvSpPr>
            <a:spLocks noGrp="1"/>
          </p:cNvSpPr>
          <p:nvPr/>
        </p:nvSpPr>
        <p:spPr>
          <a:xfrm>
            <a:off x="8851392" y="56967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20">
                <a:solidFill>
                  <a:srgbClr val="F4F8FB"/>
                </a:solidFill>
              </a:rPr>
              <a:t>JSON + Markdown exports</a:t>
            </a:r>
            <a:endParaRPr sz="72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3FBD0CA3-D338-45C2-8C32-90ED87DB7CD9}"/>
              </a:ext>
            </a:extLst>
          </p:cNvPr>
          <p:cNvSpPr>
            <a:spLocks noGrp="1"/>
          </p:cNvSpPr>
          <p:nvPr/>
        </p:nvSpPr>
        <p:spPr>
          <a:xfrm>
            <a:off x="10012680" y="5532120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2A56CA8A-4A56-45EF-A3C4-B6971E3472E9}"/>
              </a:ext>
            </a:extLst>
          </p:cNvPr>
          <p:cNvSpPr>
            <a:spLocks noGrp="1"/>
          </p:cNvSpPr>
          <p:nvPr/>
        </p:nvSpPr>
        <p:spPr>
          <a:xfrm>
            <a:off x="10085832" y="5696712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20">
                <a:solidFill>
                  <a:srgbClr val="F4F8FB"/>
                </a:solidFill>
              </a:rPr>
              <a:t>Accessible controls</a:t>
            </a:r>
            <a:endParaRPr sz="72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3D425C81-41EF-4242-9333-1435C4FCDD18}"/>
              </a:ext>
            </a:extLst>
          </p:cNvPr>
          <p:cNvSpPr>
            <a:spLocks noGrp="1"/>
          </p:cNvSpPr>
          <p:nvPr/>
        </p:nvSpPr>
        <p:spPr>
          <a:xfrm>
            <a:off x="11155680" y="6492240"/>
            <a:ext cx="32004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b="1">
                <a:solidFill>
                  <a:srgbClr val="ED1C24"/>
                </a:solidFill>
              </a:defRPr>
            </a:pPr>
            <a:r>
              <a:rPr sz="800" b="1">
                <a:solidFill>
                  <a:srgbClr val="ED1C24"/>
                </a:solidFill>
              </a:rPr>
              <a:t>08</a:t>
            </a:r>
            <a:endParaRPr sz="80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C92D582B-D2C1-47B4-99BA-C2172B37CDEA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637281"/>
                </a:solidFill>
              </a:rPr>
              <a:t>AMD AI DevMaster Hackathon · Track 2</a:t>
            </a:r>
            <a:endParaRPr sz="750"/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95300" y="344214"/>
            <a:ext cx="2381250" cy="492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833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9C4172-FF22-403C-B4ED-540A4E4D0B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0"/>
          </a:solidFill>
          <a:ln w="12700">
            <a:solidFill>
              <a:srgbClr val="060B1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5EC3163-1526-4926-AAE9-47D706B86E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D683E06-2A29-4EF8-82A1-48F0C8DFB583}"/>
              </a:ext>
            </a:extLst>
          </p:cNvPr>
          <p:cNvSpPr>
            <a:spLocks noGrp="1"/>
          </p:cNvSpPr>
          <p:nvPr/>
        </p:nvSpPr>
        <p:spPr>
          <a:xfrm>
            <a:off x="228600" y="164592"/>
            <a:ext cx="2377440" cy="16459"/>
          </a:xfrm>
          <a:prstGeom prst="rect">
            <a:avLst/>
          </a:prstGeom>
          <a:solidFill>
            <a:srgbClr val="54D8C8">
              <a:alpha val="35000"/>
            </a:srgbClr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3739545-E6D0-41C0-B701-7B7F2AF92B9C}"/>
              </a:ext>
            </a:extLst>
          </p:cNvPr>
          <p:cNvSpPr>
            <a:spLocks noGrp="1"/>
          </p:cNvSpPr>
          <p:nvPr/>
        </p:nvSpPr>
        <p:spPr>
          <a:xfrm>
            <a:off x="9555480" y="6236208"/>
            <a:ext cx="2011680" cy="16459"/>
          </a:xfrm>
          <a:prstGeom prst="rect">
            <a:avLst/>
          </a:prstGeom>
          <a:solidFill>
            <a:srgbClr val="ED1C24"/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F6CFE9E-5BA4-4C2C-8DAD-F2D41BB49E4C}"/>
              </a:ext>
            </a:extLst>
          </p:cNvPr>
          <p:cNvSpPr>
            <a:spLocks noGrp="1"/>
          </p:cNvSpPr>
          <p:nvPr/>
        </p:nvSpPr>
        <p:spPr>
          <a:xfrm>
            <a:off x="502920" y="384048"/>
            <a:ext cx="399593" cy="399593"/>
          </a:xfrm>
          <a:prstGeom prst="diamond">
            <a:avLst/>
          </a:prstGeom>
          <a:solidFill>
            <a:srgbClr val="060B10">
              <a:alpha val="0"/>
            </a:srgbClr>
          </a:solidFill>
          <a:ln w="1524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0B8AA74-B457-4E46-8A3F-C7423467330F}"/>
              </a:ext>
            </a:extLst>
          </p:cNvPr>
          <p:cNvSpPr>
            <a:spLocks noGrp="1"/>
          </p:cNvSpPr>
          <p:nvPr/>
        </p:nvSpPr>
        <p:spPr>
          <a:xfrm>
            <a:off x="641909" y="496976"/>
            <a:ext cx="156362" cy="15636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4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F</a:t>
            </a:r>
            <a:endParaRPr sz="114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B478F53-04D3-4B28-AE7E-16878EC704FA}"/>
              </a:ext>
            </a:extLst>
          </p:cNvPr>
          <p:cNvSpPr>
            <a:spLocks noGrp="1"/>
          </p:cNvSpPr>
          <p:nvPr/>
        </p:nvSpPr>
        <p:spPr>
          <a:xfrm>
            <a:off x="1041502" y="392735"/>
            <a:ext cx="1389888" cy="19111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35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ForgeAI</a:t>
            </a:r>
            <a:endParaRPr sz="1235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2766F49-765C-4890-AFCA-EE3EE67F18CA}"/>
              </a:ext>
            </a:extLst>
          </p:cNvPr>
          <p:cNvSpPr>
            <a:spLocks noGrp="1"/>
          </p:cNvSpPr>
          <p:nvPr/>
        </p:nvSpPr>
        <p:spPr>
          <a:xfrm>
            <a:off x="1041502" y="592531"/>
            <a:ext cx="1737360" cy="13030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570">
                <a:solidFill>
                  <a:srgbClr val="A2B2C0"/>
                </a:solidFill>
              </a:rPr>
              <a:t>ENGINEERING INTELLIGENCE</a:t>
            </a:r>
            <a:endParaRPr sz="57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AB29DDD-BFF1-4365-9E10-7A9EC7E38C3E}"/>
              </a:ext>
            </a:extLst>
          </p:cNvPr>
          <p:cNvSpPr>
            <a:spLocks noGrp="1"/>
          </p:cNvSpPr>
          <p:nvPr/>
        </p:nvSpPr>
        <p:spPr>
          <a:xfrm>
            <a:off x="658368" y="105156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54D8C8"/>
                </a:solidFill>
              </a:rPr>
              <a:t>ENGINEERING QUALITY</a:t>
            </a:r>
            <a:endParaRPr sz="7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637C81D-7A9E-47EC-A9FD-46BD855B4A4B}"/>
              </a:ext>
            </a:extLst>
          </p:cNvPr>
          <p:cNvSpPr>
            <a:spLocks noGrp="1"/>
          </p:cNvSpPr>
          <p:nvPr/>
        </p:nvSpPr>
        <p:spPr>
          <a:xfrm>
            <a:off x="658368" y="1236269"/>
            <a:ext cx="5852160" cy="1417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600" b="1" dirty="0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Production discipline inside an MVP.</a:t>
            </a:r>
            <a:endParaRPr sz="3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F8A19AA-CDFB-42D9-8475-68059AF6026E}"/>
              </a:ext>
            </a:extLst>
          </p:cNvPr>
          <p:cNvSpPr>
            <a:spLocks noGrp="1"/>
          </p:cNvSpPr>
          <p:nvPr/>
        </p:nvSpPr>
        <p:spPr>
          <a:xfrm>
            <a:off x="713232" y="256032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101B24">
              <a:alpha val="92000"/>
            </a:srgbClr>
          </a:solidFill>
          <a:ln w="12700">
            <a:solidFill>
              <a:srgbClr val="23404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A5BA831-8FD1-4712-99AC-F4223199CB1C}"/>
              </a:ext>
            </a:extLst>
          </p:cNvPr>
          <p:cNvSpPr>
            <a:spLocks noGrp="1"/>
          </p:cNvSpPr>
          <p:nvPr/>
        </p:nvSpPr>
        <p:spPr>
          <a:xfrm>
            <a:off x="713232" y="267919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156</a:t>
            </a:r>
            <a:endParaRPr sz="2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FADFAD2-93E6-4637-A10D-DB442CF7746C}"/>
              </a:ext>
            </a:extLst>
          </p:cNvPr>
          <p:cNvSpPr>
            <a:spLocks noGrp="1"/>
          </p:cNvSpPr>
          <p:nvPr/>
        </p:nvSpPr>
        <p:spPr>
          <a:xfrm>
            <a:off x="786384" y="3127248"/>
            <a:ext cx="127101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A2B2C0"/>
                </a:solidFill>
              </a:rPr>
              <a:t>backend tests passed</a:t>
            </a:r>
            <a:endParaRPr sz="7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1916231-0C03-4DB6-9BD6-9519AC33E673}"/>
              </a:ext>
            </a:extLst>
          </p:cNvPr>
          <p:cNvSpPr>
            <a:spLocks noGrp="1"/>
          </p:cNvSpPr>
          <p:nvPr/>
        </p:nvSpPr>
        <p:spPr>
          <a:xfrm>
            <a:off x="2267712" y="256032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101B24">
              <a:alpha val="92000"/>
            </a:srgbClr>
          </a:solidFill>
          <a:ln w="12700">
            <a:solidFill>
              <a:srgbClr val="23404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6CD87F2-4974-4962-9294-C0BBAF85F10C}"/>
              </a:ext>
            </a:extLst>
          </p:cNvPr>
          <p:cNvSpPr>
            <a:spLocks noGrp="1"/>
          </p:cNvSpPr>
          <p:nvPr/>
        </p:nvSpPr>
        <p:spPr>
          <a:xfrm>
            <a:off x="2267712" y="267919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16</a:t>
            </a:r>
            <a:endParaRPr sz="24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849ED39-30F2-4FB1-84AF-91A3D3BDBB4B}"/>
              </a:ext>
            </a:extLst>
          </p:cNvPr>
          <p:cNvSpPr>
            <a:spLocks noGrp="1"/>
          </p:cNvSpPr>
          <p:nvPr/>
        </p:nvSpPr>
        <p:spPr>
          <a:xfrm>
            <a:off x="2340864" y="3127248"/>
            <a:ext cx="127101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A2B2C0"/>
                </a:solidFill>
              </a:rPr>
              <a:t>frontend tests passed</a:t>
            </a:r>
            <a:endParaRPr sz="70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589F7A2-1BD5-484D-9778-F4993BA96984}"/>
              </a:ext>
            </a:extLst>
          </p:cNvPr>
          <p:cNvSpPr>
            <a:spLocks noGrp="1"/>
          </p:cNvSpPr>
          <p:nvPr/>
        </p:nvSpPr>
        <p:spPr>
          <a:xfrm>
            <a:off x="3822192" y="256032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101B24">
              <a:alpha val="92000"/>
            </a:srgbClr>
          </a:solidFill>
          <a:ln w="12700">
            <a:solidFill>
              <a:srgbClr val="23404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EBB0ED3-C609-4AC7-B926-22BF685B9119}"/>
              </a:ext>
            </a:extLst>
          </p:cNvPr>
          <p:cNvSpPr>
            <a:spLocks noGrp="1"/>
          </p:cNvSpPr>
          <p:nvPr/>
        </p:nvSpPr>
        <p:spPr>
          <a:xfrm>
            <a:off x="3822192" y="267919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93%</a:t>
            </a:r>
            <a:endParaRPr sz="24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720FC7F-EC10-4C58-B43F-BECF017C8956}"/>
              </a:ext>
            </a:extLst>
          </p:cNvPr>
          <p:cNvSpPr>
            <a:spLocks noGrp="1"/>
          </p:cNvSpPr>
          <p:nvPr/>
        </p:nvSpPr>
        <p:spPr>
          <a:xfrm>
            <a:off x="3895344" y="3127248"/>
            <a:ext cx="127101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A2B2C0"/>
                </a:solidFill>
              </a:rPr>
              <a:t>backend coverage</a:t>
            </a:r>
            <a:endParaRPr sz="7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EB27FDB-76BC-4FF0-B84D-F881636F8102}"/>
              </a:ext>
            </a:extLst>
          </p:cNvPr>
          <p:cNvSpPr>
            <a:spLocks noGrp="1"/>
          </p:cNvSpPr>
          <p:nvPr/>
        </p:nvSpPr>
        <p:spPr>
          <a:xfrm>
            <a:off x="5376672" y="2560320"/>
            <a:ext cx="1417320" cy="914400"/>
          </a:xfrm>
          <a:prstGeom prst="roundRect">
            <a:avLst>
              <a:gd name="adj" fmla="val 6000"/>
            </a:avLst>
          </a:prstGeom>
          <a:solidFill>
            <a:srgbClr val="101B24">
              <a:alpha val="92000"/>
            </a:srgbClr>
          </a:solidFill>
          <a:ln w="12700">
            <a:solidFill>
              <a:srgbClr val="23404A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2AD305D-B337-4A40-8E55-959A70C52230}"/>
              </a:ext>
            </a:extLst>
          </p:cNvPr>
          <p:cNvSpPr>
            <a:spLocks noGrp="1"/>
          </p:cNvSpPr>
          <p:nvPr/>
        </p:nvSpPr>
        <p:spPr>
          <a:xfrm>
            <a:off x="5376672" y="267919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0</a:t>
            </a:r>
            <a:endParaRPr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C39FB86-68D9-4731-8E71-0EEED4C2783C}"/>
              </a:ext>
            </a:extLst>
          </p:cNvPr>
          <p:cNvSpPr>
            <a:spLocks noGrp="1"/>
          </p:cNvSpPr>
          <p:nvPr/>
        </p:nvSpPr>
        <p:spPr>
          <a:xfrm>
            <a:off x="5449824" y="3127248"/>
            <a:ext cx="1271016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700">
                <a:solidFill>
                  <a:srgbClr val="A2B2C0"/>
                </a:solidFill>
              </a:rPr>
              <a:t>live output repairs</a:t>
            </a:r>
            <a:endParaRPr sz="70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19F92CC-2D93-4276-9EEC-A6B8EE3CEC88}"/>
              </a:ext>
            </a:extLst>
          </p:cNvPr>
          <p:cNvSpPr>
            <a:spLocks noGrp="1"/>
          </p:cNvSpPr>
          <p:nvPr/>
        </p:nvSpPr>
        <p:spPr>
          <a:xfrm>
            <a:off x="777240" y="4187952"/>
            <a:ext cx="118872" cy="118872"/>
          </a:xfrm>
          <a:prstGeom prst="ellipse">
            <a:avLst/>
          </a:prstGeom>
          <a:solidFill>
            <a:srgbClr val="5BE28E"/>
          </a:solidFill>
          <a:ln w="12700">
            <a:solidFill>
              <a:srgbClr val="5BE2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958C3CF-3625-4535-A190-BDDA1ED57252}"/>
              </a:ext>
            </a:extLst>
          </p:cNvPr>
          <p:cNvSpPr>
            <a:spLocks noGrp="1"/>
          </p:cNvSpPr>
          <p:nvPr/>
        </p:nvSpPr>
        <p:spPr>
          <a:xfrm>
            <a:off x="978408" y="4160520"/>
            <a:ext cx="1874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F4F8FB"/>
                </a:solidFill>
              </a:rPr>
              <a:t>Ruff format/check</a:t>
            </a:r>
            <a:endParaRPr sz="95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77E7326-CFD6-4173-87F9-CC1D1F288C78}"/>
              </a:ext>
            </a:extLst>
          </p:cNvPr>
          <p:cNvSpPr>
            <a:spLocks noGrp="1"/>
          </p:cNvSpPr>
          <p:nvPr/>
        </p:nvSpPr>
        <p:spPr>
          <a:xfrm>
            <a:off x="3017520" y="4187952"/>
            <a:ext cx="118872" cy="118872"/>
          </a:xfrm>
          <a:prstGeom prst="ellipse">
            <a:avLst/>
          </a:prstGeom>
          <a:solidFill>
            <a:srgbClr val="5BE28E"/>
          </a:solidFill>
          <a:ln w="12700">
            <a:solidFill>
              <a:srgbClr val="5BE2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5F85B0B-73EF-4D1E-9EA1-778AAE2AC831}"/>
              </a:ext>
            </a:extLst>
          </p:cNvPr>
          <p:cNvSpPr>
            <a:spLocks noGrp="1"/>
          </p:cNvSpPr>
          <p:nvPr/>
        </p:nvSpPr>
        <p:spPr>
          <a:xfrm>
            <a:off x="3218688" y="4160520"/>
            <a:ext cx="1874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F4F8FB"/>
                </a:solidFill>
              </a:rPr>
              <a:t>MyPy strict typing</a:t>
            </a:r>
            <a:endParaRPr sz="95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0B0464A-BB79-4CCA-AE22-AFE032A64B31}"/>
              </a:ext>
            </a:extLst>
          </p:cNvPr>
          <p:cNvSpPr>
            <a:spLocks noGrp="1"/>
          </p:cNvSpPr>
          <p:nvPr/>
        </p:nvSpPr>
        <p:spPr>
          <a:xfrm>
            <a:off x="5257800" y="4187952"/>
            <a:ext cx="118872" cy="118872"/>
          </a:xfrm>
          <a:prstGeom prst="ellipse">
            <a:avLst/>
          </a:prstGeom>
          <a:solidFill>
            <a:srgbClr val="5BE28E"/>
          </a:solidFill>
          <a:ln w="12700">
            <a:solidFill>
              <a:srgbClr val="5BE2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00ACFD1-21DD-4D46-A3EA-869DCF1435FC}"/>
              </a:ext>
            </a:extLst>
          </p:cNvPr>
          <p:cNvSpPr>
            <a:spLocks noGrp="1"/>
          </p:cNvSpPr>
          <p:nvPr/>
        </p:nvSpPr>
        <p:spPr>
          <a:xfrm>
            <a:off x="5458968" y="4160520"/>
            <a:ext cx="1874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F4F8FB"/>
                </a:solidFill>
              </a:rPr>
              <a:t>Vitest + accessibility assertions</a:t>
            </a:r>
            <a:endParaRPr sz="95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A6410D4-4109-41B9-A90A-81AEF2C84FAB}"/>
              </a:ext>
            </a:extLst>
          </p:cNvPr>
          <p:cNvSpPr>
            <a:spLocks noGrp="1"/>
          </p:cNvSpPr>
          <p:nvPr/>
        </p:nvSpPr>
        <p:spPr>
          <a:xfrm>
            <a:off x="777240" y="4846320"/>
            <a:ext cx="118872" cy="118872"/>
          </a:xfrm>
          <a:prstGeom prst="ellipse">
            <a:avLst/>
          </a:prstGeom>
          <a:solidFill>
            <a:srgbClr val="5BE28E"/>
          </a:solidFill>
          <a:ln w="12700">
            <a:solidFill>
              <a:srgbClr val="5BE2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E97EF70-199A-43B1-960A-5B88F1DDA2AB}"/>
              </a:ext>
            </a:extLst>
          </p:cNvPr>
          <p:cNvSpPr>
            <a:spLocks noGrp="1"/>
          </p:cNvSpPr>
          <p:nvPr/>
        </p:nvSpPr>
        <p:spPr>
          <a:xfrm>
            <a:off x="978408" y="4818888"/>
            <a:ext cx="1874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F4F8FB"/>
                </a:solidFill>
              </a:rPr>
              <a:t>OpenAPI 3.1 contract</a:t>
            </a:r>
            <a:endParaRPr sz="95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704B13D-E062-4CA6-B20C-969A2AA8708E}"/>
              </a:ext>
            </a:extLst>
          </p:cNvPr>
          <p:cNvSpPr>
            <a:spLocks noGrp="1"/>
          </p:cNvSpPr>
          <p:nvPr/>
        </p:nvSpPr>
        <p:spPr>
          <a:xfrm>
            <a:off x="3017520" y="4846320"/>
            <a:ext cx="118872" cy="118872"/>
          </a:xfrm>
          <a:prstGeom prst="ellipse">
            <a:avLst/>
          </a:prstGeom>
          <a:solidFill>
            <a:srgbClr val="5BE28E"/>
          </a:solidFill>
          <a:ln w="12700">
            <a:solidFill>
              <a:srgbClr val="5BE2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5598AA0B-41AD-4B9E-812B-890D8C24357A}"/>
              </a:ext>
            </a:extLst>
          </p:cNvPr>
          <p:cNvSpPr>
            <a:spLocks noGrp="1"/>
          </p:cNvSpPr>
          <p:nvPr/>
        </p:nvSpPr>
        <p:spPr>
          <a:xfrm>
            <a:off x="3218688" y="4818888"/>
            <a:ext cx="1874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F4F8FB"/>
                </a:solidFill>
              </a:rPr>
              <a:t>SQLite WAL + migrations</a:t>
            </a:r>
            <a:endParaRPr sz="95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0CF5435A-3E0F-4AAC-9647-5DFF52E30810}"/>
              </a:ext>
            </a:extLst>
          </p:cNvPr>
          <p:cNvSpPr>
            <a:spLocks noGrp="1"/>
          </p:cNvSpPr>
          <p:nvPr/>
        </p:nvSpPr>
        <p:spPr>
          <a:xfrm>
            <a:off x="5257800" y="4846320"/>
            <a:ext cx="118872" cy="118872"/>
          </a:xfrm>
          <a:prstGeom prst="ellipse">
            <a:avLst/>
          </a:prstGeom>
          <a:solidFill>
            <a:srgbClr val="5BE28E"/>
          </a:solidFill>
          <a:ln w="12700">
            <a:solidFill>
              <a:srgbClr val="5BE28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2F3D777-B5DD-44C5-A3BF-5D3B059F5FD4}"/>
              </a:ext>
            </a:extLst>
          </p:cNvPr>
          <p:cNvSpPr>
            <a:spLocks noGrp="1"/>
          </p:cNvSpPr>
          <p:nvPr/>
        </p:nvSpPr>
        <p:spPr>
          <a:xfrm>
            <a:off x="5458968" y="4818888"/>
            <a:ext cx="187452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>
                <a:solidFill>
                  <a:srgbClr val="F4F8FB"/>
                </a:solidFill>
              </a:rPr>
              <a:t>Credential-free mock provider</a:t>
            </a:r>
            <a:endParaRPr sz="95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FDC254B6-6CC9-4C2C-AA4B-639D2FE824D2}"/>
              </a:ext>
            </a:extLst>
          </p:cNvPr>
          <p:cNvSpPr>
            <a:spLocks noGrp="1"/>
          </p:cNvSpPr>
          <p:nvPr/>
        </p:nvSpPr>
        <p:spPr>
          <a:xfrm>
            <a:off x="7315200" y="1389888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0D151C">
              <a:alpha val="98000"/>
            </a:srgbClr>
          </a:solidFill>
          <a:ln w="12700">
            <a:solidFill>
              <a:srgbClr val="54D8C8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D812EE8C-C322-46D1-8D5B-F891206D209C}"/>
              </a:ext>
            </a:extLst>
          </p:cNvPr>
          <p:cNvSpPr>
            <a:spLocks noGrp="1"/>
          </p:cNvSpPr>
          <p:nvPr/>
        </p:nvSpPr>
        <p:spPr>
          <a:xfrm>
            <a:off x="7635240" y="17373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2200" b="1">
                <a:solidFill>
                  <a:srgbClr val="F4F8FB"/>
                </a:solidFill>
              </a:rPr>
              <a:t>Failure-safe design</a:t>
            </a:r>
            <a:endParaRPr sz="220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D0EBD458-EB31-4038-ADD2-6E0C8CE8DBA2}"/>
              </a:ext>
            </a:extLst>
          </p:cNvPr>
          <p:cNvSpPr>
            <a:spLocks noGrp="1"/>
          </p:cNvSpPr>
          <p:nvPr/>
        </p:nvSpPr>
        <p:spPr>
          <a:xfrm>
            <a:off x="7726680" y="2331720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A2B2C0"/>
                </a:solidFill>
              </a:rPr>
              <a:t>• Exactly one bounded repair</a:t>
            </a:r>
            <a:endParaRPr sz="120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01DDCB3-41E4-4812-9BDF-684B01A1364E}"/>
              </a:ext>
            </a:extLst>
          </p:cNvPr>
          <p:cNvSpPr>
            <a:spLocks noGrp="1"/>
          </p:cNvSpPr>
          <p:nvPr/>
        </p:nvSpPr>
        <p:spPr>
          <a:xfrm>
            <a:off x="7726680" y="2834640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A2B2C0"/>
                </a:solidFill>
              </a:rPr>
              <a:t>• Sanitized diagnostics only</a:t>
            </a:r>
            <a:endParaRPr sz="120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B4008A7-0D0B-49E4-8199-7121B7AB92F8}"/>
              </a:ext>
            </a:extLst>
          </p:cNvPr>
          <p:cNvSpPr>
            <a:spLocks noGrp="1"/>
          </p:cNvSpPr>
          <p:nvPr/>
        </p:nvSpPr>
        <p:spPr>
          <a:xfrm>
            <a:off x="7726680" y="3337560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A2B2C0"/>
                </a:solidFill>
              </a:rPr>
              <a:t>• No raw provider output persisted</a:t>
            </a:r>
            <a:endParaRPr sz="120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868DE583-CC0C-4195-95C5-87CCB7AEBFA2}"/>
              </a:ext>
            </a:extLst>
          </p:cNvPr>
          <p:cNvSpPr>
            <a:spLocks noGrp="1"/>
          </p:cNvSpPr>
          <p:nvPr/>
        </p:nvSpPr>
        <p:spPr>
          <a:xfrm>
            <a:off x="7726680" y="3840480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A2B2C0"/>
                </a:solidFill>
              </a:rPr>
              <a:t>• Invalid model output cannot silently advance</a:t>
            </a:r>
            <a:endParaRPr sz="120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06F7B673-3B6D-4DF2-B16F-5766DE4203F9}"/>
              </a:ext>
            </a:extLst>
          </p:cNvPr>
          <p:cNvSpPr>
            <a:spLocks noGrp="1"/>
          </p:cNvSpPr>
          <p:nvPr/>
        </p:nvSpPr>
        <p:spPr>
          <a:xfrm>
            <a:off x="7726680" y="4343400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00">
                <a:solidFill>
                  <a:srgbClr val="A2B2C0"/>
                </a:solidFill>
              </a:rPr>
              <a:t>• No model-controlled commands or repo mutation</a:t>
            </a:r>
            <a:endParaRPr sz="120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F6277E0-CCF2-4880-8702-F235C9B85A72}"/>
              </a:ext>
            </a:extLst>
          </p:cNvPr>
          <p:cNvSpPr>
            <a:spLocks noGrp="1"/>
          </p:cNvSpPr>
          <p:nvPr/>
        </p:nvSpPr>
        <p:spPr>
          <a:xfrm>
            <a:off x="11155680" y="6492240"/>
            <a:ext cx="32004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b="1">
                <a:solidFill>
                  <a:srgbClr val="ED1C24"/>
                </a:solidFill>
              </a:defRPr>
            </a:pPr>
            <a:r>
              <a:rPr sz="800" b="1">
                <a:solidFill>
                  <a:srgbClr val="ED1C24"/>
                </a:solidFill>
              </a:rPr>
              <a:t>09</a:t>
            </a:r>
            <a:endParaRPr sz="80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FDE8C75E-4ED6-486E-B870-0C98C8F5E37D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637281"/>
                </a:solidFill>
              </a:rPr>
              <a:t>AMD AI DevMaster Hackathon · Track 2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108237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96E303-D99B-4F5F-BB9C-7FBA9751C4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B10"/>
          </a:solidFill>
          <a:ln w="12700">
            <a:solidFill>
              <a:srgbClr val="060B10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76D96BE-9DA1-4FF6-839F-48E9E078F5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4D8C8"/>
          </a:solidFill>
          <a:ln w="12700">
            <a:solidFill>
              <a:srgbClr val="54D8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AC6B2CF-DC55-4556-814E-A6B5966A57CE}"/>
              </a:ext>
            </a:extLst>
          </p:cNvPr>
          <p:cNvSpPr>
            <a:spLocks noGrp="1"/>
          </p:cNvSpPr>
          <p:nvPr/>
        </p:nvSpPr>
        <p:spPr>
          <a:xfrm>
            <a:off x="228600" y="164592"/>
            <a:ext cx="2377440" cy="16459"/>
          </a:xfrm>
          <a:prstGeom prst="rect">
            <a:avLst/>
          </a:prstGeom>
          <a:solidFill>
            <a:srgbClr val="54D8C8">
              <a:alpha val="35000"/>
            </a:srgbClr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F5E4DE0-66D0-4E75-AEC3-D334455180C8}"/>
              </a:ext>
            </a:extLst>
          </p:cNvPr>
          <p:cNvSpPr>
            <a:spLocks noGrp="1"/>
          </p:cNvSpPr>
          <p:nvPr/>
        </p:nvSpPr>
        <p:spPr>
          <a:xfrm>
            <a:off x="9555480" y="6236208"/>
            <a:ext cx="2011680" cy="16459"/>
          </a:xfrm>
          <a:prstGeom prst="rect">
            <a:avLst/>
          </a:prstGeom>
          <a:solidFill>
            <a:srgbClr val="ED1C24"/>
          </a:solidFill>
          <a:ln w="12700">
            <a:solidFill>
              <a:srgbClr val="54D8C8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0D61DE3-F561-42AD-9335-A910AF0350CB}"/>
              </a:ext>
            </a:extLst>
          </p:cNvPr>
          <p:cNvSpPr>
            <a:spLocks noGrp="1"/>
          </p:cNvSpPr>
          <p:nvPr/>
        </p:nvSpPr>
        <p:spPr>
          <a:xfrm>
            <a:off x="713232" y="146304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b="1">
                <a:solidFill>
                  <a:srgbClr val="54D8C8"/>
                </a:solidFill>
              </a:rPr>
              <a:t>ROADMAP</a:t>
            </a:r>
            <a:endParaRPr sz="7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2B77942-C910-4D52-A824-7ABD57F4B5B4}"/>
              </a:ext>
            </a:extLst>
          </p:cNvPr>
          <p:cNvSpPr>
            <a:spLocks noGrp="1"/>
          </p:cNvSpPr>
          <p:nvPr/>
        </p:nvSpPr>
        <p:spPr>
          <a:xfrm>
            <a:off x="713232" y="1783080"/>
            <a:ext cx="5715000" cy="141732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3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From verified shared inference to dedicated Radeon deployment.</a:t>
            </a:r>
            <a:endParaRPr sz="34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E31A37C-F373-445A-A04E-629A98046FB8}"/>
              </a:ext>
            </a:extLst>
          </p:cNvPr>
          <p:cNvSpPr>
            <a:spLocks noGrp="1"/>
          </p:cNvSpPr>
          <p:nvPr/>
        </p:nvSpPr>
        <p:spPr>
          <a:xfrm>
            <a:off x="822960" y="365760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093B38">
              <a:alpha val="98000"/>
            </a:srgbClr>
          </a:solidFill>
          <a:ln w="12700">
            <a:solidFill>
              <a:srgbClr val="54D8C8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0047BEC-3F41-4B72-9CF2-B4C4B262618B}"/>
              </a:ext>
            </a:extLst>
          </p:cNvPr>
          <p:cNvSpPr>
            <a:spLocks noGrp="1"/>
          </p:cNvSpPr>
          <p:nvPr/>
        </p:nvSpPr>
        <p:spPr>
          <a:xfrm>
            <a:off x="987552" y="380390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4F8FB"/>
                </a:solidFill>
              </a:rPr>
              <a:t>Now</a:t>
            </a:r>
            <a:endParaRPr sz="18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592D72A-8058-4917-AB8A-14219195BEFA}"/>
              </a:ext>
            </a:extLst>
          </p:cNvPr>
          <p:cNvSpPr>
            <a:spLocks noGrp="1"/>
          </p:cNvSpPr>
          <p:nvPr/>
        </p:nvSpPr>
        <p:spPr>
          <a:xfrm>
            <a:off x="987552" y="4169664"/>
            <a:ext cx="239572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30">
                <a:solidFill>
                  <a:srgbClr val="A2B2C0"/>
                </a:solidFill>
              </a:rPr>
              <a:t>Local modular monolith + AMD shared DeepSeek API</a:t>
            </a:r>
            <a:endParaRPr sz="83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7844C65-224B-40A5-A4AD-56304910DA8B}"/>
              </a:ext>
            </a:extLst>
          </p:cNvPr>
          <p:cNvSpPr>
            <a:spLocks noGrp="1"/>
          </p:cNvSpPr>
          <p:nvPr/>
        </p:nvSpPr>
        <p:spPr>
          <a:xfrm>
            <a:off x="3657600" y="4142232"/>
            <a:ext cx="320040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FE2464A-F26C-4467-956C-748D51C1F411}"/>
              </a:ext>
            </a:extLst>
          </p:cNvPr>
          <p:cNvSpPr>
            <a:spLocks noGrp="1"/>
          </p:cNvSpPr>
          <p:nvPr/>
        </p:nvSpPr>
        <p:spPr>
          <a:xfrm>
            <a:off x="4069080" y="365760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BE01090-A1BD-44FA-A8D4-724484742CA4}"/>
              </a:ext>
            </a:extLst>
          </p:cNvPr>
          <p:cNvSpPr>
            <a:spLocks noGrp="1"/>
          </p:cNvSpPr>
          <p:nvPr/>
        </p:nvSpPr>
        <p:spPr>
          <a:xfrm>
            <a:off x="4233672" y="380390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4F8FB"/>
                </a:solidFill>
              </a:rPr>
              <a:t>Next</a:t>
            </a:r>
            <a:endParaRPr sz="18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901DEFE-86E5-4341-A77E-E308E4C3B47F}"/>
              </a:ext>
            </a:extLst>
          </p:cNvPr>
          <p:cNvSpPr>
            <a:spLocks noGrp="1"/>
          </p:cNvSpPr>
          <p:nvPr/>
        </p:nvSpPr>
        <p:spPr>
          <a:xfrm>
            <a:off x="4233672" y="4169664"/>
            <a:ext cx="239572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30">
                <a:solidFill>
                  <a:srgbClr val="A2B2C0"/>
                </a:solidFill>
              </a:rPr>
              <a:t>Dedicated Radeon Cloud vLLM endpoint + ROCm telemetry</a:t>
            </a:r>
            <a:endParaRPr sz="83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65400D3-7BD1-46D7-9E06-B75FC8C5923A}"/>
              </a:ext>
            </a:extLst>
          </p:cNvPr>
          <p:cNvSpPr>
            <a:spLocks noGrp="1"/>
          </p:cNvSpPr>
          <p:nvPr/>
        </p:nvSpPr>
        <p:spPr>
          <a:xfrm>
            <a:off x="6903720" y="4142232"/>
            <a:ext cx="320040" cy="0"/>
          </a:xfrm>
          <a:prstGeom prst="line">
            <a:avLst/>
          </a:prstGeom>
          <a:noFill/>
          <a:ln w="17780">
            <a:solidFill>
              <a:srgbClr val="54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39697DC-F589-4CD8-AD7D-8D84EAB13EC3}"/>
              </a:ext>
            </a:extLst>
          </p:cNvPr>
          <p:cNvSpPr>
            <a:spLocks noGrp="1"/>
          </p:cNvSpPr>
          <p:nvPr/>
        </p:nvSpPr>
        <p:spPr>
          <a:xfrm>
            <a:off x="7315200" y="365760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101B24">
              <a:alpha val="98000"/>
            </a:srgbClr>
          </a:solidFill>
          <a:ln w="12700">
            <a:solidFill>
              <a:srgbClr val="23404A">
                <a:alpha val="8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4405A40-E624-4128-A4E7-E18B4BEBEF79}"/>
              </a:ext>
            </a:extLst>
          </p:cNvPr>
          <p:cNvSpPr>
            <a:spLocks noGrp="1"/>
          </p:cNvSpPr>
          <p:nvPr/>
        </p:nvSpPr>
        <p:spPr>
          <a:xfrm>
            <a:off x="7479792" y="3803904"/>
            <a:ext cx="242316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800" b="1">
                <a:solidFill>
                  <a:srgbClr val="F4F8FB"/>
                </a:solidFill>
              </a:rPr>
              <a:t>Scale</a:t>
            </a:r>
            <a:endParaRPr sz="18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CEE5347-5DAD-41BA-8082-3D7918882D91}"/>
              </a:ext>
            </a:extLst>
          </p:cNvPr>
          <p:cNvSpPr>
            <a:spLocks noGrp="1"/>
          </p:cNvSpPr>
          <p:nvPr/>
        </p:nvSpPr>
        <p:spPr>
          <a:xfrm>
            <a:off x="7479792" y="4169664"/>
            <a:ext cx="2395728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>
              <a:buNone/>
            </a:pPr>
            <a:r>
              <a:rPr sz="830">
                <a:solidFill>
                  <a:srgbClr val="A2B2C0"/>
                </a:solidFill>
              </a:rPr>
              <a:t>Auth, project history, GitHub/Jira, vector retrieval, workers</a:t>
            </a:r>
            <a:endParaRPr sz="83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BBC0A95-3BB0-4DB4-A61B-E5B67E1B740B}"/>
              </a:ext>
            </a:extLst>
          </p:cNvPr>
          <p:cNvSpPr>
            <a:spLocks noGrp="1"/>
          </p:cNvSpPr>
          <p:nvPr/>
        </p:nvSpPr>
        <p:spPr>
          <a:xfrm>
            <a:off x="7424928" y="1600200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4400" b="1">
                <a:solidFill>
                  <a:srgbClr val="F4F8FB"/>
                </a:solidFill>
                <a:latin typeface="Aptos Display"/>
                <a:ea typeface="Aptos Display"/>
                <a:cs typeface="Aptos Display"/>
              </a:rPr>
              <a:t>ForgeAI</a:t>
            </a:r>
            <a:endParaRPr sz="44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6F8A379-C59F-4FD7-8323-4E17A6D9257F}"/>
              </a:ext>
            </a:extLst>
          </p:cNvPr>
          <p:cNvSpPr>
            <a:spLocks noGrp="1"/>
          </p:cNvSpPr>
          <p:nvPr/>
        </p:nvSpPr>
        <p:spPr>
          <a:xfrm>
            <a:off x="7479792" y="239572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700">
                <a:solidFill>
                  <a:srgbClr val="A2B2C0"/>
                </a:solidFill>
              </a:rPr>
              <a:t>Engineering intelligence for defensible decisions.</a:t>
            </a:r>
            <a:endParaRPr sz="17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F0A61E83-32F1-4EBD-A38D-561272821B77}"/>
              </a:ext>
            </a:extLst>
          </p:cNvPr>
          <p:cNvSpPr>
            <a:spLocks noGrp="1"/>
          </p:cNvSpPr>
          <p:nvPr/>
        </p:nvSpPr>
        <p:spPr>
          <a:xfrm>
            <a:off x="11155680" y="6492240"/>
            <a:ext cx="32004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  <a:defRPr b="1">
                <a:solidFill>
                  <a:srgbClr val="ED1C24"/>
                </a:solidFill>
              </a:defRPr>
            </a:pPr>
            <a:r>
              <a:rPr sz="800" b="1">
                <a:solidFill>
                  <a:srgbClr val="ED1C24"/>
                </a:solidFill>
              </a:rPr>
              <a:t>10</a:t>
            </a:r>
            <a:endParaRPr sz="8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15DA327-379D-4451-8787-ECAC344E4B77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>
                <a:solidFill>
                  <a:srgbClr val="637281"/>
                </a:solidFill>
              </a:rPr>
              <a:t>AMD AI DevMaster Hackathon · Track 2</a:t>
            </a:r>
            <a:endParaRPr sz="750"/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8175" y="469024"/>
            <a:ext cx="2647950" cy="547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752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1297</Words>
  <Application>Microsoft Macintosh PowerPoint</Application>
  <DocSecurity>0</DocSecurity>
  <PresentationFormat>Widescreen</PresentationFormat>
  <Paragraphs>248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ABHISHEK HERBERT SAMUEL</cp:lastModifiedBy>
  <cp:revision>1</cp:revision>
  <dcterms:created xsi:type="dcterms:W3CDTF">2026-08-06T12:11:29Z</dcterms:created>
  <dcterms:modified xsi:type="dcterms:W3CDTF">2026-08-06T12:25:51Z</dcterms:modified>
</cp:coreProperties>
</file>