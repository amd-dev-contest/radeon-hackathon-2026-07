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Segoe UI Semibold"/>
              </a:rPr>
              <a:t>Supply Chain DocAgent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E0E0E0"/>
                </a:solidFill>
                <a:latin typeface="Segoe UI"/>
              </a:rPr>
              <a:t>基于 AMD Radeon GPU 的供应链单据智能处理 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B4D8"/>
                </a:solidFill>
                <a:latin typeface="Segoe UI"/>
              </a:rPr>
              <a:t>AMD AI DevMaster Hackathon 2026  |  Track 2: Private AI Agent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0A0A0"/>
                </a:solidFill>
                <a:latin typeface="Consolas"/>
              </a:rPr>
              <a:t>Python  •  LangChain  •  vLLM  •  ROCm  •  Llama-3.1  •  BGE  •  Gradio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供应链单据处理的痛点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20116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人工逐单核对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每张单据处理需 15 分钟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效率低下，难以应对大批量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45920"/>
            <a:ext cx="2560320" cy="201168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645920"/>
            <a:ext cx="54864" cy="20116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三单匹配依赖经验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148840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新手容易漏检差异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错误率约 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2560320" cy="201168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54864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单据格式不统一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48840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不同供应商模板各异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识别困难，需人工适配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45920"/>
            <a:ext cx="2560320" cy="201168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645920"/>
            <a:ext cx="54864" cy="201168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异常处理追溯难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148840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纸质单据难以检索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审计困难，责任不清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891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ED1C24"/>
                </a:solidFill>
                <a:latin typeface="Segoe UI Semibold"/>
              </a:rPr>
              <a:t>15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0A0A0"/>
                </a:solidFill>
                <a:latin typeface="Segoe UI"/>
              </a:rPr>
              <a:t>每张单据处理时间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3891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39C12"/>
                </a:solidFill>
                <a:latin typeface="Segoe UI Semibold"/>
              </a:rPr>
              <a:t>3%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0A0A0"/>
                </a:solidFill>
                <a:latin typeface="Segoe UI"/>
              </a:rPr>
              <a:t>人工错误率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43891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00B4D8"/>
                </a:solidFill>
                <a:latin typeface="Segoe UI Semibold"/>
              </a:rPr>
              <a:t>T+1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0A0A0"/>
                </a:solidFill>
                <a:latin typeface="Segoe UI"/>
              </a:rPr>
              <a:t>库存差异发现时效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38912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A0A0A0"/>
                </a:solidFill>
                <a:latin typeface="Segoe UI Semibold"/>
              </a:rPr>
              <a:t>8人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51206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0A0A0"/>
                </a:solidFill>
                <a:latin typeface="Segoe UI"/>
              </a:rPr>
              <a:t>处理团队规模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我们的解决方案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28600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228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零云端依赖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所有数据本地处理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保护商业机密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符合数据安全法规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45920"/>
            <a:ext cx="2560320" cy="228600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645920"/>
            <a:ext cx="54864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全流程自动化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148840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识别→提取→校验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→录入→异常处理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端到端智能处理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2560320" cy="228600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54864" cy="2286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多Agent协作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48840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5个专业Agent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各司其职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协同完成复杂流程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45920"/>
            <a:ext cx="2560320" cy="228600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645920"/>
            <a:ext cx="54864" cy="228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人机协作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148840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AI处理标准流程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异常自动升级人工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效率与灵活性兼顾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38912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E0E0E0"/>
                </a:solidFill>
                <a:latin typeface="Segoe UI"/>
              </a:rPr>
              <a:t>核心技术亮点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E0E0E0"/>
                </a:solidFill>
                <a:latin typeface="Segoe UI"/>
              </a:rPr>
              <a:t>• Llama-3.1-8B + ROCm 6.x 本地推理，FP16 混合精度</a:t>
            </a:r>
          </a:p>
          <a:p>
            <a:r>
              <a:rPr sz="1500">
                <a:solidFill>
                  <a:srgbClr val="E0E0E0"/>
                </a:solidFill>
                <a:latin typeface="Segoe UI"/>
              </a:rPr>
              <a:t>• BGE Embeddings 向量化 + LlamaIndex RAG 引擎</a:t>
            </a:r>
          </a:p>
          <a:p>
            <a:r>
              <a:rPr sz="1500">
                <a:solidFill>
                  <a:srgbClr val="E0E0E0"/>
                </a:solidFill>
                <a:latin typeface="Segoe UI"/>
              </a:rPr>
              <a:t>• vLLM 高性能推理服务，GPU 显存占用 &lt; 12GB</a:t>
            </a:r>
          </a:p>
          <a:p>
            <a:r>
              <a:rPr sz="1500">
                <a:solidFill>
                  <a:srgbClr val="E0E0E0"/>
                </a:solidFill>
                <a:latin typeface="Segoe UI"/>
              </a:rPr>
              <a:t>• Gradio Web UI，支持对话式查询和文档处理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系统架构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822960"/>
          </a:xfrm>
          <a:prstGeom prst="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91440" cy="82296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0876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 Semibold"/>
              </a:rPr>
              <a:t>输入层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50876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0E0E0"/>
                </a:solidFill>
                <a:latin typeface="Segoe UI"/>
              </a:rPr>
              <a:t>拍照/扫描 | PDF/Excel | 邮件附件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10698480" cy="822960"/>
          </a:xfrm>
          <a:prstGeom prst="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377440"/>
            <a:ext cx="91440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1460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 Semibold"/>
              </a:rPr>
              <a:t>Agent 编排层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51460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0E0E0"/>
                </a:solidFill>
                <a:latin typeface="Segoe UI"/>
              </a:rPr>
              <a:t>Classify | Extract | Validate | Entry | Exception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383280"/>
            <a:ext cx="91440" cy="82296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2044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 Semibold"/>
              </a:rPr>
              <a:t>RAG 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52044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0E0E0"/>
                </a:solidFill>
                <a:latin typeface="Segoe UI"/>
              </a:rPr>
              <a:t>BGE Embeddings + LlamaIndex | 单据模板库 + 历史案例库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389120"/>
            <a:ext cx="10698480" cy="822960"/>
          </a:xfrm>
          <a:prstGeom prst="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389120"/>
            <a:ext cx="91440" cy="82296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52628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 Semibold"/>
              </a:rPr>
              <a:t>LLM 推理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52628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0E0E0"/>
                </a:solidFill>
                <a:latin typeface="Segoe UI"/>
              </a:rPr>
              <a:t>Llama-3.1-8B + vLLM + ROCm | FP16 混合精度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394960"/>
            <a:ext cx="10698480" cy="822960"/>
          </a:xfrm>
          <a:prstGeom prst="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394960"/>
            <a:ext cx="91440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5321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Segoe UI Semibold"/>
              </a:rPr>
              <a:t>输出层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532120"/>
            <a:ext cx="6858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0E0E0"/>
                </a:solidFill>
                <a:latin typeface="Segoe UI"/>
              </a:rPr>
              <a:t>核对通过 → 自动入库 | 异常 → 推送审批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多 Agent 协作分工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828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Segoe UI Semibold"/>
              </a:rP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417320"/>
            <a:ext cx="23774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Segoe UI Semibold"/>
              </a:rPr>
              <a:t>职责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4173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Segoe UI Semibold"/>
              </a:rPr>
              <a:t>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0" y="1417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Segoe UI Semibold"/>
              </a:rPr>
              <a:t>输出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10698480" cy="7315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54864" cy="7315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Classify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14884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egoe UI"/>
              </a:rPr>
              <a:t>识别单据类型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14884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egoe UI"/>
              </a:rPr>
              <a:t>单据文本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14884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egoe UI"/>
              </a:rPr>
              <a:t>类型标签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834640"/>
            <a:ext cx="54864" cy="7315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97180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Extract 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297180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egoe UI"/>
              </a:rPr>
              <a:t>提取结构化字段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297180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egoe UI"/>
              </a:rPr>
              <a:t>单据文本 + 类型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97180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egoe UI"/>
              </a:rPr>
              <a:t>JSON 字段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657600"/>
            <a:ext cx="10698480" cy="7315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657600"/>
            <a:ext cx="54864" cy="7315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79476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Validate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79476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egoe UI"/>
              </a:rPr>
              <a:t>三单交叉校验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379476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egoe UI"/>
              </a:rPr>
              <a:t>PO + 送货单 + 发票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379476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egoe UI"/>
              </a:rPr>
              <a:t>校验结果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480560"/>
            <a:ext cx="10698480" cy="731520"/>
          </a:xfrm>
          <a:prstGeom prst="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480560"/>
            <a:ext cx="54864" cy="73152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61772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Entry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46177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egoe UI"/>
              </a:rPr>
              <a:t>ERP 数据回写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6177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egoe UI"/>
              </a:rPr>
              <a:t>校验通过的数据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61772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egoe UI"/>
              </a:rPr>
              <a:t>录入确认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5303520"/>
            <a:ext cx="10698480" cy="73152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5303520"/>
            <a:ext cx="54864" cy="73152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440680"/>
            <a:ext cx="1737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Exception 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544068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egoe UI"/>
              </a:rPr>
              <a:t>异常分类与通知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0" y="54406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egoe UI"/>
              </a:rPr>
              <a:t>校验失败的数据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5440680"/>
            <a:ext cx="2651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E0E0E0"/>
                </a:solidFill>
                <a:latin typeface="Segoe UI"/>
              </a:rPr>
              <a:t>审批通知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技术栈详情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698480" cy="548640"/>
          </a:xfrm>
          <a:prstGeom prst="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Segoe UI Semibold"/>
              </a:rPr>
              <a:t>组件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4173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Segoe UI Semibold"/>
              </a:rPr>
              <a:t>技术选型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417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Segoe UI Semibold"/>
              </a:rPr>
              <a:t>版本/配置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14173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00B4D8"/>
                </a:solidFill>
                <a:latin typeface="Segoe UI Semibold"/>
              </a:rPr>
              <a:t>作用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011680"/>
            <a:ext cx="10698480" cy="6400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011680"/>
            <a:ext cx="54864" cy="6400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2140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LLM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2121408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Llama-3.1-8B-Instruct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121408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FP16, temp=0.3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212140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单据理解与生成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743200"/>
            <a:ext cx="10698480" cy="640080"/>
          </a:xfrm>
          <a:prstGeom prst="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54864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285292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推理引擎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852928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vLLM + ROCm 6.x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852928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批处理优化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5292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高性能 GPU 推理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474720"/>
            <a:ext cx="10698480" cy="6400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3474720"/>
            <a:ext cx="54864" cy="6400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58444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Embeddings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584448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BGE-small-en-v1.5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3584448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512 chunk, top_k=5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58444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向量化与 RAG 检索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206240"/>
            <a:ext cx="10698480" cy="640080"/>
          </a:xfrm>
          <a:prstGeom prst="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4206240"/>
            <a:ext cx="54864" cy="6400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31596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RAG 框架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4315968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LlamaIndex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4315968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向量数据库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431596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知识库管理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937760"/>
            <a:ext cx="10698480" cy="640080"/>
          </a:xfrm>
          <a:prstGeom prst="rect">
            <a:avLst/>
          </a:prstGeom>
          <a:solidFill>
            <a:srgbClr val="1B26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31520" y="4937760"/>
            <a:ext cx="54864" cy="640080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04748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Agent 框架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5047488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LangChain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5047488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多Agent编排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504748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工作流协调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5669280"/>
            <a:ext cx="10698480" cy="640080"/>
          </a:xfrm>
          <a:prstGeom prst="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31520" y="5669280"/>
            <a:ext cx="54864" cy="640080"/>
          </a:xfrm>
          <a:prstGeom prst="rect">
            <a:avLst/>
          </a:prstGeom>
          <a:solidFill>
            <a:srgbClr val="415A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779008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Web 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5779008"/>
            <a:ext cx="2651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Gradio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0" y="5779008"/>
            <a:ext cx="2468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端口 7860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5779008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>
                <a:solidFill>
                  <a:srgbClr val="FFFFFF"/>
                </a:solidFill>
                <a:latin typeface="Segoe UI"/>
              </a:rPr>
              <a:t>用户交互界面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AMD Radeon GPU + ROCm 优化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256032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2560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测试环境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66344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GPU: AMD Radeon RX 7900 XTX (24GB VRAM)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OS: Ubuntu 22.04 LTS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ROCm: 6.1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PyTorch: 2.4.0+rocm6.1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256032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" cy="256032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性能指标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484632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单据分类准确率: 98%+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字段提取准确率: 95%+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三单匹配准确率: 99%+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单张处理时间: &lt; 30 秒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GPU 显存占用: &lt; 12 GB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698480" cy="201168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54864" cy="20116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优化技术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92040"/>
            <a:ext cx="10332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FP16 混合精度推理 — 减少显存占用，提升计算效率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vLLM 批处理优化 — 支持并发请求，提高吞吐量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BGE 向量化 — 本地 Embedding 计算，零网络延迟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ROCm HIP 后端 — 原生 AMD GPU 支持，无需 CUDA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三单交叉校验逻辑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320040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3200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校验规则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74520"/>
            <a:ext cx="466344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PO号匹配: po_number ↔ po_reference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物料编码匹配: item_code ↔ item_code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数量匹配: quantity ↔ quantity_delivered (±5%容差)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单价匹配: unit_price ↔ unit_price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金额匹配: total_amount ↔ amount (±1%容差)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320040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" cy="32004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校验流程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20"/>
            <a:ext cx="48463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1. 上传采购订单 → Extract Agent 提取字段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2. 上传送货单 → Extract Agent 提取字段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3. 上传发票 → Extract Agent 提取字段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4. 三单交叉校验 → Validate Agent 比对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5. 生成校验报告 → 通过/异常 分流处理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029200"/>
            <a:ext cx="54864" cy="13716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1663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容差设置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532120"/>
            <a:ext cx="10332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数量容差: 5% — 允许合理的发货差异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金额容差: 1% — 严格的财务控制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• 超出容差自动标记为异常，推送给审批人处理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商业价值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320040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2560320" cy="9144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15 min → 2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E0E0E0"/>
                </a:solidFill>
                <a:latin typeface="Segoe UI"/>
              </a:rPr>
              <a:t>单据处理时间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ED1C24"/>
                </a:solidFill>
                <a:latin typeface="Segoe UI Semibold"/>
              </a:rPr>
              <a:t>+87%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645920"/>
            <a:ext cx="2560320" cy="320040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66160" y="1645920"/>
            <a:ext cx="2560320" cy="914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0116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3% → 0.5%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4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E0E0E0"/>
                </a:solidFill>
                <a:latin typeface="Segoe UI"/>
              </a:rPr>
              <a:t>错误率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320040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F39C12"/>
                </a:solidFill>
                <a:latin typeface="Segoe UI Semibold"/>
              </a:rPr>
              <a:t>+83%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645920"/>
            <a:ext cx="2560320" cy="320040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645920"/>
            <a:ext cx="2560320" cy="914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0116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8人 → 2人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E0E0E0"/>
                </a:solidFill>
                <a:latin typeface="Segoe UI"/>
              </a:rPr>
              <a:t>人力需求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0040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00B4D8"/>
                </a:solidFill>
                <a:latin typeface="Segoe UI Semibold"/>
              </a:rPr>
              <a:t>+75%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1645920"/>
            <a:ext cx="2560320" cy="320040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35440" y="1645920"/>
            <a:ext cx="2560320" cy="9144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01168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Segoe UI Semibold"/>
              </a:rPr>
              <a:t>T+1 → 实时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74320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E0E0E0"/>
                </a:solidFill>
                <a:latin typeface="Segoe UI"/>
              </a:rPr>
              <a:t>库存差异发现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320040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2ECC71"/>
                </a:solidFill>
                <a:latin typeface="Segoe UI Semibold"/>
              </a:rPr>
              <a:t>+100%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创新点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28600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领域专精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针对供应链单据场景深度优化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非通用 Agent，专业能力更强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45920"/>
            <a:ext cx="2560320" cy="228600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645920"/>
            <a:ext cx="54864" cy="2286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多 Agent 协作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148840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5 个专业 Agent 各司其职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协同完成复杂业务流程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2560320" cy="228600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54864" cy="228600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三单交叉校验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48840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自动核对 PO/送货单/发票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替代人工经验判断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45920"/>
            <a:ext cx="2560320" cy="228600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645920"/>
            <a:ext cx="54864" cy="228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完全本地化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148840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商业数据零泄露风险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适合企业私有化部署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未来扩展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0698480" cy="2743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201168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4864" cy="20116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图像单据支持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48840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集成多模态 LLM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支持拍照识别手写单据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645920"/>
            <a:ext cx="2560320" cy="201168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66160" y="1645920"/>
            <a:ext cx="54864" cy="20116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全流程覆盖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148840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扩展到出库、对账、结算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覆盖供应链全链路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1645920"/>
            <a:ext cx="2560320" cy="201168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645920"/>
            <a:ext cx="54864" cy="2011680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ERP 集成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148840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对接 SAP/Oracle/用友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实现真正的自动化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645920"/>
            <a:ext cx="2560320" cy="2011680"/>
          </a:xfrm>
          <a:prstGeom prst="roundRect">
            <a:avLst/>
          </a:prstGeom>
          <a:solidFill>
            <a:srgbClr val="253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645920"/>
            <a:ext cx="54864" cy="20116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0" y="178308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Segoe UI Semibold"/>
              </a:rPr>
              <a:t>多仓库协同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2148840"/>
            <a:ext cx="21945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支持多仓库并行处理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E0E0E0"/>
                </a:solidFill>
                <a:latin typeface="Segoe UI"/>
              </a:rPr>
              <a:t>统一管理和调度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</a:pPr>
            <a:r>
              <a:rPr sz="1800">
                <a:solidFill>
                  <a:srgbClr val="00B4D8"/>
                </a:solidFill>
                <a:latin typeface="Segoe UI"/>
              </a:rPr>
              <a:t>✓ Multi-Agent collaboration (5 specialized agents)</a:t>
            </a:r>
          </a:p>
          <a:p>
            <a:pPr algn="ctr">
              <a:spcAft>
                <a:spcPts val="1200"/>
              </a:spcAft>
            </a:pPr>
            <a:r>
              <a:rPr sz="1800">
                <a:solidFill>
                  <a:srgbClr val="00B4D8"/>
                </a:solidFill>
                <a:latin typeface="Segoe UI"/>
              </a:rPr>
              <a:t>✓ AMD GPU acceleration with ROCm 6.x</a:t>
            </a:r>
          </a:p>
          <a:p>
            <a:pPr algn="ctr">
              <a:spcAft>
                <a:spcPts val="1200"/>
              </a:spcAft>
            </a:pPr>
            <a:r>
              <a:rPr sz="1800">
                <a:solidFill>
                  <a:srgbClr val="00B4D8"/>
                </a:solidFill>
                <a:latin typeface="Segoe UI"/>
              </a:rPr>
              <a:t>✓ Complete privacy protection (100% local)</a:t>
            </a:r>
          </a:p>
          <a:p>
            <a:pPr algn="ctr">
              <a:spcAft>
                <a:spcPts val="1200"/>
              </a:spcAft>
            </a:pPr>
            <a:r>
              <a:rPr sz="1800">
                <a:solidFill>
                  <a:srgbClr val="00B4D8"/>
                </a:solidFill>
                <a:latin typeface="Segoe UI"/>
              </a:rPr>
              <a:t>✓ Real-world business value (87% time reduction)</a:t>
            </a:r>
          </a:p>
          <a:p>
            <a:pPr algn="ctr">
              <a:spcAft>
                <a:spcPts val="1200"/>
              </a:spcAft>
            </a:pPr>
            <a:r>
              <a:rPr sz="1800">
                <a:solidFill>
                  <a:srgbClr val="00B4D8"/>
                </a:solidFill>
                <a:latin typeface="Segoe UI"/>
              </a:rPr>
              <a:t>✓ High accuracy (98%+ classification, 99%+ matching)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>
                <a:solidFill>
                  <a:srgbClr val="E0E0E0"/>
                </a:solidFill>
                <a:latin typeface="Segoe UI"/>
              </a:rPr>
              <a:t>Team: cyslmsolomon</a:t>
            </a:r>
          </a:p>
          <a:p>
            <a:pPr algn="ctr"/>
            <a:r>
              <a:rPr sz="1600">
                <a:solidFill>
                  <a:srgbClr val="A0A0A0"/>
                </a:solidFill>
                <a:latin typeface="Consolas"/>
              </a:rPr>
              <a:t>GitHub: github.com/cyslmsolomon/Radeon-hackathon-2026-07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ED1C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