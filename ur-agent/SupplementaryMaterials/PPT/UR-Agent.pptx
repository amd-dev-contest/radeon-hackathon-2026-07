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8" r:id="rId26"/>
    <p:sldId id="279" r:id="rId27"/>
    <p:sldId id="280" r:id="rId28"/>
    <p:sldId id="281" r:id="rId29"/>
    <p:sldId id="282" r:id="rId30"/>
    <p:sldId id="283" r:id="rId31"/>
    <p:sldId id="284" r:id="rId3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Good morning, everyone. Today, I'm thrilled to introduce UR-Agent, the Uni-Resource Agent. Our vision is simple yet ambitious: to treat everything as a resource and create a multi-space AI butler that seamlessly integrates the management of physical assets, knowledge, human resources, and finances. By empowering natural language interaction, we aim to build a lightweight, intelligent foundation for resource management, tailored for both teams and families. This is not just another AI tool; it's a paradigm shift in how we interact with and control our digital and physical worlds.</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Let's start with a high-level overview. The Uni-Resource Agent project directly addresses the pain points of unified management across various domains, from physical assets to digital identities, while tackling data privacy head-on. The core of our solution is a lightweight local agent that leverages a powerful local LLM, Qwen3-Coder-30B, to provide natural language control over isolated contexts. What truly sets us apart is our ability to run a single agent instance for multiple identities entirely on local hardware, eliminating cloud privacy risks and reducing total cost of ownership. We've designed it with openness and reusability in mind, offering a modular toolset and SDKs for developers. Currently, we have a tested core architecture and are finalizing the UI and demo.</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Here's the roadmap for today's presentation. We'll begin by exploring the real-world scenarios and the core value proposition of UR-Agent. Then, we'll dive into the solution overview, including our technical architecture. Next, we'll explore the intricate design of our multi-agent collaboration system and our skill engineering framework. A significant portion of our talk will be dedicated to the engineering, validation, and security aspects, where we'll showcase our AMD GPU optimizations and performance benchmarks. Finally, we'll discuss our open-source plan, project progress, and introduce the team behind this innovation.</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Let's begin with Chapter 1: Scenarios &amp; Value. In this section, we'll identify the specific user groups we're targeting and the core pain points they face in their daily operations. Understanding these challenges is crucial to appreciating the true value that UR-Agent brings to the table.</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Our target users are primarily small to medium-sized organizations and individuals grappling with three common scenarios: the overwhelmed small business owner, the family or care team managing complex personal affairs, and the project team struggling with resource coordination. These scenarios share four core pain points: resources are dispersed without a unified view, identities are mixed leading to security risks, existing AI can't take real action, and there's a paramount concern for data privacy. These pain points are not just inconveniences; they are significant barriers to efficiency and security.</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The value we deliver is both quantifiable and unique. We're not just improving efficiency; we're revolutionizing it, turning tasks that once took minutes into AI-driven actions completed in seconds. Whether it's inventory queries, asset transfers, financial reporting, or knowledge retrieval, the time saved is dramatic. Furthermore, our model's architecture provides a high barrier to entry through its high replicability. It can be horizontally applied across diverse industries and vertically extended into specific domains like CRM or project management. Unlike traditional ERPs, UR-Agent is designed for rapid, low-cost local deployment with intuitive natural language interaction, making powerful resource management accessible to everyone.</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Now, let's move on to Chapter 2: Solution Overview. Here, we'll take a closer look at the overall technical architecture that makes UR-Agent possible, and the key technologies we've selected to build a robust and efficient system.</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Our technical architecture is designed to be layered and decoupled, creating a complete closed loop from frontend interaction to local model inference. At the top, the Presentation Layer offers both a modern Vue 3 interface and a Gradio interface for debugging. The Service Layer, powered by FastAPI and LangChain, handles complex task orchestration. The Data &amp; Tool Layer unifies data storage with PostgreSQL and pgvector, while providing standardized tools for core resource domains. Finally, the Inference Engine, built on llama.cpp and running the powerful Qwen3-Coder-30B model locally, ensures maximum data privacy and inference efficiency. This architecture ensures scalability and security at every level.</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Every technology we've chosen aligns with our core principles: lightweight, local, and secure. We use LangChain for its flexible agent orchestration capabilities. For the LLM backend, we've paired llama.cpp with AMD's ROCm to fully leverage GPU power for efficient, local inference, ensuring data never leaves the premises. Our vector retrieval is handled by pgvector, built on PostgreSQL for stability and performance. Finally, multi-tenancy isolation is achieved through a lightweight identity system, avoiding the overhead of complex RBAC systems and enabling rapid iteration.</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In Chapter 3, we'll delve into the heart of our system: the Multi-Agent Collaboration Design. We'll explain how we've engineered specialized agents to work together in a closed loop to tackle complex business tasks efficiently and reliably.</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Our multi-agent system consists of four specialized roles working in harmony. The Planner Agent understands user intent and devises a plan. The Executor Agent carries out the plan by calling tools and managing state. The Reflect Agent acts as a monitor, checking results and triggering self-correction if needed. Finally, the RAG Agent connects to our knowledge base, providing the necessary context for informed decision-making. This division of labor ensures that complex tasks are handled efficiently and accurately through a continuous cycle of planning, execution, and reflection.</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Let's walk through a concrete example of our collaboration flow, which mirrors our actual demo. The process starts with verifying the local GPU setup. Then, through our UI, we demonstrate core capabilities like RAG-based knowledge retrieval, executing a complex multi-step task, and showcasing multi-turn memory. Crucially, we also demonstrate switching between user spaces to prove our robust permission isolation. This flow highlights the core value of our multi-agent design: it drastically improves efficiency and robustness through parallel processing and built-in reflection, while its modular nature allows for seamless integration and expansion into new domains.</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Security is paramount. We ensure data isolation and operational security through two key mechanisms. First, our Context Propagation system injects identity information into every tool call, ensuring data remains within its designated boundaries, and allows for seamless state management between agents. Second, we've established strict Security Boundaries for high-risk actions. Any write operation, like fund or asset transfers, requires manual user confirmation. All actions are logged for non-repudiation, and cross-organization operations undergo rigorous secondary permission checks. This layered approach builds a trusted environment for agent collaboration.</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Chapter 4 focuses on our Skill Engineering System. This is the framework that defines how our agents interact with the world, turning abstract intentions into concrete actions through a library of reusable skills.</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Our Core Skill Inventory is organized around four fundamental domains: assets, finance, tasks, and knowledge. For assets, we have skills to query and transfer inventory. For finance, we can record transactions and generate summaries. For tasks, we manage reminders and wellness checks. And for knowledge, our RAG search and knowledge storage skills create a dynamic, intelligent knowledge base. This comprehensive set of skills forms the backbone of our agent's capabilities, enabling it to handle a wide range of real-world scenarios.</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To ensure reusability and maintainability, each skill, like transfer_asset, follows a strict specification. This includes standardized inputs and outputs, built-in dependency and permission checks, and robust exception handling. This standardization makes our skills highly reusable. They are natively compatible with the LangChain ecosystem, can be modularly loaded, and are designed for easy integration into community projects. This approach not only simplifies development but also fosters a collaborative ecosystem around our technology.</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panose="020B0604020202090204"/>
                <a:ea typeface="Arial" panose="020B0604020202090204"/>
                <a:cs typeface="Arial" panose="020B0604020202090204"/>
                <a:sym typeface="Arial" panose="020B0604020202090204"/>
              </a:rPr>
              <a:t>Now we enter Chapter 5, the technical heart of our presentation: Engineering, Validation, and Security. This is where we demonstrate the real-world performance and robustness of UR-Agent, particularly our optimizations for AMD hardware. This section is crucial for validating our engineering excellence and commitment to security.</a:t>
            </a:r>
            <a:endParaRPr lang="en-US" sz="1400" b="0" i="0" u="none" strike="noStrike">
              <a:solidFill>
                <a:srgbClr val="000000"/>
              </a:solidFill>
              <a:latin typeface="Arial" panose="020B0604020202090204"/>
              <a:ea typeface="Arial" panose="020B0604020202090204"/>
              <a:cs typeface="Arial" panose="020B0604020202090204"/>
              <a:sym typeface="Arial" panose="020B060402020209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Let's take a deep dive into our engineering stack. Our production environment is powered by a dual AMD EPYC CPU server with 500GB of RAM and a high-end AMD Radeon GPU with nearly 50GB of VRAM. We run Ubuntu 24.04 with the latest ROCm 7.2.1 for optimal GPU utilization. The core AI engine is the Qwen3-Coder-30B model, quantized to Q4_K_M for a balance of performance and memory usage, running on llama.cpp with ROCm support. Our data layer uses PostgreSQL with pgvector for efficient vector storage and retrieval, crucial for our RAG capabilities.</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The results of our optimization speak for themselves. On our AMD hardware, we've achieved a throughput of approximately 35 tokens per second, which is a remarkable performance for a 30B parameter model running locally. This is achieved while consuming only about 19GB of VRAM for the model itself and 13GB for the KV cache, leaving ample headroom for complex tasks. We've also optimized the first-token latency and fully utilized the CPU cores and NUMA architecture to ensure the entire system runs at peak efficiency. These numbers demonstrate the power of our AMD ROCm integration.</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For production deployment, we've crafted a robust command line that encapsulates all our optimizations. The core command enables full GPU acceleration, sets a massive 524k token context window, and leverages FlashAttention for speed. We've also included flags for prompt caching and operation offloading. On the CPU side, we distribute memory across NUMA nodes and utilize all available threads for maximum throughput. Our system architecture, with FastAPI handling API requests and a Vue 3 frontend, ensures a scalable and maintainable deployment, ready for real-world use.</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To wrap up this chapter, our engineering and security practices ensure the system is enterprise-ready. We provide run-time assurance with one-click deployment scripts. Our quality validation covers unit tests, E2E tests with Playwright, and full result traceability. For observability, we have comprehensive logging and tracing, enhanced by intelligent semantic search. Most importantly, our security governance includes JWT authentication, strict data isolation, and a mandatory secondary confirmation for all sensitive operations, providing a robust audit trail and ensuring compliance.</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Our open-source plan has three main pillars. First, we will open-source our core technologies, including the agent training framework, lightweight inference engine, and standardized interfaces, to empower developers and accelerate innovation. Second, we've chosen the permissive Apache 2.0 license, which allows for free use and modification in commercial settings, fostering a healthy ecosystem. Finally, we are committed to building a vibrant developer community through incentives, technical events, and code reviews, creating an environment for shared growth and innovation in the agent space.</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Our open-source contributions are already substantial. We offer core reusable assets like a multi-tenancy data model, pre-built LangChain tools, a production-ready frontend dashboard, and comprehensive API documentation. To make adoption easy, we've created a standardized documentation system with API specs, tool manuals, and a quick-start guide. All of this is released under the permissive MIT license, with all dependencies carefully vetted to ensure compliance and no commercial risks for our users.</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微软雅黑"/>
                <a:ea typeface="微软雅黑"/>
                <a:cs typeface="微软雅黑"/>
                <a:sym typeface="微软雅黑"/>
              </a:rPr>
              <a:t>In Chapter 7, we'll provide an update on our current implementation progress and outline our next steps. This will give you a clear picture of how we're moving from concept to a fully functional product.</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As of today, we have made significant progress. The core database design, backend API with authentication, and a functional Vue 3 dashboard are all complete, with good test coverage. We are currently focused on the final AMD ROCm adaptation and tuning, and preparing the demo video. Looking ahead, our key milestones include verifying inference on the AMD MI100, delivering the demo video, and open-sourcing the code repository by August 10th. We have also prepared for potential risks, such as a CPU fallback mode and offline model files, to ensure a smooth demonstration.</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Finally, in Chapter 8, I'd like to introduce the talented team behind UR-Agent. Our success is built on a foundation of diverse expertise and a shared passion for innovation.</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The Uni-Resource Team is a collective of specialized agents, each excelling in their domain. Our Orchestration Agent drives the project vision, while our Backend and Frontend Agents build the robust and responsive application. Our AI/ML Agent is the engine behind our local inference capabilities. Collectively, we have a proven track record of success, including winning an Excellence Award at the 2025 Dataphile AI Competition for our "Intelligent Academic Assistant". We are also active contributors to the open-source community, demonstrating our engineering prowess and collaborative spirit.</a:t>
            </a:r>
            <a:endParaRPr lang="en-US" sz="14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a:ea typeface="Calibri"/>
                <a:cs typeface="Calibri"/>
                <a:sym typeface="Calibri"/>
              </a:rPr>
              <a:t>Thank you for your time. We believe that UR-Agent represents a significant step forward in making AI truly useful and accessible for managing our complex world. We are excited to explore the infinite possibilities of intelligent resource scheduling and collaboration with you, and to jointly create a new future for the AI ecosystem. Thank you.</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F3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23400" y="-1282700"/>
            <a:ext cx="4114800" cy="41148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604500" y="4203700"/>
            <a:ext cx="2921000" cy="29210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25500" y="4940300"/>
            <a:ext cx="2743200" cy="27432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96900" y="1549400"/>
            <a:ext cx="889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spc="100">
                <a:solidFill>
                  <a:srgbClr val="FF6B35"/>
                </a:solidFill>
                <a:latin typeface="微软雅黑"/>
                <a:ea typeface="微软雅黑"/>
                <a:cs typeface="微软雅黑"/>
                <a:sym typeface="微软雅黑"/>
              </a:rPr>
              <a:t>AI Agent Ecosystem | Smart Resource Management</a:t>
            </a:r>
            <a:endParaRPr lang="en-US" sz="1100"/>
          </a:p>
        </p:txBody>
      </p:sp>
      <p:sp>
        <p:nvSpPr>
          <p:cNvPr id="6" name="AutoShape 6"/>
          <p:cNvSpPr/>
          <p:nvPr/>
        </p:nvSpPr>
        <p:spPr>
          <a:xfrm>
            <a:off x="596900" y="2095500"/>
            <a:ext cx="9525000" cy="177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3200" b="1" i="0" u="none" strike="noStrike">
                <a:solidFill>
                  <a:srgbClr val="FFFFFF"/>
                </a:solidFill>
                <a:latin typeface="微软雅黑"/>
                <a:ea typeface="微软雅黑"/>
                <a:cs typeface="微软雅黑"/>
                <a:sym typeface="微软雅黑"/>
              </a:rPr>
              <a:t>UR-Agent (Uni-Resource Agent)</a:t>
            </a:r>
            <a:endParaRPr lang="en-US" sz="1100"/>
          </a:p>
          <a:p>
            <a:pPr marL="0" indent="0" algn="l">
              <a:lnSpc>
                <a:spcPct val="100000"/>
              </a:lnSpc>
            </a:pPr>
            <a:r>
              <a:rPr lang="en-US" sz="2400" b="1" i="0" u="none" strike="noStrike">
                <a:solidFill>
                  <a:srgbClr val="FFFFFF"/>
                </a:solidFill>
                <a:latin typeface="微软雅黑"/>
                <a:ea typeface="微软雅黑"/>
                <a:cs typeface="微软雅黑"/>
                <a:sym typeface="微软雅黑"/>
              </a:rPr>
              <a:t>Everything as a Resource · Multi-Space AI Butler</a:t>
            </a:r>
            <a:endParaRPr lang="en-US" sz="2400" b="1" i="0" u="none" strike="noStrike">
              <a:solidFill>
                <a:srgbClr val="FFFFFF"/>
              </a:solidFill>
              <a:latin typeface="微软雅黑"/>
              <a:ea typeface="微软雅黑"/>
              <a:cs typeface="微软雅黑"/>
              <a:sym typeface="微软雅黑"/>
            </a:endParaRPr>
          </a:p>
        </p:txBody>
      </p:sp>
      <p:sp>
        <p:nvSpPr>
          <p:cNvPr id="7" name="AutoShape 7"/>
          <p:cNvSpPr/>
          <p:nvPr/>
        </p:nvSpPr>
        <p:spPr>
          <a:xfrm>
            <a:off x="596900" y="4191000"/>
            <a:ext cx="8890000" cy="1270000"/>
          </a:xfrm>
          <a:prstGeom prst="roundRect">
            <a:avLst>
              <a:gd name="adj" fmla="val 0"/>
            </a:avLst>
          </a:prstGeom>
          <a:noFill/>
          <a:ln w="25400" cap="flat" cmpd="sng">
            <a:noFill/>
            <a:prstDash val="solid"/>
            <a:round/>
          </a:ln>
        </p:spPr>
        <p:txBody>
          <a:bodyPr vert="horz" wrap="square" lIns="88900" tIns="76200" rIns="88900" bIns="76200" rtlCol="0" anchor="t" anchorCtr="0"/>
          <a:lstStyle/>
          <a:p>
            <a:pPr marL="0" indent="0" algn="l">
              <a:lnSpc>
                <a:spcPct val="117000"/>
              </a:lnSpc>
              <a:defRPr/>
            </a:pPr>
            <a:r>
              <a:rPr lang="en-US" sz="1400" b="0" i="0" u="none" strike="noStrike">
                <a:solidFill>
                  <a:srgbClr val="E5E7EB"/>
                </a:solidFill>
                <a:latin typeface="微软雅黑"/>
                <a:ea typeface="微软雅黑"/>
                <a:cs typeface="微软雅黑"/>
                <a:sym typeface="微软雅黑"/>
              </a:rPr>
              <a:t>Empowering natural language interaction to unify the management of physical assets, knowledge, human resources, and finances. Building a lightweight, intelligent resource management foundation for teams and families, enabling seamless control over both digital and physical worlds.</a:t>
            </a:r>
            <a:endParaRPr lang="en-US" sz="1100"/>
          </a:p>
        </p:txBody>
      </p:sp>
      <p:sp>
        <p:nvSpPr>
          <p:cNvPr id="8" name="AutoShape 8"/>
          <p:cNvSpPr/>
          <p:nvPr/>
        </p:nvSpPr>
        <p:spPr>
          <a:xfrm>
            <a:off x="596900" y="6299200"/>
            <a:ext cx="73152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AEB6D6"/>
                </a:solidFill>
                <a:latin typeface="微软雅黑"/>
                <a:ea typeface="微软雅黑"/>
                <a:cs typeface="微软雅黑"/>
                <a:sym typeface="微软雅黑"/>
              </a:rPr>
              <a:t>UR-Agent Initiative | Smart Life &amp; Work Lab</a:t>
            </a:r>
            <a:endParaRPr lang="en-US" sz="1100"/>
          </a:p>
        </p:txBody>
      </p:sp>
      <p:sp>
        <p:nvSpPr>
          <p:cNvPr id="9" name="AutoShape 8"/>
          <p:cNvSpPr/>
          <p:nvPr/>
        </p:nvSpPr>
        <p:spPr>
          <a:xfrm>
            <a:off x="596900" y="5981700"/>
            <a:ext cx="73152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AEB6D6"/>
                </a:solidFill>
                <a:latin typeface="微软雅黑"/>
                <a:ea typeface="微软雅黑"/>
                <a:cs typeface="微软雅黑"/>
                <a:sym typeface="微软雅黑"/>
              </a:rPr>
              <a:t>qiancy (No. 00000657)</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P0 · Executive Summary</a:t>
            </a:r>
            <a:endParaRPr lang="en-US" sz="1100"/>
          </a:p>
        </p:txBody>
      </p:sp>
      <p:sp>
        <p:nvSpPr>
          <p:cNvPr id="3" name="AutoShape 3"/>
          <p:cNvSpPr/>
          <p:nvPr/>
        </p:nvSpPr>
        <p:spPr>
          <a:xfrm>
            <a:off x="596900" y="660400"/>
            <a:ext cx="109982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微软雅黑"/>
                <a:ea typeface="微软雅黑"/>
                <a:cs typeface="微软雅黑"/>
                <a:sym typeface="微软雅黑"/>
              </a:rPr>
              <a:t>Uni-Resource Agent: Multi-Space AI Resource Butler</a:t>
            </a:r>
            <a:endParaRPr lang="en-US" sz="1100"/>
          </a:p>
        </p:txBody>
      </p:sp>
      <p:sp>
        <p:nvSpPr>
          <p:cNvPr id="4" name="AutoShape 4"/>
          <p:cNvSpPr/>
          <p:nvPr/>
        </p:nvSpPr>
        <p:spPr>
          <a:xfrm>
            <a:off x="596900" y="19685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50900" y="22225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92200" y="21336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Project Name</a:t>
            </a:r>
            <a:endParaRPr lang="en-US" sz="1100"/>
          </a:p>
        </p:txBody>
      </p:sp>
      <p:sp>
        <p:nvSpPr>
          <p:cNvPr id="7" name="AutoShape 7"/>
          <p:cNvSpPr/>
          <p:nvPr/>
        </p:nvSpPr>
        <p:spPr>
          <a:xfrm>
            <a:off x="850900" y="24892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Tackles unified management of physical/digital assets, organizational/family structure, identity switching confusion, and critical data privacy concerns.</a:t>
            </a:r>
            <a:endParaRPr lang="en-US" sz="1100"/>
          </a:p>
        </p:txBody>
      </p:sp>
      <p:sp>
        <p:nvSpPr>
          <p:cNvPr id="8" name="AutoShape 8"/>
          <p:cNvSpPr/>
          <p:nvPr/>
        </p:nvSpPr>
        <p:spPr>
          <a:xfrm>
            <a:off x="850900" y="31242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Vision: Unified Resource Control &amp; Privacy-Preserving AI</a:t>
            </a:r>
            <a:endParaRPr lang="en-US" sz="1100"/>
          </a:p>
        </p:txBody>
      </p:sp>
      <p:sp>
        <p:nvSpPr>
          <p:cNvPr id="9" name="AutoShape 9"/>
          <p:cNvSpPr/>
          <p:nvPr/>
        </p:nvSpPr>
        <p:spPr>
          <a:xfrm>
            <a:off x="4356100" y="19685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10100" y="22225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851400" y="21336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Problem &amp; Scenarios</a:t>
            </a:r>
            <a:endParaRPr lang="en-US" sz="1100"/>
          </a:p>
        </p:txBody>
      </p:sp>
      <p:sp>
        <p:nvSpPr>
          <p:cNvPr id="12" name="AutoShape 12"/>
          <p:cNvSpPr/>
          <p:nvPr/>
        </p:nvSpPr>
        <p:spPr>
          <a:xfrm>
            <a:off x="4610100" y="24892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Small teams/families face risks like disjointed asset/finance/knowledge tracking, complex multi-identity management, and barriers to secure cross-space collaboration.</a:t>
            </a:r>
            <a:endParaRPr lang="en-US" sz="1100"/>
          </a:p>
        </p:txBody>
      </p:sp>
      <p:sp>
        <p:nvSpPr>
          <p:cNvPr id="13" name="AutoShape 13"/>
          <p:cNvSpPr/>
          <p:nvPr/>
        </p:nvSpPr>
        <p:spPr>
          <a:xfrm>
            <a:off x="4610100" y="31242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Pain Points: Resource Silos &amp; Identity Chaos</a:t>
            </a:r>
            <a:endParaRPr lang="en-US" sz="1100"/>
          </a:p>
        </p:txBody>
      </p:sp>
      <p:sp>
        <p:nvSpPr>
          <p:cNvPr id="14" name="AutoShape 14"/>
          <p:cNvSpPr/>
          <p:nvPr/>
        </p:nvSpPr>
        <p:spPr>
          <a:xfrm>
            <a:off x="8115300" y="19685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69300" y="22225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610600" y="21336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Core Solution</a:t>
            </a:r>
            <a:endParaRPr lang="en-US" sz="1100"/>
          </a:p>
        </p:txBody>
      </p:sp>
      <p:sp>
        <p:nvSpPr>
          <p:cNvPr id="17" name="AutoShape 17"/>
          <p:cNvSpPr/>
          <p:nvPr/>
        </p:nvSpPr>
        <p:spPr>
          <a:xfrm>
            <a:off x="8369300" y="24892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A lightweight local agent with Multi-Context Space for isolating assets, tools &amp; knowledge, controlled by local LLM (Qwen3-Coder-30B) via natural language.</a:t>
            </a:r>
            <a:endParaRPr lang="en-US" sz="1100"/>
          </a:p>
        </p:txBody>
      </p:sp>
      <p:sp>
        <p:nvSpPr>
          <p:cNvPr id="18" name="AutoShape 18"/>
          <p:cNvSpPr/>
          <p:nvPr/>
        </p:nvSpPr>
        <p:spPr>
          <a:xfrm>
            <a:off x="8369300" y="31242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Architecture: Local LLM + Isolated Context Spaces</a:t>
            </a:r>
            <a:endParaRPr lang="en-US" sz="1100"/>
          </a:p>
        </p:txBody>
      </p:sp>
      <p:sp>
        <p:nvSpPr>
          <p:cNvPr id="19" name="AutoShape 19"/>
          <p:cNvSpPr/>
          <p:nvPr/>
        </p:nvSpPr>
        <p:spPr>
          <a:xfrm>
            <a:off x="596900" y="37719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50900" y="40386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92200" y="39370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Innovation &amp; Differentiation</a:t>
            </a:r>
            <a:endParaRPr lang="en-US" sz="1100"/>
          </a:p>
        </p:txBody>
      </p:sp>
      <p:sp>
        <p:nvSpPr>
          <p:cNvPr id="22" name="AutoShape 22"/>
          <p:cNvSpPr/>
          <p:nvPr/>
        </p:nvSpPr>
        <p:spPr>
          <a:xfrm>
            <a:off x="850900" y="43053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Single agent instance enables multi-identity isolation; fully local execution ensures zero cloud privacy risks, with lower total cost of ownership (TCO).</a:t>
            </a:r>
            <a:endParaRPr lang="en-US" sz="1100"/>
          </a:p>
        </p:txBody>
      </p:sp>
      <p:sp>
        <p:nvSpPr>
          <p:cNvPr id="23" name="AutoShape 23"/>
          <p:cNvSpPr/>
          <p:nvPr/>
        </p:nvSpPr>
        <p:spPr>
          <a:xfrm>
            <a:off x="850900" y="49403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Edge: Zero Cloud Leakage &amp; Cost Efficiency</a:t>
            </a:r>
            <a:endParaRPr lang="en-US" sz="1100"/>
          </a:p>
        </p:txBody>
      </p:sp>
      <p:sp>
        <p:nvSpPr>
          <p:cNvPr id="24" name="AutoShape 24"/>
          <p:cNvSpPr/>
          <p:nvPr/>
        </p:nvSpPr>
        <p:spPr>
          <a:xfrm>
            <a:off x="4356100" y="37719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610100" y="40386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851400" y="39370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Openness &amp; Reusability</a:t>
            </a:r>
            <a:endParaRPr lang="en-US" sz="1100"/>
          </a:p>
        </p:txBody>
      </p:sp>
      <p:sp>
        <p:nvSpPr>
          <p:cNvPr id="27" name="AutoShape 27"/>
          <p:cNvSpPr/>
          <p:nvPr/>
        </p:nvSpPr>
        <p:spPr>
          <a:xfrm>
            <a:off x="4610100" y="43053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Highly modular toolset for independent reuse; Multi-Context Space framework, RAG SDK, and ready-to-use templates simplify custom application development.</a:t>
            </a:r>
            <a:endParaRPr lang="en-US" sz="1100"/>
          </a:p>
        </p:txBody>
      </p:sp>
      <p:sp>
        <p:nvSpPr>
          <p:cNvPr id="28" name="AutoShape 28"/>
          <p:cNvSpPr/>
          <p:nvPr/>
        </p:nvSpPr>
        <p:spPr>
          <a:xfrm>
            <a:off x="4610100" y="49403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Ecosystem: Modular SDK &amp; Developer-Friendly</a:t>
            </a:r>
            <a:endParaRPr lang="en-US" sz="1100"/>
          </a:p>
        </p:txBody>
      </p:sp>
      <p:sp>
        <p:nvSpPr>
          <p:cNvPr id="29" name="AutoShape 29"/>
          <p:cNvSpPr/>
          <p:nvPr/>
        </p:nvSpPr>
        <p:spPr>
          <a:xfrm>
            <a:off x="8115300" y="3771900"/>
            <a:ext cx="3479800" cy="1549400"/>
          </a:xfrm>
          <a:prstGeom prst="roundRect">
            <a:avLst>
              <a:gd name="adj" fmla="val 4918"/>
            </a:avLst>
          </a:prstGeom>
          <a:solidFill>
            <a:srgbClr val="E9EE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369300" y="4038600"/>
            <a:ext cx="152400" cy="152400"/>
          </a:xfrm>
          <a:prstGeom prst="ellipse">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610600" y="3937000"/>
            <a:ext cx="279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B1F3B"/>
                </a:solidFill>
                <a:latin typeface="微软雅黑"/>
                <a:ea typeface="微软雅黑"/>
                <a:cs typeface="微软雅黑"/>
                <a:sym typeface="微软雅黑"/>
              </a:rPr>
              <a:t>Current Progress</a:t>
            </a:r>
            <a:endParaRPr lang="en-US" sz="1100"/>
          </a:p>
        </p:txBody>
      </p:sp>
      <p:sp>
        <p:nvSpPr>
          <p:cNvPr id="32" name="AutoShape 32"/>
          <p:cNvSpPr/>
          <p:nvPr/>
        </p:nvSpPr>
        <p:spPr>
          <a:xfrm>
            <a:off x="8369300" y="4305300"/>
            <a:ext cx="30226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900" b="0" i="0" u="none" strike="noStrike">
                <a:solidFill>
                  <a:srgbClr val="6B7280"/>
                </a:solidFill>
                <a:latin typeface="微软雅黑"/>
                <a:ea typeface="微软雅黑"/>
                <a:cs typeface="微软雅黑"/>
                <a:sym typeface="微软雅黑"/>
              </a:rPr>
              <a:t>Core agent architecture finalized; 4 tools &amp; isolation mechanisms tested. Vue UI integration and API development are in progress, demo video coming soon.</a:t>
            </a:r>
            <a:endParaRPr lang="en-US" sz="1100"/>
          </a:p>
        </p:txBody>
      </p:sp>
      <p:sp>
        <p:nvSpPr>
          <p:cNvPr id="33" name="AutoShape 33"/>
          <p:cNvSpPr/>
          <p:nvPr/>
        </p:nvSpPr>
        <p:spPr>
          <a:xfrm>
            <a:off x="8369300" y="4940300"/>
            <a:ext cx="3022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900" b="0" i="1" u="none" strike="noStrike">
                <a:solidFill>
                  <a:srgbClr val="9AA1B8"/>
                </a:solidFill>
                <a:latin typeface="微软雅黑"/>
                <a:ea typeface="微软雅黑"/>
                <a:cs typeface="微软雅黑"/>
                <a:sym typeface="微软雅黑"/>
              </a:rPr>
              <a:t>Status: Core Ready, UI/API Integration in Progress</a:t>
            </a:r>
            <a:endParaRPr lang="en-US" sz="1100"/>
          </a:p>
        </p:txBody>
      </p:sp>
      <p:sp>
        <p:nvSpPr>
          <p:cNvPr id="34" name="AutoShape 34"/>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01</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F3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690100" y="-1371600"/>
            <a:ext cx="4114800" cy="41148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14400" y="4749800"/>
            <a:ext cx="2921000" cy="29210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96900" y="1054100"/>
            <a:ext cx="9144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FFFFFF"/>
                </a:solidFill>
                <a:latin typeface="微软雅黑"/>
                <a:ea typeface="微软雅黑"/>
                <a:cs typeface="微软雅黑"/>
                <a:sym typeface="微软雅黑"/>
              </a:rPr>
              <a:t>Table of Contents</a:t>
            </a:r>
            <a:endParaRPr lang="en-US" sz="1100"/>
          </a:p>
        </p:txBody>
      </p:sp>
      <p:sp>
        <p:nvSpPr>
          <p:cNvPr id="5" name="AutoShape 5"/>
          <p:cNvSpPr/>
          <p:nvPr/>
        </p:nvSpPr>
        <p:spPr>
          <a:xfrm>
            <a:off x="596900" y="20574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00100" y="22987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00100" y="22987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1</a:t>
            </a:r>
            <a:endParaRPr lang="en-US" sz="1100"/>
          </a:p>
        </p:txBody>
      </p:sp>
      <p:sp>
        <p:nvSpPr>
          <p:cNvPr id="8" name="AutoShape 8"/>
          <p:cNvSpPr/>
          <p:nvPr/>
        </p:nvSpPr>
        <p:spPr>
          <a:xfrm>
            <a:off x="1219200" y="20574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solidFill>
                <a:latin typeface="微软雅黑"/>
                <a:ea typeface="微软雅黑"/>
                <a:cs typeface="微软雅黑"/>
                <a:sym typeface="微软雅黑"/>
              </a:rPr>
              <a:t>Scenarios &amp; Value</a:t>
            </a:r>
            <a:endParaRPr lang="en-US" sz="1100"/>
          </a:p>
        </p:txBody>
      </p:sp>
      <p:sp>
        <p:nvSpPr>
          <p:cNvPr id="9" name="AutoShape 9"/>
          <p:cNvSpPr/>
          <p:nvPr/>
        </p:nvSpPr>
        <p:spPr>
          <a:xfrm>
            <a:off x="6324600" y="20574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527800" y="22987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527800" y="22987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5</a:t>
            </a:r>
            <a:endParaRPr lang="en-US" sz="1100"/>
          </a:p>
        </p:txBody>
      </p:sp>
      <p:sp>
        <p:nvSpPr>
          <p:cNvPr id="12" name="AutoShape 12"/>
          <p:cNvSpPr/>
          <p:nvPr/>
        </p:nvSpPr>
        <p:spPr>
          <a:xfrm>
            <a:off x="6946900" y="20574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solidFill>
                <a:latin typeface="微软雅黑"/>
                <a:ea typeface="微软雅黑"/>
                <a:cs typeface="微软雅黑"/>
                <a:sym typeface="微软雅黑"/>
              </a:rPr>
              <a:t>Engineering, Validation &amp; Security</a:t>
            </a:r>
            <a:endParaRPr lang="en-US" sz="1100"/>
          </a:p>
        </p:txBody>
      </p:sp>
      <p:sp>
        <p:nvSpPr>
          <p:cNvPr id="13" name="AutoShape 13"/>
          <p:cNvSpPr/>
          <p:nvPr/>
        </p:nvSpPr>
        <p:spPr>
          <a:xfrm>
            <a:off x="596900" y="30988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00100" y="33528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 y="33528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2</a:t>
            </a:r>
            <a:endParaRPr lang="en-US" sz="1100"/>
          </a:p>
        </p:txBody>
      </p:sp>
      <p:sp>
        <p:nvSpPr>
          <p:cNvPr id="16" name="AutoShape 16"/>
          <p:cNvSpPr/>
          <p:nvPr/>
        </p:nvSpPr>
        <p:spPr>
          <a:xfrm>
            <a:off x="1219200" y="30988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solidFill>
                <a:latin typeface="微软雅黑"/>
                <a:ea typeface="微软雅黑"/>
                <a:cs typeface="微软雅黑"/>
                <a:sym typeface="微软雅黑"/>
              </a:rPr>
              <a:t>Solution Overview</a:t>
            </a:r>
            <a:endParaRPr lang="en-US" sz="1100"/>
          </a:p>
        </p:txBody>
      </p:sp>
      <p:sp>
        <p:nvSpPr>
          <p:cNvPr id="17" name="AutoShape 17"/>
          <p:cNvSpPr/>
          <p:nvPr/>
        </p:nvSpPr>
        <p:spPr>
          <a:xfrm>
            <a:off x="6324600" y="30988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527800" y="33528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27800" y="33528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6</a:t>
            </a:r>
            <a:endParaRPr lang="en-US" sz="1100"/>
          </a:p>
        </p:txBody>
      </p:sp>
      <p:sp>
        <p:nvSpPr>
          <p:cNvPr id="20" name="AutoShape 20"/>
          <p:cNvSpPr/>
          <p:nvPr/>
        </p:nvSpPr>
        <p:spPr>
          <a:xfrm>
            <a:off x="6946900" y="30988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solidFill>
                <a:latin typeface="微软雅黑"/>
                <a:ea typeface="微软雅黑"/>
                <a:cs typeface="微软雅黑"/>
                <a:sym typeface="微软雅黑"/>
              </a:rPr>
              <a:t>Open Source Plan</a:t>
            </a:r>
            <a:endParaRPr lang="en-US" sz="1100"/>
          </a:p>
        </p:txBody>
      </p:sp>
      <p:sp>
        <p:nvSpPr>
          <p:cNvPr id="21" name="AutoShape 21"/>
          <p:cNvSpPr/>
          <p:nvPr/>
        </p:nvSpPr>
        <p:spPr>
          <a:xfrm>
            <a:off x="596900" y="41402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00100" y="43942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00100" y="43942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3</a:t>
            </a:r>
            <a:endParaRPr lang="en-US" sz="1100"/>
          </a:p>
        </p:txBody>
      </p:sp>
      <p:sp>
        <p:nvSpPr>
          <p:cNvPr id="24" name="AutoShape 24"/>
          <p:cNvSpPr/>
          <p:nvPr/>
        </p:nvSpPr>
        <p:spPr>
          <a:xfrm>
            <a:off x="1219200" y="41402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solidFill>
                <a:latin typeface="微软雅黑"/>
                <a:ea typeface="微软雅黑"/>
                <a:cs typeface="微软雅黑"/>
                <a:sym typeface="微软雅黑"/>
              </a:rPr>
              <a:t>Multi-Agent Collaboration Design</a:t>
            </a:r>
            <a:endParaRPr lang="en-US" sz="1100"/>
          </a:p>
        </p:txBody>
      </p:sp>
      <p:sp>
        <p:nvSpPr>
          <p:cNvPr id="25" name="AutoShape 25"/>
          <p:cNvSpPr/>
          <p:nvPr/>
        </p:nvSpPr>
        <p:spPr>
          <a:xfrm>
            <a:off x="6324600" y="41402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527800" y="43942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527800" y="43942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7</a:t>
            </a:r>
            <a:endParaRPr lang="en-US" sz="1100"/>
          </a:p>
        </p:txBody>
      </p:sp>
      <p:sp>
        <p:nvSpPr>
          <p:cNvPr id="28" name="AutoShape 28"/>
          <p:cNvSpPr/>
          <p:nvPr/>
        </p:nvSpPr>
        <p:spPr>
          <a:xfrm>
            <a:off x="6946900" y="41402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solidFill>
                <a:latin typeface="微软雅黑"/>
                <a:ea typeface="微软雅黑"/>
                <a:cs typeface="微软雅黑"/>
                <a:sym typeface="微软雅黑"/>
              </a:rPr>
              <a:t>Implementation Plan &amp; Progress</a:t>
            </a:r>
            <a:endParaRPr lang="en-US" sz="1100"/>
          </a:p>
        </p:txBody>
      </p:sp>
      <p:sp>
        <p:nvSpPr>
          <p:cNvPr id="29" name="AutoShape 29"/>
          <p:cNvSpPr/>
          <p:nvPr/>
        </p:nvSpPr>
        <p:spPr>
          <a:xfrm>
            <a:off x="596900" y="51816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00100" y="54356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00100" y="54356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4</a:t>
            </a:r>
            <a:endParaRPr lang="en-US" sz="1100"/>
          </a:p>
        </p:txBody>
      </p:sp>
      <p:sp>
        <p:nvSpPr>
          <p:cNvPr id="32" name="AutoShape 32"/>
          <p:cNvSpPr/>
          <p:nvPr/>
        </p:nvSpPr>
        <p:spPr>
          <a:xfrm>
            <a:off x="1219200" y="51816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solidFill>
                <a:latin typeface="微软雅黑"/>
                <a:ea typeface="微软雅黑"/>
                <a:cs typeface="微软雅黑"/>
                <a:sym typeface="微软雅黑"/>
              </a:rPr>
              <a:t>Skill Engineering System</a:t>
            </a:r>
            <a:endParaRPr lang="en-US" sz="1100"/>
          </a:p>
        </p:txBody>
      </p:sp>
      <p:sp>
        <p:nvSpPr>
          <p:cNvPr id="33" name="AutoShape 33"/>
          <p:cNvSpPr/>
          <p:nvPr/>
        </p:nvSpPr>
        <p:spPr>
          <a:xfrm>
            <a:off x="6324600" y="5181600"/>
            <a:ext cx="5270500" cy="787400"/>
          </a:xfrm>
          <a:prstGeom prst="roundRect">
            <a:avLst>
              <a:gd name="adj" fmla="val 6451"/>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527800" y="5435600"/>
            <a:ext cx="292100" cy="292100"/>
          </a:xfrm>
          <a:prstGeom prst="roundRect">
            <a:avLst>
              <a:gd name="adj" fmla="val 17391"/>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6527800" y="5435600"/>
            <a:ext cx="2921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000000"/>
                </a:solidFill>
                <a:latin typeface="Calibri"/>
                <a:ea typeface="Calibri"/>
                <a:cs typeface="Calibri"/>
                <a:sym typeface="Calibri"/>
              </a:rPr>
              <a:t>8</a:t>
            </a:r>
            <a:endParaRPr lang="en-US" sz="1100"/>
          </a:p>
        </p:txBody>
      </p:sp>
      <p:sp>
        <p:nvSpPr>
          <p:cNvPr id="36" name="AutoShape 36"/>
          <p:cNvSpPr/>
          <p:nvPr/>
        </p:nvSpPr>
        <p:spPr>
          <a:xfrm>
            <a:off x="6946900" y="5181600"/>
            <a:ext cx="44958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solidFill>
                <a:latin typeface="微软雅黑"/>
                <a:ea typeface="微软雅黑"/>
                <a:cs typeface="微软雅黑"/>
                <a:sym typeface="微软雅黑"/>
              </a:rPr>
              <a:t>Team Introduction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493000" y="444500"/>
            <a:ext cx="4318000" cy="889000"/>
          </a:xfrm>
          <a:prstGeom prst="roundRect">
            <a:avLst>
              <a:gd name="adj" fmla="val 10000"/>
            </a:avLst>
          </a:prstGeom>
          <a:solidFill>
            <a:srgbClr val="FFEDE4">
              <a:alpha val="100000"/>
            </a:srgbClr>
          </a:solidFill>
          <a:ln w="12700" cap="flat" cmpd="sng">
            <a:solidFill>
              <a:srgbClr val="FF6B35">
                <a:alpha val="100000"/>
              </a:srgbClr>
            </a:solidFill>
            <a:prstDash val="solid"/>
            <a:miter lim="100000000"/>
          </a:ln>
        </p:spPr>
        <p:txBody>
          <a:bodyPr vert="horz" wrap="square" lIns="63500" tIns="63500" rIns="63500" bIns="63500" rtlCol="0" anchor="ctr"/>
          <a:lstStyle/>
          <a:p>
            <a:pPr algn="ctr">
              <a:defRPr/>
            </a:pPr>
          </a:p>
        </p:txBody>
      </p:sp>
      <p:sp>
        <p:nvSpPr>
          <p:cNvPr id="3" name="AutoShape 3"/>
          <p:cNvSpPr/>
          <p:nvPr/>
        </p:nvSpPr>
        <p:spPr>
          <a:xfrm>
            <a:off x="7620000" y="533400"/>
            <a:ext cx="2921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900" b="1" i="0" u="none" strike="noStrike">
                <a:solidFill>
                  <a:srgbClr val="FF6B35"/>
                </a:solidFill>
                <a:latin typeface="微软雅黑"/>
                <a:ea typeface="微软雅黑"/>
                <a:cs typeface="微软雅黑"/>
                <a:sym typeface="微软雅黑"/>
              </a:rPr>
              <a:t>CORE FOCUS</a:t>
            </a:r>
            <a:endParaRPr lang="en-US" sz="1100"/>
          </a:p>
        </p:txBody>
      </p:sp>
      <p:sp>
        <p:nvSpPr>
          <p:cNvPr id="4" name="AutoShape 4"/>
          <p:cNvSpPr/>
          <p:nvPr/>
        </p:nvSpPr>
        <p:spPr>
          <a:xfrm>
            <a:off x="7620000" y="8128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000" b="1" i="0" u="none" strike="noStrike">
                <a:solidFill>
                  <a:srgbClr val="1B1F3B"/>
                </a:solidFill>
                <a:latin typeface="微软雅黑"/>
                <a:ea typeface="微软雅黑"/>
                <a:cs typeface="微软雅黑"/>
                <a:sym typeface="微软雅黑"/>
              </a:rPr>
              <a:t>Target Segments, Pain Points &amp; Value</a:t>
            </a:r>
            <a:endParaRPr lang="en-US" sz="1100"/>
          </a:p>
        </p:txBody>
      </p:sp>
      <p:sp>
        <p:nvSpPr>
          <p:cNvPr id="5" name="AutoShape 5"/>
          <p:cNvSpPr/>
          <p:nvPr/>
        </p:nvSpPr>
        <p:spPr>
          <a:xfrm>
            <a:off x="10541000" y="685800"/>
            <a:ext cx="1143000" cy="406400"/>
          </a:xfrm>
          <a:prstGeom prst="roundRect">
            <a:avLst>
              <a:gd name="adj" fmla="val 18750"/>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541000" y="685800"/>
            <a:ext cx="1143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2000"/>
              </a:lnSpc>
              <a:defRPr/>
            </a:pPr>
            <a:r>
              <a:rPr lang="en-US" sz="1100" b="1" i="0" u="none" strike="noStrike">
                <a:solidFill>
                  <a:srgbClr val="FFFFFF"/>
                </a:solidFill>
                <a:latin typeface="微软雅黑"/>
                <a:ea typeface="微软雅黑"/>
                <a:cs typeface="微软雅黑"/>
                <a:sym typeface="微软雅黑"/>
              </a:rPr>
              <a:t>START</a:t>
            </a:r>
            <a:endParaRPr lang="en-US" sz="1100"/>
          </a:p>
        </p:txBody>
      </p:sp>
      <p:sp>
        <p:nvSpPr>
          <p:cNvPr id="7" name="AutoShape 7"/>
          <p:cNvSpPr/>
          <p:nvPr/>
        </p:nvSpPr>
        <p:spPr>
          <a:xfrm>
            <a:off x="596900" y="29591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1</a:t>
            </a:r>
            <a:endParaRPr lang="en-US" sz="1100"/>
          </a:p>
        </p:txBody>
      </p:sp>
      <p:sp>
        <p:nvSpPr>
          <p:cNvPr id="8" name="AutoShape 8"/>
          <p:cNvSpPr/>
          <p:nvPr/>
        </p:nvSpPr>
        <p:spPr>
          <a:xfrm>
            <a:off x="596900" y="32385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a:solidFill>
                  <a:srgbClr val="1B1F3B"/>
                </a:solidFill>
                <a:latin typeface="微软雅黑"/>
                <a:ea typeface="微软雅黑"/>
                <a:cs typeface="微软雅黑"/>
                <a:sym typeface="微软雅黑"/>
              </a:rPr>
              <a:t>Scenarios &amp; Value</a:t>
            </a:r>
            <a:endParaRPr lang="en-US" sz="1100"/>
          </a:p>
        </p:txBody>
      </p:sp>
      <p:sp>
        <p:nvSpPr>
          <p:cNvPr id="9" name="AutoShape 9"/>
          <p:cNvSpPr/>
          <p:nvPr/>
        </p:nvSpPr>
        <p:spPr>
          <a:xfrm>
            <a:off x="596900" y="4191000"/>
            <a:ext cx="3429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87400" y="4381500"/>
            <a:ext cx="3175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6B35"/>
                </a:solidFill>
                <a:latin typeface="微软雅黑"/>
                <a:ea typeface="微软雅黑"/>
                <a:cs typeface="微软雅黑"/>
                <a:sym typeface="微软雅黑"/>
              </a:rPr>
              <a:t>01 / TARGET USER GROUPS</a:t>
            </a:r>
            <a:endParaRPr lang="en-US" sz="1100"/>
          </a:p>
        </p:txBody>
      </p:sp>
      <p:sp>
        <p:nvSpPr>
          <p:cNvPr id="11" name="AutoShape 11"/>
          <p:cNvSpPr/>
          <p:nvPr/>
        </p:nvSpPr>
        <p:spPr>
          <a:xfrm>
            <a:off x="787400" y="4762500"/>
            <a:ext cx="3048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微软雅黑"/>
                <a:ea typeface="微软雅黑"/>
                <a:cs typeface="微软雅黑"/>
                <a:sym typeface="微软雅黑"/>
              </a:rPr>
              <a:t>Identify the key professional roles and industry segments that are most impacted by operational inefficiencies. We map out who stands to gain the most from UR-Agent's automation and intelligence.</a:t>
            </a:r>
            <a:endParaRPr lang="en-US" sz="1100"/>
          </a:p>
        </p:txBody>
      </p:sp>
      <p:sp>
        <p:nvSpPr>
          <p:cNvPr id="12" name="AutoShape 12"/>
          <p:cNvSpPr/>
          <p:nvPr/>
        </p:nvSpPr>
        <p:spPr>
          <a:xfrm>
            <a:off x="4381500" y="4191000"/>
            <a:ext cx="3429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572000" y="4381500"/>
            <a:ext cx="3175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6B35"/>
                </a:solidFill>
                <a:latin typeface="微软雅黑"/>
                <a:ea typeface="微软雅黑"/>
                <a:cs typeface="微软雅黑"/>
                <a:sym typeface="微软雅黑"/>
              </a:rPr>
              <a:t>02 / CRITICAL PAIN POINTS</a:t>
            </a:r>
            <a:endParaRPr lang="en-US" sz="1100"/>
          </a:p>
        </p:txBody>
      </p:sp>
      <p:sp>
        <p:nvSpPr>
          <p:cNvPr id="14" name="AutoShape 14"/>
          <p:cNvSpPr/>
          <p:nvPr/>
        </p:nvSpPr>
        <p:spPr>
          <a:xfrm>
            <a:off x="4572000" y="4762500"/>
            <a:ext cx="3048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微软雅黑"/>
                <a:ea typeface="微软雅黑"/>
                <a:cs typeface="微软雅黑"/>
                <a:sym typeface="微软雅黑"/>
              </a:rPr>
              <a:t>Uncover the bottlenecks in daily workflows—from repetitive manual tasks to delayed decision-making and information silos. These challenges directly hinder productivity and scalability.</a:t>
            </a:r>
            <a:endParaRPr lang="en-US" sz="1100"/>
          </a:p>
        </p:txBody>
      </p:sp>
      <p:sp>
        <p:nvSpPr>
          <p:cNvPr id="15" name="AutoShape 15"/>
          <p:cNvSpPr/>
          <p:nvPr/>
        </p:nvSpPr>
        <p:spPr>
          <a:xfrm>
            <a:off x="8166100" y="4191000"/>
            <a:ext cx="3429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356600" y="4381500"/>
            <a:ext cx="3175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6B35"/>
                </a:solidFill>
                <a:latin typeface="微软雅黑"/>
                <a:ea typeface="微软雅黑"/>
                <a:cs typeface="微软雅黑"/>
                <a:sym typeface="微软雅黑"/>
              </a:rPr>
              <a:t>03 / CORE VALUE PROPOSITION</a:t>
            </a:r>
            <a:endParaRPr lang="en-US" sz="1100"/>
          </a:p>
        </p:txBody>
      </p:sp>
      <p:sp>
        <p:nvSpPr>
          <p:cNvPr id="17" name="AutoShape 17"/>
          <p:cNvSpPr/>
          <p:nvPr/>
        </p:nvSpPr>
        <p:spPr>
          <a:xfrm>
            <a:off x="8356600" y="4762500"/>
            <a:ext cx="3048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微软雅黑"/>
                <a:ea typeface="微软雅黑"/>
                <a:cs typeface="微软雅黑"/>
                <a:sym typeface="微软雅黑"/>
              </a:rPr>
              <a:t>Demonstrate how UR-Agent transforms pain points into opportunities—delivering tangible efficiency gains, cost reduction, and enhanced decision support across the entire operational spectrum.</a:t>
            </a:r>
            <a:endParaRPr lang="en-US" sz="1100"/>
          </a:p>
        </p:txBody>
      </p:sp>
      <p:sp>
        <p:nvSpPr>
          <p:cNvPr id="18" name="AutoShape 18"/>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01</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42900" y="2794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01 / 核心定位与痛点分析</a:t>
            </a:r>
            <a:endParaRPr lang="en-US" sz="1100"/>
          </a:p>
        </p:txBody>
      </p:sp>
      <p:sp>
        <p:nvSpPr>
          <p:cNvPr id="3" name="AutoShape 3"/>
          <p:cNvSpPr/>
          <p:nvPr/>
        </p:nvSpPr>
        <p:spPr>
          <a:xfrm>
            <a:off x="342900" y="609600"/>
            <a:ext cx="11176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Target Users &amp; Core Pain Points</a:t>
            </a:r>
            <a:endParaRPr lang="en-US" sz="1100"/>
          </a:p>
        </p:txBody>
      </p:sp>
      <p:sp>
        <p:nvSpPr>
          <p:cNvPr id="4" name="AutoShape 4"/>
          <p:cNvSpPr/>
          <p:nvPr/>
        </p:nvSpPr>
        <p:spPr>
          <a:xfrm>
            <a:off x="342900" y="1333500"/>
            <a:ext cx="111760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595959"/>
                </a:solidFill>
                <a:latin typeface="Arial" panose="020B0604020202090204"/>
                <a:ea typeface="Arial" panose="020B0604020202090204"/>
                <a:cs typeface="Arial" panose="020B0604020202090204"/>
                <a:sym typeface="Arial" panose="020B0604020202090204"/>
              </a:rPr>
              <a:t>We focus on small and medium-sized organizations and individuals with chaotic resource management, blurred identity boundaries, and strong privacy concerns, addressing their efficiency bottlenecks and security risks in daily operations.</a:t>
            </a:r>
            <a:endParaRPr lang="en-US" sz="1100"/>
          </a:p>
        </p:txBody>
      </p:sp>
      <p:sp>
        <p:nvSpPr>
          <p:cNvPr id="5" name="AutoShape 5"/>
          <p:cNvSpPr/>
          <p:nvPr/>
        </p:nvSpPr>
        <p:spPr>
          <a:xfrm>
            <a:off x="342900" y="2286000"/>
            <a:ext cx="5461000" cy="3556000"/>
          </a:xfrm>
          <a:prstGeom prst="roundRect">
            <a:avLst>
              <a:gd name="adj" fmla="val 0"/>
            </a:avLst>
          </a:prstGeom>
          <a:solidFill>
            <a:srgbClr val="F9FAFB">
              <a:alpha val="100000"/>
            </a:srgbClr>
          </a:solidFill>
          <a:ln w="25400" cap="flat" cmpd="sng">
            <a:noFill/>
            <a:prstDash val="solid"/>
            <a:round/>
          </a:ln>
        </p:spPr>
        <p:txBody>
          <a:bodyPr vert="horz" wrap="square" lIns="152400" tIns="152400" rIns="152400" bIns="152400" rtlCol="0" anchor="ctr" anchorCtr="0"/>
          <a:lstStyle/>
          <a:p>
            <a:pPr marL="0" indent="0" algn="l">
              <a:lnSpc>
                <a:spcPct val="100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Three Typical User Scenarios</a:t>
            </a:r>
            <a:endParaRPr lang="en-US" sz="1100"/>
          </a:p>
          <a:p>
            <a:pPr marL="0" indent="0" algn="l">
              <a:lnSpc>
                <a:spcPct val="108000"/>
              </a:lnSpc>
              <a:spcBef>
                <a:spcPts val="8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1. Small Taobao Sellers:</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Inventory, purchases, sales, and cash flow rely on manual tracking. Checking stock needs cross-referencing multiple spreadsheets, leading to inefficiency and frequent errors.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a:p>
            <a:pPr marL="0" indent="0" algn="l">
              <a:lnSpc>
                <a:spcPct val="108000"/>
              </a:lnSpc>
              <a:spcBef>
                <a:spcPts val="6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2. Families / Elderly Care Teams:</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Members juggle multiple roles to manage meds, health alerts, and household tasks, causing serious information fragmentation and missed updates.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a:p>
            <a:pPr marL="0" indent="0" algn="l">
              <a:lnSpc>
                <a:spcPct val="108000"/>
              </a:lnSpc>
              <a:spcBef>
                <a:spcPts val="6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3. Community / Project Teams:</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No unified tools for material allocation, task division, or intelligence sync, resulting in sky-high communication costs and operational chaos.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096000" y="2286000"/>
            <a:ext cx="5461000" cy="3556000"/>
          </a:xfrm>
          <a:prstGeom prst="roundRect">
            <a:avLst>
              <a:gd name="adj" fmla="val 0"/>
            </a:avLst>
          </a:prstGeom>
          <a:solidFill>
            <a:srgbClr val="F9FAFB">
              <a:alpha val="100000"/>
            </a:srgbClr>
          </a:solidFill>
          <a:ln w="25400" cap="flat" cmpd="sng">
            <a:noFill/>
            <a:prstDash val="solid"/>
            <a:round/>
          </a:ln>
        </p:spPr>
        <p:txBody>
          <a:bodyPr vert="horz" wrap="square" lIns="152400" tIns="152400" rIns="152400" bIns="152400" rtlCol="0" anchor="ctr" anchorCtr="0"/>
          <a:lstStyle/>
          <a:p>
            <a:pPr marL="0" indent="0" algn="l">
              <a:lnSpc>
                <a:spcPct val="100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Four Core Pain Points</a:t>
            </a:r>
            <a:endParaRPr lang="en-US" sz="1100"/>
          </a:p>
          <a:p>
            <a:pPr marL="0" indent="0" algn="l">
              <a:lnSpc>
                <a:spcPct val="108000"/>
              </a:lnSpc>
              <a:spcBef>
                <a:spcPts val="8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1. Dispersed Resources:</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Assets, people, and financial data are siloed across systems or paper, lacking unified visibility for quick queries and statistics.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a:p>
            <a:pPr marL="0" indent="0" algn="l">
              <a:lnSpc>
                <a:spcPct val="108000"/>
              </a:lnSpc>
              <a:spcBef>
                <a:spcPts val="6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2. Mixed Identities Risk:</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Blurred personal/professional roles (e.g., buyer/parent) cause data confusion and significant privacy leakage risks.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a:p>
            <a:pPr marL="0" indent="0" algn="l">
              <a:lnSpc>
                <a:spcPct val="108000"/>
              </a:lnSpc>
              <a:spcBef>
                <a:spcPts val="6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3. AI Inaction:</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Generic LLMs fail to connect with local business databases or execute real operational commands for daily tasks.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a:p>
            <a:pPr marL="0" indent="0" algn="l">
              <a:lnSpc>
                <a:spcPct val="108000"/>
              </a:lnSpc>
              <a:spcBef>
                <a:spcPts val="600"/>
              </a:spcBef>
            </a:pPr>
            <a:r>
              <a:rPr lang="en-US" sz="1400" b="1" i="0" u="none" strike="noStrike">
                <a:solidFill>
                  <a:srgbClr val="1B1F3B"/>
                </a:solidFill>
                <a:latin typeface="Arial" panose="020B0604020202090204"/>
                <a:ea typeface="Arial" panose="020B0604020202090204"/>
                <a:cs typeface="Arial" panose="020B0604020202090204"/>
                <a:sym typeface="Arial" panose="020B0604020202090204"/>
              </a:rPr>
              <a:t>4. Privacy &amp; Compliance:</a:t>
            </a:r>
            <a:r>
              <a:rPr lang="en-US" sz="1300" b="0" i="0" u="none" strike="noStrike">
                <a:solidFill>
                  <a:srgbClr val="505050"/>
                </a:solidFill>
                <a:latin typeface="Arial" panose="020B0604020202090204"/>
                <a:ea typeface="Arial" panose="020B0604020202090204"/>
                <a:cs typeface="Arial" panose="020B0604020202090204"/>
                <a:sym typeface="Arial" panose="020B0604020202090204"/>
              </a:rPr>
              <a:t>Sensitive financial/health data cannot be cloud-uploaded, demanding localized, private, and secure management solutions.</a:t>
            </a: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p:txBody>
      </p:sp>
      <p:sp>
        <p:nvSpPr>
          <p:cNvPr id="7" name="AutoShape 7"/>
          <p:cNvSpPr/>
          <p:nvPr/>
        </p:nvSpPr>
        <p:spPr>
          <a:xfrm>
            <a:off x="342900" y="5969000"/>
            <a:ext cx="11214100" cy="762000"/>
          </a:xfrm>
          <a:prstGeom prst="roundRect">
            <a:avLst>
              <a:gd name="adj" fmla="val 0"/>
            </a:avLst>
          </a:prstGeom>
          <a:solidFill>
            <a:srgbClr val="FFF5EE">
              <a:alpha val="100000"/>
            </a:srgbClr>
          </a:solidFill>
          <a:ln w="25400" cap="flat" cmpd="sng">
            <a:noFill/>
            <a:prstDash val="solid"/>
            <a:round/>
          </a:ln>
        </p:spPr>
        <p:txBody>
          <a:bodyPr vert="horz" wrap="square" lIns="190500" tIns="127000" rIns="190500" bIns="127000" rtlCol="0" anchor="ctr" anchorCtr="0"/>
          <a:lstStyle/>
          <a:p>
            <a:pPr marL="0" indent="0" algn="ctr">
              <a:lnSpc>
                <a:spcPct val="100000"/>
              </a:lnSpc>
              <a:defRPr/>
            </a:pPr>
            <a:r>
              <a:rPr lang="en-US" sz="1300" b="1" i="0" u="none" strike="noStrike">
                <a:solidFill>
                  <a:srgbClr val="FF6B35"/>
                </a:solidFill>
                <a:latin typeface="Noto Sans SC"/>
                <a:ea typeface="Noto Sans SC"/>
                <a:cs typeface="Noto Sans SC"/>
                <a:sym typeface="Noto Sans SC"/>
              </a:rPr>
              <a:t>Core Opportunity:</a:t>
            </a:r>
            <a:r>
              <a:rPr lang="en-US" sz="1200" b="0" i="0" u="none" strike="noStrike">
                <a:solidFill>
                  <a:srgbClr val="1F2329"/>
                </a:solidFill>
                <a:latin typeface="Noto Sans SC"/>
                <a:ea typeface="Noto Sans SC"/>
                <a:cs typeface="Noto Sans SC"/>
                <a:sym typeface="Noto Sans SC"/>
              </a:rPr>
              <a:t>The convergence of these pain points creates an urgent need for lightweight, privatized, and intelligent resource management tools—this is the core market entry value we aim to deliver.</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42900" y="2794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01 核心价值与优势</a:t>
            </a:r>
            <a:endParaRPr lang="en-US" sz="1100"/>
          </a:p>
        </p:txBody>
      </p:sp>
      <p:sp>
        <p:nvSpPr>
          <p:cNvPr id="3" name="AutoShape 3"/>
          <p:cNvSpPr/>
          <p:nvPr/>
        </p:nvSpPr>
        <p:spPr>
          <a:xfrm>
            <a:off x="342900" y="1079500"/>
            <a:ext cx="1117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2000"/>
              </a:lnSpc>
              <a:defRPr/>
            </a:pPr>
            <a:r>
              <a:rPr lang="en-US" sz="2200" b="1" i="0" u="none" strike="noStrike">
                <a:solidFill>
                  <a:srgbClr val="1B1F3B"/>
                </a:solidFill>
                <a:latin typeface="Arial" panose="020B0604020202090204"/>
                <a:ea typeface="Arial" panose="020B0604020202090204"/>
                <a:cs typeface="Arial" panose="020B0604020202090204"/>
                <a:sym typeface="Arial" panose="020B0604020202090204"/>
              </a:rPr>
              <a:t>Quantifiable Value &amp; Differentiation</a:t>
            </a:r>
            <a:endParaRPr lang="en-US" sz="1100"/>
          </a:p>
        </p:txBody>
      </p:sp>
      <p:sp>
        <p:nvSpPr>
          <p:cNvPr id="4" name="AutoShape 4"/>
          <p:cNvSpPr/>
          <p:nvPr/>
        </p:nvSpPr>
        <p:spPr>
          <a:xfrm>
            <a:off x="342900" y="1905000"/>
            <a:ext cx="111760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8000"/>
              </a:lnSpc>
              <a:defRPr/>
            </a:pPr>
            <a:r>
              <a:rPr lang="en-US" sz="1400" b="0" i="0" u="none" strike="noStrike">
                <a:solidFill>
                  <a:srgbClr val="595959"/>
                </a:solidFill>
                <a:latin typeface="Arial" panose="020B0604020202090204"/>
                <a:ea typeface="Arial" panose="020B0604020202090204"/>
                <a:cs typeface="Arial" panose="020B0604020202090204"/>
                <a:sym typeface="Arial" panose="020B0604020202090204"/>
              </a:rPr>
              <a:t>We provide efficiency improvements from "minute-level" to "second-level" and have a unique market positioning.</a:t>
            </a:r>
            <a:endParaRPr lang="en-US" sz="1100"/>
          </a:p>
        </p:txBody>
      </p:sp>
      <p:sp>
        <p:nvSpPr>
          <p:cNvPr id="5" name="AutoShape 5"/>
          <p:cNvSpPr/>
          <p:nvPr/>
        </p:nvSpPr>
        <p:spPr>
          <a:xfrm>
            <a:off x="381000" y="2921000"/>
            <a:ext cx="5461000" cy="3302000"/>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228600" tIns="190500" rIns="228600" bIns="1905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Efficiency Improvement: From "Manual Work" to "AI Seconds"</a:t>
            </a:r>
            <a:endParaRPr lang="en-US" sz="1100"/>
          </a:p>
          <a:p>
            <a:pPr marL="0" indent="0" algn="l">
              <a:lnSpc>
                <a:spcPct val="108000"/>
              </a:lnSpc>
              <a:spcBef>
                <a:spcPts val="800"/>
              </a:spcBef>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Inventory Query:</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Time reduced from 5 minutes to seconds, eliminating spreadsheet searches for instant outbound, transfer, and inventory status checks.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Asset Transfer:</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Cross-org approval workflows become natural language-driven, with AI auto-executing and logging every step for full traceability.</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Financial Statistics:</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Month-end manual summaries evolve into real-time dynamic updates, letting managers grasp cash flow instantly to support agile decisions.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Knowledge Retrieval:</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Replacing shared drive/Word log searches with semantic lookup to quickly locate key info and make tacit organizational knowledge explicit.</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096000" y="2921000"/>
            <a:ext cx="5461000" cy="3302000"/>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228600" tIns="190500" rIns="228600" bIns="1905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Model Barrier: High Replicability &amp; Unique Value</a:t>
            </a:r>
            <a:endParaRPr lang="en-US" sz="1100"/>
          </a:p>
          <a:p>
            <a:pPr marL="0" indent="0" algn="l">
              <a:lnSpc>
                <a:spcPct val="108000"/>
              </a:lnSpc>
              <a:spcBef>
                <a:spcPts val="800"/>
              </a:spcBef>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Horizontal Replication:</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Not limited to a single industry; applicable to diverse scenarios (finance, materials, household management, knowledge bases) for SMEs, families, labs, and teams.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Vertical Replication:</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Extends seamlessly into vertical domains like project collaboration, CRM systems, and industrial equipment operation &amp; maintenance on its core foundation.</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Differentiation vs. ERPs:</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No huge deployment costs or specialized IT teams required. Supports rapid local deployment and natural language interaction, drastically lowering adoption barriers.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29591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2</a:t>
            </a:r>
            <a:endParaRPr lang="en-US" sz="1100"/>
          </a:p>
        </p:txBody>
      </p:sp>
      <p:sp>
        <p:nvSpPr>
          <p:cNvPr id="3" name="AutoShape 3"/>
          <p:cNvSpPr/>
          <p:nvPr/>
        </p:nvSpPr>
        <p:spPr>
          <a:xfrm>
            <a:off x="596900" y="32385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900" b="1" i="0" u="none" strike="noStrike">
                <a:solidFill>
                  <a:srgbClr val="1B1F3B"/>
                </a:solidFill>
                <a:latin typeface="微软雅黑"/>
                <a:ea typeface="微软雅黑"/>
                <a:cs typeface="微软雅黑"/>
                <a:sym typeface="微软雅黑"/>
              </a:rPr>
              <a:t>Solution Overview</a:t>
            </a:r>
            <a:endParaRPr lang="en-US" sz="1100"/>
          </a:p>
        </p:txBody>
      </p:sp>
      <p:sp>
        <p:nvSpPr>
          <p:cNvPr id="4" name="AutoShape 4"/>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4</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架构设计 · 核心概览</a:t>
            </a:r>
            <a:endParaRPr lang="en-US" sz="1100"/>
          </a:p>
        </p:txBody>
      </p:sp>
      <p:sp>
        <p:nvSpPr>
          <p:cNvPr id="3" name="AutoShape 3"/>
          <p:cNvSpPr/>
          <p:nvPr/>
        </p:nvSpPr>
        <p:spPr>
          <a:xfrm>
            <a:off x="596900" y="6604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Overall Technical Architecture</a:t>
            </a:r>
            <a:endParaRPr lang="en-US" sz="1100"/>
          </a:p>
        </p:txBody>
      </p:sp>
      <p:sp>
        <p:nvSpPr>
          <p:cNvPr id="4" name="AutoShape 4"/>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03</a:t>
            </a:r>
            <a:endParaRPr lang="en-US" sz="1100"/>
          </a:p>
        </p:txBody>
      </p:sp>
      <p:sp>
        <p:nvSpPr>
          <p:cNvPr id="5" name="AutoShape 5"/>
          <p:cNvSpPr/>
          <p:nvPr/>
        </p:nvSpPr>
        <p:spPr>
          <a:xfrm>
            <a:off x="520700" y="1206500"/>
            <a:ext cx="111760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92000"/>
              </a:lnSpc>
              <a:defRPr/>
            </a:pPr>
            <a:r>
              <a:rPr lang="en-US" sz="1400" b="0" i="0" u="none" strike="noStrike">
                <a:solidFill>
                  <a:srgbClr val="505050"/>
                </a:solidFill>
                <a:latin typeface="Arial" panose="020B0604020202090204"/>
                <a:ea typeface="Arial" panose="020B0604020202090204"/>
                <a:cs typeface="Arial" panose="020B0604020202090204"/>
                <a:sym typeface="Arial" panose="020B0604020202090204"/>
              </a:rPr>
              <a:t>Layered and decoupled, achieving a complete technical closed loop from frontend interaction to local model inference, ensuring system scalability and data security.</a:t>
            </a:r>
            <a:endParaRPr lang="en-US" sz="1100"/>
          </a:p>
        </p:txBody>
      </p:sp>
      <p:sp>
        <p:nvSpPr>
          <p:cNvPr id="6" name="AutoShape 6"/>
          <p:cNvSpPr/>
          <p:nvPr/>
        </p:nvSpPr>
        <p:spPr>
          <a:xfrm>
            <a:off x="2171700" y="1841500"/>
            <a:ext cx="7835900" cy="9144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2298700" y="1905000"/>
            <a:ext cx="75819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2563EB"/>
                </a:solidFill>
                <a:latin typeface="Arial" panose="020B0604020202090204"/>
                <a:ea typeface="Arial" panose="020B0604020202090204"/>
                <a:cs typeface="Arial" panose="020B0604020202090204"/>
                <a:sym typeface="Arial" panose="020B0604020202090204"/>
              </a:rPr>
              <a:t>01 Presentation Layer</a:t>
            </a:r>
            <a:endParaRPr lang="en-US" sz="1100"/>
          </a:p>
          <a:p>
            <a:pPr marL="0" indent="0" algn="l">
              <a:lnSpc>
                <a:spcPct val="92000"/>
              </a:lnSpc>
            </a:pP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Provides Vue 3 SPA and Gradio debugging interfaces; supports real-time multi-space switching and multi-dashboard workflow to meet flexible and efficient asset interaction and management needs.</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p:txBody>
      </p:sp>
      <p:sp>
        <p:nvSpPr>
          <p:cNvPr id="8" name="AutoShape 8"/>
          <p:cNvSpPr/>
          <p:nvPr/>
        </p:nvSpPr>
        <p:spPr>
          <a:xfrm>
            <a:off x="2171700" y="2857500"/>
            <a:ext cx="7835900" cy="914400"/>
          </a:xfrm>
          <a:prstGeom prst="roundRect">
            <a:avLst>
              <a:gd name="adj" fmla="val 0"/>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2298700" y="2921000"/>
            <a:ext cx="75819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059669"/>
                </a:solidFill>
                <a:latin typeface="Arial" panose="020B0604020202090204"/>
                <a:ea typeface="Arial" panose="020B0604020202090204"/>
                <a:cs typeface="Arial" panose="020B0604020202090204"/>
                <a:sym typeface="Arial" panose="020B0604020202090204"/>
              </a:rPr>
              <a:t>02 Service Layer</a:t>
            </a:r>
            <a:endParaRPr lang="en-US" sz="1100"/>
          </a:p>
          <a:p>
            <a:pPr marL="0" indent="0" algn="l">
              <a:lnSpc>
                <a:spcPct val="92000"/>
              </a:lnSpc>
            </a:pP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Built on FastAPI for high-performance backend services, with core integration of LangChain Agents to achieve complex task planning, splitting, execution, reflection, and result feedback.</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p:txBody>
      </p:sp>
      <p:sp>
        <p:nvSpPr>
          <p:cNvPr id="10" name="AutoShape 10"/>
          <p:cNvSpPr/>
          <p:nvPr/>
        </p:nvSpPr>
        <p:spPr>
          <a:xfrm>
            <a:off x="2171700" y="3873500"/>
            <a:ext cx="7835900" cy="914400"/>
          </a:xfrm>
          <a:prstGeom prst="roundRect">
            <a:avLst>
              <a:gd name="adj" fmla="val 0"/>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298700" y="3937000"/>
            <a:ext cx="75819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D97706"/>
                </a:solidFill>
                <a:latin typeface="Arial" panose="020B0604020202090204"/>
                <a:ea typeface="Arial" panose="020B0604020202090204"/>
                <a:cs typeface="Arial" panose="020B0604020202090204"/>
                <a:sym typeface="Arial" panose="020B0604020202090204"/>
              </a:rPr>
              <a:t>03 Data &amp; Tool Layer</a:t>
            </a:r>
            <a:endParaRPr lang="en-US" sz="1100"/>
          </a:p>
          <a:p>
            <a:pPr marL="0" indent="0" algn="l">
              <a:lnSpc>
                <a:spcPct val="92000"/>
              </a:lnSpc>
            </a:pP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Relies on PostgreSQL (pgvector) for unified storage of heterogeneous and vector data; encapsulates core tools for assets, finance, HR, and knowledge, enabling flexible invocation via standardized interfaces.</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p:txBody>
      </p:sp>
      <p:sp>
        <p:nvSpPr>
          <p:cNvPr id="12" name="AutoShape 12"/>
          <p:cNvSpPr/>
          <p:nvPr/>
        </p:nvSpPr>
        <p:spPr>
          <a:xfrm>
            <a:off x="2171700" y="4889500"/>
            <a:ext cx="7835900" cy="914400"/>
          </a:xfrm>
          <a:prstGeom prst="roundRect">
            <a:avLst>
              <a:gd name="adj" fmla="val 0"/>
            </a:avLst>
          </a:prstGeom>
          <a:solidFill>
            <a:srgbClr val="F5F3FF">
              <a:alpha val="100000"/>
            </a:srgbClr>
          </a:solidFill>
          <a:ln w="12700" cap="flat" cmpd="sng">
            <a:solidFill>
              <a:srgbClr val="DDD6FE">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2298700" y="4953000"/>
            <a:ext cx="7581900" cy="787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7C3AED"/>
                </a:solidFill>
                <a:latin typeface="Arial" panose="020B0604020202090204"/>
                <a:ea typeface="Arial" panose="020B0604020202090204"/>
                <a:cs typeface="Arial" panose="020B0604020202090204"/>
                <a:sym typeface="Arial" panose="020B0604020202090204"/>
              </a:rPr>
              <a:t>04 Inference Engine</a:t>
            </a:r>
            <a:endParaRPr lang="en-US" sz="1100"/>
          </a:p>
          <a:p>
            <a:pPr marL="0" indent="0" algn="l">
              <a:lnSpc>
                <a:spcPct val="92000"/>
              </a:lnSpc>
            </a:pP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Built on llama.cpp, compatible with local LLM deployments; uses Qwen3-Coder-30B as the core LLM and Embedding models to ensure local computation, guaranteeing data privacy and inference efficiency.</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04 核心技术选型</a:t>
            </a:r>
            <a:endParaRPr lang="en-US" sz="1100"/>
          </a:p>
        </p:txBody>
      </p:sp>
      <p:sp>
        <p:nvSpPr>
          <p:cNvPr id="3" name="AutoShape 3"/>
          <p:cNvSpPr/>
          <p:nvPr/>
        </p:nvSpPr>
        <p:spPr>
          <a:xfrm>
            <a:off x="596900" y="660400"/>
            <a:ext cx="10998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Key Technology Selections &amp; Rationale</a:t>
            </a:r>
            <a:endParaRPr lang="en-US" sz="1100"/>
          </a:p>
        </p:txBody>
      </p:sp>
      <p:sp>
        <p:nvSpPr>
          <p:cNvPr id="4" name="AutoShape 4"/>
          <p:cNvSpPr/>
          <p:nvPr/>
        </p:nvSpPr>
        <p:spPr>
          <a:xfrm>
            <a:off x="596900" y="1460500"/>
            <a:ext cx="10998200" cy="762000"/>
          </a:xfrm>
          <a:prstGeom prst="roundRect">
            <a:avLst>
              <a:gd name="adj" fmla="val 0"/>
            </a:avLst>
          </a:prstGeom>
          <a:noFill/>
          <a:ln w="25400" cap="flat" cmpd="sng">
            <a:noFill/>
            <a:prstDash val="solid"/>
            <a:round/>
          </a:ln>
        </p:spPr>
        <p:txBody>
          <a:bodyPr vert="horz" wrap="square" lIns="0" tIns="50800" rIns="0" bIns="50800" rtlCol="0" anchor="t" anchorCtr="0"/>
          <a:lstStyle/>
          <a:p>
            <a:pPr marL="0" indent="0" algn="l">
              <a:lnSpc>
                <a:spcPct val="100000"/>
              </a:lnSpc>
              <a:defRPr/>
            </a:pPr>
            <a:r>
              <a:rPr lang="en-US" sz="1400" b="0" i="0" u="none" strike="noStrike">
                <a:solidFill>
                  <a:srgbClr val="595F6D"/>
                </a:solidFill>
                <a:latin typeface="Arial" panose="020B0604020202090204"/>
                <a:ea typeface="Arial" panose="020B0604020202090204"/>
                <a:cs typeface="Arial" panose="020B0604020202090204"/>
                <a:sym typeface="Arial" panose="020B0604020202090204"/>
              </a:rPr>
              <a:t>Each technology selection serves the core goals of "lightweight, local, secure", balancing framework flexibility with business practicality.</a:t>
            </a:r>
            <a:endParaRPr lang="en-US" sz="1100"/>
          </a:p>
        </p:txBody>
      </p:sp>
      <p:sp>
        <p:nvSpPr>
          <p:cNvPr id="5" name="AutoShape 5"/>
          <p:cNvSpPr/>
          <p:nvPr/>
        </p:nvSpPr>
        <p:spPr>
          <a:xfrm>
            <a:off x="596900" y="2286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87400" y="2476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01 Agent Framework · LangChain</a:t>
            </a:r>
            <a:endParaRPr lang="en-US" sz="1100"/>
          </a:p>
        </p:txBody>
      </p:sp>
      <p:sp>
        <p:nvSpPr>
          <p:cNvPr id="7" name="AutoShape 7"/>
          <p:cNvSpPr/>
          <p:nvPr/>
        </p:nvSpPr>
        <p:spPr>
          <a:xfrm>
            <a:off x="787400" y="2921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Provides standardized Tool calling interfaces and Prompt templating capabilities, supporting flexible chain call orchestration. Enables rapid implementation of multi-Agent collaborative interaction and task distribution, significantly lowering development and maintenance costs.</a:t>
            </a:r>
            <a:endParaRPr lang="en-US" sz="1100"/>
          </a:p>
        </p:txBody>
      </p:sp>
      <p:sp>
        <p:nvSpPr>
          <p:cNvPr id="8" name="AutoShape 8"/>
          <p:cNvSpPr/>
          <p:nvPr/>
        </p:nvSpPr>
        <p:spPr>
          <a:xfrm>
            <a:off x="6261100" y="2286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51600" y="2476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02 LLM Backend · llama.cpp + ROCm</a:t>
            </a:r>
            <a:endParaRPr lang="en-US" sz="1100"/>
          </a:p>
        </p:txBody>
      </p:sp>
      <p:sp>
        <p:nvSpPr>
          <p:cNvPr id="10" name="AutoShape 10"/>
          <p:cNvSpPr/>
          <p:nvPr/>
        </p:nvSpPr>
        <p:spPr>
          <a:xfrm>
            <a:off x="6451600" y="2921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Deeply adapted for quantized model inference, making full use of AMD GPU computing power for efficient local inference. Ensures business data is processed locally within a closed loop, never leaving the domain, effectively guaranteeing data privacy and compliance.</a:t>
            </a:r>
            <a:endParaRPr lang="en-US" sz="1100"/>
          </a:p>
        </p:txBody>
      </p:sp>
      <p:sp>
        <p:nvSpPr>
          <p:cNvPr id="11" name="AutoShape 11"/>
          <p:cNvSpPr/>
          <p:nvPr/>
        </p:nvSpPr>
        <p:spPr>
          <a:xfrm>
            <a:off x="596900" y="4318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87400" y="4508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03 Vector Retrieval · pgvector (PostgreSQL)</a:t>
            </a:r>
            <a:endParaRPr lang="en-US" sz="1100"/>
          </a:p>
        </p:txBody>
      </p:sp>
      <p:sp>
        <p:nvSpPr>
          <p:cNvPr id="13" name="AutoShape 13"/>
          <p:cNvSpPr/>
          <p:nvPr/>
        </p:nvSpPr>
        <p:spPr>
          <a:xfrm>
            <a:off x="787400" y="4953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Based on the PostgreSQL ecosystem, it achieves efficient unified storage and retrieval of relational and vector data, reducing system component dependencies, improving the accuracy of content understanding, and providing good scalability and stability.</a:t>
            </a:r>
            <a:endParaRPr lang="en-US" sz="1100"/>
          </a:p>
        </p:txBody>
      </p:sp>
      <p:sp>
        <p:nvSpPr>
          <p:cNvPr id="14" name="AutoShape 14"/>
          <p:cNvSpPr/>
          <p:nvPr/>
        </p:nvSpPr>
        <p:spPr>
          <a:xfrm>
            <a:off x="6261100" y="4318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51600" y="4445000"/>
            <a:ext cx="4953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6B35"/>
                </a:solidFill>
                <a:latin typeface="Arial" panose="020B0604020202090204"/>
                <a:ea typeface="Arial" panose="020B0604020202090204"/>
                <a:cs typeface="Arial" panose="020B0604020202090204"/>
                <a:sym typeface="Arial" panose="020B0604020202090204"/>
              </a:rPr>
              <a:t>04 Multi-tenancy Isolation · oid + puid Identity System</a:t>
            </a:r>
            <a:endParaRPr lang="en-US" sz="1100"/>
          </a:p>
        </p:txBody>
      </p:sp>
      <p:sp>
        <p:nvSpPr>
          <p:cNvPr id="16" name="AutoShape 16"/>
          <p:cNvSpPr/>
          <p:nvPr/>
        </p:nvSpPr>
        <p:spPr>
          <a:xfrm>
            <a:off x="6451600" y="4953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Uses a lightweight business identity isolation scheme without introducing complex RBAC permission systems. Achieves logical isolation and secure access control of data between organizations, better suited for agile development and rapid business iteration.</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3</a:t>
            </a:r>
            <a:endParaRPr lang="en-US" sz="1100"/>
          </a:p>
        </p:txBody>
      </p:sp>
      <p:sp>
        <p:nvSpPr>
          <p:cNvPr id="3" name="AutoShape 3"/>
          <p:cNvSpPr/>
          <p:nvPr/>
        </p:nvSpPr>
        <p:spPr>
          <a:xfrm>
            <a:off x="596900" y="2971800"/>
            <a:ext cx="2540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FF6B35"/>
                </a:solidFill>
                <a:latin typeface="微软雅黑"/>
                <a:ea typeface="微软雅黑"/>
                <a:cs typeface="微软雅黑"/>
                <a:sym typeface="微软雅黑"/>
              </a:rPr>
              <a:t>Chapter 3</a:t>
            </a:r>
            <a:endParaRPr lang="en-US" sz="1100"/>
          </a:p>
        </p:txBody>
      </p:sp>
      <p:sp>
        <p:nvSpPr>
          <p:cNvPr id="4" name="AutoShape 4"/>
          <p:cNvSpPr/>
          <p:nvPr/>
        </p:nvSpPr>
        <p:spPr>
          <a:xfrm>
            <a:off x="596900" y="3365500"/>
            <a:ext cx="6985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1B1F3B"/>
                </a:solidFill>
                <a:latin typeface="微软雅黑"/>
                <a:ea typeface="微软雅黑"/>
                <a:cs typeface="微软雅黑"/>
                <a:sym typeface="微软雅黑"/>
              </a:rPr>
              <a:t>Multi-Agent Collaboration Design</a:t>
            </a:r>
            <a:endParaRPr lang="en-US" sz="1100"/>
          </a:p>
        </p:txBody>
      </p:sp>
      <p:sp>
        <p:nvSpPr>
          <p:cNvPr id="5" name="AutoShape 5"/>
          <p:cNvSpPr/>
          <p:nvPr/>
        </p:nvSpPr>
        <p:spPr>
          <a:xfrm>
            <a:off x="6985000" y="457200"/>
            <a:ext cx="4826000" cy="787400"/>
          </a:xfrm>
          <a:prstGeom prst="roundRect">
            <a:avLst>
              <a:gd name="adj" fmla="val 11290"/>
            </a:avLst>
          </a:prstGeom>
          <a:solidFill>
            <a:srgbClr val="FFEDE4">
              <a:alpha val="100000"/>
            </a:srgbClr>
          </a:solidFill>
          <a:ln w="12700" cap="flat" cmpd="sng">
            <a:solidFill>
              <a:srgbClr val="FF6B35">
                <a:alpha val="100000"/>
              </a:srgbClr>
            </a:solidFill>
            <a:prstDash val="solid"/>
            <a:miter lim="100000000"/>
          </a:ln>
        </p:spPr>
        <p:txBody>
          <a:bodyPr vert="horz" wrap="square" lIns="63500" tIns="63500" rIns="63500" bIns="63500" rtlCol="0" anchor="ctr"/>
          <a:lstStyle/>
          <a:p>
            <a:pPr algn="ctr">
              <a:defRPr/>
            </a:pPr>
          </a:p>
        </p:txBody>
      </p:sp>
      <p:sp>
        <p:nvSpPr>
          <p:cNvPr id="6" name="AutoShape 6"/>
          <p:cNvSpPr/>
          <p:nvPr/>
        </p:nvSpPr>
        <p:spPr>
          <a:xfrm>
            <a:off x="7137400" y="558800"/>
            <a:ext cx="3810000" cy="228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900" b="1" i="0" u="none" strike="noStrike">
                <a:solidFill>
                  <a:srgbClr val="FF6B35"/>
                </a:solidFill>
                <a:latin typeface="微软雅黑"/>
                <a:ea typeface="微软雅黑"/>
                <a:cs typeface="微软雅黑"/>
                <a:sym typeface="微软雅黑"/>
              </a:rPr>
              <a:t>CORE HIGHLIGHT</a:t>
            </a:r>
            <a:endParaRPr lang="en-US" sz="1100"/>
          </a:p>
        </p:txBody>
      </p:sp>
      <p:sp>
        <p:nvSpPr>
          <p:cNvPr id="7" name="AutoShape 7"/>
          <p:cNvSpPr/>
          <p:nvPr/>
        </p:nvSpPr>
        <p:spPr>
          <a:xfrm>
            <a:off x="7137400" y="8128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1" i="0" u="none" strike="noStrike">
                <a:solidFill>
                  <a:srgbClr val="1B1F3B"/>
                </a:solidFill>
                <a:latin typeface="微软雅黑"/>
                <a:ea typeface="微软雅黑"/>
                <a:cs typeface="微软雅黑"/>
                <a:sym typeface="微软雅黑"/>
              </a:rPr>
              <a:t>Closed-loop workflow for complex business task autonomy</a:t>
            </a:r>
            <a:endParaRPr lang="en-US" sz="1100"/>
          </a:p>
        </p:txBody>
      </p:sp>
      <p:sp>
        <p:nvSpPr>
          <p:cNvPr id="8" name="AutoShape 8"/>
          <p:cNvSpPr/>
          <p:nvPr/>
        </p:nvSpPr>
        <p:spPr>
          <a:xfrm>
            <a:off x="10668000" y="622300"/>
            <a:ext cx="1016000" cy="457200"/>
          </a:xfrm>
          <a:prstGeom prst="roundRect">
            <a:avLst>
              <a:gd name="adj" fmla="val 1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668000" y="622300"/>
            <a:ext cx="1016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2000"/>
              </a:lnSpc>
              <a:defRPr/>
            </a:pPr>
            <a:r>
              <a:rPr lang="en-US" sz="1100" b="1" i="0" u="none" strike="noStrike">
                <a:solidFill>
                  <a:srgbClr val="FFFFFF"/>
                </a:solidFill>
                <a:latin typeface="微软雅黑"/>
                <a:ea typeface="微软雅黑"/>
                <a:cs typeface="微软雅黑"/>
                <a:sym typeface="微软雅黑"/>
              </a:rPr>
              <a:t>KEY</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智能协作 · 多Agent 协同架构</a:t>
            </a:r>
            <a:endParaRPr lang="en-US" sz="1100"/>
          </a:p>
        </p:txBody>
      </p:sp>
      <p:sp>
        <p:nvSpPr>
          <p:cNvPr id="3" name="AutoShape 3"/>
          <p:cNvSpPr/>
          <p:nvPr/>
        </p:nvSpPr>
        <p:spPr>
          <a:xfrm>
            <a:off x="596900" y="660400"/>
            <a:ext cx="889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Agent Roles &amp; Division of Labor</a:t>
            </a:r>
            <a:endParaRPr lang="en-US" sz="1100"/>
          </a:p>
        </p:txBody>
      </p:sp>
      <p:sp>
        <p:nvSpPr>
          <p:cNvPr id="4" name="AutoShape 4"/>
          <p:cNvSpPr/>
          <p:nvPr/>
        </p:nvSpPr>
        <p:spPr>
          <a:xfrm>
            <a:off x="10541000" y="622300"/>
            <a:ext cx="1016000" cy="457200"/>
          </a:xfrm>
          <a:prstGeom prst="roundRect">
            <a:avLst>
              <a:gd name="adj" fmla="val 1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541000" y="622300"/>
            <a:ext cx="1016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500" b="1" i="0" u="none" strike="noStrike">
                <a:solidFill>
                  <a:srgbClr val="FFFFFF"/>
                </a:solidFill>
                <a:latin typeface="微软雅黑"/>
                <a:ea typeface="微软雅黑"/>
                <a:cs typeface="微软雅黑"/>
                <a:sym typeface="微软雅黑"/>
              </a:rPr>
              <a:t>4 Roles</a:t>
            </a:r>
            <a:endParaRPr lang="en-US" sz="1100"/>
          </a:p>
        </p:txBody>
      </p:sp>
      <p:sp>
        <p:nvSpPr>
          <p:cNvPr id="6" name="AutoShape 6"/>
          <p:cNvSpPr/>
          <p:nvPr/>
        </p:nvSpPr>
        <p:spPr>
          <a:xfrm>
            <a:off x="596900" y="1397000"/>
            <a:ext cx="10998200" cy="762000"/>
          </a:xfrm>
          <a:prstGeom prst="roundRect">
            <a:avLst>
              <a:gd name="adj" fmla="val 0"/>
            </a:avLst>
          </a:prstGeom>
          <a:noFill/>
          <a:ln w="25400" cap="flat" cmpd="sng">
            <a:noFill/>
            <a:prstDash val="solid"/>
            <a:round/>
          </a:ln>
        </p:spPr>
        <p:txBody>
          <a:bodyPr vert="horz" wrap="square" lIns="0" tIns="50800" rIns="0" bIns="50800" rtlCol="0" anchor="t" anchorCtr="0"/>
          <a:lstStyle/>
          <a:p>
            <a:pPr marL="0" indent="0" algn="l">
              <a:lnSpc>
                <a:spcPct val="108000"/>
              </a:lnSpc>
              <a:defRPr/>
            </a:pPr>
            <a:r>
              <a:rPr lang="en-US" sz="1300" b="0" i="0" u="none" strike="noStrike">
                <a:solidFill>
                  <a:srgbClr val="50555F"/>
                </a:solidFill>
                <a:latin typeface="Arial" panose="020B0604020202090204"/>
                <a:ea typeface="Arial" panose="020B0604020202090204"/>
                <a:cs typeface="Arial" panose="020B0604020202090204"/>
                <a:sym typeface="Arial" panose="020B0604020202090204"/>
              </a:rPr>
              <a:t>We designed 4 specialized Agents, each with its own responsibilities, working together to complete complex business tasks through a closed loop of task decomposition, execution, monitoring, reflection, and knowledge retrieval.</a:t>
            </a:r>
            <a:endParaRPr lang="en-US" sz="1100"/>
          </a:p>
        </p:txBody>
      </p:sp>
      <p:sp>
        <p:nvSpPr>
          <p:cNvPr id="7" name="AutoShape 7"/>
          <p:cNvSpPr/>
          <p:nvPr/>
        </p:nvSpPr>
        <p:spPr>
          <a:xfrm>
            <a:off x="596900" y="2413000"/>
            <a:ext cx="5397500" cy="1714500"/>
          </a:xfrm>
          <a:prstGeom prst="roundRect">
            <a:avLst>
              <a:gd name="adj" fmla="val 0"/>
            </a:avLst>
          </a:prstGeom>
          <a:solidFill>
            <a:srgbClr val="FF6B35">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23900" y="2540000"/>
            <a:ext cx="5143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01 Planner Agent</a:t>
            </a:r>
            <a:endParaRPr lang="en-US" sz="1100"/>
          </a:p>
        </p:txBody>
      </p:sp>
      <p:sp>
        <p:nvSpPr>
          <p:cNvPr id="9" name="AutoShape 9"/>
          <p:cNvSpPr/>
          <p:nvPr/>
        </p:nvSpPr>
        <p:spPr>
          <a:xfrm>
            <a:off x="723900" y="2946400"/>
            <a:ext cx="5143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Core Responsibility:</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Precisely understands user intent, breaks down goals into feasible subtasks, and intelligently assembles the optimal toolchain for execution.</a:t>
            </a:r>
            <a:endParaRPr lang="en-US" sz="1100"/>
          </a:p>
          <a:p>
            <a:pPr marL="0" indent="0" algn="l">
              <a:lnSpc>
                <a:spcPct val="100000"/>
              </a:lnSpc>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Scenario:</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Initiated for open-ended, complex requests requiring multi-step planning, e.g., "Create a market analysis report for Q3."</a:t>
            </a:r>
            <a:endParaRPr lang="en-US" sz="1200" b="0" i="0" u="none" strike="noStrike">
              <a:solidFill>
                <a:srgbClr val="50555F"/>
              </a:solidFill>
              <a:latin typeface="Arial" panose="020B0604020202090204"/>
              <a:ea typeface="Arial" panose="020B0604020202090204"/>
              <a:cs typeface="Arial" panose="020B0604020202090204"/>
              <a:sym typeface="Arial" panose="020B0604020202090204"/>
            </a:endParaRPr>
          </a:p>
        </p:txBody>
      </p:sp>
      <p:sp>
        <p:nvSpPr>
          <p:cNvPr id="10" name="AutoShape 10"/>
          <p:cNvSpPr/>
          <p:nvPr/>
        </p:nvSpPr>
        <p:spPr>
          <a:xfrm>
            <a:off x="6248400" y="2413000"/>
            <a:ext cx="5397500" cy="1714500"/>
          </a:xfrm>
          <a:prstGeom prst="roundRect">
            <a:avLst>
              <a:gd name="adj" fmla="val 0"/>
            </a:avLst>
          </a:prstGeom>
          <a:solidFill>
            <a:srgbClr val="FF6B35">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375400" y="2540000"/>
            <a:ext cx="5143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02 Executor Agent</a:t>
            </a:r>
            <a:endParaRPr lang="en-US" sz="1100"/>
          </a:p>
        </p:txBody>
      </p:sp>
      <p:sp>
        <p:nvSpPr>
          <p:cNvPr id="12" name="AutoShape 12"/>
          <p:cNvSpPr/>
          <p:nvPr/>
        </p:nvSpPr>
        <p:spPr>
          <a:xfrm>
            <a:off x="6375400" y="2946400"/>
            <a:ext cx="5143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Core Responsibility:</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Executes the plan step-by-step, invokes specific tools/APIs, processes intermediate data, and manages the state of the workflow.</a:t>
            </a:r>
            <a:endParaRPr lang="en-US" sz="1100"/>
          </a:p>
          <a:p>
            <a:pPr marL="0" indent="0" algn="l">
              <a:lnSpc>
                <a:spcPct val="100000"/>
              </a:lnSpc>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Scenario:</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Activated for concrete action steps, e.g., "Call the weather API to get tomorrow's forecast for London."</a:t>
            </a:r>
            <a:endParaRPr lang="en-US" sz="1200" b="0" i="0" u="none" strike="noStrike">
              <a:solidFill>
                <a:srgbClr val="50555F"/>
              </a:solidFill>
              <a:latin typeface="Arial" panose="020B0604020202090204"/>
              <a:ea typeface="Arial" panose="020B0604020202090204"/>
              <a:cs typeface="Arial" panose="020B0604020202090204"/>
              <a:sym typeface="Arial" panose="020B0604020202090204"/>
            </a:endParaRPr>
          </a:p>
        </p:txBody>
      </p:sp>
      <p:sp>
        <p:nvSpPr>
          <p:cNvPr id="13" name="AutoShape 13"/>
          <p:cNvSpPr/>
          <p:nvPr/>
        </p:nvSpPr>
        <p:spPr>
          <a:xfrm>
            <a:off x="596900" y="4381500"/>
            <a:ext cx="5397500" cy="1714500"/>
          </a:xfrm>
          <a:prstGeom prst="roundRect">
            <a:avLst>
              <a:gd name="adj" fmla="val 0"/>
            </a:avLst>
          </a:prstGeom>
          <a:solidFill>
            <a:srgbClr val="FF6B35">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23900" y="4508500"/>
            <a:ext cx="5143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03 Reflect Agent</a:t>
            </a:r>
            <a:endParaRPr lang="en-US" sz="1100"/>
          </a:p>
        </p:txBody>
      </p:sp>
      <p:sp>
        <p:nvSpPr>
          <p:cNvPr id="15" name="AutoShape 15"/>
          <p:cNvSpPr/>
          <p:nvPr/>
        </p:nvSpPr>
        <p:spPr>
          <a:xfrm>
            <a:off x="723900" y="4914900"/>
            <a:ext cx="5143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Core Responsibility:</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Monitors outputs for quality and consistency, identifies errors, and triggers self-correction or plan adjustments.</a:t>
            </a:r>
            <a:endParaRPr lang="en-US" sz="1100"/>
          </a:p>
          <a:p>
            <a:pPr marL="0" indent="0" algn="l">
              <a:lnSpc>
                <a:spcPct val="100000"/>
              </a:lnSpc>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Scenario:</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Triggered by empty results, data anomalies, or when outcomes do not align with the initial user intent.</a:t>
            </a:r>
            <a:endParaRPr lang="en-US" sz="1200" b="0" i="0" u="none" strike="noStrike">
              <a:solidFill>
                <a:srgbClr val="50555F"/>
              </a:solidFill>
              <a:latin typeface="Arial" panose="020B0604020202090204"/>
              <a:ea typeface="Arial" panose="020B0604020202090204"/>
              <a:cs typeface="Arial" panose="020B0604020202090204"/>
              <a:sym typeface="Arial" panose="020B0604020202090204"/>
            </a:endParaRPr>
          </a:p>
        </p:txBody>
      </p:sp>
      <p:sp>
        <p:nvSpPr>
          <p:cNvPr id="16" name="AutoShape 16"/>
          <p:cNvSpPr/>
          <p:nvPr/>
        </p:nvSpPr>
        <p:spPr>
          <a:xfrm>
            <a:off x="6248400" y="4381500"/>
            <a:ext cx="5397500" cy="1714500"/>
          </a:xfrm>
          <a:prstGeom prst="roundRect">
            <a:avLst>
              <a:gd name="adj" fmla="val 0"/>
            </a:avLst>
          </a:prstGeom>
          <a:solidFill>
            <a:srgbClr val="FF6B35">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375400" y="4508500"/>
            <a:ext cx="5143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Arial" panose="020B0604020202090204"/>
                <a:ea typeface="Arial" panose="020B0604020202090204"/>
                <a:cs typeface="Arial" panose="020B0604020202090204"/>
                <a:sym typeface="Arial" panose="020B0604020202090204"/>
              </a:rPr>
              <a:t>04 RAG Agent</a:t>
            </a:r>
            <a:endParaRPr lang="en-US" sz="1100"/>
          </a:p>
        </p:txBody>
      </p:sp>
      <p:sp>
        <p:nvSpPr>
          <p:cNvPr id="18" name="AutoShape 18"/>
          <p:cNvSpPr/>
          <p:nvPr/>
        </p:nvSpPr>
        <p:spPr>
          <a:xfrm>
            <a:off x="6375400" y="4914900"/>
            <a:ext cx="5143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Core Responsibility:</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Connects to enterprise knowledge bases, performs semantic searches, and injects relevant context to enhance decision-making.</a:t>
            </a:r>
            <a:endParaRPr lang="en-US" sz="1100"/>
          </a:p>
          <a:p>
            <a:pPr marL="0" indent="0" algn="l">
              <a:lnSpc>
                <a:spcPct val="100000"/>
              </a:lnSpc>
            </a:pPr>
            <a:r>
              <a:rPr lang="en-US" sz="1200" b="1" i="0" u="none" strike="noStrike">
                <a:solidFill>
                  <a:srgbClr val="1B1F3B"/>
                </a:solidFill>
                <a:latin typeface="Arial" panose="020B0604020202090204"/>
                <a:ea typeface="Arial" panose="020B0604020202090204"/>
                <a:cs typeface="Arial" panose="020B0604020202090204"/>
                <a:sym typeface="Arial" panose="020B0604020202090204"/>
              </a:rPr>
              <a:t>Scenario:</a:t>
            </a:r>
            <a:r>
              <a:rPr lang="en-US" sz="1200" b="0" i="0" u="none" strike="noStrike">
                <a:solidFill>
                  <a:srgbClr val="50555F"/>
                </a:solidFill>
                <a:latin typeface="Arial" panose="020B0604020202090204"/>
                <a:ea typeface="Arial" panose="020B0604020202090204"/>
                <a:cs typeface="Arial" panose="020B0604020202090204"/>
                <a:sym typeface="Arial" panose="020B0604020202090204"/>
              </a:rPr>
              <a:t>Used when answers require specific, up-to-date, or proprietary information not in the base model's training data.</a:t>
            </a:r>
            <a:endParaRPr lang="en-US" sz="1200" b="0" i="0" u="none" strike="noStrike">
              <a:solidFill>
                <a:srgbClr val="50555F"/>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应用案例解析</a:t>
            </a:r>
            <a:endParaRPr lang="en-US" sz="1100"/>
          </a:p>
        </p:txBody>
      </p:sp>
      <p:sp>
        <p:nvSpPr>
          <p:cNvPr id="3" name="AutoShape 3"/>
          <p:cNvSpPr/>
          <p:nvPr/>
        </p:nvSpPr>
        <p:spPr>
          <a:xfrm>
            <a:off x="596900" y="6604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微软雅黑"/>
                <a:ea typeface="微软雅黑"/>
                <a:cs typeface="微软雅黑"/>
                <a:sym typeface="微软雅黑"/>
              </a:rPr>
              <a:t>Collaboration Flow Example: Demo Workflow</a:t>
            </a:r>
            <a:endParaRPr lang="en-US" sz="1100"/>
          </a:p>
        </p:txBody>
      </p:sp>
      <p:sp>
        <p:nvSpPr>
          <p:cNvPr id="4" name="AutoShape 4"/>
          <p:cNvSpPr/>
          <p:nvPr/>
        </p:nvSpPr>
        <p:spPr>
          <a:xfrm>
            <a:off x="520700" y="1333500"/>
            <a:ext cx="111506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300" b="0" i="0" u="none" strike="noStrike">
                <a:solidFill>
                  <a:srgbClr val="555B67"/>
                </a:solidFill>
                <a:latin typeface="微软雅黑"/>
                <a:ea typeface="微软雅黑"/>
                <a:cs typeface="微软雅黑"/>
                <a:sym typeface="微软雅黑"/>
              </a:rPr>
              <a:t>Taking the complete Demo workflow as an example, it fully demonstrates how Planner, Executor, and Reflect Agents divide labor, collaborate, make autonomous decisions, and close the entire task loop in a real-world multi-agent system.</a:t>
            </a:r>
            <a:endParaRPr lang="en-US" sz="1100"/>
          </a:p>
        </p:txBody>
      </p:sp>
      <p:sp>
        <p:nvSpPr>
          <p:cNvPr id="5" name="AutoShape 5"/>
          <p:cNvSpPr/>
          <p:nvPr/>
        </p:nvSpPr>
        <p:spPr>
          <a:xfrm>
            <a:off x="520700" y="2222500"/>
            <a:ext cx="5397500" cy="3683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228600" tIns="152400" rIns="228600" bIns="152400" rtlCol="0" anchor="ctr" anchorCtr="0"/>
          <a:lstStyle/>
          <a:p>
            <a:pPr marL="0" indent="0" algn="l">
              <a:lnSpc>
                <a:spcPct val="100000"/>
              </a:lnSpc>
              <a:defRPr/>
            </a:pPr>
            <a:r>
              <a:rPr lang="en-US" sz="1500" b="1" i="0" u="none" strike="noStrike">
                <a:solidFill>
                  <a:srgbClr val="1B1F3B"/>
                </a:solidFill>
                <a:latin typeface="Noto Sans SC"/>
                <a:ea typeface="Noto Sans SC"/>
                <a:cs typeface="Noto Sans SC"/>
                <a:sym typeface="Noto Sans SC"/>
              </a:rPr>
              <a:t>01 Setup &amp; Environment Initialization</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Confirm AMD GPU inference status via `rocm-smi` logs; launch the UR-Agent frontend (Vue 3/Gradio) to establish the interactive entry point, ensuring the foundation for subsequent agent collaboration is ready.</a:t>
            </a:r>
            <a:endParaRPr lang="en-US" sz="1200" b="0" i="0" u="none" strike="noStrike">
              <a:solidFill>
                <a:srgbClr val="4B5563"/>
              </a:solidFill>
              <a:latin typeface="Noto Sans SC"/>
              <a:ea typeface="Noto Sans SC"/>
              <a:cs typeface="Noto Sans SC"/>
              <a:sym typeface="Noto Sans SC"/>
            </a:endParaRPr>
          </a:p>
          <a:p>
            <a:pPr marL="0" indent="0" algn="l">
              <a:lnSpc>
                <a:spcPct val="100000"/>
              </a:lnSpc>
            </a:pPr>
            <a:r>
              <a:rPr lang="en-US" sz="1500" b="1" i="0" u="none" strike="noStrike">
                <a:solidFill>
                  <a:srgbClr val="1B1F3B"/>
                </a:solidFill>
                <a:latin typeface="Noto Sans SC"/>
                <a:ea typeface="Noto Sans SC"/>
                <a:cs typeface="Noto Sans SC"/>
                <a:sym typeface="Noto Sans SC"/>
              </a:rPr>
              <a:t>02 Core Capabilities &amp; Task Execution</a:t>
            </a:r>
            <a:endParaRPr lang="en-US" sz="1500" b="1" i="0" u="none" strike="noStrike">
              <a:solidFill>
                <a:srgbClr val="1B1F3B"/>
              </a:solidFill>
              <a:latin typeface="Noto Sans SC"/>
              <a:ea typeface="Noto Sans SC"/>
              <a:cs typeface="Noto Sans SC"/>
              <a:sym typeface="Noto Sans SC"/>
            </a:endParaRPr>
          </a:p>
          <a:p>
            <a:pPr marL="0" indent="0" algn="l">
              <a:lnSpc>
                <a:spcPct val="100000"/>
              </a:lnSpc>
            </a:pPr>
            <a:r>
              <a:rPr lang="en-US" sz="1200" b="0" i="0" u="none" strike="noStrike">
                <a:solidFill>
                  <a:srgbClr val="4B5563"/>
                </a:solidFill>
                <a:latin typeface="Noto Sans SC"/>
                <a:ea typeface="Noto Sans SC"/>
                <a:cs typeface="Noto Sans SC"/>
                <a:sym typeface="Noto Sans SC"/>
              </a:rPr>
              <a:t>Showcase RAG for dynamic knowledge Q&amp;A; execute multi-step compound tasks (finance/seller tools) to test planning &amp; tool-calling; verify multi-turn memory for contextual conversation flow.</a:t>
            </a:r>
            <a:endParaRPr lang="en-US" sz="1200" b="0" i="0" u="none" strike="noStrike">
              <a:solidFill>
                <a:srgbClr val="4B5563"/>
              </a:solidFill>
              <a:latin typeface="Noto Sans SC"/>
              <a:ea typeface="Noto Sans SC"/>
              <a:cs typeface="Noto Sans SC"/>
              <a:sym typeface="Noto Sans SC"/>
            </a:endParaRPr>
          </a:p>
          <a:p>
            <a:pPr marL="0" indent="0" algn="l">
              <a:lnSpc>
                <a:spcPct val="100000"/>
              </a:lnSpc>
            </a:pPr>
            <a:r>
              <a:rPr lang="en-US" sz="1500" b="1" i="0" u="none" strike="noStrike">
                <a:solidFill>
                  <a:srgbClr val="1B1F3B"/>
                </a:solidFill>
                <a:latin typeface="Noto Sans SC"/>
                <a:ea typeface="Noto Sans SC"/>
                <a:cs typeface="Noto Sans SC"/>
                <a:sym typeface="Noto Sans SC"/>
              </a:rPr>
              <a:t>03 Isolation &amp; Production Showcase</a:t>
            </a:r>
            <a:endParaRPr lang="en-US" sz="1500" b="1" i="0" u="none" strike="noStrike">
              <a:solidFill>
                <a:srgbClr val="1B1F3B"/>
              </a:solidFill>
              <a:latin typeface="Noto Sans SC"/>
              <a:ea typeface="Noto Sans SC"/>
              <a:cs typeface="Noto Sans SC"/>
              <a:sym typeface="Noto Sans SC"/>
            </a:endParaRPr>
          </a:p>
          <a:p>
            <a:pPr marL="0" indent="0" algn="l">
              <a:lnSpc>
                <a:spcPct val="100000"/>
              </a:lnSpc>
            </a:pPr>
            <a:r>
              <a:rPr lang="en-US" sz="1200" b="0" i="0" u="none" strike="noStrike">
                <a:solidFill>
                  <a:srgbClr val="4B5563"/>
                </a:solidFill>
                <a:latin typeface="Noto Sans SC"/>
                <a:ea typeface="Noto Sans SC"/>
                <a:cs typeface="Noto Sans SC"/>
                <a:sym typeface="Noto Sans SC"/>
              </a:rPr>
              <a:t>Validate strict permission boundaries by switching user/organization spaces; visit the live production demo to witness the seamless, end-to-end workflow in a real operational context.</a:t>
            </a:r>
            <a:endParaRPr lang="en-US" sz="1200" b="0" i="0" u="none" strike="noStrike">
              <a:solidFill>
                <a:srgbClr val="4B5563"/>
              </a:solidFill>
              <a:latin typeface="Noto Sans SC"/>
              <a:ea typeface="Noto Sans SC"/>
              <a:cs typeface="Noto Sans SC"/>
              <a:sym typeface="Noto Sans SC"/>
            </a:endParaRPr>
          </a:p>
        </p:txBody>
      </p:sp>
      <p:sp>
        <p:nvSpPr>
          <p:cNvPr id="6" name="AutoShape 6"/>
          <p:cNvSpPr/>
          <p:nvPr/>
        </p:nvSpPr>
        <p:spPr>
          <a:xfrm>
            <a:off x="6273800" y="2222500"/>
            <a:ext cx="5397500" cy="3683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228600" tIns="152400" rIns="228600" bIns="152400" rtlCol="0" anchor="ctr" anchorCtr="0"/>
          <a:lstStyle/>
          <a:p>
            <a:pPr marL="0" indent="0" algn="ctr">
              <a:lnSpc>
                <a:spcPct val="100000"/>
              </a:lnSpc>
              <a:defRPr/>
            </a:pPr>
            <a:r>
              <a:rPr lang="en-US" sz="1600" b="1" i="0" u="none" strike="noStrike">
                <a:solidFill>
                  <a:srgbClr val="1E40AF"/>
                </a:solidFill>
                <a:latin typeface="Noto Sans SC"/>
                <a:ea typeface="Noto Sans SC"/>
                <a:cs typeface="Noto Sans SC"/>
                <a:sym typeface="Noto Sans SC"/>
              </a:rPr>
              <a:t>Core Value of Multi-Agent Collaboration</a:t>
            </a:r>
            <a:endParaRPr lang="en-US" sz="1100"/>
          </a:p>
          <a:p>
            <a:pPr marL="0" indent="0" algn="l">
              <a:lnSpc>
                <a:spcPct val="100000"/>
              </a:lnSpc>
            </a:pPr>
            <a:r>
              <a:rPr lang="en-US" sz="1300" b="1" i="0" u="none" strike="noStrike">
                <a:solidFill>
                  <a:srgbClr val="374151"/>
                </a:solidFill>
                <a:latin typeface="Noto Sans SC"/>
                <a:ea typeface="Noto Sans SC"/>
                <a:cs typeface="Noto Sans SC"/>
                <a:sym typeface="Noto Sans SC"/>
              </a:rPr>
              <a:t>▌ Efficiency &amp; Robustness Boost</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Parallel execution of specialized subtasks drastically cuts processing time. The Reflect Agent adds real-time monitoring and self-correction, forming a "plan-execute-reflect" loop that eliminates deviations and ensures high accuracy even for complex enterprise tasks.</a:t>
            </a:r>
            <a:endParaRPr lang="en-US" sz="1200" b="0" i="0" u="none" strike="noStrike">
              <a:solidFill>
                <a:srgbClr val="4B5563"/>
              </a:solidFill>
              <a:latin typeface="Noto Sans SC"/>
              <a:ea typeface="Noto Sans SC"/>
              <a:cs typeface="Noto Sans SC"/>
              <a:sym typeface="Noto Sans SC"/>
            </a:endParaRPr>
          </a:p>
          <a:p>
            <a:pPr marL="0" indent="0" algn="l">
              <a:lnSpc>
                <a:spcPct val="100000"/>
              </a:lnSpc>
            </a:pPr>
            <a:r>
              <a:rPr lang="en-US" sz="1300" b="1" i="0" u="none" strike="noStrike">
                <a:solidFill>
                  <a:srgbClr val="374151"/>
                </a:solidFill>
                <a:latin typeface="Noto Sans SC"/>
                <a:ea typeface="Noto Sans SC"/>
                <a:cs typeface="Noto Sans SC"/>
                <a:sym typeface="Noto Sans SC"/>
              </a:rPr>
              <a:t>▌ Agile Scalability &amp; Integration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Seamlessly add new Agents and toolkits to adapt to evolving business needs across industries. From simple queries to cross-system orchestration, the modular architecture enables flexible, on-demand collaboration for diverse scenarios.</a:t>
            </a:r>
            <a:endParaRPr lang="en-US" sz="1200" b="0" i="0" u="none" strike="noStrike">
              <a:solidFill>
                <a:srgbClr val="4B5563"/>
              </a:solidFill>
              <a:latin typeface="Noto Sans SC"/>
              <a:ea typeface="Noto Sans SC"/>
              <a:cs typeface="Noto Sans SC"/>
              <a:sym typeface="Noto Sans SC"/>
            </a:endParaRPr>
          </a:p>
        </p:txBody>
      </p:sp>
      <p:sp>
        <p:nvSpPr>
          <p:cNvPr id="7" name="AutoShape 7"/>
          <p:cNvSpPr/>
          <p:nvPr/>
        </p:nvSpPr>
        <p:spPr>
          <a:xfrm>
            <a:off x="520700" y="6096000"/>
            <a:ext cx="11150600" cy="508000"/>
          </a:xfrm>
          <a:prstGeom prst="roundRect">
            <a:avLst>
              <a:gd name="adj" fmla="val 0"/>
            </a:avLst>
          </a:prstGeom>
          <a:solidFill>
            <a:srgbClr val="FFF7ED">
              <a:alpha val="100000"/>
            </a:srgbClr>
          </a:solidFill>
          <a:ln w="25400" cap="flat" cmpd="sng">
            <a:noFill/>
            <a:prstDash val="solid"/>
            <a:round/>
          </a:ln>
        </p:spPr>
        <p:txBody>
          <a:bodyPr vert="horz" wrap="square" lIns="190500" tIns="101600" rIns="0" bIns="0" rtlCol="0" anchor="ctr" anchorCtr="0"/>
          <a:lstStyle/>
          <a:p>
            <a:pPr marL="0" indent="0" algn="l">
              <a:lnSpc>
                <a:spcPct val="125000"/>
              </a:lnSpc>
              <a:defRPr/>
            </a:pPr>
            <a:r>
              <a:rPr lang="en-US" sz="1200" b="1" i="0" u="none" strike="noStrike">
                <a:solidFill>
                  <a:srgbClr val="C2410C"/>
                </a:solidFill>
                <a:latin typeface="Noto Sans SC"/>
                <a:ea typeface="Noto Sans SC"/>
                <a:cs typeface="Noto Sans SC"/>
                <a:sym typeface="Noto Sans SC"/>
              </a:rPr>
              <a:t>Core Insight:</a:t>
            </a:r>
            <a:r>
              <a:rPr lang="en-US" sz="1200" b="0" i="0" u="none" strike="noStrike">
                <a:solidFill>
                  <a:srgbClr val="4B5563"/>
                </a:solidFill>
                <a:latin typeface="Noto Sans SC"/>
                <a:ea typeface="Noto Sans SC"/>
                <a:cs typeface="Noto Sans SC"/>
                <a:sym typeface="Noto Sans SC"/>
              </a:rPr>
              <a:t>Multi-agent collaboration evolves AI from isolated tools to a cohesive, self-improving system, delivering transparent, reliable, and scalable automation for complex enterprise operations.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核心保障机制</a:t>
            </a:r>
            <a:endParaRPr lang="en-US" sz="1100"/>
          </a:p>
        </p:txBody>
      </p:sp>
      <p:sp>
        <p:nvSpPr>
          <p:cNvPr id="3" name="AutoShape 3"/>
          <p:cNvSpPr/>
          <p:nvPr/>
        </p:nvSpPr>
        <p:spPr>
          <a:xfrm>
            <a:off x="596900" y="660400"/>
            <a:ext cx="1092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200" b="1" i="0" u="none" strike="noStrike">
                <a:solidFill>
                  <a:srgbClr val="1B1F3B"/>
                </a:solidFill>
                <a:latin typeface="Arial" panose="020B0604020202090204"/>
                <a:ea typeface="Arial" panose="020B0604020202090204"/>
                <a:cs typeface="Arial" panose="020B0604020202090204"/>
                <a:sym typeface="Arial" panose="020B0604020202090204"/>
              </a:rPr>
              <a:t>Context Propagation &amp; Security Boundaries</a:t>
            </a:r>
            <a:endParaRPr lang="en-US" sz="1100"/>
          </a:p>
        </p:txBody>
      </p:sp>
      <p:sp>
        <p:nvSpPr>
          <p:cNvPr id="4" name="AutoShape 4"/>
          <p:cNvSpPr/>
          <p:nvPr/>
        </p:nvSpPr>
        <p:spPr>
          <a:xfrm>
            <a:off x="520700" y="1333500"/>
            <a:ext cx="111760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300" b="0" i="0" u="none" strike="noStrike">
                <a:solidFill>
                  <a:srgbClr val="50555F"/>
                </a:solidFill>
                <a:latin typeface="Arial" panose="020B0604020202090204"/>
                <a:ea typeface="Arial" panose="020B0604020202090204"/>
                <a:cs typeface="Arial" panose="020B0604020202090204"/>
                <a:sym typeface="Arial" panose="020B0604020202090204"/>
              </a:rPr>
              <a:t>Ensuring data isolation and operational security is the cornerstone of stable system operation, building a trusted Agent collaboration environment.</a:t>
            </a:r>
            <a:endParaRPr lang="en-US" sz="1100"/>
          </a:p>
        </p:txBody>
      </p:sp>
      <p:sp>
        <p:nvSpPr>
          <p:cNvPr id="5" name="AutoShape 5"/>
          <p:cNvSpPr/>
          <p:nvPr/>
        </p:nvSpPr>
        <p:spPr>
          <a:xfrm>
            <a:off x="520700" y="2413000"/>
            <a:ext cx="5283200" cy="3175000"/>
          </a:xfrm>
          <a:prstGeom prst="roundRect">
            <a:avLst>
              <a:gd name="adj" fmla="val 0"/>
            </a:avLst>
          </a:prstGeom>
          <a:solidFill>
            <a:srgbClr val="F0F5FF">
              <a:alpha val="100000"/>
            </a:srgbClr>
          </a:solidFill>
          <a:ln w="12700" cap="flat" cmpd="sng">
            <a:solidFill>
              <a:srgbClr val="C8D2E6">
                <a:alpha val="100000"/>
              </a:srgbClr>
            </a:solidFill>
            <a:prstDash val="solid"/>
            <a:round/>
          </a:ln>
        </p:spPr>
        <p:txBody>
          <a:bodyPr vert="horz" wrap="square" lIns="152400" tIns="152400" rIns="152400" bIns="152400" rtlCol="0" anchor="ctr" anchorCtr="0"/>
          <a:lstStyle/>
          <a:p>
            <a:pPr marL="0" indent="0" algn="l">
              <a:lnSpc>
                <a:spcPct val="108000"/>
              </a:lnSpc>
              <a:defRPr/>
            </a:pPr>
            <a:r>
              <a:rPr lang="en-US" sz="1500" b="1" i="0" u="none" strike="noStrike">
                <a:solidFill>
                  <a:srgbClr val="1B1F3B"/>
                </a:solidFill>
                <a:latin typeface="Arial" panose="020B0604020202090204"/>
                <a:ea typeface="Arial" panose="020B0604020202090204"/>
                <a:cs typeface="Arial" panose="020B0604020202090204"/>
                <a:sym typeface="Arial" panose="020B0604020202090204"/>
              </a:rPr>
              <a:t>01 Context Propagation &amp; State Management</a:t>
            </a:r>
            <a:endParaRPr lang="en-US" sz="1100"/>
          </a:p>
          <a:p>
            <a:pPr marL="0" indent="0" algn="l">
              <a:lnSpc>
                <a:spcPct val="108000"/>
              </a:lnSpc>
              <a:spcBef>
                <a:spcPts val="800"/>
              </a:spcBef>
            </a:pPr>
            <a:r>
              <a:rPr lang="en-US" sz="1200" b="0" i="0" u="none" strike="noStrike">
                <a:solidFill>
                  <a:srgbClr val="FF6B35"/>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Global Context Injection:</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Backend interceptors auto-inject puid/oid into every tool call, enforcing strict organizational data isolation and user identity verification.</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FF6B35"/>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Automatic Context Inheritance:</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Seamlessly propagates conversation history and task states across multiple Agents, ensuring unbroken information flow during collaboration.</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FF6B35"/>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Intelligent Exception Handling:</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Reflect Agent automatically diagnoses execution failures, analyzes root causes, and proposes optimized alternative execution strategies.</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388100" y="2413000"/>
            <a:ext cx="5283200" cy="3175000"/>
          </a:xfrm>
          <a:prstGeom prst="roundRect">
            <a:avLst>
              <a:gd name="adj" fmla="val 0"/>
            </a:avLst>
          </a:prstGeom>
          <a:solidFill>
            <a:srgbClr val="FFF8F0">
              <a:alpha val="100000"/>
            </a:srgbClr>
          </a:solidFill>
          <a:ln w="12700" cap="flat" cmpd="sng">
            <a:solidFill>
              <a:srgbClr val="FFD2B4">
                <a:alpha val="100000"/>
              </a:srgbClr>
            </a:solidFill>
            <a:prstDash val="solid"/>
            <a:round/>
          </a:ln>
        </p:spPr>
        <p:txBody>
          <a:bodyPr vert="horz" wrap="square" lIns="152400" tIns="152400" rIns="152400" bIns="152400" rtlCol="0" anchor="ctr" anchorCtr="0"/>
          <a:lstStyle/>
          <a:p>
            <a:pPr marL="0" indent="0" algn="l">
              <a:lnSpc>
                <a:spcPct val="108000"/>
              </a:lnSpc>
              <a:defRPr/>
            </a:pPr>
            <a:r>
              <a:rPr lang="en-US" sz="1500" b="1" i="0" u="none" strike="noStrike">
                <a:solidFill>
                  <a:srgbClr val="1B1F3B"/>
                </a:solidFill>
                <a:latin typeface="Arial" panose="020B0604020202090204"/>
                <a:ea typeface="Arial" panose="020B0604020202090204"/>
                <a:cs typeface="Arial" panose="020B0604020202090204"/>
                <a:sym typeface="Arial" panose="020B0604020202090204"/>
              </a:rPr>
              <a:t>02 Security Boundaries for High-Risk Actions</a:t>
            </a:r>
            <a:endParaRPr lang="en-US" sz="1100"/>
          </a:p>
          <a:p>
            <a:pPr marL="0" indent="0" algn="l">
              <a:lnSpc>
                <a:spcPct val="108000"/>
              </a:lnSpc>
              <a:spcBef>
                <a:spcPts val="800"/>
              </a:spcBef>
            </a:pPr>
            <a:r>
              <a:rPr lang="en-US" sz="1200" b="0" i="0" u="none" strike="noStrike">
                <a:solidFill>
                  <a:srgbClr val="E6501E"/>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Manual Confirmation for Writes:</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High-risk operations (funds/assets/critical data) generate pending requests only; execution requires explicit manual user confirmation on the frontend.</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E6501E"/>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Immutable Audit Trails:</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All actions are fully logged with non-repudiable records, ensuring complete traceability and accountability for every operation.</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E6501E"/>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1F2329"/>
                </a:solidFill>
                <a:latin typeface="Arial" panose="020B0604020202090204"/>
                <a:ea typeface="Arial" panose="020B0604020202090204"/>
                <a:cs typeface="Arial" panose="020B0604020202090204"/>
                <a:sym typeface="Arial" panose="020B0604020202090204"/>
              </a:rPr>
              <a:t>Cross-Org Permission Double-Check:</a:t>
            </a:r>
            <a:r>
              <a:rPr lang="en-US" sz="1200" b="0" i="0" u="none" strike="noStrike">
                <a:solidFill>
                  <a:srgbClr val="1F2329"/>
                </a:solidFill>
                <a:latin typeface="Arial" panose="020B0604020202090204"/>
                <a:ea typeface="Arial" panose="020B0604020202090204"/>
                <a:cs typeface="Arial" panose="020B0604020202090204"/>
                <a:sym typeface="Arial" panose="020B0604020202090204"/>
              </a:rPr>
              <a:t>Backend performs secondary verification for cross-organization sensitive operations, validating legitimate access rights for both source and target entities.</a:t>
            </a:r>
            <a:endParaRPr lang="en-US" sz="1200" b="0" i="0" u="none" strike="noStrike">
              <a:solidFill>
                <a:srgbClr val="1F2329"/>
              </a:solidFill>
              <a:latin typeface="Arial" panose="020B0604020202090204"/>
              <a:ea typeface="Arial" panose="020B0604020202090204"/>
              <a:cs typeface="Arial" panose="020B0604020202090204"/>
              <a:sym typeface="Arial" panose="020B0604020202090204"/>
            </a:endParaRPr>
          </a:p>
        </p:txBody>
      </p:sp>
      <p:sp>
        <p:nvSpPr>
          <p:cNvPr id="7" name="AutoShape 7"/>
          <p:cNvSpPr/>
          <p:nvPr/>
        </p:nvSpPr>
        <p:spPr>
          <a:xfrm>
            <a:off x="520700" y="5778500"/>
            <a:ext cx="11176000" cy="762000"/>
          </a:xfrm>
          <a:prstGeom prst="roundRect">
            <a:avLst>
              <a:gd name="adj" fmla="val 0"/>
            </a:avLst>
          </a:prstGeom>
          <a:solidFill>
            <a:srgbClr val="F5F7FA">
              <a:alpha val="100000"/>
            </a:srgbClr>
          </a:solidFill>
          <a:ln w="25400" cap="flat" cmpd="sng">
            <a:noFill/>
            <a:prstDash val="solid"/>
            <a:round/>
          </a:ln>
        </p:spPr>
        <p:txBody>
          <a:bodyPr vert="horz" wrap="square" lIns="190500" tIns="101600" rIns="190500" bIns="101600" rtlCol="0" anchor="ctr" anchorCtr="0"/>
          <a:lstStyle/>
          <a:p>
            <a:pPr marL="0" indent="0" algn="l">
              <a:lnSpc>
                <a:spcPct val="108000"/>
              </a:lnSpc>
              <a:defRPr/>
            </a:pPr>
            <a:r>
              <a:rPr lang="en-US" sz="1100" b="1" i="0" u="none" strike="noStrike">
                <a:solidFill>
                  <a:srgbClr val="1B1F3B"/>
                </a:solidFill>
                <a:latin typeface="Arial" panose="020B0604020202090204"/>
                <a:ea typeface="Arial" panose="020B0604020202090204"/>
                <a:cs typeface="Arial" panose="020B0604020202090204"/>
                <a:sym typeface="Arial" panose="020B0604020202090204"/>
              </a:rPr>
              <a:t>Design Value:</a:t>
            </a:r>
            <a:r>
              <a:rPr lang="en-US" sz="1100" b="0" i="0" u="none" strike="noStrike">
                <a:solidFill>
                  <a:srgbClr val="50555F"/>
                </a:solidFill>
                <a:latin typeface="Arial" panose="020B0604020202090204"/>
                <a:ea typeface="Arial" panose="020B0604020202090204"/>
                <a:cs typeface="Arial" panose="020B0604020202090204"/>
                <a:sym typeface="Arial" panose="020B0604020202090204"/>
              </a:rPr>
              <a:t>By combining automatic context propagation with mandatory security checks, we create a "trust-first" collaboration environment. This framework eliminates unauthorized access risks and ensures operational integrity, while the audit-ready logging system builds compliance and accountability, enabling Agents to work together efficiently and safely.</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4</a:t>
            </a:r>
            <a:endParaRPr lang="en-US" sz="1100"/>
          </a:p>
        </p:txBody>
      </p:sp>
      <p:sp>
        <p:nvSpPr>
          <p:cNvPr id="3" name="AutoShape 3"/>
          <p:cNvSpPr/>
          <p:nvPr/>
        </p:nvSpPr>
        <p:spPr>
          <a:xfrm>
            <a:off x="596900" y="29718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4</a:t>
            </a:r>
            <a:endParaRPr lang="en-US" sz="1100"/>
          </a:p>
        </p:txBody>
      </p:sp>
      <p:sp>
        <p:nvSpPr>
          <p:cNvPr id="4" name="AutoShape 4"/>
          <p:cNvSpPr/>
          <p:nvPr/>
        </p:nvSpPr>
        <p:spPr>
          <a:xfrm>
            <a:off x="596900" y="32385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微软雅黑"/>
                <a:ea typeface="微软雅黑"/>
                <a:cs typeface="微软雅黑"/>
                <a:sym typeface="微软雅黑"/>
              </a:rPr>
              <a:t>Skill Engineering System</a:t>
            </a:r>
            <a:endParaRPr lang="en-US" sz="1100"/>
          </a:p>
        </p:txBody>
      </p:sp>
      <p:sp>
        <p:nvSpPr>
          <p:cNvPr id="5" name="AutoShape 5"/>
          <p:cNvSpPr/>
          <p:nvPr/>
        </p:nvSpPr>
        <p:spPr>
          <a:xfrm>
            <a:off x="596900" y="4127500"/>
            <a:ext cx="10998200" cy="1651000"/>
          </a:xfrm>
          <a:prstGeom prst="roundRect">
            <a:avLst>
              <a:gd name="adj" fmla="val 0"/>
            </a:avLst>
          </a:prstGeom>
          <a:noFill/>
          <a:ln w="25400" cap="flat" cmpd="sng">
            <a:noFill/>
            <a:prstDash val="solid"/>
            <a:round/>
          </a:ln>
        </p:spPr>
        <p:txBody>
          <a:bodyPr vert="horz" wrap="square" lIns="0" tIns="127000" rIns="0" bIns="127000" rtlCol="0" anchor="ctr" anchorCtr="0"/>
          <a:lstStyle/>
          <a:p>
            <a:pPr marL="0" indent="0" algn="l">
              <a:lnSpc>
                <a:spcPct val="125000"/>
              </a:lnSpc>
              <a:defRPr/>
            </a:pPr>
            <a:r>
              <a:rPr lang="en-US" sz="1400" b="0" i="0" u="none" strike="noStrike">
                <a:solidFill>
                  <a:srgbClr val="374151"/>
                </a:solidFill>
                <a:latin typeface="微软雅黑"/>
                <a:ea typeface="微软雅黑"/>
                <a:cs typeface="微软雅黑"/>
                <a:sym typeface="微软雅黑"/>
              </a:rPr>
              <a:t>The Skill Engineering System is the core framework that defines how AI agents perceive, reason, and interact with the world. It translates abstract intentions into a modular library of reusable, executable skills—turning high-level goals into concrete, step-by-step actions. This system ensures agents act with precision, adaptability, and consistency across dynamic scenarios, forming the backbone of autonomous agent operation.</a:t>
            </a:r>
            <a:endParaRPr lang="en-US" sz="1100"/>
          </a:p>
        </p:txBody>
      </p:sp>
      <p:sp>
        <p:nvSpPr>
          <p:cNvPr id="6" name="AutoShape 6"/>
          <p:cNvSpPr/>
          <p:nvPr/>
        </p:nvSpPr>
        <p:spPr>
          <a:xfrm>
            <a:off x="7112000" y="457200"/>
            <a:ext cx="4483100" cy="787400"/>
          </a:xfrm>
          <a:prstGeom prst="roundRect">
            <a:avLst>
              <a:gd name="adj" fmla="val 11290"/>
            </a:avLst>
          </a:prstGeom>
          <a:solidFill>
            <a:srgbClr val="FFEDE4">
              <a:alpha val="100000"/>
            </a:srgbClr>
          </a:solidFill>
          <a:ln w="12700" cap="flat" cmpd="sng">
            <a:solidFill>
              <a:srgbClr val="FF6B35">
                <a:alpha val="100000"/>
              </a:srgbClr>
            </a:solidFill>
            <a:prstDash val="solid"/>
            <a:miter lim="100000000"/>
          </a:ln>
        </p:spPr>
        <p:txBody>
          <a:bodyPr vert="horz" wrap="square" lIns="63500" tIns="63500" rIns="63500" bIns="63500" rtlCol="0" anchor="ctr"/>
          <a:lstStyle/>
          <a:p>
            <a:pPr algn="ctr">
              <a:defRPr/>
            </a:pPr>
          </a:p>
        </p:txBody>
      </p:sp>
      <p:sp>
        <p:nvSpPr>
          <p:cNvPr id="7" name="AutoShape 7"/>
          <p:cNvSpPr/>
          <p:nvPr/>
        </p:nvSpPr>
        <p:spPr>
          <a:xfrm>
            <a:off x="7315200" y="533400"/>
            <a:ext cx="31115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a:solidFill>
                  <a:srgbClr val="FF6B35"/>
                </a:solidFill>
                <a:latin typeface="微软雅黑"/>
                <a:ea typeface="微软雅黑"/>
                <a:cs typeface="微软雅黑"/>
                <a:sym typeface="微软雅黑"/>
              </a:rPr>
              <a:t>System Essence</a:t>
            </a:r>
            <a:endParaRPr lang="en-US" sz="1100"/>
          </a:p>
        </p:txBody>
      </p:sp>
      <p:sp>
        <p:nvSpPr>
          <p:cNvPr id="8" name="AutoShape 8"/>
          <p:cNvSpPr/>
          <p:nvPr/>
        </p:nvSpPr>
        <p:spPr>
          <a:xfrm>
            <a:off x="7315200" y="812800"/>
            <a:ext cx="311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1B1F3B"/>
                </a:solidFill>
                <a:latin typeface="微软雅黑"/>
                <a:ea typeface="微软雅黑"/>
                <a:cs typeface="微软雅黑"/>
                <a:sym typeface="微软雅黑"/>
              </a:rPr>
              <a:t>Intentions → Modular Skills → Executable Actions</a:t>
            </a:r>
            <a:endParaRPr lang="en-US" sz="1100"/>
          </a:p>
        </p:txBody>
      </p:sp>
      <p:sp>
        <p:nvSpPr>
          <p:cNvPr id="9" name="AutoShape 9"/>
          <p:cNvSpPr/>
          <p:nvPr/>
        </p:nvSpPr>
        <p:spPr>
          <a:xfrm>
            <a:off x="10541000" y="622300"/>
            <a:ext cx="863600" cy="457200"/>
          </a:xfrm>
          <a:prstGeom prst="roundRect">
            <a:avLst>
              <a:gd name="adj" fmla="val 1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541000" y="622300"/>
            <a:ext cx="8636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FFFFFF"/>
                </a:solidFill>
                <a:latin typeface="微软雅黑"/>
                <a:ea typeface="微软雅黑"/>
                <a:cs typeface="微软雅黑"/>
                <a:sym typeface="微软雅黑"/>
              </a:rPr>
              <a:t>Core</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核心能力矩阵 · 工具集概览</a:t>
            </a:r>
            <a:endParaRPr lang="en-US" sz="1100"/>
          </a:p>
        </p:txBody>
      </p:sp>
      <p:sp>
        <p:nvSpPr>
          <p:cNvPr id="3" name="AutoShape 3"/>
          <p:cNvSpPr/>
          <p:nvPr/>
        </p:nvSpPr>
        <p:spPr>
          <a:xfrm>
            <a:off x="596900" y="6604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600" b="1" i="0" u="none" strike="noStrike">
                <a:solidFill>
                  <a:srgbClr val="1B1F3B"/>
                </a:solidFill>
                <a:latin typeface="微软雅黑"/>
                <a:ea typeface="微软雅黑"/>
                <a:cs typeface="微软雅黑"/>
                <a:sym typeface="微软雅黑"/>
              </a:rPr>
              <a:t>Core Skill Inventory</a:t>
            </a:r>
            <a:endParaRPr lang="en-US" sz="1100"/>
          </a:p>
        </p:txBody>
      </p:sp>
      <p:sp>
        <p:nvSpPr>
          <p:cNvPr id="4" name="AutoShape 4"/>
          <p:cNvSpPr/>
          <p:nvPr/>
        </p:nvSpPr>
        <p:spPr>
          <a:xfrm>
            <a:off x="10541000" y="622300"/>
            <a:ext cx="1016000" cy="457200"/>
          </a:xfrm>
          <a:prstGeom prst="roundRect">
            <a:avLst>
              <a:gd name="adj" fmla="val 1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541000" y="622300"/>
            <a:ext cx="1016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500" b="1" i="0" u="none" strike="noStrike">
                <a:solidFill>
                  <a:srgbClr val="FFFFFF"/>
                </a:solidFill>
                <a:latin typeface="微软雅黑"/>
                <a:ea typeface="微软雅黑"/>
                <a:cs typeface="微软雅黑"/>
                <a:sym typeface="微软雅黑"/>
              </a:rPr>
              <a:t>8 核心工具</a:t>
            </a:r>
            <a:endParaRPr lang="en-US" sz="1100"/>
          </a:p>
        </p:txBody>
      </p:sp>
      <p:sp>
        <p:nvSpPr>
          <p:cNvPr id="6" name="AutoShape 6"/>
          <p:cNvSpPr/>
          <p:nvPr/>
        </p:nvSpPr>
        <p:spPr>
          <a:xfrm>
            <a:off x="520700" y="1333500"/>
            <a:ext cx="109855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300" b="0" i="0" u="none" strike="noStrike">
                <a:solidFill>
                  <a:srgbClr val="50555F"/>
                </a:solidFill>
                <a:latin typeface="微软雅黑"/>
                <a:ea typeface="微软雅黑"/>
                <a:cs typeface="微软雅黑"/>
                <a:sym typeface="微软雅黑"/>
              </a:rPr>
              <a:t>Centered around the four core domains of human, financial, material, and knowledge, we build a complete Agent capability foundation to support full-scenario business closed loops from physical asset management to knowledge document retrieval.</a:t>
            </a:r>
            <a:endParaRPr lang="en-US" sz="1100"/>
          </a:p>
        </p:txBody>
      </p:sp>
      <p:sp>
        <p:nvSpPr>
          <p:cNvPr id="7" name="AutoShape 7"/>
          <p:cNvSpPr/>
          <p:nvPr/>
        </p:nvSpPr>
        <p:spPr>
          <a:xfrm>
            <a:off x="596900" y="2286000"/>
            <a:ext cx="5397500" cy="1841500"/>
          </a:xfrm>
          <a:prstGeom prst="roundRect">
            <a:avLst>
              <a:gd name="adj" fmla="val 0"/>
            </a:avLst>
          </a:prstGeom>
          <a:solidFill>
            <a:srgbClr val="FFF5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23900" y="2413000"/>
            <a:ext cx="51435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E65100"/>
                </a:solidFill>
                <a:latin typeface="微软雅黑"/>
                <a:ea typeface="微软雅黑"/>
                <a:cs typeface="微软雅黑"/>
                <a:sym typeface="微软雅黑"/>
              </a:rPr>
              <a:t>01 Asset &amp; Inventory Management</a:t>
            </a:r>
            <a:endParaRPr lang="en-US" sz="1100"/>
          </a:p>
          <a:p>
            <a:pPr marL="0" indent="0" algn="l">
              <a:lnSpc>
                <a:spcPct val="108000"/>
              </a:lnSpc>
              <a:spcBef>
                <a:spcPts val="600"/>
              </a:spcBef>
            </a:pP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query_asset:</a:t>
            </a:r>
            <a:r>
              <a:rPr lang="en-US" sz="1200" b="0" i="0" u="none" strike="noStrike">
                <a:solidFill>
                  <a:srgbClr val="374151"/>
                </a:solidFill>
                <a:latin typeface="Noto Sans SC"/>
                <a:ea typeface="Noto Sans SC"/>
                <a:cs typeface="Noto Sans SC"/>
                <a:sym typeface="Noto Sans SC"/>
              </a:rPr>
              <a:t>Precisely query asset inventory by name, category or warehouse with fuzzy search and advanced filtering support.</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transfer_asset:</a:t>
            </a:r>
            <a:r>
              <a:rPr lang="en-US" sz="1200" b="0" i="0" u="none" strike="noStrike">
                <a:solidFill>
                  <a:srgbClr val="374151"/>
                </a:solidFill>
                <a:latin typeface="Noto Sans SC"/>
                <a:ea typeface="Noto Sans SC"/>
                <a:cs typeface="Noto Sans SC"/>
                <a:sym typeface="Noto Sans SC"/>
              </a:rPr>
              <a:t>Enable cross-org/warehouse asset transfers, auto-syncing inventory changes for real-time data consistency.</a:t>
            </a:r>
            <a:endParaRPr lang="en-US" sz="1200" b="0" i="0" u="none" strike="noStrike">
              <a:solidFill>
                <a:srgbClr val="374151"/>
              </a:solidFill>
              <a:latin typeface="Noto Sans SC"/>
              <a:ea typeface="Noto Sans SC"/>
              <a:cs typeface="Noto Sans SC"/>
              <a:sym typeface="Noto Sans SC"/>
            </a:endParaRPr>
          </a:p>
        </p:txBody>
      </p:sp>
      <p:sp>
        <p:nvSpPr>
          <p:cNvPr id="9" name="AutoShape 9"/>
          <p:cNvSpPr/>
          <p:nvPr/>
        </p:nvSpPr>
        <p:spPr>
          <a:xfrm>
            <a:off x="6184900" y="2286000"/>
            <a:ext cx="5397500" cy="1841500"/>
          </a:xfrm>
          <a:prstGeom prst="roundRect">
            <a:avLst>
              <a:gd name="adj" fmla="val 0"/>
            </a:avLst>
          </a:prstGeom>
          <a:solidFill>
            <a:srgbClr val="EB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311900" y="2413000"/>
            <a:ext cx="51435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D4ED8"/>
                </a:solidFill>
                <a:latin typeface="微软雅黑"/>
                <a:ea typeface="微软雅黑"/>
                <a:cs typeface="微软雅黑"/>
                <a:sym typeface="微软雅黑"/>
              </a:rPr>
              <a:t>02 Finance &amp; Transaction Accounting</a:t>
            </a:r>
            <a:endParaRPr lang="en-US" sz="1100"/>
          </a:p>
          <a:p>
            <a:pPr marL="0" indent="0" algn="l">
              <a:lnSpc>
                <a:spcPct val="108000"/>
              </a:lnSpc>
              <a:spcBef>
                <a:spcPts val="600"/>
              </a:spcBef>
            </a:pP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record_transaction:</a:t>
            </a:r>
            <a:r>
              <a:rPr lang="en-US" sz="1200" b="0" i="0" u="none" strike="noStrike">
                <a:solidFill>
                  <a:srgbClr val="374151"/>
                </a:solidFill>
                <a:latin typeface="Noto Sans SC"/>
                <a:ea typeface="Noto Sans SC"/>
                <a:cs typeface="Noto Sans SC"/>
                <a:sym typeface="Noto Sans SC"/>
              </a:rPr>
              <a:t>Log income, expenses &amp; transfers, linking to projects for clear financial trail and visual report generation.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get_summary:</a:t>
            </a:r>
            <a:r>
              <a:rPr lang="en-US" sz="1200" b="0" i="0" u="none" strike="noStrike">
                <a:solidFill>
                  <a:srgbClr val="374151"/>
                </a:solidFill>
                <a:latin typeface="Noto Sans SC"/>
                <a:ea typeface="Noto Sans SC"/>
                <a:cs typeface="Noto Sans SC"/>
                <a:sym typeface="Noto Sans SC"/>
              </a:rPr>
              <a:t>Summarize cash flows &amp; balances by period, auto-generating intuitive financial statements.</a:t>
            </a:r>
            <a:endParaRPr lang="en-US" sz="1200" b="0" i="0" u="none" strike="noStrike">
              <a:solidFill>
                <a:srgbClr val="374151"/>
              </a:solidFill>
              <a:latin typeface="Noto Sans SC"/>
              <a:ea typeface="Noto Sans SC"/>
              <a:cs typeface="Noto Sans SC"/>
              <a:sym typeface="Noto Sans SC"/>
            </a:endParaRPr>
          </a:p>
        </p:txBody>
      </p:sp>
      <p:sp>
        <p:nvSpPr>
          <p:cNvPr id="11" name="AutoShape 11"/>
          <p:cNvSpPr/>
          <p:nvPr/>
        </p:nvSpPr>
        <p:spPr>
          <a:xfrm>
            <a:off x="596900" y="4318000"/>
            <a:ext cx="5397500" cy="1841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23900" y="4445000"/>
            <a:ext cx="51435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059669"/>
                </a:solidFill>
                <a:latin typeface="微软雅黑"/>
                <a:ea typeface="微软雅黑"/>
                <a:cs typeface="微软雅黑"/>
                <a:sym typeface="微软雅黑"/>
              </a:rPr>
              <a:t>03 Task &amp; Collaborative Care</a:t>
            </a:r>
            <a:endParaRPr lang="en-US" sz="1100"/>
          </a:p>
          <a:p>
            <a:pPr marL="0" indent="0" algn="l">
              <a:lnSpc>
                <a:spcPct val="108000"/>
              </a:lnSpc>
              <a:spcBef>
                <a:spcPts val="600"/>
              </a:spcBef>
            </a:pP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manage_reminder:</a:t>
            </a:r>
            <a:r>
              <a:rPr lang="en-US" sz="1200" b="0" i="0" u="none" strike="noStrike">
                <a:solidFill>
                  <a:srgbClr val="374151"/>
                </a:solidFill>
                <a:latin typeface="Noto Sans SC"/>
                <a:ea typeface="Noto Sans SC"/>
                <a:cs typeface="Noto Sans SC"/>
                <a:sym typeface="Noto Sans SC"/>
              </a:rPr>
              <a:t>Set one-time/recurring task alerts (e.g., monthly inventory checks) with multi-channel notifications.</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check_wellness:</a:t>
            </a:r>
            <a:r>
              <a:rPr lang="en-US" sz="1200" b="0" i="0" u="none" strike="noStrike">
                <a:solidFill>
                  <a:srgbClr val="374151"/>
                </a:solidFill>
                <a:latin typeface="Noto Sans SC"/>
                <a:ea typeface="Noto Sans SC"/>
                <a:cs typeface="Noto Sans SC"/>
                <a:sym typeface="Noto Sans SC"/>
              </a:rPr>
              <a:t>Track real-time health status via devices/entries, triggering anomaly alerts and care notifications.</a:t>
            </a:r>
            <a:endParaRPr lang="en-US" sz="1200" b="0" i="0" u="none" strike="noStrike">
              <a:solidFill>
                <a:srgbClr val="374151"/>
              </a:solidFill>
              <a:latin typeface="Noto Sans SC"/>
              <a:ea typeface="Noto Sans SC"/>
              <a:cs typeface="Noto Sans SC"/>
              <a:sym typeface="Noto Sans SC"/>
            </a:endParaRPr>
          </a:p>
        </p:txBody>
      </p:sp>
      <p:sp>
        <p:nvSpPr>
          <p:cNvPr id="13" name="AutoShape 13"/>
          <p:cNvSpPr/>
          <p:nvPr/>
        </p:nvSpPr>
        <p:spPr>
          <a:xfrm>
            <a:off x="6184900" y="4318000"/>
            <a:ext cx="5397500" cy="1841500"/>
          </a:xfrm>
          <a:prstGeom prst="roundRect">
            <a:avLst>
              <a:gd name="adj" fmla="val 0"/>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311900" y="4445000"/>
            <a:ext cx="51435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7C3AED"/>
                </a:solidFill>
                <a:latin typeface="微软雅黑"/>
                <a:ea typeface="微软雅黑"/>
                <a:cs typeface="微软雅黑"/>
                <a:sym typeface="微软雅黑"/>
              </a:rPr>
              <a:t>04 Intelligent Knowledge Engine</a:t>
            </a:r>
            <a:endParaRPr lang="en-US" sz="1100"/>
          </a:p>
          <a:p>
            <a:pPr marL="0" indent="0" algn="l">
              <a:lnSpc>
                <a:spcPct val="108000"/>
              </a:lnSpc>
              <a:spcBef>
                <a:spcPts val="600"/>
              </a:spcBef>
            </a:pP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rag_search:</a:t>
            </a:r>
            <a:r>
              <a:rPr lang="en-US" sz="1200" b="0" i="0" u="none" strike="noStrike">
                <a:solidFill>
                  <a:srgbClr val="374151"/>
                </a:solidFill>
                <a:latin typeface="Noto Sans SC"/>
                <a:ea typeface="Noto Sans SC"/>
                <a:cs typeface="Noto Sans SC"/>
                <a:sym typeface="Noto Sans SC"/>
              </a:rPr>
              <a:t>Leverage Pgvector for semantic retrieval across massive docs, enabling context-aware Q&amp;A and quick key info location.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store_knowledge:</a:t>
            </a:r>
            <a:r>
              <a:rPr lang="en-US" sz="1200" b="0" i="0" u="none" strike="noStrike">
                <a:solidFill>
                  <a:srgbClr val="374151"/>
                </a:solidFill>
                <a:latin typeface="Noto Sans SC"/>
                <a:ea typeface="Noto Sans SC"/>
                <a:cs typeface="Noto Sans SC"/>
                <a:sym typeface="Noto Sans SC"/>
              </a:rPr>
              <a:t>Auto-parse multi-format docs for batch knowledge storage/update, building a dynamically growing knowledge base.</a:t>
            </a:r>
            <a:endParaRPr lang="en-US" sz="1200" b="0" i="0" u="none" strike="noStrike">
              <a:solidFill>
                <a:srgbClr val="374151"/>
              </a:solidFill>
              <a:latin typeface="Noto Sans SC"/>
              <a:ea typeface="Noto Sans SC"/>
              <a:cs typeface="Noto Sans SC"/>
              <a:sym typeface="Noto Sans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核心能力设计</a:t>
            </a:r>
            <a:endParaRPr lang="en-US" sz="1100"/>
          </a:p>
        </p:txBody>
      </p:sp>
      <p:sp>
        <p:nvSpPr>
          <p:cNvPr id="3" name="AutoShape 3"/>
          <p:cNvSpPr/>
          <p:nvPr/>
        </p:nvSpPr>
        <p:spPr>
          <a:xfrm>
            <a:off x="596900" y="660400"/>
            <a:ext cx="1092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微软雅黑"/>
                <a:ea typeface="微软雅黑"/>
                <a:cs typeface="微软雅黑"/>
                <a:sym typeface="微软雅黑"/>
              </a:rPr>
              <a:t>Single Skill Specification &amp; Reusability</a:t>
            </a:r>
            <a:endParaRPr lang="en-US" sz="1100"/>
          </a:p>
        </p:txBody>
      </p:sp>
      <p:sp>
        <p:nvSpPr>
          <p:cNvPr id="4" name="AutoShape 4"/>
          <p:cNvSpPr/>
          <p:nvPr/>
        </p:nvSpPr>
        <p:spPr>
          <a:xfrm>
            <a:off x="596900" y="1333500"/>
            <a:ext cx="10922000" cy="762000"/>
          </a:xfrm>
          <a:prstGeom prst="roundRect">
            <a:avLst>
              <a:gd name="adj" fmla="val 0"/>
            </a:avLst>
          </a:prstGeom>
          <a:noFill/>
          <a:ln w="25400" cap="flat" cmpd="sng">
            <a:noFill/>
            <a:prstDash val="solid"/>
            <a:round/>
          </a:ln>
        </p:spPr>
        <p:txBody>
          <a:bodyPr vert="horz" wrap="square" lIns="0" tIns="50800" rIns="0" bIns="50800" rtlCol="0" anchor="t" anchorCtr="0"/>
          <a:lstStyle/>
          <a:p>
            <a:pPr marL="0" indent="0" algn="l">
              <a:lnSpc>
                <a:spcPct val="100000"/>
              </a:lnSpc>
              <a:defRPr/>
            </a:pPr>
            <a:r>
              <a:rPr lang="en-US" sz="1400" b="0" i="0" u="none" strike="noStrike">
                <a:solidFill>
                  <a:srgbClr val="50555F"/>
                </a:solidFill>
                <a:latin typeface="微软雅黑"/>
                <a:ea typeface="微软雅黑"/>
                <a:cs typeface="微软雅黑"/>
                <a:sym typeface="微软雅黑"/>
              </a:rPr>
              <a:t>Taking transfer_asset as an example, demonstrating the standardized design and high reusability value of our Skills.</a:t>
            </a:r>
            <a:endParaRPr lang="en-US" sz="1100"/>
          </a:p>
        </p:txBody>
      </p:sp>
      <p:sp>
        <p:nvSpPr>
          <p:cNvPr id="5" name="AutoShape 5"/>
          <p:cNvSpPr/>
          <p:nvPr/>
        </p:nvSpPr>
        <p:spPr>
          <a:xfrm>
            <a:off x="596900" y="2286000"/>
            <a:ext cx="5397500" cy="39370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87400" y="2476500"/>
            <a:ext cx="508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微软雅黑"/>
                <a:ea typeface="微软雅黑"/>
                <a:cs typeface="微软雅黑"/>
                <a:sym typeface="微软雅黑"/>
              </a:rPr>
              <a:t>01 Core Skill Specification (transfer_asset)</a:t>
            </a:r>
            <a:endParaRPr lang="en-US" sz="1100"/>
          </a:p>
        </p:txBody>
      </p:sp>
      <p:sp>
        <p:nvSpPr>
          <p:cNvPr id="7" name="AutoShape 7"/>
          <p:cNvSpPr/>
          <p:nvPr/>
        </p:nvSpPr>
        <p:spPr>
          <a:xfrm>
            <a:off x="787400" y="2921000"/>
            <a:ext cx="5016500" cy="12700"/>
          </a:xfrm>
          <a:prstGeom prst="roundRect">
            <a:avLst>
              <a:gd name="adj" fmla="val 0"/>
            </a:avLst>
          </a:prstGeom>
          <a:solidFill>
            <a:srgbClr val="DDDED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87400" y="3111500"/>
            <a:ext cx="5016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Standardized Input &amp; Output</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Strictly defines input parameters (asset_id, from_oid, to_oid, quantity) and output format, ensuring a clear contract between the caller and implementer.</a:t>
            </a:r>
            <a:endParaRPr lang="en-US" sz="1200" b="0" i="0" u="none" strike="noStrike">
              <a:solidFill>
                <a:srgbClr val="50555F"/>
              </a:solidFill>
              <a:latin typeface="Noto Sans SC"/>
              <a:ea typeface="Noto Sans SC"/>
              <a:cs typeface="Noto Sans SC"/>
              <a:sym typeface="Noto Sans SC"/>
            </a:endParaRPr>
          </a:p>
        </p:txBody>
      </p:sp>
      <p:sp>
        <p:nvSpPr>
          <p:cNvPr id="9" name="AutoShape 9"/>
          <p:cNvSpPr/>
          <p:nvPr/>
        </p:nvSpPr>
        <p:spPr>
          <a:xfrm>
            <a:off x="787400" y="4191000"/>
            <a:ext cx="5016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Dependency &amp; Permission Verification</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Clearly depends on the asset and transaction tables, and automatically verifies the user's operating permissions for the source organization from_oid before execution.</a:t>
            </a:r>
            <a:endParaRPr lang="en-US" sz="1200" b="0" i="0" u="none" strike="noStrike">
              <a:solidFill>
                <a:srgbClr val="50555F"/>
              </a:solidFill>
              <a:latin typeface="Noto Sans SC"/>
              <a:ea typeface="Noto Sans SC"/>
              <a:cs typeface="Noto Sans SC"/>
              <a:sym typeface="Noto Sans SC"/>
            </a:endParaRPr>
          </a:p>
        </p:txBody>
      </p:sp>
      <p:sp>
        <p:nvSpPr>
          <p:cNvPr id="10" name="AutoShape 10"/>
          <p:cNvSpPr/>
          <p:nvPr/>
        </p:nvSpPr>
        <p:spPr>
          <a:xfrm>
            <a:off x="787400" y="5270500"/>
            <a:ext cx="5016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Robust Exception Handling</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For scenarios such as non-existent assets, insufficient inventory, and missing permissions, it returns standardized error codes and friendly prompts for easy identification and handling by upper-layer Agents.</a:t>
            </a:r>
            <a:endParaRPr lang="en-US" sz="1200" b="0" i="0" u="none" strike="noStrike">
              <a:solidFill>
                <a:srgbClr val="50555F"/>
              </a:solidFill>
              <a:latin typeface="Noto Sans SC"/>
              <a:ea typeface="Noto Sans SC"/>
              <a:cs typeface="Noto Sans SC"/>
              <a:sym typeface="Noto Sans SC"/>
            </a:endParaRPr>
          </a:p>
        </p:txBody>
      </p:sp>
      <p:sp>
        <p:nvSpPr>
          <p:cNvPr id="11" name="AutoShape 11"/>
          <p:cNvSpPr/>
          <p:nvPr/>
        </p:nvSpPr>
        <p:spPr>
          <a:xfrm>
            <a:off x="6223000" y="2286000"/>
            <a:ext cx="5397500" cy="39370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2476500"/>
            <a:ext cx="508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6B35"/>
                </a:solidFill>
                <a:latin typeface="微软雅黑"/>
                <a:ea typeface="微软雅黑"/>
                <a:cs typeface="微软雅黑"/>
                <a:sym typeface="微软雅黑"/>
              </a:rPr>
              <a:t>02 Reusability &amp; Ecosystem Integration</a:t>
            </a:r>
            <a:endParaRPr lang="en-US" sz="1100"/>
          </a:p>
        </p:txBody>
      </p:sp>
      <p:sp>
        <p:nvSpPr>
          <p:cNvPr id="13" name="AutoShape 13"/>
          <p:cNvSpPr/>
          <p:nvPr/>
        </p:nvSpPr>
        <p:spPr>
          <a:xfrm>
            <a:off x="6413500" y="2921000"/>
            <a:ext cx="5016500" cy="12700"/>
          </a:xfrm>
          <a:prstGeom prst="roundRect">
            <a:avLst>
              <a:gd name="adj" fmla="val 0"/>
            </a:avLst>
          </a:prstGeom>
          <a:solidFill>
            <a:srgbClr val="DDDED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3111500"/>
            <a:ext cx="5016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LangChain Ecosystem Native Compatibility</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All Skills are uniformly encapsulated as LangChain tools (declarative) and can be directly imported into other LangChain projects without modification, enabling seamless integration and sharing of tool capabilities.</a:t>
            </a:r>
            <a:endParaRPr lang="en-US" sz="1200" b="0" i="0" u="none" strike="noStrike">
              <a:solidFill>
                <a:srgbClr val="50555F"/>
              </a:solidFill>
              <a:latin typeface="Noto Sans SC"/>
              <a:ea typeface="Noto Sans SC"/>
              <a:cs typeface="Noto Sans SC"/>
              <a:sym typeface="Noto Sans SC"/>
            </a:endParaRPr>
          </a:p>
        </p:txBody>
      </p:sp>
      <p:sp>
        <p:nvSpPr>
          <p:cNvPr id="15" name="AutoShape 15"/>
          <p:cNvSpPr/>
          <p:nvPr/>
        </p:nvSpPr>
        <p:spPr>
          <a:xfrm>
            <a:off x="6413500" y="4191000"/>
            <a:ext cx="5016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Modular Encapsulation of Toolset</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All tools are uniformly encapsulated as sctools.ALL_TOOLS, supporting on-demand loading and independent deployment for flexible combination and expansion in different business scenarios.</a:t>
            </a:r>
            <a:endParaRPr lang="en-US" sz="1200" b="0" i="0" u="none" strike="noStrike">
              <a:solidFill>
                <a:srgbClr val="50555F"/>
              </a:solidFill>
              <a:latin typeface="Noto Sans SC"/>
              <a:ea typeface="Noto Sans SC"/>
              <a:cs typeface="Noto Sans SC"/>
              <a:sym typeface="Noto Sans SC"/>
            </a:endParaRPr>
          </a:p>
        </p:txBody>
      </p:sp>
      <p:sp>
        <p:nvSpPr>
          <p:cNvPr id="16" name="AutoShape 16"/>
          <p:cNvSpPr/>
          <p:nvPr/>
        </p:nvSpPr>
        <p:spPr>
          <a:xfrm>
            <a:off x="6413500" y="5270500"/>
            <a:ext cx="5016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B1F3B"/>
                </a:solidFill>
                <a:latin typeface="Noto Sans SC"/>
                <a:ea typeface="Noto Sans SC"/>
                <a:cs typeface="Noto Sans SC"/>
                <a:sym typeface="Noto Sans SC"/>
              </a:rPr>
              <a:t>• Community Collaboration &amp; Business Scenario Reuse</a:t>
            </a:r>
            <a:endParaRPr lang="en-US" sz="1100"/>
          </a:p>
          <a:p>
            <a:pPr marL="0" indent="0" algn="l">
              <a:lnSpc>
                <a:spcPct val="108000"/>
              </a:lnSpc>
            </a:pPr>
            <a:r>
              <a:rPr lang="en-US" sz="1200" b="0" i="0" u="none" strike="noStrike">
                <a:solidFill>
                  <a:srgbClr val="50555F"/>
                </a:solidFill>
                <a:latin typeface="Noto Sans SC"/>
                <a:ea typeface="Noto Sans SC"/>
                <a:cs typeface="Noto Sans SC"/>
                <a:sym typeface="Noto Sans SC"/>
              </a:rPr>
              <a:t>The Skills follow the LangChain community specification and perform secondary encapsulation based on the official SDK/Adapter toolchain to adapt to multi-tenancy isolation requirements.</a:t>
            </a:r>
            <a:endParaRPr lang="en-US" sz="1200" b="0" i="0" u="none" strike="noStrike">
              <a:solidFill>
                <a:srgbClr val="50555F"/>
              </a:solidFill>
              <a:latin typeface="Noto Sans SC"/>
              <a:ea typeface="Noto Sans SC"/>
              <a:cs typeface="Noto Sans SC"/>
              <a:sym typeface="Noto Sans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5</a:t>
            </a:r>
            <a:endParaRPr lang="en-US" sz="1100"/>
          </a:p>
        </p:txBody>
      </p:sp>
      <p:sp>
        <p:nvSpPr>
          <p:cNvPr id="3" name="AutoShape 3"/>
          <p:cNvSpPr/>
          <p:nvPr/>
        </p:nvSpPr>
        <p:spPr>
          <a:xfrm>
            <a:off x="1460500" y="508000"/>
            <a:ext cx="10160000" cy="762000"/>
          </a:xfrm>
          <a:prstGeom prst="roundRect">
            <a:avLst>
              <a:gd name="adj" fmla="val 11666"/>
            </a:avLst>
          </a:prstGeom>
          <a:solidFill>
            <a:srgbClr val="FFEDE4">
              <a:alpha val="100000"/>
            </a:srgbClr>
          </a:solidFill>
          <a:ln w="12700" cap="flat" cmpd="sng">
            <a:solidFill>
              <a:srgbClr val="FF6B35">
                <a:alpha val="100000"/>
              </a:srgbClr>
            </a:solidFill>
            <a:prstDash val="solid"/>
            <a:miter lim="100000000"/>
          </a:ln>
        </p:spPr>
        <p:txBody>
          <a:bodyPr vert="horz" wrap="square" lIns="63500" tIns="63500" rIns="63500" bIns="63500" rtlCol="0" anchor="ctr"/>
          <a:lstStyle/>
          <a:p>
            <a:pPr algn="ctr">
              <a:defRPr/>
            </a:pPr>
          </a:p>
        </p:txBody>
      </p:sp>
      <p:sp>
        <p:nvSpPr>
          <p:cNvPr id="4" name="AutoShape 4"/>
          <p:cNvSpPr/>
          <p:nvPr/>
        </p:nvSpPr>
        <p:spPr>
          <a:xfrm>
            <a:off x="1714500" y="609600"/>
            <a:ext cx="1905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FF6B35"/>
                </a:solidFill>
                <a:latin typeface="微软雅黑"/>
                <a:ea typeface="微软雅黑"/>
                <a:cs typeface="微软雅黑"/>
                <a:sym typeface="微软雅黑"/>
              </a:rPr>
              <a:t>KEY FOCUS:</a:t>
            </a:r>
            <a:endParaRPr lang="en-US" sz="1100"/>
          </a:p>
        </p:txBody>
      </p:sp>
      <p:sp>
        <p:nvSpPr>
          <p:cNvPr id="5" name="AutoShape 5"/>
          <p:cNvSpPr/>
          <p:nvPr/>
        </p:nvSpPr>
        <p:spPr>
          <a:xfrm>
            <a:off x="3683000" y="698500"/>
            <a:ext cx="6096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a:solidFill>
                  <a:srgbClr val="1B1F3B"/>
                </a:solidFill>
                <a:latin typeface="微软雅黑"/>
                <a:ea typeface="微软雅黑"/>
                <a:cs typeface="微软雅黑"/>
                <a:sym typeface="微软雅黑"/>
              </a:rPr>
              <a:t>AMD 硬件深度调优与端到端安全合规验证架构</a:t>
            </a:r>
            <a:endParaRPr lang="en-US" sz="1100"/>
          </a:p>
        </p:txBody>
      </p:sp>
      <p:sp>
        <p:nvSpPr>
          <p:cNvPr id="6" name="AutoShape 6"/>
          <p:cNvSpPr/>
          <p:nvPr/>
        </p:nvSpPr>
        <p:spPr>
          <a:xfrm>
            <a:off x="10223500" y="660400"/>
            <a:ext cx="1270000" cy="457200"/>
          </a:xfrm>
          <a:prstGeom prst="roundRect">
            <a:avLst>
              <a:gd name="adj" fmla="val 1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23500" y="660400"/>
            <a:ext cx="1270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FFFFFF"/>
                </a:solidFill>
                <a:latin typeface="微软雅黑"/>
                <a:ea typeface="微软雅黑"/>
                <a:cs typeface="微软雅黑"/>
                <a:sym typeface="微软雅黑"/>
              </a:rPr>
              <a:t>TECH CORE</a:t>
            </a:r>
            <a:endParaRPr lang="en-US" sz="1100"/>
          </a:p>
        </p:txBody>
      </p:sp>
      <p:sp>
        <p:nvSpPr>
          <p:cNvPr id="8" name="AutoShape 8"/>
          <p:cNvSpPr/>
          <p:nvPr/>
        </p:nvSpPr>
        <p:spPr>
          <a:xfrm>
            <a:off x="596900" y="29972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5</a:t>
            </a:r>
            <a:endParaRPr lang="en-US" sz="1100"/>
          </a:p>
        </p:txBody>
      </p:sp>
      <p:sp>
        <p:nvSpPr>
          <p:cNvPr id="9" name="AutoShape 9"/>
          <p:cNvSpPr/>
          <p:nvPr/>
        </p:nvSpPr>
        <p:spPr>
          <a:xfrm>
            <a:off x="596900" y="3365500"/>
            <a:ext cx="109982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1B1F3B"/>
                </a:solidFill>
                <a:latin typeface="微软雅黑"/>
                <a:ea typeface="微软雅黑"/>
                <a:cs typeface="微软雅黑"/>
                <a:sym typeface="微软雅黑"/>
              </a:rPr>
              <a:t>Engineering, Validation &amp; Security</a:t>
            </a:r>
            <a:endParaRPr lang="en-US" sz="1100"/>
          </a:p>
        </p:txBody>
      </p:sp>
      <p:sp>
        <p:nvSpPr>
          <p:cNvPr id="10" name="AutoShape 10"/>
          <p:cNvSpPr/>
          <p:nvPr/>
        </p:nvSpPr>
        <p:spPr>
          <a:xfrm>
            <a:off x="596900" y="4445000"/>
            <a:ext cx="3429000" cy="152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23900" y="4572000"/>
            <a:ext cx="3175000" cy="1270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marL="0" indent="0" algn="ctr">
              <a:lnSpc>
                <a:spcPct val="100000"/>
              </a:lnSpc>
              <a:defRPr/>
            </a:pPr>
            <a:r>
              <a:rPr lang="en-US" sz="1400" b="1" i="0" u="none" strike="noStrike">
                <a:solidFill>
                  <a:srgbClr val="FF6B35"/>
                </a:solidFill>
                <a:latin typeface="Noto Sans SC"/>
                <a:ea typeface="Noto Sans SC"/>
                <a:cs typeface="Noto Sans SC"/>
                <a:sym typeface="Noto Sans SC"/>
              </a:rPr>
              <a:t>01 工程架构设计</a:t>
            </a:r>
            <a:endParaRPr lang="en-US" sz="1100"/>
          </a:p>
          <a:p>
            <a:pPr marL="0" indent="0" algn="ctr">
              <a:lnSpc>
                <a:spcPct val="108000"/>
              </a:lnSpc>
            </a:pPr>
            <a:r>
              <a:rPr lang="en-US" sz="1200" b="0" i="0" u="none" strike="noStrike">
                <a:solidFill>
                  <a:srgbClr val="4B5563"/>
                </a:solidFill>
                <a:latin typeface="Noto Sans SC"/>
                <a:ea typeface="Noto Sans SC"/>
                <a:cs typeface="Noto Sans SC"/>
                <a:sym typeface="Noto Sans SC"/>
              </a:rPr>
              <a:t>基于ROCm生态深度定制算子，针对AMD GPU架构特性优化底层调度逻辑，实现算力资源利用率最大化与毫秒级任务响应。</a:t>
            </a:r>
            <a:endParaRPr lang="en-US" sz="1200" b="0" i="0" u="none" strike="noStrike">
              <a:solidFill>
                <a:srgbClr val="4B5563"/>
              </a:solidFill>
              <a:latin typeface="Noto Sans SC"/>
              <a:ea typeface="Noto Sans SC"/>
              <a:cs typeface="Noto Sans SC"/>
              <a:sym typeface="Noto Sans SC"/>
            </a:endParaRPr>
          </a:p>
        </p:txBody>
      </p:sp>
      <p:sp>
        <p:nvSpPr>
          <p:cNvPr id="12" name="AutoShape 12"/>
          <p:cNvSpPr/>
          <p:nvPr/>
        </p:nvSpPr>
        <p:spPr>
          <a:xfrm>
            <a:off x="4381500" y="4445000"/>
            <a:ext cx="3429000" cy="152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508500" y="4572000"/>
            <a:ext cx="3175000" cy="1270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marL="0" indent="0" algn="ctr">
              <a:lnSpc>
                <a:spcPct val="100000"/>
              </a:lnSpc>
              <a:defRPr/>
            </a:pPr>
            <a:r>
              <a:rPr lang="en-US" sz="1400" b="1" i="0" u="none" strike="noStrike">
                <a:solidFill>
                  <a:srgbClr val="FF6B35"/>
                </a:solidFill>
                <a:latin typeface="Noto Sans SC"/>
                <a:ea typeface="Noto Sans SC"/>
                <a:cs typeface="Noto Sans SC"/>
                <a:sym typeface="Noto Sans SC"/>
              </a:rPr>
              <a:t>02 多维效能验证</a:t>
            </a:r>
            <a:endParaRPr lang="en-US" sz="1100"/>
          </a:p>
          <a:p>
            <a:pPr marL="0" indent="0" algn="ctr">
              <a:lnSpc>
                <a:spcPct val="108000"/>
              </a:lnSpc>
            </a:pPr>
            <a:r>
              <a:rPr lang="en-US" sz="1200" b="0" i="0" u="none" strike="noStrike">
                <a:solidFill>
                  <a:srgbClr val="4B5563"/>
                </a:solidFill>
                <a:latin typeface="Noto Sans SC"/>
                <a:ea typeface="Noto Sans SC"/>
                <a:cs typeface="Noto Sans SC"/>
                <a:sym typeface="Noto Sans SC"/>
              </a:rPr>
              <a:t>构建全场景基准测试体系，覆盖吞吐量、并发稳定性及多卡兼容性验证，实测数据验证UR-Agent在异构环境下的极致性能。</a:t>
            </a:r>
            <a:endParaRPr lang="en-US" sz="1200" b="0" i="0" u="none" strike="noStrike">
              <a:solidFill>
                <a:srgbClr val="4B5563"/>
              </a:solidFill>
              <a:latin typeface="Noto Sans SC"/>
              <a:ea typeface="Noto Sans SC"/>
              <a:cs typeface="Noto Sans SC"/>
              <a:sym typeface="Noto Sans SC"/>
            </a:endParaRPr>
          </a:p>
        </p:txBody>
      </p:sp>
      <p:sp>
        <p:nvSpPr>
          <p:cNvPr id="14" name="AutoShape 14"/>
          <p:cNvSpPr/>
          <p:nvPr/>
        </p:nvSpPr>
        <p:spPr>
          <a:xfrm>
            <a:off x="8166100" y="4445000"/>
            <a:ext cx="3429000" cy="152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93100" y="4572000"/>
            <a:ext cx="3175000" cy="1270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marL="0" indent="0" algn="ctr">
              <a:lnSpc>
                <a:spcPct val="100000"/>
              </a:lnSpc>
              <a:defRPr/>
            </a:pPr>
            <a:r>
              <a:rPr lang="en-US" sz="1400" b="1" i="0" u="none" strike="noStrike">
                <a:solidFill>
                  <a:srgbClr val="FF6B35"/>
                </a:solidFill>
                <a:latin typeface="Noto Sans SC"/>
                <a:ea typeface="Noto Sans SC"/>
                <a:cs typeface="Noto Sans SC"/>
                <a:sym typeface="Noto Sans SC"/>
              </a:rPr>
              <a:t>03 全链路安全防护</a:t>
            </a:r>
            <a:endParaRPr lang="en-US" sz="1100"/>
          </a:p>
          <a:p>
            <a:pPr marL="0" indent="0" algn="ctr">
              <a:lnSpc>
                <a:spcPct val="108000"/>
              </a:lnSpc>
            </a:pPr>
            <a:r>
              <a:rPr lang="en-US" sz="1200" b="0" i="0" u="none" strike="noStrike">
                <a:solidFill>
                  <a:srgbClr val="4B5563"/>
                </a:solidFill>
                <a:latin typeface="Noto Sans SC"/>
                <a:ea typeface="Noto Sans SC"/>
                <a:cs typeface="Noto Sans SC"/>
                <a:sym typeface="Noto Sans SC"/>
              </a:rPr>
              <a:t>集成端到端数据加密、细粒度权限隔离与操作审计日志，符合企业级安全合规标准，保障算力集群与数据资产的绝对安全。</a:t>
            </a:r>
            <a:endParaRPr lang="en-US" sz="12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04 工程架构深度解析</a:t>
            </a:r>
            <a:endParaRPr lang="en-US" sz="1100"/>
          </a:p>
        </p:txBody>
      </p:sp>
      <p:sp>
        <p:nvSpPr>
          <p:cNvPr id="3" name="AutoShape 3"/>
          <p:cNvSpPr/>
          <p:nvPr/>
        </p:nvSpPr>
        <p:spPr>
          <a:xfrm>
            <a:off x="596900" y="660400"/>
            <a:ext cx="109982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Engineering Deep Dive: Technology Stack &amp; Environment</a:t>
            </a:r>
            <a:endParaRPr lang="en-US" sz="1100"/>
          </a:p>
        </p:txBody>
      </p:sp>
      <p:sp>
        <p:nvSpPr>
          <p:cNvPr id="4" name="AutoShape 4"/>
          <p:cNvSpPr/>
          <p:nvPr/>
        </p:nvSpPr>
        <p:spPr>
          <a:xfrm>
            <a:off x="596900" y="1460500"/>
            <a:ext cx="10998200" cy="762000"/>
          </a:xfrm>
          <a:prstGeom prst="roundRect">
            <a:avLst>
              <a:gd name="adj" fmla="val 0"/>
            </a:avLst>
          </a:prstGeom>
          <a:noFill/>
          <a:ln w="25400" cap="flat" cmpd="sng">
            <a:noFill/>
            <a:prstDash val="solid"/>
            <a:round/>
          </a:ln>
        </p:spPr>
        <p:txBody>
          <a:bodyPr vert="horz" wrap="square" lIns="0" tIns="50800" rIns="0" bIns="50800" rtlCol="0" anchor="t" anchorCtr="0"/>
          <a:lstStyle/>
          <a:p>
            <a:pPr marL="0" indent="0" algn="l">
              <a:lnSpc>
                <a:spcPct val="100000"/>
              </a:lnSpc>
              <a:defRPr/>
            </a:pPr>
            <a:r>
              <a:rPr lang="en-US" sz="1400" b="0" i="0" u="none" strike="noStrike">
                <a:solidFill>
                  <a:srgbClr val="595F6D"/>
                </a:solidFill>
                <a:latin typeface="Arial" panose="020B0604020202090204"/>
                <a:ea typeface="Arial" panose="020B0604020202090204"/>
                <a:cs typeface="Arial" panose="020B0604020202090204"/>
                <a:sym typeface="Arial" panose="020B0604020202090204"/>
              </a:rPr>
              <a:t>Our production-ready system is built on a robust, AMD-optimized technology stack that delivers exceptional performance for AI workloads, combining powerful hardware, cutting-edge software, and efficient data management to ensure scalability and reliability.</a:t>
            </a:r>
            <a:endParaRPr lang="en-US" sz="1100"/>
          </a:p>
        </p:txBody>
      </p:sp>
      <p:sp>
        <p:nvSpPr>
          <p:cNvPr id="5" name="AutoShape 5"/>
          <p:cNvSpPr/>
          <p:nvPr/>
        </p:nvSpPr>
        <p:spPr>
          <a:xfrm>
            <a:off x="596900" y="2286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87400" y="2476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01 Server Hardware · AMD EPYC &amp; Radeon</a:t>
            </a:r>
            <a:endParaRPr lang="en-US" sz="1100"/>
          </a:p>
        </p:txBody>
      </p:sp>
      <p:sp>
        <p:nvSpPr>
          <p:cNvPr id="7" name="AutoShape 7"/>
          <p:cNvSpPr/>
          <p:nvPr/>
        </p:nvSpPr>
        <p:spPr>
          <a:xfrm>
            <a:off x="787400" y="2921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Powered by dual AMD EPYC 9334 CPUs (64 cores/128 threads) with 503GB RAM and an AMD Radeon GPU featuring 49GB of VRAM. This high-performance infrastructure provides the massive parallel computing power needed to handle intensive AI model inference and data processing tasks efficiently.</a:t>
            </a:r>
            <a:endParaRPr lang="en-US" sz="1100"/>
          </a:p>
        </p:txBody>
      </p:sp>
      <p:sp>
        <p:nvSpPr>
          <p:cNvPr id="8" name="AutoShape 8"/>
          <p:cNvSpPr/>
          <p:nvPr/>
        </p:nvSpPr>
        <p:spPr>
          <a:xfrm>
            <a:off x="6261100" y="2286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51600" y="2476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02 Software Stack · Ubuntu &amp; ROCm Ecosystem</a:t>
            </a:r>
            <a:endParaRPr lang="en-US" sz="1100"/>
          </a:p>
        </p:txBody>
      </p:sp>
      <p:sp>
        <p:nvSpPr>
          <p:cNvPr id="10" name="AutoShape 10"/>
          <p:cNvSpPr/>
          <p:nvPr/>
        </p:nvSpPr>
        <p:spPr>
          <a:xfrm>
            <a:off x="6451600" y="2921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Runs on Ubuntu 24.04 LTS with ROCm 7.2.1 for optimal AMD GPU utilization. FastAPI delivers high-throughput API services, while Vue 3 and Gradio build intuitive, responsive frontends, creating a seamless bridge between users and the powerful AI backend.</a:t>
            </a:r>
            <a:endParaRPr lang="en-US" sz="1100"/>
          </a:p>
        </p:txBody>
      </p:sp>
      <p:sp>
        <p:nvSpPr>
          <p:cNvPr id="11" name="AutoShape 11"/>
          <p:cNvSpPr/>
          <p:nvPr/>
        </p:nvSpPr>
        <p:spPr>
          <a:xfrm>
            <a:off x="596900" y="4318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87400" y="4508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03 AI Inference · Qwen3-Coder &amp; llama.cpp</a:t>
            </a:r>
            <a:endParaRPr lang="en-US" sz="1100"/>
          </a:p>
        </p:txBody>
      </p:sp>
      <p:sp>
        <p:nvSpPr>
          <p:cNvPr id="13" name="AutoShape 13"/>
          <p:cNvSpPr/>
          <p:nvPr/>
        </p:nvSpPr>
        <p:spPr>
          <a:xfrm>
            <a:off x="787400" y="4953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Core engine features Qwen3-Coder-30B-A3B (GGUF format, Q4_K_M quantization) running on llama.cpp with ROCm support. This setup optimizes for both speed and memory efficiency, ensuring low-latency inference while keeping sensitive data within a secure, closed-loop local environment.</a:t>
            </a:r>
            <a:endParaRPr lang="en-US" sz="1100"/>
          </a:p>
        </p:txBody>
      </p:sp>
      <p:sp>
        <p:nvSpPr>
          <p:cNvPr id="14" name="AutoShape 14"/>
          <p:cNvSpPr/>
          <p:nvPr/>
        </p:nvSpPr>
        <p:spPr>
          <a:xfrm>
            <a:off x="6261100" y="4318000"/>
            <a:ext cx="5334000" cy="1841500"/>
          </a:xfrm>
          <a:prstGeom prst="roundRect">
            <a:avLst>
              <a:gd name="adj" fmla="val 0"/>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51600" y="4508500"/>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04 Data Layer · PostgreSQL + pgvector</a:t>
            </a:r>
            <a:endParaRPr lang="en-US" sz="1100"/>
          </a:p>
        </p:txBody>
      </p:sp>
      <p:sp>
        <p:nvSpPr>
          <p:cNvPr id="16" name="AutoShape 16"/>
          <p:cNvSpPr/>
          <p:nvPr/>
        </p:nvSpPr>
        <p:spPr>
          <a:xfrm>
            <a:off x="6451600" y="4953000"/>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PostgreSQL with the pgvector extension unifies relational and vector data storage. Optimized vector indexing accelerates Retrieval-Augmented Generation (RAG) workflows, enabling fast, accurate context retrieval that significantly enhances the relevance and precision of AI responses.</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42900" y="2794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01 性能基准测试：AMD ROCm 优化</a:t>
            </a:r>
            <a:endParaRPr lang="en-US" sz="1100"/>
          </a:p>
        </p:txBody>
      </p:sp>
      <p:sp>
        <p:nvSpPr>
          <p:cNvPr id="3" name="AutoShape 3"/>
          <p:cNvSpPr/>
          <p:nvPr/>
        </p:nvSpPr>
        <p:spPr>
          <a:xfrm>
            <a:off x="342900" y="1079500"/>
            <a:ext cx="1117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2000"/>
              </a:lnSpc>
              <a:defRPr/>
            </a:pPr>
            <a:r>
              <a:rPr lang="en-US" sz="2200" b="1" i="0" u="none" strike="noStrike">
                <a:solidFill>
                  <a:srgbClr val="1B1F3B"/>
                </a:solidFill>
                <a:latin typeface="Arial" panose="020B0604020202090204"/>
                <a:ea typeface="Arial" panose="020B0604020202090204"/>
                <a:cs typeface="Arial" panose="020B0604020202090204"/>
                <a:sym typeface="Arial" panose="020B0604020202090204"/>
              </a:rPr>
              <a:t>Performance Benchmark: AMD ROCm Optimization</a:t>
            </a:r>
            <a:endParaRPr lang="en-US" sz="1100"/>
          </a:p>
        </p:txBody>
      </p:sp>
      <p:sp>
        <p:nvSpPr>
          <p:cNvPr id="4" name="AutoShape 4"/>
          <p:cNvSpPr/>
          <p:nvPr/>
        </p:nvSpPr>
        <p:spPr>
          <a:xfrm>
            <a:off x="342900" y="1905000"/>
            <a:ext cx="111760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8000"/>
              </a:lnSpc>
              <a:defRPr/>
            </a:pPr>
            <a:r>
              <a:rPr lang="en-US" sz="1400" b="0" i="0" u="none" strike="noStrike">
                <a:solidFill>
                  <a:srgbClr val="595959"/>
                </a:solidFill>
                <a:latin typeface="Arial" panose="020B0604020202090204"/>
                <a:ea typeface="Arial" panose="020B0604020202090204"/>
                <a:cs typeface="Arial" panose="020B0604020202090204"/>
                <a:sym typeface="Arial" panose="020B0604020202090204"/>
              </a:rPr>
              <a:t>We have achieved significant performance gains through careful optimization of the inference engine on AMD hardware, delivering exceptional throughput and efficient resource utilization for large language model inference.</a:t>
            </a:r>
            <a:endParaRPr lang="en-US" sz="1100"/>
          </a:p>
        </p:txBody>
      </p:sp>
      <p:sp>
        <p:nvSpPr>
          <p:cNvPr id="5" name="AutoShape 5"/>
          <p:cNvSpPr/>
          <p:nvPr/>
        </p:nvSpPr>
        <p:spPr>
          <a:xfrm>
            <a:off x="381000" y="2921000"/>
            <a:ext cx="5461000" cy="3302000"/>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228600" tIns="190500" rIns="228600" bIns="1905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Key Performance Metrics</a:t>
            </a:r>
            <a:endParaRPr lang="en-US" sz="1100"/>
          </a:p>
          <a:p>
            <a:pPr marL="0" indent="0" algn="l">
              <a:lnSpc>
                <a:spcPct val="108000"/>
              </a:lnSpc>
              <a:spcBef>
                <a:spcPts val="800"/>
              </a:spcBef>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High Throughput:</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Achieves approximately 35 tokens per second (tok/s), ensuring fast text generation for interactive applications.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Efficient VRAM Usage:</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Model weights occupy ~19 GB, with KV Cache consuming ~13 GB, optimizing memory for larger context windows.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Low Latency:</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Optimized first-token latency for near-instant initial responses, critical for real-time chat and query scenarios.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Stability:</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Maintains consistent performance under sustained load, ideal for production-level inference services.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096000" y="2921000"/>
            <a:ext cx="5461000" cy="3302000"/>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228600" tIns="190500" rIns="228600" bIns="1905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Hardware Utilization &amp; Architecture</a:t>
            </a:r>
            <a:endParaRPr lang="en-US" sz="1100"/>
          </a:p>
          <a:p>
            <a:pPr marL="0" indent="0" algn="l">
              <a:lnSpc>
                <a:spcPct val="108000"/>
              </a:lnSpc>
              <a:spcBef>
                <a:spcPts val="800"/>
              </a:spcBef>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AMD GPU Power:</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Leverages AMD Radeon Graphics with 49136 MB (48GB+) VRAM for massive parallel computing power.</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CPU Parallelism:</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Fully utilizes 64 CPU threads for preprocessing and task offloading, balancing compute workloads.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NUMA Optimization:</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Optimized memory distribution across NUMA nodes to minimize latency in data access and transfer.</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l">
              <a:lnSpc>
                <a:spcPct val="108000"/>
              </a:lnSpc>
            </a:pP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a:t>
            </a:r>
            <a:r>
              <a:rPr lang="en-US" sz="1200" b="1" i="0" u="none" strike="noStrike">
                <a:solidFill>
                  <a:srgbClr val="374151"/>
                </a:solidFill>
                <a:latin typeface="Arial" panose="020B0604020202090204"/>
                <a:ea typeface="Arial" panose="020B0604020202090204"/>
                <a:cs typeface="Arial" panose="020B0604020202090204"/>
                <a:sym typeface="Arial" panose="020B0604020202090204"/>
              </a:rPr>
              <a:t>ROCm Integration:</a:t>
            </a:r>
            <a:r>
              <a:rPr lang="en-US" sz="1200" b="0" i="0" u="none" strike="noStrike">
                <a:solidFill>
                  <a:srgbClr val="374151"/>
                </a:solidFill>
                <a:latin typeface="Arial" panose="020B0604020202090204"/>
                <a:ea typeface="Arial" panose="020B0604020202090204"/>
                <a:cs typeface="Arial" panose="020B0604020202090204"/>
                <a:sym typeface="Arial" panose="020B0604020202090204"/>
              </a:rPr>
              <a:t>Deep integration with AMD ROCm software stack unlocks full hardware potential for AI/ML workloads.</a:t>
            </a:r>
            <a:endParaRPr lang="en-US" sz="12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6</a:t>
            </a:r>
            <a:endParaRPr lang="en-US" sz="1100"/>
          </a:p>
        </p:txBody>
      </p:sp>
      <p:sp>
        <p:nvSpPr>
          <p:cNvPr id="3" name="AutoShape 3"/>
          <p:cNvSpPr/>
          <p:nvPr/>
        </p:nvSpPr>
        <p:spPr>
          <a:xfrm>
            <a:off x="596900" y="29845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6</a:t>
            </a:r>
            <a:endParaRPr lang="en-US" sz="1100"/>
          </a:p>
        </p:txBody>
      </p:sp>
      <p:sp>
        <p:nvSpPr>
          <p:cNvPr id="4" name="AutoShape 4"/>
          <p:cNvSpPr/>
          <p:nvPr/>
        </p:nvSpPr>
        <p:spPr>
          <a:xfrm>
            <a:off x="596900" y="32639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微软雅黑"/>
                <a:ea typeface="微软雅黑"/>
                <a:cs typeface="微软雅黑"/>
                <a:sym typeface="微软雅黑"/>
              </a:rPr>
              <a:t>Production-Grade Deployment</a:t>
            </a:r>
            <a:endParaRPr lang="en-US" sz="1100"/>
          </a:p>
        </p:txBody>
      </p:sp>
      <p:sp>
        <p:nvSpPr>
          <p:cNvPr id="5" name="AutoShape 5"/>
          <p:cNvSpPr/>
          <p:nvPr/>
        </p:nvSpPr>
        <p:spPr>
          <a:xfrm>
            <a:off x="7366000" y="457200"/>
            <a:ext cx="4318000" cy="787400"/>
          </a:xfrm>
          <a:prstGeom prst="roundRect">
            <a:avLst>
              <a:gd name="adj" fmla="val 11290"/>
            </a:avLst>
          </a:prstGeom>
          <a:solidFill>
            <a:srgbClr val="F9FAFB">
              <a:alpha val="100000"/>
            </a:srgbClr>
          </a:solidFill>
          <a:ln w="12700" cap="flat" cmpd="sng">
            <a:solidFill>
              <a:srgbClr val="E5E7EB">
                <a:alpha val="100000"/>
              </a:srgbClr>
            </a:solidFill>
            <a:prstDash val="solid"/>
            <a:miter lim="100000000"/>
          </a:ln>
        </p:spPr>
        <p:txBody>
          <a:bodyPr vert="horz" wrap="square" lIns="63500" tIns="63500" rIns="63500" bIns="63500" rtlCol="0" anchor="ctr"/>
          <a:lstStyle/>
          <a:p>
            <a:pPr algn="ctr">
              <a:defRPr/>
            </a:pPr>
          </a:p>
        </p:txBody>
      </p:sp>
      <p:sp>
        <p:nvSpPr>
          <p:cNvPr id="6" name="AutoShape 6"/>
          <p:cNvSpPr/>
          <p:nvPr/>
        </p:nvSpPr>
        <p:spPr>
          <a:xfrm>
            <a:off x="7556500" y="609600"/>
            <a:ext cx="3937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1B1F3B"/>
                </a:solidFill>
                <a:latin typeface="微软雅黑"/>
                <a:ea typeface="微软雅黑"/>
                <a:cs typeface="微软雅黑"/>
                <a:sym typeface="微软雅黑"/>
              </a:rPr>
              <a:t>Deployment Strategy Overview</a:t>
            </a:r>
            <a:endParaRPr lang="en-US" sz="1100"/>
          </a:p>
        </p:txBody>
      </p:sp>
      <p:sp>
        <p:nvSpPr>
          <p:cNvPr id="7" name="AutoShape 7"/>
          <p:cNvSpPr/>
          <p:nvPr/>
        </p:nvSpPr>
        <p:spPr>
          <a:xfrm>
            <a:off x="7556500" y="889000"/>
            <a:ext cx="3937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a:ea typeface="微软雅黑"/>
                <a:cs typeface="微软雅黑"/>
                <a:sym typeface="微软雅黑"/>
              </a:rPr>
              <a:t>Engineered for performance, stability, and easy maintenance in enterprise environments.</a:t>
            </a:r>
            <a:endParaRPr lang="en-US" sz="1100"/>
          </a:p>
        </p:txBody>
      </p:sp>
      <p:sp>
        <p:nvSpPr>
          <p:cNvPr id="8" name="AutoShape 8"/>
          <p:cNvSpPr/>
          <p:nvPr/>
        </p:nvSpPr>
        <p:spPr>
          <a:xfrm>
            <a:off x="5969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239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01 Core Launch Command</a:t>
            </a:r>
            <a:endParaRPr lang="en-US" sz="1100"/>
          </a:p>
        </p:txBody>
      </p:sp>
      <p:sp>
        <p:nvSpPr>
          <p:cNvPr id="10" name="AutoShape 10"/>
          <p:cNvSpPr/>
          <p:nvPr/>
        </p:nvSpPr>
        <p:spPr>
          <a:xfrm>
            <a:off x="7239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Optimized command with full GPU acceleration, 524k token context window, FlashAttention for speed, and prompt caching to boost inference efficiency.</a:t>
            </a:r>
            <a:endParaRPr lang="en-US" sz="1100"/>
          </a:p>
        </p:txBody>
      </p:sp>
      <p:sp>
        <p:nvSpPr>
          <p:cNvPr id="11" name="AutoShape 11"/>
          <p:cNvSpPr/>
          <p:nvPr/>
        </p:nvSpPr>
        <p:spPr>
          <a:xfrm>
            <a:off x="43815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085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02 CPU &amp; NUMA Optimization</a:t>
            </a:r>
            <a:endParaRPr lang="en-US" sz="1100"/>
          </a:p>
        </p:txBody>
      </p:sp>
      <p:sp>
        <p:nvSpPr>
          <p:cNvPr id="13" name="AutoShape 13"/>
          <p:cNvSpPr/>
          <p:nvPr/>
        </p:nvSpPr>
        <p:spPr>
          <a:xfrm>
            <a:off x="45085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NUMA-aware memory distribution for optimal access, utilizing 64 CPU threads and batch processing to maximize throughput and resource usage.</a:t>
            </a:r>
            <a:endParaRPr lang="en-US" sz="1100"/>
          </a:p>
        </p:txBody>
      </p:sp>
      <p:sp>
        <p:nvSpPr>
          <p:cNvPr id="14" name="AutoShape 14"/>
          <p:cNvSpPr/>
          <p:nvPr/>
        </p:nvSpPr>
        <p:spPr>
          <a:xfrm>
            <a:off x="81661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931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03 Scalable System Architecture</a:t>
            </a:r>
            <a:endParaRPr lang="en-US" sz="1100"/>
          </a:p>
        </p:txBody>
      </p:sp>
      <p:sp>
        <p:nvSpPr>
          <p:cNvPr id="16" name="AutoShape 16"/>
          <p:cNvSpPr/>
          <p:nvPr/>
        </p:nvSpPr>
        <p:spPr>
          <a:xfrm>
            <a:off x="82931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Microservices design with FastAPI backend for async requests, Vue 3 frontend for interactivity, and isolated model inference for stability.</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第五章</a:t>
            </a:r>
            <a:endParaRPr lang="en-US" sz="1100"/>
          </a:p>
        </p:txBody>
      </p:sp>
      <p:sp>
        <p:nvSpPr>
          <p:cNvPr id="3" name="AutoShape 3"/>
          <p:cNvSpPr/>
          <p:nvPr/>
        </p:nvSpPr>
        <p:spPr>
          <a:xfrm>
            <a:off x="596900" y="6604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Engineering &amp; Security Assurance</a:t>
            </a:r>
            <a:endParaRPr lang="en-US" sz="1100"/>
          </a:p>
        </p:txBody>
      </p:sp>
      <p:sp>
        <p:nvSpPr>
          <p:cNvPr id="4" name="AutoShape 4"/>
          <p:cNvSpPr/>
          <p:nvPr/>
        </p:nvSpPr>
        <p:spPr>
          <a:xfrm>
            <a:off x="520700" y="1295400"/>
            <a:ext cx="107950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50555F"/>
                </a:solidFill>
                <a:latin typeface="Arial" panose="020B0604020202090204"/>
                <a:ea typeface="Arial" panose="020B0604020202090204"/>
                <a:cs typeface="Arial" panose="020B0604020202090204"/>
                <a:sym typeface="Arial" panose="020B0604020202090204"/>
              </a:rPr>
              <a:t>From one-click deployment to full-link auditing, ensuring the system is stable, reliable, and secure.</a:t>
            </a:r>
            <a:endParaRPr lang="en-US" sz="1100"/>
          </a:p>
        </p:txBody>
      </p:sp>
      <p:sp>
        <p:nvSpPr>
          <p:cNvPr id="5" name="AutoShape 5"/>
          <p:cNvSpPr/>
          <p:nvPr/>
        </p:nvSpPr>
        <p:spPr>
          <a:xfrm>
            <a:off x="2108200" y="2095500"/>
            <a:ext cx="3835400" cy="2095500"/>
          </a:xfrm>
          <a:prstGeom prst="roundRect">
            <a:avLst>
              <a:gd name="adj" fmla="val 0"/>
            </a:avLst>
          </a:prstGeom>
          <a:solidFill>
            <a:srgbClr val="F7F8FA">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01 Run-time Assurance</a:t>
            </a:r>
            <a:endParaRPr lang="en-US" sz="1100"/>
          </a:p>
          <a:p>
            <a:pPr marL="0" indent="0" algn="l">
              <a:lnSpc>
                <a:spcPct val="100000"/>
              </a:lnSpc>
            </a:pP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One-click Initialization: Deploys dependent packages via slim decrypt scripts, automating environment setup for rapid onboarding.</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Multi-Scenario Support: Seamlessly adapts to multi-tenant and cross-environment deployments, ensuring consistency across dev, test, and prod.</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Lightweight Deployment: Optimized scripts eliminate redundant dependencies, reducing overhead and accelerating service startup.</a:t>
            </a:r>
            <a:endParaRPr lang="en-US" sz="10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184900" y="2095500"/>
            <a:ext cx="3835400" cy="2095500"/>
          </a:xfrm>
          <a:prstGeom prst="roundRect">
            <a:avLst>
              <a:gd name="adj" fmla="val 0"/>
            </a:avLst>
          </a:prstGeom>
          <a:solidFill>
            <a:srgbClr val="F7F8FA">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02 Full-Link Quality Validation</a:t>
            </a:r>
            <a:endParaRPr lang="en-US" sz="1100"/>
          </a:p>
          <a:p>
            <a:pPr marL="0" indent="0" algn="l">
              <a:lnSpc>
                <a:spcPct val="100000"/>
              </a:lnSpc>
            </a:pP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100% Unit Test Coverage: Validates all core tool functions to guarantee business logic integrity at the component level.</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Playwright E2E Testing: Automates browser interactions to simulate real-user behavior and verify end-to-end workflows.</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Traceable Results: All test cases link to requirements; key steps include screen recordings for full auditability.</a:t>
            </a:r>
            <a:endParaRPr lang="en-US" sz="10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7" name="AutoShape 7"/>
          <p:cNvSpPr/>
          <p:nvPr/>
        </p:nvSpPr>
        <p:spPr>
          <a:xfrm>
            <a:off x="2108200" y="4381500"/>
            <a:ext cx="3835400" cy="2095500"/>
          </a:xfrm>
          <a:prstGeom prst="roundRect">
            <a:avLst>
              <a:gd name="adj" fmla="val 0"/>
            </a:avLst>
          </a:prstGeom>
          <a:solidFill>
            <a:srgbClr val="F7F8FA">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03 Observability &amp; Retrieval Link</a:t>
            </a:r>
            <a:endParaRPr lang="en-US" sz="1100"/>
          </a:p>
          <a:p>
            <a:pPr marL="0" indent="0" algn="l">
              <a:lnSpc>
                <a:spcPct val="100000"/>
              </a:lnSpc>
            </a:pP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Full-Link Logging: Captures all request input/output and latency metrics for complete visibility into system behavior.</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Standardized Tracing: Emits structured logs to track request flows across services, simplifying root-cause analysis.</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Vector-Based Search: Uses similarity algorithms for intelligent semantic retrieval of logs, enabling fast issue localization.</a:t>
            </a:r>
            <a:endParaRPr lang="en-US" sz="10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8" name="AutoShape 8"/>
          <p:cNvSpPr/>
          <p:nvPr/>
        </p:nvSpPr>
        <p:spPr>
          <a:xfrm>
            <a:off x="6184900" y="4381500"/>
            <a:ext cx="3835400" cy="2095500"/>
          </a:xfrm>
          <a:prstGeom prst="roundRect">
            <a:avLst>
              <a:gd name="adj" fmla="val 0"/>
            </a:avLst>
          </a:prstGeom>
          <a:solidFill>
            <a:srgbClr val="F7F8FA">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FF6B35"/>
                </a:solidFill>
                <a:latin typeface="Arial" panose="020B0604020202090204"/>
                <a:ea typeface="Arial" panose="020B0604020202090204"/>
                <a:cs typeface="Arial" panose="020B0604020202090204"/>
                <a:sym typeface="Arial" panose="020B0604020202090204"/>
              </a:rPr>
              <a:t>04 In-depth Security Governance</a:t>
            </a:r>
            <a:endParaRPr lang="en-US" sz="1100"/>
          </a:p>
          <a:p>
            <a:pPr marL="0" indent="0" algn="l">
              <a:lnSpc>
                <a:spcPct val="100000"/>
              </a:lnSpc>
            </a:pP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JWT Authentication: Stateless identity verification with token-based access control to prevent unauthorized entry.</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Strict Data Isolation: Enforces cross-tenant data separation via unified specifications to protect sensitive information.</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000" b="0" i="0" u="none" strike="noStrike">
                <a:solidFill>
                  <a:srgbClr val="374151"/>
                </a:solidFill>
                <a:latin typeface="Arial" panose="020B0604020202090204"/>
                <a:ea typeface="Arial" panose="020B0604020202090204"/>
                <a:cs typeface="Arial" panose="020B0604020202090204"/>
                <a:sym typeface="Arial" panose="020B0604020202090204"/>
              </a:rPr>
              <a:t>• Secondary Confirmation: Sensitive operations (transfers, logins) require user verification; all actions are fully audited.</a:t>
            </a:r>
            <a:endParaRPr lang="en-US" sz="10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6</a:t>
            </a:r>
            <a:endParaRPr lang="en-US" sz="1100"/>
          </a:p>
        </p:txBody>
      </p:sp>
      <p:sp>
        <p:nvSpPr>
          <p:cNvPr id="3" name="AutoShape 3"/>
          <p:cNvSpPr/>
          <p:nvPr/>
        </p:nvSpPr>
        <p:spPr>
          <a:xfrm>
            <a:off x="596900" y="29845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6</a:t>
            </a:r>
            <a:endParaRPr lang="en-US" sz="1100"/>
          </a:p>
        </p:txBody>
      </p:sp>
      <p:sp>
        <p:nvSpPr>
          <p:cNvPr id="4" name="AutoShape 4"/>
          <p:cNvSpPr/>
          <p:nvPr/>
        </p:nvSpPr>
        <p:spPr>
          <a:xfrm>
            <a:off x="596900" y="32639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微软雅黑"/>
                <a:ea typeface="微软雅黑"/>
                <a:cs typeface="微软雅黑"/>
                <a:sym typeface="微软雅黑"/>
              </a:rPr>
              <a:t>Open Source Plan</a:t>
            </a:r>
            <a:endParaRPr lang="en-US" sz="1100"/>
          </a:p>
        </p:txBody>
      </p:sp>
      <p:sp>
        <p:nvSpPr>
          <p:cNvPr id="5" name="AutoShape 5"/>
          <p:cNvSpPr/>
          <p:nvPr/>
        </p:nvSpPr>
        <p:spPr>
          <a:xfrm>
            <a:off x="7366000" y="457200"/>
            <a:ext cx="4318000" cy="787400"/>
          </a:xfrm>
          <a:prstGeom prst="roundRect">
            <a:avLst>
              <a:gd name="adj" fmla="val 11290"/>
            </a:avLst>
          </a:prstGeom>
          <a:solidFill>
            <a:srgbClr val="F9FAFB">
              <a:alpha val="100000"/>
            </a:srgbClr>
          </a:solidFill>
          <a:ln w="12700" cap="flat" cmpd="sng">
            <a:solidFill>
              <a:srgbClr val="E5E7EB">
                <a:alpha val="100000"/>
              </a:srgbClr>
            </a:solidFill>
            <a:prstDash val="solid"/>
            <a:miter lim="100000000"/>
          </a:ln>
        </p:spPr>
        <p:txBody>
          <a:bodyPr vert="horz" wrap="square" lIns="63500" tIns="63500" rIns="63500" bIns="63500" rtlCol="0" anchor="ctr"/>
          <a:lstStyle/>
          <a:p>
            <a:pPr algn="ctr">
              <a:defRPr/>
            </a:pPr>
          </a:p>
        </p:txBody>
      </p:sp>
      <p:sp>
        <p:nvSpPr>
          <p:cNvPr id="6" name="AutoShape 6"/>
          <p:cNvSpPr/>
          <p:nvPr/>
        </p:nvSpPr>
        <p:spPr>
          <a:xfrm>
            <a:off x="7556500" y="609600"/>
            <a:ext cx="3937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1B1F3B"/>
                </a:solidFill>
                <a:latin typeface="微软雅黑"/>
                <a:ea typeface="微软雅黑"/>
                <a:cs typeface="微软雅黑"/>
                <a:sym typeface="微软雅黑"/>
              </a:rPr>
              <a:t>Plan Vision</a:t>
            </a:r>
            <a:endParaRPr lang="en-US" sz="1100"/>
          </a:p>
        </p:txBody>
      </p:sp>
      <p:sp>
        <p:nvSpPr>
          <p:cNvPr id="7" name="AutoShape 7"/>
          <p:cNvSpPr/>
          <p:nvPr/>
        </p:nvSpPr>
        <p:spPr>
          <a:xfrm>
            <a:off x="7556500" y="889000"/>
            <a:ext cx="3937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a:ea typeface="微软雅黑"/>
                <a:cs typeface="微软雅黑"/>
                <a:sym typeface="微软雅黑"/>
              </a:rPr>
              <a:t>Empowering innovation through openness and collaboration</a:t>
            </a:r>
            <a:endParaRPr lang="en-US" sz="1100"/>
          </a:p>
        </p:txBody>
      </p:sp>
      <p:sp>
        <p:nvSpPr>
          <p:cNvPr id="8" name="AutoShape 8"/>
          <p:cNvSpPr/>
          <p:nvPr/>
        </p:nvSpPr>
        <p:spPr>
          <a:xfrm>
            <a:off x="5969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239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01 Core Technology Open Source</a:t>
            </a:r>
            <a:endParaRPr lang="en-US" sz="1100"/>
          </a:p>
        </p:txBody>
      </p:sp>
      <p:sp>
        <p:nvSpPr>
          <p:cNvPr id="10" name="AutoShape 10"/>
          <p:cNvSpPr/>
          <p:nvPr/>
        </p:nvSpPr>
        <p:spPr>
          <a:xfrm>
            <a:off x="7239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开源Agent训练框架、轻量化推理引擎及标准化接口，释放技术底座价值，降低开发门槛，加速生态技术的迭代与创新落地。</a:t>
            </a:r>
            <a:endParaRPr lang="en-US" sz="1100"/>
          </a:p>
        </p:txBody>
      </p:sp>
      <p:sp>
        <p:nvSpPr>
          <p:cNvPr id="11" name="AutoShape 11"/>
          <p:cNvSpPr/>
          <p:nvPr/>
        </p:nvSpPr>
        <p:spPr>
          <a:xfrm>
            <a:off x="43815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085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02 Permissive License Agreement</a:t>
            </a:r>
            <a:endParaRPr lang="en-US" sz="1100"/>
          </a:p>
        </p:txBody>
      </p:sp>
      <p:sp>
        <p:nvSpPr>
          <p:cNvPr id="13" name="AutoShape 13"/>
          <p:cNvSpPr/>
          <p:nvPr/>
        </p:nvSpPr>
        <p:spPr>
          <a:xfrm>
            <a:off x="45085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采用Apache 2.0协议，支持商业场景自由使用、修改与分发，仅需保留版权声明，兼顾开源精神与商业灵活性，保障生态合规发展。</a:t>
            </a:r>
            <a:endParaRPr lang="en-US" sz="1100"/>
          </a:p>
        </p:txBody>
      </p:sp>
      <p:sp>
        <p:nvSpPr>
          <p:cNvPr id="14" name="AutoShape 14"/>
          <p:cNvSpPr/>
          <p:nvPr/>
        </p:nvSpPr>
        <p:spPr>
          <a:xfrm>
            <a:off x="8166100" y="4318000"/>
            <a:ext cx="3429000" cy="1778000"/>
          </a:xfrm>
          <a:prstGeom prst="roundRect">
            <a:avLst>
              <a:gd name="adj" fmla="val 714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93100" y="4508500"/>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6B35"/>
                </a:solidFill>
                <a:latin typeface="微软雅黑"/>
                <a:ea typeface="微软雅黑"/>
                <a:cs typeface="微软雅黑"/>
                <a:sym typeface="微软雅黑"/>
              </a:rPr>
              <a:t>03 Developer Community Co-building</a:t>
            </a:r>
            <a:endParaRPr lang="en-US" sz="1100"/>
          </a:p>
        </p:txBody>
      </p:sp>
      <p:sp>
        <p:nvSpPr>
          <p:cNvPr id="16" name="AutoShape 16"/>
          <p:cNvSpPr/>
          <p:nvPr/>
        </p:nvSpPr>
        <p:spPr>
          <a:xfrm>
            <a:off x="8293100" y="4953000"/>
            <a:ext cx="3175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4B5563"/>
                </a:solidFill>
                <a:latin typeface="微软雅黑"/>
                <a:ea typeface="微软雅黑"/>
                <a:cs typeface="微软雅黑"/>
                <a:sym typeface="微软雅黑"/>
              </a:rPr>
              <a:t>建立贡献者激励与协作机制，定期举办技术沙龙与代码评审，吸纳社区建议持续优化，打造开放共创的Agent技术发展环境。</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成果交付与开源规划</a:t>
            </a:r>
            <a:endParaRPr lang="en-US" sz="1100"/>
          </a:p>
        </p:txBody>
      </p:sp>
      <p:sp>
        <p:nvSpPr>
          <p:cNvPr id="3" name="AutoShape 3"/>
          <p:cNvSpPr/>
          <p:nvPr/>
        </p:nvSpPr>
        <p:spPr>
          <a:xfrm>
            <a:off x="596900" y="825500"/>
            <a:ext cx="109855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微软雅黑"/>
                <a:ea typeface="微软雅黑"/>
                <a:cs typeface="微软雅黑"/>
                <a:sym typeface="微软雅黑"/>
              </a:rPr>
              <a:t>Open Source Achievements &amp; License</a:t>
            </a:r>
            <a:endParaRPr lang="en-US" sz="1100"/>
          </a:p>
        </p:txBody>
      </p:sp>
      <p:sp>
        <p:nvSpPr>
          <p:cNvPr id="4" name="AutoShape 4"/>
          <p:cNvSpPr/>
          <p:nvPr/>
        </p:nvSpPr>
        <p:spPr>
          <a:xfrm>
            <a:off x="596900" y="1524000"/>
            <a:ext cx="10985500" cy="698500"/>
          </a:xfrm>
          <a:prstGeom prst="roundRect">
            <a:avLst>
              <a:gd name="adj" fmla="val 0"/>
            </a:avLst>
          </a:prstGeom>
          <a:noFill/>
          <a:ln w="25400" cap="flat" cmpd="sng">
            <a:noFill/>
            <a:prstDash val="solid"/>
            <a:round/>
          </a:ln>
        </p:spPr>
        <p:txBody>
          <a:bodyPr vert="horz" wrap="square" lIns="0" tIns="50800" rIns="0" bIns="50800" rtlCol="0" anchor="t" anchorCtr="0"/>
          <a:lstStyle/>
          <a:p>
            <a:pPr marL="0" indent="0" algn="l">
              <a:lnSpc>
                <a:spcPct val="108000"/>
              </a:lnSpc>
              <a:defRPr/>
            </a:pPr>
            <a:r>
              <a:rPr lang="en-US" sz="1200" b="0" i="0" u="none" strike="noStrike">
                <a:solidFill>
                  <a:srgbClr val="595959"/>
                </a:solidFill>
                <a:latin typeface="微软雅黑"/>
                <a:ea typeface="微软雅黑"/>
                <a:cs typeface="微软雅黑"/>
                <a:sym typeface="微软雅黑"/>
              </a:rPr>
              <a:t>We are committed to contributing high-quality reusable components to the community, covering data models, development tools, frontend applications, and standard interfaces, to fully help developers quickly build and deploy Agent applications.</a:t>
            </a:r>
            <a:endParaRPr lang="en-US" sz="1100"/>
          </a:p>
        </p:txBody>
      </p:sp>
      <p:sp>
        <p:nvSpPr>
          <p:cNvPr id="5" name="AutoShape 5"/>
          <p:cNvSpPr/>
          <p:nvPr/>
        </p:nvSpPr>
        <p:spPr>
          <a:xfrm>
            <a:off x="596900" y="2476500"/>
            <a:ext cx="3492500" cy="3048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23900" y="2667000"/>
            <a:ext cx="3238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6B35"/>
                </a:solidFill>
                <a:latin typeface="微软雅黑"/>
                <a:ea typeface="微软雅黑"/>
                <a:cs typeface="微软雅黑"/>
                <a:sym typeface="微软雅黑"/>
              </a:rPr>
              <a:t>01 Core Reusable Assets</a:t>
            </a:r>
            <a:endParaRPr lang="en-US" sz="1100"/>
          </a:p>
        </p:txBody>
      </p:sp>
      <p:sp>
        <p:nvSpPr>
          <p:cNvPr id="7" name="AutoShape 7"/>
          <p:cNvSpPr/>
          <p:nvPr/>
        </p:nvSpPr>
        <p:spPr>
          <a:xfrm>
            <a:off x="723900" y="3111500"/>
            <a:ext cx="3238500" cy="228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Multi-tenancy Model:</a:t>
            </a:r>
            <a:r>
              <a:rPr lang="en-US" sz="1100" b="0" i="0" u="none" strike="noStrike">
                <a:solidFill>
                  <a:srgbClr val="374151"/>
                </a:solidFill>
                <a:latin typeface="Noto Sans SC"/>
                <a:ea typeface="Noto Sans SC"/>
                <a:cs typeface="Noto Sans SC"/>
                <a:sym typeface="Noto Sans SC"/>
              </a:rPr>
              <a:t>PostgreSQL+Pgvector based model for org isolation &amp; vector retrieval.</a:t>
            </a:r>
            <a:endParaRPr lang="en-US" sz="1100"/>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Tool Integration:</a:t>
            </a:r>
            <a:r>
              <a:rPr lang="en-US" sz="1100" b="0" i="0" u="none" strike="noStrike">
                <a:solidFill>
                  <a:srgbClr val="374151"/>
                </a:solidFill>
                <a:latin typeface="Noto Sans SC"/>
                <a:ea typeface="Noto Sans SC"/>
                <a:cs typeface="Noto Sans SC"/>
                <a:sym typeface="Noto Sans SC"/>
              </a:rPr>
              <a:t>9 out-of-box LangChain tools for assets, finance, HR &amp; knowledge.</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Frontend Dashboard:</a:t>
            </a:r>
            <a:r>
              <a:rPr lang="en-US" sz="1100" b="0" i="0" u="none" strike="noStrike">
                <a:solidFill>
                  <a:srgbClr val="374151"/>
                </a:solidFill>
                <a:latin typeface="Noto Sans SC"/>
                <a:ea typeface="Noto Sans SC"/>
                <a:cs typeface="Noto Sans SC"/>
                <a:sym typeface="Noto Sans SC"/>
              </a:rPr>
              <a:t>Vue 3 multi-space dashboard, deployable standalone or as micro-frontend.</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API Docs:</a:t>
            </a:r>
            <a:r>
              <a:rPr lang="en-US" sz="1100" b="0" i="0" u="none" strike="noStrike">
                <a:solidFill>
                  <a:srgbClr val="374151"/>
                </a:solidFill>
                <a:latin typeface="Noto Sans SC"/>
                <a:ea typeface="Noto Sans SC"/>
                <a:cs typeface="Noto Sans SC"/>
                <a:sym typeface="Noto Sans SC"/>
              </a:rPr>
              <a:t>Full RESTful docs with Swagger for online debugging.</a:t>
            </a:r>
            <a:endParaRPr lang="en-US" sz="1100" b="0" i="0" u="none" strike="noStrike">
              <a:solidFill>
                <a:srgbClr val="374151"/>
              </a:solidFill>
              <a:latin typeface="Noto Sans SC"/>
              <a:ea typeface="Noto Sans SC"/>
              <a:cs typeface="Noto Sans SC"/>
              <a:sym typeface="Noto Sans SC"/>
            </a:endParaRPr>
          </a:p>
        </p:txBody>
      </p:sp>
      <p:sp>
        <p:nvSpPr>
          <p:cNvPr id="8" name="AutoShape 8"/>
          <p:cNvSpPr/>
          <p:nvPr/>
        </p:nvSpPr>
        <p:spPr>
          <a:xfrm>
            <a:off x="4343400" y="2476500"/>
            <a:ext cx="3492500" cy="3048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70400" y="2667000"/>
            <a:ext cx="3238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6B35"/>
                </a:solidFill>
                <a:latin typeface="微软雅黑"/>
                <a:ea typeface="微软雅黑"/>
                <a:cs typeface="微软雅黑"/>
                <a:sym typeface="微软雅黑"/>
              </a:rPr>
              <a:t>02 Standardized Documentation</a:t>
            </a:r>
            <a:endParaRPr lang="en-US" sz="1100"/>
          </a:p>
        </p:txBody>
      </p:sp>
      <p:sp>
        <p:nvSpPr>
          <p:cNvPr id="10" name="AutoShape 10"/>
          <p:cNvSpPr/>
          <p:nvPr/>
        </p:nvSpPr>
        <p:spPr>
          <a:xfrm>
            <a:off x="4470400" y="3111500"/>
            <a:ext cx="3238500" cy="228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API Specs:</a:t>
            </a:r>
            <a:r>
              <a:rPr lang="en-US" sz="1100" b="0" i="0" u="none" strike="noStrike">
                <a:solidFill>
                  <a:srgbClr val="374151"/>
                </a:solidFill>
                <a:latin typeface="Noto Sans SC"/>
                <a:ea typeface="Noto Sans SC"/>
                <a:cs typeface="Noto Sans SC"/>
                <a:sym typeface="Noto Sans SC"/>
              </a:rPr>
              <a:t>OpenAPI 3.0 standards defining params, responses &amp; error codes.</a:t>
            </a:r>
            <a:endParaRPr lang="en-US" sz="1100"/>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Tool Manuals:</a:t>
            </a:r>
            <a:r>
              <a:rPr lang="en-US" sz="1100" b="0" i="0" u="none" strike="noStrike">
                <a:solidFill>
                  <a:srgbClr val="374151"/>
                </a:solidFill>
                <a:latin typeface="Noto Sans SC"/>
                <a:ea typeface="Noto Sans SC"/>
                <a:cs typeface="Noto Sans SC"/>
                <a:sym typeface="Noto Sans SC"/>
              </a:rPr>
              <a:t>Detailed I/O, dependencies &amp; exception handling guides.</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Quick Start:</a:t>
            </a:r>
            <a:r>
              <a:rPr lang="en-US" sz="1100" b="0" i="0" u="none" strike="noStrike">
                <a:solidFill>
                  <a:srgbClr val="374151"/>
                </a:solidFill>
                <a:latin typeface="Noto Sans SC"/>
                <a:ea typeface="Noto Sans SC"/>
                <a:cs typeface="Noto Sans SC"/>
                <a:sym typeface="Noto Sans SC"/>
              </a:rPr>
              <a:t>Step-by-step setup for env prep, DB init &amp; service launch.</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Best Practices:</a:t>
            </a:r>
            <a:r>
              <a:rPr lang="en-US" sz="1100" b="0" i="0" u="none" strike="noStrike">
                <a:solidFill>
                  <a:srgbClr val="374151"/>
                </a:solidFill>
                <a:latin typeface="Noto Sans SC"/>
                <a:ea typeface="Noto Sans SC"/>
                <a:cs typeface="Noto Sans SC"/>
                <a:sym typeface="Noto Sans SC"/>
              </a:rPr>
              <a:t>Architecture &amp; optimization guides for production use.</a:t>
            </a:r>
            <a:endParaRPr lang="en-US" sz="1100" b="0" i="0" u="none" strike="noStrike">
              <a:solidFill>
                <a:srgbClr val="374151"/>
              </a:solidFill>
              <a:latin typeface="Noto Sans SC"/>
              <a:ea typeface="Noto Sans SC"/>
              <a:cs typeface="Noto Sans SC"/>
              <a:sym typeface="Noto Sans SC"/>
            </a:endParaRPr>
          </a:p>
        </p:txBody>
      </p:sp>
      <p:sp>
        <p:nvSpPr>
          <p:cNvPr id="11" name="AutoShape 11"/>
          <p:cNvSpPr/>
          <p:nvPr/>
        </p:nvSpPr>
        <p:spPr>
          <a:xfrm>
            <a:off x="8089900" y="2476500"/>
            <a:ext cx="3492500" cy="3048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216900" y="2667000"/>
            <a:ext cx="3238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6B35"/>
                </a:solidFill>
                <a:latin typeface="微软雅黑"/>
                <a:ea typeface="微软雅黑"/>
                <a:cs typeface="微软雅黑"/>
                <a:sym typeface="微软雅黑"/>
              </a:rPr>
              <a:t>03 License &amp; Compliance</a:t>
            </a:r>
            <a:endParaRPr lang="en-US" sz="1100"/>
          </a:p>
        </p:txBody>
      </p:sp>
      <p:sp>
        <p:nvSpPr>
          <p:cNvPr id="13" name="AutoShape 13"/>
          <p:cNvSpPr/>
          <p:nvPr/>
        </p:nvSpPr>
        <p:spPr>
          <a:xfrm>
            <a:off x="8216900" y="3111500"/>
            <a:ext cx="3238500" cy="228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MIT License:</a:t>
            </a:r>
            <a:r>
              <a:rPr lang="en-US" sz="1100" b="0" i="0" u="none" strike="noStrike">
                <a:solidFill>
                  <a:srgbClr val="374151"/>
                </a:solidFill>
                <a:latin typeface="Noto Sans SC"/>
                <a:ea typeface="Noto Sans SC"/>
                <a:cs typeface="Noto Sans SC"/>
                <a:sym typeface="Noto Sans SC"/>
              </a:rPr>
              <a:t>Permissive open-source license for free use, modification &amp; commercial distribution.</a:t>
            </a:r>
            <a:endParaRPr lang="en-US" sz="1100"/>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Dependency Audit:</a:t>
            </a:r>
            <a:r>
              <a:rPr lang="en-US" sz="1100" b="0" i="0" u="none" strike="noStrike">
                <a:solidFill>
                  <a:srgbClr val="374151"/>
                </a:solidFill>
                <a:latin typeface="Noto Sans SC"/>
                <a:ea typeface="Noto Sans SC"/>
                <a:cs typeface="Noto Sans SC"/>
                <a:sym typeface="Noto Sans SC"/>
              </a:rPr>
              <a:t>100% vetted 3rd-party dependencies (Apache/MIT/BSD) with no commercial risks.</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IP Compliance:</a:t>
            </a:r>
            <a:r>
              <a:rPr lang="en-US" sz="1100" b="0" i="0" u="none" strike="noStrike">
                <a:solidFill>
                  <a:srgbClr val="374151"/>
                </a:solidFill>
                <a:latin typeface="Noto Sans SC"/>
                <a:ea typeface="Noto Sans SC"/>
                <a:cs typeface="Noto Sans SC"/>
                <a:sym typeface="Noto Sans SC"/>
              </a:rPr>
              <a:t>Guaranteed clean codebase with no intellectual property encumbrances.</a:t>
            </a:r>
            <a:endParaRPr lang="en-US" sz="1100" b="0" i="0" u="none" strike="noStrike">
              <a:solidFill>
                <a:srgbClr val="374151"/>
              </a:solidFill>
              <a:latin typeface="Noto Sans SC"/>
              <a:ea typeface="Noto Sans SC"/>
              <a:cs typeface="Noto Sans SC"/>
              <a:sym typeface="Noto Sans SC"/>
            </a:endParaRPr>
          </a:p>
          <a:p>
            <a:pPr marL="0" indent="0" algn="l">
              <a:lnSpc>
                <a:spcPct val="117000"/>
              </a:lnSpc>
            </a:pPr>
            <a:r>
              <a:rPr lang="en-US" sz="1100" b="0" i="0" u="none" strike="noStrike">
                <a:solidFill>
                  <a:srgbClr val="374151"/>
                </a:solidFill>
                <a:latin typeface="Noto Sans SC"/>
                <a:ea typeface="Noto Sans SC"/>
                <a:cs typeface="Noto Sans SC"/>
                <a:sym typeface="Noto Sans SC"/>
              </a:rPr>
              <a:t>•</a:t>
            </a:r>
            <a:r>
              <a:rPr lang="en-US" sz="1100" b="1" i="0" u="none" strike="noStrike">
                <a:solidFill>
                  <a:srgbClr val="374151"/>
                </a:solidFill>
                <a:latin typeface="Noto Sans SC"/>
                <a:ea typeface="Noto Sans SC"/>
                <a:cs typeface="Noto Sans SC"/>
                <a:sym typeface="Noto Sans SC"/>
              </a:rPr>
              <a:t>Community Support:</a:t>
            </a:r>
            <a:r>
              <a:rPr lang="en-US" sz="1100" b="0" i="0" u="none" strike="noStrike">
                <a:solidFill>
                  <a:srgbClr val="374151"/>
                </a:solidFill>
                <a:latin typeface="Noto Sans SC"/>
                <a:ea typeface="Noto Sans SC"/>
                <a:cs typeface="Noto Sans SC"/>
                <a:sym typeface="Noto Sans SC"/>
              </a:rPr>
              <a:t>Active maintenance &amp; security updates for long-term reliability.</a:t>
            </a:r>
            <a:endParaRPr lang="en-US" sz="1100" b="0" i="0" u="none" strike="noStrike">
              <a:solidFill>
                <a:srgbClr val="374151"/>
              </a:solidFill>
              <a:latin typeface="Noto Sans SC"/>
              <a:ea typeface="Noto Sans SC"/>
              <a:cs typeface="Noto Sans SC"/>
              <a:sym typeface="Noto Sans SC"/>
            </a:endParaRPr>
          </a:p>
        </p:txBody>
      </p:sp>
      <p:sp>
        <p:nvSpPr>
          <p:cNvPr id="14" name="AutoShape 14"/>
          <p:cNvSpPr/>
          <p:nvPr/>
        </p:nvSpPr>
        <p:spPr>
          <a:xfrm>
            <a:off x="596900" y="5715000"/>
            <a:ext cx="10985500" cy="889000"/>
          </a:xfrm>
          <a:prstGeom prst="roundRect">
            <a:avLst>
              <a:gd name="adj" fmla="val 0"/>
            </a:avLst>
          </a:prstGeom>
          <a:solidFill>
            <a:srgbClr val="FFF5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23900" y="5816600"/>
            <a:ext cx="10731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EA580C"/>
                </a:solidFill>
                <a:latin typeface="微软雅黑"/>
                <a:ea typeface="微软雅黑"/>
                <a:cs typeface="微软雅黑"/>
                <a:sym typeface="微软雅黑"/>
              </a:rPr>
              <a:t>Open Source Vision:</a:t>
            </a:r>
            <a:r>
              <a:rPr lang="en-US" sz="1200" b="0" i="0" u="none" strike="noStrike">
                <a:solidFill>
                  <a:srgbClr val="4B5563"/>
                </a:solidFill>
                <a:latin typeface="Noto Sans SC"/>
                <a:ea typeface="Noto Sans SC"/>
                <a:cs typeface="Noto Sans SC"/>
                <a:sym typeface="Noto Sans SC"/>
              </a:rPr>
              <a:t>To build an open, collaborative ecosystem for AI Agent development by sharing production-grade components and standards, enabling developers to innovate faster and bring intelligent applications to market with ease.</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4</a:t>
            </a:r>
            <a:endParaRPr lang="en-US" sz="1100"/>
          </a:p>
        </p:txBody>
      </p:sp>
      <p:sp>
        <p:nvSpPr>
          <p:cNvPr id="3" name="AutoShape 3"/>
          <p:cNvSpPr/>
          <p:nvPr/>
        </p:nvSpPr>
        <p:spPr>
          <a:xfrm>
            <a:off x="596900" y="2997200"/>
            <a:ext cx="7620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7 · 项目实施规划与进度追踪</a:t>
            </a:r>
            <a:endParaRPr lang="en-US" sz="1100"/>
          </a:p>
        </p:txBody>
      </p:sp>
      <p:sp>
        <p:nvSpPr>
          <p:cNvPr id="4" name="AutoShape 4"/>
          <p:cNvSpPr/>
          <p:nvPr/>
        </p:nvSpPr>
        <p:spPr>
          <a:xfrm>
            <a:off x="596900" y="3429000"/>
            <a:ext cx="8890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微软雅黑"/>
                <a:ea typeface="微软雅黑"/>
                <a:cs typeface="微软雅黑"/>
                <a:sym typeface="微软雅黑"/>
              </a:rPr>
              <a:t>Implementation Plan &amp; Progress</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项目汇报 · 阶段进展与后续规划</a:t>
            </a:r>
            <a:endParaRPr lang="en-US" sz="1100"/>
          </a:p>
        </p:txBody>
      </p:sp>
      <p:sp>
        <p:nvSpPr>
          <p:cNvPr id="3" name="AutoShape 3"/>
          <p:cNvSpPr/>
          <p:nvPr/>
        </p:nvSpPr>
        <p:spPr>
          <a:xfrm>
            <a:off x="596900" y="7366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1B1F3B"/>
                </a:solidFill>
                <a:latin typeface="Arial" panose="020B0604020202090204"/>
                <a:ea typeface="Arial" panose="020B0604020202090204"/>
                <a:cs typeface="Arial" panose="020B0604020202090204"/>
                <a:sym typeface="Arial" panose="020B0604020202090204"/>
              </a:rPr>
              <a:t>Current Progress &amp; Next Steps</a:t>
            </a:r>
            <a:endParaRPr lang="en-US" sz="1100"/>
          </a:p>
        </p:txBody>
      </p:sp>
      <p:sp>
        <p:nvSpPr>
          <p:cNvPr id="4" name="AutoShape 4"/>
          <p:cNvSpPr/>
          <p:nvPr/>
        </p:nvSpPr>
        <p:spPr>
          <a:xfrm>
            <a:off x="596900" y="1460500"/>
            <a:ext cx="106680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525252"/>
                </a:solidFill>
                <a:latin typeface="Arial" panose="020B0604020202090204"/>
                <a:ea typeface="Arial" panose="020B0604020202090204"/>
                <a:cs typeface="Arial" panose="020B0604020202090204"/>
                <a:sym typeface="Arial" panose="020B0604020202090204"/>
              </a:rPr>
              <a:t>We are progressing steadily according to plan and are fully prepared for potential risks.</a:t>
            </a:r>
            <a:endParaRPr lang="en-US" sz="1100"/>
          </a:p>
        </p:txBody>
      </p:sp>
      <p:sp>
        <p:nvSpPr>
          <p:cNvPr id="5" name="AutoShape 5"/>
          <p:cNvSpPr/>
          <p:nvPr/>
        </p:nvSpPr>
        <p:spPr>
          <a:xfrm>
            <a:off x="889000" y="2286000"/>
            <a:ext cx="4953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254000" tIns="228600" rIns="254000" bIns="228600" rtlCol="0" anchor="ctr" anchorCtr="0"/>
          <a:lstStyle/>
          <a:p>
            <a:pPr marL="0" indent="0" algn="ctr">
              <a:lnSpc>
                <a:spcPct val="108000"/>
              </a:lnSpc>
              <a:defRPr/>
            </a:pPr>
            <a:r>
              <a:rPr lang="en-US" sz="1600" b="1" i="0" u="none" strike="noStrike">
                <a:solidFill>
                  <a:srgbClr val="1F2937"/>
                </a:solidFill>
                <a:latin typeface="Arial" panose="020B0604020202090204"/>
                <a:ea typeface="Arial" panose="020B0604020202090204"/>
                <a:cs typeface="Arial" panose="020B0604020202090204"/>
                <a:sym typeface="Arial" panose="020B0604020202090204"/>
              </a:rPr>
              <a:t>Current Progress (as of Aug 4)</a:t>
            </a:r>
            <a:endParaRPr lang="en-US" sz="1100"/>
          </a:p>
          <a:p>
            <a:pPr marL="0" indent="0" algn="ctr">
              <a:lnSpc>
                <a:spcPct val="117000"/>
              </a:lnSpc>
              <a:spcBef>
                <a:spcPts val="800"/>
              </a:spcBef>
            </a:pPr>
            <a:r>
              <a:rPr lang="en-US" sz="1200" b="0" i="0" u="none" strike="noStrike">
                <a:solidFill>
                  <a:srgbClr val="10B981"/>
                </a:solidFill>
                <a:latin typeface="Arial" panose="020B0604020202090204"/>
                <a:ea typeface="Arial" panose="020B0604020202090204"/>
                <a:cs typeface="Arial" panose="020B0604020202090204"/>
                <a:sym typeface="Arial" panose="020B0604020202090204"/>
              </a:rPr>
              <a:t>✅ Completed:</a:t>
            </a:r>
            <a:endParaRPr lang="en-US" sz="1200" b="0" i="0" u="none" strike="noStrike">
              <a:solidFill>
                <a:srgbClr val="10B98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Database Design &amp; Initialization</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4 Tool Categories &amp; Implementation</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FastAPI Backend + JWT Auth</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Vue 3 Dashboard (Server MVP)</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Global Header &amp; Org Switching</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TDD Testing (API + E2E Coverage)</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17000"/>
              </a:lnSpc>
              <a:spcBef>
                <a:spcPts val="800"/>
              </a:spcBef>
            </a:pPr>
            <a:r>
              <a:rPr lang="en-US" sz="1200" b="0" i="0" u="none" strike="noStrike">
                <a:solidFill>
                  <a:srgbClr val="3B82F6"/>
                </a:solidFill>
                <a:latin typeface="Arial" panose="020B0604020202090204"/>
                <a:ea typeface="Arial" panose="020B0604020202090204"/>
                <a:cs typeface="Arial" panose="020B0604020202090204"/>
                <a:sym typeface="Arial" panose="020B0604020202090204"/>
              </a:rPr>
              <a:t>🔄 In Progress:</a:t>
            </a:r>
            <a:endParaRPr lang="en-US" sz="1200" b="0" i="0" u="none" strike="noStrike">
              <a:solidFill>
                <a:srgbClr val="3B82F6"/>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AMD ROCm Adaptation &amp; Tuning</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Demo Video Recording &amp; Docs</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6" name="AutoShape 6"/>
          <p:cNvSpPr/>
          <p:nvPr/>
        </p:nvSpPr>
        <p:spPr>
          <a:xfrm>
            <a:off x="6350000" y="2286000"/>
            <a:ext cx="4953000" cy="4064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254000" tIns="228600" rIns="254000" bIns="228600" rtlCol="0" anchor="ctr" anchorCtr="0"/>
          <a:lstStyle/>
          <a:p>
            <a:pPr marL="0" indent="0" algn="ctr">
              <a:lnSpc>
                <a:spcPct val="108000"/>
              </a:lnSpc>
              <a:defRPr/>
            </a:pPr>
            <a:r>
              <a:rPr lang="en-US" sz="1600" b="1" i="0" u="none" strike="noStrike">
                <a:solidFill>
                  <a:srgbClr val="1F2937"/>
                </a:solidFill>
                <a:latin typeface="Arial" panose="020B0604020202090204"/>
                <a:ea typeface="Arial" panose="020B0604020202090204"/>
                <a:cs typeface="Arial" panose="020B0604020202090204"/>
                <a:sym typeface="Arial" panose="020B0604020202090204"/>
              </a:rPr>
              <a:t>Key Milestones &amp; Risk Preparedness</a:t>
            </a:r>
            <a:endParaRPr lang="en-US" sz="1100"/>
          </a:p>
          <a:p>
            <a:pPr marL="0" indent="0" algn="ctr">
              <a:lnSpc>
                <a:spcPct val="117000"/>
              </a:lnSpc>
              <a:spcBef>
                <a:spcPts val="800"/>
              </a:spcBef>
            </a:pPr>
            <a:r>
              <a:rPr lang="en-US" sz="1200" b="0" i="0" u="none" strike="noStrike">
                <a:solidFill>
                  <a:srgbClr val="F59E0B"/>
                </a:solidFill>
                <a:latin typeface="Arial" panose="020B0604020202090204"/>
                <a:ea typeface="Arial" panose="020B0604020202090204"/>
                <a:cs typeface="Arial" panose="020B0604020202090204"/>
                <a:sym typeface="Arial" panose="020B0604020202090204"/>
              </a:rPr>
              <a:t>📅 Timeline:</a:t>
            </a:r>
            <a:endParaRPr lang="en-US" sz="1200" b="0" i="0" u="none" strike="noStrike">
              <a:solidFill>
                <a:srgbClr val="F59E0B"/>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8/5: AMD MI100 inference verification</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8/6: Demo video recording &amp; delivery</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8/10: Code repo open-source &amp; docs</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17000"/>
              </a:lnSpc>
              <a:spcBef>
                <a:spcPts val="800"/>
              </a:spcBef>
            </a:pPr>
            <a:r>
              <a:rPr lang="en-US" sz="1200" b="0" i="0" u="none" strike="noStrike">
                <a:solidFill>
                  <a:srgbClr val="EF4444"/>
                </a:solidFill>
                <a:latin typeface="Arial" panose="020B0604020202090204"/>
                <a:ea typeface="Arial" panose="020B0604020202090204"/>
                <a:cs typeface="Arial" panose="020B0604020202090204"/>
                <a:sym typeface="Arial" panose="020B0604020202090204"/>
              </a:rPr>
              <a:t>🛡️ Risk Preparedness:</a:t>
            </a:r>
            <a:endParaRPr lang="en-US" sz="1200" b="0" i="0" u="none" strike="noStrike">
              <a:solidFill>
                <a:srgbClr val="EF4444"/>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CPU fallback if GPU fails (Pre-scripted)</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Offline model files ready (No network)</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100" b="0" i="0" u="none" strike="noStrike">
                <a:solidFill>
                  <a:srgbClr val="374151"/>
                </a:solidFill>
                <a:latin typeface="Arial" panose="020B0604020202090204"/>
                <a:ea typeface="Arial" panose="020B0604020202090204"/>
                <a:cs typeface="Arial" panose="020B0604020202090204"/>
                <a:sym typeface="Arial" panose="020B0604020202090204"/>
              </a:rPr>
              <a:t>• Backup demo video for emergency use</a:t>
            </a:r>
            <a:endParaRPr lang="en-US" sz="1100" b="0" i="0" u="none" strike="noStrike">
              <a:solidFill>
                <a:srgbClr val="374151"/>
              </a:solidFill>
              <a:latin typeface="Arial" panose="020B0604020202090204"/>
              <a:ea typeface="Arial" panose="020B0604020202090204"/>
              <a:cs typeface="Arial" panose="020B0604020202090204"/>
              <a:sym typeface="Arial" panose="020B0604020202090204"/>
            </a:endParaRPr>
          </a:p>
        </p:txBody>
      </p:sp>
      <p:sp>
        <p:nvSpPr>
          <p:cNvPr id="7" name="AutoShape 7"/>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10</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277600" y="6400800"/>
            <a:ext cx="5461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0000"/>
              </a:lnSpc>
              <a:defRPr/>
            </a:pPr>
            <a:r>
              <a:rPr lang="en-US" sz="1000" b="0" i="0" u="none" strike="noStrike">
                <a:solidFill>
                  <a:srgbClr val="6B7280"/>
                </a:solidFill>
                <a:latin typeface="微软雅黑"/>
                <a:ea typeface="微软雅黑"/>
                <a:cs typeface="微软雅黑"/>
                <a:sym typeface="微软雅黑"/>
              </a:rPr>
              <a:t>8</a:t>
            </a:r>
            <a:endParaRPr lang="en-US" sz="1100"/>
          </a:p>
        </p:txBody>
      </p:sp>
      <p:sp>
        <p:nvSpPr>
          <p:cNvPr id="3" name="AutoShape 3"/>
          <p:cNvSpPr/>
          <p:nvPr/>
        </p:nvSpPr>
        <p:spPr>
          <a:xfrm>
            <a:off x="596900" y="29972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Chapter 8 ·</a:t>
            </a:r>
            <a:endParaRPr lang="en-US" sz="1100"/>
          </a:p>
        </p:txBody>
      </p:sp>
      <p:sp>
        <p:nvSpPr>
          <p:cNvPr id="4" name="AutoShape 4"/>
          <p:cNvSpPr/>
          <p:nvPr/>
        </p:nvSpPr>
        <p:spPr>
          <a:xfrm>
            <a:off x="596900" y="32639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B1F3B"/>
                </a:solidFill>
                <a:latin typeface="微软雅黑"/>
                <a:ea typeface="微软雅黑"/>
                <a:cs typeface="微软雅黑"/>
                <a:sym typeface="微软雅黑"/>
              </a:rPr>
              <a:t>Team Introduction</a:t>
            </a:r>
            <a:endParaRPr lang="en-US" sz="1100"/>
          </a:p>
        </p:txBody>
      </p:sp>
      <p:sp>
        <p:nvSpPr>
          <p:cNvPr id="5" name="AutoShape 5"/>
          <p:cNvSpPr/>
          <p:nvPr/>
        </p:nvSpPr>
        <p:spPr>
          <a:xfrm>
            <a:off x="596900" y="4127500"/>
            <a:ext cx="109982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a:ea typeface="Noto Sans SC"/>
                <a:cs typeface="Noto Sans SC"/>
                <a:sym typeface="Noto Sans SC"/>
              </a:rPr>
              <a:t>UR-Agent 背后的团队汇聚了来自人工智能、软件工程与产品设计领域的精英力量。我们以多元的专业背景为基石，秉持“技术赋能创新”的核心理念，将前沿的AI技术与真实的用户需求深度融合，致力于打造智能、高效且极具人性化的协作平台，为每一次交互注入创新的活力与价值。</a:t>
            </a:r>
            <a:endParaRPr lang="en-US" sz="1100"/>
          </a:p>
        </p:txBody>
      </p:sp>
      <p:sp>
        <p:nvSpPr>
          <p:cNvPr id="6" name="AutoShape 6"/>
          <p:cNvSpPr/>
          <p:nvPr/>
        </p:nvSpPr>
        <p:spPr>
          <a:xfrm>
            <a:off x="596900" y="5080000"/>
            <a:ext cx="3492500" cy="1397000"/>
          </a:xfrm>
          <a:prstGeom prst="roundRect">
            <a:avLst>
              <a:gd name="adj" fmla="val 0"/>
            </a:avLst>
          </a:prstGeom>
          <a:solidFill>
            <a:srgbClr val="FFF7ED">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EA580C"/>
                </a:solidFill>
                <a:latin typeface="Noto Sans SC"/>
                <a:ea typeface="Noto Sans SC"/>
                <a:cs typeface="Noto Sans SC"/>
                <a:sym typeface="Noto Sans SC"/>
              </a:rPr>
              <a:t>01 算法研发组</a:t>
            </a:r>
            <a:endParaRPr lang="en-US" sz="1100"/>
          </a:p>
          <a:p>
            <a:pPr marL="0" indent="0" algn="ctr">
              <a:lnSpc>
                <a:spcPct val="100000"/>
              </a:lnSpc>
            </a:pPr>
            <a:r>
              <a:rPr lang="en-US" sz="1100" b="0" i="0" u="none" strike="noStrike">
                <a:solidFill>
                  <a:srgbClr val="4B5563"/>
                </a:solidFill>
                <a:latin typeface="Noto Sans SC"/>
                <a:ea typeface="Noto Sans SC"/>
                <a:cs typeface="Noto Sans SC"/>
                <a:sym typeface="Noto Sans SC"/>
              </a:rPr>
              <a:t>专注于大模型架构优化与微调技术，深耕多模态融合与推理加速，为系统提供底层智能算力支撑，确保UR-Agent的智能深度与高效响应能力。</a:t>
            </a:r>
            <a:endParaRPr lang="en-US" sz="1100" b="0" i="0" u="none" strike="noStrike">
              <a:solidFill>
                <a:srgbClr val="4B5563"/>
              </a:solidFill>
              <a:latin typeface="Noto Sans SC"/>
              <a:ea typeface="Noto Sans SC"/>
              <a:cs typeface="Noto Sans SC"/>
              <a:sym typeface="Noto Sans SC"/>
            </a:endParaRPr>
          </a:p>
        </p:txBody>
      </p:sp>
      <p:sp>
        <p:nvSpPr>
          <p:cNvPr id="7" name="AutoShape 7"/>
          <p:cNvSpPr/>
          <p:nvPr/>
        </p:nvSpPr>
        <p:spPr>
          <a:xfrm>
            <a:off x="4343400" y="5080000"/>
            <a:ext cx="3492500" cy="1397000"/>
          </a:xfrm>
          <a:prstGeom prst="roundRect">
            <a:avLst>
              <a:gd name="adj" fmla="val 0"/>
            </a:avLst>
          </a:prstGeom>
          <a:solidFill>
            <a:srgbClr val="EFF6FF">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2563EB"/>
                </a:solidFill>
                <a:latin typeface="Noto Sans SC"/>
                <a:ea typeface="Noto Sans SC"/>
                <a:cs typeface="Noto Sans SC"/>
                <a:sym typeface="Noto Sans SC"/>
              </a:rPr>
              <a:t>02 产品与交互设计</a:t>
            </a:r>
            <a:endParaRPr lang="en-US" sz="1100"/>
          </a:p>
          <a:p>
            <a:pPr marL="0" indent="0" algn="ctr">
              <a:lnSpc>
                <a:spcPct val="100000"/>
              </a:lnSpc>
            </a:pPr>
            <a:r>
              <a:rPr lang="en-US" sz="1100" b="0" i="0" u="none" strike="noStrike">
                <a:solidFill>
                  <a:srgbClr val="4B5563"/>
                </a:solidFill>
                <a:latin typeface="Noto Sans SC"/>
                <a:ea typeface="Noto Sans SC"/>
                <a:cs typeface="Noto Sans SC"/>
                <a:sym typeface="Noto Sans SC"/>
              </a:rPr>
              <a:t>以用户场景为核心，打造直观流畅的交互体验，将复杂的AI能力转化为易用的产品形态，连接技术创新与真实需求，传递产品的核心价值。</a:t>
            </a:r>
            <a:endParaRPr lang="en-US" sz="1100" b="0" i="0" u="none" strike="noStrike">
              <a:solidFill>
                <a:srgbClr val="4B5563"/>
              </a:solidFill>
              <a:latin typeface="Noto Sans SC"/>
              <a:ea typeface="Noto Sans SC"/>
              <a:cs typeface="Noto Sans SC"/>
              <a:sym typeface="Noto Sans SC"/>
            </a:endParaRPr>
          </a:p>
        </p:txBody>
      </p:sp>
      <p:sp>
        <p:nvSpPr>
          <p:cNvPr id="8" name="AutoShape 8"/>
          <p:cNvSpPr/>
          <p:nvPr/>
        </p:nvSpPr>
        <p:spPr>
          <a:xfrm>
            <a:off x="8089900" y="5080000"/>
            <a:ext cx="3492500" cy="1397000"/>
          </a:xfrm>
          <a:prstGeom prst="roundRect">
            <a:avLst>
              <a:gd name="adj" fmla="val 0"/>
            </a:avLst>
          </a:prstGeom>
          <a:solidFill>
            <a:srgbClr val="ECFDF5">
              <a:alpha val="100000"/>
            </a:srgbClr>
          </a:solidFill>
          <a:ln w="25400" cap="flat" cmpd="sng">
            <a:noFill/>
            <a:prstDash val="solid"/>
            <a:round/>
          </a:ln>
        </p:spPr>
        <p:txBody>
          <a:bodyPr vert="horz" wrap="square" lIns="152400" tIns="127000" rIns="152400" bIns="127000" rtlCol="0" anchor="ctr" anchorCtr="0"/>
          <a:lstStyle/>
          <a:p>
            <a:pPr marL="0" indent="0" algn="ctr">
              <a:lnSpc>
                <a:spcPct val="100000"/>
              </a:lnSpc>
              <a:defRPr/>
            </a:pPr>
            <a:r>
              <a:rPr lang="en-US" sz="1400" b="1" i="0" u="none" strike="noStrike">
                <a:solidFill>
                  <a:srgbClr val="059669"/>
                </a:solidFill>
                <a:latin typeface="Noto Sans SC"/>
                <a:ea typeface="Noto Sans SC"/>
                <a:cs typeface="Noto Sans SC"/>
                <a:sym typeface="Noto Sans SC"/>
              </a:rPr>
              <a:t>03 工程与运维组</a:t>
            </a:r>
            <a:endParaRPr lang="en-US" sz="1100"/>
          </a:p>
          <a:p>
            <a:pPr marL="0" indent="0" algn="ctr">
              <a:lnSpc>
                <a:spcPct val="100000"/>
              </a:lnSpc>
            </a:pPr>
            <a:r>
              <a:rPr lang="en-US" sz="1100" b="0" i="0" u="none" strike="noStrike">
                <a:solidFill>
                  <a:srgbClr val="4B5563"/>
                </a:solidFill>
                <a:latin typeface="Noto Sans SC"/>
                <a:ea typeface="Noto Sans SC"/>
                <a:cs typeface="Noto Sans SC"/>
                <a:sym typeface="Noto Sans SC"/>
              </a:rPr>
              <a:t>负责高并发系统架构搭建与云端部署，保障服务的稳定性、安全性与可扩展性，通过工程化实践让AI能力稳定、高效地触达每一位用户。</a:t>
            </a:r>
            <a:endParaRPr lang="en-US" sz="11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96900" y="381000"/>
            <a:ext cx="6858000" cy="292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spc="100">
                <a:solidFill>
                  <a:srgbClr val="FF6B35"/>
                </a:solidFill>
                <a:latin typeface="微软雅黑"/>
                <a:ea typeface="微软雅黑"/>
                <a:cs typeface="微软雅黑"/>
                <a:sym typeface="微软雅黑"/>
              </a:rPr>
              <a:t>团队概况</a:t>
            </a:r>
            <a:endParaRPr lang="en-US" sz="1100"/>
          </a:p>
        </p:txBody>
      </p:sp>
      <p:sp>
        <p:nvSpPr>
          <p:cNvPr id="3" name="AutoShape 3"/>
          <p:cNvSpPr/>
          <p:nvPr/>
        </p:nvSpPr>
        <p:spPr>
          <a:xfrm>
            <a:off x="596900" y="660400"/>
            <a:ext cx="7493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2900" b="1" i="0" u="none" strike="noStrike">
                <a:solidFill>
                  <a:srgbClr val="1B1F3B"/>
                </a:solidFill>
                <a:latin typeface="微软雅黑"/>
                <a:ea typeface="微软雅黑"/>
                <a:cs typeface="微软雅黑"/>
                <a:sym typeface="微软雅黑"/>
              </a:rPr>
              <a:t>Team Introduction</a:t>
            </a:r>
            <a:endParaRPr lang="en-US" sz="1100"/>
          </a:p>
        </p:txBody>
      </p:sp>
      <p:sp>
        <p:nvSpPr>
          <p:cNvPr id="4" name="AutoShape 4"/>
          <p:cNvSpPr/>
          <p:nvPr/>
        </p:nvSpPr>
        <p:spPr>
          <a:xfrm>
            <a:off x="596900" y="1587500"/>
            <a:ext cx="10998200" cy="4572000"/>
          </a:xfrm>
          <a:prstGeom prst="roundRect">
            <a:avLst>
              <a:gd name="adj" fmla="val 0"/>
            </a:avLst>
          </a:prstGeom>
          <a:noFill/>
          <a:ln w="25400" cap="flat" cmpd="sng">
            <a:noFill/>
            <a:prstDash val="solid"/>
            <a:round/>
          </a:ln>
        </p:spPr>
        <p:txBody>
          <a:bodyPr vert="horz" wrap="square" lIns="88900" tIns="50800" rIns="88900" bIns="50800"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0" indent="0" algn="l">
              <a:lnSpc>
                <a:spcPct val="108000"/>
              </a:lnSpc>
              <a:defRPr/>
            </a:pPr>
            <a:r>
              <a:rPr lang="en-US" sz="1600" b="1" i="0" u="none" strike="noStrike">
                <a:solidFill>
                  <a:srgbClr val="1B1F3B"/>
                </a:solidFill>
                <a:latin typeface="微软雅黑"/>
                <a:ea typeface="微软雅黑"/>
                <a:cs typeface="微软雅黑"/>
                <a:sym typeface="微软雅黑"/>
              </a:rPr>
              <a:t>Team Name: Uni-Resource Team</a:t>
            </a:r>
            <a:endParaRPr lang="en-US" sz="1100"/>
          </a:p>
          <a:p>
            <a:pPr marL="0" indent="0" algn="l">
              <a:lnSpc>
                <a:spcPct val="108000"/>
              </a:lnSpc>
              <a:spcBef>
                <a:spcPts val="1000"/>
              </a:spcBef>
            </a:pPr>
            <a:r>
              <a:rPr lang="en-US" sz="1600" b="1" i="0" u="none" strike="noStrike">
                <a:solidFill>
                  <a:srgbClr val="1B1F3B"/>
                </a:solidFill>
                <a:latin typeface="微软雅黑"/>
                <a:ea typeface="微软雅黑"/>
                <a:cs typeface="微软雅黑"/>
                <a:sym typeface="微软雅黑"/>
              </a:rPr>
              <a:t>I. Core AI Agents &amp; Roles</a:t>
            </a:r>
            <a:endParaRPr lang="en-US" sz="1600" b="1" i="0" u="none" strike="noStrike">
              <a:solidFill>
                <a:srgbClr val="1B1F3B"/>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Orchestration Agent:</a:t>
            </a:r>
            <a:r>
              <a:rPr lang="en-US" sz="1400" b="0" i="0" u="none" strike="noStrike">
                <a:solidFill>
                  <a:srgbClr val="50555F"/>
                </a:solidFill>
                <a:latin typeface="微软雅黑"/>
                <a:ea typeface="微软雅黑"/>
                <a:cs typeface="微软雅黑"/>
                <a:sym typeface="微软雅黑"/>
              </a:rPr>
              <a:t>Oversees project architecture, task orchestration logic, testing strategy formulation, and end-to-end quality control to ensure seamless workflow.</a:t>
            </a:r>
            <a:endParaRPr lang="en-US" sz="1400" b="0" i="0" u="none" strike="noStrike">
              <a:solidFill>
                <a:srgbClr val="50555F"/>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Backend Agent:</a:t>
            </a:r>
            <a:r>
              <a:rPr lang="en-US" sz="1400" b="0" i="0" u="none" strike="noStrike">
                <a:solidFill>
                  <a:srgbClr val="50555F"/>
                </a:solidFill>
                <a:latin typeface="微软雅黑"/>
                <a:ea typeface="微软雅黑"/>
                <a:cs typeface="微软雅黑"/>
                <a:sym typeface="微软雅黑"/>
              </a:rPr>
              <a:t>Builds high-performance FastAPI services, optimizes database architecture, and delivers robust business APIs &amp; tooling infrastructure.</a:t>
            </a:r>
            <a:endParaRPr lang="en-US" sz="1400" b="0" i="0" u="none" strike="noStrike">
              <a:solidFill>
                <a:srgbClr val="50555F"/>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Frontend Agent:</a:t>
            </a:r>
            <a:r>
              <a:rPr lang="en-US" sz="1400" b="0" i="0" u="none" strike="noStrike">
                <a:solidFill>
                  <a:srgbClr val="50555F"/>
                </a:solidFill>
                <a:latin typeface="微软雅黑"/>
                <a:ea typeface="微软雅黑"/>
                <a:cs typeface="微软雅黑"/>
                <a:sym typeface="微软雅黑"/>
              </a:rPr>
              <a:t>Develops Vue 3 interactive dashboards, implements multi-space UI/UX logic, and optimizes real-time responsiveness for end-users.</a:t>
            </a:r>
            <a:endParaRPr lang="en-US" sz="1400" b="0" i="0" u="none" strike="noStrike">
              <a:solidFill>
                <a:srgbClr val="50555F"/>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AI/ML Agent:</a:t>
            </a:r>
            <a:r>
              <a:rPr lang="en-US" sz="1400" b="0" i="0" u="none" strike="noStrike">
                <a:solidFill>
                  <a:srgbClr val="50555F"/>
                </a:solidFill>
                <a:latin typeface="微软雅黑"/>
                <a:ea typeface="微软雅黑"/>
                <a:cs typeface="微软雅黑"/>
                <a:sym typeface="微软雅黑"/>
              </a:rPr>
              <a:t>Deploys lightweight LLM pipelines, integrates llama.cpp for local inference, fine-tunes RAG systems, and boosts model accuracy &amp; speed.</a:t>
            </a:r>
            <a:endParaRPr lang="en-US" sz="1400" b="0" i="0" u="none" strike="noStrike">
              <a:solidFill>
                <a:srgbClr val="50555F"/>
              </a:solidFill>
              <a:latin typeface="微软雅黑"/>
              <a:ea typeface="微软雅黑"/>
              <a:cs typeface="微软雅黑"/>
              <a:sym typeface="微软雅黑"/>
            </a:endParaRPr>
          </a:p>
          <a:p>
            <a:pPr marL="0" indent="0" algn="l">
              <a:lnSpc>
                <a:spcPct val="108000"/>
              </a:lnSpc>
              <a:spcBef>
                <a:spcPts val="1000"/>
              </a:spcBef>
            </a:pPr>
            <a:r>
              <a:rPr lang="en-US" sz="1600" b="1" i="0" u="none" strike="noStrike">
                <a:solidFill>
                  <a:srgbClr val="1B1F3B"/>
                </a:solidFill>
                <a:latin typeface="微软雅黑"/>
                <a:ea typeface="微软雅黑"/>
                <a:cs typeface="微软雅黑"/>
                <a:sym typeface="微软雅黑"/>
              </a:rPr>
              <a:t>II. Collective Achievements &amp; Experience</a:t>
            </a:r>
            <a:endParaRPr lang="en-US" sz="1600" b="1" i="0" u="none" strike="noStrike">
              <a:solidFill>
                <a:srgbClr val="1B1F3B"/>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2025 Dataphile AI Excellence Award:</a:t>
            </a:r>
            <a:r>
              <a:rPr lang="en-US" sz="1400" b="0" i="0" u="none" strike="noStrike">
                <a:solidFill>
                  <a:srgbClr val="50555F"/>
                </a:solidFill>
                <a:latin typeface="微软雅黑"/>
                <a:ea typeface="微软雅黑"/>
                <a:cs typeface="微软雅黑"/>
                <a:sym typeface="微软雅黑"/>
              </a:rPr>
              <a:t>Independently built the full-stack "Intelligent Academic Assistant"—an innovative LLM-powered tool recognized for its comprehensive workflow and user-centric design.</a:t>
            </a:r>
            <a:endParaRPr lang="en-US" sz="1400" b="0" i="0" u="none" strike="noStrike">
              <a:solidFill>
                <a:srgbClr val="50555F"/>
              </a:solidFill>
              <a:latin typeface="微软雅黑"/>
              <a:ea typeface="微软雅黑"/>
              <a:cs typeface="微软雅黑"/>
              <a:sym typeface="微软雅黑"/>
            </a:endParaRPr>
          </a:p>
          <a:p>
            <a:pPr marL="292100" indent="-279400" algn="l">
              <a:lnSpc>
                <a:spcPct val="108000"/>
              </a:lnSpc>
              <a:buClr>
                <a:srgbClr val="1F2329"/>
              </a:buClr>
              <a:buFont typeface="Arial" panose="020B0604020202090204"/>
              <a:buChar char="•"/>
            </a:pPr>
            <a:r>
              <a:rPr lang="en-US" sz="1400" b="1" i="0" u="none" strike="noStrike">
                <a:solidFill>
                  <a:srgbClr val="1F2329"/>
                </a:solidFill>
                <a:latin typeface="微软雅黑"/>
                <a:ea typeface="微软雅黑"/>
                <a:cs typeface="微软雅黑"/>
                <a:sym typeface="微软雅黑"/>
              </a:rPr>
              <a:t>Open Source Leadership:</a:t>
            </a:r>
            <a:r>
              <a:rPr lang="en-US" sz="1400" b="0" i="0" u="none" strike="noStrike">
                <a:solidFill>
                  <a:srgbClr val="50555F"/>
                </a:solidFill>
                <a:latin typeface="微软雅黑"/>
                <a:ea typeface="微软雅黑"/>
                <a:cs typeface="微软雅黑"/>
                <a:sym typeface="微软雅黑"/>
              </a:rPr>
              <a:t>Maintains top-tier open-source projects on GitHub, contributing production-grade AI toolkits, FastAPI/Vue templates, and RAG documentation to the global developer community.</a:t>
            </a:r>
            <a:endParaRPr lang="en-US" sz="1400" b="0" i="0" u="none" strike="noStrike">
              <a:solidFill>
                <a:srgbClr val="50555F"/>
              </a:solidFill>
              <a:latin typeface="微软雅黑"/>
              <a:ea typeface="微软雅黑"/>
              <a:cs typeface="微软雅黑"/>
              <a:sym typeface="微软雅黑"/>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1F3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23400" y="-1282700"/>
            <a:ext cx="4114800" cy="41148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604500" y="4203700"/>
            <a:ext cx="2921000" cy="29210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25500" y="4940300"/>
            <a:ext cx="2743200" cy="2743200"/>
          </a:xfrm>
          <a:prstGeom prst="ellipse">
            <a:avLst/>
          </a:prstGeom>
          <a:solidFill>
            <a:srgbClr val="2A2F5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96900" y="1549400"/>
            <a:ext cx="762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spc="100">
                <a:solidFill>
                  <a:srgbClr val="FF6B35"/>
                </a:solidFill>
                <a:latin typeface="微软雅黑"/>
                <a:ea typeface="微软雅黑"/>
                <a:cs typeface="微软雅黑"/>
                <a:sym typeface="微软雅黑"/>
              </a:rPr>
              <a:t>智能体资源调度与协同生态</a:t>
            </a:r>
            <a:endParaRPr lang="en-US" sz="1100"/>
          </a:p>
        </p:txBody>
      </p:sp>
      <p:sp>
        <p:nvSpPr>
          <p:cNvPr id="6" name="AutoShape 6"/>
          <p:cNvSpPr/>
          <p:nvPr/>
        </p:nvSpPr>
        <p:spPr>
          <a:xfrm>
            <a:off x="596900" y="2222500"/>
            <a:ext cx="8686800" cy="152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5600" b="1" i="0" u="none" strike="noStrike">
                <a:solidFill>
                  <a:srgbClr val="FFFFFF"/>
                </a:solidFill>
                <a:latin typeface="微软雅黑"/>
                <a:ea typeface="微软雅黑"/>
                <a:cs typeface="微软雅黑"/>
                <a:sym typeface="微软雅黑"/>
              </a:rPr>
              <a:t>Thank You</a:t>
            </a:r>
            <a:endParaRPr lang="en-US" sz="1100"/>
          </a:p>
        </p:txBody>
      </p:sp>
      <p:sp>
        <p:nvSpPr>
          <p:cNvPr id="7" name="AutoShape 7"/>
          <p:cNvSpPr/>
          <p:nvPr/>
        </p:nvSpPr>
        <p:spPr>
          <a:xfrm>
            <a:off x="596900" y="4318000"/>
            <a:ext cx="8255000" cy="1270000"/>
          </a:xfrm>
          <a:prstGeom prst="roundRect">
            <a:avLst>
              <a:gd name="adj" fmla="val 0"/>
            </a:avLst>
          </a:prstGeom>
          <a:noFill/>
          <a:ln w="25400" cap="flat" cmpd="sng">
            <a:noFill/>
            <a:prstDash val="solid"/>
            <a:round/>
          </a:ln>
        </p:spPr>
        <p:txBody>
          <a:bodyPr vert="horz" wrap="square" lIns="88900" tIns="76200" rIns="88900" bIns="76200" rtlCol="0" anchor="t" anchorCtr="0"/>
          <a:lstStyle/>
          <a:p>
            <a:pPr marL="0" indent="0" algn="l">
              <a:lnSpc>
                <a:spcPct val="117000"/>
              </a:lnSpc>
              <a:defRPr/>
            </a:pPr>
            <a:r>
              <a:rPr lang="en-US" sz="1500" b="0" i="0" u="none" strike="noStrike">
                <a:solidFill>
                  <a:srgbClr val="C8CDEB"/>
                </a:solidFill>
                <a:latin typeface="微软雅黑"/>
                <a:ea typeface="微软雅黑"/>
                <a:cs typeface="微软雅黑"/>
                <a:sym typeface="微软雅黑"/>
              </a:rPr>
              <a:t>Looking forward to in-depth exchanges with you, exploring the infinite possibilities of intelligent agent resource scheduling and collaboration, and jointly creating a new future for the AI ecosystem.</a:t>
            </a:r>
            <a:endParaRPr lang="en-US" sz="1100"/>
          </a:p>
        </p:txBody>
      </p:sp>
      <p:sp>
        <p:nvSpPr>
          <p:cNvPr id="8" name="AutoShape 8"/>
          <p:cNvSpPr/>
          <p:nvPr/>
        </p:nvSpPr>
        <p:spPr>
          <a:xfrm>
            <a:off x="596900" y="6096000"/>
            <a:ext cx="889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AEB6D6"/>
                </a:solidFill>
                <a:latin typeface="微软雅黑"/>
                <a:ea typeface="微软雅黑"/>
                <a:cs typeface="微软雅黑"/>
                <a:sym typeface="微软雅黑"/>
              </a:rPr>
              <a:t>2026 AI Agent Summit | Co-creating the New Future of Intelligent Collaboration</a:t>
            </a:r>
            <a:endParaRPr lang="en-US" sz="1100"/>
          </a:p>
        </p:txBody>
      </p:sp>
      <p:sp>
        <p:nvSpPr>
          <p:cNvPr id="11" name="AutoShape 5"/>
          <p:cNvSpPr/>
          <p:nvPr/>
        </p:nvSpPr>
        <p:spPr>
          <a:xfrm>
            <a:off x="596900" y="1092200"/>
            <a:ext cx="762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spc="100">
                <a:solidFill>
                  <a:srgbClr val="FF6B35"/>
                </a:solidFill>
                <a:latin typeface="微软雅黑"/>
                <a:ea typeface="微软雅黑"/>
                <a:cs typeface="微软雅黑"/>
                <a:sym typeface="微软雅黑"/>
              </a:rPr>
              <a:t>UR-Agent (Uni-Resource Agent)</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26929</Words>
  <Application>WPS 演示</Application>
  <PresentationFormat/>
  <Paragraphs>563</Paragraphs>
  <Slides>28</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28</vt:i4>
      </vt:variant>
    </vt:vector>
  </HeadingPairs>
  <TitlesOfParts>
    <vt:vector size="49" baseType="lpstr">
      <vt:lpstr>Arial</vt:lpstr>
      <vt:lpstr>宋体</vt:lpstr>
      <vt:lpstr>Wingdings</vt:lpstr>
      <vt:lpstr>Arial</vt:lpstr>
      <vt:lpstr>微软雅黑</vt:lpstr>
      <vt:lpstr>方正雅意黑 GB18030L2</vt:lpstr>
      <vt:lpstr>Calibri</vt:lpstr>
      <vt:lpstr>Helvetica Neue</vt:lpstr>
      <vt:lpstr>Noto Sans SC</vt:lpstr>
      <vt:lpstr>Songti SC</vt:lpstr>
      <vt:lpstr>微软雅黑</vt:lpstr>
      <vt:lpstr>宋体</vt:lpstr>
      <vt:lpstr>Arial Unicode MS</vt:lpstr>
      <vt:lpstr>汉仪书宋二KW</vt:lpstr>
      <vt:lpstr>Thonburi</vt:lpstr>
      <vt:lpstr>Noto Sans SC</vt:lpstr>
      <vt:lpstr>微软雅黑</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xiilab</cp:lastModifiedBy>
  <cp:revision>1</cp:revision>
  <dcterms:created xsi:type="dcterms:W3CDTF">2026-08-04T18:05:45Z</dcterms:created>
  <dcterms:modified xsi:type="dcterms:W3CDTF">2026-08-04T18:05:45Z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{"Label":"1","ContentProducer":"001191110102MACQD9K64010000","ProduceID":"7670235377332851000","ReservedCode1":"","ContentPropagator":"","PropagateID":"","ReservedCode2":""}</vt:lpwstr>
  </property>
  <property fmtid="{D5CDD505-2E9C-101B-9397-08002B2CF9AE}" pid="3" name="KSOProductBuildVer">
    <vt:lpwstr>2052-12.1.26035.26035</vt:lpwstr>
  </property>
  <property fmtid="{D5CDD505-2E9C-101B-9397-08002B2CF9AE}" pid="4" name="ICV">
    <vt:lpwstr>3BE2C5B24910B378F929726A6C3FF84A_42</vt:lpwstr>
  </property>
</Properties>
</file>