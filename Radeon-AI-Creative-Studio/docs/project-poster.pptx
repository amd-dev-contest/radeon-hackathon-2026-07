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b9330215bfd4e69" /><Relationship Type="http://schemas.openxmlformats.org/officeDocument/2006/relationships/extended-properties" Target="/docProps/app.xml" Id="R0de1f2d9f683411e" /><Relationship Type="http://schemas.openxmlformats.org/officeDocument/2006/relationships/officeDocument" Target="/ppt/presentation.xml" Id="R3ed59da1249f47b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83ff20592446a3"/>
  </p:sldMasterIdLst>
  <p:notesMasterIdLst>
    <p:notesMasterId xmlns:r="http://schemas.openxmlformats.org/officeDocument/2006/relationships" r:id="R1a0cd7adb1fb4537"/>
  </p:notesMasterIdLst>
  <p:sldIdLst>
    <p:sldId xmlns:r="http://schemas.openxmlformats.org/officeDocument/2006/relationships" id="256" r:id="R8b04071348e64072"/>
    <p:sldId xmlns:r="http://schemas.openxmlformats.org/officeDocument/2006/relationships" id="257" r:id="R3303a2c09be54c17"/>
    <p:sldId xmlns:r="http://schemas.openxmlformats.org/officeDocument/2006/relationships" id="258" r:id="R73aa54971e844322"/>
    <p:sldId xmlns:r="http://schemas.openxmlformats.org/officeDocument/2006/relationships" id="259" r:id="R2833bfbff5a6400f"/>
    <p:sldId xmlns:r="http://schemas.openxmlformats.org/officeDocument/2006/relationships" id="260" r:id="R40f1bcba5a4a47c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7d4d3ca99b4fcc" /><Relationship Type="http://schemas.openxmlformats.org/officeDocument/2006/relationships/slideMaster" Target="/ppt/slideMasters/slideMaster1.xml" Id="Rda83ff20592446a3" /><Relationship Type="http://schemas.openxmlformats.org/officeDocument/2006/relationships/notesMaster" Target="/ppt/notesMasters/notesMaster1.xml" Id="R1a0cd7adb1fb4537" /><Relationship Type="http://schemas.openxmlformats.org/officeDocument/2006/relationships/presProps" Target="/ppt/presProps.xml" Id="R7ecb0afadeb34e10" /><Relationship Type="http://schemas.openxmlformats.org/officeDocument/2006/relationships/tableStyles" Target="/ppt/tableStyles.xml" Id="R8c41870fbc234d99" /><Relationship Type="http://schemas.openxmlformats.org/officeDocument/2006/relationships/slide" Target="/ppt/slides/slide1.xml" Id="R8b04071348e64072" /><Relationship Type="http://schemas.openxmlformats.org/officeDocument/2006/relationships/slide" Target="/ppt/slides/slide2.xml" Id="R3303a2c09be54c17" /><Relationship Type="http://schemas.openxmlformats.org/officeDocument/2006/relationships/slide" Target="/ppt/slides/slide3.xml" Id="R73aa54971e844322" /><Relationship Type="http://schemas.openxmlformats.org/officeDocument/2006/relationships/slide" Target="/ppt/slides/slide4.xml" Id="R2833bfbff5a6400f" /><Relationship Type="http://schemas.openxmlformats.org/officeDocument/2006/relationships/slide" Target="/ppt/slides/slide5.xml" Id="R40f1bcba5a4a47c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b8fef129223413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c603d0efbf4b2f" /><Relationship Type="http://schemas.openxmlformats.org/officeDocument/2006/relationships/notesMaster" Target="/ppt/notesMasters/notesMaster1.xml" Id="R5b9721a69559494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738ad31f0b64f21" /><Relationship Type="http://schemas.openxmlformats.org/officeDocument/2006/relationships/notesMaster" Target="/ppt/notesMasters/notesMaster1.xml" Id="R080f27ef1bbc47b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c1899094e0d4ab0" /><Relationship Type="http://schemas.openxmlformats.org/officeDocument/2006/relationships/notesMaster" Target="/ppt/notesMasters/notesMaster1.xml" Id="Re76e7adc396546c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a5a607a2a5348fe" /><Relationship Type="http://schemas.openxmlformats.org/officeDocument/2006/relationships/notesMaster" Target="/ppt/notesMasters/notesMaster1.xml" Id="Rc5a2b81fabe04a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2dd2f987fa64ee5" /><Relationship Type="http://schemas.openxmlformats.org/officeDocument/2006/relationships/notesMaster" Target="/ppt/notesMasters/notesMaster1.xml" Id="Rd108b34c7c704c7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source code, curated output images in assets/, and the competition rules supplied by the participant.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Source: project source code and curated assets/batch-candidate-1.png and assets/enhanced.png. No external visual asset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Source: project architecture described in docs/project-profile.md and implementation in app.py, pipeline/image_generator.py, and configs/config.py.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Source: project source code, docs/benchmark.md, and the completed Radeon Cloud UI evidence screenshots. Evidence run: AMD Radeon Graphics, 47.98 GB VRAM, PyTorch 2.9.1, ROCm/HIP 7.2. Text-to-image 2.14 s; image-to-image 0.84 s; batch 4 images in 284.11 s; enhancement 0.08 s. Pillow enhancement is CPU post-processing.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Source: curated project outputs in assets/ and application scenarios in docs/project-profile.md. Competition track wording comes from the supplied rules document.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792668028f4c1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eceb4944864d93" /><Relationship Type="http://schemas.openxmlformats.org/officeDocument/2006/relationships/slideLayout" Target="/ppt/slideLayouts/slideLayout1.xml" Id="Rf29c71ab1a8e475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29c71ab1a8e475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640e6275d642d4" /><Relationship Type="http://schemas.openxmlformats.org/officeDocument/2006/relationships/image" Target="/ppt/media/image.png" Id="R88c4b505da69433f" /><Relationship Type="http://schemas.openxmlformats.org/officeDocument/2006/relationships/image" Target="/ppt/media/image2.png" Id="R0f12bbdb05a04f91" /><Relationship Type="http://schemas.openxmlformats.org/officeDocument/2006/relationships/notesSlide" Target="/ppt/notesSlides/notesSlide1.xml" Id="R25807c79618d4bb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b025569b1944f7" /><Relationship Type="http://schemas.openxmlformats.org/officeDocument/2006/relationships/image" Target="/ppt/media/image3.png" Id="Rfc21a3ef4c1848d1" /><Relationship Type="http://schemas.openxmlformats.org/officeDocument/2006/relationships/image" Target="/ppt/media/image4.png" Id="R4ee4f94be73f43f7" /><Relationship Type="http://schemas.openxmlformats.org/officeDocument/2006/relationships/notesSlide" Target="/ppt/notesSlides/notesSlide2.xml" Id="R2a802c65e13f45d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b5bfbbfd0445c2" /><Relationship Type="http://schemas.openxmlformats.org/officeDocument/2006/relationships/notesSlide" Target="/ppt/notesSlides/notesSlide3.xml" Id="R5d4f081f81bc4c4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efe1c5985f4ca7" /><Relationship Type="http://schemas.openxmlformats.org/officeDocument/2006/relationships/notesSlide" Target="/ppt/notesSlides/notesSlide4.xml" Id="R01a2168b53d5458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192bf3db234e7d" /><Relationship Type="http://schemas.openxmlformats.org/officeDocument/2006/relationships/image" Target="/ppt/media/image5.png" Id="Rec7def355d94487a" /><Relationship Type="http://schemas.openxmlformats.org/officeDocument/2006/relationships/image" Target="/ppt/media/image6.png" Id="Rd8ff615cdb9a4002" /><Relationship Type="http://schemas.openxmlformats.org/officeDocument/2006/relationships/image" Target="/ppt/media/image7.png" Id="R6be7cc3d8af34467" /><Relationship Type="http://schemas.openxmlformats.org/officeDocument/2006/relationships/notesSlide" Target="/ppt/notesSlides/notesSlide5.xml" Id="R043003d312114cb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C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BFADAA-868C-4EFA-A6F7-6AF4A09A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66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D6FF"/>
          </a:solidFill>
          <a:ln xmlns:a="http://schemas.openxmlformats.org/drawingml/2006/main" w="0">
            <a:solidFill>
              <a:srgbClr val="55D6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3F5014-AEC5-422B-A4B9-D7EFCE75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5905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5FBFF"/>
                </a:solidFill>
              </a:defRPr>
            </a:pPr>
            <a:r>
              <a:rPr sz="4350" b="1">
                <a:solidFill>
                  <a:srgbClr val="F5FBFF"/>
                </a:solidFill>
              </a:rPr>
              <a:t>Radeon AI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F5FBFF"/>
                </a:solidFill>
              </a:defRPr>
            </a:pPr>
            <a:r>
              <a:rPr sz="4350" b="1">
                <a:solidFill>
                  <a:srgbClr val="F5FBFF"/>
                </a:solidFill>
              </a:rPr>
              <a:t>Creative Studio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CB313F-6A5C-42EF-8443-87734AA9F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62300"/>
            <a:ext cx="533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5D6FF"/>
                </a:solidFill>
              </a:defRPr>
            </a:pPr>
            <a:r>
              <a:rPr sz="1800" b="0">
                <a:solidFill>
                  <a:srgbClr val="55D6FF"/>
                </a:solidFill>
              </a:rPr>
              <a:t>Local visual ideation powered by AMD Radeon GPU + ROCm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7E79FB-FCAE-4B8F-9541-FAE1547F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0"/>
            <a:ext cx="638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B8CBD9"/>
                </a:solidFill>
              </a:defRPr>
            </a:pPr>
            <a:r>
              <a:rPr sz="1350" b="0">
                <a:solidFill>
                  <a:srgbClr val="B8CBD9"/>
                </a:solidFill>
              </a:rPr>
              <a:t>Text-to-image  |  Image-to-image  |  Batch creation  |  Enhancement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806A0B-0FE8-48DE-8A1C-01BFAB496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895350"/>
            <a:ext cx="3333750" cy="495300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103451"/>
          </a:solidFill>
          <a:ln xmlns:a="http://schemas.openxmlformats.org/drawingml/2006/main" w="0">
            <a:solidFill>
              <a:srgbClr val="103451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c4b505da69433f"/>
          <a:srcRect xmlns:a="http://schemas.openxmlformats.org/drawingml/2006/main" l="0" t="10927" r="0" b="109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48650" y="1123950"/>
            <a:ext cx="2876550" cy="2247900"/>
          </a:xfrm>
          <a:prstGeom xmlns:a="http://schemas.openxmlformats.org/drawingml/2006/main" prst="roundRect">
            <a:avLst>
              <a:gd name="adj" fmla="val 5085"/>
            </a:avLst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12bbdb05a04f91"/>
          <a:srcRect xmlns:a="http://schemas.openxmlformats.org/drawingml/2006/main" l="0" t="15563" r="0" b="155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48650" y="3638550"/>
            <a:ext cx="2876550" cy="1981200"/>
          </a:xfrm>
          <a:prstGeom xmlns:a="http://schemas.openxmlformats.org/drawingml/2006/main" prst="roundRect">
            <a:avLst>
              <a:gd name="adj" fmla="val 5769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7A776E-FA67-4BDF-81EA-FE879AF69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72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B35C"/>
                </a:solidFill>
              </a:defRPr>
            </a:pPr>
            <a:r>
              <a:rPr sz="1200" b="1">
                <a:solidFill>
                  <a:srgbClr val="FFB35C"/>
                </a:solidFill>
              </a:rPr>
              <a:t>TRACK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676F0A-C945-4DB9-864E-DD5202B3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7721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BD9"/>
                </a:solidFill>
              </a:defRPr>
            </a:pPr>
            <a:r>
              <a:rPr sz="1200" b="0">
                <a:solidFill>
                  <a:srgbClr val="B8CBD9"/>
                </a:solidFill>
              </a:rPr>
              <a:t>AMD AI DevMaster Radeon GPU Hackathon 2026</a:t>
            </a:r>
          </a:p>
        </p:txBody>
      </p:sp>
    </p:spTree>
    <p:extLst>
      <p:ext uri="{BB962C8B-B14F-4D97-AF65-F5344CB8AC3E}">
        <p14:creationId xmlns:p14="http://schemas.microsoft.com/office/powerpoint/2010/main" val="20203296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C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31D127-4982-4F62-98A8-10719C3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5FBFF"/>
                </a:solidFill>
              </a:defRPr>
            </a:pPr>
            <a:r>
              <a:rPr sz="2850" b="1">
                <a:solidFill>
                  <a:srgbClr val="F5FBFF"/>
                </a:solidFill>
              </a:rPr>
              <a:t>A complete creation loop for fast visual exploration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595C15-A933-416C-83BA-94AF33DE0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B8CBD9"/>
                </a:solidFill>
              </a:defRPr>
            </a:pPr>
            <a:r>
              <a:rPr sz="1500" b="0">
                <a:solidFill>
                  <a:srgbClr val="B8CBD9"/>
                </a:solidFill>
              </a:rPr>
              <a:t>One local workspace moves from idea to comparable, downloadable candidates.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878FAB-D9C2-4E51-8E54-BFC4D160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24003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03451"/>
          </a:solidFill>
          <a:ln xmlns:a="http://schemas.openxmlformats.org/drawingml/2006/main" w="0">
            <a:solidFill>
              <a:srgbClr val="1034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AEFE70-7C6A-4EE0-8001-D0E108DD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5D6FF"/>
                </a:solidFill>
              </a:defRPr>
            </a:pPr>
            <a:r>
              <a:rPr sz="1800" b="1">
                <a:solidFill>
                  <a:srgbClr val="55D6FF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7CD713-4DE0-4A7C-9BEA-1087C7FCA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43200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5FBFF"/>
                </a:solidFill>
              </a:defRPr>
            </a:pPr>
            <a:r>
              <a:rPr sz="1875" b="1">
                <a:solidFill>
                  <a:srgbClr val="F5FBFF"/>
                </a:solidFill>
              </a:rPr>
              <a:t>Describe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545849-8F42-45EB-9BF2-96F5DCE71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76600"/>
            <a:ext cx="19716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BD9"/>
                </a:solidFill>
              </a:defRPr>
            </a:pPr>
            <a:r>
              <a:rPr sz="1275" b="0">
                <a:solidFill>
                  <a:srgbClr val="B8CBD9"/>
                </a:solidFill>
              </a:rPr>
              <a:t>Prompt templates turn a short idea into a structured creative brief.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F4F6FF-766B-49DD-A5F5-C44FA006C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19300"/>
            <a:ext cx="24003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03451"/>
          </a:solidFill>
          <a:ln xmlns:a="http://schemas.openxmlformats.org/drawingml/2006/main" w="0">
            <a:solidFill>
              <a:srgbClr val="103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A759FA-F89F-4954-BC8D-AA111FB55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2098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5D6FF"/>
                </a:solidFill>
              </a:defRPr>
            </a:pPr>
            <a:r>
              <a:rPr sz="1800" b="1">
                <a:solidFill>
                  <a:srgbClr val="55D6FF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BCB6B7-C735-4526-B874-730D0E25E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743200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5FBFF"/>
                </a:solidFill>
              </a:defRPr>
            </a:pPr>
            <a:r>
              <a:rPr sz="1875" b="1">
                <a:solidFill>
                  <a:srgbClr val="F5FBFF"/>
                </a:solidFill>
              </a:rPr>
              <a:t>Generate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B7BBCE-E195-4F77-AB78-5850DDC7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276600"/>
            <a:ext cx="19716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BD9"/>
                </a:solidFill>
              </a:defRPr>
            </a:pPr>
            <a:r>
              <a:rPr sz="1275" b="0">
                <a:solidFill>
                  <a:srgbClr val="B8CBD9"/>
                </a:solidFill>
              </a:rPr>
              <a:t>Stable Diffusion creates a new image or restyles a reference.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933CFB-AC76-4A9F-B73F-DE08E4A03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19300"/>
            <a:ext cx="24003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03451"/>
          </a:solidFill>
          <a:ln xmlns:a="http://schemas.openxmlformats.org/drawingml/2006/main" w="0">
            <a:solidFill>
              <a:srgbClr val="10345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F2209C-A5D1-4D14-AA72-F945D5DF3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098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5D6FF"/>
                </a:solidFill>
              </a:defRPr>
            </a:pPr>
            <a:r>
              <a:rPr sz="1800" b="1">
                <a:solidFill>
                  <a:srgbClr val="55D6FF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A3217A-9A44-453E-B39C-33FF39410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43200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5FBFF"/>
                </a:solidFill>
              </a:defRPr>
            </a:pPr>
            <a:r>
              <a:rPr sz="1875" b="1">
                <a:solidFill>
                  <a:srgbClr val="F5FBFF"/>
                </a:solidFill>
              </a:rPr>
              <a:t>Compare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3181AC-4781-4A68-90CA-D74E98266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76600"/>
            <a:ext cx="19716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BD9"/>
                </a:solidFill>
              </a:defRPr>
            </a:pPr>
            <a:r>
              <a:rPr sz="1275" b="0">
                <a:solidFill>
                  <a:srgbClr val="B8CBD9"/>
                </a:solidFill>
              </a:rPr>
              <a:t>Batch candidates use deterministic seeds for quick selection.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2240E7-1657-4BAA-8093-F4A4837BB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019300"/>
            <a:ext cx="24003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03451"/>
          </a:solidFill>
          <a:ln xmlns:a="http://schemas.openxmlformats.org/drawingml/2006/main" w="0">
            <a:solidFill>
              <a:srgbClr val="10345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919773-B05E-4FDA-BAF2-06B6BA41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2098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5D6FF"/>
                </a:solidFill>
              </a:defRPr>
            </a:pPr>
            <a:r>
              <a:rPr sz="1800" b="1">
                <a:solidFill>
                  <a:srgbClr val="55D6FF"/>
                </a:solidFill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2B429C-560F-4E1F-8271-56BC3D2C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743200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5FBFF"/>
                </a:solidFill>
              </a:defRPr>
            </a:pPr>
            <a:r>
              <a:rPr sz="1875" b="1">
                <a:solidFill>
                  <a:srgbClr val="F5FBFF"/>
                </a:solidFill>
              </a:rPr>
              <a:t>Finish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A08C21-1962-44CE-8A60-90C2E3C2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76600"/>
            <a:ext cx="19716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BD9"/>
                </a:solidFill>
              </a:defRPr>
            </a:pPr>
            <a:r>
              <a:rPr sz="1275" b="0">
                <a:solidFill>
                  <a:srgbClr val="B8CBD9"/>
                </a:solidFill>
              </a:rPr>
              <a:t>Enhance, enlarge, review history, and download the result.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21a3ef4c1848d1"/>
          <a:srcRect xmlns:a="http://schemas.openxmlformats.org/drawingml/2006/main" l="0" t="14953" r="0" b="149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4762500"/>
            <a:ext cx="2038350" cy="1428750"/>
          </a:xfrm>
          <a:prstGeom xmlns:a="http://schemas.openxmlformats.org/drawingml/2006/main" prst="roundRect">
            <a:avLst>
              <a:gd name="adj" fmla="val 8000"/>
            </a:avLst>
          </a:prstGeom>
        </p:spPr>
      </p:pic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e4f94be73f43f7"/>
          <a:srcRect xmlns:a="http://schemas.openxmlformats.org/drawingml/2006/main" l="0" t="14953" r="0" b="149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71800" y="4762500"/>
            <a:ext cx="2038350" cy="1428750"/>
          </a:xfrm>
          <a:prstGeom xmlns:a="http://schemas.openxmlformats.org/drawingml/2006/main" prst="roundRect">
            <a:avLst>
              <a:gd name="adj" fmla="val 8000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3F2DFA-52CC-4614-A52F-77BBBF27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51625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B35C"/>
                </a:solidFill>
              </a:defRPr>
            </a:pPr>
            <a:r>
              <a:rPr sz="1350" b="1">
                <a:solidFill>
                  <a:srgbClr val="FFB35C"/>
                </a:solidFill>
              </a:rPr>
              <a:t>Batch candidate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9E9F6F-A0B1-4E34-92FF-4D24085C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55435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5D6FF"/>
                </a:solidFill>
              </a:defRPr>
            </a:pPr>
            <a:r>
              <a:rPr sz="1350" b="1">
                <a:solidFill>
                  <a:srgbClr val="55D6FF"/>
                </a:solidFill>
              </a:rPr>
              <a:t>Enhanced final output</a:t>
            </a:r>
          </a:p>
        </p:txBody>
      </p:sp>
    </p:spTree>
    <p:extLst>
      <p:ext uri="{BB962C8B-B14F-4D97-AF65-F5344CB8AC3E}">
        <p14:creationId xmlns:p14="http://schemas.microsoft.com/office/powerpoint/2010/main" val="3184091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C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A05151-2BD2-4111-B5CD-734EBC424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971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5FBFF"/>
                </a:solidFill>
              </a:defRPr>
            </a:pPr>
            <a:r>
              <a:rPr sz="2850" b="1">
                <a:solidFill>
                  <a:srgbClr val="F5FBFF"/>
                </a:solidFill>
              </a:rPr>
              <a:t>The core pipeline is local and reproducible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B1D2FE-C246-4DD6-B911-2DF9F480D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B8CBD9"/>
                </a:solidFill>
              </a:defRPr>
            </a:pPr>
            <a:r>
              <a:rPr sz="1500" b="0">
                <a:solidFill>
                  <a:srgbClr val="B8CBD9"/>
                </a:solidFill>
              </a:rPr>
              <a:t>The same seed and settings can recreate a promising candidate on the same model revision.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CE5997-3B8D-4203-B413-257CAA463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813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D6FF"/>
          </a:solidFill>
          <a:ln xmlns:a="http://schemas.openxmlformats.org/drawingml/2006/main" w="0">
            <a:solidFill>
              <a:srgbClr val="55D6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621D63-7215-4918-B65A-E8C7AD42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00300"/>
            <a:ext cx="17526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03451"/>
          </a:solidFill>
          <a:ln xmlns:a="http://schemas.openxmlformats.org/drawingml/2006/main" w="0">
            <a:solidFill>
              <a:srgbClr val="10345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62F876-5754-4F81-8970-64F14949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28900"/>
            <a:ext cx="1447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55D6FF"/>
                </a:solidFill>
              </a:defRPr>
            </a:pPr>
            <a:r>
              <a:rPr sz="1125" b="1">
                <a:solidFill>
                  <a:srgbClr val="55D6FF"/>
                </a:solidFill>
              </a:rPr>
              <a:t>USER INPUT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9EE234-C883-419D-B0F9-384123A28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1447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5FBFF"/>
                </a:solidFill>
              </a:defRPr>
            </a:pPr>
            <a:r>
              <a:rPr sz="1725" b="1">
                <a:solidFill>
                  <a:srgbClr val="F5FBFF"/>
                </a:solidFill>
              </a:rPr>
              <a:t>Prompt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F5FBFF"/>
                </a:solidFill>
              </a:defRPr>
            </a:pPr>
            <a:r>
              <a:rPr sz="1725" b="1">
                <a:solidFill>
                  <a:srgbClr val="F5FBFF"/>
                </a:solidFill>
              </a:rPr>
              <a:t>or reference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76C74C-2A88-4BA8-BD5B-92D53D90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1813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D6FF"/>
          </a:solidFill>
          <a:ln xmlns:a="http://schemas.openxmlformats.org/drawingml/2006/main" w="0">
            <a:solidFill>
              <a:srgbClr val="55D6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9C69EE-7B15-4038-A1C2-21D6814AD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00300"/>
            <a:ext cx="17526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03451"/>
          </a:solidFill>
          <a:ln xmlns:a="http://schemas.openxmlformats.org/drawingml/2006/main" w="0">
            <a:solidFill>
              <a:srgbClr val="10345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022589-0AC0-4BB9-B096-09CCACE28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28900"/>
            <a:ext cx="1447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55D6FF"/>
                </a:solidFill>
              </a:defRPr>
            </a:pPr>
            <a:r>
              <a:rPr sz="1125" b="1">
                <a:solidFill>
                  <a:srgbClr val="55D6FF"/>
                </a:solidFill>
              </a:rPr>
              <a:t>GRADIO UI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032F69-3061-4DDF-91AE-D037B2E0F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67050"/>
            <a:ext cx="1447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5FBFF"/>
                </a:solidFill>
              </a:defRPr>
            </a:pPr>
            <a:r>
              <a:rPr sz="1725" b="1">
                <a:solidFill>
                  <a:srgbClr val="F5FBFF"/>
                </a:solidFill>
              </a:rPr>
              <a:t>Controls,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F5FBFF"/>
                </a:solidFill>
              </a:defRPr>
            </a:pPr>
            <a:r>
              <a:rPr sz="1725" b="1">
                <a:solidFill>
                  <a:srgbClr val="F5FBFF"/>
                </a:solidFill>
              </a:rPr>
              <a:t>preview, history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598E68-694F-4D30-A494-8752FE43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813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D6FF"/>
          </a:solidFill>
          <a:ln xmlns:a="http://schemas.openxmlformats.org/drawingml/2006/main" w="0">
            <a:solidFill>
              <a:srgbClr val="55D6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D2BE92-82F0-4588-A6F0-3C34F15E4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400300"/>
            <a:ext cx="17526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03451"/>
          </a:solidFill>
          <a:ln xmlns:a="http://schemas.openxmlformats.org/drawingml/2006/main" w="0">
            <a:solidFill>
              <a:srgbClr val="10345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D41D0D-3B57-47C5-893A-A3A88E44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628900"/>
            <a:ext cx="1447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55D6FF"/>
                </a:solidFill>
              </a:defRPr>
            </a:pPr>
            <a:r>
              <a:rPr sz="1125" b="1">
                <a:solidFill>
                  <a:srgbClr val="55D6FF"/>
                </a:solidFill>
              </a:rPr>
              <a:t>DIFFUSERS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2410A7-4A2F-4732-A9C4-19AC9818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067050"/>
            <a:ext cx="1447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5FBFF"/>
                </a:solidFill>
              </a:defRPr>
            </a:pPr>
            <a:r>
              <a:rPr sz="1725" b="1">
                <a:solidFill>
                  <a:srgbClr val="F5FBFF"/>
                </a:solidFill>
              </a:rPr>
              <a:t>SD 1.5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F5FBFF"/>
                </a:solidFill>
              </a:defRPr>
            </a:pPr>
            <a:r>
              <a:rPr sz="1725" b="1">
                <a:solidFill>
                  <a:srgbClr val="F5FBFF"/>
                </a:solidFill>
              </a:rPr>
              <a:t>text + image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14CA29-46BE-4EF9-A5CC-06C7A874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813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35C"/>
          </a:solidFill>
          <a:ln xmlns:a="http://schemas.openxmlformats.org/drawingml/2006/main" w="0">
            <a:solidFill>
              <a:srgbClr val="FFB35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7A3866-D337-4054-98C7-D734C420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400300"/>
            <a:ext cx="17526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5B3B21"/>
          </a:solidFill>
          <a:ln xmlns:a="http://schemas.openxmlformats.org/drawingml/2006/main" w="0">
            <a:solidFill>
              <a:srgbClr val="5B3B2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EAE395-5579-4AD6-86DF-B7C1F4F7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28900"/>
            <a:ext cx="1447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B35C"/>
                </a:solidFill>
              </a:defRPr>
            </a:pPr>
            <a:r>
              <a:rPr sz="1125" b="1">
                <a:solidFill>
                  <a:srgbClr val="FFB35C"/>
                </a:solidFill>
              </a:rPr>
              <a:t>ROCm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429EBB-8307-4CC5-B414-1DB309612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067050"/>
            <a:ext cx="1447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5FBFF"/>
                </a:solidFill>
              </a:defRPr>
            </a:pPr>
            <a:r>
              <a:rPr sz="1725" b="1">
                <a:solidFill>
                  <a:srgbClr val="F5FBFF"/>
                </a:solidFill>
              </a:rPr>
              <a:t>PyTorch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F5FBFF"/>
                </a:solidFill>
              </a:defRPr>
            </a:pPr>
            <a:r>
              <a:rPr sz="1725" b="1">
                <a:solidFill>
                  <a:srgbClr val="F5FBFF"/>
                </a:solidFill>
              </a:rPr>
              <a:t>FP16 inference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92A144-56E0-415A-89E3-E3EC278D8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400300"/>
            <a:ext cx="17526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03451"/>
          </a:solidFill>
          <a:ln xmlns:a="http://schemas.openxmlformats.org/drawingml/2006/main" w="0">
            <a:solidFill>
              <a:srgbClr val="10345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C70704-4D5D-4156-89BC-655121A8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628900"/>
            <a:ext cx="1447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55D6FF"/>
                </a:solidFill>
              </a:defRPr>
            </a:pPr>
            <a:r>
              <a:rPr sz="1125" b="1">
                <a:solidFill>
                  <a:srgbClr val="55D6FF"/>
                </a:solidFill>
              </a:rPr>
              <a:t>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4EAD4D-CF8A-48E3-81EF-86DAB8400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67050"/>
            <a:ext cx="1447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5FBFF"/>
                </a:solidFill>
              </a:defRPr>
            </a:pPr>
            <a:r>
              <a:rPr sz="1725" b="1">
                <a:solidFill>
                  <a:srgbClr val="F5FBFF"/>
                </a:solidFill>
              </a:rPr>
              <a:t>PNG + seed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F5FBFF"/>
                </a:solidFill>
              </a:defRPr>
            </a:pPr>
            <a:r>
              <a:rPr sz="1725" b="1">
                <a:solidFill>
                  <a:srgbClr val="F5FBFF"/>
                </a:solidFill>
              </a:rPr>
              <a:t>GPU + time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BDF20B-85CD-4B04-A68C-DB3703754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382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0D2A40"/>
          </a:solidFill>
          <a:ln xmlns:a="http://schemas.openxmlformats.org/drawingml/2006/main" w="0">
            <a:solidFill>
              <a:srgbClr val="0D2A4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50038D-AE5A-4967-A786-01C8DAE9D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0482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B35C"/>
                </a:solidFill>
              </a:defRPr>
            </a:pPr>
            <a:r>
              <a:rPr sz="1425" b="1">
                <a:solidFill>
                  <a:srgbClr val="FFB35C"/>
                </a:solidFill>
              </a:rPr>
              <a:t>Reproducibility controls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6EF05B-0C1F-4CFB-B0D6-72ACA6E06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91150"/>
            <a:ext cx="942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5FBFF"/>
                </a:solidFill>
              </a:defRPr>
            </a:pPr>
            <a:r>
              <a:rPr sz="1425" b="0">
                <a:solidFill>
                  <a:srgbClr val="F5FBFF"/>
                </a:solidFill>
              </a:rPr>
              <a:t>Prompt  +  negative prompt  +  resolution  +  steps  +  guidance scale  +  seed</a:t>
            </a:r>
          </a:p>
        </p:txBody>
      </p:sp>
    </p:spTree>
    <p:extLst>
      <p:ext uri="{BB962C8B-B14F-4D97-AF65-F5344CB8AC3E}">
        <p14:creationId xmlns:p14="http://schemas.microsoft.com/office/powerpoint/2010/main" val="9379355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C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E5D4F3-D2C8-4A3B-84DA-9312079D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5FBFF"/>
                </a:solidFill>
              </a:defRPr>
            </a:pPr>
            <a:r>
              <a:rPr sz="2850" b="1">
                <a:solidFill>
                  <a:srgbClr val="F5FBFF"/>
                </a:solidFill>
              </a:rPr>
              <a:t>Built to show the AMD GPU doing the important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DB1F03-CA53-4ED3-B009-853459F6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B8CBD9"/>
                </a:solidFill>
              </a:defRPr>
            </a:pPr>
            <a:r>
              <a:rPr sz="1500" b="0">
                <a:solidFill>
                  <a:srgbClr val="B8CBD9"/>
                </a:solidFill>
              </a:rPr>
              <a:t>The UI makes the runtime evidence visible instead of hiding it behind a final image.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BA0E3A-078E-4C05-B488-BFC6E2F78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953000" cy="3276600"/>
          </a:xfrm>
          <a:prstGeom xmlns:a="http://schemas.openxmlformats.org/drawingml/2006/main" prst="roundRect">
            <a:avLst>
              <a:gd name="adj" fmla="val 3488"/>
            </a:avLst>
          </a:prstGeom>
          <a:solidFill xmlns:a="http://schemas.openxmlformats.org/drawingml/2006/main">
            <a:srgbClr val="103451"/>
          </a:solidFill>
          <a:ln xmlns:a="http://schemas.openxmlformats.org/drawingml/2006/main" w="0">
            <a:solidFill>
              <a:srgbClr val="1034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B27735-8F56-42F9-9AE1-8C33A881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241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55D6FF"/>
                </a:solidFill>
              </a:defRPr>
            </a:pPr>
            <a:r>
              <a:rPr sz="2025" b="1">
                <a:solidFill>
                  <a:srgbClr val="55D6FF"/>
                </a:solidFill>
              </a:rPr>
              <a:t>AMD Radeon + ROCm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166088-2543-44DC-B77A-7109B85E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52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5FBFF"/>
                </a:solidFill>
              </a:defRPr>
            </a:pPr>
            <a:r>
              <a:rPr sz="1500" b="0">
                <a:solidFill>
                  <a:srgbClr val="F5FBFF"/>
                </a:solidFill>
              </a:rPr>
              <a:t>PyTorch ROCm device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5458E0-3FA2-4D40-8568-E19005900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52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5FBFF"/>
                </a:solidFill>
              </a:defRPr>
            </a:pPr>
            <a:r>
              <a:rPr sz="1500" b="0">
                <a:solidFill>
                  <a:srgbClr val="F5FBFF"/>
                </a:solidFill>
              </a:rPr>
              <a:t>FP16 Stable Diffusion weights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21EE39-FEDF-4A2D-9EF2-1401F1E85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528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5FBFF"/>
                </a:solidFill>
              </a:defRPr>
            </a:pPr>
            <a:r>
              <a:rPr sz="1500" b="0">
                <a:solidFill>
                  <a:srgbClr val="F5FBFF"/>
                </a:solidFill>
              </a:rPr>
              <a:t>torch.inference_mode()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DC33DA-D502-40D0-BA74-C511252A0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529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5FBFF"/>
                </a:solidFill>
              </a:defRPr>
            </a:pPr>
            <a:r>
              <a:rPr sz="1500" b="0">
                <a:solidFill>
                  <a:srgbClr val="F5FBFF"/>
                </a:solidFill>
              </a:rPr>
              <a:t>GPU name and VRAM in the UI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63A016-A901-431E-8507-88C24CEDB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5529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5FBFF"/>
                </a:solidFill>
              </a:defRPr>
            </a:pPr>
            <a:r>
              <a:rPr sz="1500" b="0">
                <a:solidFill>
                  <a:srgbClr val="F5FBFF"/>
                </a:solidFill>
              </a:rPr>
              <a:t>Seed and elapsed time per request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6371A5-842D-4097-BC3B-9AA39464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4857750" cy="3276600"/>
          </a:xfrm>
          <a:prstGeom xmlns:a="http://schemas.openxmlformats.org/drawingml/2006/main" prst="roundRect">
            <a:avLst>
              <a:gd name="adj" fmla="val 3488"/>
            </a:avLst>
          </a:prstGeom>
          <a:solidFill xmlns:a="http://schemas.openxmlformats.org/drawingml/2006/main">
            <a:srgbClr val="123C45"/>
          </a:solidFill>
          <a:ln xmlns:a="http://schemas.openxmlformats.org/drawingml/2006/main" w="0">
            <a:solidFill>
              <a:srgbClr val="123C4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D1F067-2022-49B4-81AD-0EA0814F7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32410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B35C"/>
                </a:solidFill>
              </a:defRPr>
            </a:pPr>
            <a:r>
              <a:rPr sz="2025" b="1">
                <a:solidFill>
                  <a:srgbClr val="FFB35C"/>
                </a:solidFill>
              </a:rPr>
              <a:t>Verified Cloud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DBBF7B-1274-453C-8AD9-B3220FA8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5275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BFF"/>
                </a:solidFill>
              </a:defRPr>
            </a:pPr>
            <a:r>
              <a:rPr sz="1500" b="1">
                <a:solidFill>
                  <a:srgbClr val="F5FBFF"/>
                </a:solidFill>
              </a:rPr>
              <a:t>Container: AMD OneClick Base | ROCm 7.2.1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0E4E8B-B898-444B-BA5D-480A8A9E2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3528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BD9"/>
                </a:solidFill>
              </a:defRPr>
            </a:pPr>
            <a:r>
              <a:rPr sz="1275" b="0">
                <a:solidFill>
                  <a:srgbClr val="B8CBD9"/>
                </a:solidFill>
              </a:rPr>
              <a:t>GPU: AMD Radeon Graphics | VRAM: 47.98 GB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DFA7AE-4554-40BF-8541-263708D3D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63855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BD9"/>
                </a:solidFill>
              </a:defRPr>
            </a:pPr>
            <a:r>
              <a:rPr sz="1275" b="0">
                <a:solidFill>
                  <a:srgbClr val="B8CBD9"/>
                </a:solidFill>
              </a:rPr>
              <a:t>Runtime: PyTorch 2.9.1 | ROCm/HIP 7.2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8F6BA0-0FC9-4D1C-B146-4C3B31293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243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BD9"/>
                </a:solidFill>
              </a:defRPr>
            </a:pPr>
            <a:r>
              <a:rPr sz="1275" b="0">
                <a:solidFill>
                  <a:srgbClr val="B8CBD9"/>
                </a:solidFill>
              </a:rPr>
              <a:t>Text-to-image: 512x512 | 25 steps | 2.14 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BC0CA5-6D8E-4258-82C9-9A575CA2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005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BD9"/>
                </a:solidFill>
              </a:defRPr>
            </a:pPr>
            <a:r>
              <a:rPr sz="1275" b="0">
                <a:solidFill>
                  <a:srgbClr val="B8CBD9"/>
                </a:solidFill>
              </a:rPr>
              <a:t>Image-to-image: strength 0.55 | 0.84 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0E3809-1D85-411B-91B8-7EE5AB28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958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BD9"/>
                </a:solidFill>
              </a:defRPr>
            </a:pPr>
            <a:r>
              <a:rPr sz="1275" b="0">
                <a:solidFill>
                  <a:srgbClr val="B8CBD9"/>
                </a:solidFill>
              </a:rPr>
              <a:t>Batch: 4 images | 15 steps | 284.11 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0C692F-7374-4CF2-A72E-FF41B601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78155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BD9"/>
                </a:solidFill>
              </a:defRPr>
            </a:pPr>
            <a:r>
              <a:rPr sz="1275" b="0">
                <a:solidFill>
                  <a:srgbClr val="B8CBD9"/>
                </a:solidFill>
              </a:rPr>
              <a:t>Enhancement: 2x | 1024x1024 | 0.08 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9E48D0-5131-4CB3-8910-45236A9FE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38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B35C"/>
                </a:solidFill>
              </a:defRPr>
            </a:pPr>
            <a:r>
              <a:rPr sz="1425" b="1">
                <a:solidFill>
                  <a:srgbClr val="FFB35C"/>
                </a:solidFill>
              </a:rPr>
              <a:t>Key diffusion inference is local. Pillow enhancement is documented as CPU post-processing.</a:t>
            </a:r>
          </a:p>
        </p:txBody>
      </p:sp>
    </p:spTree>
    <p:extLst>
      <p:ext uri="{BB962C8B-B14F-4D97-AF65-F5344CB8AC3E}">
        <p14:creationId xmlns:p14="http://schemas.microsoft.com/office/powerpoint/2010/main" val="112246907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C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822F09-5D39-47AA-858E-EDD74B14C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76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5FBFF"/>
                </a:solidFill>
              </a:defRPr>
            </a:pPr>
            <a:r>
              <a:rPr sz="2850" b="1">
                <a:solidFill>
                  <a:srgbClr val="F5FBFF"/>
                </a:solidFill>
              </a:rPr>
              <a:t>A practical tool for creators who need options quickly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6D10BC-8275-40DB-B8B7-7153A5F6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B8CBD9"/>
                </a:solidFill>
              </a:defRPr>
            </a:pPr>
            <a:r>
              <a:rPr sz="1500" b="0">
                <a:solidFill>
                  <a:srgbClr val="B8CBD9"/>
                </a:solidFill>
              </a:rPr>
              <a:t>Local execution turns one creative idea into a reviewable set of visual directions.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7def355d94487a"/>
          <a:srcRect xmlns:a="http://schemas.openxmlformats.org/drawingml/2006/main" l="0" t="12400" r="0" b="124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057400"/>
            <a:ext cx="2381250" cy="1790700"/>
          </a:xfrm>
          <a:prstGeom xmlns:a="http://schemas.openxmlformats.org/drawingml/2006/main" prst="roundRect">
            <a:avLst>
              <a:gd name="adj" fmla="val 6383"/>
            </a:avLst>
          </a:prstGeom>
        </p:spPr>
      </p:pic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ff615cdb9a4002"/>
          <a:srcRect xmlns:a="http://schemas.openxmlformats.org/drawingml/2006/main" l="0" t="12400" r="0" b="124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57550" y="2057400"/>
            <a:ext cx="2381250" cy="1790700"/>
          </a:xfrm>
          <a:prstGeom xmlns:a="http://schemas.openxmlformats.org/drawingml/2006/main" prst="roundRect">
            <a:avLst>
              <a:gd name="adj" fmla="val 6383"/>
            </a:avLst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e7cc3d8af34467"/>
          <a:srcRect xmlns:a="http://schemas.openxmlformats.org/drawingml/2006/main" l="0" t="12400" r="0" b="124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29300" y="2057400"/>
            <a:ext cx="2381250" cy="1790700"/>
          </a:xfrm>
          <a:prstGeom xmlns:a="http://schemas.openxmlformats.org/drawingml/2006/main" prst="roundRect">
            <a:avLst>
              <a:gd name="adj" fmla="val 6383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A8B07E-0AF4-49CE-9334-52C0EE0C6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5D6FF"/>
                </a:solidFill>
              </a:defRPr>
            </a:pPr>
            <a:r>
              <a:rPr sz="1650" b="1">
                <a:solidFill>
                  <a:srgbClr val="55D6FF"/>
                </a:solidFill>
              </a:rPr>
              <a:t>Social content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952D94-CFC1-4710-BA00-9861AC395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1148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5D6FF"/>
                </a:solidFill>
              </a:defRPr>
            </a:pPr>
            <a:r>
              <a:rPr sz="1650" b="1">
                <a:solidFill>
                  <a:srgbClr val="55D6FF"/>
                </a:solidFill>
              </a:rPr>
              <a:t>Design variations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D99DA8-893A-438D-9919-EC747763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1148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5D6FF"/>
                </a:solidFill>
              </a:defRPr>
            </a:pPr>
            <a:r>
              <a:rPr sz="1650" b="1">
                <a:solidFill>
                  <a:srgbClr val="55D6FF"/>
                </a:solidFill>
              </a:rPr>
              <a:t>Ready-to-use 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AE7954-740E-4519-9302-63E8C26E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057400"/>
            <a:ext cx="2476500" cy="234315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103451"/>
          </a:solidFill>
          <a:ln xmlns:a="http://schemas.openxmlformats.org/drawingml/2006/main" w="0">
            <a:solidFill>
              <a:srgbClr val="10345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36DA98-A952-480A-AB57-FD73FAE34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3241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B35C"/>
                </a:solidFill>
              </a:defRPr>
            </a:pPr>
            <a:r>
              <a:rPr sz="1800" b="1">
                <a:solidFill>
                  <a:srgbClr val="FFB35C"/>
                </a:solidFill>
              </a:rPr>
              <a:t>Why it matters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367A58-8760-4128-94E2-3C6E11943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895600"/>
            <a:ext cx="2000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BFF"/>
                </a:solidFill>
              </a:defRPr>
            </a:pPr>
            <a:r>
              <a:rPr sz="1500" b="1">
                <a:solidFill>
                  <a:srgbClr val="F5FBFF"/>
                </a:solidFill>
              </a:rPr>
              <a:t>Fast ideation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5FBFF"/>
                </a:solidFill>
              </a:defRPr>
            </a:pPr>
            <a:r>
              <a:rPr sz="1500" b="1">
                <a:solidFill>
                  <a:srgbClr val="F5FBFF"/>
                </a:solidFill>
              </a:rPr>
              <a:t>Local core inference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5FBFF"/>
                </a:solidFill>
              </a:defRPr>
            </a:pPr>
            <a:r>
              <a:rPr sz="1500" b="1">
                <a:solidFill>
                  <a:srgbClr val="F5FBFF"/>
                </a:solidFill>
              </a:rPr>
              <a:t>Deterministic comparison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5FBFF"/>
                </a:solidFill>
              </a:defRPr>
            </a:pPr>
            <a:r>
              <a:rPr sz="1500" b="1">
                <a:solidFill>
                  <a:srgbClr val="F5FBFF"/>
                </a:solidFill>
              </a:rPr>
              <a:t>Simple web workflow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289558-7C6D-447C-928C-0478249FE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5FBFF"/>
                </a:solidFill>
              </a:defRPr>
            </a:pPr>
            <a:r>
              <a:rPr sz="1875" b="1">
                <a:solidFill>
                  <a:srgbClr val="F5FBFF"/>
                </a:solidFill>
              </a:rPr>
              <a:t>Radeon AI Creative Studio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4ABAA8-4976-49B5-9353-36C753A72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BD9"/>
                </a:solidFill>
              </a:defRPr>
            </a:pPr>
            <a:r>
              <a:rPr sz="1200" b="0">
                <a:solidFill>
                  <a:srgbClr val="B8CBD9"/>
                </a:solidFill>
              </a:rPr>
              <a:t>Track 1 | AMD AI DevMaster Radeon GPU Hackathon 2026</a:t>
            </a:r>
          </a:p>
        </p:txBody>
      </p:sp>
    </p:spTree>
    <p:extLst>
      <p:ext uri="{BB962C8B-B14F-4D97-AF65-F5344CB8AC3E}">
        <p14:creationId xmlns:p14="http://schemas.microsoft.com/office/powerpoint/2010/main" val="3796169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2026-08-04T10:05:51.7250000Z</dcterms:created>
  <dcterms:modified xsi:type="dcterms:W3CDTF">2026-08-04T10:05:51.7250000Z</dcterms:modified>
</coreProperties>
</file>