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4f170b42b34b22" /><Relationship Type="http://schemas.openxmlformats.org/officeDocument/2006/relationships/extended-properties" Target="/docProps/app.xml" Id="R4eef066228d64110" /><Relationship Type="http://schemas.openxmlformats.org/officeDocument/2006/relationships/officeDocument" Target="/ppt/presentation.xml" Id="R05a83def41444c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a55dbdb4dd4deb"/>
  </p:sldMasterIdLst>
  <p:notesMasterIdLst>
    <p:notesMasterId xmlns:r="http://schemas.openxmlformats.org/officeDocument/2006/relationships" r:id="Rf4eae259c203403a"/>
  </p:notesMasterIdLst>
  <p:sldIdLst>
    <p:sldId xmlns:r="http://schemas.openxmlformats.org/officeDocument/2006/relationships" id="256" r:id="Rc7150a54650f45d8"/>
    <p:sldId xmlns:r="http://schemas.openxmlformats.org/officeDocument/2006/relationships" id="257" r:id="Rf4f13ebeec5b46ba"/>
    <p:sldId xmlns:r="http://schemas.openxmlformats.org/officeDocument/2006/relationships" id="258" r:id="R9a0a99141c90403f"/>
    <p:sldId xmlns:r="http://schemas.openxmlformats.org/officeDocument/2006/relationships" id="259" r:id="R42c387301bbf4299"/>
    <p:sldId xmlns:r="http://schemas.openxmlformats.org/officeDocument/2006/relationships" id="260" r:id="Rc6362fa061014d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9b3495cc745ab" /><Relationship Type="http://schemas.openxmlformats.org/officeDocument/2006/relationships/slideMaster" Target="/ppt/slideMasters/slideMaster1.xml" Id="R67a55dbdb4dd4deb" /><Relationship Type="http://schemas.openxmlformats.org/officeDocument/2006/relationships/notesMaster" Target="/ppt/notesMasters/notesMaster1.xml" Id="Rf4eae259c203403a" /><Relationship Type="http://schemas.openxmlformats.org/officeDocument/2006/relationships/presProps" Target="/ppt/presProps.xml" Id="R3fe2adba4cd74237" /><Relationship Type="http://schemas.openxmlformats.org/officeDocument/2006/relationships/tableStyles" Target="/ppt/tableStyles.xml" Id="Rb0ef09350751424b" /><Relationship Type="http://schemas.openxmlformats.org/officeDocument/2006/relationships/slide" Target="/ppt/slides/slide1.xml" Id="Rc7150a54650f45d8" /><Relationship Type="http://schemas.openxmlformats.org/officeDocument/2006/relationships/slide" Target="/ppt/slides/slide2.xml" Id="Rf4f13ebeec5b46ba" /><Relationship Type="http://schemas.openxmlformats.org/officeDocument/2006/relationships/slide" Target="/ppt/slides/slide3.xml" Id="R9a0a99141c90403f" /><Relationship Type="http://schemas.openxmlformats.org/officeDocument/2006/relationships/slide" Target="/ppt/slides/slide4.xml" Id="R42c387301bbf4299" /><Relationship Type="http://schemas.openxmlformats.org/officeDocument/2006/relationships/slide" Target="/ppt/slides/slide5.xml" Id="Rc6362fa061014d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da9ab411784a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9454ec5dce4711" /><Relationship Type="http://schemas.openxmlformats.org/officeDocument/2006/relationships/notesMaster" Target="/ppt/notesMasters/notesMaster1.xml" Id="R2f9ba87c8e8c4f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efd33ce7b04b68" /><Relationship Type="http://schemas.openxmlformats.org/officeDocument/2006/relationships/notesMaster" Target="/ppt/notesMasters/notesMaster1.xml" Id="R4696b034c8a54c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bd348a46fb4adc" /><Relationship Type="http://schemas.openxmlformats.org/officeDocument/2006/relationships/notesMaster" Target="/ppt/notesMasters/notesMaster1.xml" Id="R454260c223c742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3d9738ec264cf6" /><Relationship Type="http://schemas.openxmlformats.org/officeDocument/2006/relationships/notesMaster" Target="/ppt/notesMasters/notesMaster1.xml" Id="R349fb8c7de9a46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1e0eb85efb4928" /><Relationship Type="http://schemas.openxmlformats.org/officeDocument/2006/relationships/notesMaster" Target="/ppt/notesMasters/notesMaster1.xml" Id="Rc373b49c9f2a40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curated output images in assets/, and the competition rules supplied by the participant.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project source code and curated assets/batch-candidate-1.png and assets/enhanced.png. No external visual asset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project architecture described in docs/project-profile.md and implementation in app.py, pipeline/image_generator.py, and configs/config.py.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project source code and docs/benchmark.md. Exact hardware and timing values must be filled from the participant's Radeon Cloud session before final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curated project outputs in assets/ and application scenarios in docs/project-profile.md. Competition track wording comes from the supplied rules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9fa235a1148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dc6c3d880e47fc" /><Relationship Type="http://schemas.openxmlformats.org/officeDocument/2006/relationships/slideLayout" Target="/ppt/slideLayouts/slideLayout1.xml" Id="R32e87bcf8dd743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e87bcf8dd7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9daae9c5a49ea" /><Relationship Type="http://schemas.openxmlformats.org/officeDocument/2006/relationships/image" Target="/ppt/media/image.png" Id="R365678cbec514141" /><Relationship Type="http://schemas.openxmlformats.org/officeDocument/2006/relationships/image" Target="/ppt/media/image2.png" Id="R3eadfa1c34194d93" /><Relationship Type="http://schemas.openxmlformats.org/officeDocument/2006/relationships/notesSlide" Target="/ppt/notesSlides/notesSlide1.xml" Id="R23bc84932f1d41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12bbf702e4f65" /><Relationship Type="http://schemas.openxmlformats.org/officeDocument/2006/relationships/image" Target="/ppt/media/image3.png" Id="Rb022c1ce33874b6a" /><Relationship Type="http://schemas.openxmlformats.org/officeDocument/2006/relationships/image" Target="/ppt/media/image4.png" Id="Rfa73d2d77818414c" /><Relationship Type="http://schemas.openxmlformats.org/officeDocument/2006/relationships/notesSlide" Target="/ppt/notesSlides/notesSlide2.xml" Id="R7672e7db2e0a4d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67bef5a6d4a02" /><Relationship Type="http://schemas.openxmlformats.org/officeDocument/2006/relationships/notesSlide" Target="/ppt/notesSlides/notesSlide3.xml" Id="R871e77e7fe3b46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5e54c0e034984" /><Relationship Type="http://schemas.openxmlformats.org/officeDocument/2006/relationships/notesSlide" Target="/ppt/notesSlides/notesSlide4.xml" Id="R5a9b52bdc34144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c1ac6bfa74fee" /><Relationship Type="http://schemas.openxmlformats.org/officeDocument/2006/relationships/image" Target="/ppt/media/image5.png" Id="R0fa087202d1040dd" /><Relationship Type="http://schemas.openxmlformats.org/officeDocument/2006/relationships/image" Target="/ppt/media/image6.png" Id="R4b0c06c21fe149d1" /><Relationship Type="http://schemas.openxmlformats.org/officeDocument/2006/relationships/image" Target="/ppt/media/image7.png" Id="R9e551457cd2240f2" /><Relationship Type="http://schemas.openxmlformats.org/officeDocument/2006/relationships/notesSlide" Target="/ppt/notesSlides/notesSlide5.xml" Id="R218f62b5eef44e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C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FADAA-868C-4EFA-A6F7-6AF4A09A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F"/>
          </a:solidFill>
          <a:ln xmlns:a="http://schemas.openxmlformats.org/drawingml/2006/main" w="0">
            <a:solidFill>
              <a:srgbClr val="55D6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F5014-AEC5-422B-A4B9-D7EFCE75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BFF"/>
                </a:solidFill>
              </a:defRPr>
            </a:pPr>
            <a:r>
              <a:rPr sz="4350" b="1">
                <a:solidFill>
                  <a:srgbClr val="F5FBFF"/>
                </a:solidFill>
              </a:rPr>
              <a:t>Radeon AI</a:t>
            </a:r>
          </a:p>
          <a:p xmlns:a="http://schemas.openxmlformats.org/drawingml/2006/main">
            <a:pPr algn="l">
              <a:defRPr sz="4350" b="1">
                <a:solidFill>
                  <a:srgbClr val="F5FBFF"/>
                </a:solidFill>
              </a:defRPr>
            </a:pPr>
            <a:r>
              <a:rPr sz="4350" b="1">
                <a:solidFill>
                  <a:srgbClr val="F5FBFF"/>
                </a:solidFill>
              </a:rPr>
              <a:t>Creative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B313F-6A5C-42EF-8443-87734AA9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D6FF"/>
                </a:solidFill>
              </a:defRPr>
            </a:pPr>
            <a:r>
              <a:rPr sz="1800" b="0">
                <a:solidFill>
                  <a:srgbClr val="55D6FF"/>
                </a:solidFill>
              </a:rPr>
              <a:t>Local visual ideation powered by AMD Radeon GPU + ROCm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E79FB-FCAE-4B8F-9541-FAE1547F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BD9"/>
                </a:solidFill>
              </a:defRPr>
            </a:pPr>
            <a:r>
              <a:rPr sz="1350" b="0">
                <a:solidFill>
                  <a:srgbClr val="B8CBD9"/>
                </a:solidFill>
              </a:rPr>
              <a:t>Text-to-image  |  Image-to-image  |  Batch creation  |  Enhancement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06A0B-0FE8-48DE-8A1C-01BFAB49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95350"/>
            <a:ext cx="3333750" cy="4953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3451"/>
          </a:solidFill>
          <a:ln xmlns:a="http://schemas.openxmlformats.org/drawingml/2006/main" w="0">
            <a:solidFill>
              <a:srgbClr val="103451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678cbec514141"/>
          <a:srcRect xmlns:a="http://schemas.openxmlformats.org/drawingml/2006/main" l="0" t="10927" r="0" b="10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123950"/>
            <a:ext cx="2876550" cy="22479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dfa1c34194d93"/>
          <a:srcRect xmlns:a="http://schemas.openxmlformats.org/drawingml/2006/main" l="0" t="15563" r="0" b="155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3638550"/>
            <a:ext cx="2876550" cy="1981200"/>
          </a:xfrm>
          <a:prstGeom xmlns:a="http://schemas.openxmlformats.org/drawingml/2006/main" prst="roundRect">
            <a:avLst>
              <a:gd name="adj" fmla="val 576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A776E-FA67-4BDF-81EA-FE879AF6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35C"/>
                </a:solidFill>
              </a:defRPr>
            </a:pPr>
            <a:r>
              <a:rPr sz="1200" b="1">
                <a:solidFill>
                  <a:srgbClr val="FFB35C"/>
                </a:solidFill>
              </a:rPr>
              <a:t>TRACK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76F0A-C945-4DB9-864E-DD5202B3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72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BD9"/>
                </a:solidFill>
              </a:defRPr>
            </a:pPr>
            <a:r>
              <a:rPr sz="1200" b="0">
                <a:solidFill>
                  <a:srgbClr val="B8CBD9"/>
                </a:solidFill>
              </a:rPr>
              <a:t>AMD AI DevMaster Radeon GPU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2020329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C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31D127-4982-4F62-98A8-10719C33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</a:defRPr>
            </a:pPr>
            <a:r>
              <a:rPr sz="2850" b="1">
                <a:solidFill>
                  <a:srgbClr val="F5FBFF"/>
                </a:solidFill>
              </a:rPr>
              <a:t>A complete creation loop for fast visual exploration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95C15-A933-416C-83BA-94AF33DE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BD9"/>
                </a:solidFill>
              </a:defRPr>
            </a:pPr>
            <a:r>
              <a:rPr sz="1500" b="0">
                <a:solidFill>
                  <a:srgbClr val="B8CBD9"/>
                </a:solidFill>
              </a:rPr>
              <a:t>One local workspace moves from idea to comparable, downloadable candidates.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78FAB-D9C2-4E51-8E54-BFC4D160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4003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3451"/>
          </a:solidFill>
          <a:ln xmlns:a="http://schemas.openxmlformats.org/drawingml/2006/main" w="0">
            <a:solidFill>
              <a:srgbClr val="1034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EFE70-7C6A-4EE0-8001-D0E108DD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D6FF"/>
                </a:solidFill>
              </a:defRPr>
            </a:pPr>
            <a:r>
              <a:rPr sz="1800" b="1">
                <a:solidFill>
                  <a:srgbClr val="55D6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CD713-4DE0-4A7C-9BEA-1087C7FC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BFF"/>
                </a:solidFill>
              </a:defRPr>
            </a:pPr>
            <a:r>
              <a:rPr sz="1875" b="1">
                <a:solidFill>
                  <a:srgbClr val="F5FBFF"/>
                </a:solidFill>
              </a:rPr>
              <a:t>Describe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45849-8F42-45EB-9BF2-96F5DCE7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9716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D9"/>
                </a:solidFill>
              </a:defRPr>
            </a:pPr>
            <a:r>
              <a:rPr sz="1275" b="0">
                <a:solidFill>
                  <a:srgbClr val="B8CBD9"/>
                </a:solidFill>
              </a:rPr>
              <a:t>Prompt templates turn a short idea into a structured creative brief.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4F6FF-766B-49DD-A5F5-C44FA006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19300"/>
            <a:ext cx="24003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3451"/>
          </a:solidFill>
          <a:ln xmlns:a="http://schemas.openxmlformats.org/drawingml/2006/main" w="0">
            <a:solidFill>
              <a:srgbClr val="1034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759FA-F89F-4954-BC8D-AA111FB5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D6FF"/>
                </a:solidFill>
              </a:defRPr>
            </a:pPr>
            <a:r>
              <a:rPr sz="1800" b="1">
                <a:solidFill>
                  <a:srgbClr val="55D6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CB6B7-C735-4526-B874-730D0E25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432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BFF"/>
                </a:solidFill>
              </a:defRPr>
            </a:pPr>
            <a:r>
              <a:rPr sz="1875" b="1">
                <a:solidFill>
                  <a:srgbClr val="F5FBFF"/>
                </a:solidFill>
              </a:rPr>
              <a:t>Generate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7BBCE-E195-4F77-AB78-5850DDC7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19716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D9"/>
                </a:solidFill>
              </a:defRPr>
            </a:pPr>
            <a:r>
              <a:rPr sz="1275" b="0">
                <a:solidFill>
                  <a:srgbClr val="B8CBD9"/>
                </a:solidFill>
              </a:rPr>
              <a:t>Stable Diffusion creates a new image or restyles a reference.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33CFB-AC76-4A9F-B73F-DE08E4A0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19300"/>
            <a:ext cx="24003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3451"/>
          </a:solidFill>
          <a:ln xmlns:a="http://schemas.openxmlformats.org/drawingml/2006/main" w="0">
            <a:solidFill>
              <a:srgbClr val="1034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2209C-A5D1-4D14-AA72-F945D5DF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D6FF"/>
                </a:solidFill>
              </a:defRPr>
            </a:pPr>
            <a:r>
              <a:rPr sz="1800" b="1">
                <a:solidFill>
                  <a:srgbClr val="55D6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3217A-9A44-453E-B39C-33FF3941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432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BFF"/>
                </a:solidFill>
              </a:defRPr>
            </a:pPr>
            <a:r>
              <a:rPr sz="1875" b="1">
                <a:solidFill>
                  <a:srgbClr val="F5FBFF"/>
                </a:solidFill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181AC-4781-4A68-90CA-D74E9826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19716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D9"/>
                </a:solidFill>
              </a:defRPr>
            </a:pPr>
            <a:r>
              <a:rPr sz="1275" b="0">
                <a:solidFill>
                  <a:srgbClr val="B8CBD9"/>
                </a:solidFill>
              </a:rPr>
              <a:t>Batch candidates use deterministic seeds for quick selection.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240E7-1657-4BAA-8093-F4A4837B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19300"/>
            <a:ext cx="24003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3451"/>
          </a:solidFill>
          <a:ln xmlns:a="http://schemas.openxmlformats.org/drawingml/2006/main" w="0">
            <a:solidFill>
              <a:srgbClr val="1034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19773-B05E-4FDA-BAF2-06B6BA41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098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D6FF"/>
                </a:solidFill>
              </a:defRPr>
            </a:pPr>
            <a:r>
              <a:rPr sz="1800" b="1">
                <a:solidFill>
                  <a:srgbClr val="55D6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B429C-560F-4E1F-8271-56BC3D2C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BFF"/>
                </a:solidFill>
              </a:defRPr>
            </a:pPr>
            <a:r>
              <a:rPr sz="1875" b="1">
                <a:solidFill>
                  <a:srgbClr val="F5FBFF"/>
                </a:solidFill>
              </a:rPr>
              <a:t>Finish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08C21-1962-44CE-8A60-90C2E3C2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19716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D9"/>
                </a:solidFill>
              </a:defRPr>
            </a:pPr>
            <a:r>
              <a:rPr sz="1275" b="0">
                <a:solidFill>
                  <a:srgbClr val="B8CBD9"/>
                </a:solidFill>
              </a:rPr>
              <a:t>Enhance, enlarge, review history, and download the result.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2c1ce33874b6a"/>
          <a:srcRect xmlns:a="http://schemas.openxmlformats.org/drawingml/2006/main" l="0" t="14953" r="0" b="14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62500"/>
            <a:ext cx="203835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3d2d77818414c"/>
          <a:srcRect xmlns:a="http://schemas.openxmlformats.org/drawingml/2006/main" l="0" t="14953" r="0" b="14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71800" y="4762500"/>
            <a:ext cx="203835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F2DFA-52CC-4614-A52F-77BBBF27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62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35C"/>
                </a:solidFill>
              </a:defRPr>
            </a:pPr>
            <a:r>
              <a:rPr sz="1350" b="1">
                <a:solidFill>
                  <a:srgbClr val="FFB35C"/>
                </a:solidFill>
              </a:rPr>
              <a:t>Batch candidate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E9F6F-A0B1-4E34-92FF-4D24085C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43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D6FF"/>
                </a:solidFill>
              </a:defRPr>
            </a:pPr>
            <a:r>
              <a:rPr sz="1350" b="1">
                <a:solidFill>
                  <a:srgbClr val="55D6FF"/>
                </a:solidFill>
              </a:rPr>
              <a:t>Enhanced final output</a:t>
            </a:r>
          </a:p>
        </p:txBody>
      </p:sp>
    </p:spTree>
    <p:extLst>
      <p:ext uri="{BB962C8B-B14F-4D97-AF65-F5344CB8AC3E}">
        <p14:creationId xmlns:p14="http://schemas.microsoft.com/office/powerpoint/2010/main" val="318409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C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05151-2BD2-4111-B5CD-734EBC4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</a:defRPr>
            </a:pPr>
            <a:r>
              <a:rPr sz="2850" b="1">
                <a:solidFill>
                  <a:srgbClr val="F5FBFF"/>
                </a:solidFill>
              </a:rPr>
              <a:t>The core pipeline is local and reproducible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1D2FE-C246-4DD6-B911-2DF9F480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BD9"/>
                </a:solidFill>
              </a:defRPr>
            </a:pPr>
            <a:r>
              <a:rPr sz="1500" b="0">
                <a:solidFill>
                  <a:srgbClr val="B8CBD9"/>
                </a:solidFill>
              </a:rPr>
              <a:t>The same seed and settings can recreate a promising candidate on the same model revision.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E5997-3B8D-4203-B413-257CAA46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813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F"/>
          </a:solidFill>
          <a:ln xmlns:a="http://schemas.openxmlformats.org/drawingml/2006/main" w="0">
            <a:solidFill>
              <a:srgbClr val="55D6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21D63-7215-4918-B65A-E8C7AD42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7526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3451"/>
          </a:solidFill>
          <a:ln xmlns:a="http://schemas.openxmlformats.org/drawingml/2006/main" w="0">
            <a:solidFill>
              <a:srgbClr val="10345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2F876-5754-4F81-8970-64F14949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D6FF"/>
                </a:solidFill>
              </a:defRPr>
            </a:pPr>
            <a:r>
              <a:rPr sz="1125" b="1">
                <a:solidFill>
                  <a:srgbClr val="55D6FF"/>
                </a:solidFill>
              </a:rPr>
              <a:t>USER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EE234-C883-419D-B0F9-384123A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BFF"/>
                </a:solidFill>
              </a:defRPr>
            </a:pPr>
            <a:r>
              <a:rPr sz="1725" b="1">
                <a:solidFill>
                  <a:srgbClr val="F5FBFF"/>
                </a:solidFill>
              </a:rPr>
              <a:t>Prompt</a:t>
            </a:r>
          </a:p>
          <a:p xmlns:a="http://schemas.openxmlformats.org/drawingml/2006/main">
            <a:pPr algn="ctr">
              <a:defRPr sz="1725" b="1">
                <a:solidFill>
                  <a:srgbClr val="F5FBFF"/>
                </a:solidFill>
              </a:defRPr>
            </a:pPr>
            <a:r>
              <a:rPr sz="1725" b="1">
                <a:solidFill>
                  <a:srgbClr val="F5FBFF"/>
                </a:solidFill>
              </a:rPr>
              <a:t>or reference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6C74C-2A88-4BA8-BD5B-92D53D90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813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F"/>
          </a:solidFill>
          <a:ln xmlns:a="http://schemas.openxmlformats.org/drawingml/2006/main" w="0">
            <a:solidFill>
              <a:srgbClr val="55D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C69EE-7B15-4038-A1C2-21D6814A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00300"/>
            <a:ext cx="17526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3451"/>
          </a:solidFill>
          <a:ln xmlns:a="http://schemas.openxmlformats.org/drawingml/2006/main" w="0">
            <a:solidFill>
              <a:srgbClr val="1034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22589-0AC0-4BB9-B096-09CCACE2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289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D6FF"/>
                </a:solidFill>
              </a:defRPr>
            </a:pPr>
            <a:r>
              <a:rPr sz="1125" b="1">
                <a:solidFill>
                  <a:srgbClr val="55D6FF"/>
                </a:solidFill>
              </a:rPr>
              <a:t>GRADIO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32F69-3061-4DDF-91AE-D037B2E0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67050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BFF"/>
                </a:solidFill>
              </a:defRPr>
            </a:pPr>
            <a:r>
              <a:rPr sz="1725" b="1">
                <a:solidFill>
                  <a:srgbClr val="F5FBFF"/>
                </a:solidFill>
              </a:rPr>
              <a:t>Controls,</a:t>
            </a:r>
          </a:p>
          <a:p xmlns:a="http://schemas.openxmlformats.org/drawingml/2006/main">
            <a:pPr algn="ctr">
              <a:defRPr sz="1725" b="1">
                <a:solidFill>
                  <a:srgbClr val="F5FBFF"/>
                </a:solidFill>
              </a:defRPr>
            </a:pPr>
            <a:r>
              <a:rPr sz="1725" b="1">
                <a:solidFill>
                  <a:srgbClr val="F5FBFF"/>
                </a:solidFill>
              </a:rPr>
              <a:t>preview,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98E68-694F-4D30-A494-8752FE43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F"/>
          </a:solidFill>
          <a:ln xmlns:a="http://schemas.openxmlformats.org/drawingml/2006/main" w="0">
            <a:solidFill>
              <a:srgbClr val="55D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2BE92-82F0-4588-A6F0-3C34F15E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17526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3451"/>
          </a:solidFill>
          <a:ln xmlns:a="http://schemas.openxmlformats.org/drawingml/2006/main" w="0">
            <a:solidFill>
              <a:srgbClr val="1034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41D0D-3B57-47C5-893A-A3A88E44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289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D6FF"/>
                </a:solidFill>
              </a:defRPr>
            </a:pPr>
            <a:r>
              <a:rPr sz="1125" b="1">
                <a:solidFill>
                  <a:srgbClr val="55D6FF"/>
                </a:solidFill>
              </a:rPr>
              <a:t>DIFFUSERS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410A7-4A2F-4732-A9C4-19AC981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67050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BFF"/>
                </a:solidFill>
              </a:defRPr>
            </a:pPr>
            <a:r>
              <a:rPr sz="1725" b="1">
                <a:solidFill>
                  <a:srgbClr val="F5FBFF"/>
                </a:solidFill>
              </a:rPr>
              <a:t>SD 1.5</a:t>
            </a:r>
          </a:p>
          <a:p xmlns:a="http://schemas.openxmlformats.org/drawingml/2006/main">
            <a:pPr algn="ctr">
              <a:defRPr sz="1725" b="1">
                <a:solidFill>
                  <a:srgbClr val="F5FBFF"/>
                </a:solidFill>
              </a:defRPr>
            </a:pPr>
            <a:r>
              <a:rPr sz="1725" b="1">
                <a:solidFill>
                  <a:srgbClr val="F5FBFF"/>
                </a:solidFill>
              </a:rPr>
              <a:t>text +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4CA29-46BE-4EF9-A5CC-06C7A874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813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5C"/>
          </a:solidFill>
          <a:ln xmlns:a="http://schemas.openxmlformats.org/drawingml/2006/main" w="0">
            <a:solidFill>
              <a:srgbClr val="FFB3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A3866-D337-4054-98C7-D734C420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17526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5B3B21"/>
          </a:solidFill>
          <a:ln xmlns:a="http://schemas.openxmlformats.org/drawingml/2006/main" w="0">
            <a:solidFill>
              <a:srgbClr val="5B3B2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AE395-5579-4AD6-86DF-B7C1F4F7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289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B35C"/>
                </a:solidFill>
              </a:defRPr>
            </a:pPr>
            <a:r>
              <a:rPr sz="1125" b="1">
                <a:solidFill>
                  <a:srgbClr val="FFB35C"/>
                </a:solidFill>
              </a:rPr>
              <a:t>ROCm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29EBB-8307-4CC5-B414-1DB30961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BFF"/>
                </a:solidFill>
              </a:defRPr>
            </a:pPr>
            <a:r>
              <a:rPr sz="1725" b="1">
                <a:solidFill>
                  <a:srgbClr val="F5FBFF"/>
                </a:solidFill>
              </a:rPr>
              <a:t>PyTorch</a:t>
            </a:r>
          </a:p>
          <a:p xmlns:a="http://schemas.openxmlformats.org/drawingml/2006/main">
            <a:pPr algn="ctr">
              <a:defRPr sz="1725" b="1">
                <a:solidFill>
                  <a:srgbClr val="F5FBFF"/>
                </a:solidFill>
              </a:defRPr>
            </a:pPr>
            <a:r>
              <a:rPr sz="1725" b="1">
                <a:solidFill>
                  <a:srgbClr val="F5FBFF"/>
                </a:solidFill>
              </a:rPr>
              <a:t>FP16 inference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2A144-56E0-415A-89E3-E3EC278D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00300"/>
            <a:ext cx="17526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3451"/>
          </a:solidFill>
          <a:ln xmlns:a="http://schemas.openxmlformats.org/drawingml/2006/main" w="0">
            <a:solidFill>
              <a:srgbClr val="1034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70704-4D5D-4156-89BC-655121A8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289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D6FF"/>
                </a:solidFill>
              </a:defRPr>
            </a:pPr>
            <a:r>
              <a:rPr sz="1125" b="1">
                <a:solidFill>
                  <a:srgbClr val="55D6FF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4EAD4D-CF8A-48E3-81EF-86DAB840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67050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BFF"/>
                </a:solidFill>
              </a:defRPr>
            </a:pPr>
            <a:r>
              <a:rPr sz="1725" b="1">
                <a:solidFill>
                  <a:srgbClr val="F5FBFF"/>
                </a:solidFill>
              </a:rPr>
              <a:t>PNG + seed</a:t>
            </a:r>
          </a:p>
          <a:p xmlns:a="http://schemas.openxmlformats.org/drawingml/2006/main">
            <a:pPr algn="ctr">
              <a:defRPr sz="1725" b="1">
                <a:solidFill>
                  <a:srgbClr val="F5FBFF"/>
                </a:solidFill>
              </a:defRPr>
            </a:pPr>
            <a:r>
              <a:rPr sz="1725" b="1">
                <a:solidFill>
                  <a:srgbClr val="F5FBFF"/>
                </a:solidFill>
              </a:rPr>
              <a:t>GPU +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DF20B-85CD-4B04-A68C-DB370375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382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D2A40"/>
          </a:solidFill>
          <a:ln xmlns:a="http://schemas.openxmlformats.org/drawingml/2006/main" w="0">
            <a:solidFill>
              <a:srgbClr val="0D2A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0038D-AE5A-4967-A786-01C8DAE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35C"/>
                </a:solidFill>
              </a:defRPr>
            </a:pPr>
            <a:r>
              <a:rPr sz="1425" b="1">
                <a:solidFill>
                  <a:srgbClr val="FFB35C"/>
                </a:solidFill>
              </a:rPr>
              <a:t>Reproducibility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EF05B-0C1F-4CFB-B0D6-72ACA6E0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BFF"/>
                </a:solidFill>
              </a:defRPr>
            </a:pPr>
            <a:r>
              <a:rPr sz="1425" b="0">
                <a:solidFill>
                  <a:srgbClr val="F5FBFF"/>
                </a:solidFill>
              </a:rPr>
              <a:t>Prompt  +  negative prompt  +  resolution  +  steps  +  guidance scale  +  seed</a:t>
            </a:r>
          </a:p>
        </p:txBody>
      </p:sp>
    </p:spTree>
    <p:extLst>
      <p:ext uri="{BB962C8B-B14F-4D97-AF65-F5344CB8AC3E}">
        <p14:creationId xmlns:p14="http://schemas.microsoft.com/office/powerpoint/2010/main" val="937935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C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5D4F3-D2C8-4A3B-84DA-9312079D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</a:defRPr>
            </a:pPr>
            <a:r>
              <a:rPr sz="2850" b="1">
                <a:solidFill>
                  <a:srgbClr val="F5FBFF"/>
                </a:solidFill>
              </a:rPr>
              <a:t>Built to show the AMD GPU doing the important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B1F03-CA53-4ED3-B009-853459F6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BD9"/>
                </a:solidFill>
              </a:defRPr>
            </a:pPr>
            <a:r>
              <a:rPr sz="1500" b="0">
                <a:solidFill>
                  <a:srgbClr val="B8CBD9"/>
                </a:solidFill>
              </a:rPr>
              <a:t>The UI makes the runtime evidence visible instead of hiding it behind a final image.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A0E3A-078E-4C05-B488-BFC6E2F7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103451"/>
          </a:solidFill>
          <a:ln xmlns:a="http://schemas.openxmlformats.org/drawingml/2006/main" w="0">
            <a:solidFill>
              <a:srgbClr val="1034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27735-8F56-42F9-9AE1-8C33A881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5D6FF"/>
                </a:solidFill>
              </a:defRPr>
            </a:pPr>
            <a:r>
              <a:rPr sz="2025" b="1">
                <a:solidFill>
                  <a:srgbClr val="55D6FF"/>
                </a:solidFill>
              </a:rPr>
              <a:t>AMD Radeon + ROCm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66088-2543-44DC-B77A-7109B85E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BFF"/>
                </a:solidFill>
              </a:defRPr>
            </a:pPr>
            <a:r>
              <a:rPr sz="1500" b="0">
                <a:solidFill>
                  <a:srgbClr val="F5FBFF"/>
                </a:solidFill>
              </a:rPr>
              <a:t>•  PyTorch ROCm device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458E0-3FA2-4D40-8568-E1900590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BFF"/>
                </a:solidFill>
              </a:defRPr>
            </a:pPr>
            <a:r>
              <a:rPr sz="1500" b="0">
                <a:solidFill>
                  <a:srgbClr val="F5FBFF"/>
                </a:solidFill>
              </a:rPr>
              <a:t>•  FP16 Stable Diffusion weights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1EE39-FEDF-4A2D-9EF2-1401F1E8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BFF"/>
                </a:solidFill>
              </a:defRPr>
            </a:pPr>
            <a:r>
              <a:rPr sz="1500" b="0">
                <a:solidFill>
                  <a:srgbClr val="F5FBFF"/>
                </a:solidFill>
              </a:rPr>
              <a:t>•  torch.inference_mode()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C33DA-D502-40D0-BA74-C511252A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BFF"/>
                </a:solidFill>
              </a:defRPr>
            </a:pPr>
            <a:r>
              <a:rPr sz="1500" b="0">
                <a:solidFill>
                  <a:srgbClr val="F5FBFF"/>
                </a:solidFill>
              </a:rPr>
              <a:t>•  GPU name and VRAM in the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3A016-A901-431E-8507-88C24CED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BFF"/>
                </a:solidFill>
              </a:defRPr>
            </a:pPr>
            <a:r>
              <a:rPr sz="1500" b="0">
                <a:solidFill>
                  <a:srgbClr val="F5FBFF"/>
                </a:solidFill>
              </a:rPr>
              <a:t>•  Seed and elapsed time per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371A5-842D-4097-BC3B-9AA39464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85775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123C45"/>
          </a:solidFill>
          <a:ln xmlns:a="http://schemas.openxmlformats.org/drawingml/2006/main" w="0">
            <a:solidFill>
              <a:srgbClr val="123C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1F067-2022-49B4-81AD-0EA0814F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B35C"/>
                </a:solidFill>
              </a:defRPr>
            </a:pPr>
            <a:r>
              <a:rPr sz="2025" b="1">
                <a:solidFill>
                  <a:srgbClr val="FFB35C"/>
                </a:solidFill>
              </a:rPr>
              <a:t>Verified Cloud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BBF7B-1274-453C-8AD9-B3220FA8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F"/>
                </a:solidFill>
              </a:defRPr>
            </a:pPr>
            <a:r>
              <a:rPr sz="1500" b="1">
                <a:solidFill>
                  <a:srgbClr val="F5FBFF"/>
                </a:solidFill>
              </a:rPr>
              <a:t>Capture in the final demo: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E4E8B-B898-444B-BA5D-480A8A9E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D9"/>
                </a:solidFill>
              </a:defRPr>
            </a:pPr>
            <a:r>
              <a:rPr sz="1275" b="0">
                <a:solidFill>
                  <a:srgbClr val="B8CBD9"/>
                </a:solidFill>
              </a:rPr>
              <a:t>•  Container 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FA7AE-4554-40BF-8541-263708D3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D9"/>
                </a:solidFill>
              </a:defRPr>
            </a:pPr>
            <a:r>
              <a:rPr sz="1275" b="0">
                <a:solidFill>
                  <a:srgbClr val="B8CBD9"/>
                </a:solidFill>
              </a:rPr>
              <a:t>•  AMD GPU name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F6BA0-0FC9-4D1C-B146-4C3B3129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243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D9"/>
                </a:solidFill>
              </a:defRPr>
            </a:pPr>
            <a:r>
              <a:rPr sz="1275" b="0">
                <a:solidFill>
                  <a:srgbClr val="B8CBD9"/>
                </a:solidFill>
              </a:rPr>
              <a:t>•  ROCm + PyTorch versions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C0CA5-6D8E-4258-82C9-9A575CA2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00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D9"/>
                </a:solidFill>
              </a:defRPr>
            </a:pPr>
            <a:r>
              <a:rPr sz="1275" b="0">
                <a:solidFill>
                  <a:srgbClr val="B8CBD9"/>
                </a:solidFill>
              </a:rPr>
              <a:t>•  Text-to-image timing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E3809-1D85-411B-91B8-7EE5AB28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D9"/>
                </a:solidFill>
              </a:defRPr>
            </a:pPr>
            <a:r>
              <a:rPr sz="1275" b="0">
                <a:solidFill>
                  <a:srgbClr val="B8CBD9"/>
                </a:solidFill>
              </a:rPr>
              <a:t>•  Image-to-image timing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C692F-7374-4CF2-A72E-FF41B601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815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D9"/>
                </a:solidFill>
              </a:defRPr>
            </a:pPr>
            <a:r>
              <a:rPr sz="1275" b="0">
                <a:solidFill>
                  <a:srgbClr val="B8CBD9"/>
                </a:solidFill>
              </a:rPr>
              <a:t>•  Batch 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E48D0-5131-4CB3-8910-45236A9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35C"/>
                </a:solidFill>
              </a:defRPr>
            </a:pPr>
            <a:r>
              <a:rPr sz="1425" b="1">
                <a:solidFill>
                  <a:srgbClr val="FFB35C"/>
                </a:solidFill>
              </a:rPr>
              <a:t>Key diffusion inference is local. Pillow enhancement is documented as CPU post-processing.</a:t>
            </a:r>
          </a:p>
        </p:txBody>
      </p:sp>
    </p:spTree>
    <p:extLst>
      <p:ext uri="{BB962C8B-B14F-4D97-AF65-F5344CB8AC3E}">
        <p14:creationId xmlns:p14="http://schemas.microsoft.com/office/powerpoint/2010/main" val="1122469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C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22F09-5D39-47AA-858E-EDD74B14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</a:defRPr>
            </a:pPr>
            <a:r>
              <a:rPr sz="2850" b="1">
                <a:solidFill>
                  <a:srgbClr val="F5FBFF"/>
                </a:solidFill>
              </a:rPr>
              <a:t>A practical tool for creators who need options quickly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D10BC-8275-40DB-B8B7-7153A5F6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BD9"/>
                </a:solidFill>
              </a:defRPr>
            </a:pPr>
            <a:r>
              <a:rPr sz="1500" b="0">
                <a:solidFill>
                  <a:srgbClr val="B8CBD9"/>
                </a:solidFill>
              </a:rPr>
              <a:t>Local execution turns one creative idea into a reviewable set of visual directions.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087202d1040dd"/>
          <a:srcRect xmlns:a="http://schemas.openxmlformats.org/drawingml/2006/main" l="0" t="12400" r="0" b="12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5740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c06c21fe149d1"/>
          <a:srcRect xmlns:a="http://schemas.openxmlformats.org/drawingml/2006/main" l="0" t="12400" r="0" b="12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7550" y="205740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51457cd2240f2"/>
          <a:srcRect xmlns:a="http://schemas.openxmlformats.org/drawingml/2006/main" l="0" t="12400" r="0" b="12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205740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8B07E-0AF4-49CE-9334-52C0EE0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D6FF"/>
                </a:solidFill>
              </a:defRPr>
            </a:pPr>
            <a:r>
              <a:rPr sz="1650" b="1">
                <a:solidFill>
                  <a:srgbClr val="55D6FF"/>
                </a:solidFill>
              </a:rPr>
              <a:t>Social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52D94-CFC1-4710-BA00-9861AC39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D6FF"/>
                </a:solidFill>
              </a:defRPr>
            </a:pPr>
            <a:r>
              <a:rPr sz="1650" b="1">
                <a:solidFill>
                  <a:srgbClr val="55D6FF"/>
                </a:solidFill>
              </a:rPr>
              <a:t>Design variations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99DA8-893A-438D-9919-EC747763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14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D6FF"/>
                </a:solidFill>
              </a:defRPr>
            </a:pPr>
            <a:r>
              <a:rPr sz="1650" b="1">
                <a:solidFill>
                  <a:srgbClr val="55D6FF"/>
                </a:solidFill>
              </a:rPr>
              <a:t>Ready-to-use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E7954-740E-4519-9302-63E8C26E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4765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3451"/>
          </a:solidFill>
          <a:ln xmlns:a="http://schemas.openxmlformats.org/drawingml/2006/main" w="0">
            <a:solidFill>
              <a:srgbClr val="1034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6DA98-A952-480A-AB57-FD73FAE3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35C"/>
                </a:solidFill>
              </a:defRPr>
            </a:pPr>
            <a:r>
              <a:rPr sz="1800" b="1">
                <a:solidFill>
                  <a:srgbClr val="FFB35C"/>
                </a:solidFill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67A58-8760-4128-94E2-3C6E1194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2000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F"/>
                </a:solidFill>
              </a:defRPr>
            </a:pPr>
            <a:r>
              <a:rPr sz="1500" b="1">
                <a:solidFill>
                  <a:srgbClr val="F5FBFF"/>
                </a:solidFill>
              </a:rPr>
              <a:t>Fast ideation</a:t>
            </a:r>
          </a:p>
          <a:p xmlns:a="http://schemas.openxmlformats.org/drawingml/2006/main">
            <a:pPr algn="l">
              <a:defRPr sz="1500" b="1">
                <a:solidFill>
                  <a:srgbClr val="F5FBFF"/>
                </a:solidFill>
              </a:defRPr>
            </a:pPr>
            <a:r>
              <a:rPr sz="1500" b="1">
                <a:solidFill>
                  <a:srgbClr val="F5FBFF"/>
                </a:solidFill>
              </a:rPr>
              <a:t>Local core inference</a:t>
            </a:r>
          </a:p>
          <a:p xmlns:a="http://schemas.openxmlformats.org/drawingml/2006/main">
            <a:pPr algn="l">
              <a:defRPr sz="1500" b="1">
                <a:solidFill>
                  <a:srgbClr val="F5FBFF"/>
                </a:solidFill>
              </a:defRPr>
            </a:pPr>
            <a:r>
              <a:rPr sz="1500" b="1">
                <a:solidFill>
                  <a:srgbClr val="F5FBFF"/>
                </a:solidFill>
              </a:rPr>
              <a:t>Deterministic comparison</a:t>
            </a:r>
          </a:p>
          <a:p xmlns:a="http://schemas.openxmlformats.org/drawingml/2006/main">
            <a:pPr algn="l">
              <a:defRPr sz="1500" b="1">
                <a:solidFill>
                  <a:srgbClr val="F5FBFF"/>
                </a:solidFill>
              </a:defRPr>
            </a:pPr>
            <a:r>
              <a:rPr sz="1500" b="1">
                <a:solidFill>
                  <a:srgbClr val="F5FBFF"/>
                </a:solidFill>
              </a:rPr>
              <a:t>Simple web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89558-7C6D-447C-928C-0478249F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BFF"/>
                </a:solidFill>
              </a:defRPr>
            </a:pPr>
            <a:r>
              <a:rPr sz="1875" b="1">
                <a:solidFill>
                  <a:srgbClr val="F5FBFF"/>
                </a:solidFill>
              </a:rPr>
              <a:t>Radeon AI Creative Studio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ABAA8-4976-49B5-9353-36C753A7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BD9"/>
                </a:solidFill>
              </a:defRPr>
            </a:pPr>
            <a:r>
              <a:rPr sz="1200" b="0">
                <a:solidFill>
                  <a:srgbClr val="B8CBD9"/>
                </a:solidFill>
              </a:rPr>
              <a:t>Track 1 | AMD AI DevMaster Radeon GPU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379616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2026-08-01T13:35:17.7070000Z</dcterms:created>
  <dcterms:modified xsi:type="dcterms:W3CDTF">2026-08-01T13:35:17.7070000Z</dcterms:modified>
</coreProperties>
</file>