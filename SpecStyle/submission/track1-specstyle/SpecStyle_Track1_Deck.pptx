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63ed254be14082" /><Relationship Type="http://schemas.openxmlformats.org/officeDocument/2006/relationships/extended-properties" Target="/docProps/app.xml" Id="R836d84ca075e4c2d" /><Relationship Type="http://schemas.openxmlformats.org/officeDocument/2006/relationships/officeDocument" Target="/ppt/presentation.xml" Id="R83861dc8923347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8c7087255e4545"/>
  </p:sldMasterIdLst>
  <p:notesMasterIdLst>
    <p:notesMasterId xmlns:r="http://schemas.openxmlformats.org/officeDocument/2006/relationships" r:id="R59e2d52d83834d86"/>
  </p:notesMasterIdLst>
  <p:sldIdLst>
    <p:sldId xmlns:r="http://schemas.openxmlformats.org/officeDocument/2006/relationships" id="256" r:id="Rfb95db3a7f5e461b"/>
    <p:sldId xmlns:r="http://schemas.openxmlformats.org/officeDocument/2006/relationships" id="257" r:id="R661700a71cd34fc4"/>
    <p:sldId xmlns:r="http://schemas.openxmlformats.org/officeDocument/2006/relationships" id="258" r:id="R179726e846384cc8"/>
    <p:sldId xmlns:r="http://schemas.openxmlformats.org/officeDocument/2006/relationships" id="259" r:id="R22cfa0b10c774048"/>
    <p:sldId xmlns:r="http://schemas.openxmlformats.org/officeDocument/2006/relationships" id="260" r:id="R4aaca45c97b64350"/>
    <p:sldId xmlns:r="http://schemas.openxmlformats.org/officeDocument/2006/relationships" id="261" r:id="R950a39d092a24f3d"/>
    <p:sldId xmlns:r="http://schemas.openxmlformats.org/officeDocument/2006/relationships" id="262" r:id="R78623db371364ae8"/>
    <p:sldId xmlns:r="http://schemas.openxmlformats.org/officeDocument/2006/relationships" id="263" r:id="Rf1d8fae351884ed5"/>
    <p:sldId xmlns:r="http://schemas.openxmlformats.org/officeDocument/2006/relationships" id="264" r:id="Rc4966a365b724a9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0e67492c024daf" /><Relationship Type="http://schemas.openxmlformats.org/officeDocument/2006/relationships/slideMaster" Target="/ppt/slideMasters/slideMaster1.xml" Id="R098c7087255e4545" /><Relationship Type="http://schemas.openxmlformats.org/officeDocument/2006/relationships/notesMaster" Target="/ppt/notesMasters/notesMaster1.xml" Id="R59e2d52d83834d86" /><Relationship Type="http://schemas.openxmlformats.org/officeDocument/2006/relationships/presProps" Target="/ppt/presProps.xml" Id="Rcf74f5da09614fba" /><Relationship Type="http://schemas.openxmlformats.org/officeDocument/2006/relationships/tableStyles" Target="/ppt/tableStyles.xml" Id="Rf34bacd693494f73" /><Relationship Type="http://schemas.openxmlformats.org/officeDocument/2006/relationships/slide" Target="/ppt/slides/slide1.xml" Id="Rfb95db3a7f5e461b" /><Relationship Type="http://schemas.openxmlformats.org/officeDocument/2006/relationships/slide" Target="/ppt/slides/slide2.xml" Id="R661700a71cd34fc4" /><Relationship Type="http://schemas.openxmlformats.org/officeDocument/2006/relationships/slide" Target="/ppt/slides/slide3.xml" Id="R179726e846384cc8" /><Relationship Type="http://schemas.openxmlformats.org/officeDocument/2006/relationships/slide" Target="/ppt/slides/slide4.xml" Id="R22cfa0b10c774048" /><Relationship Type="http://schemas.openxmlformats.org/officeDocument/2006/relationships/slide" Target="/ppt/slides/slide5.xml" Id="R4aaca45c97b64350" /><Relationship Type="http://schemas.openxmlformats.org/officeDocument/2006/relationships/slide" Target="/ppt/slides/slide6.xml" Id="R950a39d092a24f3d" /><Relationship Type="http://schemas.openxmlformats.org/officeDocument/2006/relationships/slide" Target="/ppt/slides/slide7.xml" Id="R78623db371364ae8" /><Relationship Type="http://schemas.openxmlformats.org/officeDocument/2006/relationships/slide" Target="/ppt/slides/slide8.xml" Id="Rf1d8fae351884ed5" /><Relationship Type="http://schemas.openxmlformats.org/officeDocument/2006/relationships/slide" Target="/ppt/slides/slide9.xml" Id="Rc4966a365b724a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e03b84c2d843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b03506cbb64330" /><Relationship Type="http://schemas.openxmlformats.org/officeDocument/2006/relationships/notesMaster" Target="/ppt/notesMasters/notesMaster1.xml" Id="R94f5ef504b244f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55bb765a494844" /><Relationship Type="http://schemas.openxmlformats.org/officeDocument/2006/relationships/notesMaster" Target="/ppt/notesMasters/notesMaster1.xml" Id="R9d5f1fbe58fa42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e286e2e9d742c2" /><Relationship Type="http://schemas.openxmlformats.org/officeDocument/2006/relationships/notesMaster" Target="/ppt/notesMasters/notesMaster1.xml" Id="Rd0b2c31a07b545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6b4b38b0504380" /><Relationship Type="http://schemas.openxmlformats.org/officeDocument/2006/relationships/notesMaster" Target="/ppt/notesMasters/notesMaster1.xml" Id="R3d306a71b3b94e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16dfb25be04711" /><Relationship Type="http://schemas.openxmlformats.org/officeDocument/2006/relationships/notesMaster" Target="/ppt/notesMasters/notesMaster1.xml" Id="R18af5ba1e6e646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d2b7c21f9a4eea" /><Relationship Type="http://schemas.openxmlformats.org/officeDocument/2006/relationships/notesMaster" Target="/ppt/notesMasters/notesMaster1.xml" Id="R30b9d545a71b48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a6b80fe6934ec7" /><Relationship Type="http://schemas.openxmlformats.org/officeDocument/2006/relationships/notesMaster" Target="/ppt/notesMasters/notesMaster1.xml" Id="R26c129ac74cc49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3e6649ea1c493b" /><Relationship Type="http://schemas.openxmlformats.org/officeDocument/2006/relationships/notesMaster" Target="/ppt/notesMasters/notesMaster1.xml" Id="Rfa9db6d9b8a34d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6b19f6b69443d9" /><Relationship Type="http://schemas.openxmlformats.org/officeDocument/2006/relationships/notesMaster" Target="/ppt/notesMasters/notesMaster1.xml" Id="R9562f12ac4c946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39cff3b1524c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625337b4854bb5" /><Relationship Type="http://schemas.openxmlformats.org/officeDocument/2006/relationships/slideLayout" Target="/ppt/slideLayouts/slideLayout1.xml" Id="Re747475e2c404b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47475e2c404b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f536713c44b1f" /><Relationship Type="http://schemas.openxmlformats.org/officeDocument/2006/relationships/image" Target="/ppt/media/image.png" Id="Rd818cbe47f104e82" /><Relationship Type="http://schemas.openxmlformats.org/officeDocument/2006/relationships/notesSlide" Target="/ppt/notesSlides/notesSlide1.xml" Id="R6f0277e5167540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32f76f3a1428b" /><Relationship Type="http://schemas.openxmlformats.org/officeDocument/2006/relationships/image" Target="/ppt/media/image2.png" Id="R3080bc45fb2e4eff" /><Relationship Type="http://schemas.openxmlformats.org/officeDocument/2006/relationships/notesSlide" Target="/ppt/notesSlides/notesSlide2.xml" Id="R767ba228b68f4d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24785b1d6420f" /><Relationship Type="http://schemas.openxmlformats.org/officeDocument/2006/relationships/notesSlide" Target="/ppt/notesSlides/notesSlide3.xml" Id="Rbaf049d7808f41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89578c35f4ab3" /><Relationship Type="http://schemas.openxmlformats.org/officeDocument/2006/relationships/image" Target="/ppt/media/image3.png" Id="Ra6161c52832c4759" /><Relationship Type="http://schemas.openxmlformats.org/officeDocument/2006/relationships/notesSlide" Target="/ppt/notesSlides/notesSlide4.xml" Id="Re5b8f4f0757342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1778bc5264477" /><Relationship Type="http://schemas.openxmlformats.org/officeDocument/2006/relationships/image" Target="/ppt/media/image4.png" Id="R178827c61c8548c7" /><Relationship Type="http://schemas.openxmlformats.org/officeDocument/2006/relationships/image" Target="/ppt/media/image5.png" Id="Ra82bc8af7b8140fd" /><Relationship Type="http://schemas.openxmlformats.org/officeDocument/2006/relationships/image" Target="/ppt/media/image6.png" Id="R1270ba78bb8a4e4b" /><Relationship Type="http://schemas.openxmlformats.org/officeDocument/2006/relationships/image" Target="/ppt/media/image7.png" Id="R13229acdc0184f70" /><Relationship Type="http://schemas.openxmlformats.org/officeDocument/2006/relationships/notesSlide" Target="/ppt/notesSlides/notesSlide5.xml" Id="R5870c6bd793e41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266cc649949ea" /><Relationship Type="http://schemas.openxmlformats.org/officeDocument/2006/relationships/notesSlide" Target="/ppt/notesSlides/notesSlide6.xml" Id="R6149e218be3947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2ee7e037849e4" /><Relationship Type="http://schemas.openxmlformats.org/officeDocument/2006/relationships/notesSlide" Target="/ppt/notesSlides/notesSlide7.xml" Id="Rfca7d0f0dbdc49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2274e9c0f4301" /><Relationship Type="http://schemas.openxmlformats.org/officeDocument/2006/relationships/notesSlide" Target="/ppt/notesSlides/notesSlide8.xml" Id="Rbfdc2920d8634a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d077200c44b85" /><Relationship Type="http://schemas.openxmlformats.org/officeDocument/2006/relationships/notesSlide" Target="/ppt/notesSlides/notesSlide9.xml" Id="Rcca4779b9b0b4e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5F2C2-DCC2-4FDB-801A-02DD3989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52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2E306-782F-4543-9BCD-2E3084F9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E7E5E-D2BA-4861-9D61-1D4A856C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"/>
            <a:ext cx="171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2-105">
            <a:extLst xmlns:a="http://schemas.openxmlformats.org/drawingml/2006/main">
              <a:ext uri="{FF2B5EF4-FFF2-40B4-BE49-F238E27FC236}">
                <a16:creationId xmlns:a16="http://schemas.microsoft.com/office/drawing/2014/main" id="{C7B91715-CE12-4B43-BD57-05BC3CDB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00125"/>
            <a:ext cx="5334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</a:t>
            </a:r>
          </a:p>
        </p:txBody>
      </p:sp>
      <p:sp>
        <p:nvSpPr>
          <p:cNvPr id="5" name="text-52-212">
            <a:extLst xmlns:a="http://schemas.openxmlformats.org/drawingml/2006/main">
              <a:ext uri="{FF2B5EF4-FFF2-40B4-BE49-F238E27FC236}">
                <a16:creationId xmlns:a16="http://schemas.microsoft.com/office/drawing/2014/main" id="{A8A09465-4024-4ABC-AE79-5C1FC19A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5238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Executable StyleOps for AMD Radeon</a:t>
            </a:r>
          </a:p>
        </p:txBody>
      </p:sp>
      <p:sp>
        <p:nvSpPr>
          <p:cNvPr id="6" name="text-52-326">
            <a:extLst xmlns:a="http://schemas.openxmlformats.org/drawingml/2006/main">
              <a:ext uri="{FF2B5EF4-FFF2-40B4-BE49-F238E27FC236}">
                <a16:creationId xmlns:a16="http://schemas.microsoft.com/office/drawing/2014/main" id="{14150426-92AE-4450-9DCE-5519A872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5143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Compile a visual contract. Run local generation. Record evidence. Route, repair, and replay without mixing controls with gates.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92459-6529-4500-A7E4-0BCF73A2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"/>
            <a:ext cx="550545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95300" y="605790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9" name="text-52-650">
            <a:extLst xmlns:a="http://schemas.openxmlformats.org/drawingml/2006/main">
              <a:ext uri="{FF2B5EF4-FFF2-40B4-BE49-F238E27FC236}">
                <a16:creationId xmlns:a16="http://schemas.microsoft.com/office/drawing/2014/main" id="{FDFE3F42-1A0D-4BA6-9FC0-370A6D40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Submitted by guan | AMD AI DevMaster | Track 1</a:t>
            </a:r>
          </a:p>
        </p:txBody>
      </p:sp>
      <p:sp>
        <p:nvSpPr>
          <p:cNvPr id="10" name="text-785-650">
            <a:extLst xmlns:a="http://schemas.openxmlformats.org/drawingml/2006/main">
              <a:ext uri="{FF2B5EF4-FFF2-40B4-BE49-F238E27FC236}">
                <a16:creationId xmlns:a16="http://schemas.microsoft.com/office/drawing/2014/main" id="{88C06BD2-5ACA-409E-80E3-892F9EC5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191250"/>
            <a:ext cx="42195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Radeon + ROCm | candidate fd4e45b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8cbe47f104e82"/>
          <a:srcRect xmlns:a="http://schemas.openxmlformats.org/drawingml/2006/main" l="0" t="358" r="0" b="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609600"/>
            <a:ext cx="5314950" cy="5276850"/>
          </a:xfrm>
          <a:prstGeom xmlns:a="http://schemas.openxmlformats.org/drawingml/2006/main" prst="roundRect">
            <a:avLst>
              <a:gd name="adj" fmla="val 1083"/>
            </a:avLst>
          </a:prstGeom>
        </p:spPr>
      </p:pic>
    </p:spTree>
    <p:extLst>
      <p:ext uri="{BB962C8B-B14F-4D97-AF65-F5344CB8AC3E}">
        <p14:creationId xmlns:p14="http://schemas.microsoft.com/office/powerpoint/2010/main" val="460166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52-28">
            <a:extLst xmlns:a="http://schemas.openxmlformats.org/drawingml/2006/main">
              <a:ext uri="{FF2B5EF4-FFF2-40B4-BE49-F238E27FC236}">
                <a16:creationId xmlns:a16="http://schemas.microsoft.com/office/drawing/2014/main" id="{75AA82E3-7A65-43B9-8C5D-F9F44599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AMD AI DEVMASTER</a:t>
            </a:r>
          </a:p>
        </p:txBody>
      </p:sp>
      <p:sp>
        <p:nvSpPr>
          <p:cNvPr id="2" name="text-52-62">
            <a:extLst xmlns:a="http://schemas.openxmlformats.org/drawingml/2006/main">
              <a:ext uri="{FF2B5EF4-FFF2-40B4-BE49-F238E27FC236}">
                <a16:creationId xmlns:a16="http://schemas.microsoft.com/office/drawing/2014/main" id="{0C29A091-A327-4456-A249-67958B18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Creative direction is hard to reproduce when it lives in sliders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4" name="text-52-684">
            <a:extLst xmlns:a="http://schemas.openxmlformats.org/drawingml/2006/main">
              <a:ext uri="{FF2B5EF4-FFF2-40B4-BE49-F238E27FC236}">
                <a16:creationId xmlns:a16="http://schemas.microsoft.com/office/drawing/2014/main" id="{9F3B46B9-7ED9-462A-B6E9-47D44A76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Track 1</a:t>
            </a:r>
          </a:p>
        </p:txBody>
      </p:sp>
      <p:sp>
        <p:nvSpPr>
          <p:cNvPr id="5" name="text-1178-684">
            <a:extLst xmlns:a="http://schemas.openxmlformats.org/drawingml/2006/main">
              <a:ext uri="{FF2B5EF4-FFF2-40B4-BE49-F238E27FC236}">
                <a16:creationId xmlns:a16="http://schemas.microsoft.com/office/drawing/2014/main" id="{81FF5ADB-0FA0-4AC6-909A-928C6277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EDA68-AEA8-46D3-A207-AF297BE6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3943350" cy="41719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text-492-174">
            <a:extLst xmlns:a="http://schemas.openxmlformats.org/drawingml/2006/main">
              <a:ext uri="{FF2B5EF4-FFF2-40B4-BE49-F238E27FC236}">
                <a16:creationId xmlns:a16="http://schemas.microsoft.com/office/drawing/2014/main" id="{5172FF21-7894-49A7-9C48-F417DAEB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57350"/>
            <a:ext cx="657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A source is easy to share</a:t>
            </a:r>
          </a:p>
        </p:txBody>
      </p:sp>
      <p:sp>
        <p:nvSpPr>
          <p:cNvPr id="8" name="text-492-220">
            <a:extLst xmlns:a="http://schemas.openxmlformats.org/drawingml/2006/main">
              <a:ext uri="{FF2B5EF4-FFF2-40B4-BE49-F238E27FC236}">
                <a16:creationId xmlns:a16="http://schemas.microsoft.com/office/drawing/2014/main" id="{218834A9-253F-4868-8CF9-69B478F4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6572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The missing object is the execution contract: exact model supply, reference assets, generation controls, applicable rules, output profiles, and bounded repair policy.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4C15E-2728-4A9E-97BD-02ACDFFF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514-358">
            <a:extLst xmlns:a="http://schemas.openxmlformats.org/drawingml/2006/main">
              <a:ext uri="{FF2B5EF4-FFF2-40B4-BE49-F238E27FC236}">
                <a16:creationId xmlns:a16="http://schemas.microsoft.com/office/drawing/2014/main" id="{E27B4F83-850B-456C-897D-298321C8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9950"/>
            <a:ext cx="64579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Executable Style Spec - schema, migration, pins, and compiler graphs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42259-01C5-4A55-B6AD-DE4A68D3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86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514-421">
            <a:extLst xmlns:a="http://schemas.openxmlformats.org/drawingml/2006/main">
              <a:ext uri="{FF2B5EF4-FFF2-40B4-BE49-F238E27FC236}">
                <a16:creationId xmlns:a16="http://schemas.microsoft.com/office/drawing/2014/main" id="{BC2AB035-B587-4182-A2E1-F2CB274F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10025"/>
            <a:ext cx="64579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Layered QA contract - deterministic L1 and versioned L2/L3 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54363-D89B-4A21-A514-B0D3E4C8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14-484">
            <a:extLst xmlns:a="http://schemas.openxmlformats.org/drawingml/2006/main">
              <a:ext uri="{FF2B5EF4-FFF2-40B4-BE49-F238E27FC236}">
                <a16:creationId xmlns:a16="http://schemas.microsoft.com/office/drawing/2014/main" id="{035A8FD3-876B-449C-B300-7D5A44AF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10100"/>
            <a:ext cx="64579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Guardrailed repair - allow-listed actions, limits, history, re-verification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414C5-6822-4C44-8F25-D36DBEDA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86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514-547">
            <a:extLst xmlns:a="http://schemas.openxmlformats.org/drawingml/2006/main">
              <a:ext uri="{FF2B5EF4-FFF2-40B4-BE49-F238E27FC236}">
                <a16:creationId xmlns:a16="http://schemas.microsoft.com/office/drawing/2014/main" id="{F95C65BD-AA37-4FA8-98C5-96C4AA05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210175"/>
            <a:ext cx="64579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Auditable delivery - approved/rejected routing, manifest, QA, replay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0bc45fb2e4eff"/>
          <a:stretch xmlns:a="http://schemas.openxmlformats.org/drawingml/2006/main"/>
        </p:blipFill>
        <p:spPr>
          <a:xfrm xmlns:a="http://schemas.openxmlformats.org/drawingml/2006/main">
            <a:off x="609600" y="1828800"/>
            <a:ext cx="3714750" cy="3714750"/>
          </a:xfrm>
          <a:prstGeom xmlns:a="http://schemas.openxmlformats.org/drawingml/2006/main" prst="roundRect">
            <a:avLst>
              <a:gd name="adj" fmla="val 1538"/>
            </a:avLst>
          </a:prstGeom>
        </p:spPr>
      </p:pic>
    </p:spTree>
    <p:extLst>
      <p:ext uri="{BB962C8B-B14F-4D97-AF65-F5344CB8AC3E}">
        <p14:creationId xmlns:p14="http://schemas.microsoft.com/office/powerpoint/2010/main" val="450056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-52-28">
            <a:extLst xmlns:a="http://schemas.openxmlformats.org/drawingml/2006/main">
              <a:ext uri="{FF2B5EF4-FFF2-40B4-BE49-F238E27FC236}">
                <a16:creationId xmlns:a16="http://schemas.microsoft.com/office/drawing/2014/main" id="{570934D0-AFDC-4EE1-BFDC-8615BD4D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AMD AI DEVMASTER</a:t>
            </a:r>
          </a:p>
        </p:txBody>
      </p:sp>
      <p:sp>
        <p:nvSpPr>
          <p:cNvPr id="2" name="text-52-62">
            <a:extLst xmlns:a="http://schemas.openxmlformats.org/drawingml/2006/main">
              <a:ext uri="{FF2B5EF4-FFF2-40B4-BE49-F238E27FC236}">
                <a16:creationId xmlns:a16="http://schemas.microsoft.com/office/drawing/2014/main" id="{8C02DF51-C375-463A-94DC-03341204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One Style Spec drives a complete local workflow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4" name="text-52-684">
            <a:extLst xmlns:a="http://schemas.openxmlformats.org/drawingml/2006/main">
              <a:ext uri="{FF2B5EF4-FFF2-40B4-BE49-F238E27FC236}">
                <a16:creationId xmlns:a16="http://schemas.microsoft.com/office/drawing/2014/main" id="{519A6D57-E39D-4423-9A9D-D5C0B2F8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Track 1</a:t>
            </a:r>
          </a:p>
        </p:txBody>
      </p:sp>
      <p:sp>
        <p:nvSpPr>
          <p:cNvPr id="5" name="text-1178-684">
            <a:extLst xmlns:a="http://schemas.openxmlformats.org/drawingml/2006/main">
              <a:ext uri="{FF2B5EF4-FFF2-40B4-BE49-F238E27FC236}">
                <a16:creationId xmlns:a16="http://schemas.microsoft.com/office/drawing/2014/main" id="{021A792C-480F-45EE-B213-6D6A5416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1428750" y="3114675"/>
            <a:ext cx="8915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194C3-CFD8-4019-8280-87AEB9FE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1885950" cy="19240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223A3-B60C-4EBC-9A0F-2108A4F7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8-260">
            <a:extLst xmlns:a="http://schemas.openxmlformats.org/drawingml/2006/main">
              <a:ext uri="{FF2B5EF4-FFF2-40B4-BE49-F238E27FC236}">
                <a16:creationId xmlns:a16="http://schemas.microsoft.com/office/drawing/2014/main" id="{B60CFA59-421B-4D82-BF42-A6DEFEF0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10" name="text-68-298">
            <a:extLst xmlns:a="http://schemas.openxmlformats.org/drawingml/2006/main">
              <a:ext uri="{FF2B5EF4-FFF2-40B4-BE49-F238E27FC236}">
                <a16:creationId xmlns:a16="http://schemas.microsoft.com/office/drawing/2014/main" id="{E586B623-214B-400D-B3A7-038E0256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Define</a:t>
            </a:r>
          </a:p>
        </p:txBody>
      </p:sp>
      <p:sp>
        <p:nvSpPr>
          <p:cNvPr id="11" name="text-68-350">
            <a:extLst xmlns:a="http://schemas.openxmlformats.org/drawingml/2006/main">
              <a:ext uri="{FF2B5EF4-FFF2-40B4-BE49-F238E27FC236}">
                <a16:creationId xmlns:a16="http://schemas.microsoft.com/office/drawing/2014/main" id="{7CCDC801-6277-4C81-BE1E-1F3EF9E7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581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Model, asset, profile, rule, and repair pins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1E5DF-38C5-4EA7-9B04-02D2700B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47900"/>
            <a:ext cx="1885950" cy="19240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7C1DF-6961-42BC-813A-249D80FE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479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302-260">
            <a:extLst xmlns:a="http://schemas.openxmlformats.org/drawingml/2006/main">
              <a:ext uri="{FF2B5EF4-FFF2-40B4-BE49-F238E27FC236}">
                <a16:creationId xmlns:a16="http://schemas.microsoft.com/office/drawing/2014/main" id="{BE57A5D8-7C66-461E-BF00-6A52EDDA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C84A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5" name="text-302-298">
            <a:extLst xmlns:a="http://schemas.openxmlformats.org/drawingml/2006/main">
              <a:ext uri="{FF2B5EF4-FFF2-40B4-BE49-F238E27FC236}">
                <a16:creationId xmlns:a16="http://schemas.microsoft.com/office/drawing/2014/main" id="{4EDC6DDA-5A98-4BDA-A48E-FBF10886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38450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Compile</a:t>
            </a:r>
          </a:p>
        </p:txBody>
      </p:sp>
      <p:sp>
        <p:nvSpPr>
          <p:cNvPr id="16" name="text-302-350">
            <a:extLst xmlns:a="http://schemas.openxmlformats.org/drawingml/2006/main">
              <a:ext uri="{FF2B5EF4-FFF2-40B4-BE49-F238E27FC236}">
                <a16:creationId xmlns:a16="http://schemas.microsoft.com/office/drawing/2014/main" id="{36BF1616-5821-473E-8CD7-5695DF46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33750"/>
            <a:ext cx="1581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Separate Preview and Production execution graphs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E56B3-F71F-45BD-8850-EAAD308D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885950" cy="19240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4252D-1C6C-4701-B98A-8A1671E9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536-260">
            <a:extLst xmlns:a="http://schemas.openxmlformats.org/drawingml/2006/main">
              <a:ext uri="{FF2B5EF4-FFF2-40B4-BE49-F238E27FC236}">
                <a16:creationId xmlns:a16="http://schemas.microsoft.com/office/drawing/2014/main" id="{98488599-1409-43FC-8668-C7491978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765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B5A5A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0" name="text-536-298">
            <a:extLst xmlns:a="http://schemas.openxmlformats.org/drawingml/2006/main">
              <a:ext uri="{FF2B5EF4-FFF2-40B4-BE49-F238E27FC236}">
                <a16:creationId xmlns:a16="http://schemas.microsoft.com/office/drawing/2014/main" id="{20F6BEFD-7666-4247-87BA-08A0B4B9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38450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Generate</a:t>
            </a:r>
          </a:p>
        </p:txBody>
      </p:sp>
      <p:sp>
        <p:nvSpPr>
          <p:cNvPr id="21" name="text-536-350">
            <a:extLst xmlns:a="http://schemas.openxmlformats.org/drawingml/2006/main">
              <a:ext uri="{FF2B5EF4-FFF2-40B4-BE49-F238E27FC236}">
                <a16:creationId xmlns:a16="http://schemas.microsoft.com/office/drawing/2014/main" id="{70AD9299-3CB9-4C84-B03B-1A8ED17C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581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SDXL + IP-Adapter + Canny ControlNet on ROCm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57C91-70EE-49EE-B1D1-054330E6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47900"/>
            <a:ext cx="1885950" cy="19240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B48ABA-6453-40E0-B07D-423BBBEB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479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770-260">
            <a:extLst xmlns:a="http://schemas.openxmlformats.org/drawingml/2006/main">
              <a:ext uri="{FF2B5EF4-FFF2-40B4-BE49-F238E27FC236}">
                <a16:creationId xmlns:a16="http://schemas.microsoft.com/office/drawing/2014/main" id="{14C877D9-251B-48A0-99D3-F644FC40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5" name="text-770-298">
            <a:extLst xmlns:a="http://schemas.openxmlformats.org/drawingml/2006/main">
              <a:ext uri="{FF2B5EF4-FFF2-40B4-BE49-F238E27FC236}">
                <a16:creationId xmlns:a16="http://schemas.microsoft.com/office/drawing/2014/main" id="{7187F774-9AED-4FA9-AA91-976340F5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38450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Verify + repair</a:t>
            </a:r>
          </a:p>
        </p:txBody>
      </p:sp>
      <p:sp>
        <p:nvSpPr>
          <p:cNvPr id="26" name="text-770-350">
            <a:extLst xmlns:a="http://schemas.openxmlformats.org/drawingml/2006/main">
              <a:ext uri="{FF2B5EF4-FFF2-40B4-BE49-F238E27FC236}">
                <a16:creationId xmlns:a16="http://schemas.microsoft.com/office/drawing/2014/main" id="{791DEC48-AD60-435D-ACF8-3E64BB10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1581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Measure rules, apply bounded actions, re-verify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071932-9190-41AA-A780-217429AE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47900"/>
            <a:ext cx="1885950" cy="19240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92E513-0027-4C1F-9327-E64B688F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479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1004-260">
            <a:extLst xmlns:a="http://schemas.openxmlformats.org/drawingml/2006/main">
              <a:ext uri="{FF2B5EF4-FFF2-40B4-BE49-F238E27FC236}">
                <a16:creationId xmlns:a16="http://schemas.microsoft.com/office/drawing/2014/main" id="{06150BCD-A9AA-4F8B-98CB-BEF6EEE2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765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B5A5A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30" name="text-1004-298">
            <a:extLst xmlns:a="http://schemas.openxmlformats.org/drawingml/2006/main">
              <a:ext uri="{FF2B5EF4-FFF2-40B4-BE49-F238E27FC236}">
                <a16:creationId xmlns:a16="http://schemas.microsoft.com/office/drawing/2014/main" id="{7DFE4127-C831-410A-ACF5-4FC71BAE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38450"/>
            <a:ext cx="158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2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Export + replay</a:t>
            </a:r>
          </a:p>
        </p:txBody>
      </p:sp>
      <p:sp>
        <p:nvSpPr>
          <p:cNvPr id="31" name="text-1004-350">
            <a:extLst xmlns:a="http://schemas.openxmlformats.org/drawingml/2006/main">
              <a:ext uri="{FF2B5EF4-FFF2-40B4-BE49-F238E27FC236}">
                <a16:creationId xmlns:a16="http://schemas.microsoft.com/office/drawing/2014/main" id="{322F8AE2-F75E-4D4E-AB6E-2A621852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33750"/>
            <a:ext cx="1581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Approved/rejected isolation, manifest, QA</a:t>
            </a:r>
          </a:p>
        </p:txBody>
      </p:sp>
      <p:sp>
        <p:nvSpPr>
          <p:cNvPr id="32" name="text-52-490">
            <a:extLst xmlns:a="http://schemas.openxmlformats.org/drawingml/2006/main">
              <a:ext uri="{FF2B5EF4-FFF2-40B4-BE49-F238E27FC236}">
                <a16:creationId xmlns:a16="http://schemas.microsoft.com/office/drawing/2014/main" id="{E1CEAE91-620B-45C5-A69B-95B0C046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B5A5A"/>
                </a:solidFill>
                <a:latin typeface="Helvetica Neue"/>
                <a:ea typeface="Helvetica Neue"/>
                <a:cs typeface="Helvetica Neue"/>
              </a:defRPr>
            </a:pPr>
            <a:r>
              <a:t>GENERATION CONTROLS</a:t>
            </a:r>
          </a:p>
        </p:txBody>
      </p:sp>
      <p:sp>
        <p:nvSpPr>
          <p:cNvPr id="33" name="text-52-528">
            <a:extLst xmlns:a="http://schemas.openxmlformats.org/drawingml/2006/main">
              <a:ext uri="{FF2B5EF4-FFF2-40B4-BE49-F238E27FC236}">
                <a16:creationId xmlns:a16="http://schemas.microsoft.com/office/drawing/2014/main" id="{3C5D74B8-8462-47CD-B460-1A942775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9200"/>
            <a:ext cx="2952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Change pixels; never declare acceptance.</a:t>
            </a:r>
          </a:p>
        </p:txBody>
      </p:sp>
      <p:sp>
        <p:nvSpPr>
          <p:cNvPr id="34" name="text-438-490">
            <a:extLst xmlns:a="http://schemas.openxmlformats.org/drawingml/2006/main">
              <a:ext uri="{FF2B5EF4-FFF2-40B4-BE49-F238E27FC236}">
                <a16:creationId xmlns:a16="http://schemas.microsoft.com/office/drawing/2014/main" id="{9E979093-96A6-4C81-9EB0-14025175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672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C84A"/>
                </a:solidFill>
                <a:latin typeface="Helvetica Neue"/>
                <a:ea typeface="Helvetica Neue"/>
                <a:cs typeface="Helvetica Neue"/>
              </a:defRPr>
            </a:pPr>
            <a:r>
              <a:t>VERIFICATION</a:t>
            </a:r>
          </a:p>
        </p:txBody>
      </p:sp>
      <p:sp>
        <p:nvSpPr>
          <p:cNvPr id="35" name="text-438-528">
            <a:extLst xmlns:a="http://schemas.openxmlformats.org/drawingml/2006/main">
              <a:ext uri="{FF2B5EF4-FFF2-40B4-BE49-F238E27FC236}">
                <a16:creationId xmlns:a16="http://schemas.microsoft.com/office/drawing/2014/main" id="{6CDD6C36-CD8E-4926-9DD8-ED8C86FE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29200"/>
            <a:ext cx="2952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Measure rules; never mutate generation.</a:t>
            </a:r>
          </a:p>
        </p:txBody>
      </p:sp>
      <p:sp>
        <p:nvSpPr>
          <p:cNvPr id="36" name="text-824-490">
            <a:extLst xmlns:a="http://schemas.openxmlformats.org/drawingml/2006/main">
              <a:ext uri="{FF2B5EF4-FFF2-40B4-BE49-F238E27FC236}">
                <a16:creationId xmlns:a16="http://schemas.microsoft.com/office/drawing/2014/main" id="{EF399587-699C-4818-9B6A-3C73580E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672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REPAIR POLICY</a:t>
            </a:r>
          </a:p>
        </p:txBody>
      </p:sp>
      <p:sp>
        <p:nvSpPr>
          <p:cNvPr id="37" name="text-824-528">
            <a:extLst xmlns:a="http://schemas.openxmlformats.org/drawingml/2006/main">
              <a:ext uri="{FF2B5EF4-FFF2-40B4-BE49-F238E27FC236}">
                <a16:creationId xmlns:a16="http://schemas.microsoft.com/office/drawing/2014/main" id="{411CDC67-0AAD-4A33-A0BF-0DFF9A85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29200"/>
            <a:ext cx="3524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Select bounded actions; re-verify affected rules.</a:t>
            </a:r>
          </a:p>
        </p:txBody>
      </p:sp>
    </p:spTree>
    <p:extLst>
      <p:ext uri="{BB962C8B-B14F-4D97-AF65-F5344CB8AC3E}">
        <p14:creationId xmlns:p14="http://schemas.microsoft.com/office/powerpoint/2010/main" val="8843410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52-28">
            <a:extLst xmlns:a="http://schemas.openxmlformats.org/drawingml/2006/main">
              <a:ext uri="{FF2B5EF4-FFF2-40B4-BE49-F238E27FC236}">
                <a16:creationId xmlns:a16="http://schemas.microsoft.com/office/drawing/2014/main" id="{6D4DCAB7-C971-468A-8709-07606609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AMD AI DEVMASTER</a:t>
            </a:r>
          </a:p>
        </p:txBody>
      </p:sp>
      <p:sp>
        <p:nvSpPr>
          <p:cNvPr id="2" name="text-52-62">
            <a:extLst xmlns:a="http://schemas.openxmlformats.org/drawingml/2006/main">
              <a:ext uri="{FF2B5EF4-FFF2-40B4-BE49-F238E27FC236}">
                <a16:creationId xmlns:a16="http://schemas.microsoft.com/office/drawing/2014/main" id="{6C2CFFA4-D96D-4F6D-8A0C-39B3B38C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The product UI executes the workflow, not a mock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4" name="text-52-684">
            <a:extLst xmlns:a="http://schemas.openxmlformats.org/drawingml/2006/main">
              <a:ext uri="{FF2B5EF4-FFF2-40B4-BE49-F238E27FC236}">
                <a16:creationId xmlns:a16="http://schemas.microsoft.com/office/drawing/2014/main" id="{8FDA6B16-544B-4274-83E5-C8A34885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Track 1</a:t>
            </a:r>
          </a:p>
        </p:txBody>
      </p:sp>
      <p:sp>
        <p:nvSpPr>
          <p:cNvPr id="5" name="text-1178-684">
            <a:extLst xmlns:a="http://schemas.openxmlformats.org/drawingml/2006/main">
              <a:ext uri="{FF2B5EF4-FFF2-40B4-BE49-F238E27FC236}">
                <a16:creationId xmlns:a16="http://schemas.microsoft.com/office/drawing/2014/main" id="{205CDA87-71F6-4746-9B82-D6D71B9F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6" name="text-52-178">
            <a:extLst xmlns:a="http://schemas.openxmlformats.org/drawingml/2006/main">
              <a:ext uri="{FF2B5EF4-FFF2-40B4-BE49-F238E27FC236}">
                <a16:creationId xmlns:a16="http://schemas.microsoft.com/office/drawing/2014/main" id="{0C181E93-BCF1-479C-A783-46977C2A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ACTUAL AMD CAPTURE</a:t>
            </a:r>
          </a:p>
        </p:txBody>
      </p:sp>
      <p:sp>
        <p:nvSpPr>
          <p:cNvPr id="7" name="text-52-226">
            <a:extLst xmlns:a="http://schemas.openxmlformats.org/drawingml/2006/main">
              <a:ext uri="{FF2B5EF4-FFF2-40B4-BE49-F238E27FC236}">
                <a16:creationId xmlns:a16="http://schemas.microsoft.com/office/drawing/2014/main" id="{CFEDFD3F-303E-4CE4-9D73-0EBA9577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Browser-driven</a:t>
            </a:r>
          </a:p>
        </p:txBody>
      </p:sp>
      <p:sp>
        <p:nvSpPr>
          <p:cNvPr id="8" name="text-52-285">
            <a:extLst xmlns:a="http://schemas.openxmlformats.org/drawingml/2006/main">
              <a:ext uri="{FF2B5EF4-FFF2-40B4-BE49-F238E27FC236}">
                <a16:creationId xmlns:a16="http://schemas.microsoft.com/office/drawing/2014/main" id="{FA019A00-54B9-4373-A503-61773F37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14625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Input upload</a:t>
            </a:r>
          </a:p>
        </p:txBody>
      </p:sp>
      <p:sp>
        <p:nvSpPr>
          <p:cNvPr id="9" name="text-52-326">
            <a:extLst xmlns:a="http://schemas.openxmlformats.org/drawingml/2006/main">
              <a:ext uri="{FF2B5EF4-FFF2-40B4-BE49-F238E27FC236}">
                <a16:creationId xmlns:a16="http://schemas.microsoft.com/office/drawing/2014/main" id="{97274F49-F490-4975-BA26-2261AC23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Readiness gate</a:t>
            </a:r>
          </a:p>
        </p:txBody>
      </p:sp>
      <p:sp>
        <p:nvSpPr>
          <p:cNvPr id="10" name="text-52-367">
            <a:extLst xmlns:a="http://schemas.openxmlformats.org/drawingml/2006/main">
              <a:ext uri="{FF2B5EF4-FFF2-40B4-BE49-F238E27FC236}">
                <a16:creationId xmlns:a16="http://schemas.microsoft.com/office/drawing/2014/main" id="{57F6F847-2F0C-42D7-AC79-45068469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95675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Queued GPU run</a:t>
            </a:r>
          </a:p>
        </p:txBody>
      </p:sp>
      <p:sp>
        <p:nvSpPr>
          <p:cNvPr id="11" name="text-52-408">
            <a:extLst xmlns:a="http://schemas.openxmlformats.org/drawingml/2006/main">
              <a:ext uri="{FF2B5EF4-FFF2-40B4-BE49-F238E27FC236}">
                <a16:creationId xmlns:a16="http://schemas.microsoft.com/office/drawing/2014/main" id="{CDDCDD7B-4D3E-4B67-9DD7-3E9CE5D2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Four visible outputs</a:t>
            </a:r>
          </a:p>
        </p:txBody>
      </p:sp>
      <p:sp>
        <p:nvSpPr>
          <p:cNvPr id="12" name="text-52-449">
            <a:extLst xmlns:a="http://schemas.openxmlformats.org/drawingml/2006/main">
              <a:ext uri="{FF2B5EF4-FFF2-40B4-BE49-F238E27FC236}">
                <a16:creationId xmlns:a16="http://schemas.microsoft.com/office/drawing/2014/main" id="{33678817-83EF-4E6A-AD20-764336A5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76725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Seed/hash/fingerprint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DA820-EB05-4A6C-8522-B4755607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04950"/>
            <a:ext cx="8267700" cy="4552950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4" name="text-52-563">
            <a:extLst xmlns:a="http://schemas.openxmlformats.org/drawingml/2006/main">
              <a:ext uri="{FF2B5EF4-FFF2-40B4-BE49-F238E27FC236}">
                <a16:creationId xmlns:a16="http://schemas.microsoft.com/office/drawing/2014/main" id="{2A864DDF-D3DA-42CE-952B-90FDE7B1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62575"/>
            <a:ext cx="2762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candidate fd4e45b | Gradio 6.15.1 | HTTP 200 before and after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61c52832c4759"/>
          <a:stretch xmlns:a="http://schemas.openxmlformats.org/drawingml/2006/main"/>
        </p:blipFill>
        <p:spPr>
          <a:xfrm xmlns:a="http://schemas.openxmlformats.org/drawingml/2006/main">
            <a:off x="4103370" y="1619250"/>
            <a:ext cx="6918960" cy="4324350"/>
          </a:xfrm>
          <a:prstGeom xmlns:a="http://schemas.openxmlformats.org/drawingml/2006/main" prst="roundRect">
            <a:avLst>
              <a:gd name="adj" fmla="val 1322"/>
            </a:avLst>
          </a:prstGeom>
        </p:spPr>
      </p:pic>
    </p:spTree>
    <p:extLst>
      <p:ext uri="{BB962C8B-B14F-4D97-AF65-F5344CB8AC3E}">
        <p14:creationId xmlns:p14="http://schemas.microsoft.com/office/powerpoint/2010/main" val="1770844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-52-28">
            <a:extLst xmlns:a="http://schemas.openxmlformats.org/drawingml/2006/main">
              <a:ext uri="{FF2B5EF4-FFF2-40B4-BE49-F238E27FC236}">
                <a16:creationId xmlns:a16="http://schemas.microsoft.com/office/drawing/2014/main" id="{FB66D377-6741-44AD-AF67-5191CF3B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AMD AI DEVMASTER</a:t>
            </a:r>
          </a:p>
        </p:txBody>
      </p:sp>
      <p:sp>
        <p:nvSpPr>
          <p:cNvPr id="2" name="text-52-62">
            <a:extLst xmlns:a="http://schemas.openxmlformats.org/drawingml/2006/main">
              <a:ext uri="{FF2B5EF4-FFF2-40B4-BE49-F238E27FC236}">
                <a16:creationId xmlns:a16="http://schemas.microsoft.com/office/drawing/2014/main" id="{3D1B1755-74E4-446B-9537-3D64383E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Four deterministic attempts completed on Radeon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4" name="text-52-684">
            <a:extLst xmlns:a="http://schemas.openxmlformats.org/drawingml/2006/main">
              <a:ext uri="{FF2B5EF4-FFF2-40B4-BE49-F238E27FC236}">
                <a16:creationId xmlns:a16="http://schemas.microsoft.com/office/drawing/2014/main" id="{4EB6774F-14F7-4E9E-A7C9-AC89B358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Track 1</a:t>
            </a:r>
          </a:p>
        </p:txBody>
      </p:sp>
      <p:sp>
        <p:nvSpPr>
          <p:cNvPr id="5" name="text-1178-684">
            <a:extLst xmlns:a="http://schemas.openxmlformats.org/drawingml/2006/main">
              <a:ext uri="{FF2B5EF4-FFF2-40B4-BE49-F238E27FC236}">
                <a16:creationId xmlns:a16="http://schemas.microsoft.com/office/drawing/2014/main" id="{DBB6131B-967B-4F33-A292-7EAC2DE4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6" name="text-52-142">
            <a:extLst xmlns:a="http://schemas.openxmlformats.org/drawingml/2006/main">
              <a:ext uri="{FF2B5EF4-FFF2-40B4-BE49-F238E27FC236}">
                <a16:creationId xmlns:a16="http://schemas.microsoft.com/office/drawing/2014/main" id="{A337C53C-C361-4376-9194-46946124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7" name="text-106-149">
            <a:extLst xmlns:a="http://schemas.openxmlformats.org/drawingml/2006/main">
              <a:ext uri="{FF2B5EF4-FFF2-40B4-BE49-F238E27FC236}">
                <a16:creationId xmlns:a16="http://schemas.microsoft.com/office/drawing/2014/main" id="{8635C38C-2B63-4951-8E36-855C6E59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19225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requested</a:t>
            </a:r>
          </a:p>
        </p:txBody>
      </p:sp>
      <p:sp>
        <p:nvSpPr>
          <p:cNvPr id="8" name="text-346-142">
            <a:extLst xmlns:a="http://schemas.openxmlformats.org/drawingml/2006/main">
              <a:ext uri="{FF2B5EF4-FFF2-40B4-BE49-F238E27FC236}">
                <a16:creationId xmlns:a16="http://schemas.microsoft.com/office/drawing/2014/main" id="{93C1A61E-D560-4F68-B8D8-B2682466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525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9" name="text-400-149">
            <a:extLst xmlns:a="http://schemas.openxmlformats.org/drawingml/2006/main">
              <a:ext uri="{FF2B5EF4-FFF2-40B4-BE49-F238E27FC236}">
                <a16:creationId xmlns:a16="http://schemas.microsoft.com/office/drawing/2014/main" id="{7CDCD79C-93F6-4C7C-8479-06120E48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19225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</a:t>
            </a:r>
          </a:p>
        </p:txBody>
      </p:sp>
      <p:sp>
        <p:nvSpPr>
          <p:cNvPr id="10" name="text-640-142">
            <a:extLst xmlns:a="http://schemas.openxmlformats.org/drawingml/2006/main">
              <a:ext uri="{FF2B5EF4-FFF2-40B4-BE49-F238E27FC236}">
                <a16:creationId xmlns:a16="http://schemas.microsoft.com/office/drawing/2014/main" id="{94436F24-B1D0-4C5C-B344-24EB5E18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525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1" name="text-694-149">
            <a:extLst xmlns:a="http://schemas.openxmlformats.org/drawingml/2006/main">
              <a:ext uri="{FF2B5EF4-FFF2-40B4-BE49-F238E27FC236}">
                <a16:creationId xmlns:a16="http://schemas.microsoft.com/office/drawing/2014/main" id="{133202D5-C664-412B-9641-1876649E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19225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unique hashes</a:t>
            </a:r>
          </a:p>
        </p:txBody>
      </p:sp>
      <p:sp>
        <p:nvSpPr>
          <p:cNvPr id="12" name="text-934-142">
            <a:extLst xmlns:a="http://schemas.openxmlformats.org/drawingml/2006/main">
              <a:ext uri="{FF2B5EF4-FFF2-40B4-BE49-F238E27FC236}">
                <a16:creationId xmlns:a16="http://schemas.microsoft.com/office/drawing/2014/main" id="{8CB78AA6-A7B0-4745-9DED-B902D24D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3525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EB5A5A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3" name="text-988-149">
            <a:extLst xmlns:a="http://schemas.openxmlformats.org/drawingml/2006/main">
              <a:ext uri="{FF2B5EF4-FFF2-40B4-BE49-F238E27FC236}">
                <a16:creationId xmlns:a16="http://schemas.microsoft.com/office/drawing/2014/main" id="{3A7C95DA-1753-4605-9D06-66BAE2A5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19225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failed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DA795-630A-46AE-B95A-7FC122F8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text-52-504">
            <a:extLst xmlns:a="http://schemas.openxmlformats.org/drawingml/2006/main">
              <a:ext uri="{FF2B5EF4-FFF2-40B4-BE49-F238E27FC236}">
                <a16:creationId xmlns:a16="http://schemas.microsoft.com/office/drawing/2014/main" id="{E3E4AE65-D289-4C00-9275-D247E471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0060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variation 0</a:t>
            </a:r>
          </a:p>
        </p:txBody>
      </p:sp>
      <p:sp>
        <p:nvSpPr>
          <p:cNvPr id="16" name="text-52-538">
            <a:extLst xmlns:a="http://schemas.openxmlformats.org/drawingml/2006/main">
              <a:ext uri="{FF2B5EF4-FFF2-40B4-BE49-F238E27FC236}">
                <a16:creationId xmlns:a16="http://schemas.microsoft.com/office/drawing/2014/main" id="{CC45DB93-B6FF-4F5E-81D1-69676223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seed 8387657995075258963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02401-3F05-4158-86F7-8556662F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8" name="text-350-504">
            <a:extLst xmlns:a="http://schemas.openxmlformats.org/drawingml/2006/main">
              <a:ext uri="{FF2B5EF4-FFF2-40B4-BE49-F238E27FC236}">
                <a16:creationId xmlns:a16="http://schemas.microsoft.com/office/drawing/2014/main" id="{143BB173-30E0-4677-B06A-E05923D1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0060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variation 1</a:t>
            </a:r>
          </a:p>
        </p:txBody>
      </p:sp>
      <p:sp>
        <p:nvSpPr>
          <p:cNvPr id="19" name="text-350-538">
            <a:extLst xmlns:a="http://schemas.openxmlformats.org/drawingml/2006/main">
              <a:ext uri="{FF2B5EF4-FFF2-40B4-BE49-F238E27FC236}">
                <a16:creationId xmlns:a16="http://schemas.microsoft.com/office/drawing/2014/main" id="{D189B215-04A1-418F-8C76-5006AD23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244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seed 9099601000186757298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D7E74C-17E4-465C-9088-562CE07D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1" name="text-648-504">
            <a:extLst xmlns:a="http://schemas.openxmlformats.org/drawingml/2006/main">
              <a:ext uri="{FF2B5EF4-FFF2-40B4-BE49-F238E27FC236}">
                <a16:creationId xmlns:a16="http://schemas.microsoft.com/office/drawing/2014/main" id="{6D2BD94D-2652-4212-B3E9-0CD9F541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0060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variation 2</a:t>
            </a:r>
          </a:p>
        </p:txBody>
      </p:sp>
      <p:sp>
        <p:nvSpPr>
          <p:cNvPr id="22" name="text-648-538">
            <a:extLst xmlns:a="http://schemas.openxmlformats.org/drawingml/2006/main">
              <a:ext uri="{FF2B5EF4-FFF2-40B4-BE49-F238E27FC236}">
                <a16:creationId xmlns:a16="http://schemas.microsoft.com/office/drawing/2014/main" id="{29D09373-8804-425B-BCA7-5A0F43A9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244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seed 3199624802890984311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8643C6-2D6B-42C3-AF30-BABF415E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52625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4" name="text-946-504">
            <a:extLst xmlns:a="http://schemas.openxmlformats.org/drawingml/2006/main">
              <a:ext uri="{FF2B5EF4-FFF2-40B4-BE49-F238E27FC236}">
                <a16:creationId xmlns:a16="http://schemas.microsoft.com/office/drawing/2014/main" id="{681F53DF-8EEF-4178-9EEF-CCC8E938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0060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variation 3</a:t>
            </a:r>
          </a:p>
        </p:txBody>
      </p:sp>
      <p:sp>
        <p:nvSpPr>
          <p:cNvPr id="25" name="text-946-538">
            <a:extLst xmlns:a="http://schemas.openxmlformats.org/drawingml/2006/main">
              <a:ext uri="{FF2B5EF4-FFF2-40B4-BE49-F238E27FC236}">
                <a16:creationId xmlns:a16="http://schemas.microsoft.com/office/drawing/2014/main" id="{B00E7FFE-449B-491C-ABFE-A4A78B7B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244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seed 5529225881622334695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AD3D3-2B2E-4CFF-820C-DC733132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38800"/>
            <a:ext cx="11201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9525">
            <a:solidFill>
              <a:srgbClr val="15171A"/>
            </a:solidFill>
            <a:prstDash val="solid"/>
          </a:ln>
        </p:spPr>
      </p:sp>
      <p:sp>
        <p:nvSpPr>
          <p:cNvPr id="27" name="text-72-606">
            <a:extLst xmlns:a="http://schemas.openxmlformats.org/drawingml/2006/main">
              <a:ext uri="{FF2B5EF4-FFF2-40B4-BE49-F238E27FC236}">
                <a16:creationId xmlns:a16="http://schemas.microsoft.com/office/drawing/2014/main" id="{4C0D462D-F8B4-4A48-9817-15BBF502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952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B5A5A"/>
                </a:solidFill>
                <a:latin typeface="Helvetica Neue"/>
                <a:ea typeface="Helvetica Neue"/>
                <a:cs typeface="Helvetica Neue"/>
              </a:defRPr>
            </a:pPr>
            <a:r>
              <a:t>ENGINEERING_ONLY</a:t>
            </a:r>
          </a:p>
        </p:txBody>
      </p:sp>
      <p:sp>
        <p:nvSpPr>
          <p:cNvPr id="28" name="text-294-606">
            <a:extLst xmlns:a="http://schemas.openxmlformats.org/drawingml/2006/main">
              <a:ext uri="{FF2B5EF4-FFF2-40B4-BE49-F238E27FC236}">
                <a16:creationId xmlns:a16="http://schemas.microsoft.com/office/drawing/2014/main" id="{6D981E86-335C-4F68-B096-CDD57A69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772150"/>
            <a:ext cx="638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0E5"/>
                </a:solidFill>
                <a:latin typeface="Helvetica Neue"/>
                <a:ea typeface="Helvetica Neue"/>
                <a:cs typeface="Helvetica Neue"/>
              </a:defRPr>
            </a:pPr>
            <a:r>
              <a:t>quality NOT_EVALUATED | diversity NOT_EVALUATED</a:t>
            </a:r>
          </a:p>
        </p:txBody>
      </p:sp>
      <p:sp>
        <p:nvSpPr>
          <p:cNvPr id="29" name="text-1012-606">
            <a:extLst xmlns:a="http://schemas.openxmlformats.org/drawingml/2006/main">
              <a:ext uri="{FF2B5EF4-FFF2-40B4-BE49-F238E27FC236}">
                <a16:creationId xmlns:a16="http://schemas.microsoft.com/office/drawing/2014/main" id="{A4F3E3C1-48F6-4650-AF6A-C7DD1346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7721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DCE0E5"/>
                </a:solidFill>
                <a:latin typeface="Helvetica Neue"/>
                <a:ea typeface="Helvetica Neue"/>
                <a:cs typeface="Helvetica Neue"/>
              </a:defRPr>
            </a:pPr>
            <a:r>
              <a:t>wall 38.45 s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827c61c8548c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009775"/>
            <a:ext cx="2552700" cy="2552700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bc8af7b8140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2009775"/>
            <a:ext cx="2552700" cy="2552700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0ba78bb8a4e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2009775"/>
            <a:ext cx="2552700" cy="2552700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29acdc0184f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7800" y="2009775"/>
            <a:ext cx="2552700" cy="2552700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</p:spTree>
    <p:extLst>
      <p:ext uri="{BB962C8B-B14F-4D97-AF65-F5344CB8AC3E}">
        <p14:creationId xmlns:p14="http://schemas.microsoft.com/office/powerpoint/2010/main" val="1303635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52-28">
            <a:extLst xmlns:a="http://schemas.openxmlformats.org/drawingml/2006/main">
              <a:ext uri="{FF2B5EF4-FFF2-40B4-BE49-F238E27FC236}">
                <a16:creationId xmlns:a16="http://schemas.microsoft.com/office/drawing/2014/main" id="{D71A79C8-B8F9-4A6D-8887-2AEBA067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AMD AI DEVMASTER</a:t>
            </a:r>
          </a:p>
        </p:txBody>
      </p:sp>
      <p:sp>
        <p:nvSpPr>
          <p:cNvPr id="2" name="text-52-62">
            <a:extLst xmlns:a="http://schemas.openxmlformats.org/drawingml/2006/main">
              <a:ext uri="{FF2B5EF4-FFF2-40B4-BE49-F238E27FC236}">
                <a16:creationId xmlns:a16="http://schemas.microsoft.com/office/drawing/2014/main" id="{754BE666-A64D-4A56-B436-171C8682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193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The Radeon path is pinned, local-only, and fail-closed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4" name="text-52-684">
            <a:extLst xmlns:a="http://schemas.openxmlformats.org/drawingml/2006/main">
              <a:ext uri="{FF2B5EF4-FFF2-40B4-BE49-F238E27FC236}">
                <a16:creationId xmlns:a16="http://schemas.microsoft.com/office/drawing/2014/main" id="{C628D9B2-B4E2-4E27-87DD-DDF67FA3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Track 1</a:t>
            </a:r>
          </a:p>
        </p:txBody>
      </p:sp>
      <p:sp>
        <p:nvSpPr>
          <p:cNvPr id="5" name="text-1178-684">
            <a:extLst xmlns:a="http://schemas.openxmlformats.org/drawingml/2006/main">
              <a:ext uri="{FF2B5EF4-FFF2-40B4-BE49-F238E27FC236}">
                <a16:creationId xmlns:a16="http://schemas.microsoft.com/office/drawing/2014/main" id="{065C7FA2-C6A9-444F-8825-9A25E53F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6" name="text-52-198">
            <a:extLst xmlns:a="http://schemas.openxmlformats.org/drawingml/2006/main">
              <a:ext uri="{FF2B5EF4-FFF2-40B4-BE49-F238E27FC236}">
                <a16:creationId xmlns:a16="http://schemas.microsoft.com/office/drawing/2014/main" id="{064BD6C3-64FF-45C8-BE7B-6B28835E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ROCm 7.2.1</a:t>
            </a:r>
          </a:p>
        </p:txBody>
      </p:sp>
      <p:sp>
        <p:nvSpPr>
          <p:cNvPr id="7" name="text-52-260">
            <a:extLst xmlns:a="http://schemas.openxmlformats.org/drawingml/2006/main">
              <a:ext uri="{FF2B5EF4-FFF2-40B4-BE49-F238E27FC236}">
                <a16:creationId xmlns:a16="http://schemas.microsoft.com/office/drawing/2014/main" id="{090AB8AF-1C01-40DC-9958-E6E17385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AMD runtime</a:t>
            </a:r>
          </a:p>
        </p:txBody>
      </p:sp>
      <p:sp>
        <p:nvSpPr>
          <p:cNvPr id="8" name="text-464-198">
            <a:extLst xmlns:a="http://schemas.openxmlformats.org/drawingml/2006/main">
              <a:ext uri="{FF2B5EF4-FFF2-40B4-BE49-F238E27FC236}">
                <a16:creationId xmlns:a16="http://schemas.microsoft.com/office/drawing/2014/main" id="{1CE69AE6-F009-4FE9-B7A7-5913CE8B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859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1,009 + 1</a:t>
            </a:r>
          </a:p>
        </p:txBody>
      </p:sp>
      <p:sp>
        <p:nvSpPr>
          <p:cNvPr id="9" name="text-464-260">
            <a:extLst xmlns:a="http://schemas.openxmlformats.org/drawingml/2006/main">
              <a:ext uri="{FF2B5EF4-FFF2-40B4-BE49-F238E27FC236}">
                <a16:creationId xmlns:a16="http://schemas.microsoft.com/office/drawing/2014/main" id="{057210D9-D0DA-42F3-B480-C9D6A351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passed + capability skip</a:t>
            </a:r>
          </a:p>
        </p:txBody>
      </p:sp>
      <p:sp>
        <p:nvSpPr>
          <p:cNvPr id="10" name="text-876-198">
            <a:extLst xmlns:a="http://schemas.openxmlformats.org/drawingml/2006/main">
              <a:ext uri="{FF2B5EF4-FFF2-40B4-BE49-F238E27FC236}">
                <a16:creationId xmlns:a16="http://schemas.microsoft.com/office/drawing/2014/main" id="{FBD3386E-78EB-482B-A256-ACA08FF3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859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65.38 s</a:t>
            </a:r>
          </a:p>
        </p:txBody>
      </p:sp>
      <p:sp>
        <p:nvSpPr>
          <p:cNvPr id="11" name="text-876-260">
            <a:extLst xmlns:a="http://schemas.openxmlformats.org/drawingml/2006/main">
              <a:ext uri="{FF2B5EF4-FFF2-40B4-BE49-F238E27FC236}">
                <a16:creationId xmlns:a16="http://schemas.microsoft.com/office/drawing/2014/main" id="{1BFFC6DE-B7DC-4525-8FAF-45498FCE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browser end-to-end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7DA01-4172-4912-91A4-4E743117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B01E0-FFE7-4FF6-B002-72315364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43250"/>
            <a:ext cx="56388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B5921-7DD5-4ED0-B403-EE358C26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5143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1DE1D-B5F9-442B-8AF5-7D0A8C83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43250"/>
            <a:ext cx="5638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76-363">
            <a:extLst xmlns:a="http://schemas.openxmlformats.org/drawingml/2006/main">
              <a:ext uri="{FF2B5EF4-FFF2-40B4-BE49-F238E27FC236}">
                <a16:creationId xmlns:a16="http://schemas.microsoft.com/office/drawing/2014/main" id="{2081D8BA-74E6-43BC-9930-121029C5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447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Runtime stack</a:t>
            </a:r>
          </a:p>
        </p:txBody>
      </p:sp>
      <p:sp>
        <p:nvSpPr>
          <p:cNvPr id="17" name="text-76-427">
            <a:extLst xmlns:a="http://schemas.openxmlformats.org/drawingml/2006/main">
              <a:ext uri="{FF2B5EF4-FFF2-40B4-BE49-F238E27FC236}">
                <a16:creationId xmlns:a16="http://schemas.microsoft.com/office/drawing/2014/main" id="{19DAEA41-9395-45BB-9303-AFA815B0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PyTorch 2.9.1+gitff65f5b</a:t>
            </a:r>
          </a:p>
        </p:txBody>
      </p:sp>
      <p:sp>
        <p:nvSpPr>
          <p:cNvPr id="18" name="text-76-468">
            <a:extLst xmlns:a="http://schemas.openxmlformats.org/drawingml/2006/main">
              <a:ext uri="{FF2B5EF4-FFF2-40B4-BE49-F238E27FC236}">
                <a16:creationId xmlns:a16="http://schemas.microsoft.com/office/drawing/2014/main" id="{2C838C4E-6E2A-4F6B-AD81-0F391DD5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HIP 7.2.53211-e1a6bc5663</a:t>
            </a:r>
          </a:p>
        </p:txBody>
      </p:sp>
      <p:sp>
        <p:nvSpPr>
          <p:cNvPr id="19" name="text-76-509">
            <a:extLst xmlns:a="http://schemas.openxmlformats.org/drawingml/2006/main">
              <a:ext uri="{FF2B5EF4-FFF2-40B4-BE49-F238E27FC236}">
                <a16:creationId xmlns:a16="http://schemas.microsoft.com/office/drawing/2014/main" id="{11D40F9A-FEFB-474A-B120-A4E485A0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Diffusers 0.39.0 | Gradio 6.15.1</a:t>
            </a:r>
          </a:p>
        </p:txBody>
      </p:sp>
      <p:sp>
        <p:nvSpPr>
          <p:cNvPr id="20" name="text-660-363">
            <a:extLst xmlns:a="http://schemas.openxmlformats.org/drawingml/2006/main">
              <a:ext uri="{FF2B5EF4-FFF2-40B4-BE49-F238E27FC236}">
                <a16:creationId xmlns:a16="http://schemas.microsoft.com/office/drawing/2014/main" id="{AFED1A7B-99E3-41C4-8982-0EEF2E1A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57575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Supply integrity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5C458-F573-449E-A80B-55C5D6C7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682-422">
            <a:extLst xmlns:a="http://schemas.openxmlformats.org/drawingml/2006/main">
              <a:ext uri="{FF2B5EF4-FFF2-40B4-BE49-F238E27FC236}">
                <a16:creationId xmlns:a16="http://schemas.microsoft.com/office/drawing/2014/main" id="{8373FFEC-42A4-4610-9A38-36189C86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47434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Immutable model descriptors, revisions, manifests, and file hashes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198D03-BEDF-46F6-849B-B3A68875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8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682-473">
            <a:extLst xmlns:a="http://schemas.openxmlformats.org/drawingml/2006/main">
              <a:ext uri="{FF2B5EF4-FFF2-40B4-BE49-F238E27FC236}">
                <a16:creationId xmlns:a16="http://schemas.microsoft.com/office/drawing/2014/main" id="{B1B3E723-879B-4513-A132-38669D8D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05325"/>
            <a:ext cx="47434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Local-only loading with role, family, topology, scheduler, and dtype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4C1B43-0A85-421B-A5DD-83DDB8AA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682-524">
            <a:extLst xmlns:a="http://schemas.openxmlformats.org/drawingml/2006/main">
              <a:ext uri="{FF2B5EF4-FFF2-40B4-BE49-F238E27FC236}">
                <a16:creationId xmlns:a16="http://schemas.microsoft.com/office/drawing/2014/main" id="{0B18E4DB-F3FF-4790-AAAD-74ED9DC8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91100"/>
            <a:ext cx="474345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Guarded installer uses --no-deps and rejects generic Torch packages</a:t>
            </a:r>
          </a:p>
        </p:txBody>
      </p:sp>
      <p:sp>
        <p:nvSpPr>
          <p:cNvPr id="27" name="text-52-610">
            <a:extLst xmlns:a="http://schemas.openxmlformats.org/drawingml/2006/main">
              <a:ext uri="{FF2B5EF4-FFF2-40B4-BE49-F238E27FC236}">
                <a16:creationId xmlns:a16="http://schemas.microsoft.com/office/drawing/2014/main" id="{BA7BFD93-1BAB-4082-8098-760D21F6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120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Stable service 657ac0b remained HTTP 200 during candidate validation.</a:t>
            </a:r>
          </a:p>
        </p:txBody>
      </p:sp>
    </p:spTree>
    <p:extLst>
      <p:ext uri="{BB962C8B-B14F-4D97-AF65-F5344CB8AC3E}">
        <p14:creationId xmlns:p14="http://schemas.microsoft.com/office/powerpoint/2010/main" val="765112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-52-28">
            <a:extLst xmlns:a="http://schemas.openxmlformats.org/drawingml/2006/main">
              <a:ext uri="{FF2B5EF4-FFF2-40B4-BE49-F238E27FC236}">
                <a16:creationId xmlns:a16="http://schemas.microsoft.com/office/drawing/2014/main" id="{4640FCFD-0DC2-463C-B515-7444729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AMD AI DEVMASTER</a:t>
            </a:r>
          </a:p>
        </p:txBody>
      </p:sp>
      <p:sp>
        <p:nvSpPr>
          <p:cNvPr id="2" name="text-52-62">
            <a:extLst xmlns:a="http://schemas.openxmlformats.org/drawingml/2006/main">
              <a:ext uri="{FF2B5EF4-FFF2-40B4-BE49-F238E27FC236}">
                <a16:creationId xmlns:a16="http://schemas.microsoft.com/office/drawing/2014/main" id="{12DF3912-9AB2-47DD-A5BD-B7B7F02F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Repair is implemented as policy, not random retry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4" name="text-52-684">
            <a:extLst xmlns:a="http://schemas.openxmlformats.org/drawingml/2006/main">
              <a:ext uri="{FF2B5EF4-FFF2-40B4-BE49-F238E27FC236}">
                <a16:creationId xmlns:a16="http://schemas.microsoft.com/office/drawing/2014/main" id="{CA43DA01-127F-4B33-905F-A0761023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Track 1</a:t>
            </a:r>
          </a:p>
        </p:txBody>
      </p:sp>
      <p:sp>
        <p:nvSpPr>
          <p:cNvPr id="5" name="text-1178-684">
            <a:extLst xmlns:a="http://schemas.openxmlformats.org/drawingml/2006/main">
              <a:ext uri="{FF2B5EF4-FFF2-40B4-BE49-F238E27FC236}">
                <a16:creationId xmlns:a16="http://schemas.microsoft.com/office/drawing/2014/main" id="{CD16DD6B-B0B9-4D43-A79F-58B9546A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1047750" y="2752725"/>
            <a:ext cx="9620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1EBBC-0110-4635-897C-DDB069C4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20F08-6AFC-40DF-AF26-AD8B76CE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2667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70-252">
            <a:extLst xmlns:a="http://schemas.openxmlformats.org/drawingml/2006/main">
              <a:ext uri="{FF2B5EF4-FFF2-40B4-BE49-F238E27FC236}">
                <a16:creationId xmlns:a16="http://schemas.microsoft.com/office/drawing/2014/main" id="{AACDAB4F-F8D7-4F76-887A-4790B980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24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Rule failure</a:t>
            </a:r>
          </a:p>
        </p:txBody>
      </p:sp>
      <p:sp>
        <p:nvSpPr>
          <p:cNvPr id="10" name="text-70-304">
            <a:extLst xmlns:a="http://schemas.openxmlformats.org/drawingml/2006/main">
              <a:ext uri="{FF2B5EF4-FFF2-40B4-BE49-F238E27FC236}">
                <a16:creationId xmlns:a16="http://schemas.microsoft.com/office/drawing/2014/main" id="{59C3C65B-8749-4FBD-824F-69C6AACC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2324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Named rule_id and priority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485FA-4CF6-40EA-95BF-CB8ACC3D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47875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54426-D6B1-49CA-AB6C-0B0D415C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47875"/>
            <a:ext cx="2667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364-252">
            <a:extLst xmlns:a="http://schemas.openxmlformats.org/drawingml/2006/main">
              <a:ext uri="{FF2B5EF4-FFF2-40B4-BE49-F238E27FC236}">
                <a16:creationId xmlns:a16="http://schemas.microsoft.com/office/drawing/2014/main" id="{68F21178-D404-448E-B1CE-AD8AE76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00300"/>
            <a:ext cx="2324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Action</a:t>
            </a:r>
          </a:p>
        </p:txBody>
      </p:sp>
      <p:sp>
        <p:nvSpPr>
          <p:cNvPr id="14" name="text-364-304">
            <a:extLst xmlns:a="http://schemas.openxmlformats.org/drawingml/2006/main">
              <a:ext uri="{FF2B5EF4-FFF2-40B4-BE49-F238E27FC236}">
                <a16:creationId xmlns:a16="http://schemas.microsoft.com/office/drawing/2014/main" id="{AD27F96D-0353-4242-84C8-4219CA4B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95600"/>
            <a:ext cx="2324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Allow-listed parameter or post-process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09303-C3CE-4AFB-825B-5E7CE097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20861-7397-4EAE-94E7-2B46E0CA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2667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658-252">
            <a:extLst xmlns:a="http://schemas.openxmlformats.org/drawingml/2006/main">
              <a:ext uri="{FF2B5EF4-FFF2-40B4-BE49-F238E27FC236}">
                <a16:creationId xmlns:a16="http://schemas.microsoft.com/office/drawing/2014/main" id="{92CE5FFA-A30C-4AE6-8604-0B9CEBC2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2324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Guardrail</a:t>
            </a:r>
          </a:p>
        </p:txBody>
      </p:sp>
      <p:sp>
        <p:nvSpPr>
          <p:cNvPr id="18" name="text-658-304">
            <a:extLst xmlns:a="http://schemas.openxmlformats.org/drawingml/2006/main">
              <a:ext uri="{FF2B5EF4-FFF2-40B4-BE49-F238E27FC236}">
                <a16:creationId xmlns:a16="http://schemas.microsoft.com/office/drawing/2014/main" id="{C5F3C26C-64F6-4230-B4DB-E55FF1CC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95600"/>
            <a:ext cx="2324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Bounds, conflicts, protected 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8F723-8E71-4DED-A1B5-9E46E7B1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ED543-518D-4FD8-9995-B6D4916B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2667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952-252">
            <a:extLst xmlns:a="http://schemas.openxmlformats.org/drawingml/2006/main">
              <a:ext uri="{FF2B5EF4-FFF2-40B4-BE49-F238E27FC236}">
                <a16:creationId xmlns:a16="http://schemas.microsoft.com/office/drawing/2014/main" id="{ED28A62B-76A9-49A5-B131-C23D7B17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0300"/>
            <a:ext cx="2324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Re-verify</a:t>
            </a:r>
          </a:p>
        </p:txBody>
      </p:sp>
      <p:sp>
        <p:nvSpPr>
          <p:cNvPr id="22" name="text-952-304">
            <a:extLst xmlns:a="http://schemas.openxmlformats.org/drawingml/2006/main">
              <a:ext uri="{FF2B5EF4-FFF2-40B4-BE49-F238E27FC236}">
                <a16:creationId xmlns:a16="http://schemas.microsoft.com/office/drawing/2014/main" id="{1F88B100-2EC7-4CBF-8DBE-DEFAC2BA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2324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All affected rules run again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A606B3-1E5E-4EDA-87D4-6533364A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71925"/>
            <a:ext cx="53149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48DD24-0B26-4DF9-A271-B6B2AD8F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71925"/>
            <a:ext cx="5543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9525">
            <a:solidFill>
              <a:srgbClr val="15171A"/>
            </a:solidFill>
            <a:prstDash val="solid"/>
          </a:ln>
        </p:spPr>
      </p:sp>
      <p:sp>
        <p:nvSpPr>
          <p:cNvPr id="25" name="text-76-450">
            <a:extLst xmlns:a="http://schemas.openxmlformats.org/drawingml/2006/main">
              <a:ext uri="{FF2B5EF4-FFF2-40B4-BE49-F238E27FC236}">
                <a16:creationId xmlns:a16="http://schemas.microsoft.com/office/drawing/2014/main" id="{EE36D88F-F191-45B6-BC12-CE1D9DE8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Implemented and tested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10012B-F95D-478F-A8EB-501542E7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98-510">
            <a:extLst xmlns:a="http://schemas.openxmlformats.org/drawingml/2006/main">
              <a:ext uri="{FF2B5EF4-FFF2-40B4-BE49-F238E27FC236}">
                <a16:creationId xmlns:a16="http://schemas.microsoft.com/office/drawing/2014/main" id="{B477D36F-207A-488C-9A37-B533A2AF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552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Action whitelist and parameter bounds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0B2E15-088B-4D23-865E-363BDBC1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98-552">
            <a:extLst xmlns:a="http://schemas.openxmlformats.org/drawingml/2006/main">
              <a:ext uri="{FF2B5EF4-FFF2-40B4-BE49-F238E27FC236}">
                <a16:creationId xmlns:a16="http://schemas.microsoft.com/office/drawing/2014/main" id="{1BAA37A4-802E-4245-BD43-7063EB9A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4552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Conflict priority, retry limits, history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6C6CB9-B5C4-4A8F-8A68-8A4A6C75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98-594">
            <a:extLst xmlns:a="http://schemas.openxmlformats.org/drawingml/2006/main">
              <a:ext uri="{FF2B5EF4-FFF2-40B4-BE49-F238E27FC236}">
                <a16:creationId xmlns:a16="http://schemas.microsoft.com/office/drawing/2014/main" id="{7C92D9EC-C03E-46C1-804F-CF5C30FA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4552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Stop reasons and affected-rule re-verification</a:t>
            </a:r>
          </a:p>
        </p:txBody>
      </p:sp>
      <p:sp>
        <p:nvSpPr>
          <p:cNvPr id="32" name="text-670-450">
            <a:extLst xmlns:a="http://schemas.openxmlformats.org/drawingml/2006/main">
              <a:ext uri="{FF2B5EF4-FFF2-40B4-BE49-F238E27FC236}">
                <a16:creationId xmlns:a16="http://schemas.microsoft.com/office/drawing/2014/main" id="{778BBCFA-293C-42FE-9800-6B189927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Empirical claim remains blocked</a:t>
            </a:r>
          </a:p>
        </p:txBody>
      </p:sp>
      <p:sp>
        <p:nvSpPr>
          <p:cNvPr id="33" name="text-670-506">
            <a:extLst xmlns:a="http://schemas.openxmlformats.org/drawingml/2006/main">
              <a:ext uri="{FF2B5EF4-FFF2-40B4-BE49-F238E27FC236}">
                <a16:creationId xmlns:a16="http://schemas.microsoft.com/office/drawing/2014/main" id="{FE410EC0-2D96-4720-9671-28E04D7A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4953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CE0E5"/>
                </a:solidFill>
                <a:latin typeface="Helvetica Neue"/>
                <a:ea typeface="Helvetica Neue"/>
                <a:cs typeface="Helvetica Neue"/>
              </a:defRPr>
            </a:pPr>
            <a:r>
              <a:t>No Radeon repair uplift is claimed without approved held-out assets, a trusted Production threshold package, independent labels, and a frozen equal-budget study.</a:t>
            </a:r>
          </a:p>
        </p:txBody>
      </p:sp>
    </p:spTree>
    <p:extLst>
      <p:ext uri="{BB962C8B-B14F-4D97-AF65-F5344CB8AC3E}">
        <p14:creationId xmlns:p14="http://schemas.microsoft.com/office/powerpoint/2010/main" val="18796438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ext-52-28">
            <a:extLst xmlns:a="http://schemas.openxmlformats.org/drawingml/2006/main">
              <a:ext uri="{FF2B5EF4-FFF2-40B4-BE49-F238E27FC236}">
                <a16:creationId xmlns:a16="http://schemas.microsoft.com/office/drawing/2014/main" id="{8B491036-5B51-4553-8BA6-9EC6B04C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AMD AI DEVMASTER</a:t>
            </a:r>
          </a:p>
        </p:txBody>
      </p:sp>
      <p:sp>
        <p:nvSpPr>
          <p:cNvPr id="2" name="text-52-62">
            <a:extLst xmlns:a="http://schemas.openxmlformats.org/drawingml/2006/main">
              <a:ext uri="{FF2B5EF4-FFF2-40B4-BE49-F238E27FC236}">
                <a16:creationId xmlns:a16="http://schemas.microsoft.com/office/drawing/2014/main" id="{F06D033F-C45B-4797-8AB1-283564A9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001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The evidence package is auditable and deliberately limited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4" name="text-52-684">
            <a:extLst xmlns:a="http://schemas.openxmlformats.org/drawingml/2006/main">
              <a:ext uri="{FF2B5EF4-FFF2-40B4-BE49-F238E27FC236}">
                <a16:creationId xmlns:a16="http://schemas.microsoft.com/office/drawing/2014/main" id="{5C09BDB4-CDEB-4247-BE2A-3AC5ED35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Track 1</a:t>
            </a:r>
          </a:p>
        </p:txBody>
      </p:sp>
      <p:sp>
        <p:nvSpPr>
          <p:cNvPr id="5" name="text-1178-684">
            <a:extLst xmlns:a="http://schemas.openxmlformats.org/drawingml/2006/main">
              <a:ext uri="{FF2B5EF4-FFF2-40B4-BE49-F238E27FC236}">
                <a16:creationId xmlns:a16="http://schemas.microsoft.com/office/drawing/2014/main" id="{A0074687-C620-4D38-BF6C-D7CCB30D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6" name="text-52-170">
            <a:extLst xmlns:a="http://schemas.openxmlformats.org/drawingml/2006/main">
              <a:ext uri="{FF2B5EF4-FFF2-40B4-BE49-F238E27FC236}">
                <a16:creationId xmlns:a16="http://schemas.microsoft.com/office/drawing/2014/main" id="{6F61636C-61FB-45CE-9E15-A671C8F6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7" name="text-420-170">
            <a:extLst xmlns:a="http://schemas.openxmlformats.org/drawingml/2006/main">
              <a:ext uri="{FF2B5EF4-FFF2-40B4-BE49-F238E27FC236}">
                <a16:creationId xmlns:a16="http://schemas.microsoft.com/office/drawing/2014/main" id="{30CFA436-29BD-4425-A630-09854ED2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Status</a:t>
            </a:r>
          </a:p>
        </p:txBody>
      </p:sp>
      <p:sp>
        <p:nvSpPr>
          <p:cNvPr id="8" name="text-606-170">
            <a:extLst xmlns:a="http://schemas.openxmlformats.org/drawingml/2006/main">
              <a:ext uri="{FF2B5EF4-FFF2-40B4-BE49-F238E27FC236}">
                <a16:creationId xmlns:a16="http://schemas.microsoft.com/office/drawing/2014/main" id="{71409B60-2D8E-4662-805F-5DFFDBC2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19250"/>
            <a:ext cx="323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Artifact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4A02A-99A0-4F49-8B04-F81B93A4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851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52-224">
            <a:extLst xmlns:a="http://schemas.openxmlformats.org/drawingml/2006/main">
              <a:ext uri="{FF2B5EF4-FFF2-40B4-BE49-F238E27FC236}">
                <a16:creationId xmlns:a16="http://schemas.microsoft.com/office/drawing/2014/main" id="{92A20D74-569F-404E-8CB0-BA60F3EE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Actual Gradio Radeon run</a:t>
            </a:r>
          </a:p>
        </p:txBody>
      </p:sp>
      <p:sp>
        <p:nvSpPr>
          <p:cNvPr id="11" name="text-420-224">
            <a:extLst xmlns:a="http://schemas.openxmlformats.org/drawingml/2006/main">
              <a:ext uri="{FF2B5EF4-FFF2-40B4-BE49-F238E27FC236}">
                <a16:creationId xmlns:a16="http://schemas.microsoft.com/office/drawing/2014/main" id="{978D514F-9D5E-4668-B8FB-BCFC92CD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3360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PROVEN</a:t>
            </a:r>
          </a:p>
        </p:txBody>
      </p:sp>
      <p:sp>
        <p:nvSpPr>
          <p:cNvPr id="12" name="text-606-224">
            <a:extLst xmlns:a="http://schemas.openxmlformats.org/drawingml/2006/main">
              <a:ext uri="{FF2B5EF4-FFF2-40B4-BE49-F238E27FC236}">
                <a16:creationId xmlns:a16="http://schemas.microsoft.com/office/drawing/2014/main" id="{689B626F-F850-4EC2-8F74-E0B3EBBB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3360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radeon_ui_capture.json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FB3C2-BEA4-4083-90BD-B231F4A8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851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2-294">
            <a:extLst xmlns:a="http://schemas.openxmlformats.org/drawingml/2006/main">
              <a:ext uri="{FF2B5EF4-FFF2-40B4-BE49-F238E27FC236}">
                <a16:creationId xmlns:a16="http://schemas.microsoft.com/office/drawing/2014/main" id="{451B1F8B-9397-4809-9D8A-04E0266F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035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N=4 execution wall</a:t>
            </a:r>
          </a:p>
        </p:txBody>
      </p:sp>
      <p:sp>
        <p:nvSpPr>
          <p:cNvPr id="15" name="text-420-294">
            <a:extLst xmlns:a="http://schemas.openxmlformats.org/drawingml/2006/main">
              <a:ext uri="{FF2B5EF4-FFF2-40B4-BE49-F238E27FC236}">
                <a16:creationId xmlns:a16="http://schemas.microsoft.com/office/drawing/2014/main" id="{9FA0DA81-5B08-40FF-AAF6-C1134884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0035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PROVEN</a:t>
            </a:r>
          </a:p>
        </p:txBody>
      </p:sp>
      <p:sp>
        <p:nvSpPr>
          <p:cNvPr id="16" name="text-606-294">
            <a:extLst xmlns:a="http://schemas.openxmlformats.org/drawingml/2006/main">
              <a:ext uri="{FF2B5EF4-FFF2-40B4-BE49-F238E27FC236}">
                <a16:creationId xmlns:a16="http://schemas.microsoft.com/office/drawing/2014/main" id="{0CEAA9F1-8C9E-4FED-8418-A1693C37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003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radeon_preview_wall.json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84F9E-0D71-4F7E-ADEF-6CFE7166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851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52-364">
            <a:extLst xmlns:a="http://schemas.openxmlformats.org/drawingml/2006/main">
              <a:ext uri="{FF2B5EF4-FFF2-40B4-BE49-F238E27FC236}">
                <a16:creationId xmlns:a16="http://schemas.microsoft.com/office/drawing/2014/main" id="{FC16CC80-0FDB-4969-B54B-36E6933F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Pinned AMD environment</a:t>
            </a:r>
          </a:p>
        </p:txBody>
      </p:sp>
      <p:sp>
        <p:nvSpPr>
          <p:cNvPr id="19" name="text-420-364">
            <a:extLst xmlns:a="http://schemas.openxmlformats.org/drawingml/2006/main">
              <a:ext uri="{FF2B5EF4-FFF2-40B4-BE49-F238E27FC236}">
                <a16:creationId xmlns:a16="http://schemas.microsoft.com/office/drawing/2014/main" id="{A70D85E0-11FF-4038-BF28-659E4604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6710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t>PROVEN</a:t>
            </a:r>
          </a:p>
        </p:txBody>
      </p:sp>
      <p:sp>
        <p:nvSpPr>
          <p:cNvPr id="20" name="text-606-364">
            <a:extLst xmlns:a="http://schemas.openxmlformats.org/drawingml/2006/main">
              <a:ext uri="{FF2B5EF4-FFF2-40B4-BE49-F238E27FC236}">
                <a16:creationId xmlns:a16="http://schemas.microsoft.com/office/drawing/2014/main" id="{A57CB1F4-72C9-4541-A34F-296A9CA3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6710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amd_environment.json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DEDFB-ADD6-40EC-A53E-4E77587C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851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52-434">
            <a:extLst xmlns:a="http://schemas.openxmlformats.org/drawingml/2006/main">
              <a:ext uri="{FF2B5EF4-FFF2-40B4-BE49-F238E27FC236}">
                <a16:creationId xmlns:a16="http://schemas.microsoft.com/office/drawing/2014/main" id="{53C4B845-747A-4159-963D-8153C49A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3385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Perceptual quality/diversity</a:t>
            </a:r>
          </a:p>
        </p:txBody>
      </p:sp>
      <p:sp>
        <p:nvSpPr>
          <p:cNvPr id="23" name="text-420-434">
            <a:extLst xmlns:a="http://schemas.openxmlformats.org/drawingml/2006/main">
              <a:ext uri="{FF2B5EF4-FFF2-40B4-BE49-F238E27FC236}">
                <a16:creationId xmlns:a16="http://schemas.microsoft.com/office/drawing/2014/main" id="{8BD417D0-FE1B-45B2-82AD-5BDCF742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3385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B5A5A"/>
                </a:solidFill>
                <a:latin typeface="Helvetica Neue"/>
                <a:ea typeface="Helvetica Neue"/>
                <a:cs typeface="Helvetica Neue"/>
              </a:defRPr>
            </a:pPr>
            <a:r>
              <a:t>NOT_EVALUATED</a:t>
            </a:r>
          </a:p>
        </p:txBody>
      </p:sp>
      <p:sp>
        <p:nvSpPr>
          <p:cNvPr id="24" name="text-606-434">
            <a:extLst xmlns:a="http://schemas.openxmlformats.org/drawingml/2006/main">
              <a:ext uri="{FF2B5EF4-FFF2-40B4-BE49-F238E27FC236}">
                <a16:creationId xmlns:a16="http://schemas.microsoft.com/office/drawing/2014/main" id="{B7AD6670-2D65-460A-8D02-D4685A98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338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explicit manifest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B4D5A9-C8CE-43B5-95D6-03693CC9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48200"/>
            <a:ext cx="851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52-504">
            <a:extLst xmlns:a="http://schemas.openxmlformats.org/drawingml/2006/main">
              <a:ext uri="{FF2B5EF4-FFF2-40B4-BE49-F238E27FC236}">
                <a16:creationId xmlns:a16="http://schemas.microsoft.com/office/drawing/2014/main" id="{A9F19A29-E688-4191-AE27-8A435CAE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0060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Calibrated L2/L3 and repair uplift</a:t>
            </a:r>
          </a:p>
        </p:txBody>
      </p:sp>
      <p:sp>
        <p:nvSpPr>
          <p:cNvPr id="27" name="text-420-504">
            <a:extLst xmlns:a="http://schemas.openxmlformats.org/drawingml/2006/main">
              <a:ext uri="{FF2B5EF4-FFF2-40B4-BE49-F238E27FC236}">
                <a16:creationId xmlns:a16="http://schemas.microsoft.com/office/drawing/2014/main" id="{FC4F0B78-804E-4118-B098-BB279A78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0060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B5A5A"/>
                </a:solidFill>
                <a:latin typeface="Helvetica Neue"/>
                <a:ea typeface="Helvetica Neue"/>
                <a:cs typeface="Helvetica Neue"/>
              </a:defRPr>
            </a:pPr>
            <a:r>
              <a:t>NOT CLAIMED</a:t>
            </a:r>
          </a:p>
        </p:txBody>
      </p:sp>
      <p:sp>
        <p:nvSpPr>
          <p:cNvPr id="28" name="text-606-504">
            <a:extLst xmlns:a="http://schemas.openxmlformats.org/drawingml/2006/main">
              <a:ext uri="{FF2B5EF4-FFF2-40B4-BE49-F238E27FC236}">
                <a16:creationId xmlns:a16="http://schemas.microsoft.com/office/drawing/2014/main" id="{05D2C871-0597-4B0E-965B-B6A3E716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0060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external approved evidence required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7861FD-4F36-412C-ABA6-BBCFD725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19250"/>
            <a:ext cx="2343150" cy="37338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3C34FB-BFE1-4F17-89D5-C22ED8A1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1925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1002-202">
            <a:extLst xmlns:a="http://schemas.openxmlformats.org/drawingml/2006/main">
              <a:ext uri="{FF2B5EF4-FFF2-40B4-BE49-F238E27FC236}">
                <a16:creationId xmlns:a16="http://schemas.microsoft.com/office/drawing/2014/main" id="{1CB22784-AF7B-4116-85A1-447381CF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24050"/>
            <a:ext cx="1962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External inputs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961CA8-768E-4BBB-A0CD-8A2A8186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1024-272">
            <a:extLst xmlns:a="http://schemas.openxmlformats.org/drawingml/2006/main">
              <a:ext uri="{FF2B5EF4-FFF2-40B4-BE49-F238E27FC236}">
                <a16:creationId xmlns:a16="http://schemas.microsoft.com/office/drawing/2014/main" id="{BB1CCCAD-CCEB-4AB5-818B-116C8E0D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90800"/>
            <a:ext cx="1752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Approved held-out assets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682ABD-B1B0-46DA-B878-7CBAC707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1024-324">
            <a:extLst xmlns:a="http://schemas.openxmlformats.org/drawingml/2006/main">
              <a:ext uri="{FF2B5EF4-FFF2-40B4-BE49-F238E27FC236}">
                <a16:creationId xmlns:a16="http://schemas.microsoft.com/office/drawing/2014/main" id="{6C2F9D78-AA23-4FF8-B4D2-6C3E80CA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86100"/>
            <a:ext cx="1752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Independent human labels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64A412-36E5-4E53-ABC9-DE28C567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1024-376">
            <a:extLst xmlns:a="http://schemas.openxmlformats.org/drawingml/2006/main">
              <a:ext uri="{FF2B5EF4-FFF2-40B4-BE49-F238E27FC236}">
                <a16:creationId xmlns:a16="http://schemas.microsoft.com/office/drawing/2014/main" id="{ECC4DF16-F210-40C5-8EBE-783402D5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81400"/>
            <a:ext cx="1752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Reveal and approval receipts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E033F7-4120-4A50-922B-41F4B6A8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-1024-428">
            <a:extLst xmlns:a="http://schemas.openxmlformats.org/drawingml/2006/main">
              <a:ext uri="{FF2B5EF4-FFF2-40B4-BE49-F238E27FC236}">
                <a16:creationId xmlns:a16="http://schemas.microsoft.com/office/drawing/2014/main" id="{8A8EB963-D603-4387-B2D4-395794F6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76700"/>
            <a:ext cx="1752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Trusted Production threshold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543845-0211-46FB-AD05-B93845C0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48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-1024-480">
            <a:extLst xmlns:a="http://schemas.openxmlformats.org/drawingml/2006/main">
              <a:ext uri="{FF2B5EF4-FFF2-40B4-BE49-F238E27FC236}">
                <a16:creationId xmlns:a16="http://schemas.microsoft.com/office/drawing/2014/main" id="{55837832-EA13-464D-A494-1A6C9B6E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0"/>
            <a:ext cx="1752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Frozen blind evaluation</a:t>
            </a:r>
          </a:p>
        </p:txBody>
      </p:sp>
      <p:sp>
        <p:nvSpPr>
          <p:cNvPr id="42" name="text-982-590">
            <a:extLst xmlns:a="http://schemas.openxmlformats.org/drawingml/2006/main">
              <a:ext uri="{FF2B5EF4-FFF2-40B4-BE49-F238E27FC236}">
                <a16:creationId xmlns:a16="http://schemas.microsoft.com/office/drawing/2014/main" id="{5C2C8580-01A1-42DD-AC76-8211675B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619750"/>
            <a:ext cx="2343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The code fails closed when these are absent.</a:t>
            </a:r>
          </a:p>
        </p:txBody>
      </p:sp>
    </p:spTree>
    <p:extLst>
      <p:ext uri="{BB962C8B-B14F-4D97-AF65-F5344CB8AC3E}">
        <p14:creationId xmlns:p14="http://schemas.microsoft.com/office/powerpoint/2010/main" val="214936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739CF-2FFF-42D3-A122-3AC2D425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52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34B08-F501-471B-A54F-BC4A11A8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3E2D5-AF8B-43A2-BDB6-2754F863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"/>
            <a:ext cx="171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2-122">
            <a:extLst xmlns:a="http://schemas.openxmlformats.org/drawingml/2006/main">
              <a:ext uri="{FF2B5EF4-FFF2-40B4-BE49-F238E27FC236}">
                <a16:creationId xmlns:a16="http://schemas.microsoft.com/office/drawing/2014/main" id="{6EF0930F-8238-4D0F-867E-23449780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9906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5171A"/>
                </a:solidFill>
                <a:latin typeface="Helvetica Neue"/>
                <a:ea typeface="Helvetica Neue"/>
                <a:cs typeface="Helvetica Neue"/>
              </a:defRPr>
            </a:pPr>
            <a:r>
              <a:t>Inspect the evidence,
not a marketing claim</a:t>
            </a:r>
          </a:p>
        </p:txBody>
      </p:sp>
      <p:sp>
        <p:nvSpPr>
          <p:cNvPr id="5" name="text-52-350">
            <a:extLst xmlns:a="http://schemas.openxmlformats.org/drawingml/2006/main">
              <a:ext uri="{FF2B5EF4-FFF2-40B4-BE49-F238E27FC236}">
                <a16:creationId xmlns:a16="http://schemas.microsoft.com/office/drawing/2014/main" id="{628942EB-ADA0-4137-8BE1-F538A636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9144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Source, pinned setup, Project Profile, editable deck, raw Radeon capture, 3-5 minute demo, sanitized manifests, and media provenance are included.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93DBF-0B02-41C0-BC2C-5C5D6F31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11201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171A"/>
          </a:solidFill>
          <a:ln xmlns:a="http://schemas.openxmlformats.org/drawingml/2006/main" w="9525">
            <a:solidFill>
              <a:srgbClr val="15171A"/>
            </a:solidFill>
            <a:prstDash val="solid"/>
          </a:ln>
        </p:spPr>
      </p:sp>
      <p:sp>
        <p:nvSpPr>
          <p:cNvPr id="7" name="text-78-531">
            <a:extLst xmlns:a="http://schemas.openxmlformats.org/drawingml/2006/main">
              <a:ext uri="{FF2B5EF4-FFF2-40B4-BE49-F238E27FC236}">
                <a16:creationId xmlns:a16="http://schemas.microsoft.com/office/drawing/2014/main" id="{4F7A03C2-7CB2-4A36-944E-650F4FB7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57775"/>
            <a:ext cx="676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github.com/GuanJHCode/lookfile</a:t>
            </a:r>
          </a:p>
        </p:txBody>
      </p:sp>
      <p:sp>
        <p:nvSpPr>
          <p:cNvPr id="8" name="text-810-536">
            <a:extLst xmlns:a="http://schemas.openxmlformats.org/drawingml/2006/main">
              <a:ext uri="{FF2B5EF4-FFF2-40B4-BE49-F238E27FC236}">
                <a16:creationId xmlns:a16="http://schemas.microsoft.com/office/drawing/2014/main" id="{7CAB75BB-964B-4C2E-B477-2D4FCE31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05400"/>
            <a:ext cx="3695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DCE0E5"/>
                </a:solidFill>
                <a:latin typeface="Helvetica Neue"/>
                <a:ea typeface="Helvetica Neue"/>
                <a:cs typeface="Helvetica Neue"/>
              </a:defRPr>
            </a:pPr>
            <a:r>
              <a:t>submission/track1-specstyle/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95300" y="6191250"/>
            <a:ext cx="11201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8DE"/>
            </a:solidFill>
            <a:prstDash val="solid"/>
          </a:ln>
        </p:spPr>
      </p:cxnSp>
      <p:sp>
        <p:nvSpPr>
          <p:cNvPr id="10" name="text-52-662">
            <a:extLst xmlns:a="http://schemas.openxmlformats.org/drawingml/2006/main">
              <a:ext uri="{FF2B5EF4-FFF2-40B4-BE49-F238E27FC236}">
                <a16:creationId xmlns:a16="http://schemas.microsoft.com/office/drawing/2014/main" id="{8E6E5F61-E590-47C1-8CFE-0EB6DCB1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05550"/>
            <a:ext cx="1120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6770"/>
                </a:solidFill>
                <a:latin typeface="Helvetica Neue"/>
                <a:ea typeface="Helvetica Neue"/>
                <a:cs typeface="Helvetica Neue"/>
              </a:defRPr>
            </a:pPr>
            <a:r>
              <a:t>SpecStyle | Submitted by guan | AMD AI DevMaster Track 1 | candidate fd4e45b</a:t>
            </a:r>
          </a:p>
        </p:txBody>
      </p:sp>
    </p:spTree>
    <p:extLst>
      <p:ext uri="{BB962C8B-B14F-4D97-AF65-F5344CB8AC3E}">
        <p14:creationId xmlns:p14="http://schemas.microsoft.com/office/powerpoint/2010/main" val="1716482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2026-08-04T04:48:00.2640000Z</dcterms:created>
  <dcterms:modified xsi:type="dcterms:W3CDTF">2026-08-04T04:48:00.2640000Z</dcterms:modified>
</coreProperties>
</file>