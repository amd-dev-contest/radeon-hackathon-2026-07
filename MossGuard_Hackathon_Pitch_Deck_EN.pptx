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MossGuard is the intent safety layer for on-chain AI agents. It is not a wallet and not a new simulator. It lets the user confirm intent first, then lets the agent act, and finally makes a deterministic decision from real structured Moss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slide: On-chain agents turn natural-language goals into tool parameters and transactions. User authorization can drift along that path, while wallets usually only see the final transaction and cannot automatically reconstruct the user-approved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slide: MossGuard is the intent safety layer for on-chain AI agents. Its users include agent users, agent builders, and wallet teams. The value is pre-signing blocking, explainable diffs, and future integration as an SDK or Guard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slide: Emphasize two points. First, intent becomes the safety baseline only after user confirmation. Second, Agent Action is independently generated, not copied directly from Intent. MossGuard then compares Intent, Action, and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demo scenario: The user confirms 5 MON to Alice. Fault Injection deliberately changes the Agent Action to 50 MON to Bob. Moss faithfully builds and simulates the unsigned transaction, and MossGuard detects recipient and amount violations through a three-way diff before withholding the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demo: Show that MossGuard does not block everything. A safe Kuru swap receives VERIFIED, but if a seemingly normal approval changes a 10 USDC limit to MAX_UINT256, deterministic rules block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slide: The frontend handles interaction, while the TanStack Start server controls the full workflow. AI only proposes Intent and Action; the Moss Adapter is invoked by the server; the Verification Engine is deterministic TypeScript; only VERIFIED requests reach the Signer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slide: MossGuard’s innovation is not another simulator; it puts Confirmed Intent, Agent Action, and Moss Outcome into a deterministic rule engine. Distinguish VERIFIED, BLOCKED, and UNAVAILABLE. Zero warnings only means evidence is usable; it does not mean the action matches user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 slide: Real AI and real Moss show this is not a fake demo. Human-confirmed intent creates the authorization baseline. Deterministic rules prevent the model from self-certifying safety. Three-way diff and the signer gate make the result explainable and integrable.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and limits slide: Emphasize that the hackathon MVP scope is intentionally narrow. The adoption path starts with a Wallet Agent SDK and Guard API. Be explicit about limits: simulation is a snapshot, external dependencies exist, and Moss is still alpha.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Summarize in one line: Moss proves what will happen, and MossGuard judges whether it is allowed. We are not asking users to trust the agent; we let the system verify it before signing.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This does not need to be presented in a three-minute pitch. It is available if judges ask about technical sources or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OSSGUARD_MASTER">
    <p:bg>
      <p:bgPr>
        <a:solidFill>
          <a:srgbClr val="07071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7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11"/>
          </a:solidFill>
          <a:ln w="12700">
            <a:solidFill>
              <a:srgbClr val="070711"/>
            </a:solidFill>
            <a:prstDash val="solid"/>
          </a:ln>
        </p:spPr>
        <p:txBody>
          <a:bodyPr/>
          <a:p/>
        </p:txBody>
      </p:sp>
      <p:sp>
        <p:nvSpPr>
          <p:cNvPr id="3" name="Shape 1"/>
          <p:cNvSpPr/>
          <p:nvPr/>
        </p:nvSpPr>
        <p:spPr>
          <a:xfrm>
            <a:off x="10195560" y="18288"/>
            <a:ext cx="1874520" cy="1874520"/>
          </a:xfrm>
          <a:prstGeom prst="ellipse">
            <a:avLst/>
          </a:prstGeom>
          <a:solidFill>
            <a:srgbClr val="7C3AED">
              <a:alpha val="10000"/>
            </a:srgbClr>
          </a:solidFill>
          <a:ln w="12700">
            <a:solidFill>
              <a:srgbClr val="7C3AED">
                <a:alpha val="0"/>
              </a:srgbClr>
            </a:solidFill>
            <a:prstDash val="solid"/>
          </a:ln>
        </p:spPr>
        <p:txBody>
          <a:bodyPr/>
          <a:p/>
        </p:txBody>
      </p:sp>
      <p:sp>
        <p:nvSpPr>
          <p:cNvPr id="4" name="Shape 2"/>
          <p:cNvSpPr/>
          <p:nvPr/>
        </p:nvSpPr>
        <p:spPr>
          <a:xfrm>
            <a:off x="18288" y="5285232"/>
            <a:ext cx="1417320" cy="1417320"/>
          </a:xfrm>
          <a:prstGeom prst="ellipse">
            <a:avLst/>
          </a:prstGeom>
          <a:solidFill>
            <a:srgbClr val="22D3EE">
              <a:alpha val="5000"/>
            </a:srgbClr>
          </a:solidFill>
          <a:ln w="12700">
            <a:solidFill>
              <a:srgbClr val="22D3EE">
                <a:alpha val="0"/>
              </a:srgbClr>
            </a:solidFill>
            <a:prstDash val="solid"/>
          </a:ln>
        </p:spPr>
        <p:txBody>
          <a:bodyPr/>
          <a:p/>
        </p:txBody>
      </p:sp>
      <p:sp>
        <p:nvSpPr>
          <p:cNvPr id="5" name="Shape 3"/>
          <p:cNvSpPr/>
          <p:nvPr/>
        </p:nvSpPr>
        <p:spPr>
          <a:xfrm>
            <a:off x="621792" y="457200"/>
            <a:ext cx="1874520" cy="347472"/>
          </a:xfrm>
          <a:prstGeom prst="roundRect">
            <a:avLst/>
          </a:prstGeom>
          <a:solidFill>
            <a:srgbClr val="7C3AED">
              <a:alpha val="28000"/>
            </a:srgbClr>
          </a:solidFill>
          <a:ln w="12700">
            <a:solidFill>
              <a:srgbClr val="8B5CF6">
                <a:alpha val="65000"/>
              </a:srgbClr>
            </a:solidFill>
            <a:prstDash val="solid"/>
          </a:ln>
        </p:spPr>
        <p:txBody>
          <a:bodyPr/>
          <a:p/>
        </p:txBody>
      </p:sp>
      <p:sp>
        <p:nvSpPr>
          <p:cNvPr id="6" name="Text 4"/>
          <p:cNvSpPr/>
          <p:nvPr/>
        </p:nvSpPr>
        <p:spPr>
          <a:xfrm>
            <a:off x="621792" y="521208"/>
            <a:ext cx="1874520" cy="173736"/>
          </a:xfrm>
          <a:prstGeom prst="rect">
            <a:avLst/>
          </a:prstGeom>
          <a:noFill/>
          <a:ln/>
        </p:spPr>
        <p:txBody>
          <a:bodyPr wrap="square" lIns="0" tIns="0" rIns="0" bIns="0" rtlCol="0" anchor="t">
            <a:normAutofit/>
          </a:bodyPr>
          <a:lstStyle/>
          <a:p>
            <a:pPr algn="ctr" indent="0" marL="0">
              <a:buNone/>
            </a:pPr>
            <a:r>
              <a:rPr lang="en-US" sz="850" b="1" spc="80" kern="0" dirty="0">
                <a:solidFill>
                  <a:srgbClr val="A78BFA"/>
                </a:solidFill>
                <a:latin typeface="Noto Sans CJK SC" pitchFamily="34" charset="0"/>
                <a:ea typeface="Noto Sans CJK SC" pitchFamily="34" charset="-122"/>
                <a:cs typeface="Noto Sans CJK SC" pitchFamily="34" charset="-120"/>
              </a:rPr>
              <a:t>MONAD HACKATHON · PITCH DECK</a:t>
            </a:r>
            <a:endParaRPr lang="en-US" sz="850" dirty="0"/>
          </a:p>
        </p:txBody>
      </p:sp>
      <p:sp>
        <p:nvSpPr>
          <p:cNvPr id="7" name="Shape 5"/>
          <p:cNvSpPr/>
          <p:nvPr/>
        </p:nvSpPr>
        <p:spPr>
          <a:xfrm>
            <a:off x="685800" y="1225296"/>
            <a:ext cx="713232" cy="713232"/>
          </a:xfrm>
          <a:prstGeom prst="diamond">
            <a:avLst/>
          </a:prstGeom>
          <a:solidFill>
            <a:srgbClr val="8B5CF6"/>
          </a:solidFill>
          <a:ln w="12700">
            <a:solidFill>
              <a:srgbClr val="A78BFA">
                <a:alpha val="60000"/>
              </a:srgbClr>
            </a:solidFill>
            <a:prstDash val="solid"/>
          </a:ln>
        </p:spPr>
        <p:txBody>
          <a:bodyPr/>
          <a:p/>
        </p:txBody>
      </p:sp>
      <p:sp>
        <p:nvSpPr>
          <p:cNvPr id="8" name="Shape 6"/>
          <p:cNvSpPr/>
          <p:nvPr/>
        </p:nvSpPr>
        <p:spPr>
          <a:xfrm>
            <a:off x="842711" y="1382207"/>
            <a:ext cx="399410" cy="399410"/>
          </a:xfrm>
          <a:prstGeom prst="diamond">
            <a:avLst/>
          </a:prstGeom>
          <a:solidFill>
            <a:srgbClr val="070711"/>
          </a:solidFill>
          <a:ln w="12700">
            <a:solidFill>
              <a:srgbClr val="070711"/>
            </a:solidFill>
            <a:prstDash val="solid"/>
          </a:ln>
        </p:spPr>
        <p:txBody>
          <a:bodyPr/>
          <a:p/>
        </p:txBody>
      </p:sp>
      <p:sp>
        <p:nvSpPr>
          <p:cNvPr id="9" name="Text 7"/>
          <p:cNvSpPr/>
          <p:nvPr/>
        </p:nvSpPr>
        <p:spPr>
          <a:xfrm>
            <a:off x="1572768" y="1088136"/>
            <a:ext cx="5303520" cy="749808"/>
          </a:xfrm>
          <a:prstGeom prst="rect">
            <a:avLst/>
          </a:prstGeom>
          <a:noFill/>
          <a:ln/>
        </p:spPr>
        <p:txBody>
          <a:bodyPr wrap="square" lIns="0" tIns="0" rIns="0" bIns="0" rtlCol="0" anchor="t">
            <a:normAutofit/>
          </a:bodyPr>
          <a:lstStyle/>
          <a:p>
            <a:pPr algn="l" indent="0" marL="0">
              <a:buNone/>
            </a:pPr>
            <a:r>
              <a:rPr lang="en-US" sz="3600" b="1" dirty="0">
                <a:solidFill>
                  <a:srgbClr val="F8FAFC"/>
                </a:solidFill>
                <a:latin typeface="Noto Sans CJK SC" pitchFamily="34" charset="0"/>
                <a:ea typeface="Noto Sans CJK SC" pitchFamily="34" charset="-122"/>
                <a:cs typeface="Noto Sans CJK SC" pitchFamily="34" charset="-120"/>
              </a:rPr>
              <a:t>MossGuard</a:t>
            </a:r>
            <a:endParaRPr lang="en-US" sz="3600" dirty="0"/>
          </a:p>
        </p:txBody>
      </p:sp>
      <p:sp>
        <p:nvSpPr>
          <p:cNvPr id="10" name="Text 8"/>
          <p:cNvSpPr/>
          <p:nvPr/>
        </p:nvSpPr>
        <p:spPr>
          <a:xfrm>
            <a:off x="1609344" y="1819656"/>
            <a:ext cx="5120640" cy="347472"/>
          </a:xfrm>
          <a:prstGeom prst="rect">
            <a:avLst/>
          </a:prstGeom>
          <a:noFill/>
          <a:ln/>
        </p:spPr>
        <p:txBody>
          <a:bodyPr wrap="square" lIns="0" tIns="0" rIns="0" bIns="0" rtlCol="0" anchor="t">
            <a:normAutofit/>
          </a:bodyPr>
          <a:lstStyle/>
          <a:p>
            <a:pPr algn="l" indent="0" marL="0">
              <a:buNone/>
            </a:pPr>
            <a:r>
              <a:rPr lang="en-US" sz="1700" dirty="0">
                <a:solidFill>
                  <a:srgbClr val="A78BFA"/>
                </a:solidFill>
                <a:latin typeface="Noto Sans CJK SC" pitchFamily="34" charset="0"/>
                <a:ea typeface="Noto Sans CJK SC" pitchFamily="34" charset="-122"/>
                <a:cs typeface="Noto Sans CJK SC" pitchFamily="34" charset="-120"/>
              </a:rPr>
              <a:t>AI Agent Trust Layer for Monad</a:t>
            </a:r>
            <a:endParaRPr lang="en-US" sz="1700" dirty="0"/>
          </a:p>
        </p:txBody>
      </p:sp>
      <p:sp>
        <p:nvSpPr>
          <p:cNvPr id="11" name="Text 9"/>
          <p:cNvSpPr/>
          <p:nvPr/>
        </p:nvSpPr>
        <p:spPr>
          <a:xfrm>
            <a:off x="713232" y="2514600"/>
            <a:ext cx="5029200" cy="502920"/>
          </a:xfrm>
          <a:prstGeom prst="rect">
            <a:avLst/>
          </a:prstGeom>
          <a:noFill/>
          <a:ln/>
        </p:spPr>
        <p:txBody>
          <a:bodyPr wrap="square" lIns="0" tIns="0" rIns="0" bIns="0" rtlCol="0" anchor="t">
            <a:normAutofit/>
          </a:bodyPr>
          <a:lstStyle/>
          <a:p>
            <a:pPr algn="l" indent="0" marL="0">
              <a:buNone/>
            </a:pPr>
            <a:r>
              <a:rPr lang="en-US" sz="2700" b="1" dirty="0">
                <a:solidFill>
                  <a:srgbClr val="F8FAFC"/>
                </a:solidFill>
                <a:latin typeface="Noto Sans CJK SC" pitchFamily="34" charset="0"/>
                <a:ea typeface="Noto Sans CJK SC" pitchFamily="34" charset="-122"/>
                <a:cs typeface="Noto Sans CJK SC" pitchFamily="34" charset="-120"/>
              </a:rPr>
              <a:t>On-chain AI Agent Intent Safety Layer</a:t>
            </a:r>
            <a:endParaRPr lang="en-US" sz="2700" dirty="0"/>
          </a:p>
        </p:txBody>
      </p:sp>
      <p:sp>
        <p:nvSpPr>
          <p:cNvPr id="12" name="Text 10"/>
          <p:cNvSpPr/>
          <p:nvPr/>
        </p:nvSpPr>
        <p:spPr>
          <a:xfrm>
            <a:off x="731520" y="3127248"/>
            <a:ext cx="5212080" cy="530352"/>
          </a:xfrm>
          <a:prstGeom prst="rect">
            <a:avLst/>
          </a:prstGeom>
          <a:noFill/>
          <a:ln/>
        </p:spPr>
        <p:txBody>
          <a:bodyPr wrap="square" lIns="0" tIns="0" rIns="0" bIns="0" rtlCol="0" anchor="t">
            <a:normAutofit/>
          </a:bodyPr>
          <a:lstStyle/>
          <a:p>
            <a:pPr algn="l" indent="0" marL="0">
              <a:buNone/>
            </a:pPr>
            <a:r>
              <a:rPr lang="en-US" sz="1500" dirty="0">
                <a:solidFill>
                  <a:srgbClr val="9CA3AF"/>
                </a:solidFill>
                <a:latin typeface="Noto Sans CJK SC" pitchFamily="34" charset="0"/>
                <a:ea typeface="Noto Sans CJK SC" pitchFamily="34" charset="-122"/>
                <a:cs typeface="Noto Sans CJK SC" pitchFamily="34" charset="-120"/>
              </a:rPr>
              <a:t>Verify user intent, agent behavior, and real simulation outcomes before wallet signing.</a:t>
            </a:r>
            <a:endParaRPr lang="en-US" sz="1500" dirty="0"/>
          </a:p>
        </p:txBody>
      </p:sp>
      <p:sp>
        <p:nvSpPr>
          <p:cNvPr id="13" name="Shape 11"/>
          <p:cNvSpPr/>
          <p:nvPr/>
        </p:nvSpPr>
        <p:spPr>
          <a:xfrm>
            <a:off x="731520" y="4069080"/>
            <a:ext cx="4800600" cy="658368"/>
          </a:xfrm>
          <a:prstGeom prst="roundRect">
            <a:avLst/>
          </a:prstGeom>
          <a:solidFill>
            <a:srgbClr val="111126"/>
          </a:solidFill>
          <a:ln w="12700">
            <a:solidFill>
              <a:srgbClr val="7C3AED">
                <a:alpha val="50000"/>
              </a:srgbClr>
            </a:solidFill>
            <a:prstDash val="solid"/>
          </a:ln>
          <a:effectLst>
            <a:outerShdw sx="100000" sy="100000" kx="0" ky="0" algn="bl" rotWithShape="0" blurRad="25400" dist="15240" dir="2700000">
              <a:srgbClr val="000000">
                <a:alpha val="25000"/>
              </a:srgbClr>
            </a:outerShdw>
          </a:effectLst>
        </p:spPr>
        <p:txBody>
          <a:bodyPr/>
          <a:p/>
        </p:txBody>
      </p:sp>
      <p:sp>
        <p:nvSpPr>
          <p:cNvPr id="14" name="Text 12"/>
          <p:cNvSpPr/>
          <p:nvPr/>
        </p:nvSpPr>
        <p:spPr>
          <a:xfrm>
            <a:off x="941832" y="4261104"/>
            <a:ext cx="4389120" cy="256032"/>
          </a:xfrm>
          <a:prstGeom prst="rect">
            <a:avLst/>
          </a:prstGeom>
          <a:noFill/>
          <a:ln/>
        </p:spPr>
        <p:txBody>
          <a:bodyPr wrap="square" lIns="0" tIns="0" rIns="0" bIns="0" rtlCol="0" anchor="t">
            <a:normAutofit/>
          </a:bodyPr>
          <a:lstStyle/>
          <a:p>
            <a:pPr algn="ctr" indent="0" marL="0">
              <a:buNone/>
            </a:pPr>
            <a:r>
              <a:rPr lang="en-US" sz="1450" b="1" dirty="0">
                <a:solidFill>
                  <a:srgbClr val="F8FAFC"/>
                </a:solidFill>
                <a:latin typeface="Noto Sans CJK SC" pitchFamily="34" charset="0"/>
                <a:ea typeface="Noto Sans CJK SC" pitchFamily="34" charset="-122"/>
                <a:cs typeface="Noto Sans CJK SC" pitchFamily="34" charset="-120"/>
              </a:rPr>
              <a:t>Agent proposes.  Evidence decides.  Human signs.</a:t>
            </a:r>
            <a:endParaRPr lang="en-US" sz="1450" dirty="0"/>
          </a:p>
        </p:txBody>
      </p:sp>
      <p:sp>
        <p:nvSpPr>
          <p:cNvPr id="15" name="Shape 13"/>
          <p:cNvSpPr/>
          <p:nvPr/>
        </p:nvSpPr>
        <p:spPr>
          <a:xfrm>
            <a:off x="731520" y="5102352"/>
            <a:ext cx="1005840" cy="292608"/>
          </a:xfrm>
          <a:prstGeom prst="roundRect">
            <a:avLst>
              <a:gd name="adj" fmla="val 25000"/>
            </a:avLst>
          </a:prstGeom>
          <a:solidFill>
            <a:srgbClr val="22C55E">
              <a:alpha val="18000"/>
            </a:srgbClr>
          </a:solidFill>
          <a:ln w="8890">
            <a:solidFill>
              <a:srgbClr val="22C55E">
                <a:alpha val="55000"/>
              </a:srgbClr>
            </a:solidFill>
            <a:prstDash val="solid"/>
          </a:ln>
        </p:spPr>
        <p:txBody>
          <a:bodyPr/>
          <a:p/>
        </p:txBody>
      </p:sp>
      <p:sp>
        <p:nvSpPr>
          <p:cNvPr id="16" name="Text 14"/>
          <p:cNvSpPr/>
          <p:nvPr/>
        </p:nvSpPr>
        <p:spPr>
          <a:xfrm>
            <a:off x="731520" y="5106924"/>
            <a:ext cx="1005840" cy="256032"/>
          </a:xfrm>
          <a:prstGeom prst="rect">
            <a:avLst/>
          </a:prstGeom>
          <a:noFill/>
          <a:ln/>
        </p:spPr>
        <p:txBody>
          <a:bodyPr wrap="square" lIns="0" tIns="0" rIns="0" bIns="0" rtlCol="0" anchor="ctr"/>
          <a:lstStyle/>
          <a:p>
            <a:pPr algn="ctr" indent="0" marL="0">
              <a:buNone/>
            </a:pPr>
            <a:r>
              <a:rPr lang="en-US" sz="850" b="1" dirty="0">
                <a:solidFill>
                  <a:srgbClr val="22C55E"/>
                </a:solidFill>
                <a:latin typeface="Noto Sans CJK SC" pitchFamily="34" charset="0"/>
                <a:ea typeface="Noto Sans CJK SC" pitchFamily="34" charset="-122"/>
                <a:cs typeface="Noto Sans CJK SC" pitchFamily="34" charset="-120"/>
              </a:rPr>
              <a:t>REAL AI</a:t>
            </a:r>
            <a:endParaRPr lang="en-US" sz="850" dirty="0"/>
          </a:p>
        </p:txBody>
      </p:sp>
      <p:sp>
        <p:nvSpPr>
          <p:cNvPr id="17" name="Shape 15"/>
          <p:cNvSpPr/>
          <p:nvPr/>
        </p:nvSpPr>
        <p:spPr>
          <a:xfrm>
            <a:off x="1856232" y="5102352"/>
            <a:ext cx="1143000" cy="292608"/>
          </a:xfrm>
          <a:prstGeom prst="roundRect">
            <a:avLst>
              <a:gd name="adj" fmla="val 25000"/>
            </a:avLst>
          </a:prstGeom>
          <a:solidFill>
            <a:srgbClr val="22D3EE">
              <a:alpha val="18000"/>
            </a:srgbClr>
          </a:solidFill>
          <a:ln w="8890">
            <a:solidFill>
              <a:srgbClr val="22D3EE">
                <a:alpha val="55000"/>
              </a:srgbClr>
            </a:solidFill>
            <a:prstDash val="solid"/>
          </a:ln>
        </p:spPr>
        <p:txBody>
          <a:bodyPr/>
          <a:p/>
        </p:txBody>
      </p:sp>
      <p:sp>
        <p:nvSpPr>
          <p:cNvPr id="18" name="Text 16"/>
          <p:cNvSpPr/>
          <p:nvPr/>
        </p:nvSpPr>
        <p:spPr>
          <a:xfrm>
            <a:off x="1856232" y="5106924"/>
            <a:ext cx="1143000" cy="256032"/>
          </a:xfrm>
          <a:prstGeom prst="rect">
            <a:avLst/>
          </a:prstGeom>
          <a:noFill/>
          <a:ln/>
        </p:spPr>
        <p:txBody>
          <a:bodyPr wrap="square" lIns="0" tIns="0" rIns="0" bIns="0" rtlCol="0" anchor="ctr"/>
          <a:lstStyle/>
          <a:p>
            <a:pPr algn="ctr" indent="0" marL="0">
              <a:buNone/>
            </a:pPr>
            <a:r>
              <a:rPr lang="en-US" sz="850" b="1" dirty="0">
                <a:solidFill>
                  <a:srgbClr val="22D3EE"/>
                </a:solidFill>
                <a:latin typeface="Noto Sans CJK SC" pitchFamily="34" charset="0"/>
                <a:ea typeface="Noto Sans CJK SC" pitchFamily="34" charset="-122"/>
                <a:cs typeface="Noto Sans CJK SC" pitchFamily="34" charset="-120"/>
              </a:rPr>
              <a:t>REAL MOSS</a:t>
            </a:r>
            <a:endParaRPr lang="en-US" sz="850" dirty="0"/>
          </a:p>
        </p:txBody>
      </p:sp>
      <p:sp>
        <p:nvSpPr>
          <p:cNvPr id="19" name="Shape 17"/>
          <p:cNvSpPr/>
          <p:nvPr/>
        </p:nvSpPr>
        <p:spPr>
          <a:xfrm>
            <a:off x="3127248" y="5102352"/>
            <a:ext cx="1170432" cy="292608"/>
          </a:xfrm>
          <a:prstGeom prst="roundRect">
            <a:avLst>
              <a:gd name="adj" fmla="val 25000"/>
            </a:avLst>
          </a:prstGeom>
          <a:solidFill>
            <a:srgbClr val="8B5CF6">
              <a:alpha val="18000"/>
            </a:srgbClr>
          </a:solidFill>
          <a:ln w="8890">
            <a:solidFill>
              <a:srgbClr val="8B5CF6">
                <a:alpha val="55000"/>
              </a:srgbClr>
            </a:solidFill>
            <a:prstDash val="solid"/>
          </a:ln>
        </p:spPr>
        <p:txBody>
          <a:bodyPr/>
          <a:p/>
        </p:txBody>
      </p:sp>
      <p:sp>
        <p:nvSpPr>
          <p:cNvPr id="20" name="Text 18"/>
          <p:cNvSpPr/>
          <p:nvPr/>
        </p:nvSpPr>
        <p:spPr>
          <a:xfrm>
            <a:off x="3127248" y="5106924"/>
            <a:ext cx="1170432" cy="256032"/>
          </a:xfrm>
          <a:prstGeom prst="rect">
            <a:avLst/>
          </a:prstGeom>
          <a:noFill/>
          <a:ln/>
        </p:spPr>
        <p:txBody>
          <a:bodyPr wrap="square" lIns="0" tIns="0" rIns="0" bIns="0" rtlCol="0" anchor="ctr"/>
          <a:lstStyle/>
          <a:p>
            <a:pPr algn="ctr" indent="0" marL="0">
              <a:buNone/>
            </a:pPr>
            <a:r>
              <a:rPr lang="en-US" sz="850" b="1" dirty="0">
                <a:solidFill>
                  <a:srgbClr val="8B5CF6"/>
                </a:solidFill>
                <a:latin typeface="Noto Sans CJK SC" pitchFamily="34" charset="0"/>
                <a:ea typeface="Noto Sans CJK SC" pitchFamily="34" charset="-122"/>
                <a:cs typeface="Noto Sans CJK SC" pitchFamily="34" charset="-120"/>
              </a:rPr>
              <a:t>MONAD 143</a:t>
            </a:r>
            <a:endParaRPr lang="en-US" sz="850" dirty="0"/>
          </a:p>
        </p:txBody>
      </p:sp>
      <p:sp>
        <p:nvSpPr>
          <p:cNvPr id="21" name="Shape 19"/>
          <p:cNvSpPr/>
          <p:nvPr/>
        </p:nvSpPr>
        <p:spPr>
          <a:xfrm>
            <a:off x="4425696" y="5102352"/>
            <a:ext cx="1298448" cy="292608"/>
          </a:xfrm>
          <a:prstGeom prst="roundRect">
            <a:avLst>
              <a:gd name="adj" fmla="val 25000"/>
            </a:avLst>
          </a:prstGeom>
          <a:solidFill>
            <a:srgbClr val="F59E0B">
              <a:alpha val="16000"/>
            </a:srgbClr>
          </a:solidFill>
          <a:ln w="8890">
            <a:solidFill>
              <a:srgbClr val="F59E0B">
                <a:alpha val="55000"/>
              </a:srgbClr>
            </a:solidFill>
            <a:prstDash val="solid"/>
          </a:ln>
        </p:spPr>
        <p:txBody>
          <a:bodyPr/>
          <a:p/>
        </p:txBody>
      </p:sp>
      <p:sp>
        <p:nvSpPr>
          <p:cNvPr id="22" name="Text 20"/>
          <p:cNvSpPr/>
          <p:nvPr/>
        </p:nvSpPr>
        <p:spPr>
          <a:xfrm>
            <a:off x="4425696" y="5106924"/>
            <a:ext cx="1298448" cy="256032"/>
          </a:xfrm>
          <a:prstGeom prst="rect">
            <a:avLst/>
          </a:prstGeom>
          <a:noFill/>
          <a:ln/>
        </p:spPr>
        <p:txBody>
          <a:bodyPr wrap="square" lIns="0" tIns="0" rIns="0" bIns="0" rtlCol="0" anchor="ctr"/>
          <a:lstStyle/>
          <a:p>
            <a:pPr algn="ctr" indent="0" marL="0">
              <a:buNone/>
            </a:pPr>
            <a:r>
              <a:rPr lang="en-US" sz="850" b="1" dirty="0">
                <a:solidFill>
                  <a:srgbClr val="F59E0B"/>
                </a:solidFill>
                <a:latin typeface="Noto Sans CJK SC" pitchFamily="34" charset="0"/>
                <a:ea typeface="Noto Sans CJK SC" pitchFamily="34" charset="-122"/>
                <a:cs typeface="Noto Sans CJK SC" pitchFamily="34" charset="-120"/>
              </a:rPr>
              <a:t>HUMAN SIGN</a:t>
            </a:r>
            <a:endParaRPr lang="en-US" sz="850" dirty="0"/>
          </a:p>
        </p:txBody>
      </p:sp>
      <p:sp>
        <p:nvSpPr>
          <p:cNvPr id="23" name="Shape 21"/>
          <p:cNvSpPr/>
          <p:nvPr/>
        </p:nvSpPr>
        <p:spPr>
          <a:xfrm>
            <a:off x="6720840" y="749808"/>
            <a:ext cx="4800600" cy="5440680"/>
          </a:xfrm>
          <a:prstGeom prst="roundRect">
            <a:avLst>
              <a:gd name="adj" fmla="val 1714"/>
            </a:avLst>
          </a:prstGeom>
          <a:solidFill>
            <a:srgbClr val="0D0D1C"/>
          </a:solidFill>
          <a:ln w="10160">
            <a:solidFill>
              <a:srgbClr val="292747"/>
            </a:solidFill>
            <a:prstDash val="solid"/>
          </a:ln>
          <a:effectLst>
            <a:outerShdw sx="100000" sy="100000" kx="0" ky="0" algn="bl" rotWithShape="0" blurRad="322580000" dist="193548000" dir="162000000000">
              <a:srgbClr val="000000">
                <a:alpha val="2500000000"/>
              </a:srgbClr>
            </a:outerShdw>
          </a:effectLst>
        </p:spPr>
        <p:txBody>
          <a:bodyPr/>
          <a:p/>
        </p:txBody>
      </p:sp>
      <p:sp>
        <p:nvSpPr>
          <p:cNvPr id="24" name="Shape 22"/>
          <p:cNvSpPr/>
          <p:nvPr/>
        </p:nvSpPr>
        <p:spPr>
          <a:xfrm>
            <a:off x="7726680" y="1280160"/>
            <a:ext cx="2788920" cy="2788920"/>
          </a:xfrm>
          <a:prstGeom prst="ellipse">
            <a:avLst/>
          </a:prstGeom>
          <a:solidFill>
            <a:srgbClr val="7C3AED">
              <a:alpha val="12000"/>
            </a:srgbClr>
          </a:solidFill>
          <a:ln w="12700">
            <a:solidFill>
              <a:srgbClr val="7C3AED">
                <a:alpha val="0"/>
              </a:srgbClr>
            </a:solidFill>
            <a:prstDash val="solid"/>
          </a:ln>
        </p:spPr>
        <p:txBody>
          <a:bodyPr/>
          <a:p/>
        </p:txBody>
      </p:sp>
      <p:sp>
        <p:nvSpPr>
          <p:cNvPr id="25" name="Shape 23"/>
          <p:cNvSpPr/>
          <p:nvPr/>
        </p:nvSpPr>
        <p:spPr>
          <a:xfrm>
            <a:off x="8394192" y="1856232"/>
            <a:ext cx="1508760" cy="1508760"/>
          </a:xfrm>
          <a:prstGeom prst="diamond">
            <a:avLst/>
          </a:prstGeom>
          <a:solidFill>
            <a:srgbClr val="8B5CF6">
              <a:alpha val="95000"/>
            </a:srgbClr>
          </a:solidFill>
          <a:ln w="19050">
            <a:solidFill>
              <a:srgbClr val="A78BFA"/>
            </a:solidFill>
            <a:prstDash val="solid"/>
          </a:ln>
        </p:spPr>
        <p:txBody>
          <a:bodyPr/>
          <a:p/>
        </p:txBody>
      </p:sp>
      <p:sp>
        <p:nvSpPr>
          <p:cNvPr id="26" name="Shape 24"/>
          <p:cNvSpPr/>
          <p:nvPr/>
        </p:nvSpPr>
        <p:spPr>
          <a:xfrm>
            <a:off x="8750808" y="2212848"/>
            <a:ext cx="795528" cy="795528"/>
          </a:xfrm>
          <a:prstGeom prst="diamond">
            <a:avLst/>
          </a:prstGeom>
          <a:solidFill>
            <a:srgbClr val="070711"/>
          </a:solidFill>
          <a:ln w="12700">
            <a:solidFill>
              <a:srgbClr val="070711"/>
            </a:solidFill>
            <a:prstDash val="solid"/>
          </a:ln>
        </p:spPr>
        <p:txBody>
          <a:bodyPr/>
          <a:p/>
        </p:txBody>
      </p:sp>
      <p:sp>
        <p:nvSpPr>
          <p:cNvPr id="27" name="Text 25"/>
          <p:cNvSpPr/>
          <p:nvPr/>
        </p:nvSpPr>
        <p:spPr>
          <a:xfrm>
            <a:off x="7178040" y="4050792"/>
            <a:ext cx="1508760" cy="201168"/>
          </a:xfrm>
          <a:prstGeom prst="rect">
            <a:avLst/>
          </a:prstGeom>
          <a:noFill/>
          <a:ln/>
        </p:spPr>
        <p:txBody>
          <a:bodyPr wrap="square" lIns="0" tIns="0" rIns="0" bIns="0" rtlCol="0" anchor="t">
            <a:normAutofit/>
          </a:bodyPr>
          <a:lstStyle/>
          <a:p>
            <a:pPr algn="ctr" indent="0" marL="0">
              <a:buNone/>
            </a:pPr>
            <a:r>
              <a:rPr lang="en-US" sz="950" b="1" dirty="0">
                <a:solidFill>
                  <a:srgbClr val="22C55E"/>
                </a:solidFill>
                <a:latin typeface="Noto Sans CJK SC" pitchFamily="34" charset="0"/>
                <a:ea typeface="Noto Sans CJK SC" pitchFamily="34" charset="-122"/>
                <a:cs typeface="Noto Sans CJK SC" pitchFamily="34" charset="-120"/>
              </a:rPr>
              <a:t>CONFIRMED INTENT</a:t>
            </a:r>
            <a:endParaRPr lang="en-US" sz="950" dirty="0"/>
          </a:p>
        </p:txBody>
      </p:sp>
      <p:sp>
        <p:nvSpPr>
          <p:cNvPr id="28" name="Text 26"/>
          <p:cNvSpPr/>
          <p:nvPr/>
        </p:nvSpPr>
        <p:spPr>
          <a:xfrm>
            <a:off x="8549640" y="4050792"/>
            <a:ext cx="1234440" cy="201168"/>
          </a:xfrm>
          <a:prstGeom prst="rect">
            <a:avLst/>
          </a:prstGeom>
          <a:noFill/>
          <a:ln/>
        </p:spPr>
        <p:txBody>
          <a:bodyPr wrap="square" lIns="0" tIns="0" rIns="0" bIns="0" rtlCol="0" anchor="t">
            <a:normAutofit/>
          </a:bodyPr>
          <a:lstStyle/>
          <a:p>
            <a:pPr algn="ctr" indent="0" marL="0">
              <a:buNone/>
            </a:pPr>
            <a:r>
              <a:rPr lang="en-US" sz="950" b="1" dirty="0">
                <a:solidFill>
                  <a:srgbClr val="A78BFA"/>
                </a:solidFill>
                <a:latin typeface="Noto Sans CJK SC" pitchFamily="34" charset="0"/>
                <a:ea typeface="Noto Sans CJK SC" pitchFamily="34" charset="-122"/>
                <a:cs typeface="Noto Sans CJK SC" pitchFamily="34" charset="-120"/>
              </a:rPr>
              <a:t>AGENT ACTION</a:t>
            </a:r>
            <a:endParaRPr lang="en-US" sz="950" dirty="0"/>
          </a:p>
        </p:txBody>
      </p:sp>
      <p:sp>
        <p:nvSpPr>
          <p:cNvPr id="29" name="Text 27"/>
          <p:cNvSpPr/>
          <p:nvPr/>
        </p:nvSpPr>
        <p:spPr>
          <a:xfrm>
            <a:off x="9720072" y="4050792"/>
            <a:ext cx="1325880" cy="201168"/>
          </a:xfrm>
          <a:prstGeom prst="rect">
            <a:avLst/>
          </a:prstGeom>
          <a:noFill/>
          <a:ln/>
        </p:spPr>
        <p:txBody>
          <a:bodyPr wrap="square" lIns="0" tIns="0" rIns="0" bIns="0" rtlCol="0" anchor="t">
            <a:normAutofit/>
          </a:bodyPr>
          <a:lstStyle/>
          <a:p>
            <a:pPr algn="ctr" indent="0" marL="0">
              <a:buNone/>
            </a:pPr>
            <a:r>
              <a:rPr lang="en-US" sz="950" b="1" dirty="0">
                <a:solidFill>
                  <a:srgbClr val="22D3EE"/>
                </a:solidFill>
                <a:latin typeface="Noto Sans CJK SC" pitchFamily="34" charset="0"/>
                <a:ea typeface="Noto Sans CJK SC" pitchFamily="34" charset="-122"/>
                <a:cs typeface="Noto Sans CJK SC" pitchFamily="34" charset="-120"/>
              </a:rPr>
              <a:t>MOSS OUTCOME</a:t>
            </a:r>
            <a:endParaRPr lang="en-US" sz="950" dirty="0"/>
          </a:p>
        </p:txBody>
      </p:sp>
      <p:sp>
        <p:nvSpPr>
          <p:cNvPr id="30" name="Shape 28"/>
          <p:cNvSpPr/>
          <p:nvPr/>
        </p:nvSpPr>
        <p:spPr>
          <a:xfrm>
            <a:off x="7790688" y="4507992"/>
            <a:ext cx="2651760" cy="0"/>
          </a:xfrm>
          <a:prstGeom prst="line">
            <a:avLst/>
          </a:prstGeom>
          <a:noFill/>
          <a:ln w="25400">
            <a:solidFill>
              <a:srgbClr val="8B5CF6"/>
            </a:solidFill>
            <a:prstDash val="solid"/>
            <a:headEnd type="none"/>
            <a:tailEnd type="triangle"/>
          </a:ln>
        </p:spPr>
        <p:txBody>
          <a:bodyPr/>
          <a:p/>
        </p:txBody>
      </p:sp>
      <p:sp>
        <p:nvSpPr>
          <p:cNvPr id="31" name="Shape 29"/>
          <p:cNvSpPr/>
          <p:nvPr/>
        </p:nvSpPr>
        <p:spPr>
          <a:xfrm>
            <a:off x="7296912" y="4315968"/>
            <a:ext cx="384048" cy="384048"/>
          </a:xfrm>
          <a:prstGeom prst="ellipse">
            <a:avLst/>
          </a:prstGeom>
          <a:solidFill>
            <a:srgbClr val="22C55E"/>
          </a:solidFill>
          <a:ln w="12700">
            <a:solidFill>
              <a:srgbClr val="22C55E"/>
            </a:solidFill>
            <a:prstDash val="solid"/>
          </a:ln>
        </p:spPr>
        <p:txBody>
          <a:bodyPr/>
          <a:p/>
        </p:txBody>
      </p:sp>
      <p:sp>
        <p:nvSpPr>
          <p:cNvPr id="32" name="Shape 30"/>
          <p:cNvSpPr/>
          <p:nvPr/>
        </p:nvSpPr>
        <p:spPr>
          <a:xfrm>
            <a:off x="9034272" y="4315968"/>
            <a:ext cx="384048" cy="384048"/>
          </a:xfrm>
          <a:prstGeom prst="ellipse">
            <a:avLst/>
          </a:prstGeom>
          <a:solidFill>
            <a:srgbClr val="8B5CF6"/>
          </a:solidFill>
          <a:ln w="12700">
            <a:solidFill>
              <a:srgbClr val="8B5CF6"/>
            </a:solidFill>
            <a:prstDash val="solid"/>
          </a:ln>
        </p:spPr>
        <p:txBody>
          <a:bodyPr/>
          <a:p/>
        </p:txBody>
      </p:sp>
      <p:sp>
        <p:nvSpPr>
          <p:cNvPr id="33" name="Shape 31"/>
          <p:cNvSpPr/>
          <p:nvPr/>
        </p:nvSpPr>
        <p:spPr>
          <a:xfrm>
            <a:off x="10607040" y="4315968"/>
            <a:ext cx="384048" cy="384048"/>
          </a:xfrm>
          <a:prstGeom prst="ellipse">
            <a:avLst/>
          </a:prstGeom>
          <a:solidFill>
            <a:srgbClr val="22D3EE"/>
          </a:solidFill>
          <a:ln w="12700">
            <a:solidFill>
              <a:srgbClr val="22D3EE"/>
            </a:solidFill>
            <a:prstDash val="solid"/>
          </a:ln>
        </p:spPr>
        <p:txBody>
          <a:bodyPr/>
          <a:p/>
        </p:txBody>
      </p:sp>
      <p:sp>
        <p:nvSpPr>
          <p:cNvPr id="34" name="Text 32"/>
          <p:cNvSpPr/>
          <p:nvPr/>
        </p:nvSpPr>
        <p:spPr>
          <a:xfrm>
            <a:off x="7498080" y="4910328"/>
            <a:ext cx="3246120" cy="320040"/>
          </a:xfrm>
          <a:prstGeom prst="rect">
            <a:avLst/>
          </a:prstGeom>
          <a:noFill/>
          <a:ln/>
        </p:spPr>
        <p:txBody>
          <a:bodyPr wrap="square" lIns="0" tIns="0" rIns="0" bIns="0" rtlCol="0" anchor="t">
            <a:normAutofit/>
          </a:bodyPr>
          <a:lstStyle/>
          <a:p>
            <a:pPr algn="ctr" indent="0" marL="0">
              <a:buNone/>
            </a:pPr>
            <a:r>
              <a:rPr lang="en-US" sz="1600" b="1" dirty="0">
                <a:solidFill>
                  <a:srgbClr val="F8FAFC"/>
                </a:solidFill>
                <a:latin typeface="Noto Sans CJK SC" pitchFamily="34" charset="0"/>
                <a:ea typeface="Noto Sans CJK SC" pitchFamily="34" charset="-122"/>
                <a:cs typeface="Noto Sans CJK SC" pitchFamily="34" charset="-120"/>
              </a:rPr>
              <a:t>Intent alignment before signing</a:t>
            </a:r>
            <a:endParaRPr lang="en-US" sz="1600" dirty="0"/>
          </a:p>
        </p:txBody>
      </p:sp>
      <p:sp>
        <p:nvSpPr>
          <p:cNvPr id="35" name="Text 33"/>
          <p:cNvSpPr/>
          <p:nvPr/>
        </p:nvSpPr>
        <p:spPr>
          <a:xfrm>
            <a:off x="7818120" y="5404104"/>
            <a:ext cx="2651760" cy="228600"/>
          </a:xfrm>
          <a:prstGeom prst="rect">
            <a:avLst/>
          </a:prstGeom>
          <a:noFill/>
          <a:ln/>
        </p:spPr>
        <p:txBody>
          <a:bodyPr wrap="square" lIns="0" tIns="0" rIns="0" bIns="0" rtlCol="0" anchor="t">
            <a:normAutofit/>
          </a:bodyPr>
          <a:lstStyle/>
          <a:p>
            <a:pPr algn="ctr" indent="0" marL="0">
              <a:buNone/>
            </a:pPr>
            <a:r>
              <a:rPr lang="en-US" sz="1000" dirty="0">
                <a:solidFill>
                  <a:srgbClr val="9CA3AF"/>
                </a:solidFill>
                <a:latin typeface="Noto Sans CJK SC" pitchFamily="34" charset="0"/>
                <a:ea typeface="Noto Sans CJK SC" pitchFamily="34" charset="-122"/>
                <a:cs typeface="Noto Sans CJK SC" pitchFamily="34" charset="-120"/>
              </a:rPr>
              <a:t>Built on Moss · Monad Mainnet</a:t>
            </a:r>
            <a:endParaRPr lang="en-US" sz="1000" dirty="0"/>
          </a:p>
        </p:txBody>
      </p:sp>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7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11"/>
          </a:solidFill>
          <a:ln w="12700">
            <a:solidFill>
              <a:srgbClr val="070711"/>
            </a:solidFill>
            <a:prstDash val="solid"/>
          </a:ln>
        </p:spPr>
        <p:txBody>
          <a:bodyPr/>
          <a:p/>
        </p:txBody>
      </p:sp>
      <p:sp>
        <p:nvSpPr>
          <p:cNvPr id="3" name="Shape 1"/>
          <p:cNvSpPr/>
          <p:nvPr/>
        </p:nvSpPr>
        <p:spPr>
          <a:xfrm>
            <a:off x="10195560" y="18288"/>
            <a:ext cx="1874520" cy="1874520"/>
          </a:xfrm>
          <a:prstGeom prst="ellipse">
            <a:avLst/>
          </a:prstGeom>
          <a:solidFill>
            <a:srgbClr val="7C3AED">
              <a:alpha val="10000"/>
            </a:srgbClr>
          </a:solidFill>
          <a:ln w="12700">
            <a:solidFill>
              <a:srgbClr val="7C3AED">
                <a:alpha val="0"/>
              </a:srgbClr>
            </a:solidFill>
            <a:prstDash val="solid"/>
          </a:ln>
        </p:spPr>
        <p:txBody>
          <a:bodyPr/>
          <a:p/>
        </p:txBody>
      </p:sp>
      <p:sp>
        <p:nvSpPr>
          <p:cNvPr id="4" name="Shape 2"/>
          <p:cNvSpPr/>
          <p:nvPr/>
        </p:nvSpPr>
        <p:spPr>
          <a:xfrm>
            <a:off x="18288" y="5285232"/>
            <a:ext cx="1417320" cy="1417320"/>
          </a:xfrm>
          <a:prstGeom prst="ellipse">
            <a:avLst/>
          </a:prstGeom>
          <a:solidFill>
            <a:srgbClr val="22D3EE">
              <a:alpha val="5000"/>
            </a:srgbClr>
          </a:solidFill>
          <a:ln w="12700">
            <a:solidFill>
              <a:srgbClr val="22D3EE">
                <a:alpha val="0"/>
              </a:srgbClr>
            </a:solidFill>
            <a:prstDash val="solid"/>
          </a:ln>
        </p:spPr>
        <p:txBody>
          <a:bodyPr/>
          <a:p/>
        </p:txBody>
      </p:sp>
      <p:sp>
        <p:nvSpPr>
          <p:cNvPr id="5" name="Shape 3"/>
          <p:cNvSpPr/>
          <p:nvPr/>
        </p:nvSpPr>
        <p:spPr>
          <a:xfrm>
            <a:off x="512064" y="310896"/>
            <a:ext cx="310896" cy="310896"/>
          </a:xfrm>
          <a:prstGeom prst="diamond">
            <a:avLst/>
          </a:prstGeom>
          <a:solidFill>
            <a:srgbClr val="8B5CF6"/>
          </a:solidFill>
          <a:ln w="12700">
            <a:solidFill>
              <a:srgbClr val="A78BFA">
                <a:alpha val="60000"/>
              </a:srgbClr>
            </a:solidFill>
            <a:prstDash val="solid"/>
          </a:ln>
        </p:spPr>
        <p:txBody>
          <a:bodyPr/>
          <a:p/>
        </p:txBody>
      </p:sp>
      <p:sp>
        <p:nvSpPr>
          <p:cNvPr id="6" name="Shape 4"/>
          <p:cNvSpPr/>
          <p:nvPr/>
        </p:nvSpPr>
        <p:spPr>
          <a:xfrm>
            <a:off x="580461" y="379293"/>
            <a:ext cx="174102" cy="174102"/>
          </a:xfrm>
          <a:prstGeom prst="diamond">
            <a:avLst/>
          </a:prstGeom>
          <a:solidFill>
            <a:srgbClr val="070711"/>
          </a:solidFill>
          <a:ln w="12700">
            <a:solidFill>
              <a:srgbClr val="070711"/>
            </a:solidFill>
            <a:prstDash val="solid"/>
          </a:ln>
        </p:spPr>
        <p:txBody>
          <a:bodyPr/>
          <a:p/>
        </p:txBody>
      </p:sp>
      <p:sp>
        <p:nvSpPr>
          <p:cNvPr id="7" name="Text 5"/>
          <p:cNvSpPr/>
          <p:nvPr/>
        </p:nvSpPr>
        <p:spPr>
          <a:xfrm>
            <a:off x="914400" y="292608"/>
            <a:ext cx="1371600" cy="219456"/>
          </a:xfrm>
          <a:prstGeom prst="rect">
            <a:avLst/>
          </a:prstGeom>
          <a:noFill/>
          <a:ln/>
        </p:spPr>
        <p:txBody>
          <a:bodyPr wrap="square" lIns="0" tIns="0" rIns="0" bIns="0" rtlCol="0" anchor="ctr"/>
          <a:lstStyle/>
          <a:p>
            <a:pPr indent="0" marL="0">
              <a:buNone/>
            </a:pPr>
            <a:r>
              <a:rPr lang="en-US" sz="1000" b="1" spc="120" kern="0" dirty="0">
                <a:solidFill>
                  <a:srgbClr val="A78BFA"/>
                </a:solidFill>
                <a:latin typeface="Noto Sans CJK SC" pitchFamily="34" charset="0"/>
                <a:ea typeface="Noto Sans CJK SC" pitchFamily="34" charset="-122"/>
                <a:cs typeface="Noto Sans CJK SC" pitchFamily="34" charset="-120"/>
              </a:rPr>
              <a:t>MOSSGUARD</a:t>
            </a:r>
            <a:endParaRPr lang="en-US" sz="1000" dirty="0"/>
          </a:p>
        </p:txBody>
      </p:sp>
      <p:sp>
        <p:nvSpPr>
          <p:cNvPr id="8" name="Text 6"/>
          <p:cNvSpPr/>
          <p:nvPr/>
        </p:nvSpPr>
        <p:spPr>
          <a:xfrm>
            <a:off x="9875520" y="301752"/>
            <a:ext cx="1645920" cy="201168"/>
          </a:xfrm>
          <a:prstGeom prst="rect">
            <a:avLst/>
          </a:prstGeom>
          <a:noFill/>
          <a:ln/>
        </p:spPr>
        <p:txBody>
          <a:bodyPr wrap="square" lIns="0" tIns="0" rIns="0" bIns="0" rtlCol="0" anchor="ctr"/>
          <a:lstStyle/>
          <a:p>
            <a:pPr algn="r" indent="0" marL="0">
              <a:buNone/>
            </a:pPr>
            <a:r>
              <a:rPr lang="en-US" sz="900" dirty="0">
                <a:solidFill>
                  <a:srgbClr val="9CA3AF"/>
                </a:solidFill>
                <a:latin typeface="Noto Sans CJK SC" pitchFamily="34" charset="0"/>
                <a:ea typeface="Noto Sans CJK SC" pitchFamily="34" charset="-122"/>
                <a:cs typeface="Noto Sans CJK SC" pitchFamily="34" charset="-120"/>
              </a:rPr>
              <a:t>01 · PROBLEM</a:t>
            </a:r>
            <a:endParaRPr lang="en-US" sz="900" dirty="0"/>
          </a:p>
        </p:txBody>
      </p:sp>
      <p:sp>
        <p:nvSpPr>
          <p:cNvPr id="9" name="Text 7"/>
          <p:cNvSpPr/>
          <p:nvPr/>
        </p:nvSpPr>
        <p:spPr>
          <a:xfrm>
            <a:off x="566928" y="749808"/>
            <a:ext cx="10881360" cy="475488"/>
          </a:xfrm>
          <a:prstGeom prst="rect">
            <a:avLst/>
          </a:prstGeom>
          <a:noFill/>
          <a:ln/>
        </p:spPr>
        <p:txBody>
          <a:bodyPr wrap="square" lIns="0" tIns="0" rIns="0" bIns="0" rtlCol="0" anchor="ctr"/>
          <a:lstStyle/>
          <a:p>
            <a:pPr indent="0" marL="0">
              <a:buNone/>
            </a:pPr>
            <a:r>
              <a:rPr lang="en-US" sz="2500" b="1" dirty="0">
                <a:solidFill>
                  <a:srgbClr val="F8FAFC"/>
                </a:solidFill>
                <a:latin typeface="Noto Sans CJK SC" pitchFamily="34" charset="0"/>
                <a:ea typeface="Noto Sans CJK SC" pitchFamily="34" charset="-122"/>
                <a:cs typeface="Noto Sans CJK SC" pitchFamily="34" charset="-120"/>
              </a:rPr>
              <a:t>AI can act, but user authorization can drift along the path</a:t>
            </a:r>
            <a:endParaRPr lang="en-US" sz="2500" dirty="0"/>
          </a:p>
        </p:txBody>
      </p:sp>
      <p:sp>
        <p:nvSpPr>
          <p:cNvPr id="10" name="Text 8"/>
          <p:cNvSpPr/>
          <p:nvPr/>
        </p:nvSpPr>
        <p:spPr>
          <a:xfrm>
            <a:off x="576072" y="1216152"/>
            <a:ext cx="10698480" cy="274320"/>
          </a:xfrm>
          <a:prstGeom prst="rect">
            <a:avLst/>
          </a:prstGeom>
          <a:noFill/>
          <a:ln/>
        </p:spPr>
        <p:txBody>
          <a:bodyPr wrap="square" lIns="0" tIns="0" rIns="0" bIns="0" rtlCol="0" anchor="ctr"/>
          <a:lstStyle/>
          <a:p>
            <a:pPr indent="0" marL="0">
              <a:buNone/>
            </a:pPr>
            <a:r>
              <a:rPr lang="en-US" sz="1150" dirty="0">
                <a:solidFill>
                  <a:srgbClr val="9CA3AF"/>
                </a:solidFill>
                <a:latin typeface="Noto Sans CJK SC" pitchFamily="34" charset="0"/>
                <a:ea typeface="Noto Sans CJK SC" pitchFamily="34" charset="-122"/>
                <a:cs typeface="Noto Sans CJK SC" pitchFamily="34" charset="-120"/>
              </a:rPr>
              <a:t>Wallets see the final transaction, but not always what the user originally authorized.</a:t>
            </a:r>
            <a:endParaRPr lang="en-US" sz="1150" dirty="0"/>
          </a:p>
        </p:txBody>
      </p:sp>
      <p:sp>
        <p:nvSpPr>
          <p:cNvPr id="11" name="Shape 9"/>
          <p:cNvSpPr/>
          <p:nvPr/>
        </p:nvSpPr>
        <p:spPr>
          <a:xfrm>
            <a:off x="640080" y="1737360"/>
            <a:ext cx="2788920" cy="4133088"/>
          </a:xfrm>
          <a:prstGeom prst="roundRect">
            <a:avLst>
              <a:gd name="adj" fmla="val 2951"/>
            </a:avLst>
          </a:prstGeom>
          <a:solidFill>
            <a:srgbClr val="111126"/>
          </a:solidFill>
          <a:ln w="10160">
            <a:solidFill>
              <a:srgbClr val="292747"/>
            </a:solidFill>
            <a:prstDash val="solid"/>
          </a:ln>
          <a:effectLst>
            <a:outerShdw sx="100000" sy="100000" kx="0" ky="0" algn="bl" rotWithShape="0" blurRad="4096766000000" dist="2458059600000" dir="9720000000000000">
              <a:srgbClr val="000000">
                <a:alpha val="250000000000000"/>
              </a:srgbClr>
            </a:outerShdw>
          </a:effectLst>
        </p:spPr>
        <p:txBody>
          <a:bodyPr/>
          <a:p/>
        </p:txBody>
      </p:sp>
      <p:sp>
        <p:nvSpPr>
          <p:cNvPr id="12" name="Shape 10"/>
          <p:cNvSpPr/>
          <p:nvPr/>
        </p:nvSpPr>
        <p:spPr>
          <a:xfrm>
            <a:off x="960120" y="2029968"/>
            <a:ext cx="1143000" cy="292608"/>
          </a:xfrm>
          <a:prstGeom prst="roundRect">
            <a:avLst>
              <a:gd name="adj" fmla="val 25000"/>
            </a:avLst>
          </a:prstGeom>
          <a:solidFill>
            <a:srgbClr val="22C55E">
              <a:alpha val="16000"/>
            </a:srgbClr>
          </a:solidFill>
          <a:ln w="8890">
            <a:solidFill>
              <a:srgbClr val="22C55E">
                <a:alpha val="55000"/>
              </a:srgbClr>
            </a:solidFill>
            <a:prstDash val="solid"/>
          </a:ln>
        </p:spPr>
        <p:txBody>
          <a:bodyPr/>
          <a:p/>
        </p:txBody>
      </p:sp>
      <p:sp>
        <p:nvSpPr>
          <p:cNvPr id="13" name="Text 11"/>
          <p:cNvSpPr/>
          <p:nvPr/>
        </p:nvSpPr>
        <p:spPr>
          <a:xfrm>
            <a:off x="960120" y="2034540"/>
            <a:ext cx="1143000" cy="256032"/>
          </a:xfrm>
          <a:prstGeom prst="rect">
            <a:avLst/>
          </a:prstGeom>
          <a:noFill/>
          <a:ln/>
        </p:spPr>
        <p:txBody>
          <a:bodyPr wrap="square" lIns="0" tIns="0" rIns="0" bIns="0" rtlCol="0" anchor="ctr"/>
          <a:lstStyle/>
          <a:p>
            <a:pPr algn="ctr" indent="0" marL="0">
              <a:buNone/>
            </a:pPr>
            <a:r>
              <a:rPr lang="en-US" sz="850" b="1" dirty="0">
                <a:solidFill>
                  <a:srgbClr val="22C55E"/>
                </a:solidFill>
                <a:latin typeface="Noto Sans CJK SC" pitchFamily="34" charset="0"/>
                <a:ea typeface="Noto Sans CJK SC" pitchFamily="34" charset="-122"/>
                <a:cs typeface="Noto Sans CJK SC" pitchFamily="34" charset="-120"/>
              </a:rPr>
              <a:t>USER INTENT</a:t>
            </a:r>
            <a:endParaRPr lang="en-US" sz="850" dirty="0"/>
          </a:p>
        </p:txBody>
      </p:sp>
      <p:sp>
        <p:nvSpPr>
          <p:cNvPr id="14" name="Text 12"/>
          <p:cNvSpPr/>
          <p:nvPr/>
        </p:nvSpPr>
        <p:spPr>
          <a:xfrm>
            <a:off x="941832" y="2615184"/>
            <a:ext cx="2212848" cy="493776"/>
          </a:xfrm>
          <a:prstGeom prst="rect">
            <a:avLst/>
          </a:prstGeom>
          <a:noFill/>
          <a:ln/>
        </p:spPr>
        <p:txBody>
          <a:bodyPr wrap="square" lIns="0" tIns="0" rIns="0" bIns="0" rtlCol="0" anchor="t">
            <a:normAutofit/>
          </a:bodyPr>
          <a:lstStyle/>
          <a:p>
            <a:pPr algn="ctr" indent="0" marL="0">
              <a:buNone/>
            </a:pPr>
            <a:r>
              <a:rPr lang="en-US" sz="2400" b="1" dirty="0">
                <a:solidFill>
                  <a:srgbClr val="F8FAFC"/>
                </a:solidFill>
                <a:latin typeface="Noto Sans CJK SC" pitchFamily="34" charset="0"/>
                <a:ea typeface="Noto Sans CJK SC" pitchFamily="34" charset="-122"/>
                <a:cs typeface="Noto Sans CJK SC" pitchFamily="34" charset="-120"/>
              </a:rPr>
              <a:t>"Send 5 MON to Alice"</a:t>
            </a:r>
            <a:endParaRPr lang="en-US" sz="2400" dirty="0"/>
          </a:p>
        </p:txBody>
      </p:sp>
      <p:sp>
        <p:nvSpPr>
          <p:cNvPr id="15" name="Text 13"/>
          <p:cNvSpPr/>
          <p:nvPr/>
        </p:nvSpPr>
        <p:spPr>
          <a:xfrm>
            <a:off x="1097280" y="3255264"/>
            <a:ext cx="1920240" cy="274320"/>
          </a:xfrm>
          <a:prstGeom prst="rect">
            <a:avLst/>
          </a:prstGeom>
          <a:noFill/>
          <a:ln/>
        </p:spPr>
        <p:txBody>
          <a:bodyPr wrap="square" lIns="0" tIns="0" rIns="0" bIns="0" rtlCol="0" anchor="t">
            <a:normAutofit/>
          </a:bodyPr>
          <a:lstStyle/>
          <a:p>
            <a:pPr algn="ctr" indent="0" marL="0">
              <a:buNone/>
            </a:pPr>
            <a:r>
              <a:rPr lang="en-US" sz="1100" dirty="0">
                <a:solidFill>
                  <a:srgbClr val="9CA3AF"/>
                </a:solidFill>
                <a:latin typeface="Noto Sans CJK SC" pitchFamily="34" charset="0"/>
                <a:ea typeface="Noto Sans CJK SC" pitchFamily="34" charset="-122"/>
                <a:cs typeface="Noto Sans CJK SC" pitchFamily="34" charset="-120"/>
              </a:rPr>
              <a:t>Natural-language authorization</a:t>
            </a:r>
            <a:endParaRPr lang="en-US" sz="1100" dirty="0"/>
          </a:p>
        </p:txBody>
      </p:sp>
      <p:sp>
        <p:nvSpPr>
          <p:cNvPr id="16" name="Text 14"/>
          <p:cNvSpPr/>
          <p:nvPr/>
        </p:nvSpPr>
        <p:spPr>
          <a:xfrm>
            <a:off x="932688" y="3977640"/>
            <a:ext cx="2212848" cy="713232"/>
          </a:xfrm>
          <a:prstGeom prst="rect">
            <a:avLst/>
          </a:prstGeom>
          <a:noFill/>
          <a:ln/>
        </p:spPr>
        <p:txBody>
          <a:bodyPr wrap="square" lIns="0" tIns="0" rIns="0" bIns="0" rtlCol="0" anchor="t">
            <a:normAutofit/>
          </a:bodyPr>
          <a:lstStyle/>
          <a:p>
            <a:pPr algn="ctr" indent="0" marL="0">
              <a:buNone/>
            </a:pPr>
            <a:r>
              <a:rPr lang="en-US" sz="1150" dirty="0">
                <a:solidFill>
                  <a:srgbClr val="E5E7EB"/>
                </a:solidFill>
                <a:latin typeface="Noto Sans CJK SC" pitchFamily="34" charset="0"/>
                <a:ea typeface="Noto Sans CJK SC" pitchFamily="34" charset="-122"/>
                <a:cs typeface="Noto Sans CJK SC" pitchFamily="34" charset="-120"/>
              </a:rPr>
              <a:t>The user did not manually specify calldata, protocol parameters, or the final transaction target.</a:t>
            </a:r>
            <a:endParaRPr lang="en-US" sz="1150" dirty="0"/>
          </a:p>
        </p:txBody>
      </p:sp>
      <p:sp>
        <p:nvSpPr>
          <p:cNvPr id="17" name="Shape 15"/>
          <p:cNvSpPr/>
          <p:nvPr/>
        </p:nvSpPr>
        <p:spPr>
          <a:xfrm>
            <a:off x="1133856" y="4910328"/>
            <a:ext cx="1847088" cy="457200"/>
          </a:xfrm>
          <a:prstGeom prst="roundRect">
            <a:avLst/>
          </a:prstGeom>
          <a:solidFill>
            <a:srgbClr val="22C55E">
              <a:alpha val="13000"/>
            </a:srgbClr>
          </a:solidFill>
          <a:ln w="12700">
            <a:solidFill>
              <a:srgbClr val="22C55E">
                <a:alpha val="65000"/>
              </a:srgbClr>
            </a:solidFill>
            <a:prstDash val="solid"/>
          </a:ln>
        </p:spPr>
        <p:txBody>
          <a:bodyPr/>
          <a:p/>
        </p:txBody>
      </p:sp>
      <p:sp>
        <p:nvSpPr>
          <p:cNvPr id="18" name="Text 16"/>
          <p:cNvSpPr/>
          <p:nvPr/>
        </p:nvSpPr>
        <p:spPr>
          <a:xfrm>
            <a:off x="1133856" y="5038344"/>
            <a:ext cx="1847088" cy="182880"/>
          </a:xfrm>
          <a:prstGeom prst="rect">
            <a:avLst/>
          </a:prstGeom>
          <a:noFill/>
          <a:ln/>
        </p:spPr>
        <p:txBody>
          <a:bodyPr wrap="square" lIns="0" tIns="0" rIns="0" bIns="0" rtlCol="0" anchor="t">
            <a:normAutofit/>
          </a:bodyPr>
          <a:lstStyle/>
          <a:p>
            <a:pPr algn="ctr" indent="0" marL="0">
              <a:buNone/>
            </a:pPr>
            <a:r>
              <a:rPr lang="en-US" sz="1000" b="1" dirty="0">
                <a:solidFill>
                  <a:srgbClr val="22C55E"/>
                </a:solidFill>
                <a:latin typeface="Noto Sans CJK SC" pitchFamily="34" charset="0"/>
                <a:ea typeface="Noto Sans CJK SC" pitchFamily="34" charset="-122"/>
                <a:cs typeface="Noto Sans CJK SC" pitchFamily="34" charset="-120"/>
              </a:rPr>
              <a:t>Authorization</a:t>
            </a:r>
            <a:endParaRPr lang="en-US" sz="1000" dirty="0"/>
          </a:p>
        </p:txBody>
      </p:sp>
      <p:sp>
        <p:nvSpPr>
          <p:cNvPr id="19" name="Shape 17"/>
          <p:cNvSpPr/>
          <p:nvPr/>
        </p:nvSpPr>
        <p:spPr>
          <a:xfrm>
            <a:off x="3785616" y="1737360"/>
            <a:ext cx="4526280" cy="4133088"/>
          </a:xfrm>
          <a:prstGeom prst="roundRect">
            <a:avLst>
              <a:gd name="adj" fmla="val 1991"/>
            </a:avLst>
          </a:prstGeom>
          <a:solidFill>
            <a:srgbClr val="0D0D1C"/>
          </a:solidFill>
          <a:ln w="10160">
            <a:solidFill>
              <a:srgbClr val="292747"/>
            </a:solidFill>
            <a:prstDash val="solid"/>
          </a:ln>
          <a:effectLst>
            <a:outerShdw sx="100000" sy="100000" kx="0" ky="0" algn="bl" rotWithShape="0" blurRad="52028928200000000" dist="31217356920000000" dir="583200000000000000000">
              <a:srgbClr val="000000">
                <a:alpha val="25000000000000000000"/>
              </a:srgbClr>
            </a:outerShdw>
          </a:effectLst>
        </p:spPr>
        <p:txBody>
          <a:bodyPr/>
          <a:p/>
        </p:txBody>
      </p:sp>
      <p:sp>
        <p:nvSpPr>
          <p:cNvPr id="20" name="Shape 18"/>
          <p:cNvSpPr/>
          <p:nvPr/>
        </p:nvSpPr>
        <p:spPr>
          <a:xfrm>
            <a:off x="5330952" y="2029968"/>
            <a:ext cx="1353312" cy="292608"/>
          </a:xfrm>
          <a:prstGeom prst="roundRect">
            <a:avLst>
              <a:gd name="adj" fmla="val 25000"/>
            </a:avLst>
          </a:prstGeom>
          <a:solidFill>
            <a:srgbClr val="EF4444">
              <a:alpha val="14000"/>
            </a:srgbClr>
          </a:solidFill>
          <a:ln w="8890">
            <a:solidFill>
              <a:srgbClr val="EF4444">
                <a:alpha val="55000"/>
              </a:srgbClr>
            </a:solidFill>
            <a:prstDash val="solid"/>
          </a:ln>
        </p:spPr>
        <p:txBody>
          <a:bodyPr/>
          <a:p/>
        </p:txBody>
      </p:sp>
      <p:sp>
        <p:nvSpPr>
          <p:cNvPr id="21" name="Text 19"/>
          <p:cNvSpPr/>
          <p:nvPr/>
        </p:nvSpPr>
        <p:spPr>
          <a:xfrm>
            <a:off x="5330952" y="2034540"/>
            <a:ext cx="1353312" cy="256032"/>
          </a:xfrm>
          <a:prstGeom prst="rect">
            <a:avLst/>
          </a:prstGeom>
          <a:noFill/>
          <a:ln/>
        </p:spPr>
        <p:txBody>
          <a:bodyPr wrap="square" lIns="0" tIns="0" rIns="0" bIns="0" rtlCol="0" anchor="ctr"/>
          <a:lstStyle/>
          <a:p>
            <a:pPr algn="ctr" indent="0" marL="0">
              <a:buNone/>
            </a:pPr>
            <a:r>
              <a:rPr lang="en-US" sz="850" b="1" dirty="0">
                <a:solidFill>
                  <a:srgbClr val="EF4444"/>
                </a:solidFill>
                <a:latin typeface="Noto Sans CJK SC" pitchFamily="34" charset="0"/>
                <a:ea typeface="Noto Sans CJK SC" pitchFamily="34" charset="-122"/>
                <a:cs typeface="Noto Sans CJK SC" pitchFamily="34" charset="-120"/>
              </a:rPr>
              <a:t>AGENT DRIFT</a:t>
            </a:r>
            <a:endParaRPr lang="en-US" sz="850" dirty="0"/>
          </a:p>
        </p:txBody>
      </p:sp>
      <p:sp>
        <p:nvSpPr>
          <p:cNvPr id="22" name="Shape 20"/>
          <p:cNvSpPr/>
          <p:nvPr/>
        </p:nvSpPr>
        <p:spPr>
          <a:xfrm>
            <a:off x="4160520" y="2697480"/>
            <a:ext cx="1115568" cy="475488"/>
          </a:xfrm>
          <a:prstGeom prst="roundRect">
            <a:avLst/>
          </a:prstGeom>
          <a:solidFill>
            <a:srgbClr val="22C55E">
              <a:alpha val="12000"/>
            </a:srgbClr>
          </a:solidFill>
          <a:ln w="12700">
            <a:solidFill>
              <a:srgbClr val="22C55E">
                <a:alpha val="55000"/>
              </a:srgbClr>
            </a:solidFill>
            <a:prstDash val="solid"/>
          </a:ln>
        </p:spPr>
        <p:txBody>
          <a:bodyPr/>
          <a:p/>
        </p:txBody>
      </p:sp>
      <p:sp>
        <p:nvSpPr>
          <p:cNvPr id="23" name="Text 21"/>
          <p:cNvSpPr/>
          <p:nvPr/>
        </p:nvSpPr>
        <p:spPr>
          <a:xfrm>
            <a:off x="4160520" y="2825496"/>
            <a:ext cx="1115568" cy="182880"/>
          </a:xfrm>
          <a:prstGeom prst="rect">
            <a:avLst/>
          </a:prstGeom>
          <a:noFill/>
          <a:ln/>
        </p:spPr>
        <p:txBody>
          <a:bodyPr wrap="square" lIns="0" tIns="0" rIns="0" bIns="0" rtlCol="0" anchor="t">
            <a:normAutofit/>
          </a:bodyPr>
          <a:lstStyle/>
          <a:p>
            <a:pPr algn="ctr" indent="0" marL="0">
              <a:buNone/>
            </a:pPr>
            <a:r>
              <a:rPr lang="en-US" sz="1200" b="1" dirty="0">
                <a:solidFill>
                  <a:srgbClr val="22C55E"/>
                </a:solidFill>
                <a:latin typeface="Noto Sans CJK SC" pitchFamily="34" charset="0"/>
                <a:ea typeface="Noto Sans CJK SC" pitchFamily="34" charset="-122"/>
                <a:cs typeface="Noto Sans CJK SC" pitchFamily="34" charset="-120"/>
              </a:rPr>
              <a:t>5 MON</a:t>
            </a:r>
            <a:endParaRPr lang="en-US" sz="1200" dirty="0"/>
          </a:p>
        </p:txBody>
      </p:sp>
      <p:sp>
        <p:nvSpPr>
          <p:cNvPr id="24" name="Shape 22"/>
          <p:cNvSpPr/>
          <p:nvPr/>
        </p:nvSpPr>
        <p:spPr>
          <a:xfrm>
            <a:off x="5440680" y="2935224"/>
            <a:ext cx="996696" cy="0"/>
          </a:xfrm>
          <a:prstGeom prst="line">
            <a:avLst/>
          </a:prstGeom>
          <a:noFill/>
          <a:ln w="27940">
            <a:solidFill>
              <a:srgbClr val="EF4444"/>
            </a:solidFill>
            <a:prstDash val="solid"/>
            <a:headEnd type="none"/>
            <a:tailEnd type="triangle"/>
          </a:ln>
        </p:spPr>
        <p:txBody>
          <a:bodyPr/>
          <a:p/>
        </p:txBody>
      </p:sp>
      <p:sp>
        <p:nvSpPr>
          <p:cNvPr id="25" name="Shape 23"/>
          <p:cNvSpPr/>
          <p:nvPr/>
        </p:nvSpPr>
        <p:spPr>
          <a:xfrm>
            <a:off x="6601968" y="2697480"/>
            <a:ext cx="1261872" cy="475488"/>
          </a:xfrm>
          <a:prstGeom prst="roundRect">
            <a:avLst/>
          </a:prstGeom>
          <a:solidFill>
            <a:srgbClr val="EF4444">
              <a:alpha val="12000"/>
            </a:srgbClr>
          </a:solidFill>
          <a:ln w="12700">
            <a:solidFill>
              <a:srgbClr val="EF4444">
                <a:alpha val="60000"/>
              </a:srgbClr>
            </a:solidFill>
            <a:prstDash val="solid"/>
          </a:ln>
        </p:spPr>
        <p:txBody>
          <a:bodyPr/>
          <a:p/>
        </p:txBody>
      </p:sp>
      <p:sp>
        <p:nvSpPr>
          <p:cNvPr id="26" name="Text 24"/>
          <p:cNvSpPr/>
          <p:nvPr/>
        </p:nvSpPr>
        <p:spPr>
          <a:xfrm>
            <a:off x="6601968" y="2825496"/>
            <a:ext cx="1261872" cy="182880"/>
          </a:xfrm>
          <a:prstGeom prst="rect">
            <a:avLst/>
          </a:prstGeom>
          <a:noFill/>
          <a:ln/>
        </p:spPr>
        <p:txBody>
          <a:bodyPr wrap="square" lIns="0" tIns="0" rIns="0" bIns="0" rtlCol="0" anchor="t">
            <a:normAutofit/>
          </a:bodyPr>
          <a:lstStyle/>
          <a:p>
            <a:pPr algn="ctr" indent="0" marL="0">
              <a:buNone/>
            </a:pPr>
            <a:r>
              <a:rPr lang="en-US" sz="1200" b="1" dirty="0">
                <a:solidFill>
                  <a:srgbClr val="EF4444"/>
                </a:solidFill>
                <a:latin typeface="Noto Sans CJK SC" pitchFamily="34" charset="0"/>
                <a:ea typeface="Noto Sans CJK SC" pitchFamily="34" charset="-122"/>
                <a:cs typeface="Noto Sans CJK SC" pitchFamily="34" charset="-120"/>
              </a:rPr>
              <a:t>50 MON</a:t>
            </a:r>
            <a:endParaRPr lang="en-US" sz="1200" dirty="0"/>
          </a:p>
        </p:txBody>
      </p:sp>
      <p:sp>
        <p:nvSpPr>
          <p:cNvPr id="27" name="Text 25"/>
          <p:cNvSpPr/>
          <p:nvPr/>
        </p:nvSpPr>
        <p:spPr>
          <a:xfrm>
            <a:off x="5358384" y="3227832"/>
            <a:ext cx="1307592" cy="164592"/>
          </a:xfrm>
          <a:prstGeom prst="rect">
            <a:avLst/>
          </a:prstGeom>
          <a:noFill/>
          <a:ln/>
        </p:spPr>
        <p:txBody>
          <a:bodyPr wrap="square" lIns="0" tIns="0" rIns="0" bIns="0" rtlCol="0" anchor="t">
            <a:normAutofit/>
          </a:bodyPr>
          <a:lstStyle/>
          <a:p>
            <a:pPr algn="ctr" indent="0" marL="0">
              <a:buNone/>
            </a:pPr>
            <a:r>
              <a:rPr lang="en-US" sz="850" dirty="0">
                <a:solidFill>
                  <a:srgbClr val="9CA3AF"/>
                </a:solidFill>
                <a:latin typeface="Noto Sans CJK SC" pitchFamily="34" charset="0"/>
                <a:ea typeface="Noto Sans CJK SC" pitchFamily="34" charset="-122"/>
                <a:cs typeface="Noto Sans CJK SC" pitchFamily="34" charset="-120"/>
              </a:rPr>
              <a:t>Amount drift</a:t>
            </a:r>
            <a:endParaRPr lang="en-US" sz="850" dirty="0"/>
          </a:p>
        </p:txBody>
      </p:sp>
      <p:sp>
        <p:nvSpPr>
          <p:cNvPr id="28" name="Shape 26"/>
          <p:cNvSpPr/>
          <p:nvPr/>
        </p:nvSpPr>
        <p:spPr>
          <a:xfrm>
            <a:off x="4160520" y="3675888"/>
            <a:ext cx="1115568" cy="475488"/>
          </a:xfrm>
          <a:prstGeom prst="roundRect">
            <a:avLst/>
          </a:prstGeom>
          <a:solidFill>
            <a:srgbClr val="22C55E">
              <a:alpha val="12000"/>
            </a:srgbClr>
          </a:solidFill>
          <a:ln w="12700">
            <a:solidFill>
              <a:srgbClr val="22C55E">
                <a:alpha val="55000"/>
              </a:srgbClr>
            </a:solidFill>
            <a:prstDash val="solid"/>
          </a:ln>
        </p:spPr>
        <p:txBody>
          <a:bodyPr/>
          <a:p/>
        </p:txBody>
      </p:sp>
      <p:sp>
        <p:nvSpPr>
          <p:cNvPr id="29" name="Text 27"/>
          <p:cNvSpPr/>
          <p:nvPr/>
        </p:nvSpPr>
        <p:spPr>
          <a:xfrm>
            <a:off x="4160520" y="3803904"/>
            <a:ext cx="1115568" cy="182880"/>
          </a:xfrm>
          <a:prstGeom prst="rect">
            <a:avLst/>
          </a:prstGeom>
          <a:noFill/>
          <a:ln/>
        </p:spPr>
        <p:txBody>
          <a:bodyPr wrap="square" lIns="0" tIns="0" rIns="0" bIns="0" rtlCol="0" anchor="t">
            <a:normAutofit/>
          </a:bodyPr>
          <a:lstStyle/>
          <a:p>
            <a:pPr algn="ctr" indent="0" marL="0">
              <a:buNone/>
            </a:pPr>
            <a:r>
              <a:rPr lang="en-US" sz="1200" b="1" dirty="0">
                <a:solidFill>
                  <a:srgbClr val="22C55E"/>
                </a:solidFill>
                <a:latin typeface="Noto Sans CJK SC" pitchFamily="34" charset="0"/>
                <a:ea typeface="Noto Sans CJK SC" pitchFamily="34" charset="-122"/>
                <a:cs typeface="Noto Sans CJK SC" pitchFamily="34" charset="-120"/>
              </a:rPr>
              <a:t>Alice</a:t>
            </a:r>
            <a:endParaRPr lang="en-US" sz="1200" dirty="0"/>
          </a:p>
        </p:txBody>
      </p:sp>
      <p:sp>
        <p:nvSpPr>
          <p:cNvPr id="30" name="Shape 28"/>
          <p:cNvSpPr/>
          <p:nvPr/>
        </p:nvSpPr>
        <p:spPr>
          <a:xfrm>
            <a:off x="5440680" y="3913632"/>
            <a:ext cx="996696" cy="0"/>
          </a:xfrm>
          <a:prstGeom prst="line">
            <a:avLst/>
          </a:prstGeom>
          <a:noFill/>
          <a:ln w="27940">
            <a:solidFill>
              <a:srgbClr val="EF4444"/>
            </a:solidFill>
            <a:prstDash val="solid"/>
            <a:headEnd type="none"/>
            <a:tailEnd type="triangle"/>
          </a:ln>
        </p:spPr>
        <p:txBody>
          <a:bodyPr/>
          <a:p/>
        </p:txBody>
      </p:sp>
      <p:sp>
        <p:nvSpPr>
          <p:cNvPr id="31" name="Shape 29"/>
          <p:cNvSpPr/>
          <p:nvPr/>
        </p:nvSpPr>
        <p:spPr>
          <a:xfrm>
            <a:off x="6601968" y="3675888"/>
            <a:ext cx="1261872" cy="475488"/>
          </a:xfrm>
          <a:prstGeom prst="roundRect">
            <a:avLst/>
          </a:prstGeom>
          <a:solidFill>
            <a:srgbClr val="EF4444">
              <a:alpha val="12000"/>
            </a:srgbClr>
          </a:solidFill>
          <a:ln w="12700">
            <a:solidFill>
              <a:srgbClr val="EF4444">
                <a:alpha val="60000"/>
              </a:srgbClr>
            </a:solidFill>
            <a:prstDash val="solid"/>
          </a:ln>
        </p:spPr>
        <p:txBody>
          <a:bodyPr/>
          <a:p/>
        </p:txBody>
      </p:sp>
      <p:sp>
        <p:nvSpPr>
          <p:cNvPr id="32" name="Text 30"/>
          <p:cNvSpPr/>
          <p:nvPr/>
        </p:nvSpPr>
        <p:spPr>
          <a:xfrm>
            <a:off x="6601968" y="3803904"/>
            <a:ext cx="1261872" cy="182880"/>
          </a:xfrm>
          <a:prstGeom prst="rect">
            <a:avLst/>
          </a:prstGeom>
          <a:noFill/>
          <a:ln/>
        </p:spPr>
        <p:txBody>
          <a:bodyPr wrap="square" lIns="0" tIns="0" rIns="0" bIns="0" rtlCol="0" anchor="t">
            <a:normAutofit/>
          </a:bodyPr>
          <a:lstStyle/>
          <a:p>
            <a:pPr algn="ctr" indent="0" marL="0">
              <a:buNone/>
            </a:pPr>
            <a:r>
              <a:rPr lang="en-US" sz="1200" b="1" dirty="0">
                <a:solidFill>
                  <a:srgbClr val="EF4444"/>
                </a:solidFill>
                <a:latin typeface="Noto Sans CJK SC" pitchFamily="34" charset="0"/>
                <a:ea typeface="Noto Sans CJK SC" pitchFamily="34" charset="-122"/>
                <a:cs typeface="Noto Sans CJK SC" pitchFamily="34" charset="-120"/>
              </a:rPr>
              <a:t>Bob</a:t>
            </a:r>
            <a:endParaRPr lang="en-US" sz="1200" dirty="0"/>
          </a:p>
        </p:txBody>
      </p:sp>
      <p:sp>
        <p:nvSpPr>
          <p:cNvPr id="33" name="Text 31"/>
          <p:cNvSpPr/>
          <p:nvPr/>
        </p:nvSpPr>
        <p:spPr>
          <a:xfrm>
            <a:off x="5358384" y="4206240"/>
            <a:ext cx="1307592" cy="164592"/>
          </a:xfrm>
          <a:prstGeom prst="rect">
            <a:avLst/>
          </a:prstGeom>
          <a:noFill/>
          <a:ln/>
        </p:spPr>
        <p:txBody>
          <a:bodyPr wrap="square" lIns="0" tIns="0" rIns="0" bIns="0" rtlCol="0" anchor="t">
            <a:normAutofit/>
          </a:bodyPr>
          <a:lstStyle/>
          <a:p>
            <a:pPr algn="ctr" indent="0" marL="0">
              <a:buNone/>
            </a:pPr>
            <a:r>
              <a:rPr lang="en-US" sz="850" dirty="0">
                <a:solidFill>
                  <a:srgbClr val="9CA3AF"/>
                </a:solidFill>
                <a:latin typeface="Noto Sans CJK SC" pitchFamily="34" charset="0"/>
                <a:ea typeface="Noto Sans CJK SC" pitchFamily="34" charset="-122"/>
                <a:cs typeface="Noto Sans CJK SC" pitchFamily="34" charset="-120"/>
              </a:rPr>
              <a:t>Recipient drift</a:t>
            </a:r>
            <a:endParaRPr lang="en-US" sz="850" dirty="0"/>
          </a:p>
        </p:txBody>
      </p:sp>
      <p:sp>
        <p:nvSpPr>
          <p:cNvPr id="34" name="Shape 32"/>
          <p:cNvSpPr/>
          <p:nvPr/>
        </p:nvSpPr>
        <p:spPr>
          <a:xfrm>
            <a:off x="4160520" y="4654296"/>
            <a:ext cx="1115568" cy="475488"/>
          </a:xfrm>
          <a:prstGeom prst="roundRect">
            <a:avLst/>
          </a:prstGeom>
          <a:solidFill>
            <a:srgbClr val="22C55E">
              <a:alpha val="12000"/>
            </a:srgbClr>
          </a:solidFill>
          <a:ln w="12700">
            <a:solidFill>
              <a:srgbClr val="22C55E">
                <a:alpha val="55000"/>
              </a:srgbClr>
            </a:solidFill>
            <a:prstDash val="solid"/>
          </a:ln>
        </p:spPr>
        <p:txBody>
          <a:bodyPr/>
          <a:p/>
        </p:txBody>
      </p:sp>
      <p:sp>
        <p:nvSpPr>
          <p:cNvPr id="35" name="Text 33"/>
          <p:cNvSpPr/>
          <p:nvPr/>
        </p:nvSpPr>
        <p:spPr>
          <a:xfrm>
            <a:off x="4160520" y="4782312"/>
            <a:ext cx="1115568" cy="182880"/>
          </a:xfrm>
          <a:prstGeom prst="rect">
            <a:avLst/>
          </a:prstGeom>
          <a:noFill/>
          <a:ln/>
        </p:spPr>
        <p:txBody>
          <a:bodyPr wrap="square" lIns="0" tIns="0" rIns="0" bIns="0" rtlCol="0" anchor="t">
            <a:normAutofit/>
          </a:bodyPr>
          <a:lstStyle/>
          <a:p>
            <a:pPr algn="ctr" indent="0" marL="0">
              <a:buNone/>
            </a:pPr>
            <a:r>
              <a:rPr lang="en-US" sz="1200" b="1" dirty="0">
                <a:solidFill>
                  <a:srgbClr val="22C55E"/>
                </a:solidFill>
                <a:latin typeface="Noto Sans CJK SC" pitchFamily="34" charset="0"/>
                <a:ea typeface="Noto Sans CJK SC" pitchFamily="34" charset="-122"/>
                <a:cs typeface="Noto Sans CJK SC" pitchFamily="34" charset="-120"/>
              </a:rPr>
              <a:t>10 USDC</a:t>
            </a:r>
            <a:endParaRPr lang="en-US" sz="1200" dirty="0"/>
          </a:p>
        </p:txBody>
      </p:sp>
      <p:sp>
        <p:nvSpPr>
          <p:cNvPr id="36" name="Shape 34"/>
          <p:cNvSpPr/>
          <p:nvPr/>
        </p:nvSpPr>
        <p:spPr>
          <a:xfrm>
            <a:off x="5440680" y="4892040"/>
            <a:ext cx="996696" cy="0"/>
          </a:xfrm>
          <a:prstGeom prst="line">
            <a:avLst/>
          </a:prstGeom>
          <a:noFill/>
          <a:ln w="27940">
            <a:solidFill>
              <a:srgbClr val="EF4444"/>
            </a:solidFill>
            <a:prstDash val="solid"/>
            <a:headEnd type="none"/>
            <a:tailEnd type="triangle"/>
          </a:ln>
        </p:spPr>
        <p:txBody>
          <a:bodyPr/>
          <a:p/>
        </p:txBody>
      </p:sp>
      <p:sp>
        <p:nvSpPr>
          <p:cNvPr id="37" name="Shape 35"/>
          <p:cNvSpPr/>
          <p:nvPr/>
        </p:nvSpPr>
        <p:spPr>
          <a:xfrm>
            <a:off x="6601968" y="4654296"/>
            <a:ext cx="1261872" cy="475488"/>
          </a:xfrm>
          <a:prstGeom prst="roundRect">
            <a:avLst/>
          </a:prstGeom>
          <a:solidFill>
            <a:srgbClr val="EF4444">
              <a:alpha val="12000"/>
            </a:srgbClr>
          </a:solidFill>
          <a:ln w="12700">
            <a:solidFill>
              <a:srgbClr val="EF4444">
                <a:alpha val="60000"/>
              </a:srgbClr>
            </a:solidFill>
            <a:prstDash val="solid"/>
          </a:ln>
        </p:spPr>
        <p:txBody>
          <a:bodyPr/>
          <a:p/>
        </p:txBody>
      </p:sp>
      <p:sp>
        <p:nvSpPr>
          <p:cNvPr id="38" name="Text 36"/>
          <p:cNvSpPr/>
          <p:nvPr/>
        </p:nvSpPr>
        <p:spPr>
          <a:xfrm>
            <a:off x="6601968" y="4782312"/>
            <a:ext cx="1261872" cy="182880"/>
          </a:xfrm>
          <a:prstGeom prst="rect">
            <a:avLst/>
          </a:prstGeom>
          <a:noFill/>
          <a:ln/>
        </p:spPr>
        <p:txBody>
          <a:bodyPr wrap="square" lIns="0" tIns="0" rIns="0" bIns="0" rtlCol="0" anchor="t">
            <a:normAutofit/>
          </a:bodyPr>
          <a:lstStyle/>
          <a:p>
            <a:pPr algn="ctr" indent="0" marL="0">
              <a:buNone/>
            </a:pPr>
            <a:r>
              <a:rPr lang="en-US" sz="1200" b="1" dirty="0">
                <a:solidFill>
                  <a:srgbClr val="EF4444"/>
                </a:solidFill>
                <a:latin typeface="Noto Sans CJK SC" pitchFamily="34" charset="0"/>
                <a:ea typeface="Noto Sans CJK SC" pitchFamily="34" charset="-122"/>
                <a:cs typeface="Noto Sans CJK SC" pitchFamily="34" charset="-120"/>
              </a:rPr>
              <a:t>MAX_UINT256</a:t>
            </a:r>
            <a:endParaRPr lang="en-US" sz="1200" dirty="0"/>
          </a:p>
        </p:txBody>
      </p:sp>
      <p:sp>
        <p:nvSpPr>
          <p:cNvPr id="39" name="Text 37"/>
          <p:cNvSpPr/>
          <p:nvPr/>
        </p:nvSpPr>
        <p:spPr>
          <a:xfrm>
            <a:off x="5358384" y="5184648"/>
            <a:ext cx="1307592" cy="164592"/>
          </a:xfrm>
          <a:prstGeom prst="rect">
            <a:avLst/>
          </a:prstGeom>
          <a:noFill/>
          <a:ln/>
        </p:spPr>
        <p:txBody>
          <a:bodyPr wrap="square" lIns="0" tIns="0" rIns="0" bIns="0" rtlCol="0" anchor="t">
            <a:normAutofit/>
          </a:bodyPr>
          <a:lstStyle/>
          <a:p>
            <a:pPr algn="ctr" indent="0" marL="0">
              <a:buNone/>
            </a:pPr>
            <a:r>
              <a:rPr lang="en-US" sz="850" dirty="0">
                <a:solidFill>
                  <a:srgbClr val="9CA3AF"/>
                </a:solidFill>
                <a:latin typeface="Noto Sans CJK SC" pitchFamily="34" charset="0"/>
                <a:ea typeface="Noto Sans CJK SC" pitchFamily="34" charset="-122"/>
                <a:cs typeface="Noto Sans CJK SC" pitchFamily="34" charset="-120"/>
              </a:rPr>
              <a:t>Approval drift</a:t>
            </a:r>
            <a:endParaRPr lang="en-US" sz="850" dirty="0"/>
          </a:p>
        </p:txBody>
      </p:sp>
      <p:sp>
        <p:nvSpPr>
          <p:cNvPr id="40" name="Shape 38"/>
          <p:cNvSpPr/>
          <p:nvPr/>
        </p:nvSpPr>
        <p:spPr>
          <a:xfrm>
            <a:off x="8659368" y="1737360"/>
            <a:ext cx="2880360" cy="4133088"/>
          </a:xfrm>
          <a:prstGeom prst="roundRect">
            <a:avLst>
              <a:gd name="adj" fmla="val 2857"/>
            </a:avLst>
          </a:prstGeom>
          <a:solidFill>
            <a:srgbClr val="111126"/>
          </a:solidFill>
          <a:ln w="10160">
            <a:solidFill>
              <a:srgbClr val="292747"/>
            </a:solidFill>
            <a:prstDash val="solid"/>
          </a:ln>
          <a:effectLst>
            <a:outerShdw sx="100000" sy="100000" kx="0" ky="0" algn="bl" rotWithShape="0" blurRad="660767388140000000000" dist="396460432884000000000" dir="3.4992e+25">
              <a:srgbClr val="000000">
                <a:alpha val="2.5e+24"/>
              </a:srgbClr>
            </a:outerShdw>
          </a:effectLst>
        </p:spPr>
        <p:txBody>
          <a:bodyPr/>
          <a:p/>
        </p:txBody>
      </p:sp>
      <p:sp>
        <p:nvSpPr>
          <p:cNvPr id="41" name="Shape 39"/>
          <p:cNvSpPr/>
          <p:nvPr/>
        </p:nvSpPr>
        <p:spPr>
          <a:xfrm>
            <a:off x="9134856" y="2029968"/>
            <a:ext cx="1938528" cy="292608"/>
          </a:xfrm>
          <a:prstGeom prst="roundRect">
            <a:avLst>
              <a:gd name="adj" fmla="val 25000"/>
            </a:avLst>
          </a:prstGeom>
          <a:solidFill>
            <a:srgbClr val="F59E0B">
              <a:alpha val="15000"/>
            </a:srgbClr>
          </a:solidFill>
          <a:ln w="8890">
            <a:solidFill>
              <a:srgbClr val="F59E0B">
                <a:alpha val="55000"/>
              </a:srgbClr>
            </a:solidFill>
            <a:prstDash val="solid"/>
          </a:ln>
        </p:spPr>
        <p:txBody>
          <a:bodyPr/>
          <a:p/>
        </p:txBody>
      </p:sp>
      <p:sp>
        <p:nvSpPr>
          <p:cNvPr id="42" name="Text 40"/>
          <p:cNvSpPr/>
          <p:nvPr/>
        </p:nvSpPr>
        <p:spPr>
          <a:xfrm>
            <a:off x="9134856" y="2034540"/>
            <a:ext cx="1938528" cy="256032"/>
          </a:xfrm>
          <a:prstGeom prst="rect">
            <a:avLst/>
          </a:prstGeom>
          <a:noFill/>
          <a:ln/>
        </p:spPr>
        <p:txBody>
          <a:bodyPr wrap="square" lIns="0" tIns="0" rIns="0" bIns="0" rtlCol="0" anchor="ctr"/>
          <a:lstStyle/>
          <a:p>
            <a:pPr algn="ctr" indent="0" marL="0">
              <a:buNone/>
            </a:pPr>
            <a:r>
              <a:rPr lang="en-US" sz="850" b="1" dirty="0">
                <a:solidFill>
                  <a:srgbClr val="F59E0B"/>
                </a:solidFill>
                <a:latin typeface="Noto Sans CJK SC" pitchFamily="34" charset="0"/>
                <a:ea typeface="Noto Sans CJK SC" pitchFamily="34" charset="-122"/>
                <a:cs typeface="Noto Sans CJK SC" pitchFamily="34" charset="-120"/>
              </a:rPr>
              <a:t>FINAL TRANSACTION</a:t>
            </a:r>
            <a:endParaRPr lang="en-US" sz="850" dirty="0"/>
          </a:p>
        </p:txBody>
      </p:sp>
      <p:sp>
        <p:nvSpPr>
          <p:cNvPr id="43" name="Text 41"/>
          <p:cNvSpPr/>
          <p:nvPr/>
        </p:nvSpPr>
        <p:spPr>
          <a:xfrm>
            <a:off x="9070848" y="2724912"/>
            <a:ext cx="2084832" cy="713232"/>
          </a:xfrm>
          <a:prstGeom prst="rect">
            <a:avLst/>
          </a:prstGeom>
          <a:noFill/>
          <a:ln/>
        </p:spPr>
        <p:txBody>
          <a:bodyPr wrap="square" lIns="0" tIns="0" rIns="0" bIns="0" rtlCol="0" anchor="t">
            <a:normAutofit/>
          </a:bodyPr>
          <a:lstStyle/>
          <a:p>
            <a:pPr algn="ctr" indent="0" marL="0">
              <a:buNone/>
            </a:pPr>
            <a:r>
              <a:t>Wallet reviews only</a:t>
            </a:r>
            <a:endParaRPr lang="en-US" sz="2400" dirty="0"/>
          </a:p>
          <a:p>
            <a:r>
              <a:t>the final transaction</a:t>
            </a:r>
          </a:p>
        </p:txBody>
      </p:sp>
      <p:sp>
        <p:nvSpPr>
          <p:cNvPr id="44" name="Text 42"/>
          <p:cNvSpPr/>
          <p:nvPr/>
        </p:nvSpPr>
        <p:spPr>
          <a:xfrm>
            <a:off x="9070848" y="3767328"/>
            <a:ext cx="2084832" cy="868680"/>
          </a:xfrm>
          <a:prstGeom prst="rect">
            <a:avLst/>
          </a:prstGeom>
          <a:noFill/>
          <a:ln/>
        </p:spPr>
        <p:txBody>
          <a:bodyPr wrap="square" lIns="0" tIns="0" rIns="0" bIns="0" rtlCol="0" anchor="t">
            <a:normAutofit/>
          </a:bodyPr>
          <a:lstStyle/>
          <a:p>
            <a:pPr algn="ctr" indent="0" marL="0">
              <a:buNone/>
            </a:pPr>
            <a:r>
              <a:rPr lang="en-US" sz="1150" dirty="0">
                <a:solidFill>
                  <a:srgbClr val="E5E7EB"/>
                </a:solidFill>
                <a:latin typeface="Noto Sans CJK SC" pitchFamily="34" charset="0"/>
                <a:ea typeface="Noto Sans CJK SC" pitchFamily="34" charset="-122"/>
                <a:cs typeface="Noto Sans CJK SC" pitchFamily="34" charset="-120"/>
              </a:rPr>
              <a:t>But it lacks the original intent, so it cannot judge whether the transaction is still authorized.</a:t>
            </a:r>
            <a:endParaRPr lang="en-US" sz="1150" dirty="0"/>
          </a:p>
        </p:txBody>
      </p:sp>
      <p:sp>
        <p:nvSpPr>
          <p:cNvPr id="45" name="Shape 43"/>
          <p:cNvSpPr/>
          <p:nvPr/>
        </p:nvSpPr>
        <p:spPr>
          <a:xfrm>
            <a:off x="9125712" y="4937760"/>
            <a:ext cx="1975104" cy="457200"/>
          </a:xfrm>
          <a:prstGeom prst="roundRect">
            <a:avLst/>
          </a:prstGeom>
          <a:solidFill>
            <a:srgbClr val="EF4444">
              <a:alpha val="12000"/>
            </a:srgbClr>
          </a:solidFill>
          <a:ln w="12700">
            <a:solidFill>
              <a:srgbClr val="EF4444">
                <a:alpha val="65000"/>
              </a:srgbClr>
            </a:solidFill>
            <a:prstDash val="solid"/>
          </a:ln>
        </p:spPr>
        <p:txBody>
          <a:bodyPr/>
          <a:p/>
        </p:txBody>
      </p:sp>
      <p:sp>
        <p:nvSpPr>
          <p:cNvPr id="46" name="Text 44"/>
          <p:cNvSpPr/>
          <p:nvPr/>
        </p:nvSpPr>
        <p:spPr>
          <a:xfrm>
            <a:off x="9125712" y="5065776"/>
            <a:ext cx="1975104" cy="182880"/>
          </a:xfrm>
          <a:prstGeom prst="rect">
            <a:avLst/>
          </a:prstGeom>
          <a:noFill/>
          <a:ln/>
        </p:spPr>
        <p:txBody>
          <a:bodyPr wrap="square" lIns="0" tIns="0" rIns="0" bIns="0" rtlCol="0" anchor="t">
            <a:normAutofit/>
          </a:bodyPr>
          <a:lstStyle/>
          <a:p>
            <a:pPr algn="ctr" indent="0" marL="0">
              <a:buNone/>
            </a:pPr>
            <a:r>
              <a:rPr lang="en-US" sz="960" b="1" dirty="0">
                <a:solidFill>
                  <a:srgbClr val="EF4444"/>
                </a:solidFill>
                <a:latin typeface="Noto Sans CJK SC" pitchFamily="34" charset="0"/>
                <a:ea typeface="Noto Sans CJK SC" pitchFamily="34" charset="-122"/>
                <a:cs typeface="Noto Sans CJK SC" pitchFamily="34" charset="-120"/>
              </a:rPr>
              <a:t>Missing trust boundary</a:t>
            </a:r>
            <a:endParaRPr lang="en-US" sz="960" dirty="0"/>
          </a:p>
        </p:txBody>
      </p:sp>
      <p:sp>
        <p:nvSpPr>
          <p:cNvPr id="47" name="Shape 45"/>
          <p:cNvSpPr/>
          <p:nvPr/>
        </p:nvSpPr>
        <p:spPr>
          <a:xfrm>
            <a:off x="548640" y="6446520"/>
            <a:ext cx="11064240" cy="0"/>
          </a:xfrm>
          <a:prstGeom prst="line">
            <a:avLst/>
          </a:prstGeom>
          <a:noFill/>
          <a:ln w="7620">
            <a:solidFill>
              <a:srgbClr val="292747">
                <a:alpha val="70000"/>
              </a:srgbClr>
            </a:solidFill>
            <a:prstDash val="solid"/>
          </a:ln>
        </p:spPr>
        <p:txBody>
          <a:bodyPr/>
          <a:p/>
        </p:txBody>
      </p:sp>
      <p:sp>
        <p:nvSpPr>
          <p:cNvPr id="48" name="Text 46"/>
          <p:cNvSpPr/>
          <p:nvPr/>
        </p:nvSpPr>
        <p:spPr>
          <a:xfrm>
            <a:off x="576072" y="6492240"/>
            <a:ext cx="4023360" cy="155448"/>
          </a:xfrm>
          <a:prstGeom prst="rect">
            <a:avLst/>
          </a:prstGeom>
          <a:noFill/>
          <a:ln/>
        </p:spPr>
        <p:txBody>
          <a:bodyPr wrap="square" lIns="0" tIns="0" rIns="0" bIns="0" rtlCol="0" anchor="ctr"/>
          <a:lstStyle/>
          <a:p>
            <a:pPr indent="0" marL="0">
              <a:buNone/>
            </a:pPr>
            <a:r>
              <a:rPr lang="en-US" sz="760" dirty="0">
                <a:solidFill>
                  <a:srgbClr val="6B7280"/>
                </a:solidFill>
                <a:latin typeface="Noto Sans CJK SC" pitchFamily="34" charset="0"/>
                <a:ea typeface="Noto Sans CJK SC" pitchFamily="34" charset="-122"/>
                <a:cs typeface="Noto Sans CJK SC" pitchFamily="34" charset="-120"/>
              </a:rPr>
              <a:t>Agent proposes. Evidence decides. Human signs.</a:t>
            </a:r>
            <a:endParaRPr lang="en-US" sz="760" dirty="0"/>
          </a:p>
        </p:txBody>
      </p:sp>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7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11"/>
          </a:solidFill>
          <a:ln w="12700">
            <a:solidFill>
              <a:srgbClr val="070711"/>
            </a:solidFill>
            <a:prstDash val="solid"/>
          </a:ln>
        </p:spPr>
        <p:txBody>
          <a:bodyPr/>
          <a:p/>
        </p:txBody>
      </p:sp>
      <p:sp>
        <p:nvSpPr>
          <p:cNvPr id="3" name="Shape 1"/>
          <p:cNvSpPr/>
          <p:nvPr/>
        </p:nvSpPr>
        <p:spPr>
          <a:xfrm>
            <a:off x="10195560" y="18288"/>
            <a:ext cx="1874520" cy="1874520"/>
          </a:xfrm>
          <a:prstGeom prst="ellipse">
            <a:avLst/>
          </a:prstGeom>
          <a:solidFill>
            <a:srgbClr val="7C3AED">
              <a:alpha val="10000"/>
            </a:srgbClr>
          </a:solidFill>
          <a:ln w="12700">
            <a:solidFill>
              <a:srgbClr val="7C3AED">
                <a:alpha val="0"/>
              </a:srgbClr>
            </a:solidFill>
            <a:prstDash val="solid"/>
          </a:ln>
        </p:spPr>
        <p:txBody>
          <a:bodyPr/>
          <a:p/>
        </p:txBody>
      </p:sp>
      <p:sp>
        <p:nvSpPr>
          <p:cNvPr id="4" name="Shape 2"/>
          <p:cNvSpPr/>
          <p:nvPr/>
        </p:nvSpPr>
        <p:spPr>
          <a:xfrm>
            <a:off x="18288" y="5285232"/>
            <a:ext cx="1417320" cy="1417320"/>
          </a:xfrm>
          <a:prstGeom prst="ellipse">
            <a:avLst/>
          </a:prstGeom>
          <a:solidFill>
            <a:srgbClr val="22D3EE">
              <a:alpha val="5000"/>
            </a:srgbClr>
          </a:solidFill>
          <a:ln w="12700">
            <a:solidFill>
              <a:srgbClr val="22D3EE">
                <a:alpha val="0"/>
              </a:srgbClr>
            </a:solidFill>
            <a:prstDash val="solid"/>
          </a:ln>
        </p:spPr>
        <p:txBody>
          <a:bodyPr/>
          <a:p/>
        </p:txBody>
      </p:sp>
      <p:sp>
        <p:nvSpPr>
          <p:cNvPr id="5" name="Shape 3"/>
          <p:cNvSpPr/>
          <p:nvPr/>
        </p:nvSpPr>
        <p:spPr>
          <a:xfrm>
            <a:off x="512064" y="310896"/>
            <a:ext cx="310896" cy="310896"/>
          </a:xfrm>
          <a:prstGeom prst="diamond">
            <a:avLst/>
          </a:prstGeom>
          <a:solidFill>
            <a:srgbClr val="8B5CF6"/>
          </a:solidFill>
          <a:ln w="12700">
            <a:solidFill>
              <a:srgbClr val="A78BFA">
                <a:alpha val="60000"/>
              </a:srgbClr>
            </a:solidFill>
            <a:prstDash val="solid"/>
          </a:ln>
        </p:spPr>
        <p:txBody>
          <a:bodyPr/>
          <a:p/>
        </p:txBody>
      </p:sp>
      <p:sp>
        <p:nvSpPr>
          <p:cNvPr id="6" name="Shape 4"/>
          <p:cNvSpPr/>
          <p:nvPr/>
        </p:nvSpPr>
        <p:spPr>
          <a:xfrm>
            <a:off x="580461" y="379293"/>
            <a:ext cx="174102" cy="174102"/>
          </a:xfrm>
          <a:prstGeom prst="diamond">
            <a:avLst/>
          </a:prstGeom>
          <a:solidFill>
            <a:srgbClr val="070711"/>
          </a:solidFill>
          <a:ln w="12700">
            <a:solidFill>
              <a:srgbClr val="070711"/>
            </a:solidFill>
            <a:prstDash val="solid"/>
          </a:ln>
        </p:spPr>
        <p:txBody>
          <a:bodyPr/>
          <a:p/>
        </p:txBody>
      </p:sp>
      <p:sp>
        <p:nvSpPr>
          <p:cNvPr id="7" name="Text 5"/>
          <p:cNvSpPr/>
          <p:nvPr/>
        </p:nvSpPr>
        <p:spPr>
          <a:xfrm>
            <a:off x="914400" y="292608"/>
            <a:ext cx="1371600" cy="219456"/>
          </a:xfrm>
          <a:prstGeom prst="rect">
            <a:avLst/>
          </a:prstGeom>
          <a:noFill/>
          <a:ln/>
        </p:spPr>
        <p:txBody>
          <a:bodyPr wrap="square" lIns="0" tIns="0" rIns="0" bIns="0" rtlCol="0" anchor="ctr"/>
          <a:lstStyle/>
          <a:p>
            <a:pPr indent="0" marL="0">
              <a:buNone/>
            </a:pPr>
            <a:r>
              <a:rPr lang="en-US" sz="1000" b="1" spc="120" kern="0" dirty="0">
                <a:solidFill>
                  <a:srgbClr val="A78BFA"/>
                </a:solidFill>
                <a:latin typeface="Noto Sans CJK SC" pitchFamily="34" charset="0"/>
                <a:ea typeface="Noto Sans CJK SC" pitchFamily="34" charset="-122"/>
                <a:cs typeface="Noto Sans CJK SC" pitchFamily="34" charset="-120"/>
              </a:rPr>
              <a:t>MOSSGUARD</a:t>
            </a:r>
            <a:endParaRPr lang="en-US" sz="1000" dirty="0"/>
          </a:p>
        </p:txBody>
      </p:sp>
      <p:sp>
        <p:nvSpPr>
          <p:cNvPr id="8" name="Text 6"/>
          <p:cNvSpPr/>
          <p:nvPr/>
        </p:nvSpPr>
        <p:spPr>
          <a:xfrm>
            <a:off x="9875520" y="301752"/>
            <a:ext cx="1645920" cy="201168"/>
          </a:xfrm>
          <a:prstGeom prst="rect">
            <a:avLst/>
          </a:prstGeom>
          <a:noFill/>
          <a:ln/>
        </p:spPr>
        <p:txBody>
          <a:bodyPr wrap="square" lIns="0" tIns="0" rIns="0" bIns="0" rtlCol="0" anchor="ctr"/>
          <a:lstStyle/>
          <a:p>
            <a:pPr algn="r" indent="0" marL="0">
              <a:buNone/>
            </a:pPr>
            <a:r>
              <a:rPr lang="en-US" sz="900" dirty="0">
                <a:solidFill>
                  <a:srgbClr val="9CA3AF"/>
                </a:solidFill>
                <a:latin typeface="Noto Sans CJK SC" pitchFamily="34" charset="0"/>
                <a:ea typeface="Noto Sans CJK SC" pitchFamily="34" charset="-122"/>
                <a:cs typeface="Noto Sans CJK SC" pitchFamily="34" charset="-120"/>
              </a:rPr>
              <a:t>02 · PRODUCT</a:t>
            </a:r>
            <a:endParaRPr lang="en-US" sz="900" dirty="0"/>
          </a:p>
        </p:txBody>
      </p:sp>
      <p:sp>
        <p:nvSpPr>
          <p:cNvPr id="9" name="Text 7"/>
          <p:cNvSpPr/>
          <p:nvPr/>
        </p:nvSpPr>
        <p:spPr>
          <a:xfrm>
            <a:off x="566928" y="749808"/>
            <a:ext cx="10881360" cy="475488"/>
          </a:xfrm>
          <a:prstGeom prst="rect">
            <a:avLst/>
          </a:prstGeom>
          <a:noFill/>
          <a:ln/>
        </p:spPr>
        <p:txBody>
          <a:bodyPr wrap="square" lIns="0" tIns="0" rIns="0" bIns="0" rtlCol="0" anchor="ctr"/>
          <a:lstStyle/>
          <a:p>
            <a:pPr indent="0" marL="0">
              <a:buNone/>
            </a:pPr>
            <a:r>
              <a:rPr lang="en-US" sz="2500" b="1" dirty="0">
                <a:solidFill>
                  <a:srgbClr val="F8FAFC"/>
                </a:solidFill>
                <a:latin typeface="Noto Sans CJK SC" pitchFamily="34" charset="0"/>
                <a:ea typeface="Noto Sans CJK SC" pitchFamily="34" charset="-122"/>
                <a:cs typeface="Noto Sans CJK SC" pitchFamily="34" charset="-120"/>
              </a:rPr>
              <a:t>MossGuard: Pre-signing Intent Safety Layer for On-chain Agents</a:t>
            </a:r>
            <a:endParaRPr lang="en-US" sz="2500" dirty="0"/>
          </a:p>
        </p:txBody>
      </p:sp>
      <p:sp>
        <p:nvSpPr>
          <p:cNvPr id="10" name="Text 8"/>
          <p:cNvSpPr/>
          <p:nvPr/>
        </p:nvSpPr>
        <p:spPr>
          <a:xfrm>
            <a:off x="576072" y="1216152"/>
            <a:ext cx="10698480" cy="274320"/>
          </a:xfrm>
          <a:prstGeom prst="rect">
            <a:avLst/>
          </a:prstGeom>
          <a:noFill/>
          <a:ln/>
        </p:spPr>
        <p:txBody>
          <a:bodyPr wrap="square" lIns="0" tIns="0" rIns="0" bIns="0" rtlCol="0" anchor="ctr"/>
          <a:lstStyle/>
          <a:p>
            <a:pPr indent="0" marL="0">
              <a:buNone/>
            </a:pPr>
            <a:r>
              <a:rPr lang="en-US" sz="1150" dirty="0">
                <a:solidFill>
                  <a:srgbClr val="9CA3AF"/>
                </a:solidFill>
                <a:latin typeface="Noto Sans CJK SC" pitchFamily="34" charset="0"/>
                <a:ea typeface="Noto Sans CJK SC" pitchFamily="34" charset="-122"/>
                <a:cs typeface="Noto Sans CJK SC" pitchFamily="34" charset="-120"/>
              </a:rPr>
              <a:t>Turn what the user allowed into a confirmable, verifiable, explainable execution boundary.</a:t>
            </a:r>
            <a:endParaRPr lang="en-US" sz="1150" dirty="0"/>
          </a:p>
        </p:txBody>
      </p:sp>
      <p:sp>
        <p:nvSpPr>
          <p:cNvPr id="11" name="Shape 9"/>
          <p:cNvSpPr/>
          <p:nvPr/>
        </p:nvSpPr>
        <p:spPr>
          <a:xfrm>
            <a:off x="658368" y="1783080"/>
            <a:ext cx="3493008" cy="4187952"/>
          </a:xfrm>
          <a:prstGeom prst="roundRect">
            <a:avLst>
              <a:gd name="adj" fmla="val 2356"/>
            </a:avLst>
          </a:prstGeom>
          <a:solidFill>
            <a:srgbClr val="111126"/>
          </a:solidFill>
          <a:ln w="10160">
            <a:solidFill>
              <a:srgbClr val="292747"/>
            </a:solidFill>
            <a:prstDash val="solid"/>
          </a:ln>
          <a:effectLst>
            <a:outerShdw sx="100000" sy="100000" kx="0" ky="0" algn="bl" rotWithShape="0" blurRad="8.391745829378e+24" dist="5.0350474976268e+24" dir="2.09952e+30">
              <a:srgbClr val="000000">
                <a:alpha val="2.5000000000000004e+29"/>
              </a:srgbClr>
            </a:outerShdw>
          </a:effectLst>
        </p:spPr>
        <p:txBody>
          <a:bodyPr/>
          <a:p/>
        </p:txBody>
      </p:sp>
      <p:sp>
        <p:nvSpPr>
          <p:cNvPr id="12" name="Shape 10"/>
          <p:cNvSpPr/>
          <p:nvPr/>
        </p:nvSpPr>
        <p:spPr>
          <a:xfrm>
            <a:off x="960120" y="2057400"/>
            <a:ext cx="1243584" cy="292608"/>
          </a:xfrm>
          <a:prstGeom prst="roundRect">
            <a:avLst>
              <a:gd name="adj" fmla="val 25000"/>
            </a:avLst>
          </a:prstGeom>
          <a:solidFill>
            <a:srgbClr val="8B5CF6">
              <a:alpha val="18000"/>
            </a:srgbClr>
          </a:solidFill>
          <a:ln w="8890">
            <a:solidFill>
              <a:srgbClr val="8B5CF6">
                <a:alpha val="55000"/>
              </a:srgbClr>
            </a:solidFill>
            <a:prstDash val="solid"/>
          </a:ln>
        </p:spPr>
        <p:txBody>
          <a:bodyPr/>
          <a:p/>
        </p:txBody>
      </p:sp>
      <p:sp>
        <p:nvSpPr>
          <p:cNvPr id="13" name="Text 11"/>
          <p:cNvSpPr/>
          <p:nvPr/>
        </p:nvSpPr>
        <p:spPr>
          <a:xfrm>
            <a:off x="960120" y="2061972"/>
            <a:ext cx="1243584" cy="256032"/>
          </a:xfrm>
          <a:prstGeom prst="rect">
            <a:avLst/>
          </a:prstGeom>
          <a:noFill/>
          <a:ln/>
        </p:spPr>
        <p:txBody>
          <a:bodyPr wrap="square" lIns="0" tIns="0" rIns="0" bIns="0" rtlCol="0" anchor="ctr"/>
          <a:lstStyle/>
          <a:p>
            <a:pPr algn="ctr" indent="0" marL="0">
              <a:buNone/>
            </a:pPr>
            <a:r>
              <a:rPr lang="en-US" sz="850" b="1" dirty="0">
                <a:solidFill>
                  <a:srgbClr val="8B5CF6"/>
                </a:solidFill>
                <a:latin typeface="Noto Sans CJK SC" pitchFamily="34" charset="0"/>
                <a:ea typeface="Noto Sans CJK SC" pitchFamily="34" charset="-122"/>
                <a:cs typeface="Noto Sans CJK SC" pitchFamily="34" charset="-120"/>
              </a:rPr>
              <a:t>POSITIONING</a:t>
            </a:r>
            <a:endParaRPr lang="en-US" sz="850" dirty="0"/>
          </a:p>
        </p:txBody>
      </p:sp>
      <p:sp>
        <p:nvSpPr>
          <p:cNvPr id="14" name="Text 12"/>
          <p:cNvSpPr/>
          <p:nvPr/>
        </p:nvSpPr>
        <p:spPr>
          <a:xfrm>
            <a:off x="941832" y="2651760"/>
            <a:ext cx="2834640" cy="822960"/>
          </a:xfrm>
          <a:prstGeom prst="rect">
            <a:avLst/>
          </a:prstGeom>
          <a:noFill/>
          <a:ln/>
        </p:spPr>
        <p:txBody>
          <a:bodyPr wrap="square" lIns="0" tIns="0" rIns="0" bIns="0" rtlCol="0" anchor="t">
            <a:normAutofit/>
          </a:bodyPr>
          <a:lstStyle/>
          <a:p>
            <a:pPr algn="l" indent="0" marL="0">
              <a:buNone/>
            </a:pPr>
            <a:r>
              <a:t>On-chain AI Agent</a:t>
            </a:r>
            <a:endParaRPr lang="en-US" sz="2600" dirty="0"/>
          </a:p>
          <a:p>
            <a:r>
              <a:t>Intent Safety Layer</a:t>
            </a:r>
          </a:p>
        </p:txBody>
      </p:sp>
      <p:sp>
        <p:nvSpPr>
          <p:cNvPr id="15" name="Text 13"/>
          <p:cNvSpPr/>
          <p:nvPr/>
        </p:nvSpPr>
        <p:spPr>
          <a:xfrm>
            <a:off x="941832" y="3822192"/>
            <a:ext cx="2788920" cy="804672"/>
          </a:xfrm>
          <a:prstGeom prst="rect">
            <a:avLst/>
          </a:prstGeom>
          <a:noFill/>
          <a:ln/>
        </p:spPr>
        <p:txBody>
          <a:bodyPr wrap="square" lIns="0" tIns="0" rIns="0" bIns="0" rtlCol="0" anchor="t">
            <a:normAutofit/>
          </a:bodyPr>
          <a:lstStyle/>
          <a:p>
            <a:pPr algn="l" indent="0" marL="0">
              <a:buNone/>
            </a:pPr>
            <a:r>
              <a:rPr lang="en-US" sz="1220" dirty="0">
                <a:solidFill>
                  <a:srgbClr val="E5E7EB"/>
                </a:solidFill>
                <a:latin typeface="Noto Sans CJK SC" pitchFamily="34" charset="0"/>
                <a:ea typeface="Noto Sans CJK SC" pitchFamily="34" charset="-122"/>
                <a:cs typeface="Noto Sans CJK SC" pitchFamily="34" charset="-120"/>
              </a:rPr>
              <a:t>Before wallet signing, verify whether Confirmed Intent, Agent Action, and Moss Outcome are aligned.</a:t>
            </a:r>
            <a:endParaRPr lang="en-US" sz="1220" dirty="0"/>
          </a:p>
        </p:txBody>
      </p:sp>
      <p:sp>
        <p:nvSpPr>
          <p:cNvPr id="16" name="Text 14"/>
          <p:cNvSpPr/>
          <p:nvPr/>
        </p:nvSpPr>
        <p:spPr>
          <a:xfrm>
            <a:off x="941832" y="5010912"/>
            <a:ext cx="2779776" cy="329184"/>
          </a:xfrm>
          <a:prstGeom prst="rect">
            <a:avLst/>
          </a:prstGeom>
          <a:noFill/>
          <a:ln/>
        </p:spPr>
        <p:txBody>
          <a:bodyPr wrap="square" lIns="0" tIns="0" rIns="0" bIns="0" rtlCol="0" anchor="t">
            <a:normAutofit/>
          </a:bodyPr>
          <a:lstStyle/>
          <a:p>
            <a:pPr algn="l" indent="0" marL="0">
              <a:buNone/>
            </a:pPr>
            <a:r>
              <a:rPr lang="en-US" sz="950" dirty="0">
                <a:solidFill>
                  <a:srgbClr val="9CA3AF"/>
                </a:solidFill>
                <a:latin typeface="Noto Sans CJK SC" pitchFamily="34" charset="0"/>
                <a:ea typeface="Noto Sans CJK SC" pitchFamily="34" charset="-122"/>
                <a:cs typeface="Noto Sans CJK SC" pitchFamily="34" charset="-120"/>
              </a:rPr>
              <a:t>Not a wallet · Not a simulator · Not an LLM risk score</a:t>
            </a:r>
            <a:endParaRPr lang="en-US" sz="950" dirty="0"/>
          </a:p>
        </p:txBody>
      </p:sp>
      <p:sp>
        <p:nvSpPr>
          <p:cNvPr id="17" name="Shape 15"/>
          <p:cNvSpPr/>
          <p:nvPr/>
        </p:nvSpPr>
        <p:spPr>
          <a:xfrm>
            <a:off x="4370832" y="1783080"/>
            <a:ext cx="3493008" cy="4187952"/>
          </a:xfrm>
          <a:prstGeom prst="roundRect">
            <a:avLst>
              <a:gd name="adj" fmla="val 2356"/>
            </a:avLst>
          </a:prstGeom>
          <a:solidFill>
            <a:srgbClr val="0D0D1C"/>
          </a:solidFill>
          <a:ln w="10160">
            <a:solidFill>
              <a:srgbClr val="292747"/>
            </a:solidFill>
            <a:prstDash val="solid"/>
          </a:ln>
          <a:effectLst>
            <a:outerShdw sx="100000" sy="100000" kx="0" ky="0" algn="bl" rotWithShape="0" blurRad="1.0657517203310059e+29" dist="6.3945103219860365e+28" dir="1.259712e+35">
              <a:srgbClr val="000000">
                <a:alpha val="2.5000000000000004e+34"/>
              </a:srgbClr>
            </a:outerShdw>
          </a:effectLst>
        </p:spPr>
        <p:txBody>
          <a:bodyPr/>
          <a:p/>
        </p:txBody>
      </p:sp>
      <p:sp>
        <p:nvSpPr>
          <p:cNvPr id="18" name="Shape 16"/>
          <p:cNvSpPr/>
          <p:nvPr/>
        </p:nvSpPr>
        <p:spPr>
          <a:xfrm>
            <a:off x="4672584" y="2057400"/>
            <a:ext cx="822960" cy="292608"/>
          </a:xfrm>
          <a:prstGeom prst="roundRect">
            <a:avLst>
              <a:gd name="adj" fmla="val 25000"/>
            </a:avLst>
          </a:prstGeom>
          <a:solidFill>
            <a:srgbClr val="22D3EE">
              <a:alpha val="16000"/>
            </a:srgbClr>
          </a:solidFill>
          <a:ln w="8890">
            <a:solidFill>
              <a:srgbClr val="22D3EE">
                <a:alpha val="55000"/>
              </a:srgbClr>
            </a:solidFill>
            <a:prstDash val="solid"/>
          </a:ln>
        </p:spPr>
        <p:txBody>
          <a:bodyPr/>
          <a:p/>
        </p:txBody>
      </p:sp>
      <p:sp>
        <p:nvSpPr>
          <p:cNvPr id="19" name="Text 17"/>
          <p:cNvSpPr/>
          <p:nvPr/>
        </p:nvSpPr>
        <p:spPr>
          <a:xfrm>
            <a:off x="4672584" y="2061972"/>
            <a:ext cx="822960" cy="256032"/>
          </a:xfrm>
          <a:prstGeom prst="rect">
            <a:avLst/>
          </a:prstGeom>
          <a:noFill/>
          <a:ln/>
        </p:spPr>
        <p:txBody>
          <a:bodyPr wrap="square" lIns="0" tIns="0" rIns="0" bIns="0" rtlCol="0" anchor="ctr"/>
          <a:lstStyle/>
          <a:p>
            <a:pPr algn="ctr" indent="0" marL="0">
              <a:buNone/>
            </a:pPr>
            <a:r>
              <a:rPr lang="en-US" sz="850" b="1" dirty="0">
                <a:solidFill>
                  <a:srgbClr val="22D3EE"/>
                </a:solidFill>
                <a:latin typeface="Noto Sans CJK SC" pitchFamily="34" charset="0"/>
                <a:ea typeface="Noto Sans CJK SC" pitchFamily="34" charset="-122"/>
                <a:cs typeface="Noto Sans CJK SC" pitchFamily="34" charset="-120"/>
              </a:rPr>
              <a:t>USERS</a:t>
            </a:r>
            <a:endParaRPr lang="en-US" sz="850" dirty="0"/>
          </a:p>
        </p:txBody>
      </p:sp>
      <p:sp>
        <p:nvSpPr>
          <p:cNvPr id="20" name="Shape 18"/>
          <p:cNvSpPr/>
          <p:nvPr/>
        </p:nvSpPr>
        <p:spPr>
          <a:xfrm>
            <a:off x="4681728" y="2670048"/>
            <a:ext cx="310896" cy="310896"/>
          </a:xfrm>
          <a:prstGeom prst="ellipse">
            <a:avLst/>
          </a:prstGeom>
          <a:solidFill>
            <a:srgbClr val="8B5CF6">
              <a:alpha val="95000"/>
            </a:srgbClr>
          </a:solidFill>
          <a:ln w="12700">
            <a:solidFill>
              <a:srgbClr val="8B5CF6">
                <a:alpha val="70000"/>
              </a:srgbClr>
            </a:solidFill>
            <a:prstDash val="solid"/>
          </a:ln>
        </p:spPr>
        <p:txBody>
          <a:bodyPr/>
          <a:p/>
        </p:txBody>
      </p:sp>
      <p:sp>
        <p:nvSpPr>
          <p:cNvPr id="21" name="Text 19"/>
          <p:cNvSpPr/>
          <p:nvPr/>
        </p:nvSpPr>
        <p:spPr>
          <a:xfrm>
            <a:off x="5138928" y="2651760"/>
            <a:ext cx="2240280" cy="237744"/>
          </a:xfrm>
          <a:prstGeom prst="rect">
            <a:avLst/>
          </a:prstGeom>
          <a:noFill/>
          <a:ln/>
        </p:spPr>
        <p:txBody>
          <a:bodyPr wrap="square" lIns="0" tIns="0" rIns="0" bIns="0" rtlCol="0" anchor="t">
            <a:normAutofit/>
          </a:bodyPr>
          <a:lstStyle/>
          <a:p>
            <a:pPr algn="l" indent="0" marL="0">
              <a:buNone/>
            </a:pPr>
            <a:r>
              <a:rPr lang="en-US" sz="1220" b="1" dirty="0">
                <a:solidFill>
                  <a:srgbClr val="F8FAFC"/>
                </a:solidFill>
                <a:latin typeface="Noto Sans CJK SC" pitchFamily="34" charset="0"/>
                <a:ea typeface="Noto Sans CJK SC" pitchFamily="34" charset="-122"/>
                <a:cs typeface="Noto Sans CJK SC" pitchFamily="34" charset="-120"/>
              </a:rPr>
              <a:t>On-chain Agent Users</a:t>
            </a:r>
            <a:endParaRPr lang="en-US" sz="1220" dirty="0"/>
          </a:p>
        </p:txBody>
      </p:sp>
      <p:sp>
        <p:nvSpPr>
          <p:cNvPr id="22" name="Text 20"/>
          <p:cNvSpPr/>
          <p:nvPr/>
        </p:nvSpPr>
        <p:spPr>
          <a:xfrm>
            <a:off x="5138928" y="2926080"/>
            <a:ext cx="2212848" cy="365760"/>
          </a:xfrm>
          <a:prstGeom prst="rect">
            <a:avLst/>
          </a:prstGeom>
          <a:noFill/>
          <a:ln/>
        </p:spPr>
        <p:txBody>
          <a:bodyPr wrap="square" lIns="0" tIns="0" rIns="0" bIns="0" rtlCol="0" anchor="t">
            <a:normAutofit/>
          </a:bodyPr>
          <a:lstStyle/>
          <a:p>
            <a:pPr algn="l" indent="0" marL="0">
              <a:buNone/>
            </a:pPr>
            <a:r>
              <a:rPr lang="en-US" sz="950" dirty="0">
                <a:solidFill>
                  <a:srgbClr val="9CA3AF"/>
                </a:solidFill>
                <a:latin typeface="Noto Sans CJK SC" pitchFamily="34" charset="0"/>
                <a:ea typeface="Noto Sans CJK SC" pitchFamily="34" charset="-122"/>
                <a:cs typeface="Noto Sans CJK SC" pitchFamily="34" charset="-120"/>
              </a:rPr>
              <a:t>Use natural language while retaining final signing control</a:t>
            </a:r>
            <a:endParaRPr lang="en-US" sz="950" dirty="0"/>
          </a:p>
        </p:txBody>
      </p:sp>
      <p:sp>
        <p:nvSpPr>
          <p:cNvPr id="23" name="Shape 21"/>
          <p:cNvSpPr/>
          <p:nvPr/>
        </p:nvSpPr>
        <p:spPr>
          <a:xfrm>
            <a:off x="4681728" y="3584448"/>
            <a:ext cx="310896" cy="310896"/>
          </a:xfrm>
          <a:prstGeom prst="ellipse">
            <a:avLst/>
          </a:prstGeom>
          <a:solidFill>
            <a:srgbClr val="22D3EE">
              <a:alpha val="95000"/>
            </a:srgbClr>
          </a:solidFill>
          <a:ln w="12700">
            <a:solidFill>
              <a:srgbClr val="22D3EE">
                <a:alpha val="70000"/>
              </a:srgbClr>
            </a:solidFill>
            <a:prstDash val="solid"/>
          </a:ln>
        </p:spPr>
        <p:txBody>
          <a:bodyPr/>
          <a:p/>
        </p:txBody>
      </p:sp>
      <p:sp>
        <p:nvSpPr>
          <p:cNvPr id="24" name="Text 22"/>
          <p:cNvSpPr/>
          <p:nvPr/>
        </p:nvSpPr>
        <p:spPr>
          <a:xfrm>
            <a:off x="5138928" y="3566160"/>
            <a:ext cx="2240280" cy="237744"/>
          </a:xfrm>
          <a:prstGeom prst="rect">
            <a:avLst/>
          </a:prstGeom>
          <a:noFill/>
          <a:ln/>
        </p:spPr>
        <p:txBody>
          <a:bodyPr wrap="square" lIns="0" tIns="0" rIns="0" bIns="0" rtlCol="0" anchor="t">
            <a:normAutofit/>
          </a:bodyPr>
          <a:lstStyle/>
          <a:p>
            <a:pPr algn="l" indent="0" marL="0">
              <a:buNone/>
            </a:pPr>
            <a:r>
              <a:rPr lang="en-US" sz="1220" b="1" dirty="0">
                <a:solidFill>
                  <a:srgbClr val="F8FAFC"/>
                </a:solidFill>
                <a:latin typeface="Noto Sans CJK SC" pitchFamily="34" charset="0"/>
                <a:ea typeface="Noto Sans CJK SC" pitchFamily="34" charset="-122"/>
                <a:cs typeface="Noto Sans CJK SC" pitchFamily="34" charset="-120"/>
              </a:rPr>
              <a:t>Agent Builder</a:t>
            </a:r>
            <a:endParaRPr lang="en-US" sz="1220" dirty="0"/>
          </a:p>
        </p:txBody>
      </p:sp>
      <p:sp>
        <p:nvSpPr>
          <p:cNvPr id="25" name="Text 23"/>
          <p:cNvSpPr/>
          <p:nvPr/>
        </p:nvSpPr>
        <p:spPr>
          <a:xfrm>
            <a:off x="5138928" y="3840480"/>
            <a:ext cx="2212848" cy="365760"/>
          </a:xfrm>
          <a:prstGeom prst="rect">
            <a:avLst/>
          </a:prstGeom>
          <a:noFill/>
          <a:ln/>
        </p:spPr>
        <p:txBody>
          <a:bodyPr wrap="square" lIns="0" tIns="0" rIns="0" bIns="0" rtlCol="0" anchor="t">
            <a:normAutofit/>
          </a:bodyPr>
          <a:lstStyle/>
          <a:p>
            <a:pPr algn="l" indent="0" marL="0">
              <a:buNone/>
            </a:pPr>
            <a:r>
              <a:rPr lang="en-US" sz="950" dirty="0">
                <a:solidFill>
                  <a:srgbClr val="9CA3AF"/>
                </a:solidFill>
                <a:latin typeface="Noto Sans CJK SC" pitchFamily="34" charset="0"/>
                <a:ea typeface="Noto Sans CJK SC" pitchFamily="34" charset="-122"/>
                <a:cs typeface="Noto Sans CJK SC" pitchFamily="34" charset="-120"/>
              </a:rPr>
              <a:t>Add a safety boundary for DeFi / wallet agents</a:t>
            </a:r>
            <a:endParaRPr lang="en-US" sz="950" dirty="0"/>
          </a:p>
        </p:txBody>
      </p:sp>
      <p:sp>
        <p:nvSpPr>
          <p:cNvPr id="26" name="Shape 24"/>
          <p:cNvSpPr/>
          <p:nvPr/>
        </p:nvSpPr>
        <p:spPr>
          <a:xfrm>
            <a:off x="4681728" y="4498848"/>
            <a:ext cx="310896" cy="310896"/>
          </a:xfrm>
          <a:prstGeom prst="ellipse">
            <a:avLst/>
          </a:prstGeom>
          <a:solidFill>
            <a:srgbClr val="22C55E">
              <a:alpha val="95000"/>
            </a:srgbClr>
          </a:solidFill>
          <a:ln w="12700">
            <a:solidFill>
              <a:srgbClr val="22C55E">
                <a:alpha val="70000"/>
              </a:srgbClr>
            </a:solidFill>
            <a:prstDash val="solid"/>
          </a:ln>
        </p:spPr>
        <p:txBody>
          <a:bodyPr/>
          <a:p/>
        </p:txBody>
      </p:sp>
      <p:sp>
        <p:nvSpPr>
          <p:cNvPr id="27" name="Text 25"/>
          <p:cNvSpPr/>
          <p:nvPr/>
        </p:nvSpPr>
        <p:spPr>
          <a:xfrm>
            <a:off x="5138928" y="4480560"/>
            <a:ext cx="2240280" cy="237744"/>
          </a:xfrm>
          <a:prstGeom prst="rect">
            <a:avLst/>
          </a:prstGeom>
          <a:noFill/>
          <a:ln/>
        </p:spPr>
        <p:txBody>
          <a:bodyPr wrap="square" lIns="0" tIns="0" rIns="0" bIns="0" rtlCol="0" anchor="t">
            <a:normAutofit/>
          </a:bodyPr>
          <a:lstStyle/>
          <a:p>
            <a:pPr algn="l" indent="0" marL="0">
              <a:buNone/>
            </a:pPr>
            <a:r>
              <a:rPr lang="en-US" sz="1220" b="1" dirty="0">
                <a:solidFill>
                  <a:srgbClr val="F8FAFC"/>
                </a:solidFill>
                <a:latin typeface="Noto Sans CJK SC" pitchFamily="34" charset="0"/>
                <a:ea typeface="Noto Sans CJK SC" pitchFamily="34" charset="-122"/>
                <a:cs typeface="Noto Sans CJK SC" pitchFamily="34" charset="-120"/>
              </a:rPr>
              <a:t>Wallets &amp; Infrastructure</a:t>
            </a:r>
            <a:endParaRPr lang="en-US" sz="1220" dirty="0"/>
          </a:p>
        </p:txBody>
      </p:sp>
      <p:sp>
        <p:nvSpPr>
          <p:cNvPr id="28" name="Text 26"/>
          <p:cNvSpPr/>
          <p:nvPr/>
        </p:nvSpPr>
        <p:spPr>
          <a:xfrm>
            <a:off x="5138928" y="4754880"/>
            <a:ext cx="2212848" cy="365760"/>
          </a:xfrm>
          <a:prstGeom prst="rect">
            <a:avLst/>
          </a:prstGeom>
          <a:noFill/>
          <a:ln/>
        </p:spPr>
        <p:txBody>
          <a:bodyPr wrap="square" lIns="0" tIns="0" rIns="0" bIns="0" rtlCol="0" anchor="t">
            <a:normAutofit/>
          </a:bodyPr>
          <a:lstStyle/>
          <a:p>
            <a:pPr algn="l" indent="0" marL="0">
              <a:buNone/>
            </a:pPr>
            <a:r>
              <a:rPr lang="en-US" sz="950" dirty="0">
                <a:solidFill>
                  <a:srgbClr val="9CA3AF"/>
                </a:solidFill>
                <a:latin typeface="Noto Sans CJK SC" pitchFamily="34" charset="0"/>
                <a:ea typeface="Noto Sans CJK SC" pitchFamily="34" charset="-122"/>
                <a:cs typeface="Noto Sans CJK SC" pitchFamily="34" charset="-120"/>
              </a:rPr>
              <a:t>Add a verification layer between agents and signers</a:t>
            </a:r>
            <a:endParaRPr lang="en-US" sz="950" dirty="0"/>
          </a:p>
        </p:txBody>
      </p:sp>
      <p:sp>
        <p:nvSpPr>
          <p:cNvPr id="29" name="Shape 27"/>
          <p:cNvSpPr/>
          <p:nvPr/>
        </p:nvSpPr>
        <p:spPr>
          <a:xfrm>
            <a:off x="8083296" y="1783080"/>
            <a:ext cx="3456432" cy="4187952"/>
          </a:xfrm>
          <a:prstGeom prst="roundRect">
            <a:avLst>
              <a:gd name="adj" fmla="val 2381"/>
            </a:avLst>
          </a:prstGeom>
          <a:solidFill>
            <a:srgbClr val="111126"/>
          </a:solidFill>
          <a:ln w="10160">
            <a:solidFill>
              <a:srgbClr val="292747"/>
            </a:solidFill>
            <a:prstDash val="solid"/>
          </a:ln>
          <a:effectLst>
            <a:outerShdw sx="100000" sy="100000" kx="0" ky="0" algn="bl" rotWithShape="0" blurRad="1.3535046848203775e+33" dist="8.121028108922266e+32" dir="7.558272e+39">
              <a:srgbClr val="000000">
                <a:alpha val="2.5000000000000004e+39"/>
              </a:srgbClr>
            </a:outerShdw>
          </a:effectLst>
        </p:spPr>
        <p:txBody>
          <a:bodyPr/>
          <a:p/>
        </p:txBody>
      </p:sp>
      <p:sp>
        <p:nvSpPr>
          <p:cNvPr id="30" name="Shape 28"/>
          <p:cNvSpPr/>
          <p:nvPr/>
        </p:nvSpPr>
        <p:spPr>
          <a:xfrm>
            <a:off x="8394192" y="2057400"/>
            <a:ext cx="786384" cy="292608"/>
          </a:xfrm>
          <a:prstGeom prst="roundRect">
            <a:avLst>
              <a:gd name="adj" fmla="val 25000"/>
            </a:avLst>
          </a:prstGeom>
          <a:solidFill>
            <a:srgbClr val="22C55E">
              <a:alpha val="16000"/>
            </a:srgbClr>
          </a:solidFill>
          <a:ln w="8890">
            <a:solidFill>
              <a:srgbClr val="22C55E">
                <a:alpha val="55000"/>
              </a:srgbClr>
            </a:solidFill>
            <a:prstDash val="solid"/>
          </a:ln>
        </p:spPr>
        <p:txBody>
          <a:bodyPr/>
          <a:p/>
        </p:txBody>
      </p:sp>
      <p:sp>
        <p:nvSpPr>
          <p:cNvPr id="31" name="Text 29"/>
          <p:cNvSpPr/>
          <p:nvPr/>
        </p:nvSpPr>
        <p:spPr>
          <a:xfrm>
            <a:off x="8394192" y="2061972"/>
            <a:ext cx="786384" cy="256032"/>
          </a:xfrm>
          <a:prstGeom prst="rect">
            <a:avLst/>
          </a:prstGeom>
          <a:noFill/>
          <a:ln/>
        </p:spPr>
        <p:txBody>
          <a:bodyPr wrap="square" lIns="0" tIns="0" rIns="0" bIns="0" rtlCol="0" anchor="ctr"/>
          <a:lstStyle/>
          <a:p>
            <a:pPr algn="ctr" indent="0" marL="0">
              <a:buNone/>
            </a:pPr>
            <a:r>
              <a:rPr lang="en-US" sz="850" b="1" dirty="0">
                <a:solidFill>
                  <a:srgbClr val="22C55E"/>
                </a:solidFill>
                <a:latin typeface="Noto Sans CJK SC" pitchFamily="34" charset="0"/>
                <a:ea typeface="Noto Sans CJK SC" pitchFamily="34" charset="-122"/>
                <a:cs typeface="Noto Sans CJK SC" pitchFamily="34" charset="-120"/>
              </a:rPr>
              <a:t>VALUE</a:t>
            </a:r>
            <a:endParaRPr lang="en-US" sz="850" dirty="0"/>
          </a:p>
        </p:txBody>
      </p:sp>
      <p:sp>
        <p:nvSpPr>
          <p:cNvPr id="32" name="Text 30"/>
          <p:cNvSpPr/>
          <p:nvPr/>
        </p:nvSpPr>
        <p:spPr>
          <a:xfrm>
            <a:off x="8375904" y="2670048"/>
            <a:ext cx="320040" cy="292608"/>
          </a:xfrm>
          <a:prstGeom prst="rect">
            <a:avLst/>
          </a:prstGeom>
          <a:noFill/>
          <a:ln/>
        </p:spPr>
        <p:txBody>
          <a:bodyPr wrap="square" lIns="0" tIns="0" rIns="0" bIns="0" rtlCol="0" anchor="t">
            <a:normAutofit/>
          </a:bodyPr>
          <a:lstStyle/>
          <a:p>
            <a:pPr algn="ctr" indent="0" marL="0">
              <a:buNone/>
            </a:pPr>
            <a:r>
              <a:rPr lang="en-US" sz="1500" b="1" dirty="0">
                <a:solidFill>
                  <a:srgbClr val="22C55E"/>
                </a:solidFill>
                <a:latin typeface="Noto Sans CJK SC" pitchFamily="34" charset="0"/>
                <a:ea typeface="Noto Sans CJK SC" pitchFamily="34" charset="-122"/>
                <a:cs typeface="Noto Sans CJK SC" pitchFamily="34" charset="-120"/>
              </a:rPr>
              <a:t>✓</a:t>
            </a:r>
            <a:endParaRPr lang="en-US" sz="1500" dirty="0"/>
          </a:p>
        </p:txBody>
      </p:sp>
      <p:sp>
        <p:nvSpPr>
          <p:cNvPr id="33" name="Text 31"/>
          <p:cNvSpPr/>
          <p:nvPr/>
        </p:nvSpPr>
        <p:spPr>
          <a:xfrm>
            <a:off x="8796528" y="2651760"/>
            <a:ext cx="2176272" cy="237744"/>
          </a:xfrm>
          <a:prstGeom prst="rect">
            <a:avLst/>
          </a:prstGeom>
          <a:noFill/>
          <a:ln/>
        </p:spPr>
        <p:txBody>
          <a:bodyPr wrap="square" lIns="0" tIns="0" rIns="0" bIns="0" rtlCol="0" anchor="t">
            <a:normAutofit/>
          </a:bodyPr>
          <a:lstStyle/>
          <a:p>
            <a:pPr algn="l" indent="0" marL="0">
              <a:buNone/>
            </a:pPr>
            <a:r>
              <a:rPr lang="en-US" sz="1220" b="1" dirty="0">
                <a:solidFill>
                  <a:srgbClr val="F8FAFC"/>
                </a:solidFill>
                <a:latin typeface="Noto Sans CJK SC" pitchFamily="34" charset="0"/>
                <a:ea typeface="Noto Sans CJK SC" pitchFamily="34" charset="-122"/>
                <a:cs typeface="Noto Sans CJK SC" pitchFamily="34" charset="-120"/>
              </a:rPr>
              <a:t>Pre-signing block</a:t>
            </a:r>
            <a:endParaRPr lang="en-US" sz="1220" dirty="0"/>
          </a:p>
        </p:txBody>
      </p:sp>
      <p:sp>
        <p:nvSpPr>
          <p:cNvPr id="34" name="Text 32"/>
          <p:cNvSpPr/>
          <p:nvPr/>
        </p:nvSpPr>
        <p:spPr>
          <a:xfrm>
            <a:off x="8796528" y="2926080"/>
            <a:ext cx="2176272" cy="365760"/>
          </a:xfrm>
          <a:prstGeom prst="rect">
            <a:avLst/>
          </a:prstGeom>
          <a:noFill/>
          <a:ln/>
        </p:spPr>
        <p:txBody>
          <a:bodyPr wrap="square" lIns="0" tIns="0" rIns="0" bIns="0" rtlCol="0" anchor="t">
            <a:normAutofit/>
          </a:bodyPr>
          <a:lstStyle/>
          <a:p>
            <a:pPr algn="l" indent="0" marL="0">
              <a:buNone/>
            </a:pPr>
            <a:r>
              <a:rPr lang="en-US" sz="950" dirty="0">
                <a:solidFill>
                  <a:srgbClr val="9CA3AF"/>
                </a:solidFill>
                <a:latin typeface="Noto Sans CJK SC" pitchFamily="34" charset="0"/>
                <a:ea typeface="Noto Sans CJK SC" pitchFamily="34" charset="-122"/>
                <a:cs typeface="Noto Sans CJK SC" pitchFamily="34" charset="-120"/>
              </a:rPr>
              <a:t>Unsafe transactions never reach the wallet</a:t>
            </a:r>
            <a:endParaRPr lang="en-US" sz="950" dirty="0"/>
          </a:p>
        </p:txBody>
      </p:sp>
      <p:sp>
        <p:nvSpPr>
          <p:cNvPr id="35" name="Text 33"/>
          <p:cNvSpPr/>
          <p:nvPr/>
        </p:nvSpPr>
        <p:spPr>
          <a:xfrm>
            <a:off x="8375904" y="3584448"/>
            <a:ext cx="320040" cy="292608"/>
          </a:xfrm>
          <a:prstGeom prst="rect">
            <a:avLst/>
          </a:prstGeom>
          <a:noFill/>
          <a:ln/>
        </p:spPr>
        <p:txBody>
          <a:bodyPr wrap="square" lIns="0" tIns="0" rIns="0" bIns="0" rtlCol="0" anchor="t">
            <a:normAutofit/>
          </a:bodyPr>
          <a:lstStyle/>
          <a:p>
            <a:pPr algn="ctr" indent="0" marL="0">
              <a:buNone/>
            </a:pPr>
            <a:r>
              <a:rPr lang="en-US" sz="1500" b="1" dirty="0">
                <a:solidFill>
                  <a:srgbClr val="22C55E"/>
                </a:solidFill>
                <a:latin typeface="Noto Sans CJK SC" pitchFamily="34" charset="0"/>
                <a:ea typeface="Noto Sans CJK SC" pitchFamily="34" charset="-122"/>
                <a:cs typeface="Noto Sans CJK SC" pitchFamily="34" charset="-120"/>
              </a:rPr>
              <a:t>✓</a:t>
            </a:r>
            <a:endParaRPr lang="en-US" sz="1500" dirty="0"/>
          </a:p>
        </p:txBody>
      </p:sp>
      <p:sp>
        <p:nvSpPr>
          <p:cNvPr id="36" name="Text 34"/>
          <p:cNvSpPr/>
          <p:nvPr/>
        </p:nvSpPr>
        <p:spPr>
          <a:xfrm>
            <a:off x="8796528" y="3566160"/>
            <a:ext cx="2176272" cy="237744"/>
          </a:xfrm>
          <a:prstGeom prst="rect">
            <a:avLst/>
          </a:prstGeom>
          <a:noFill/>
          <a:ln/>
        </p:spPr>
        <p:txBody>
          <a:bodyPr wrap="square" lIns="0" tIns="0" rIns="0" bIns="0" rtlCol="0" anchor="t">
            <a:normAutofit/>
          </a:bodyPr>
          <a:lstStyle/>
          <a:p>
            <a:pPr algn="l" indent="0" marL="0">
              <a:buNone/>
            </a:pPr>
            <a:r>
              <a:rPr lang="en-US" sz="1220" b="1" dirty="0">
                <a:solidFill>
                  <a:srgbClr val="F8FAFC"/>
                </a:solidFill>
                <a:latin typeface="Noto Sans CJK SC" pitchFamily="34" charset="0"/>
                <a:ea typeface="Noto Sans CJK SC" pitchFamily="34" charset="-122"/>
                <a:cs typeface="Noto Sans CJK SC" pitchFamily="34" charset="-120"/>
              </a:rPr>
              <a:t>Explainable Diff</a:t>
            </a:r>
            <a:endParaRPr lang="en-US" sz="1220" dirty="0"/>
          </a:p>
        </p:txBody>
      </p:sp>
      <p:sp>
        <p:nvSpPr>
          <p:cNvPr id="37" name="Text 35"/>
          <p:cNvSpPr/>
          <p:nvPr/>
        </p:nvSpPr>
        <p:spPr>
          <a:xfrm>
            <a:off x="8796528" y="3840480"/>
            <a:ext cx="2176272" cy="365760"/>
          </a:xfrm>
          <a:prstGeom prst="rect">
            <a:avLst/>
          </a:prstGeom>
          <a:noFill/>
          <a:ln/>
        </p:spPr>
        <p:txBody>
          <a:bodyPr wrap="square" lIns="0" tIns="0" rIns="0" bIns="0" rtlCol="0" anchor="t">
            <a:normAutofit/>
          </a:bodyPr>
          <a:lstStyle/>
          <a:p>
            <a:pPr algn="l" indent="0" marL="0">
              <a:buNone/>
            </a:pPr>
            <a:r>
              <a:rPr lang="en-US" sz="950" dirty="0">
                <a:solidFill>
                  <a:srgbClr val="9CA3AF"/>
                </a:solidFill>
                <a:latin typeface="Noto Sans CJK SC" pitchFamily="34" charset="0"/>
                <a:ea typeface="Noto Sans CJK SC" pitchFamily="34" charset="-122"/>
                <a:cs typeface="Noto Sans CJK SC" pitchFamily="34" charset="-120"/>
              </a:rPr>
              <a:t>Show exactly where drift occurred</a:t>
            </a:r>
            <a:endParaRPr lang="en-US" sz="950" dirty="0"/>
          </a:p>
        </p:txBody>
      </p:sp>
      <p:sp>
        <p:nvSpPr>
          <p:cNvPr id="38" name="Text 36"/>
          <p:cNvSpPr/>
          <p:nvPr/>
        </p:nvSpPr>
        <p:spPr>
          <a:xfrm>
            <a:off x="8375904" y="4498848"/>
            <a:ext cx="320040" cy="292608"/>
          </a:xfrm>
          <a:prstGeom prst="rect">
            <a:avLst/>
          </a:prstGeom>
          <a:noFill/>
          <a:ln/>
        </p:spPr>
        <p:txBody>
          <a:bodyPr wrap="square" lIns="0" tIns="0" rIns="0" bIns="0" rtlCol="0" anchor="t">
            <a:normAutofit/>
          </a:bodyPr>
          <a:lstStyle/>
          <a:p>
            <a:pPr algn="ctr" indent="0" marL="0">
              <a:buNone/>
            </a:pPr>
            <a:r>
              <a:rPr lang="en-US" sz="1500" b="1" dirty="0">
                <a:solidFill>
                  <a:srgbClr val="22C55E"/>
                </a:solidFill>
                <a:latin typeface="Noto Sans CJK SC" pitchFamily="34" charset="0"/>
                <a:ea typeface="Noto Sans CJK SC" pitchFamily="34" charset="-122"/>
                <a:cs typeface="Noto Sans CJK SC" pitchFamily="34" charset="-120"/>
              </a:rPr>
              <a:t>✓</a:t>
            </a:r>
            <a:endParaRPr lang="en-US" sz="1500" dirty="0"/>
          </a:p>
        </p:txBody>
      </p:sp>
      <p:sp>
        <p:nvSpPr>
          <p:cNvPr id="39" name="Text 37"/>
          <p:cNvSpPr/>
          <p:nvPr/>
        </p:nvSpPr>
        <p:spPr>
          <a:xfrm>
            <a:off x="8796528" y="4480560"/>
            <a:ext cx="2176272" cy="237744"/>
          </a:xfrm>
          <a:prstGeom prst="rect">
            <a:avLst/>
          </a:prstGeom>
          <a:noFill/>
          <a:ln/>
        </p:spPr>
        <p:txBody>
          <a:bodyPr wrap="square" lIns="0" tIns="0" rIns="0" bIns="0" rtlCol="0" anchor="t">
            <a:normAutofit/>
          </a:bodyPr>
          <a:lstStyle/>
          <a:p>
            <a:pPr algn="l" indent="0" marL="0">
              <a:buNone/>
            </a:pPr>
            <a:r>
              <a:rPr lang="en-US" sz="1220" b="1" dirty="0">
                <a:solidFill>
                  <a:srgbClr val="F8FAFC"/>
                </a:solidFill>
                <a:latin typeface="Noto Sans CJK SC" pitchFamily="34" charset="0"/>
                <a:ea typeface="Noto Sans CJK SC" pitchFamily="34" charset="-122"/>
                <a:cs typeface="Noto Sans CJK SC" pitchFamily="34" charset="-120"/>
              </a:rPr>
              <a:t>Integration-ready</a:t>
            </a:r>
            <a:endParaRPr lang="en-US" sz="1220" dirty="0"/>
          </a:p>
        </p:txBody>
      </p:sp>
      <p:sp>
        <p:nvSpPr>
          <p:cNvPr id="40" name="Text 38"/>
          <p:cNvSpPr/>
          <p:nvPr/>
        </p:nvSpPr>
        <p:spPr>
          <a:xfrm>
            <a:off x="8796528" y="4754880"/>
            <a:ext cx="2176272" cy="365760"/>
          </a:xfrm>
          <a:prstGeom prst="rect">
            <a:avLst/>
          </a:prstGeom>
          <a:noFill/>
          <a:ln/>
        </p:spPr>
        <p:txBody>
          <a:bodyPr wrap="square" lIns="0" tIns="0" rIns="0" bIns="0" rtlCol="0" anchor="t">
            <a:normAutofit/>
          </a:bodyPr>
          <a:lstStyle/>
          <a:p>
            <a:pPr algn="l" indent="0" marL="0">
              <a:buNone/>
            </a:pPr>
            <a:r>
              <a:rPr lang="en-US" sz="950" dirty="0">
                <a:solidFill>
                  <a:srgbClr val="9CA3AF"/>
                </a:solidFill>
                <a:latin typeface="Noto Sans CJK SC" pitchFamily="34" charset="0"/>
                <a:ea typeface="Noto Sans CJK SC" pitchFamily="34" charset="-122"/>
                <a:cs typeface="Noto Sans CJK SC" pitchFamily="34" charset="-120"/>
              </a:rPr>
              <a:t>SDK / API / MCP Guard / Wallet Layer</a:t>
            </a:r>
            <a:endParaRPr lang="en-US" sz="950" dirty="0"/>
          </a:p>
        </p:txBody>
      </p:sp>
      <p:sp>
        <p:nvSpPr>
          <p:cNvPr id="41" name="Shape 39"/>
          <p:cNvSpPr/>
          <p:nvPr/>
        </p:nvSpPr>
        <p:spPr>
          <a:xfrm>
            <a:off x="548640" y="6446520"/>
            <a:ext cx="11064240" cy="0"/>
          </a:xfrm>
          <a:prstGeom prst="line">
            <a:avLst/>
          </a:prstGeom>
          <a:noFill/>
          <a:ln w="7620">
            <a:solidFill>
              <a:srgbClr val="292747">
                <a:alpha val="70000"/>
              </a:srgbClr>
            </a:solidFill>
            <a:prstDash val="solid"/>
          </a:ln>
        </p:spPr>
        <p:txBody>
          <a:bodyPr/>
          <a:p/>
        </p:txBody>
      </p:sp>
      <p:sp>
        <p:nvSpPr>
          <p:cNvPr id="42" name="Text 40"/>
          <p:cNvSpPr/>
          <p:nvPr/>
        </p:nvSpPr>
        <p:spPr>
          <a:xfrm>
            <a:off x="576072" y="6492240"/>
            <a:ext cx="4023360" cy="155448"/>
          </a:xfrm>
          <a:prstGeom prst="rect">
            <a:avLst/>
          </a:prstGeom>
          <a:noFill/>
          <a:ln/>
        </p:spPr>
        <p:txBody>
          <a:bodyPr wrap="square" lIns="0" tIns="0" rIns="0" bIns="0" rtlCol="0" anchor="ctr"/>
          <a:lstStyle/>
          <a:p>
            <a:pPr indent="0" marL="0">
              <a:buNone/>
            </a:pPr>
            <a:r>
              <a:rPr lang="en-US" sz="760" dirty="0">
                <a:solidFill>
                  <a:srgbClr val="6B7280"/>
                </a:solidFill>
                <a:latin typeface="Noto Sans CJK SC" pitchFamily="34" charset="0"/>
                <a:ea typeface="Noto Sans CJK SC" pitchFamily="34" charset="-122"/>
                <a:cs typeface="Noto Sans CJK SC" pitchFamily="34" charset="-120"/>
              </a:rPr>
              <a:t>Agent proposes. Evidence decides. Human signs.</a:t>
            </a:r>
            <a:endParaRPr lang="en-US" sz="760" dirty="0"/>
          </a:p>
        </p:txBody>
      </p:sp>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7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11"/>
          </a:solidFill>
          <a:ln w="12700">
            <a:solidFill>
              <a:srgbClr val="070711"/>
            </a:solidFill>
            <a:prstDash val="solid"/>
          </a:ln>
        </p:spPr>
        <p:txBody>
          <a:bodyPr/>
          <a:p/>
        </p:txBody>
      </p:sp>
      <p:sp>
        <p:nvSpPr>
          <p:cNvPr id="3" name="Shape 1"/>
          <p:cNvSpPr/>
          <p:nvPr/>
        </p:nvSpPr>
        <p:spPr>
          <a:xfrm>
            <a:off x="10195560" y="18288"/>
            <a:ext cx="1874520" cy="1874520"/>
          </a:xfrm>
          <a:prstGeom prst="ellipse">
            <a:avLst/>
          </a:prstGeom>
          <a:solidFill>
            <a:srgbClr val="7C3AED">
              <a:alpha val="10000"/>
            </a:srgbClr>
          </a:solidFill>
          <a:ln w="12700">
            <a:solidFill>
              <a:srgbClr val="7C3AED">
                <a:alpha val="0"/>
              </a:srgbClr>
            </a:solidFill>
            <a:prstDash val="solid"/>
          </a:ln>
        </p:spPr>
        <p:txBody>
          <a:bodyPr/>
          <a:p/>
        </p:txBody>
      </p:sp>
      <p:sp>
        <p:nvSpPr>
          <p:cNvPr id="4" name="Shape 2"/>
          <p:cNvSpPr/>
          <p:nvPr/>
        </p:nvSpPr>
        <p:spPr>
          <a:xfrm>
            <a:off x="18288" y="5285232"/>
            <a:ext cx="1417320" cy="1417320"/>
          </a:xfrm>
          <a:prstGeom prst="ellipse">
            <a:avLst/>
          </a:prstGeom>
          <a:solidFill>
            <a:srgbClr val="22D3EE">
              <a:alpha val="5000"/>
            </a:srgbClr>
          </a:solidFill>
          <a:ln w="12700">
            <a:solidFill>
              <a:srgbClr val="22D3EE">
                <a:alpha val="0"/>
              </a:srgbClr>
            </a:solidFill>
            <a:prstDash val="solid"/>
          </a:ln>
        </p:spPr>
        <p:txBody>
          <a:bodyPr/>
          <a:p/>
        </p:txBody>
      </p:sp>
      <p:sp>
        <p:nvSpPr>
          <p:cNvPr id="5" name="Shape 3"/>
          <p:cNvSpPr/>
          <p:nvPr/>
        </p:nvSpPr>
        <p:spPr>
          <a:xfrm>
            <a:off x="512064" y="310896"/>
            <a:ext cx="310896" cy="310896"/>
          </a:xfrm>
          <a:prstGeom prst="diamond">
            <a:avLst/>
          </a:prstGeom>
          <a:solidFill>
            <a:srgbClr val="8B5CF6"/>
          </a:solidFill>
          <a:ln w="12700">
            <a:solidFill>
              <a:srgbClr val="A78BFA">
                <a:alpha val="60000"/>
              </a:srgbClr>
            </a:solidFill>
            <a:prstDash val="solid"/>
          </a:ln>
        </p:spPr>
        <p:txBody>
          <a:bodyPr/>
          <a:p/>
        </p:txBody>
      </p:sp>
      <p:sp>
        <p:nvSpPr>
          <p:cNvPr id="6" name="Shape 4"/>
          <p:cNvSpPr/>
          <p:nvPr/>
        </p:nvSpPr>
        <p:spPr>
          <a:xfrm>
            <a:off x="580461" y="379293"/>
            <a:ext cx="174102" cy="174102"/>
          </a:xfrm>
          <a:prstGeom prst="diamond">
            <a:avLst/>
          </a:prstGeom>
          <a:solidFill>
            <a:srgbClr val="070711"/>
          </a:solidFill>
          <a:ln w="12700">
            <a:solidFill>
              <a:srgbClr val="070711"/>
            </a:solidFill>
            <a:prstDash val="solid"/>
          </a:ln>
        </p:spPr>
        <p:txBody>
          <a:bodyPr/>
          <a:p/>
        </p:txBody>
      </p:sp>
      <p:sp>
        <p:nvSpPr>
          <p:cNvPr id="7" name="Text 5"/>
          <p:cNvSpPr/>
          <p:nvPr/>
        </p:nvSpPr>
        <p:spPr>
          <a:xfrm>
            <a:off x="914400" y="292608"/>
            <a:ext cx="1371600" cy="219456"/>
          </a:xfrm>
          <a:prstGeom prst="rect">
            <a:avLst/>
          </a:prstGeom>
          <a:noFill/>
          <a:ln/>
        </p:spPr>
        <p:txBody>
          <a:bodyPr wrap="square" lIns="0" tIns="0" rIns="0" bIns="0" rtlCol="0" anchor="ctr"/>
          <a:lstStyle/>
          <a:p>
            <a:pPr indent="0" marL="0">
              <a:buNone/>
            </a:pPr>
            <a:r>
              <a:rPr lang="en-US" sz="1000" b="1" spc="120" kern="0" dirty="0">
                <a:solidFill>
                  <a:srgbClr val="A78BFA"/>
                </a:solidFill>
                <a:latin typeface="Noto Sans CJK SC" pitchFamily="34" charset="0"/>
                <a:ea typeface="Noto Sans CJK SC" pitchFamily="34" charset="-122"/>
                <a:cs typeface="Noto Sans CJK SC" pitchFamily="34" charset="-120"/>
              </a:rPr>
              <a:t>MOSSGUARD</a:t>
            </a:r>
            <a:endParaRPr lang="en-US" sz="1000" dirty="0"/>
          </a:p>
        </p:txBody>
      </p:sp>
      <p:sp>
        <p:nvSpPr>
          <p:cNvPr id="8" name="Text 6"/>
          <p:cNvSpPr/>
          <p:nvPr/>
        </p:nvSpPr>
        <p:spPr>
          <a:xfrm>
            <a:off x="9875520" y="301752"/>
            <a:ext cx="1645920" cy="201168"/>
          </a:xfrm>
          <a:prstGeom prst="rect">
            <a:avLst/>
          </a:prstGeom>
          <a:noFill/>
          <a:ln/>
        </p:spPr>
        <p:txBody>
          <a:bodyPr wrap="square" lIns="0" tIns="0" rIns="0" bIns="0" rtlCol="0" anchor="ctr"/>
          <a:lstStyle/>
          <a:p>
            <a:pPr algn="r" indent="0" marL="0">
              <a:buNone/>
            </a:pPr>
            <a:r>
              <a:rPr lang="en-US" sz="900" dirty="0">
                <a:solidFill>
                  <a:srgbClr val="9CA3AF"/>
                </a:solidFill>
                <a:latin typeface="Noto Sans CJK SC" pitchFamily="34" charset="0"/>
                <a:ea typeface="Noto Sans CJK SC" pitchFamily="34" charset="-122"/>
                <a:cs typeface="Noto Sans CJK SC" pitchFamily="34" charset="-120"/>
              </a:rPr>
              <a:t>03 · FLOW</a:t>
            </a:r>
            <a:endParaRPr lang="en-US" sz="900" dirty="0"/>
          </a:p>
        </p:txBody>
      </p:sp>
      <p:sp>
        <p:nvSpPr>
          <p:cNvPr id="9" name="Text 7"/>
          <p:cNvSpPr/>
          <p:nvPr/>
        </p:nvSpPr>
        <p:spPr>
          <a:xfrm>
            <a:off x="566928" y="749808"/>
            <a:ext cx="10881360" cy="475488"/>
          </a:xfrm>
          <a:prstGeom prst="rect">
            <a:avLst/>
          </a:prstGeom>
          <a:noFill/>
          <a:ln/>
        </p:spPr>
        <p:txBody>
          <a:bodyPr wrap="square" lIns="0" tIns="0" rIns="0" bIns="0" rtlCol="0" anchor="ctr"/>
          <a:lstStyle/>
          <a:p>
            <a:pPr indent="0" marL="0">
              <a:buNone/>
            </a:pPr>
            <a:r>
              <a:rPr lang="en-US" sz="2500" b="1" dirty="0">
                <a:solidFill>
                  <a:srgbClr val="F8FAFC"/>
                </a:solidFill>
                <a:latin typeface="Noto Sans CJK SC" pitchFamily="34" charset="0"/>
                <a:ea typeface="Noto Sans CJK SC" pitchFamily="34" charset="-122"/>
                <a:cs typeface="Noto Sans CJK SC" pitchFamily="34" charset="-120"/>
              </a:rPr>
              <a:t>From natural language to wallet review: every step is visible</a:t>
            </a:r>
            <a:endParaRPr lang="en-US" sz="2500" dirty="0"/>
          </a:p>
        </p:txBody>
      </p:sp>
      <p:sp>
        <p:nvSpPr>
          <p:cNvPr id="10" name="Text 8"/>
          <p:cNvSpPr/>
          <p:nvPr/>
        </p:nvSpPr>
        <p:spPr>
          <a:xfrm>
            <a:off x="576072" y="1216152"/>
            <a:ext cx="10698480" cy="274320"/>
          </a:xfrm>
          <a:prstGeom prst="rect">
            <a:avLst/>
          </a:prstGeom>
          <a:noFill/>
          <a:ln/>
        </p:spPr>
        <p:txBody>
          <a:bodyPr wrap="square" lIns="0" tIns="0" rIns="0" bIns="0" rtlCol="0" anchor="ctr"/>
          <a:lstStyle/>
          <a:p>
            <a:pPr indent="0" marL="0">
              <a:buNone/>
            </a:pPr>
            <a:r>
              <a:rPr lang="en-US" sz="1150" dirty="0">
                <a:solidFill>
                  <a:srgbClr val="9CA3AF"/>
                </a:solidFill>
                <a:latin typeface="Noto Sans CJK SC" pitchFamily="34" charset="0"/>
                <a:ea typeface="Noto Sans CJK SC" pitchFamily="34" charset="-122"/>
                <a:cs typeface="Noto Sans CJK SC" pitchFamily="34" charset="-120"/>
              </a:rPr>
              <a:t>Real AI proposes, the user confirms authorization, Moss produces evidence, and MossGuard makes a deterministic decision.</a:t>
            </a:r>
            <a:endParaRPr lang="en-US" sz="1150" dirty="0"/>
          </a:p>
        </p:txBody>
      </p:sp>
      <p:sp>
        <p:nvSpPr>
          <p:cNvPr id="11" name="Shape 9"/>
          <p:cNvSpPr/>
          <p:nvPr/>
        </p:nvSpPr>
        <p:spPr>
          <a:xfrm>
            <a:off x="685800" y="2011680"/>
            <a:ext cx="658368" cy="658368"/>
          </a:xfrm>
          <a:prstGeom prst="ellipse">
            <a:avLst/>
          </a:prstGeom>
          <a:solidFill>
            <a:srgbClr val="8B5CF6">
              <a:alpha val="92000"/>
            </a:srgbClr>
          </a:solidFill>
          <a:ln w="15240">
            <a:solidFill>
              <a:srgbClr val="8B5CF6"/>
            </a:solidFill>
            <a:prstDash val="solid"/>
          </a:ln>
        </p:spPr>
        <p:txBody>
          <a:bodyPr/>
          <a:p/>
        </p:txBody>
      </p:sp>
      <p:sp>
        <p:nvSpPr>
          <p:cNvPr id="12" name="Text 10"/>
          <p:cNvSpPr/>
          <p:nvPr/>
        </p:nvSpPr>
        <p:spPr>
          <a:xfrm>
            <a:off x="685800" y="2176272"/>
            <a:ext cx="658368" cy="219456"/>
          </a:xfrm>
          <a:prstGeom prst="rect">
            <a:avLst/>
          </a:prstGeom>
          <a:noFill/>
          <a:ln/>
        </p:spPr>
        <p:txBody>
          <a:bodyPr wrap="square" lIns="0" tIns="0" rIns="0" bIns="0" rtlCol="0" anchor="t">
            <a:normAutofit/>
          </a:bodyPr>
          <a:lstStyle/>
          <a:p>
            <a:pPr algn="ctr" indent="0" marL="0">
              <a:buNone/>
            </a:pPr>
            <a:r>
              <a:rPr lang="en-US" sz="1500" b="1" dirty="0">
                <a:solidFill>
                  <a:srgbClr val="F8FAFC"/>
                </a:solidFill>
                <a:latin typeface="Noto Sans CJK SC" pitchFamily="34" charset="0"/>
                <a:ea typeface="Noto Sans CJK SC" pitchFamily="34" charset="-122"/>
                <a:cs typeface="Noto Sans CJK SC" pitchFamily="34" charset="-120"/>
              </a:rPr>
              <a:t>1</a:t>
            </a:r>
            <a:endParaRPr lang="en-US" sz="1500" dirty="0"/>
          </a:p>
        </p:txBody>
      </p:sp>
      <p:sp>
        <p:nvSpPr>
          <p:cNvPr id="13" name="Text 11"/>
          <p:cNvSpPr/>
          <p:nvPr/>
        </p:nvSpPr>
        <p:spPr>
          <a:xfrm>
            <a:off x="438912" y="2880360"/>
            <a:ext cx="1152144" cy="256032"/>
          </a:xfrm>
          <a:prstGeom prst="rect">
            <a:avLst/>
          </a:prstGeom>
          <a:noFill/>
          <a:ln/>
        </p:spPr>
        <p:txBody>
          <a:bodyPr wrap="square" lIns="0" tIns="0" rIns="0" bIns="0" rtlCol="0" anchor="t">
            <a:normAutofit/>
          </a:bodyPr>
          <a:lstStyle/>
          <a:p>
            <a:pPr algn="ctr" indent="0" marL="0">
              <a:buNone/>
            </a:pPr>
            <a:r>
              <a:rPr lang="en-US" sz="1150" b="1" dirty="0">
                <a:solidFill>
                  <a:srgbClr val="F8FAFC"/>
                </a:solidFill>
                <a:latin typeface="Noto Sans CJK SC" pitchFamily="34" charset="0"/>
                <a:ea typeface="Noto Sans CJK SC" pitchFamily="34" charset="-122"/>
                <a:cs typeface="Noto Sans CJK SC" pitchFamily="34" charset="-120"/>
              </a:rPr>
              <a:t>User request</a:t>
            </a:r>
            <a:endParaRPr lang="en-US" sz="1150" dirty="0"/>
          </a:p>
        </p:txBody>
      </p:sp>
      <p:sp>
        <p:nvSpPr>
          <p:cNvPr id="14" name="Text 12"/>
          <p:cNvSpPr/>
          <p:nvPr/>
        </p:nvSpPr>
        <p:spPr>
          <a:xfrm>
            <a:off x="393192" y="3209544"/>
            <a:ext cx="1243584" cy="256032"/>
          </a:xfrm>
          <a:prstGeom prst="rect">
            <a:avLst/>
          </a:prstGeom>
          <a:noFill/>
          <a:ln/>
        </p:spPr>
        <p:txBody>
          <a:bodyPr wrap="square" lIns="0" tIns="0" rIns="0" bIns="0" rtlCol="0" anchor="t">
            <a:normAutofit/>
          </a:bodyPr>
          <a:lstStyle/>
          <a:p>
            <a:pPr algn="ctr" indent="0" marL="0">
              <a:buNone/>
            </a:pPr>
            <a:r>
              <a:t>Natural language</a:t>
            </a:r>
            <a:endParaRPr lang="en-US" sz="870" dirty="0"/>
          </a:p>
        </p:txBody>
      </p:sp>
      <p:sp>
        <p:nvSpPr>
          <p:cNvPr id="15" name="Shape 13"/>
          <p:cNvSpPr/>
          <p:nvPr/>
        </p:nvSpPr>
        <p:spPr>
          <a:xfrm>
            <a:off x="1417320" y="2340864"/>
            <a:ext cx="758952" cy="0"/>
          </a:xfrm>
          <a:prstGeom prst="line">
            <a:avLst/>
          </a:prstGeom>
          <a:noFill/>
          <a:ln w="26670">
            <a:solidFill>
              <a:srgbClr val="292747"/>
            </a:solidFill>
            <a:prstDash val="solid"/>
            <a:headEnd type="none"/>
            <a:tailEnd type="triangle"/>
          </a:ln>
        </p:spPr>
        <p:txBody>
          <a:bodyPr/>
          <a:p/>
        </p:txBody>
      </p:sp>
      <p:sp>
        <p:nvSpPr>
          <p:cNvPr id="16" name="Shape 14"/>
          <p:cNvSpPr/>
          <p:nvPr/>
        </p:nvSpPr>
        <p:spPr>
          <a:xfrm>
            <a:off x="2267712" y="2011680"/>
            <a:ext cx="658368" cy="658368"/>
          </a:xfrm>
          <a:prstGeom prst="ellipse">
            <a:avLst/>
          </a:prstGeom>
          <a:solidFill>
            <a:srgbClr val="8B5CF6">
              <a:alpha val="92000"/>
            </a:srgbClr>
          </a:solidFill>
          <a:ln w="15240">
            <a:solidFill>
              <a:srgbClr val="8B5CF6"/>
            </a:solidFill>
            <a:prstDash val="solid"/>
          </a:ln>
        </p:spPr>
        <p:txBody>
          <a:bodyPr/>
          <a:p/>
        </p:txBody>
      </p:sp>
      <p:sp>
        <p:nvSpPr>
          <p:cNvPr id="17" name="Text 15"/>
          <p:cNvSpPr/>
          <p:nvPr/>
        </p:nvSpPr>
        <p:spPr>
          <a:xfrm>
            <a:off x="2267712" y="2176272"/>
            <a:ext cx="658368" cy="219456"/>
          </a:xfrm>
          <a:prstGeom prst="rect">
            <a:avLst/>
          </a:prstGeom>
          <a:noFill/>
          <a:ln/>
        </p:spPr>
        <p:txBody>
          <a:bodyPr wrap="square" lIns="0" tIns="0" rIns="0" bIns="0" rtlCol="0" anchor="t">
            <a:normAutofit/>
          </a:bodyPr>
          <a:lstStyle/>
          <a:p>
            <a:pPr algn="ctr" indent="0" marL="0">
              <a:buNone/>
            </a:pPr>
            <a:r>
              <a:rPr lang="en-US" sz="1500" b="1" dirty="0">
                <a:solidFill>
                  <a:srgbClr val="F8FAFC"/>
                </a:solidFill>
                <a:latin typeface="Noto Sans CJK SC" pitchFamily="34" charset="0"/>
                <a:ea typeface="Noto Sans CJK SC" pitchFamily="34" charset="-122"/>
                <a:cs typeface="Noto Sans CJK SC" pitchFamily="34" charset="-120"/>
              </a:rPr>
              <a:t>2</a:t>
            </a:r>
            <a:endParaRPr lang="en-US" sz="1500" dirty="0"/>
          </a:p>
        </p:txBody>
      </p:sp>
      <p:sp>
        <p:nvSpPr>
          <p:cNvPr id="18" name="Text 16"/>
          <p:cNvSpPr/>
          <p:nvPr/>
        </p:nvSpPr>
        <p:spPr>
          <a:xfrm>
            <a:off x="2020824" y="2880360"/>
            <a:ext cx="1152144" cy="256032"/>
          </a:xfrm>
          <a:prstGeom prst="rect">
            <a:avLst/>
          </a:prstGeom>
          <a:noFill/>
          <a:ln/>
        </p:spPr>
        <p:txBody>
          <a:bodyPr wrap="square" lIns="0" tIns="0" rIns="0" bIns="0" rtlCol="0" anchor="t">
            <a:normAutofit/>
          </a:bodyPr>
          <a:lstStyle/>
          <a:p>
            <a:pPr algn="ctr" indent="0" marL="0">
              <a:buNone/>
            </a:pPr>
            <a:r>
              <a:rPr lang="en-US" sz="1150" b="1" dirty="0">
                <a:solidFill>
                  <a:srgbClr val="F8FAFC"/>
                </a:solidFill>
                <a:latin typeface="Noto Sans CJK SC" pitchFamily="34" charset="0"/>
                <a:ea typeface="Noto Sans CJK SC" pitchFamily="34" charset="-122"/>
                <a:cs typeface="Noto Sans CJK SC" pitchFamily="34" charset="-120"/>
              </a:rPr>
              <a:t>Draft Intent</a:t>
            </a:r>
            <a:endParaRPr lang="en-US" sz="1150" dirty="0"/>
          </a:p>
        </p:txBody>
      </p:sp>
      <p:sp>
        <p:nvSpPr>
          <p:cNvPr id="19" name="Text 17"/>
          <p:cNvSpPr/>
          <p:nvPr/>
        </p:nvSpPr>
        <p:spPr>
          <a:xfrm>
            <a:off x="1975104" y="3209544"/>
            <a:ext cx="1243584" cy="256032"/>
          </a:xfrm>
          <a:prstGeom prst="rect">
            <a:avLst/>
          </a:prstGeom>
          <a:noFill/>
          <a:ln/>
        </p:spPr>
        <p:txBody>
          <a:bodyPr wrap="square" lIns="0" tIns="0" rIns="0" bIns="0" rtlCol="0" anchor="t">
            <a:normAutofit/>
          </a:bodyPr>
          <a:lstStyle/>
          <a:p>
            <a:pPr algn="ctr" indent="0" marL="0">
              <a:buNone/>
            </a:pPr>
            <a:r>
              <a:rPr lang="en-US" sz="870" dirty="0">
                <a:solidFill>
                  <a:srgbClr val="9CA3AF"/>
                </a:solidFill>
                <a:latin typeface="Noto Sans CJK SC" pitchFamily="34" charset="0"/>
                <a:ea typeface="Noto Sans CJK SC" pitchFamily="34" charset="-122"/>
                <a:cs typeface="Noto Sans CJK SC" pitchFamily="34" charset="-120"/>
              </a:rPr>
              <a:t>AI extracts fields</a:t>
            </a:r>
            <a:endParaRPr lang="en-US" sz="870" dirty="0"/>
          </a:p>
        </p:txBody>
      </p:sp>
      <p:sp>
        <p:nvSpPr>
          <p:cNvPr id="20" name="Shape 18"/>
          <p:cNvSpPr/>
          <p:nvPr/>
        </p:nvSpPr>
        <p:spPr>
          <a:xfrm>
            <a:off x="2999232" y="2340864"/>
            <a:ext cx="758952" cy="0"/>
          </a:xfrm>
          <a:prstGeom prst="line">
            <a:avLst/>
          </a:prstGeom>
          <a:noFill/>
          <a:ln w="26670">
            <a:solidFill>
              <a:srgbClr val="292747"/>
            </a:solidFill>
            <a:prstDash val="solid"/>
            <a:headEnd type="none"/>
            <a:tailEnd type="triangle"/>
          </a:ln>
        </p:spPr>
        <p:txBody>
          <a:bodyPr/>
          <a:p/>
        </p:txBody>
      </p:sp>
      <p:sp>
        <p:nvSpPr>
          <p:cNvPr id="21" name="Shape 19"/>
          <p:cNvSpPr/>
          <p:nvPr/>
        </p:nvSpPr>
        <p:spPr>
          <a:xfrm>
            <a:off x="3849624" y="2011680"/>
            <a:ext cx="658368" cy="658368"/>
          </a:xfrm>
          <a:prstGeom prst="ellipse">
            <a:avLst/>
          </a:prstGeom>
          <a:solidFill>
            <a:srgbClr val="22C55E">
              <a:alpha val="92000"/>
            </a:srgbClr>
          </a:solidFill>
          <a:ln w="15240">
            <a:solidFill>
              <a:srgbClr val="22C55E"/>
            </a:solidFill>
            <a:prstDash val="solid"/>
          </a:ln>
        </p:spPr>
        <p:txBody>
          <a:bodyPr/>
          <a:p/>
        </p:txBody>
      </p:sp>
      <p:sp>
        <p:nvSpPr>
          <p:cNvPr id="22" name="Text 20"/>
          <p:cNvSpPr/>
          <p:nvPr/>
        </p:nvSpPr>
        <p:spPr>
          <a:xfrm>
            <a:off x="3849624" y="2176272"/>
            <a:ext cx="658368" cy="219456"/>
          </a:xfrm>
          <a:prstGeom prst="rect">
            <a:avLst/>
          </a:prstGeom>
          <a:noFill/>
          <a:ln/>
        </p:spPr>
        <p:txBody>
          <a:bodyPr wrap="square" lIns="0" tIns="0" rIns="0" bIns="0" rtlCol="0" anchor="t">
            <a:normAutofit/>
          </a:bodyPr>
          <a:lstStyle/>
          <a:p>
            <a:pPr algn="ctr" indent="0" marL="0">
              <a:buNone/>
            </a:pPr>
            <a:r>
              <a:rPr lang="en-US" sz="1500" b="1" dirty="0">
                <a:solidFill>
                  <a:srgbClr val="F8FAFC"/>
                </a:solidFill>
                <a:latin typeface="Noto Sans CJK SC" pitchFamily="34" charset="0"/>
                <a:ea typeface="Noto Sans CJK SC" pitchFamily="34" charset="-122"/>
                <a:cs typeface="Noto Sans CJK SC" pitchFamily="34" charset="-120"/>
              </a:rPr>
              <a:t>3</a:t>
            </a:r>
            <a:endParaRPr lang="en-US" sz="1500" dirty="0"/>
          </a:p>
        </p:txBody>
      </p:sp>
      <p:sp>
        <p:nvSpPr>
          <p:cNvPr id="23" name="Text 21"/>
          <p:cNvSpPr/>
          <p:nvPr/>
        </p:nvSpPr>
        <p:spPr>
          <a:xfrm>
            <a:off x="3602736" y="2880360"/>
            <a:ext cx="1152144" cy="256032"/>
          </a:xfrm>
          <a:prstGeom prst="rect">
            <a:avLst/>
          </a:prstGeom>
          <a:noFill/>
          <a:ln/>
        </p:spPr>
        <p:txBody>
          <a:bodyPr wrap="square" lIns="0" tIns="0" rIns="0" bIns="0" rtlCol="0" anchor="t">
            <a:normAutofit/>
          </a:bodyPr>
          <a:lstStyle/>
          <a:p>
            <a:pPr algn="ctr" indent="0" marL="0">
              <a:buNone/>
            </a:pPr>
            <a:r>
              <a:rPr lang="en-US" sz="1150" b="1" dirty="0">
                <a:solidFill>
                  <a:srgbClr val="F8FAFC"/>
                </a:solidFill>
                <a:latin typeface="Noto Sans CJK SC" pitchFamily="34" charset="0"/>
                <a:ea typeface="Noto Sans CJK SC" pitchFamily="34" charset="-122"/>
                <a:cs typeface="Noto Sans CJK SC" pitchFamily="34" charset="-120"/>
              </a:rPr>
              <a:t>User confirms</a:t>
            </a:r>
            <a:endParaRPr lang="en-US" sz="1150" dirty="0"/>
          </a:p>
        </p:txBody>
      </p:sp>
      <p:sp>
        <p:nvSpPr>
          <p:cNvPr id="24" name="Text 22"/>
          <p:cNvSpPr/>
          <p:nvPr/>
        </p:nvSpPr>
        <p:spPr>
          <a:xfrm>
            <a:off x="3557016" y="3209544"/>
            <a:ext cx="1243584" cy="256032"/>
          </a:xfrm>
          <a:prstGeom prst="rect">
            <a:avLst/>
          </a:prstGeom>
          <a:noFill/>
          <a:ln/>
        </p:spPr>
        <p:txBody>
          <a:bodyPr wrap="square" lIns="0" tIns="0" rIns="0" bIns="0" rtlCol="0" anchor="t">
            <a:normAutofit/>
          </a:bodyPr>
          <a:lstStyle/>
          <a:p>
            <a:pPr algn="ctr" indent="0" marL="0">
              <a:buNone/>
            </a:pPr>
            <a:r>
              <a:rPr lang="en-US" sz="870" dirty="0">
                <a:solidFill>
                  <a:srgbClr val="9CA3AF"/>
                </a:solidFill>
                <a:latin typeface="Noto Sans CJK SC" pitchFamily="34" charset="0"/>
                <a:ea typeface="Noto Sans CJK SC" pitchFamily="34" charset="-122"/>
                <a:cs typeface="Noto Sans CJK SC" pitchFamily="34" charset="-120"/>
              </a:rPr>
              <a:t>Hash + Token</a:t>
            </a:r>
            <a:endParaRPr lang="en-US" sz="870" dirty="0"/>
          </a:p>
        </p:txBody>
      </p:sp>
      <p:sp>
        <p:nvSpPr>
          <p:cNvPr id="25" name="Shape 23"/>
          <p:cNvSpPr/>
          <p:nvPr/>
        </p:nvSpPr>
        <p:spPr>
          <a:xfrm>
            <a:off x="4581144" y="2340864"/>
            <a:ext cx="758952" cy="0"/>
          </a:xfrm>
          <a:prstGeom prst="line">
            <a:avLst/>
          </a:prstGeom>
          <a:noFill/>
          <a:ln w="26670">
            <a:solidFill>
              <a:srgbClr val="292747"/>
            </a:solidFill>
            <a:prstDash val="solid"/>
            <a:headEnd type="none"/>
            <a:tailEnd type="triangle"/>
          </a:ln>
        </p:spPr>
        <p:txBody>
          <a:bodyPr/>
          <a:p/>
        </p:txBody>
      </p:sp>
      <p:sp>
        <p:nvSpPr>
          <p:cNvPr id="26" name="Shape 24"/>
          <p:cNvSpPr/>
          <p:nvPr/>
        </p:nvSpPr>
        <p:spPr>
          <a:xfrm>
            <a:off x="5431536" y="2011680"/>
            <a:ext cx="658368" cy="658368"/>
          </a:xfrm>
          <a:prstGeom prst="ellipse">
            <a:avLst/>
          </a:prstGeom>
          <a:solidFill>
            <a:srgbClr val="A78BFA">
              <a:alpha val="92000"/>
            </a:srgbClr>
          </a:solidFill>
          <a:ln w="15240">
            <a:solidFill>
              <a:srgbClr val="A78BFA"/>
            </a:solidFill>
            <a:prstDash val="solid"/>
          </a:ln>
        </p:spPr>
        <p:txBody>
          <a:bodyPr/>
          <a:p/>
        </p:txBody>
      </p:sp>
      <p:sp>
        <p:nvSpPr>
          <p:cNvPr id="27" name="Text 25"/>
          <p:cNvSpPr/>
          <p:nvPr/>
        </p:nvSpPr>
        <p:spPr>
          <a:xfrm>
            <a:off x="5431536" y="2176272"/>
            <a:ext cx="658368" cy="219456"/>
          </a:xfrm>
          <a:prstGeom prst="rect">
            <a:avLst/>
          </a:prstGeom>
          <a:noFill/>
          <a:ln/>
        </p:spPr>
        <p:txBody>
          <a:bodyPr wrap="square" lIns="0" tIns="0" rIns="0" bIns="0" rtlCol="0" anchor="t">
            <a:normAutofit/>
          </a:bodyPr>
          <a:lstStyle/>
          <a:p>
            <a:pPr algn="ctr" indent="0" marL="0">
              <a:buNone/>
            </a:pPr>
            <a:r>
              <a:rPr lang="en-US" sz="1500" b="1" dirty="0">
                <a:solidFill>
                  <a:srgbClr val="F8FAFC"/>
                </a:solidFill>
                <a:latin typeface="Noto Sans CJK SC" pitchFamily="34" charset="0"/>
                <a:ea typeface="Noto Sans CJK SC" pitchFamily="34" charset="-122"/>
                <a:cs typeface="Noto Sans CJK SC" pitchFamily="34" charset="-120"/>
              </a:rPr>
              <a:t>4</a:t>
            </a:r>
            <a:endParaRPr lang="en-US" sz="1500" dirty="0"/>
          </a:p>
        </p:txBody>
      </p:sp>
      <p:sp>
        <p:nvSpPr>
          <p:cNvPr id="28" name="Text 26"/>
          <p:cNvSpPr/>
          <p:nvPr/>
        </p:nvSpPr>
        <p:spPr>
          <a:xfrm>
            <a:off x="5184648" y="2880360"/>
            <a:ext cx="1152144" cy="256032"/>
          </a:xfrm>
          <a:prstGeom prst="rect">
            <a:avLst/>
          </a:prstGeom>
          <a:noFill/>
          <a:ln/>
        </p:spPr>
        <p:txBody>
          <a:bodyPr wrap="square" lIns="0" tIns="0" rIns="0" bIns="0" rtlCol="0" anchor="t">
            <a:normAutofit/>
          </a:bodyPr>
          <a:lstStyle/>
          <a:p>
            <a:pPr algn="ctr" indent="0" marL="0">
              <a:buNone/>
            </a:pPr>
            <a:r>
              <a:rPr lang="en-US" sz="1150" b="1" dirty="0">
                <a:solidFill>
                  <a:srgbClr val="F8FAFC"/>
                </a:solidFill>
                <a:latin typeface="Noto Sans CJK SC" pitchFamily="34" charset="0"/>
                <a:ea typeface="Noto Sans CJK SC" pitchFamily="34" charset="-122"/>
                <a:cs typeface="Noto Sans CJK SC" pitchFamily="34" charset="-120"/>
              </a:rPr>
              <a:t>Agent Action</a:t>
            </a:r>
            <a:endParaRPr lang="en-US" sz="1150" dirty="0"/>
          </a:p>
        </p:txBody>
      </p:sp>
      <p:sp>
        <p:nvSpPr>
          <p:cNvPr id="29" name="Text 27"/>
          <p:cNvSpPr/>
          <p:nvPr/>
        </p:nvSpPr>
        <p:spPr>
          <a:xfrm>
            <a:off x="5138928" y="3209544"/>
            <a:ext cx="1243584" cy="256032"/>
          </a:xfrm>
          <a:prstGeom prst="rect">
            <a:avLst/>
          </a:prstGeom>
          <a:noFill/>
          <a:ln/>
        </p:spPr>
        <p:txBody>
          <a:bodyPr wrap="square" lIns="0" tIns="0" rIns="0" bIns="0" rtlCol="0" anchor="t">
            <a:normAutofit/>
          </a:bodyPr>
          <a:lstStyle/>
          <a:p>
            <a:pPr algn="ctr" indent="0" marL="0">
              <a:buNone/>
            </a:pPr>
            <a:r>
              <a:rPr lang="en-US" sz="870" dirty="0">
                <a:solidFill>
                  <a:srgbClr val="9CA3AF"/>
                </a:solidFill>
                <a:latin typeface="Noto Sans CJK SC" pitchFamily="34" charset="0"/>
                <a:ea typeface="Noto Sans CJK SC" pitchFamily="34" charset="-122"/>
                <a:cs typeface="Noto Sans CJK SC" pitchFamily="34" charset="-120"/>
              </a:rPr>
              <a:t>AI proposes independently</a:t>
            </a:r>
            <a:endParaRPr lang="en-US" sz="870" dirty="0"/>
          </a:p>
        </p:txBody>
      </p:sp>
      <p:sp>
        <p:nvSpPr>
          <p:cNvPr id="30" name="Shape 28"/>
          <p:cNvSpPr/>
          <p:nvPr/>
        </p:nvSpPr>
        <p:spPr>
          <a:xfrm>
            <a:off x="6163056" y="2340864"/>
            <a:ext cx="758952" cy="0"/>
          </a:xfrm>
          <a:prstGeom prst="line">
            <a:avLst/>
          </a:prstGeom>
          <a:noFill/>
          <a:ln w="26670">
            <a:solidFill>
              <a:srgbClr val="292747"/>
            </a:solidFill>
            <a:prstDash val="solid"/>
            <a:headEnd type="none"/>
            <a:tailEnd type="triangle"/>
          </a:ln>
        </p:spPr>
        <p:txBody>
          <a:bodyPr/>
          <a:p/>
        </p:txBody>
      </p:sp>
      <p:sp>
        <p:nvSpPr>
          <p:cNvPr id="31" name="Shape 29"/>
          <p:cNvSpPr/>
          <p:nvPr/>
        </p:nvSpPr>
        <p:spPr>
          <a:xfrm>
            <a:off x="7013448" y="2011680"/>
            <a:ext cx="658368" cy="658368"/>
          </a:xfrm>
          <a:prstGeom prst="ellipse">
            <a:avLst/>
          </a:prstGeom>
          <a:solidFill>
            <a:srgbClr val="22D3EE">
              <a:alpha val="92000"/>
            </a:srgbClr>
          </a:solidFill>
          <a:ln w="15240">
            <a:solidFill>
              <a:srgbClr val="22D3EE"/>
            </a:solidFill>
            <a:prstDash val="solid"/>
          </a:ln>
        </p:spPr>
        <p:txBody>
          <a:bodyPr/>
          <a:p/>
        </p:txBody>
      </p:sp>
      <p:sp>
        <p:nvSpPr>
          <p:cNvPr id="32" name="Text 30"/>
          <p:cNvSpPr/>
          <p:nvPr/>
        </p:nvSpPr>
        <p:spPr>
          <a:xfrm>
            <a:off x="7013448" y="2176272"/>
            <a:ext cx="658368" cy="219456"/>
          </a:xfrm>
          <a:prstGeom prst="rect">
            <a:avLst/>
          </a:prstGeom>
          <a:noFill/>
          <a:ln/>
        </p:spPr>
        <p:txBody>
          <a:bodyPr wrap="square" lIns="0" tIns="0" rIns="0" bIns="0" rtlCol="0" anchor="t">
            <a:normAutofit/>
          </a:bodyPr>
          <a:lstStyle/>
          <a:p>
            <a:pPr algn="ctr" indent="0" marL="0">
              <a:buNone/>
            </a:pPr>
            <a:r>
              <a:rPr lang="en-US" sz="1500" b="1" dirty="0">
                <a:solidFill>
                  <a:srgbClr val="F8FAFC"/>
                </a:solidFill>
                <a:latin typeface="Noto Sans CJK SC" pitchFamily="34" charset="0"/>
                <a:ea typeface="Noto Sans CJK SC" pitchFamily="34" charset="-122"/>
                <a:cs typeface="Noto Sans CJK SC" pitchFamily="34" charset="-120"/>
              </a:rPr>
              <a:t>5</a:t>
            </a:r>
            <a:endParaRPr lang="en-US" sz="1500" dirty="0"/>
          </a:p>
        </p:txBody>
      </p:sp>
      <p:sp>
        <p:nvSpPr>
          <p:cNvPr id="33" name="Text 31"/>
          <p:cNvSpPr/>
          <p:nvPr/>
        </p:nvSpPr>
        <p:spPr>
          <a:xfrm>
            <a:off x="6766560" y="2880360"/>
            <a:ext cx="1152144" cy="256032"/>
          </a:xfrm>
          <a:prstGeom prst="rect">
            <a:avLst/>
          </a:prstGeom>
          <a:noFill/>
          <a:ln/>
        </p:spPr>
        <p:txBody>
          <a:bodyPr wrap="square" lIns="0" tIns="0" rIns="0" bIns="0" rtlCol="0" anchor="t">
            <a:normAutofit/>
          </a:bodyPr>
          <a:lstStyle/>
          <a:p>
            <a:pPr algn="ctr" indent="0" marL="0">
              <a:buNone/>
            </a:pPr>
            <a:r>
              <a:rPr lang="en-US" sz="1150" b="1" dirty="0">
                <a:solidFill>
                  <a:srgbClr val="F8FAFC"/>
                </a:solidFill>
                <a:latin typeface="Noto Sans CJK SC" pitchFamily="34" charset="0"/>
                <a:ea typeface="Noto Sans CJK SC" pitchFamily="34" charset="-122"/>
                <a:cs typeface="Noto Sans CJK SC" pitchFamily="34" charset="-120"/>
              </a:rPr>
              <a:t>Moss simulation</a:t>
            </a:r>
            <a:endParaRPr lang="en-US" sz="1150" dirty="0"/>
          </a:p>
        </p:txBody>
      </p:sp>
      <p:sp>
        <p:nvSpPr>
          <p:cNvPr id="34" name="Text 32"/>
          <p:cNvSpPr/>
          <p:nvPr/>
        </p:nvSpPr>
        <p:spPr>
          <a:xfrm>
            <a:off x="6720840" y="3209544"/>
            <a:ext cx="1243584" cy="256032"/>
          </a:xfrm>
          <a:prstGeom prst="rect">
            <a:avLst/>
          </a:prstGeom>
          <a:noFill/>
          <a:ln/>
        </p:spPr>
        <p:txBody>
          <a:bodyPr wrap="square" lIns="0" tIns="0" rIns="0" bIns="0" rtlCol="0" anchor="t">
            <a:normAutofit/>
          </a:bodyPr>
          <a:lstStyle/>
          <a:p>
            <a:pPr algn="ctr" indent="0" marL="0">
              <a:buNone/>
            </a:pPr>
            <a:r>
              <a:rPr lang="en-US" sz="870" dirty="0">
                <a:solidFill>
                  <a:srgbClr val="9CA3AF"/>
                </a:solidFill>
                <a:latin typeface="Noto Sans CJK SC" pitchFamily="34" charset="0"/>
                <a:ea typeface="Noto Sans CJK SC" pitchFamily="34" charset="-122"/>
                <a:cs typeface="Noto Sans CJK SC" pitchFamily="34" charset="-120"/>
              </a:rPr>
              <a:t>Real Monad state</a:t>
            </a:r>
            <a:endParaRPr lang="en-US" sz="870" dirty="0"/>
          </a:p>
        </p:txBody>
      </p:sp>
      <p:sp>
        <p:nvSpPr>
          <p:cNvPr id="35" name="Shape 33"/>
          <p:cNvSpPr/>
          <p:nvPr/>
        </p:nvSpPr>
        <p:spPr>
          <a:xfrm>
            <a:off x="7744968" y="2340864"/>
            <a:ext cx="758952" cy="0"/>
          </a:xfrm>
          <a:prstGeom prst="line">
            <a:avLst/>
          </a:prstGeom>
          <a:noFill/>
          <a:ln w="26670">
            <a:solidFill>
              <a:srgbClr val="292747"/>
            </a:solidFill>
            <a:prstDash val="solid"/>
            <a:headEnd type="none"/>
            <a:tailEnd type="triangle"/>
          </a:ln>
        </p:spPr>
        <p:txBody>
          <a:bodyPr/>
          <a:p/>
        </p:txBody>
      </p:sp>
      <p:sp>
        <p:nvSpPr>
          <p:cNvPr id="36" name="Shape 34"/>
          <p:cNvSpPr/>
          <p:nvPr/>
        </p:nvSpPr>
        <p:spPr>
          <a:xfrm>
            <a:off x="8595360" y="2011680"/>
            <a:ext cx="658368" cy="658368"/>
          </a:xfrm>
          <a:prstGeom prst="ellipse">
            <a:avLst/>
          </a:prstGeom>
          <a:solidFill>
            <a:srgbClr val="F59E0B">
              <a:alpha val="92000"/>
            </a:srgbClr>
          </a:solidFill>
          <a:ln w="15240">
            <a:solidFill>
              <a:srgbClr val="F59E0B"/>
            </a:solidFill>
            <a:prstDash val="solid"/>
          </a:ln>
        </p:spPr>
        <p:txBody>
          <a:bodyPr/>
          <a:p/>
        </p:txBody>
      </p:sp>
      <p:sp>
        <p:nvSpPr>
          <p:cNvPr id="37" name="Text 35"/>
          <p:cNvSpPr/>
          <p:nvPr/>
        </p:nvSpPr>
        <p:spPr>
          <a:xfrm>
            <a:off x="8595360" y="2176272"/>
            <a:ext cx="658368" cy="219456"/>
          </a:xfrm>
          <a:prstGeom prst="rect">
            <a:avLst/>
          </a:prstGeom>
          <a:noFill/>
          <a:ln/>
        </p:spPr>
        <p:txBody>
          <a:bodyPr wrap="square" lIns="0" tIns="0" rIns="0" bIns="0" rtlCol="0" anchor="t">
            <a:normAutofit/>
          </a:bodyPr>
          <a:lstStyle/>
          <a:p>
            <a:pPr algn="ctr" indent="0" marL="0">
              <a:buNone/>
            </a:pPr>
            <a:r>
              <a:rPr lang="en-US" sz="1500" b="1" dirty="0">
                <a:solidFill>
                  <a:srgbClr val="F8FAFC"/>
                </a:solidFill>
                <a:latin typeface="Noto Sans CJK SC" pitchFamily="34" charset="0"/>
                <a:ea typeface="Noto Sans CJK SC" pitchFamily="34" charset="-122"/>
                <a:cs typeface="Noto Sans CJK SC" pitchFamily="34" charset="-120"/>
              </a:rPr>
              <a:t>6</a:t>
            </a:r>
            <a:endParaRPr lang="en-US" sz="1500" dirty="0"/>
          </a:p>
        </p:txBody>
      </p:sp>
      <p:sp>
        <p:nvSpPr>
          <p:cNvPr id="38" name="Text 36"/>
          <p:cNvSpPr/>
          <p:nvPr/>
        </p:nvSpPr>
        <p:spPr>
          <a:xfrm>
            <a:off x="8348472" y="2880360"/>
            <a:ext cx="1152144" cy="256032"/>
          </a:xfrm>
          <a:prstGeom prst="rect">
            <a:avLst/>
          </a:prstGeom>
          <a:noFill/>
          <a:ln/>
        </p:spPr>
        <p:txBody>
          <a:bodyPr wrap="square" lIns="0" tIns="0" rIns="0" bIns="0" rtlCol="0" anchor="t">
            <a:normAutofit/>
          </a:bodyPr>
          <a:lstStyle/>
          <a:p>
            <a:pPr algn="ctr" indent="0" marL="0">
              <a:buNone/>
            </a:pPr>
            <a:r>
              <a:rPr lang="en-US" sz="1150" b="1" dirty="0">
                <a:solidFill>
                  <a:srgbClr val="F8FAFC"/>
                </a:solidFill>
                <a:latin typeface="Noto Sans CJK SC" pitchFamily="34" charset="0"/>
                <a:ea typeface="Noto Sans CJK SC" pitchFamily="34" charset="-122"/>
                <a:cs typeface="Noto Sans CJK SC" pitchFamily="34" charset="-120"/>
              </a:rPr>
              <a:t>Rule verification</a:t>
            </a:r>
            <a:endParaRPr lang="en-US" sz="1150" dirty="0"/>
          </a:p>
        </p:txBody>
      </p:sp>
      <p:sp>
        <p:nvSpPr>
          <p:cNvPr id="39" name="Text 37"/>
          <p:cNvSpPr/>
          <p:nvPr/>
        </p:nvSpPr>
        <p:spPr>
          <a:xfrm>
            <a:off x="8302752" y="3209544"/>
            <a:ext cx="1243584" cy="256032"/>
          </a:xfrm>
          <a:prstGeom prst="rect">
            <a:avLst/>
          </a:prstGeom>
          <a:noFill/>
          <a:ln/>
        </p:spPr>
        <p:txBody>
          <a:bodyPr wrap="square" lIns="0" tIns="0" rIns="0" bIns="0" rtlCol="0" anchor="t">
            <a:normAutofit/>
          </a:bodyPr>
          <a:lstStyle/>
          <a:p>
            <a:pPr algn="ctr" indent="0" marL="0">
              <a:buNone/>
            </a:pPr>
            <a:r>
              <a:rPr lang="en-US" sz="870" dirty="0">
                <a:solidFill>
                  <a:srgbClr val="9CA3AF"/>
                </a:solidFill>
                <a:latin typeface="Noto Sans CJK SC" pitchFamily="34" charset="0"/>
                <a:ea typeface="Noto Sans CJK SC" pitchFamily="34" charset="-122"/>
                <a:cs typeface="Noto Sans CJK SC" pitchFamily="34" charset="-120"/>
              </a:rPr>
              <a:t>Three-way comparison</a:t>
            </a:r>
            <a:endParaRPr lang="en-US" sz="870" dirty="0"/>
          </a:p>
        </p:txBody>
      </p:sp>
      <p:sp>
        <p:nvSpPr>
          <p:cNvPr id="40" name="Shape 38"/>
          <p:cNvSpPr/>
          <p:nvPr/>
        </p:nvSpPr>
        <p:spPr>
          <a:xfrm>
            <a:off x="9326880" y="2340864"/>
            <a:ext cx="758952" cy="0"/>
          </a:xfrm>
          <a:prstGeom prst="line">
            <a:avLst/>
          </a:prstGeom>
          <a:noFill/>
          <a:ln w="26670">
            <a:solidFill>
              <a:srgbClr val="292747"/>
            </a:solidFill>
            <a:prstDash val="solid"/>
            <a:headEnd type="none"/>
            <a:tailEnd type="triangle"/>
          </a:ln>
        </p:spPr>
        <p:txBody>
          <a:bodyPr/>
          <a:p/>
        </p:txBody>
      </p:sp>
      <p:sp>
        <p:nvSpPr>
          <p:cNvPr id="41" name="Shape 39"/>
          <p:cNvSpPr/>
          <p:nvPr/>
        </p:nvSpPr>
        <p:spPr>
          <a:xfrm>
            <a:off x="10177272" y="2011680"/>
            <a:ext cx="658368" cy="658368"/>
          </a:xfrm>
          <a:prstGeom prst="ellipse">
            <a:avLst/>
          </a:prstGeom>
          <a:solidFill>
            <a:srgbClr val="22C55E">
              <a:alpha val="92000"/>
            </a:srgbClr>
          </a:solidFill>
          <a:ln w="15240">
            <a:solidFill>
              <a:srgbClr val="22C55E"/>
            </a:solidFill>
            <a:prstDash val="solid"/>
          </a:ln>
        </p:spPr>
        <p:txBody>
          <a:bodyPr/>
          <a:p/>
        </p:txBody>
      </p:sp>
      <p:sp>
        <p:nvSpPr>
          <p:cNvPr id="42" name="Text 40"/>
          <p:cNvSpPr/>
          <p:nvPr/>
        </p:nvSpPr>
        <p:spPr>
          <a:xfrm>
            <a:off x="10177272" y="2176272"/>
            <a:ext cx="658368" cy="219456"/>
          </a:xfrm>
          <a:prstGeom prst="rect">
            <a:avLst/>
          </a:prstGeom>
          <a:noFill/>
          <a:ln/>
        </p:spPr>
        <p:txBody>
          <a:bodyPr wrap="square" lIns="0" tIns="0" rIns="0" bIns="0" rtlCol="0" anchor="t">
            <a:normAutofit/>
          </a:bodyPr>
          <a:lstStyle/>
          <a:p>
            <a:pPr algn="ctr" indent="0" marL="0">
              <a:buNone/>
            </a:pPr>
            <a:r>
              <a:rPr lang="en-US" sz="1500" b="1" dirty="0">
                <a:solidFill>
                  <a:srgbClr val="F8FAFC"/>
                </a:solidFill>
                <a:latin typeface="Noto Sans CJK SC" pitchFamily="34" charset="0"/>
                <a:ea typeface="Noto Sans CJK SC" pitchFamily="34" charset="-122"/>
                <a:cs typeface="Noto Sans CJK SC" pitchFamily="34" charset="-120"/>
              </a:rPr>
              <a:t>7</a:t>
            </a:r>
            <a:endParaRPr lang="en-US" sz="1500" dirty="0"/>
          </a:p>
        </p:txBody>
      </p:sp>
      <p:sp>
        <p:nvSpPr>
          <p:cNvPr id="43" name="Text 41"/>
          <p:cNvSpPr/>
          <p:nvPr/>
        </p:nvSpPr>
        <p:spPr>
          <a:xfrm>
            <a:off x="9930384" y="2880360"/>
            <a:ext cx="1152144" cy="256032"/>
          </a:xfrm>
          <a:prstGeom prst="rect">
            <a:avLst/>
          </a:prstGeom>
          <a:noFill/>
          <a:ln/>
        </p:spPr>
        <p:txBody>
          <a:bodyPr wrap="square" lIns="0" tIns="0" rIns="0" bIns="0" rtlCol="0" anchor="t">
            <a:normAutofit/>
          </a:bodyPr>
          <a:lstStyle/>
          <a:p>
            <a:pPr algn="ctr" indent="0" marL="0">
              <a:buNone/>
            </a:pPr>
            <a:r>
              <a:rPr lang="en-US" sz="1150" b="1" dirty="0">
                <a:solidFill>
                  <a:srgbClr val="F8FAFC"/>
                </a:solidFill>
                <a:latin typeface="Noto Sans CJK SC" pitchFamily="34" charset="0"/>
                <a:ea typeface="Noto Sans CJK SC" pitchFamily="34" charset="-122"/>
                <a:cs typeface="Noto Sans CJK SC" pitchFamily="34" charset="-120"/>
              </a:rPr>
              <a:t>Wallet review</a:t>
            </a:r>
            <a:endParaRPr lang="en-US" sz="1150" dirty="0"/>
          </a:p>
        </p:txBody>
      </p:sp>
      <p:sp>
        <p:nvSpPr>
          <p:cNvPr id="44" name="Text 42"/>
          <p:cNvSpPr/>
          <p:nvPr/>
        </p:nvSpPr>
        <p:spPr>
          <a:xfrm>
            <a:off x="9884664" y="3209544"/>
            <a:ext cx="1243584" cy="256032"/>
          </a:xfrm>
          <a:prstGeom prst="rect">
            <a:avLst/>
          </a:prstGeom>
          <a:noFill/>
          <a:ln/>
        </p:spPr>
        <p:txBody>
          <a:bodyPr wrap="square" lIns="0" tIns="0" rIns="0" bIns="0" rtlCol="0" anchor="t">
            <a:normAutofit/>
          </a:bodyPr>
          <a:lstStyle/>
          <a:p>
            <a:pPr algn="ctr" indent="0" marL="0">
              <a:buNone/>
            </a:pPr>
            <a:r>
              <a:rPr lang="en-US" sz="870" dirty="0">
                <a:solidFill>
                  <a:srgbClr val="9CA3AF"/>
                </a:solidFill>
                <a:latin typeface="Noto Sans CJK SC" pitchFamily="34" charset="0"/>
                <a:ea typeface="Noto Sans CJK SC" pitchFamily="34" charset="-122"/>
                <a:cs typeface="Noto Sans CJK SC" pitchFamily="34" charset="-120"/>
              </a:rPr>
              <a:t>Human sign</a:t>
            </a:r>
            <a:endParaRPr lang="en-US" sz="870" dirty="0"/>
          </a:p>
        </p:txBody>
      </p:sp>
      <p:sp>
        <p:nvSpPr>
          <p:cNvPr id="45" name="Shape 43"/>
          <p:cNvSpPr/>
          <p:nvPr/>
        </p:nvSpPr>
        <p:spPr>
          <a:xfrm>
            <a:off x="658368" y="4160520"/>
            <a:ext cx="4480560" cy="1097280"/>
          </a:xfrm>
          <a:prstGeom prst="roundRect">
            <a:avLst/>
          </a:prstGeom>
          <a:solidFill>
            <a:srgbClr val="7C3AED">
              <a:alpha val="10000"/>
            </a:srgbClr>
          </a:solidFill>
          <a:ln w="12700">
            <a:solidFill>
              <a:srgbClr val="7C3AED">
                <a:alpha val="45000"/>
              </a:srgbClr>
            </a:solidFill>
            <a:prstDash val="solid"/>
          </a:ln>
        </p:spPr>
        <p:txBody>
          <a:bodyPr/>
          <a:p/>
        </p:txBody>
      </p:sp>
      <p:sp>
        <p:nvSpPr>
          <p:cNvPr id="46" name="Shape 44"/>
          <p:cNvSpPr/>
          <p:nvPr/>
        </p:nvSpPr>
        <p:spPr>
          <a:xfrm>
            <a:off x="877824" y="4343400"/>
            <a:ext cx="1097280" cy="292608"/>
          </a:xfrm>
          <a:prstGeom prst="roundRect">
            <a:avLst>
              <a:gd name="adj" fmla="val 25000"/>
            </a:avLst>
          </a:prstGeom>
          <a:solidFill>
            <a:srgbClr val="A78BFA">
              <a:alpha val="16000"/>
            </a:srgbClr>
          </a:solidFill>
          <a:ln w="8890">
            <a:solidFill>
              <a:srgbClr val="A78BFA">
                <a:alpha val="55000"/>
              </a:srgbClr>
            </a:solidFill>
            <a:prstDash val="solid"/>
          </a:ln>
        </p:spPr>
        <p:txBody>
          <a:bodyPr/>
          <a:p/>
        </p:txBody>
      </p:sp>
      <p:sp>
        <p:nvSpPr>
          <p:cNvPr id="47" name="Text 45"/>
          <p:cNvSpPr/>
          <p:nvPr/>
        </p:nvSpPr>
        <p:spPr>
          <a:xfrm>
            <a:off x="877824" y="4347972"/>
            <a:ext cx="1097280" cy="256032"/>
          </a:xfrm>
          <a:prstGeom prst="rect">
            <a:avLst/>
          </a:prstGeom>
          <a:noFill/>
          <a:ln/>
        </p:spPr>
        <p:txBody>
          <a:bodyPr wrap="square" lIns="0" tIns="0" rIns="0" bIns="0" rtlCol="0" anchor="ctr"/>
          <a:lstStyle/>
          <a:p>
            <a:pPr algn="ctr" indent="0" marL="0">
              <a:buNone/>
            </a:pPr>
            <a:r>
              <a:rPr lang="en-US" sz="850" b="1" dirty="0">
                <a:solidFill>
                  <a:srgbClr val="A78BFA"/>
                </a:solidFill>
                <a:latin typeface="Noto Sans CJK SC" pitchFamily="34" charset="0"/>
                <a:ea typeface="Noto Sans CJK SC" pitchFamily="34" charset="-122"/>
                <a:cs typeface="Noto Sans CJK SC" pitchFamily="34" charset="-120"/>
              </a:rPr>
              <a:t>AI + HUMAN</a:t>
            </a:r>
            <a:endParaRPr lang="en-US" sz="850" dirty="0"/>
          </a:p>
        </p:txBody>
      </p:sp>
      <p:sp>
        <p:nvSpPr>
          <p:cNvPr id="48" name="Text 46"/>
          <p:cNvSpPr/>
          <p:nvPr/>
        </p:nvSpPr>
        <p:spPr>
          <a:xfrm>
            <a:off x="2157984" y="4288536"/>
            <a:ext cx="2697480" cy="411480"/>
          </a:xfrm>
          <a:prstGeom prst="rect">
            <a:avLst/>
          </a:prstGeom>
          <a:noFill/>
          <a:ln/>
        </p:spPr>
        <p:txBody>
          <a:bodyPr wrap="square" lIns="0" tIns="0" rIns="0" bIns="0" rtlCol="0" anchor="t">
            <a:normAutofit/>
          </a:bodyPr>
          <a:lstStyle/>
          <a:p>
            <a:pPr algn="l" indent="0" marL="0">
              <a:buNone/>
            </a:pPr>
            <a:r>
              <a:t>AI interprets and proposes; the user confirms an authorization boundary that cannot be silently changed.</a:t>
            </a:r>
            <a:endParaRPr lang="en-US" sz="1160" dirty="0"/>
          </a:p>
        </p:txBody>
      </p:sp>
      <p:sp>
        <p:nvSpPr>
          <p:cNvPr id="49" name="Shape 47"/>
          <p:cNvSpPr/>
          <p:nvPr/>
        </p:nvSpPr>
        <p:spPr>
          <a:xfrm>
            <a:off x="5321808" y="4160520"/>
            <a:ext cx="2011680" cy="1097280"/>
          </a:xfrm>
          <a:prstGeom prst="roundRect">
            <a:avLst/>
          </a:prstGeom>
          <a:solidFill>
            <a:srgbClr val="22D3EE">
              <a:alpha val="8000"/>
            </a:srgbClr>
          </a:solidFill>
          <a:ln w="12700">
            <a:solidFill>
              <a:srgbClr val="22D3EE">
                <a:alpha val="50000"/>
              </a:srgbClr>
            </a:solidFill>
            <a:prstDash val="solid"/>
          </a:ln>
        </p:spPr>
        <p:txBody>
          <a:bodyPr/>
          <a:p/>
        </p:txBody>
      </p:sp>
      <p:sp>
        <p:nvSpPr>
          <p:cNvPr id="50" name="Shape 48"/>
          <p:cNvSpPr/>
          <p:nvPr/>
        </p:nvSpPr>
        <p:spPr>
          <a:xfrm>
            <a:off x="5724144" y="4343400"/>
            <a:ext cx="859536" cy="292608"/>
          </a:xfrm>
          <a:prstGeom prst="roundRect">
            <a:avLst>
              <a:gd name="adj" fmla="val 25000"/>
            </a:avLst>
          </a:prstGeom>
          <a:solidFill>
            <a:srgbClr val="22D3EE">
              <a:alpha val="16000"/>
            </a:srgbClr>
          </a:solidFill>
          <a:ln w="8890">
            <a:solidFill>
              <a:srgbClr val="22D3EE">
                <a:alpha val="55000"/>
              </a:srgbClr>
            </a:solidFill>
            <a:prstDash val="solid"/>
          </a:ln>
        </p:spPr>
        <p:txBody>
          <a:bodyPr/>
          <a:p/>
        </p:txBody>
      </p:sp>
      <p:sp>
        <p:nvSpPr>
          <p:cNvPr id="51" name="Text 49"/>
          <p:cNvSpPr/>
          <p:nvPr/>
        </p:nvSpPr>
        <p:spPr>
          <a:xfrm>
            <a:off x="5724144" y="4347972"/>
            <a:ext cx="859536" cy="256032"/>
          </a:xfrm>
          <a:prstGeom prst="rect">
            <a:avLst/>
          </a:prstGeom>
          <a:noFill/>
          <a:ln/>
        </p:spPr>
        <p:txBody>
          <a:bodyPr wrap="square" lIns="0" tIns="0" rIns="0" bIns="0" rtlCol="0" anchor="ctr"/>
          <a:lstStyle/>
          <a:p>
            <a:pPr algn="ctr" indent="0" marL="0">
              <a:buNone/>
            </a:pPr>
            <a:r>
              <a:rPr lang="en-US" sz="850" b="1" dirty="0">
                <a:solidFill>
                  <a:srgbClr val="22D3EE"/>
                </a:solidFill>
                <a:latin typeface="Noto Sans CJK SC" pitchFamily="34" charset="0"/>
                <a:ea typeface="Noto Sans CJK SC" pitchFamily="34" charset="-122"/>
                <a:cs typeface="Noto Sans CJK SC" pitchFamily="34" charset="-120"/>
              </a:rPr>
              <a:t>MOSS</a:t>
            </a:r>
            <a:endParaRPr lang="en-US" sz="850" dirty="0"/>
          </a:p>
        </p:txBody>
      </p:sp>
      <p:sp>
        <p:nvSpPr>
          <p:cNvPr id="52" name="Text 50"/>
          <p:cNvSpPr/>
          <p:nvPr/>
        </p:nvSpPr>
        <p:spPr>
          <a:xfrm>
            <a:off x="5477256" y="4663440"/>
            <a:ext cx="1691640" cy="384048"/>
          </a:xfrm>
          <a:prstGeom prst="rect">
            <a:avLst/>
          </a:prstGeom>
          <a:noFill/>
          <a:ln/>
        </p:spPr>
        <p:txBody>
          <a:bodyPr wrap="square" lIns="0" tIns="0" rIns="0" bIns="0" rtlCol="0" anchor="t">
            <a:normAutofit/>
          </a:bodyPr>
          <a:lstStyle/>
          <a:p>
            <a:pPr algn="ctr" indent="0" marL="0">
              <a:buNone/>
            </a:pPr>
            <a:r>
              <a:t>Build + simulate</a:t>
            </a:r>
            <a:endParaRPr lang="en-US" sz="1050" dirty="0"/>
          </a:p>
          <a:p>
            <a:r>
              <a:t>Structured receipt</a:t>
            </a:r>
          </a:p>
        </p:txBody>
      </p:sp>
      <p:sp>
        <p:nvSpPr>
          <p:cNvPr id="53" name="Shape 51"/>
          <p:cNvSpPr/>
          <p:nvPr/>
        </p:nvSpPr>
        <p:spPr>
          <a:xfrm>
            <a:off x="7516368" y="4160520"/>
            <a:ext cx="4005072" cy="1097280"/>
          </a:xfrm>
          <a:prstGeom prst="roundRect">
            <a:avLst/>
          </a:prstGeom>
          <a:solidFill>
            <a:srgbClr val="22C55E">
              <a:alpha val="6000"/>
            </a:srgbClr>
          </a:solidFill>
          <a:ln w="12700">
            <a:solidFill>
              <a:srgbClr val="22C55E">
                <a:alpha val="45000"/>
              </a:srgbClr>
            </a:solidFill>
            <a:prstDash val="solid"/>
          </a:ln>
        </p:spPr>
        <p:txBody>
          <a:bodyPr/>
          <a:p/>
        </p:txBody>
      </p:sp>
      <p:sp>
        <p:nvSpPr>
          <p:cNvPr id="54" name="Shape 52"/>
          <p:cNvSpPr/>
          <p:nvPr/>
        </p:nvSpPr>
        <p:spPr>
          <a:xfrm>
            <a:off x="7799832" y="4343400"/>
            <a:ext cx="1170432" cy="292608"/>
          </a:xfrm>
          <a:prstGeom prst="roundRect">
            <a:avLst>
              <a:gd name="adj" fmla="val 25000"/>
            </a:avLst>
          </a:prstGeom>
          <a:solidFill>
            <a:srgbClr val="22C55E">
              <a:alpha val="16000"/>
            </a:srgbClr>
          </a:solidFill>
          <a:ln w="8890">
            <a:solidFill>
              <a:srgbClr val="22C55E">
                <a:alpha val="55000"/>
              </a:srgbClr>
            </a:solidFill>
            <a:prstDash val="solid"/>
          </a:ln>
        </p:spPr>
        <p:txBody>
          <a:bodyPr/>
          <a:p/>
        </p:txBody>
      </p:sp>
      <p:sp>
        <p:nvSpPr>
          <p:cNvPr id="55" name="Text 53"/>
          <p:cNvSpPr/>
          <p:nvPr/>
        </p:nvSpPr>
        <p:spPr>
          <a:xfrm>
            <a:off x="7799832" y="4347972"/>
            <a:ext cx="1170432" cy="256032"/>
          </a:xfrm>
          <a:prstGeom prst="rect">
            <a:avLst/>
          </a:prstGeom>
          <a:noFill/>
          <a:ln/>
        </p:spPr>
        <p:txBody>
          <a:bodyPr wrap="square" lIns="0" tIns="0" rIns="0" bIns="0" rtlCol="0" anchor="ctr"/>
          <a:lstStyle/>
          <a:p>
            <a:pPr algn="ctr" indent="0" marL="0">
              <a:buNone/>
            </a:pPr>
            <a:r>
              <a:rPr lang="en-US" sz="850" b="1" dirty="0">
                <a:solidFill>
                  <a:srgbClr val="22C55E"/>
                </a:solidFill>
                <a:latin typeface="Noto Sans CJK SC" pitchFamily="34" charset="0"/>
                <a:ea typeface="Noto Sans CJK SC" pitchFamily="34" charset="-122"/>
                <a:cs typeface="Noto Sans CJK SC" pitchFamily="34" charset="-120"/>
              </a:rPr>
              <a:t>MOSSGUARD</a:t>
            </a:r>
            <a:endParaRPr lang="en-US" sz="850" dirty="0"/>
          </a:p>
        </p:txBody>
      </p:sp>
      <p:sp>
        <p:nvSpPr>
          <p:cNvPr id="56" name="Text 54"/>
          <p:cNvSpPr/>
          <p:nvPr/>
        </p:nvSpPr>
        <p:spPr>
          <a:xfrm>
            <a:off x="9089136" y="4288536"/>
            <a:ext cx="2212848" cy="530352"/>
          </a:xfrm>
          <a:prstGeom prst="rect">
            <a:avLst/>
          </a:prstGeom>
          <a:noFill/>
          <a:ln/>
        </p:spPr>
        <p:txBody>
          <a:bodyPr wrap="square" lIns="0" tIns="0" rIns="0" bIns="0" rtlCol="0" anchor="t">
            <a:normAutofit/>
          </a:bodyPr>
          <a:lstStyle/>
          <a:p>
            <a:pPr algn="l" indent="0" marL="0">
              <a:buNone/>
            </a:pPr>
            <a:r>
              <a:t>Deterministically compare Intent / Action / Outcome; only VERIFIED requests reach wallet review.</a:t>
            </a:r>
            <a:endParaRPr lang="en-US" sz="1090" dirty="0"/>
          </a:p>
        </p:txBody>
      </p:sp>
      <p:sp>
        <p:nvSpPr>
          <p:cNvPr id="57" name="Shape 55"/>
          <p:cNvSpPr/>
          <p:nvPr/>
        </p:nvSpPr>
        <p:spPr>
          <a:xfrm>
            <a:off x="548640" y="6446520"/>
            <a:ext cx="11064240" cy="0"/>
          </a:xfrm>
          <a:prstGeom prst="line">
            <a:avLst/>
          </a:prstGeom>
          <a:noFill/>
          <a:ln w="7620">
            <a:solidFill>
              <a:srgbClr val="292747">
                <a:alpha val="70000"/>
              </a:srgbClr>
            </a:solidFill>
            <a:prstDash val="solid"/>
          </a:ln>
        </p:spPr>
        <p:txBody>
          <a:bodyPr/>
          <a:p/>
        </p:txBody>
      </p:sp>
      <p:sp>
        <p:nvSpPr>
          <p:cNvPr id="58" name="Text 56"/>
          <p:cNvSpPr/>
          <p:nvPr/>
        </p:nvSpPr>
        <p:spPr>
          <a:xfrm>
            <a:off x="576072" y="6492240"/>
            <a:ext cx="4023360" cy="155448"/>
          </a:xfrm>
          <a:prstGeom prst="rect">
            <a:avLst/>
          </a:prstGeom>
          <a:noFill/>
          <a:ln/>
        </p:spPr>
        <p:txBody>
          <a:bodyPr wrap="square" lIns="0" tIns="0" rIns="0" bIns="0" rtlCol="0" anchor="ctr"/>
          <a:lstStyle/>
          <a:p>
            <a:pPr indent="0" marL="0">
              <a:buNone/>
            </a:pPr>
            <a:r>
              <a:rPr lang="en-US" sz="760" dirty="0">
                <a:solidFill>
                  <a:srgbClr val="6B7280"/>
                </a:solidFill>
                <a:latin typeface="Noto Sans CJK SC" pitchFamily="34" charset="0"/>
                <a:ea typeface="Noto Sans CJK SC" pitchFamily="34" charset="-122"/>
                <a:cs typeface="Noto Sans CJK SC" pitchFamily="34" charset="-120"/>
              </a:rPr>
              <a:t>Agent proposes. Evidence decides. Human signs.</a:t>
            </a:r>
            <a:endParaRPr lang="en-US" sz="760" dirty="0"/>
          </a:p>
        </p:txBody>
      </p:sp>
      <p:sp>
        <p:nvSpPr>
          <p:cNvPr id="59" name="Text 57"/>
          <p:cNvSpPr/>
          <p:nvPr/>
        </p:nvSpPr>
        <p:spPr>
          <a:xfrm>
            <a:off x="5623560" y="6492240"/>
            <a:ext cx="5486400" cy="155448"/>
          </a:xfrm>
          <a:prstGeom prst="rect">
            <a:avLst/>
          </a:prstGeom>
          <a:noFill/>
          <a:ln/>
        </p:spPr>
        <p:txBody>
          <a:bodyPr wrap="square" lIns="0" tIns="0" rIns="0" bIns="0" rtlCol="0" anchor="ctr"/>
          <a:lstStyle/>
          <a:p>
            <a:pPr algn="r" indent="0" marL="0">
              <a:buNone/>
            </a:pPr>
            <a:r>
              <a:rPr lang="en-US" sz="720" dirty="0">
                <a:solidFill>
                  <a:srgbClr val="6B7280"/>
                </a:solidFill>
                <a:latin typeface="Noto Sans CJK SC" pitchFamily="34" charset="0"/>
                <a:ea typeface="Noto Sans CJK SC" pitchFamily="34" charset="-122"/>
                <a:cs typeface="Noto Sans CJK SC" pitchFamily="34" charset="-120"/>
              </a:rPr>
              <a:t>Sources: Moss README &amp; SECURITY</a:t>
            </a:r>
            <a:endParaRPr lang="en-US" sz="720" dirty="0"/>
          </a:p>
        </p:txBody>
      </p:sp>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7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11"/>
          </a:solidFill>
          <a:ln w="12700">
            <a:solidFill>
              <a:srgbClr val="070711"/>
            </a:solidFill>
            <a:prstDash val="solid"/>
          </a:ln>
        </p:spPr>
        <p:txBody>
          <a:bodyPr/>
          <a:p/>
        </p:txBody>
      </p:sp>
      <p:sp>
        <p:nvSpPr>
          <p:cNvPr id="3" name="Shape 1"/>
          <p:cNvSpPr/>
          <p:nvPr/>
        </p:nvSpPr>
        <p:spPr>
          <a:xfrm>
            <a:off x="512064" y="310896"/>
            <a:ext cx="310896" cy="310896"/>
          </a:xfrm>
          <a:prstGeom prst="diamond">
            <a:avLst/>
          </a:prstGeom>
          <a:solidFill>
            <a:srgbClr val="8B5CF6"/>
          </a:solidFill>
          <a:ln w="12700">
            <a:solidFill>
              <a:srgbClr val="A78BFA">
                <a:alpha val="60000"/>
              </a:srgbClr>
            </a:solidFill>
            <a:prstDash val="solid"/>
          </a:ln>
        </p:spPr>
        <p:txBody>
          <a:bodyPr/>
          <a:p/>
        </p:txBody>
      </p:sp>
      <p:sp>
        <p:nvSpPr>
          <p:cNvPr id="4" name="Shape 2"/>
          <p:cNvSpPr/>
          <p:nvPr/>
        </p:nvSpPr>
        <p:spPr>
          <a:xfrm>
            <a:off x="580461" y="379293"/>
            <a:ext cx="174102" cy="174102"/>
          </a:xfrm>
          <a:prstGeom prst="diamond">
            <a:avLst/>
          </a:prstGeom>
          <a:solidFill>
            <a:srgbClr val="070711"/>
          </a:solidFill>
          <a:ln w="12700">
            <a:solidFill>
              <a:srgbClr val="070711"/>
            </a:solidFill>
            <a:prstDash val="solid"/>
          </a:ln>
        </p:spPr>
        <p:txBody>
          <a:bodyPr/>
          <a:p/>
        </p:txBody>
      </p:sp>
      <p:sp>
        <p:nvSpPr>
          <p:cNvPr id="5" name="Text 3"/>
          <p:cNvSpPr/>
          <p:nvPr/>
        </p:nvSpPr>
        <p:spPr>
          <a:xfrm>
            <a:off x="914400" y="292608"/>
            <a:ext cx="1371600" cy="219456"/>
          </a:xfrm>
          <a:prstGeom prst="rect">
            <a:avLst/>
          </a:prstGeom>
          <a:noFill/>
          <a:ln/>
        </p:spPr>
        <p:txBody>
          <a:bodyPr wrap="square" lIns="0" tIns="0" rIns="0" bIns="0" rtlCol="0" anchor="ctr"/>
          <a:lstStyle/>
          <a:p>
            <a:pPr indent="0" marL="0">
              <a:buNone/>
            </a:pPr>
            <a:r>
              <a:rPr lang="en-US" sz="1000" b="1" spc="120" kern="0" dirty="0">
                <a:solidFill>
                  <a:srgbClr val="A78BFA"/>
                </a:solidFill>
                <a:latin typeface="Noto Sans CJK SC" pitchFamily="34" charset="0"/>
                <a:ea typeface="Noto Sans CJK SC" pitchFamily="34" charset="-122"/>
                <a:cs typeface="Noto Sans CJK SC" pitchFamily="34" charset="-120"/>
              </a:rPr>
              <a:t>MOSSGUARD</a:t>
            </a:r>
            <a:endParaRPr lang="en-US" sz="1000" dirty="0"/>
          </a:p>
        </p:txBody>
      </p:sp>
      <p:sp>
        <p:nvSpPr>
          <p:cNvPr id="6" name="Text 4"/>
          <p:cNvSpPr/>
          <p:nvPr/>
        </p:nvSpPr>
        <p:spPr>
          <a:xfrm>
            <a:off x="9875520" y="301752"/>
            <a:ext cx="1645920" cy="201168"/>
          </a:xfrm>
          <a:prstGeom prst="rect">
            <a:avLst/>
          </a:prstGeom>
          <a:noFill/>
          <a:ln/>
        </p:spPr>
        <p:txBody>
          <a:bodyPr wrap="square" lIns="0" tIns="0" rIns="0" bIns="0" rtlCol="0" anchor="ctr"/>
          <a:lstStyle/>
          <a:p>
            <a:pPr algn="r" indent="0" marL="0">
              <a:buNone/>
            </a:pPr>
            <a:r>
              <a:rPr lang="en-US" sz="900" dirty="0">
                <a:solidFill>
                  <a:srgbClr val="9CA3AF"/>
                </a:solidFill>
                <a:latin typeface="Noto Sans CJK SC" pitchFamily="34" charset="0"/>
                <a:ea typeface="Noto Sans CJK SC" pitchFamily="34" charset="-122"/>
                <a:cs typeface="Noto Sans CJK SC" pitchFamily="34" charset="-120"/>
              </a:rPr>
              <a:t>04 · DEMO</a:t>
            </a:r>
            <a:endParaRPr lang="en-US" sz="900" dirty="0"/>
          </a:p>
        </p:txBody>
      </p:sp>
      <p:sp>
        <p:nvSpPr>
          <p:cNvPr id="7" name="Text 5"/>
          <p:cNvSpPr/>
          <p:nvPr/>
        </p:nvSpPr>
        <p:spPr>
          <a:xfrm>
            <a:off x="566928" y="749808"/>
            <a:ext cx="10881360" cy="475488"/>
          </a:xfrm>
          <a:prstGeom prst="rect">
            <a:avLst/>
          </a:prstGeom>
          <a:noFill/>
          <a:ln/>
        </p:spPr>
        <p:txBody>
          <a:bodyPr wrap="square" lIns="0" tIns="0" rIns="0" bIns="0" rtlCol="0" anchor="ctr"/>
          <a:lstStyle/>
          <a:p>
            <a:pPr indent="0" marL="0">
              <a:buNone/>
            </a:pPr>
            <a:r>
              <a:rPr lang="en-US" sz="2500" b="1" dirty="0">
                <a:solidFill>
                  <a:srgbClr val="F8FAFC"/>
                </a:solidFill>
                <a:latin typeface="Noto Sans CJK SC" pitchFamily="34" charset="0"/>
                <a:ea typeface="Noto Sans CJK SC" pitchFamily="34" charset="-122"/>
                <a:cs typeface="Noto Sans CJK SC" pitchFamily="34" charset="-120"/>
              </a:rPr>
              <a:t>Demo 1：Transfer Drift Attack</a:t>
            </a:r>
            <a:endParaRPr lang="en-US" sz="2500" dirty="0"/>
          </a:p>
        </p:txBody>
      </p:sp>
      <p:sp>
        <p:nvSpPr>
          <p:cNvPr id="8" name="Text 6"/>
          <p:cNvSpPr/>
          <p:nvPr/>
        </p:nvSpPr>
        <p:spPr>
          <a:xfrm>
            <a:off x="576072" y="1216152"/>
            <a:ext cx="10698480" cy="274320"/>
          </a:xfrm>
          <a:prstGeom prst="rect">
            <a:avLst/>
          </a:prstGeom>
          <a:noFill/>
          <a:ln/>
        </p:spPr>
        <p:txBody>
          <a:bodyPr wrap="square" lIns="0" tIns="0" rIns="0" bIns="0" rtlCol="0" anchor="ctr"/>
          <a:lstStyle/>
          <a:p>
            <a:pPr indent="0" marL="0">
              <a:buNone/>
            </a:pPr>
            <a:r>
              <a:t>User confirms 5 MON → Alice; the agent drifts to 50 MON → Bob; MossGuard blocks before signing.</a:t>
            </a:r>
            <a:endParaRPr lang="en-US" sz="1150" dirty="0"/>
          </a:p>
        </p:txBody>
      </p:sp>
      <p:sp>
        <p:nvSpPr>
          <p:cNvPr id="9" name="Shape 7"/>
          <p:cNvSpPr/>
          <p:nvPr/>
        </p:nvSpPr>
        <p:spPr>
          <a:xfrm>
            <a:off x="566928" y="1627632"/>
            <a:ext cx="2971800" cy="4535424"/>
          </a:xfrm>
          <a:prstGeom prst="roundRect">
            <a:avLst>
              <a:gd name="adj" fmla="val 2769"/>
            </a:avLst>
          </a:prstGeom>
          <a:solidFill>
            <a:srgbClr val="111126"/>
          </a:solidFill>
          <a:ln w="10160">
            <a:solidFill>
              <a:srgbClr val="292747"/>
            </a:solidFill>
            <a:prstDash val="solid"/>
          </a:ln>
          <a:effectLst>
            <a:outerShdw sx="100000" sy="100000" kx="0" ky="0" algn="bl" rotWithShape="0" blurRad="1.7189509497218795e+37" dist="1.0313705698331278e+37" dir="4.5349632000000006e+44">
              <a:srgbClr val="000000">
                <a:alpha val="2.5000000000000002e+44"/>
              </a:srgbClr>
            </a:outerShdw>
          </a:effectLst>
        </p:spPr>
        <p:txBody>
          <a:bodyPr/>
          <a:p/>
        </p:txBody>
      </p:sp>
      <p:sp>
        <p:nvSpPr>
          <p:cNvPr id="10" name="Shape 8"/>
          <p:cNvSpPr/>
          <p:nvPr/>
        </p:nvSpPr>
        <p:spPr>
          <a:xfrm>
            <a:off x="868680" y="1901952"/>
            <a:ext cx="1389888" cy="292608"/>
          </a:xfrm>
          <a:prstGeom prst="roundRect">
            <a:avLst>
              <a:gd name="adj" fmla="val 25000"/>
            </a:avLst>
          </a:prstGeom>
          <a:solidFill>
            <a:srgbClr val="EF4444">
              <a:alpha val="14000"/>
            </a:srgbClr>
          </a:solidFill>
          <a:ln w="8890">
            <a:solidFill>
              <a:srgbClr val="EF4444">
                <a:alpha val="55000"/>
              </a:srgbClr>
            </a:solidFill>
            <a:prstDash val="solid"/>
          </a:ln>
        </p:spPr>
        <p:txBody>
          <a:bodyPr/>
          <a:p/>
        </p:txBody>
      </p:sp>
      <p:sp>
        <p:nvSpPr>
          <p:cNvPr id="11" name="Text 9"/>
          <p:cNvSpPr/>
          <p:nvPr/>
        </p:nvSpPr>
        <p:spPr>
          <a:xfrm>
            <a:off x="868680" y="1906524"/>
            <a:ext cx="1389888" cy="256032"/>
          </a:xfrm>
          <a:prstGeom prst="rect">
            <a:avLst/>
          </a:prstGeom>
          <a:noFill/>
          <a:ln/>
        </p:spPr>
        <p:txBody>
          <a:bodyPr wrap="square" lIns="0" tIns="0" rIns="0" bIns="0" rtlCol="0" anchor="ctr"/>
          <a:lstStyle/>
          <a:p>
            <a:pPr algn="ctr" indent="0" marL="0">
              <a:buNone/>
            </a:pPr>
            <a:r>
              <a:rPr lang="en-US" sz="850" b="1" dirty="0">
                <a:solidFill>
                  <a:srgbClr val="EF4444"/>
                </a:solidFill>
                <a:latin typeface="Noto Sans CJK SC" pitchFamily="34" charset="0"/>
                <a:ea typeface="Noto Sans CJK SC" pitchFamily="34" charset="-122"/>
                <a:cs typeface="Noto Sans CJK SC" pitchFamily="34" charset="-120"/>
              </a:rPr>
              <a:t>FAULT INJECTION</a:t>
            </a:r>
            <a:endParaRPr lang="en-US" sz="850" dirty="0"/>
          </a:p>
        </p:txBody>
      </p:sp>
      <p:sp>
        <p:nvSpPr>
          <p:cNvPr id="12" name="Shape 10"/>
          <p:cNvSpPr/>
          <p:nvPr/>
        </p:nvSpPr>
        <p:spPr>
          <a:xfrm>
            <a:off x="868680" y="2523744"/>
            <a:ext cx="384048" cy="384048"/>
          </a:xfrm>
          <a:prstGeom prst="ellipse">
            <a:avLst/>
          </a:prstGeom>
          <a:solidFill>
            <a:srgbClr val="22C55E">
              <a:alpha val="95000"/>
            </a:srgbClr>
          </a:solidFill>
          <a:ln w="13970">
            <a:solidFill>
              <a:srgbClr val="22C55E"/>
            </a:solidFill>
            <a:prstDash val="solid"/>
          </a:ln>
        </p:spPr>
        <p:txBody>
          <a:bodyPr/>
          <a:p/>
        </p:txBody>
      </p:sp>
      <p:sp>
        <p:nvSpPr>
          <p:cNvPr id="13" name="Text 11"/>
          <p:cNvSpPr/>
          <p:nvPr/>
        </p:nvSpPr>
        <p:spPr>
          <a:xfrm>
            <a:off x="868680" y="2542032"/>
            <a:ext cx="384048" cy="292608"/>
          </a:xfrm>
          <a:prstGeom prst="rect">
            <a:avLst/>
          </a:prstGeom>
          <a:noFill/>
          <a:ln/>
        </p:spPr>
        <p:txBody>
          <a:bodyPr wrap="square" lIns="0" tIns="0" rIns="0" bIns="0" rtlCol="0" anchor="ctr">
            <a:normAutofit/>
          </a:bodyPr>
          <a:lstStyle/>
          <a:p>
            <a:pPr algn="ctr" indent="0" marL="0">
              <a:buNone/>
            </a:pPr>
            <a:r>
              <a:rPr lang="en-US" sz="1200" b="1" dirty="0">
                <a:solidFill>
                  <a:srgbClr val="F8FAFC"/>
                </a:solidFill>
                <a:latin typeface="Noto Sans CJK SC" pitchFamily="34" charset="0"/>
                <a:ea typeface="Noto Sans CJK SC" pitchFamily="34" charset="-122"/>
                <a:cs typeface="Noto Sans CJK SC" pitchFamily="34" charset="-120"/>
              </a:rPr>
              <a:t>1</a:t>
            </a:r>
            <a:endParaRPr lang="en-US" sz="1200" dirty="0"/>
          </a:p>
        </p:txBody>
      </p:sp>
      <p:sp>
        <p:nvSpPr>
          <p:cNvPr id="14" name="Text 12"/>
          <p:cNvSpPr/>
          <p:nvPr/>
        </p:nvSpPr>
        <p:spPr>
          <a:xfrm>
            <a:off x="1371600" y="2514600"/>
            <a:ext cx="1828800" cy="219456"/>
          </a:xfrm>
          <a:prstGeom prst="rect">
            <a:avLst/>
          </a:prstGeom>
          <a:noFill/>
          <a:ln/>
        </p:spPr>
        <p:txBody>
          <a:bodyPr wrap="square" lIns="0" tIns="0" rIns="0" bIns="0" rtlCol="0" anchor="t">
            <a:normAutofit/>
          </a:bodyPr>
          <a:lstStyle/>
          <a:p>
            <a:pPr algn="l" indent="0" marL="0">
              <a:buNone/>
            </a:pPr>
            <a:r>
              <a:rPr lang="en-US" sz="1250" b="1" dirty="0">
                <a:solidFill>
                  <a:srgbClr val="F8FAFC"/>
                </a:solidFill>
                <a:latin typeface="Noto Sans CJK SC" pitchFamily="34" charset="0"/>
                <a:ea typeface="Noto Sans CJK SC" pitchFamily="34" charset="-122"/>
                <a:cs typeface="Noto Sans CJK SC" pitchFamily="34" charset="-120"/>
              </a:rPr>
              <a:t>User confirms Intent</a:t>
            </a:r>
            <a:endParaRPr lang="en-US" sz="1250" dirty="0"/>
          </a:p>
        </p:txBody>
      </p:sp>
      <p:sp>
        <p:nvSpPr>
          <p:cNvPr id="15" name="Text 13"/>
          <p:cNvSpPr/>
          <p:nvPr/>
        </p:nvSpPr>
        <p:spPr>
          <a:xfrm>
            <a:off x="1371600" y="2770632"/>
            <a:ext cx="1828800" cy="320040"/>
          </a:xfrm>
          <a:prstGeom prst="rect">
            <a:avLst/>
          </a:prstGeom>
          <a:noFill/>
          <a:ln/>
        </p:spPr>
        <p:txBody>
          <a:bodyPr wrap="square" lIns="0" tIns="0" rIns="0" bIns="0" rtlCol="0" anchor="t">
            <a:normAutofit/>
          </a:bodyPr>
          <a:lstStyle/>
          <a:p>
            <a:pPr algn="l" indent="0" marL="0">
              <a:buNone/>
            </a:pPr>
            <a:r>
              <a:rPr lang="en-US" sz="870" dirty="0">
                <a:solidFill>
                  <a:srgbClr val="9CA3AF"/>
                </a:solidFill>
                <a:latin typeface="Noto Sans CJK SC" pitchFamily="34" charset="0"/>
                <a:ea typeface="Noto Sans CJK SC" pitchFamily="34" charset="-122"/>
                <a:cs typeface="Noto Sans CJK SC" pitchFamily="34" charset="-120"/>
              </a:rPr>
              <a:t>5 MON → Alice</a:t>
            </a:r>
            <a:endParaRPr lang="en-US" sz="870" dirty="0"/>
          </a:p>
        </p:txBody>
      </p:sp>
      <p:sp>
        <p:nvSpPr>
          <p:cNvPr id="16" name="Shape 14"/>
          <p:cNvSpPr/>
          <p:nvPr/>
        </p:nvSpPr>
        <p:spPr>
          <a:xfrm>
            <a:off x="868680" y="3310128"/>
            <a:ext cx="384048" cy="384048"/>
          </a:xfrm>
          <a:prstGeom prst="ellipse">
            <a:avLst/>
          </a:prstGeom>
          <a:solidFill>
            <a:srgbClr val="EF4444">
              <a:alpha val="95000"/>
            </a:srgbClr>
          </a:solidFill>
          <a:ln w="13970">
            <a:solidFill>
              <a:srgbClr val="EF4444"/>
            </a:solidFill>
            <a:prstDash val="solid"/>
          </a:ln>
        </p:spPr>
        <p:txBody>
          <a:bodyPr/>
          <a:p/>
        </p:txBody>
      </p:sp>
      <p:sp>
        <p:nvSpPr>
          <p:cNvPr id="17" name="Text 15"/>
          <p:cNvSpPr/>
          <p:nvPr/>
        </p:nvSpPr>
        <p:spPr>
          <a:xfrm>
            <a:off x="868680" y="3328416"/>
            <a:ext cx="384048" cy="292608"/>
          </a:xfrm>
          <a:prstGeom prst="rect">
            <a:avLst/>
          </a:prstGeom>
          <a:noFill/>
          <a:ln/>
        </p:spPr>
        <p:txBody>
          <a:bodyPr wrap="square" lIns="0" tIns="0" rIns="0" bIns="0" rtlCol="0" anchor="ctr">
            <a:normAutofit/>
          </a:bodyPr>
          <a:lstStyle/>
          <a:p>
            <a:pPr algn="ctr" indent="0" marL="0">
              <a:buNone/>
            </a:pPr>
            <a:r>
              <a:rPr lang="en-US" sz="1200" b="1" dirty="0">
                <a:solidFill>
                  <a:srgbClr val="F8FAFC"/>
                </a:solidFill>
                <a:latin typeface="Noto Sans CJK SC" pitchFamily="34" charset="0"/>
                <a:ea typeface="Noto Sans CJK SC" pitchFamily="34" charset="-122"/>
                <a:cs typeface="Noto Sans CJK SC" pitchFamily="34" charset="-120"/>
              </a:rPr>
              <a:t>2</a:t>
            </a:r>
            <a:endParaRPr lang="en-US" sz="1200" dirty="0"/>
          </a:p>
        </p:txBody>
      </p:sp>
      <p:sp>
        <p:nvSpPr>
          <p:cNvPr id="18" name="Text 16"/>
          <p:cNvSpPr/>
          <p:nvPr/>
        </p:nvSpPr>
        <p:spPr>
          <a:xfrm>
            <a:off x="1371600" y="3300984"/>
            <a:ext cx="1828800" cy="219456"/>
          </a:xfrm>
          <a:prstGeom prst="rect">
            <a:avLst/>
          </a:prstGeom>
          <a:noFill/>
          <a:ln/>
        </p:spPr>
        <p:txBody>
          <a:bodyPr wrap="square" lIns="0" tIns="0" rIns="0" bIns="0" rtlCol="0" anchor="t">
            <a:normAutofit/>
          </a:bodyPr>
          <a:lstStyle/>
          <a:p>
            <a:pPr algn="l" indent="0" marL="0">
              <a:buNone/>
            </a:pPr>
            <a:r>
              <a:rPr lang="en-US" sz="1250" b="1" dirty="0">
                <a:solidFill>
                  <a:srgbClr val="F8FAFC"/>
                </a:solidFill>
                <a:latin typeface="Noto Sans CJK SC" pitchFamily="34" charset="0"/>
                <a:ea typeface="Noto Sans CJK SC" pitchFamily="34" charset="-122"/>
                <a:cs typeface="Noto Sans CJK SC" pitchFamily="34" charset="-120"/>
              </a:rPr>
              <a:t>Agent Action drifts</a:t>
            </a:r>
            <a:endParaRPr lang="en-US" sz="1250" dirty="0"/>
          </a:p>
        </p:txBody>
      </p:sp>
      <p:sp>
        <p:nvSpPr>
          <p:cNvPr id="19" name="Text 17"/>
          <p:cNvSpPr/>
          <p:nvPr/>
        </p:nvSpPr>
        <p:spPr>
          <a:xfrm>
            <a:off x="1371600" y="3557016"/>
            <a:ext cx="1828800" cy="320040"/>
          </a:xfrm>
          <a:prstGeom prst="rect">
            <a:avLst/>
          </a:prstGeom>
          <a:noFill/>
          <a:ln/>
        </p:spPr>
        <p:txBody>
          <a:bodyPr wrap="square" lIns="0" tIns="0" rIns="0" bIns="0" rtlCol="0" anchor="t">
            <a:normAutofit/>
          </a:bodyPr>
          <a:lstStyle/>
          <a:p>
            <a:pPr algn="l" indent="0" marL="0">
              <a:buNone/>
            </a:pPr>
            <a:r>
              <a:rPr lang="en-US" sz="870" dirty="0">
                <a:solidFill>
                  <a:srgbClr val="9CA3AF"/>
                </a:solidFill>
                <a:latin typeface="Noto Sans CJK SC" pitchFamily="34" charset="0"/>
                <a:ea typeface="Noto Sans CJK SC" pitchFamily="34" charset="-122"/>
                <a:cs typeface="Noto Sans CJK SC" pitchFamily="34" charset="-120"/>
              </a:rPr>
              <a:t>50 MON → Bob</a:t>
            </a:r>
            <a:endParaRPr lang="en-US" sz="870" dirty="0"/>
          </a:p>
        </p:txBody>
      </p:sp>
      <p:sp>
        <p:nvSpPr>
          <p:cNvPr id="20" name="Shape 18"/>
          <p:cNvSpPr/>
          <p:nvPr/>
        </p:nvSpPr>
        <p:spPr>
          <a:xfrm>
            <a:off x="868680" y="4096512"/>
            <a:ext cx="384048" cy="384048"/>
          </a:xfrm>
          <a:prstGeom prst="ellipse">
            <a:avLst/>
          </a:prstGeom>
          <a:solidFill>
            <a:srgbClr val="22D3EE">
              <a:alpha val="95000"/>
            </a:srgbClr>
          </a:solidFill>
          <a:ln w="13970">
            <a:solidFill>
              <a:srgbClr val="22D3EE"/>
            </a:solidFill>
            <a:prstDash val="solid"/>
          </a:ln>
        </p:spPr>
        <p:txBody>
          <a:bodyPr/>
          <a:p/>
        </p:txBody>
      </p:sp>
      <p:sp>
        <p:nvSpPr>
          <p:cNvPr id="21" name="Text 19"/>
          <p:cNvSpPr/>
          <p:nvPr/>
        </p:nvSpPr>
        <p:spPr>
          <a:xfrm>
            <a:off x="868680" y="4114800"/>
            <a:ext cx="384048" cy="292608"/>
          </a:xfrm>
          <a:prstGeom prst="rect">
            <a:avLst/>
          </a:prstGeom>
          <a:noFill/>
          <a:ln/>
        </p:spPr>
        <p:txBody>
          <a:bodyPr wrap="square" lIns="0" tIns="0" rIns="0" bIns="0" rtlCol="0" anchor="ctr">
            <a:normAutofit/>
          </a:bodyPr>
          <a:lstStyle/>
          <a:p>
            <a:pPr algn="ctr" indent="0" marL="0">
              <a:buNone/>
            </a:pPr>
            <a:r>
              <a:rPr lang="en-US" sz="1200" b="1" dirty="0">
                <a:solidFill>
                  <a:srgbClr val="F8FAFC"/>
                </a:solidFill>
                <a:latin typeface="Noto Sans CJK SC" pitchFamily="34" charset="0"/>
                <a:ea typeface="Noto Sans CJK SC" pitchFamily="34" charset="-122"/>
                <a:cs typeface="Noto Sans CJK SC" pitchFamily="34" charset="-120"/>
              </a:rPr>
              <a:t>3</a:t>
            </a:r>
            <a:endParaRPr lang="en-US" sz="1200" dirty="0"/>
          </a:p>
        </p:txBody>
      </p:sp>
      <p:sp>
        <p:nvSpPr>
          <p:cNvPr id="22" name="Text 20"/>
          <p:cNvSpPr/>
          <p:nvPr/>
        </p:nvSpPr>
        <p:spPr>
          <a:xfrm>
            <a:off x="1371600" y="4087368"/>
            <a:ext cx="1828800" cy="219456"/>
          </a:xfrm>
          <a:prstGeom prst="rect">
            <a:avLst/>
          </a:prstGeom>
          <a:noFill/>
          <a:ln/>
        </p:spPr>
        <p:txBody>
          <a:bodyPr wrap="square" lIns="0" tIns="0" rIns="0" bIns="0" rtlCol="0" anchor="t">
            <a:normAutofit/>
          </a:bodyPr>
          <a:lstStyle/>
          <a:p>
            <a:pPr algn="l" indent="0" marL="0">
              <a:buNone/>
            </a:pPr>
            <a:r>
              <a:rPr lang="en-US" sz="1250" b="1" dirty="0">
                <a:solidFill>
                  <a:srgbClr val="F8FAFC"/>
                </a:solidFill>
                <a:latin typeface="Noto Sans CJK SC" pitchFamily="34" charset="0"/>
                <a:ea typeface="Noto Sans CJK SC" pitchFamily="34" charset="-122"/>
                <a:cs typeface="Noto Sans CJK SC" pitchFamily="34" charset="-120"/>
              </a:rPr>
              <a:t>Real Moss simulation</a:t>
            </a:r>
            <a:endParaRPr lang="en-US" sz="1250" dirty="0"/>
          </a:p>
        </p:txBody>
      </p:sp>
      <p:sp>
        <p:nvSpPr>
          <p:cNvPr id="23" name="Text 21"/>
          <p:cNvSpPr/>
          <p:nvPr/>
        </p:nvSpPr>
        <p:spPr>
          <a:xfrm>
            <a:off x="1371600" y="4343400"/>
            <a:ext cx="1828800" cy="320040"/>
          </a:xfrm>
          <a:prstGeom prst="rect">
            <a:avLst/>
          </a:prstGeom>
          <a:noFill/>
          <a:ln/>
        </p:spPr>
        <p:txBody>
          <a:bodyPr wrap="square" lIns="0" tIns="0" rIns="0" bIns="0" rtlCol="0" anchor="t">
            <a:normAutofit/>
          </a:bodyPr>
          <a:lstStyle/>
          <a:p>
            <a:pPr algn="l" indent="0" marL="0">
              <a:buNone/>
            </a:pPr>
            <a:r>
              <a:rPr lang="en-US" sz="870" dirty="0">
                <a:solidFill>
                  <a:srgbClr val="9CA3AF"/>
                </a:solidFill>
                <a:latin typeface="Noto Sans CJK SC" pitchFamily="34" charset="0"/>
                <a:ea typeface="Noto Sans CJK SC" pitchFamily="34" charset="-122"/>
                <a:cs typeface="Noto Sans CJK SC" pitchFamily="34" charset="-120"/>
              </a:rPr>
              <a:t>Builds an unsigned transaction and generates the outcome</a:t>
            </a:r>
            <a:endParaRPr lang="en-US" sz="870" dirty="0"/>
          </a:p>
        </p:txBody>
      </p:sp>
      <p:sp>
        <p:nvSpPr>
          <p:cNvPr id="24" name="Shape 22"/>
          <p:cNvSpPr/>
          <p:nvPr/>
        </p:nvSpPr>
        <p:spPr>
          <a:xfrm>
            <a:off x="868680" y="4965192"/>
            <a:ext cx="384048" cy="384048"/>
          </a:xfrm>
          <a:prstGeom prst="ellipse">
            <a:avLst/>
          </a:prstGeom>
          <a:solidFill>
            <a:srgbClr val="EF4444">
              <a:alpha val="95000"/>
            </a:srgbClr>
          </a:solidFill>
          <a:ln w="13970">
            <a:solidFill>
              <a:srgbClr val="EF4444"/>
            </a:solidFill>
            <a:prstDash val="solid"/>
          </a:ln>
        </p:spPr>
        <p:txBody>
          <a:bodyPr/>
          <a:p/>
        </p:txBody>
      </p:sp>
      <p:sp>
        <p:nvSpPr>
          <p:cNvPr id="25" name="Text 23"/>
          <p:cNvSpPr/>
          <p:nvPr/>
        </p:nvSpPr>
        <p:spPr>
          <a:xfrm>
            <a:off x="868680" y="4983480"/>
            <a:ext cx="384048" cy="292608"/>
          </a:xfrm>
          <a:prstGeom prst="rect">
            <a:avLst/>
          </a:prstGeom>
          <a:noFill/>
          <a:ln/>
        </p:spPr>
        <p:txBody>
          <a:bodyPr wrap="square" lIns="0" tIns="0" rIns="0" bIns="0" rtlCol="0" anchor="ctr">
            <a:normAutofit/>
          </a:bodyPr>
          <a:lstStyle/>
          <a:p>
            <a:pPr algn="ctr" indent="0" marL="0">
              <a:buNone/>
            </a:pPr>
            <a:r>
              <a:rPr lang="en-US" sz="1200" b="1" dirty="0">
                <a:solidFill>
                  <a:srgbClr val="F8FAFC"/>
                </a:solidFill>
                <a:latin typeface="Noto Sans CJK SC" pitchFamily="34" charset="0"/>
                <a:ea typeface="Noto Sans CJK SC" pitchFamily="34" charset="-122"/>
                <a:cs typeface="Noto Sans CJK SC" pitchFamily="34" charset="-120"/>
              </a:rPr>
              <a:t>4</a:t>
            </a:r>
            <a:endParaRPr lang="en-US" sz="1200" dirty="0"/>
          </a:p>
        </p:txBody>
      </p:sp>
      <p:sp>
        <p:nvSpPr>
          <p:cNvPr id="26" name="Text 24"/>
          <p:cNvSpPr/>
          <p:nvPr/>
        </p:nvSpPr>
        <p:spPr>
          <a:xfrm>
            <a:off x="1371600" y="4956048"/>
            <a:ext cx="1828800" cy="219456"/>
          </a:xfrm>
          <a:prstGeom prst="rect">
            <a:avLst/>
          </a:prstGeom>
          <a:noFill/>
          <a:ln/>
        </p:spPr>
        <p:txBody>
          <a:bodyPr wrap="square" lIns="0" tIns="0" rIns="0" bIns="0" rtlCol="0" anchor="t">
            <a:normAutofit/>
          </a:bodyPr>
          <a:lstStyle/>
          <a:p>
            <a:pPr algn="l" indent="0" marL="0">
              <a:buNone/>
            </a:pPr>
            <a:r>
              <a:rPr lang="en-US" sz="1250" b="1" dirty="0">
                <a:solidFill>
                  <a:srgbClr val="F8FAFC"/>
                </a:solidFill>
                <a:latin typeface="Noto Sans CJK SC" pitchFamily="34" charset="0"/>
                <a:ea typeface="Noto Sans CJK SC" pitchFamily="34" charset="-122"/>
                <a:cs typeface="Noto Sans CJK SC" pitchFamily="34" charset="-120"/>
              </a:rPr>
              <a:t>MossGuard decision</a:t>
            </a:r>
            <a:endParaRPr lang="en-US" sz="1250" dirty="0"/>
          </a:p>
        </p:txBody>
      </p:sp>
      <p:sp>
        <p:nvSpPr>
          <p:cNvPr id="27" name="Text 25"/>
          <p:cNvSpPr/>
          <p:nvPr/>
        </p:nvSpPr>
        <p:spPr>
          <a:xfrm>
            <a:off x="1371600" y="5212080"/>
            <a:ext cx="1828800" cy="320040"/>
          </a:xfrm>
          <a:prstGeom prst="rect">
            <a:avLst/>
          </a:prstGeom>
          <a:noFill/>
          <a:ln/>
        </p:spPr>
        <p:txBody>
          <a:bodyPr wrap="square" lIns="0" tIns="0" rIns="0" bIns="0" rtlCol="0" anchor="t">
            <a:normAutofit/>
          </a:bodyPr>
          <a:lstStyle/>
          <a:p>
            <a:pPr algn="l" indent="0" marL="0">
              <a:buNone/>
            </a:pPr>
            <a:r>
              <a:rPr lang="en-US" sz="870" dirty="0">
                <a:solidFill>
                  <a:srgbClr val="9CA3AF"/>
                </a:solidFill>
                <a:latin typeface="Noto Sans CJK SC" pitchFamily="34" charset="0"/>
                <a:ea typeface="Noto Sans CJK SC" pitchFamily="34" charset="-122"/>
                <a:cs typeface="Noto Sans CJK SC" pitchFamily="34" charset="-120"/>
              </a:rPr>
              <a:t>2 intent violations → BLOCKED</a:t>
            </a:r>
            <a:endParaRPr lang="en-US" sz="870" dirty="0"/>
          </a:p>
        </p:txBody>
      </p:sp>
      <p:sp>
        <p:nvSpPr>
          <p:cNvPr id="28" name="Shape 26"/>
          <p:cNvSpPr/>
          <p:nvPr/>
        </p:nvSpPr>
        <p:spPr>
          <a:xfrm>
            <a:off x="3767328" y="1627632"/>
            <a:ext cx="7845552" cy="4535424"/>
          </a:xfrm>
          <a:prstGeom prst="roundRect">
            <a:avLst/>
          </a:prstGeom>
          <a:solidFill>
            <a:srgbClr val="090913"/>
          </a:solidFill>
          <a:ln w="12700">
            <a:solidFill>
              <a:srgbClr val="292747"/>
            </a:solidFill>
            <a:prstDash val="solid"/>
          </a:ln>
          <a:effectLst>
            <a:outerShdw sx="100000" sy="100000" kx="0" ky="0" algn="bl" rotWithShape="0" blurRad="2.183067706146787e+41" dist="1.3098406236880722e+41" dir="2.72097792e+49">
              <a:srgbClr val="000000">
                <a:alpha val="2.5e+49"/>
              </a:srgbClr>
            </a:outerShdw>
          </a:effectLst>
        </p:spPr>
        <p:txBody>
          <a:bodyPr/>
          <a:p/>
        </p:txBody>
      </p:sp>
      <p:pic>
        <p:nvPicPr>
          <p:cNvPr id="29" name="Image 0" descr="/mnt/data/a_high_fidelity_ui_ux_dashboard_mockup_screenshot.png">    </p:cNvPr>
          <p:cNvPicPr>
            <a:picLocks noChangeAspect="1"/>
          </p:cNvPicPr>
          <p:nvPr/>
        </p:nvPicPr>
        <p:blipFill>
          <a:blip r:embed="rId1"/>
          <a:stretch>
            <a:fillRect/>
          </a:stretch>
        </p:blipFill>
        <p:spPr>
          <a:xfrm>
            <a:off x="4494276" y="1755648"/>
            <a:ext cx="6391656" cy="4261104"/>
          </a:xfrm>
          <a:prstGeom prst="rect">
            <a:avLst/>
          </a:prstGeom>
        </p:spPr>
      </p:pic>
      <p:sp>
        <p:nvSpPr>
          <p:cNvPr id="30" name="Shape 27"/>
          <p:cNvSpPr/>
          <p:nvPr/>
        </p:nvSpPr>
        <p:spPr>
          <a:xfrm>
            <a:off x="10021824" y="5559552"/>
            <a:ext cx="1298448" cy="292608"/>
          </a:xfrm>
          <a:prstGeom prst="roundRect">
            <a:avLst>
              <a:gd name="adj" fmla="val 25000"/>
            </a:avLst>
          </a:prstGeom>
          <a:solidFill>
            <a:srgbClr val="EF4444">
              <a:alpha val="22000"/>
            </a:srgbClr>
          </a:solidFill>
          <a:ln w="8890">
            <a:solidFill>
              <a:srgbClr val="EF4444">
                <a:alpha val="55000"/>
              </a:srgbClr>
            </a:solidFill>
            <a:prstDash val="solid"/>
          </a:ln>
        </p:spPr>
        <p:txBody>
          <a:bodyPr/>
          <a:p/>
        </p:txBody>
      </p:sp>
      <p:sp>
        <p:nvSpPr>
          <p:cNvPr id="31" name="Text 28"/>
          <p:cNvSpPr/>
          <p:nvPr/>
        </p:nvSpPr>
        <p:spPr>
          <a:xfrm>
            <a:off x="10021824" y="5564124"/>
            <a:ext cx="1298448" cy="256032"/>
          </a:xfrm>
          <a:prstGeom prst="rect">
            <a:avLst/>
          </a:prstGeom>
          <a:noFill/>
          <a:ln/>
        </p:spPr>
        <p:txBody>
          <a:bodyPr wrap="square" lIns="0" tIns="0" rIns="0" bIns="0" rtlCol="0" anchor="ctr"/>
          <a:lstStyle/>
          <a:p>
            <a:pPr algn="ctr" indent="0" marL="0">
              <a:buNone/>
            </a:pPr>
            <a:r>
              <a:rPr lang="en-US" sz="850" b="1" dirty="0">
                <a:solidFill>
                  <a:srgbClr val="EF4444"/>
                </a:solidFill>
                <a:latin typeface="Noto Sans CJK SC" pitchFamily="34" charset="0"/>
                <a:ea typeface="Noto Sans CJK SC" pitchFamily="34" charset="-122"/>
                <a:cs typeface="Noto Sans CJK SC" pitchFamily="34" charset="-120"/>
              </a:rPr>
              <a:t>2 VIOLATIONS</a:t>
            </a:r>
            <a:endParaRPr lang="en-US" sz="850" dirty="0"/>
          </a:p>
        </p:txBody>
      </p:sp>
      <p:sp>
        <p:nvSpPr>
          <p:cNvPr id="32" name="Shape 29"/>
          <p:cNvSpPr/>
          <p:nvPr/>
        </p:nvSpPr>
        <p:spPr>
          <a:xfrm>
            <a:off x="548640" y="6446520"/>
            <a:ext cx="11064240" cy="0"/>
          </a:xfrm>
          <a:prstGeom prst="line">
            <a:avLst/>
          </a:prstGeom>
          <a:noFill/>
          <a:ln w="7620">
            <a:solidFill>
              <a:srgbClr val="292747">
                <a:alpha val="70000"/>
              </a:srgbClr>
            </a:solidFill>
            <a:prstDash val="solid"/>
          </a:ln>
        </p:spPr>
        <p:txBody>
          <a:bodyPr/>
          <a:p/>
        </p:txBody>
      </p:sp>
      <p:sp>
        <p:nvSpPr>
          <p:cNvPr id="33" name="Text 30"/>
          <p:cNvSpPr/>
          <p:nvPr/>
        </p:nvSpPr>
        <p:spPr>
          <a:xfrm>
            <a:off x="576072" y="6492240"/>
            <a:ext cx="4023360" cy="155448"/>
          </a:xfrm>
          <a:prstGeom prst="rect">
            <a:avLst/>
          </a:prstGeom>
          <a:noFill/>
          <a:ln/>
        </p:spPr>
        <p:txBody>
          <a:bodyPr wrap="square" lIns="0" tIns="0" rIns="0" bIns="0" rtlCol="0" anchor="ctr"/>
          <a:lstStyle/>
          <a:p>
            <a:pPr indent="0" marL="0">
              <a:buNone/>
            </a:pPr>
            <a:r>
              <a:rPr lang="en-US" sz="760" dirty="0">
                <a:solidFill>
                  <a:srgbClr val="6B7280"/>
                </a:solidFill>
                <a:latin typeface="Noto Sans CJK SC" pitchFamily="34" charset="0"/>
                <a:ea typeface="Noto Sans CJK SC" pitchFamily="34" charset="-122"/>
                <a:cs typeface="Noto Sans CJK SC" pitchFamily="34" charset="-120"/>
              </a:rPr>
              <a:t>Agent proposes. Evidence decides. Human signs.</a:t>
            </a:r>
            <a:endParaRPr lang="en-US" sz="760" dirty="0"/>
          </a:p>
        </p:txBody>
      </p:sp>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7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11"/>
          </a:solidFill>
          <a:ln w="12700">
            <a:solidFill>
              <a:srgbClr val="070711"/>
            </a:solidFill>
            <a:prstDash val="solid"/>
          </a:ln>
        </p:spPr>
        <p:txBody>
          <a:bodyPr/>
          <a:p/>
        </p:txBody>
      </p:sp>
      <p:sp>
        <p:nvSpPr>
          <p:cNvPr id="3" name="Shape 1"/>
          <p:cNvSpPr/>
          <p:nvPr/>
        </p:nvSpPr>
        <p:spPr>
          <a:xfrm>
            <a:off x="10195560" y="18288"/>
            <a:ext cx="1874520" cy="1874520"/>
          </a:xfrm>
          <a:prstGeom prst="ellipse">
            <a:avLst/>
          </a:prstGeom>
          <a:solidFill>
            <a:srgbClr val="7C3AED">
              <a:alpha val="10000"/>
            </a:srgbClr>
          </a:solidFill>
          <a:ln w="12700">
            <a:solidFill>
              <a:srgbClr val="7C3AED">
                <a:alpha val="0"/>
              </a:srgbClr>
            </a:solidFill>
            <a:prstDash val="solid"/>
          </a:ln>
        </p:spPr>
        <p:txBody>
          <a:bodyPr/>
          <a:p/>
        </p:txBody>
      </p:sp>
      <p:sp>
        <p:nvSpPr>
          <p:cNvPr id="4" name="Shape 2"/>
          <p:cNvSpPr/>
          <p:nvPr/>
        </p:nvSpPr>
        <p:spPr>
          <a:xfrm>
            <a:off x="18288" y="5285232"/>
            <a:ext cx="1417320" cy="1417320"/>
          </a:xfrm>
          <a:prstGeom prst="ellipse">
            <a:avLst/>
          </a:prstGeom>
          <a:solidFill>
            <a:srgbClr val="22D3EE">
              <a:alpha val="5000"/>
            </a:srgbClr>
          </a:solidFill>
          <a:ln w="12700">
            <a:solidFill>
              <a:srgbClr val="22D3EE">
                <a:alpha val="0"/>
              </a:srgbClr>
            </a:solidFill>
            <a:prstDash val="solid"/>
          </a:ln>
        </p:spPr>
        <p:txBody>
          <a:bodyPr/>
          <a:p/>
        </p:txBody>
      </p:sp>
      <p:sp>
        <p:nvSpPr>
          <p:cNvPr id="5" name="Shape 3"/>
          <p:cNvSpPr/>
          <p:nvPr/>
        </p:nvSpPr>
        <p:spPr>
          <a:xfrm>
            <a:off x="512064" y="310896"/>
            <a:ext cx="310896" cy="310896"/>
          </a:xfrm>
          <a:prstGeom prst="diamond">
            <a:avLst/>
          </a:prstGeom>
          <a:solidFill>
            <a:srgbClr val="8B5CF6"/>
          </a:solidFill>
          <a:ln w="12700">
            <a:solidFill>
              <a:srgbClr val="A78BFA">
                <a:alpha val="60000"/>
              </a:srgbClr>
            </a:solidFill>
            <a:prstDash val="solid"/>
          </a:ln>
        </p:spPr>
        <p:txBody>
          <a:bodyPr/>
          <a:p/>
        </p:txBody>
      </p:sp>
      <p:sp>
        <p:nvSpPr>
          <p:cNvPr id="6" name="Shape 4"/>
          <p:cNvSpPr/>
          <p:nvPr/>
        </p:nvSpPr>
        <p:spPr>
          <a:xfrm>
            <a:off x="580461" y="379293"/>
            <a:ext cx="174102" cy="174102"/>
          </a:xfrm>
          <a:prstGeom prst="diamond">
            <a:avLst/>
          </a:prstGeom>
          <a:solidFill>
            <a:srgbClr val="070711"/>
          </a:solidFill>
          <a:ln w="12700">
            <a:solidFill>
              <a:srgbClr val="070711"/>
            </a:solidFill>
            <a:prstDash val="solid"/>
          </a:ln>
        </p:spPr>
        <p:txBody>
          <a:bodyPr/>
          <a:p/>
        </p:txBody>
      </p:sp>
      <p:sp>
        <p:nvSpPr>
          <p:cNvPr id="7" name="Text 5"/>
          <p:cNvSpPr/>
          <p:nvPr/>
        </p:nvSpPr>
        <p:spPr>
          <a:xfrm>
            <a:off x="914400" y="292608"/>
            <a:ext cx="1371600" cy="219456"/>
          </a:xfrm>
          <a:prstGeom prst="rect">
            <a:avLst/>
          </a:prstGeom>
          <a:noFill/>
          <a:ln/>
        </p:spPr>
        <p:txBody>
          <a:bodyPr wrap="square" lIns="0" tIns="0" rIns="0" bIns="0" rtlCol="0" anchor="ctr"/>
          <a:lstStyle/>
          <a:p>
            <a:pPr indent="0" marL="0">
              <a:buNone/>
            </a:pPr>
            <a:r>
              <a:rPr lang="en-US" sz="1000" b="1" spc="120" kern="0" dirty="0">
                <a:solidFill>
                  <a:srgbClr val="A78BFA"/>
                </a:solidFill>
                <a:latin typeface="Noto Sans CJK SC" pitchFamily="34" charset="0"/>
                <a:ea typeface="Noto Sans CJK SC" pitchFamily="34" charset="-122"/>
                <a:cs typeface="Noto Sans CJK SC" pitchFamily="34" charset="-120"/>
              </a:rPr>
              <a:t>MOSSGUARD</a:t>
            </a:r>
            <a:endParaRPr lang="en-US" sz="1000" dirty="0"/>
          </a:p>
        </p:txBody>
      </p:sp>
      <p:sp>
        <p:nvSpPr>
          <p:cNvPr id="8" name="Text 6"/>
          <p:cNvSpPr/>
          <p:nvPr/>
        </p:nvSpPr>
        <p:spPr>
          <a:xfrm>
            <a:off x="9875520" y="301752"/>
            <a:ext cx="1645920" cy="201168"/>
          </a:xfrm>
          <a:prstGeom prst="rect">
            <a:avLst/>
          </a:prstGeom>
          <a:noFill/>
          <a:ln/>
        </p:spPr>
        <p:txBody>
          <a:bodyPr wrap="square" lIns="0" tIns="0" rIns="0" bIns="0" rtlCol="0" anchor="ctr"/>
          <a:lstStyle/>
          <a:p>
            <a:pPr algn="r" indent="0" marL="0">
              <a:buNone/>
            </a:pPr>
            <a:r>
              <a:rPr lang="en-US" sz="900" dirty="0">
                <a:solidFill>
                  <a:srgbClr val="9CA3AF"/>
                </a:solidFill>
                <a:latin typeface="Noto Sans CJK SC" pitchFamily="34" charset="0"/>
                <a:ea typeface="Noto Sans CJK SC" pitchFamily="34" charset="-122"/>
                <a:cs typeface="Noto Sans CJK SC" pitchFamily="34" charset="-120"/>
              </a:rPr>
              <a:t>05 · DEMO</a:t>
            </a:r>
            <a:endParaRPr lang="en-US" sz="900" dirty="0"/>
          </a:p>
        </p:txBody>
      </p:sp>
      <p:sp>
        <p:nvSpPr>
          <p:cNvPr id="9" name="Text 7"/>
          <p:cNvSpPr/>
          <p:nvPr/>
        </p:nvSpPr>
        <p:spPr>
          <a:xfrm>
            <a:off x="566928" y="749808"/>
            <a:ext cx="10881360" cy="475488"/>
          </a:xfrm>
          <a:prstGeom prst="rect">
            <a:avLst/>
          </a:prstGeom>
          <a:noFill/>
          <a:ln/>
        </p:spPr>
        <p:txBody>
          <a:bodyPr wrap="square" lIns="0" tIns="0" rIns="0" bIns="0" rtlCol="0" anchor="ctr"/>
          <a:lstStyle/>
          <a:p>
            <a:pPr indent="0" marL="0">
              <a:buNone/>
            </a:pPr>
            <a:r>
              <a:rPr lang="en-US" sz="2500" b="1" dirty="0">
                <a:solidFill>
                  <a:srgbClr val="F8FAFC"/>
                </a:solidFill>
                <a:latin typeface="Noto Sans CJK SC" pitchFamily="34" charset="0"/>
                <a:ea typeface="Noto Sans CJK SC" pitchFamily="34" charset="-122"/>
                <a:cs typeface="Noto Sans CJK SC" pitchFamily="34" charset="-120"/>
              </a:rPr>
              <a:t>Demo 2: Allow safe transactions, block hidden approvals</a:t>
            </a:r>
            <a:endParaRPr lang="en-US" sz="2500" dirty="0"/>
          </a:p>
        </p:txBody>
      </p:sp>
      <p:sp>
        <p:nvSpPr>
          <p:cNvPr id="10" name="Text 8"/>
          <p:cNvSpPr/>
          <p:nvPr/>
        </p:nvSpPr>
        <p:spPr>
          <a:xfrm>
            <a:off x="576072" y="1216152"/>
            <a:ext cx="10698480" cy="274320"/>
          </a:xfrm>
          <a:prstGeom prst="rect">
            <a:avLst/>
          </a:prstGeom>
          <a:noFill/>
          <a:ln/>
        </p:spPr>
        <p:txBody>
          <a:bodyPr wrap="square" lIns="0" tIns="0" rIns="0" bIns="0" rtlCol="0" anchor="ctr"/>
          <a:lstStyle/>
          <a:p>
            <a:pPr indent="0" marL="0">
              <a:buNone/>
            </a:pPr>
            <a:r>
              <a:rPr lang="en-US" sz="1150" dirty="0">
                <a:solidFill>
                  <a:srgbClr val="9CA3AF"/>
                </a:solidFill>
                <a:latin typeface="Noto Sans CJK SC" pitchFamily="34" charset="0"/>
                <a:ea typeface="Noto Sans CJK SC" pitchFamily="34" charset="-122"/>
                <a:cs typeface="Noto Sans CJK SC" pitchFamily="34" charset="-120"/>
              </a:rPr>
              <a:t>MossGuard is not a blanket blocker; it verifies whether actions stay within the user-approved scope.</a:t>
            </a:r>
            <a:endParaRPr lang="en-US" sz="1150" dirty="0"/>
          </a:p>
        </p:txBody>
      </p:sp>
      <p:sp>
        <p:nvSpPr>
          <p:cNvPr id="11" name="Shape 9"/>
          <p:cNvSpPr/>
          <p:nvPr/>
        </p:nvSpPr>
        <p:spPr>
          <a:xfrm>
            <a:off x="658368" y="1755648"/>
            <a:ext cx="5422392" cy="4334256"/>
          </a:xfrm>
          <a:prstGeom prst="roundRect">
            <a:avLst>
              <a:gd name="adj" fmla="val 1899"/>
            </a:avLst>
          </a:prstGeom>
          <a:solidFill>
            <a:srgbClr val="111126"/>
          </a:solidFill>
          <a:ln w="10160">
            <a:solidFill>
              <a:srgbClr val="1E4C3B"/>
            </a:solidFill>
            <a:prstDash val="solid"/>
          </a:ln>
          <a:effectLst>
            <a:outerShdw sx="100000" sy="100000" kx="0" ky="0" algn="bl" rotWithShape="0" blurRad="2.7724959868064195e+45" dist="1.6634975920838518e+45" dir="1.6325867520000003e+54">
              <a:srgbClr val="000000">
                <a:alpha val="2.5e+54"/>
              </a:srgbClr>
            </a:outerShdw>
          </a:effectLst>
        </p:spPr>
        <p:txBody>
          <a:bodyPr/>
          <a:p/>
        </p:txBody>
      </p:sp>
      <p:sp>
        <p:nvSpPr>
          <p:cNvPr id="12" name="Shape 10"/>
          <p:cNvSpPr/>
          <p:nvPr/>
        </p:nvSpPr>
        <p:spPr>
          <a:xfrm>
            <a:off x="969264" y="2029968"/>
            <a:ext cx="1508760" cy="292608"/>
          </a:xfrm>
          <a:prstGeom prst="roundRect">
            <a:avLst>
              <a:gd name="adj" fmla="val 25000"/>
            </a:avLst>
          </a:prstGeom>
          <a:solidFill>
            <a:srgbClr val="22C55E">
              <a:alpha val="17000"/>
            </a:srgbClr>
          </a:solidFill>
          <a:ln w="8890">
            <a:solidFill>
              <a:srgbClr val="22C55E">
                <a:alpha val="55000"/>
              </a:srgbClr>
            </a:solidFill>
            <a:prstDash val="solid"/>
          </a:ln>
        </p:spPr>
        <p:txBody>
          <a:bodyPr/>
          <a:p/>
        </p:txBody>
      </p:sp>
      <p:sp>
        <p:nvSpPr>
          <p:cNvPr id="13" name="Text 11"/>
          <p:cNvSpPr/>
          <p:nvPr/>
        </p:nvSpPr>
        <p:spPr>
          <a:xfrm>
            <a:off x="969264" y="2034540"/>
            <a:ext cx="1508760" cy="256032"/>
          </a:xfrm>
          <a:prstGeom prst="rect">
            <a:avLst/>
          </a:prstGeom>
          <a:noFill/>
          <a:ln/>
        </p:spPr>
        <p:txBody>
          <a:bodyPr wrap="square" lIns="0" tIns="0" rIns="0" bIns="0" rtlCol="0" anchor="ctr"/>
          <a:lstStyle/>
          <a:p>
            <a:pPr algn="ctr" indent="0" marL="0">
              <a:buNone/>
            </a:pPr>
            <a:r>
              <a:rPr lang="en-US" sz="850" b="1" dirty="0">
                <a:solidFill>
                  <a:srgbClr val="22C55E"/>
                </a:solidFill>
                <a:latin typeface="Noto Sans CJK SC" pitchFamily="34" charset="0"/>
                <a:ea typeface="Noto Sans CJK SC" pitchFamily="34" charset="-122"/>
                <a:cs typeface="Noto Sans CJK SC" pitchFamily="34" charset="-120"/>
              </a:rPr>
              <a:t>SAFE KURU SWAP</a:t>
            </a:r>
            <a:endParaRPr lang="en-US" sz="850" dirty="0"/>
          </a:p>
        </p:txBody>
      </p:sp>
      <p:sp>
        <p:nvSpPr>
          <p:cNvPr id="14" name="Text 12"/>
          <p:cNvSpPr/>
          <p:nvPr/>
        </p:nvSpPr>
        <p:spPr>
          <a:xfrm>
            <a:off x="969264" y="2633472"/>
            <a:ext cx="3017520" cy="457200"/>
          </a:xfrm>
          <a:prstGeom prst="rect">
            <a:avLst/>
          </a:prstGeom>
          <a:noFill/>
          <a:ln/>
        </p:spPr>
        <p:txBody>
          <a:bodyPr wrap="square" lIns="0" tIns="0" rIns="0" bIns="0" rtlCol="0" anchor="t">
            <a:normAutofit/>
          </a:bodyPr>
          <a:lstStyle/>
          <a:p>
            <a:pPr algn="l" indent="0" marL="0">
              <a:buNone/>
            </a:pPr>
            <a:r>
              <a:rPr lang="en-US" sz="2500" b="1" dirty="0">
                <a:solidFill>
                  <a:srgbClr val="F8FAFC"/>
                </a:solidFill>
                <a:latin typeface="Noto Sans CJK SC" pitchFamily="34" charset="0"/>
                <a:ea typeface="Noto Sans CJK SC" pitchFamily="34" charset="-122"/>
                <a:cs typeface="Noto Sans CJK SC" pitchFamily="34" charset="-120"/>
              </a:rPr>
              <a:t>1 MON → USDC</a:t>
            </a:r>
            <a:endParaRPr lang="en-US" sz="2500" dirty="0"/>
          </a:p>
        </p:txBody>
      </p:sp>
      <p:sp>
        <p:nvSpPr>
          <p:cNvPr id="15" name="Text 13"/>
          <p:cNvSpPr/>
          <p:nvPr/>
        </p:nvSpPr>
        <p:spPr>
          <a:xfrm>
            <a:off x="978408" y="3246120"/>
            <a:ext cx="3072384" cy="1097280"/>
          </a:xfrm>
          <a:prstGeom prst="rect">
            <a:avLst/>
          </a:prstGeom>
          <a:noFill/>
          <a:ln/>
        </p:spPr>
        <p:txBody>
          <a:bodyPr wrap="square" lIns="0" tIns="0" rIns="0" bIns="0" rtlCol="0" anchor="t">
            <a:normAutofit/>
          </a:bodyPr>
          <a:lstStyle/>
          <a:p>
            <a:pPr algn="l" indent="0" marL="0">
              <a:buNone/>
            </a:pPr>
            <a:r>
              <a:rPr lang="en-US" sz="1200" dirty="0">
                <a:solidFill>
                  <a:srgbClr val="E5E7EB"/>
                </a:solidFill>
                <a:latin typeface="Noto Sans CJK SC" pitchFamily="34" charset="0"/>
                <a:ea typeface="Noto Sans CJK SC" pitchFamily="34" charset="-122"/>
                <a:cs typeface="Noto Sans CJK SC" pitchFamily="34" charset="-120"/>
              </a:rPr>
              <a:t>Protocol  Kuru</a:t>
            </a:r>
            <a:endParaRPr lang="en-US" sz="1200" dirty="0"/>
          </a:p>
          <a:p>
            <a:pPr algn="l" indent="0" marL="0">
              <a:buNone/>
            </a:pPr>
            <a:r>
              <a:rPr lang="en-US" sz="1200" dirty="0">
                <a:solidFill>
                  <a:srgbClr val="E5E7EB"/>
                </a:solidFill>
                <a:latin typeface="Noto Sans CJK SC" pitchFamily="34" charset="0"/>
                <a:ea typeface="Noto Sans CJK SC" pitchFamily="34" charset="-122"/>
                <a:cs typeface="Noto Sans CJK SC" pitchFamily="34" charset="-120"/>
              </a:rPr>
              <a:t>Slippage  50 BPS / 0.5%</a:t>
            </a:r>
            <a:endParaRPr lang="en-US" sz="1200" dirty="0"/>
          </a:p>
          <a:p>
            <a:pPr algn="l" indent="0" marL="0">
              <a:buNone/>
            </a:pPr>
            <a:r>
              <a:rPr lang="en-US" sz="1200" dirty="0">
                <a:solidFill>
                  <a:srgbClr val="E5E7EB"/>
                </a:solidFill>
                <a:latin typeface="Noto Sans CJK SC" pitchFamily="34" charset="0"/>
                <a:ea typeface="Noto Sans CJK SC" pitchFamily="34" charset="-122"/>
                <a:cs typeface="Noto Sans CJK SC" pitchFamily="34" charset="-120"/>
              </a:rPr>
              <a:t>Mode      Live Moss Simulation</a:t>
            </a:r>
            <a:endParaRPr lang="en-US" sz="1200" dirty="0"/>
          </a:p>
        </p:txBody>
      </p:sp>
      <p:sp>
        <p:nvSpPr>
          <p:cNvPr id="16" name="Shape 14"/>
          <p:cNvSpPr/>
          <p:nvPr/>
        </p:nvSpPr>
        <p:spPr>
          <a:xfrm>
            <a:off x="4160520" y="2606040"/>
            <a:ext cx="1188720" cy="0"/>
          </a:xfrm>
          <a:prstGeom prst="line">
            <a:avLst/>
          </a:prstGeom>
          <a:noFill/>
          <a:ln w="38100">
            <a:solidFill>
              <a:srgbClr val="22C55E"/>
            </a:solidFill>
            <a:prstDash val="solid"/>
            <a:headEnd type="none"/>
            <a:tailEnd type="triangle"/>
          </a:ln>
        </p:spPr>
        <p:txBody>
          <a:bodyPr/>
          <a:p/>
        </p:txBody>
      </p:sp>
      <p:sp>
        <p:nvSpPr>
          <p:cNvPr id="17" name="Shape 15"/>
          <p:cNvSpPr/>
          <p:nvPr/>
        </p:nvSpPr>
        <p:spPr>
          <a:xfrm>
            <a:off x="4892040" y="3474720"/>
            <a:ext cx="731520" cy="731520"/>
          </a:xfrm>
          <a:prstGeom prst="ellipse">
            <a:avLst/>
          </a:prstGeom>
          <a:solidFill>
            <a:srgbClr val="22C55E">
              <a:alpha val="92000"/>
            </a:srgbClr>
          </a:solidFill>
          <a:ln w="15240">
            <a:solidFill>
              <a:srgbClr val="22C55E"/>
            </a:solidFill>
            <a:prstDash val="solid"/>
          </a:ln>
        </p:spPr>
        <p:txBody>
          <a:bodyPr/>
          <a:p/>
        </p:txBody>
      </p:sp>
      <p:sp>
        <p:nvSpPr>
          <p:cNvPr id="18" name="Text 16"/>
          <p:cNvSpPr/>
          <p:nvPr/>
        </p:nvSpPr>
        <p:spPr>
          <a:xfrm>
            <a:off x="4892040" y="3602736"/>
            <a:ext cx="731520" cy="329184"/>
          </a:xfrm>
          <a:prstGeom prst="rect">
            <a:avLst/>
          </a:prstGeom>
          <a:noFill/>
          <a:ln/>
        </p:spPr>
        <p:txBody>
          <a:bodyPr wrap="square" lIns="0" tIns="0" rIns="0" bIns="0" rtlCol="0" anchor="t">
            <a:normAutofit/>
          </a:bodyPr>
          <a:lstStyle/>
          <a:p>
            <a:pPr algn="ctr" indent="0" marL="0">
              <a:buNone/>
            </a:pPr>
            <a:r>
              <a:rPr lang="en-US" sz="2500" b="1" dirty="0">
                <a:solidFill>
                  <a:srgbClr val="F8FAFC"/>
                </a:solidFill>
                <a:latin typeface="Noto Sans CJK SC" pitchFamily="34" charset="0"/>
                <a:ea typeface="Noto Sans CJK SC" pitchFamily="34" charset="-122"/>
                <a:cs typeface="Noto Sans CJK SC" pitchFamily="34" charset="-120"/>
              </a:rPr>
              <a:t>✓</a:t>
            </a:r>
            <a:endParaRPr lang="en-US" sz="2500" dirty="0"/>
          </a:p>
        </p:txBody>
      </p:sp>
      <p:sp>
        <p:nvSpPr>
          <p:cNvPr id="19" name="Text 17"/>
          <p:cNvSpPr/>
          <p:nvPr/>
        </p:nvSpPr>
        <p:spPr>
          <a:xfrm>
            <a:off x="4379976" y="4407408"/>
            <a:ext cx="1764792" cy="347472"/>
          </a:xfrm>
          <a:prstGeom prst="rect">
            <a:avLst/>
          </a:prstGeom>
          <a:noFill/>
          <a:ln/>
        </p:spPr>
        <p:txBody>
          <a:bodyPr wrap="square" lIns="0" tIns="0" rIns="0" bIns="0" rtlCol="0" anchor="t">
            <a:normAutofit/>
          </a:bodyPr>
          <a:lstStyle/>
          <a:p>
            <a:pPr algn="ctr" indent="0" marL="0">
              <a:buNone/>
            </a:pPr>
            <a:r>
              <a:rPr lang="en-US" sz="2000" b="1" dirty="0">
                <a:solidFill>
                  <a:srgbClr val="22C55E"/>
                </a:solidFill>
                <a:latin typeface="Noto Sans CJK SC" pitchFamily="34" charset="0"/>
                <a:ea typeface="Noto Sans CJK SC" pitchFamily="34" charset="-122"/>
                <a:cs typeface="Noto Sans CJK SC" pitchFamily="34" charset="-120"/>
              </a:rPr>
              <a:t>VERIFIED</a:t>
            </a:r>
            <a:endParaRPr lang="en-US" sz="2000" dirty="0"/>
          </a:p>
        </p:txBody>
      </p:sp>
      <p:sp>
        <p:nvSpPr>
          <p:cNvPr id="20" name="Text 18"/>
          <p:cNvSpPr/>
          <p:nvPr/>
        </p:nvSpPr>
        <p:spPr>
          <a:xfrm>
            <a:off x="4279392" y="4864608"/>
            <a:ext cx="1965960" cy="228600"/>
          </a:xfrm>
          <a:prstGeom prst="rect">
            <a:avLst/>
          </a:prstGeom>
          <a:noFill/>
          <a:ln/>
        </p:spPr>
        <p:txBody>
          <a:bodyPr wrap="square" lIns="0" tIns="0" rIns="0" bIns="0" rtlCol="0" anchor="t">
            <a:normAutofit/>
          </a:bodyPr>
          <a:lstStyle/>
          <a:p>
            <a:pPr algn="ctr" indent="0" marL="0">
              <a:buNone/>
            </a:pPr>
            <a:r>
              <a:rPr lang="en-US" sz="950" dirty="0">
                <a:solidFill>
                  <a:srgbClr val="9CA3AF"/>
                </a:solidFill>
                <a:latin typeface="Noto Sans CJK SC" pitchFamily="34" charset="0"/>
                <a:ea typeface="Noto Sans CJK SC" pitchFamily="34" charset="-122"/>
                <a:cs typeface="Noto Sans CJK SC" pitchFamily="34" charset="-120"/>
              </a:rPr>
              <a:t>Eligible for wallet review</a:t>
            </a:r>
            <a:endParaRPr lang="en-US" sz="950" dirty="0"/>
          </a:p>
        </p:txBody>
      </p:sp>
      <p:sp>
        <p:nvSpPr>
          <p:cNvPr id="21" name="Shape 19"/>
          <p:cNvSpPr/>
          <p:nvPr/>
        </p:nvSpPr>
        <p:spPr>
          <a:xfrm>
            <a:off x="6309360" y="1755648"/>
            <a:ext cx="5230368" cy="4334256"/>
          </a:xfrm>
          <a:prstGeom prst="roundRect">
            <a:avLst>
              <a:gd name="adj" fmla="val 1899"/>
            </a:avLst>
          </a:prstGeom>
          <a:solidFill>
            <a:srgbClr val="111126"/>
          </a:solidFill>
          <a:ln w="10160">
            <a:solidFill>
              <a:srgbClr val="55222A"/>
            </a:solidFill>
            <a:prstDash val="solid"/>
          </a:ln>
          <a:effectLst>
            <a:outerShdw sx="100000" sy="100000" kx="0" ky="0" algn="bl" rotWithShape="0" blurRad="3.5210699032441527e+49" dist="2.1126419419464918e+49" dir="9.795520512000002e+58">
              <a:srgbClr val="000000">
                <a:alpha val="2.5e+59"/>
              </a:srgbClr>
            </a:outerShdw>
          </a:effectLst>
        </p:spPr>
        <p:txBody>
          <a:bodyPr/>
          <a:p/>
        </p:txBody>
      </p:sp>
      <p:sp>
        <p:nvSpPr>
          <p:cNvPr id="22" name="Shape 20"/>
          <p:cNvSpPr/>
          <p:nvPr/>
        </p:nvSpPr>
        <p:spPr>
          <a:xfrm>
            <a:off x="6620256" y="2029968"/>
            <a:ext cx="1508760" cy="292608"/>
          </a:xfrm>
          <a:prstGeom prst="roundRect">
            <a:avLst>
              <a:gd name="adj" fmla="val 25000"/>
            </a:avLst>
          </a:prstGeom>
          <a:solidFill>
            <a:srgbClr val="EF4444">
              <a:alpha val="15000"/>
            </a:srgbClr>
          </a:solidFill>
          <a:ln w="8890">
            <a:solidFill>
              <a:srgbClr val="EF4444">
                <a:alpha val="55000"/>
              </a:srgbClr>
            </a:solidFill>
            <a:prstDash val="solid"/>
          </a:ln>
        </p:spPr>
        <p:txBody>
          <a:bodyPr/>
          <a:p/>
        </p:txBody>
      </p:sp>
      <p:sp>
        <p:nvSpPr>
          <p:cNvPr id="23" name="Text 21"/>
          <p:cNvSpPr/>
          <p:nvPr/>
        </p:nvSpPr>
        <p:spPr>
          <a:xfrm>
            <a:off x="6620256" y="2034540"/>
            <a:ext cx="1508760" cy="256032"/>
          </a:xfrm>
          <a:prstGeom prst="rect">
            <a:avLst/>
          </a:prstGeom>
          <a:noFill/>
          <a:ln/>
        </p:spPr>
        <p:txBody>
          <a:bodyPr wrap="square" lIns="0" tIns="0" rIns="0" bIns="0" rtlCol="0" anchor="ctr"/>
          <a:lstStyle/>
          <a:p>
            <a:pPr algn="ctr" indent="0" marL="0">
              <a:buNone/>
            </a:pPr>
            <a:r>
              <a:rPr lang="en-US" sz="850" b="1" dirty="0">
                <a:solidFill>
                  <a:srgbClr val="EF4444"/>
                </a:solidFill>
                <a:latin typeface="Noto Sans CJK SC" pitchFamily="34" charset="0"/>
                <a:ea typeface="Noto Sans CJK SC" pitchFamily="34" charset="-122"/>
                <a:cs typeface="Noto Sans CJK SC" pitchFamily="34" charset="-120"/>
              </a:rPr>
              <a:t>APPROVAL ATTACK</a:t>
            </a:r>
            <a:endParaRPr lang="en-US" sz="850" dirty="0"/>
          </a:p>
        </p:txBody>
      </p:sp>
      <p:sp>
        <p:nvSpPr>
          <p:cNvPr id="24" name="Text 22"/>
          <p:cNvSpPr/>
          <p:nvPr/>
        </p:nvSpPr>
        <p:spPr>
          <a:xfrm>
            <a:off x="6620256" y="2633472"/>
            <a:ext cx="2743200" cy="457200"/>
          </a:xfrm>
          <a:prstGeom prst="rect">
            <a:avLst/>
          </a:prstGeom>
          <a:noFill/>
          <a:ln/>
        </p:spPr>
        <p:txBody>
          <a:bodyPr wrap="square" lIns="0" tIns="0" rIns="0" bIns="0" rtlCol="0" anchor="t">
            <a:normAutofit/>
          </a:bodyPr>
          <a:lstStyle/>
          <a:p>
            <a:pPr algn="l" indent="0" marL="0">
              <a:buNone/>
            </a:pPr>
            <a:r>
              <a:rPr lang="en-US" sz="2500" b="1" dirty="0">
                <a:solidFill>
                  <a:srgbClr val="F8FAFC"/>
                </a:solidFill>
                <a:latin typeface="Noto Sans CJK SC" pitchFamily="34" charset="0"/>
                <a:ea typeface="Noto Sans CJK SC" pitchFamily="34" charset="-122"/>
                <a:cs typeface="Noto Sans CJK SC" pitchFamily="34" charset="-120"/>
              </a:rPr>
              <a:t>10 USDC limit</a:t>
            </a:r>
            <a:endParaRPr lang="en-US" sz="2500" dirty="0"/>
          </a:p>
        </p:txBody>
      </p:sp>
      <p:sp>
        <p:nvSpPr>
          <p:cNvPr id="25" name="Text 23"/>
          <p:cNvSpPr/>
          <p:nvPr/>
        </p:nvSpPr>
        <p:spPr>
          <a:xfrm>
            <a:off x="6629400" y="3246120"/>
            <a:ext cx="3108960" cy="1097280"/>
          </a:xfrm>
          <a:prstGeom prst="rect">
            <a:avLst/>
          </a:prstGeom>
          <a:noFill/>
          <a:ln/>
        </p:spPr>
        <p:txBody>
          <a:bodyPr wrap="square" lIns="0" tIns="0" rIns="0" bIns="0" rtlCol="0" anchor="t">
            <a:normAutofit/>
          </a:bodyPr>
          <a:lstStyle/>
          <a:p>
            <a:pPr algn="l" indent="0" marL="0">
              <a:buNone/>
            </a:pPr>
            <a:r>
              <a:rPr lang="en-US" sz="1200" dirty="0">
                <a:solidFill>
                  <a:srgbClr val="E5E7EB"/>
                </a:solidFill>
                <a:latin typeface="Noto Sans CJK SC" pitchFamily="34" charset="0"/>
                <a:ea typeface="Noto Sans CJK SC" pitchFamily="34" charset="-122"/>
                <a:cs typeface="Noto Sans CJK SC" pitchFamily="34" charset="-120"/>
              </a:rPr>
              <a:t>User Limit   10 USDC</a:t>
            </a:r>
            <a:endParaRPr lang="en-US" sz="1200" dirty="0"/>
          </a:p>
          <a:p>
            <a:pPr algn="l" indent="0" marL="0">
              <a:buNone/>
            </a:pPr>
            <a:r>
              <a:rPr lang="en-US" sz="1200" dirty="0">
                <a:solidFill>
                  <a:srgbClr val="E5E7EB"/>
                </a:solidFill>
                <a:latin typeface="Noto Sans CJK SC" pitchFamily="34" charset="0"/>
                <a:ea typeface="Noto Sans CJK SC" pitchFamily="34" charset="-122"/>
                <a:cs typeface="Noto Sans CJK SC" pitchFamily="34" charset="-120"/>
              </a:rPr>
              <a:t>Agent Action MAX_UINT256</a:t>
            </a:r>
            <a:endParaRPr lang="en-US" sz="1200" dirty="0"/>
          </a:p>
          <a:p>
            <a:pPr algn="l" indent="0" marL="0">
              <a:buNone/>
            </a:pPr>
            <a:r>
              <a:rPr lang="en-US" sz="1200" dirty="0">
                <a:solidFill>
                  <a:srgbClr val="E5E7EB"/>
                </a:solidFill>
                <a:latin typeface="Noto Sans CJK SC" pitchFamily="34" charset="0"/>
                <a:ea typeface="Noto Sans CJK SC" pitchFamily="34" charset="-122"/>
                <a:cs typeface="Noto Sans CJK SC" pitchFamily="34" charset="-120"/>
              </a:rPr>
              <a:t>Spender      Kuru Router</a:t>
            </a:r>
            <a:endParaRPr lang="en-US" sz="1200" dirty="0"/>
          </a:p>
        </p:txBody>
      </p:sp>
      <p:sp>
        <p:nvSpPr>
          <p:cNvPr id="26" name="Shape 24"/>
          <p:cNvSpPr/>
          <p:nvPr/>
        </p:nvSpPr>
        <p:spPr>
          <a:xfrm>
            <a:off x="9601200" y="2606040"/>
            <a:ext cx="1115568" cy="0"/>
          </a:xfrm>
          <a:prstGeom prst="line">
            <a:avLst/>
          </a:prstGeom>
          <a:noFill/>
          <a:ln w="38100">
            <a:solidFill>
              <a:srgbClr val="EF4444"/>
            </a:solidFill>
            <a:prstDash val="solid"/>
            <a:headEnd type="none"/>
            <a:tailEnd type="triangle"/>
          </a:ln>
        </p:spPr>
        <p:txBody>
          <a:bodyPr/>
          <a:p/>
        </p:txBody>
      </p:sp>
      <p:sp>
        <p:nvSpPr>
          <p:cNvPr id="27" name="Shape 25"/>
          <p:cNvSpPr/>
          <p:nvPr/>
        </p:nvSpPr>
        <p:spPr>
          <a:xfrm>
            <a:off x="10268712" y="3474720"/>
            <a:ext cx="731520" cy="731520"/>
          </a:xfrm>
          <a:prstGeom prst="ellipse">
            <a:avLst/>
          </a:prstGeom>
          <a:solidFill>
            <a:srgbClr val="EF4444">
              <a:alpha val="92000"/>
            </a:srgbClr>
          </a:solidFill>
          <a:ln w="15240">
            <a:solidFill>
              <a:srgbClr val="EF4444"/>
            </a:solidFill>
            <a:prstDash val="solid"/>
          </a:ln>
        </p:spPr>
        <p:txBody>
          <a:bodyPr/>
          <a:p/>
        </p:txBody>
      </p:sp>
      <p:sp>
        <p:nvSpPr>
          <p:cNvPr id="28" name="Text 26"/>
          <p:cNvSpPr/>
          <p:nvPr/>
        </p:nvSpPr>
        <p:spPr>
          <a:xfrm>
            <a:off x="10268712" y="3602736"/>
            <a:ext cx="731520" cy="329184"/>
          </a:xfrm>
          <a:prstGeom prst="rect">
            <a:avLst/>
          </a:prstGeom>
          <a:noFill/>
          <a:ln/>
        </p:spPr>
        <p:txBody>
          <a:bodyPr wrap="square" lIns="0" tIns="0" rIns="0" bIns="0" rtlCol="0" anchor="t">
            <a:normAutofit/>
          </a:bodyPr>
          <a:lstStyle/>
          <a:p>
            <a:pPr algn="ctr" indent="0" marL="0">
              <a:buNone/>
            </a:pPr>
            <a:r>
              <a:rPr lang="en-US" sz="2500" b="1" dirty="0">
                <a:solidFill>
                  <a:srgbClr val="F8FAFC"/>
                </a:solidFill>
                <a:latin typeface="Noto Sans CJK SC" pitchFamily="34" charset="0"/>
                <a:ea typeface="Noto Sans CJK SC" pitchFamily="34" charset="-122"/>
                <a:cs typeface="Noto Sans CJK SC" pitchFamily="34" charset="-120"/>
              </a:rPr>
              <a:t>×</a:t>
            </a:r>
            <a:endParaRPr lang="en-US" sz="2500" dirty="0"/>
          </a:p>
        </p:txBody>
      </p:sp>
      <p:sp>
        <p:nvSpPr>
          <p:cNvPr id="29" name="Text 27"/>
          <p:cNvSpPr/>
          <p:nvPr/>
        </p:nvSpPr>
        <p:spPr>
          <a:xfrm>
            <a:off x="9710928" y="4407408"/>
            <a:ext cx="1810512" cy="347472"/>
          </a:xfrm>
          <a:prstGeom prst="rect">
            <a:avLst/>
          </a:prstGeom>
          <a:noFill/>
          <a:ln/>
        </p:spPr>
        <p:txBody>
          <a:bodyPr wrap="square" lIns="0" tIns="0" rIns="0" bIns="0" rtlCol="0" anchor="t">
            <a:normAutofit/>
          </a:bodyPr>
          <a:lstStyle/>
          <a:p>
            <a:pPr algn="ctr" indent="0" marL="0">
              <a:buNone/>
            </a:pPr>
            <a:r>
              <a:rPr lang="en-US" sz="2000" b="1" dirty="0">
                <a:solidFill>
                  <a:srgbClr val="EF4444"/>
                </a:solidFill>
                <a:latin typeface="Noto Sans CJK SC" pitchFamily="34" charset="0"/>
                <a:ea typeface="Noto Sans CJK SC" pitchFamily="34" charset="-122"/>
                <a:cs typeface="Noto Sans CJK SC" pitchFamily="34" charset="-120"/>
              </a:rPr>
              <a:t>BLOCKED</a:t>
            </a:r>
            <a:endParaRPr lang="en-US" sz="2000" dirty="0"/>
          </a:p>
        </p:txBody>
      </p:sp>
      <p:sp>
        <p:nvSpPr>
          <p:cNvPr id="30" name="Text 28"/>
          <p:cNvSpPr/>
          <p:nvPr/>
        </p:nvSpPr>
        <p:spPr>
          <a:xfrm>
            <a:off x="9345168" y="4864608"/>
            <a:ext cx="2487168" cy="228600"/>
          </a:xfrm>
          <a:prstGeom prst="rect">
            <a:avLst/>
          </a:prstGeom>
          <a:noFill/>
          <a:ln/>
        </p:spPr>
        <p:txBody>
          <a:bodyPr wrap="square" lIns="0" tIns="0" rIns="0" bIns="0" rtlCol="0" anchor="t">
            <a:normAutofit/>
          </a:bodyPr>
          <a:lstStyle/>
          <a:p>
            <a:pPr algn="ctr" indent="0" marL="0">
              <a:buNone/>
            </a:pPr>
            <a:r>
              <a:rPr lang="en-US" sz="930" dirty="0">
                <a:solidFill>
                  <a:srgbClr val="9CA3AF"/>
                </a:solidFill>
                <a:latin typeface="Noto Sans CJK SC" pitchFamily="34" charset="0"/>
                <a:ea typeface="Noto Sans CJK SC" pitchFamily="34" charset="-122"/>
                <a:cs typeface="Noto Sans CJK SC" pitchFamily="34" charset="-120"/>
              </a:rPr>
              <a:t>Approval exceeds confirmed maximum</a:t>
            </a:r>
            <a:endParaRPr lang="en-US" sz="930" dirty="0"/>
          </a:p>
        </p:txBody>
      </p:sp>
      <p:sp>
        <p:nvSpPr>
          <p:cNvPr id="31" name="Shape 29"/>
          <p:cNvSpPr/>
          <p:nvPr/>
        </p:nvSpPr>
        <p:spPr>
          <a:xfrm>
            <a:off x="548640" y="6446520"/>
            <a:ext cx="11064240" cy="0"/>
          </a:xfrm>
          <a:prstGeom prst="line">
            <a:avLst/>
          </a:prstGeom>
          <a:noFill/>
          <a:ln w="7620">
            <a:solidFill>
              <a:srgbClr val="292747">
                <a:alpha val="70000"/>
              </a:srgbClr>
            </a:solidFill>
            <a:prstDash val="solid"/>
          </a:ln>
        </p:spPr>
        <p:txBody>
          <a:bodyPr/>
          <a:p/>
        </p:txBody>
      </p:sp>
      <p:sp>
        <p:nvSpPr>
          <p:cNvPr id="32" name="Text 30"/>
          <p:cNvSpPr/>
          <p:nvPr/>
        </p:nvSpPr>
        <p:spPr>
          <a:xfrm>
            <a:off x="576072" y="6492240"/>
            <a:ext cx="4023360" cy="155448"/>
          </a:xfrm>
          <a:prstGeom prst="rect">
            <a:avLst/>
          </a:prstGeom>
          <a:noFill/>
          <a:ln/>
        </p:spPr>
        <p:txBody>
          <a:bodyPr wrap="square" lIns="0" tIns="0" rIns="0" bIns="0" rtlCol="0" anchor="ctr"/>
          <a:lstStyle/>
          <a:p>
            <a:pPr indent="0" marL="0">
              <a:buNone/>
            </a:pPr>
            <a:r>
              <a:rPr lang="en-US" sz="760" dirty="0">
                <a:solidFill>
                  <a:srgbClr val="6B7280"/>
                </a:solidFill>
                <a:latin typeface="Noto Sans CJK SC" pitchFamily="34" charset="0"/>
                <a:ea typeface="Noto Sans CJK SC" pitchFamily="34" charset="-122"/>
                <a:cs typeface="Noto Sans CJK SC" pitchFamily="34" charset="-120"/>
              </a:rPr>
              <a:t>Agent proposes. Evidence decides. Human signs.</a:t>
            </a:r>
            <a:endParaRPr lang="en-US" sz="760" dirty="0"/>
          </a:p>
        </p:txBody>
      </p:sp>
      <p:sp>
        <p:nvSpPr>
          <p:cNvPr id="33" name="Text 31"/>
          <p:cNvSpPr/>
          <p:nvPr/>
        </p:nvSpPr>
        <p:spPr>
          <a:xfrm>
            <a:off x="5623560" y="6492240"/>
            <a:ext cx="5486400" cy="155448"/>
          </a:xfrm>
          <a:prstGeom prst="rect">
            <a:avLst/>
          </a:prstGeom>
          <a:noFill/>
          <a:ln/>
        </p:spPr>
        <p:txBody>
          <a:bodyPr wrap="square" lIns="0" tIns="0" rIns="0" bIns="0" rtlCol="0" anchor="ctr"/>
          <a:lstStyle/>
          <a:p>
            <a:pPr algn="r" indent="0" marL="0">
              <a:buNone/>
            </a:pPr>
            <a:r>
              <a:rPr lang="en-US" sz="720" dirty="0">
                <a:solidFill>
                  <a:srgbClr val="6B7280"/>
                </a:solidFill>
                <a:latin typeface="Noto Sans CJK SC" pitchFamily="34" charset="0"/>
                <a:ea typeface="Noto Sans CJK SC" pitchFamily="34" charset="-122"/>
                <a:cs typeface="Noto Sans CJK SC" pitchFamily="34" charset="-120"/>
              </a:rPr>
              <a:t>Source: Moss supports ERC-20 approve and Kuru swap</a:t>
            </a:r>
            <a:endParaRPr lang="en-US" sz="720" dirty="0"/>
          </a:p>
        </p:txBody>
      </p:sp>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7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11"/>
          </a:solidFill>
          <a:ln w="12700">
            <a:solidFill>
              <a:srgbClr val="070711"/>
            </a:solidFill>
            <a:prstDash val="solid"/>
          </a:ln>
        </p:spPr>
        <p:txBody>
          <a:bodyPr/>
          <a:p/>
        </p:txBody>
      </p:sp>
      <p:sp>
        <p:nvSpPr>
          <p:cNvPr id="3" name="Shape 1"/>
          <p:cNvSpPr/>
          <p:nvPr/>
        </p:nvSpPr>
        <p:spPr>
          <a:xfrm>
            <a:off x="10195560" y="18288"/>
            <a:ext cx="1874520" cy="1874520"/>
          </a:xfrm>
          <a:prstGeom prst="ellipse">
            <a:avLst/>
          </a:prstGeom>
          <a:solidFill>
            <a:srgbClr val="7C3AED">
              <a:alpha val="10000"/>
            </a:srgbClr>
          </a:solidFill>
          <a:ln w="12700">
            <a:solidFill>
              <a:srgbClr val="7C3AED">
                <a:alpha val="0"/>
              </a:srgbClr>
            </a:solidFill>
            <a:prstDash val="solid"/>
          </a:ln>
        </p:spPr>
        <p:txBody>
          <a:bodyPr/>
          <a:p/>
        </p:txBody>
      </p:sp>
      <p:sp>
        <p:nvSpPr>
          <p:cNvPr id="4" name="Shape 2"/>
          <p:cNvSpPr/>
          <p:nvPr/>
        </p:nvSpPr>
        <p:spPr>
          <a:xfrm>
            <a:off x="18288" y="5285232"/>
            <a:ext cx="1417320" cy="1417320"/>
          </a:xfrm>
          <a:prstGeom prst="ellipse">
            <a:avLst/>
          </a:prstGeom>
          <a:solidFill>
            <a:srgbClr val="22D3EE">
              <a:alpha val="5000"/>
            </a:srgbClr>
          </a:solidFill>
          <a:ln w="12700">
            <a:solidFill>
              <a:srgbClr val="22D3EE">
                <a:alpha val="0"/>
              </a:srgbClr>
            </a:solidFill>
            <a:prstDash val="solid"/>
          </a:ln>
        </p:spPr>
        <p:txBody>
          <a:bodyPr/>
          <a:p/>
        </p:txBody>
      </p:sp>
      <p:sp>
        <p:nvSpPr>
          <p:cNvPr id="5" name="Shape 3"/>
          <p:cNvSpPr/>
          <p:nvPr/>
        </p:nvSpPr>
        <p:spPr>
          <a:xfrm>
            <a:off x="512064" y="310896"/>
            <a:ext cx="310896" cy="310896"/>
          </a:xfrm>
          <a:prstGeom prst="diamond">
            <a:avLst/>
          </a:prstGeom>
          <a:solidFill>
            <a:srgbClr val="8B5CF6"/>
          </a:solidFill>
          <a:ln w="12700">
            <a:solidFill>
              <a:srgbClr val="A78BFA">
                <a:alpha val="60000"/>
              </a:srgbClr>
            </a:solidFill>
            <a:prstDash val="solid"/>
          </a:ln>
        </p:spPr>
        <p:txBody>
          <a:bodyPr/>
          <a:p/>
        </p:txBody>
      </p:sp>
      <p:sp>
        <p:nvSpPr>
          <p:cNvPr id="6" name="Shape 4"/>
          <p:cNvSpPr/>
          <p:nvPr/>
        </p:nvSpPr>
        <p:spPr>
          <a:xfrm>
            <a:off x="580461" y="379293"/>
            <a:ext cx="174102" cy="174102"/>
          </a:xfrm>
          <a:prstGeom prst="diamond">
            <a:avLst/>
          </a:prstGeom>
          <a:solidFill>
            <a:srgbClr val="070711"/>
          </a:solidFill>
          <a:ln w="12700">
            <a:solidFill>
              <a:srgbClr val="070711"/>
            </a:solidFill>
            <a:prstDash val="solid"/>
          </a:ln>
        </p:spPr>
        <p:txBody>
          <a:bodyPr/>
          <a:p/>
        </p:txBody>
      </p:sp>
      <p:sp>
        <p:nvSpPr>
          <p:cNvPr id="7" name="Text 5"/>
          <p:cNvSpPr/>
          <p:nvPr/>
        </p:nvSpPr>
        <p:spPr>
          <a:xfrm>
            <a:off x="914400" y="292608"/>
            <a:ext cx="1371600" cy="219456"/>
          </a:xfrm>
          <a:prstGeom prst="rect">
            <a:avLst/>
          </a:prstGeom>
          <a:noFill/>
          <a:ln/>
        </p:spPr>
        <p:txBody>
          <a:bodyPr wrap="square" lIns="0" tIns="0" rIns="0" bIns="0" rtlCol="0" anchor="ctr"/>
          <a:lstStyle/>
          <a:p>
            <a:pPr indent="0" marL="0">
              <a:buNone/>
            </a:pPr>
            <a:r>
              <a:rPr lang="en-US" sz="1000" b="1" spc="120" kern="0" dirty="0">
                <a:solidFill>
                  <a:srgbClr val="A78BFA"/>
                </a:solidFill>
                <a:latin typeface="Noto Sans CJK SC" pitchFamily="34" charset="0"/>
                <a:ea typeface="Noto Sans CJK SC" pitchFamily="34" charset="-122"/>
                <a:cs typeface="Noto Sans CJK SC" pitchFamily="34" charset="-120"/>
              </a:rPr>
              <a:t>MOSSGUARD</a:t>
            </a:r>
            <a:endParaRPr lang="en-US" sz="1000" dirty="0"/>
          </a:p>
        </p:txBody>
      </p:sp>
      <p:sp>
        <p:nvSpPr>
          <p:cNvPr id="8" name="Text 6"/>
          <p:cNvSpPr/>
          <p:nvPr/>
        </p:nvSpPr>
        <p:spPr>
          <a:xfrm>
            <a:off x="9875520" y="301752"/>
            <a:ext cx="1645920" cy="201168"/>
          </a:xfrm>
          <a:prstGeom prst="rect">
            <a:avLst/>
          </a:prstGeom>
          <a:noFill/>
          <a:ln/>
        </p:spPr>
        <p:txBody>
          <a:bodyPr wrap="square" lIns="0" tIns="0" rIns="0" bIns="0" rtlCol="0" anchor="ctr"/>
          <a:lstStyle/>
          <a:p>
            <a:pPr algn="r" indent="0" marL="0">
              <a:buNone/>
            </a:pPr>
            <a:r>
              <a:rPr lang="en-US" sz="900" dirty="0">
                <a:solidFill>
                  <a:srgbClr val="9CA3AF"/>
                </a:solidFill>
                <a:latin typeface="Noto Sans CJK SC" pitchFamily="34" charset="0"/>
                <a:ea typeface="Noto Sans CJK SC" pitchFamily="34" charset="-122"/>
                <a:cs typeface="Noto Sans CJK SC" pitchFamily="34" charset="-120"/>
              </a:rPr>
              <a:t>06 · ARCHITECTURE</a:t>
            </a:r>
            <a:endParaRPr lang="en-US" sz="900" dirty="0"/>
          </a:p>
        </p:txBody>
      </p:sp>
      <p:sp>
        <p:nvSpPr>
          <p:cNvPr id="9" name="Text 7"/>
          <p:cNvSpPr/>
          <p:nvPr/>
        </p:nvSpPr>
        <p:spPr>
          <a:xfrm>
            <a:off x="566928" y="749808"/>
            <a:ext cx="10881360" cy="475488"/>
          </a:xfrm>
          <a:prstGeom prst="rect">
            <a:avLst/>
          </a:prstGeom>
          <a:noFill/>
          <a:ln/>
        </p:spPr>
        <p:txBody>
          <a:bodyPr wrap="square" lIns="0" tIns="0" rIns="0" bIns="0" rtlCol="0" anchor="ctr"/>
          <a:lstStyle/>
          <a:p>
            <a:pPr indent="0" marL="0">
              <a:buNone/>
            </a:pPr>
            <a:r>
              <a:rPr lang="en-US" sz="2500" b="1" dirty="0">
                <a:solidFill>
                  <a:srgbClr val="F8FAFC"/>
                </a:solidFill>
                <a:latin typeface="Noto Sans CJK SC" pitchFamily="34" charset="0"/>
                <a:ea typeface="Noto Sans CJK SC" pitchFamily="34" charset="-122"/>
                <a:cs typeface="Noto Sans CJK SC" pitchFamily="34" charset="-120"/>
              </a:rPr>
              <a:t>Architecture: AI, Moss, verifier, and wallet are strictly separated</a:t>
            </a:r>
            <a:endParaRPr lang="en-US" sz="2500" dirty="0"/>
          </a:p>
        </p:txBody>
      </p:sp>
      <p:sp>
        <p:nvSpPr>
          <p:cNvPr id="10" name="Text 8"/>
          <p:cNvSpPr/>
          <p:nvPr/>
        </p:nvSpPr>
        <p:spPr>
          <a:xfrm>
            <a:off x="576072" y="1216152"/>
            <a:ext cx="10698480" cy="274320"/>
          </a:xfrm>
          <a:prstGeom prst="rect">
            <a:avLst/>
          </a:prstGeom>
          <a:noFill/>
          <a:ln/>
        </p:spPr>
        <p:txBody>
          <a:bodyPr wrap="square" lIns="0" tIns="0" rIns="0" bIns="0" rtlCol="0" anchor="ctr"/>
          <a:lstStyle/>
          <a:p>
            <a:pPr indent="0" marL="0">
              <a:buNone/>
            </a:pPr>
            <a:r>
              <a:rPr lang="en-US" sz="1150" dirty="0">
                <a:solidFill>
                  <a:srgbClr val="9CA3AF"/>
                </a:solidFill>
                <a:latin typeface="Noto Sans CJK SC" pitchFamily="34" charset="0"/>
                <a:ea typeface="Noto Sans CJK SC" pitchFamily="34" charset="-122"/>
                <a:cs typeface="Noto Sans CJK SC" pitchFamily="34" charset="-120"/>
              </a:rPr>
              <a:t>A single-page TanStack Start app; AI cannot call Moss directly or override verification results.</a:t>
            </a:r>
            <a:endParaRPr lang="en-US" sz="1150" dirty="0"/>
          </a:p>
        </p:txBody>
      </p:sp>
      <p:sp>
        <p:nvSpPr>
          <p:cNvPr id="11" name="Shape 9"/>
          <p:cNvSpPr/>
          <p:nvPr/>
        </p:nvSpPr>
        <p:spPr>
          <a:xfrm>
            <a:off x="658368" y="1719072"/>
            <a:ext cx="2971800" cy="4343400"/>
          </a:xfrm>
          <a:prstGeom prst="roundRect">
            <a:avLst>
              <a:gd name="adj" fmla="val 2769"/>
            </a:avLst>
          </a:prstGeom>
          <a:solidFill>
            <a:srgbClr val="111126"/>
          </a:solidFill>
          <a:ln w="10160">
            <a:solidFill>
              <a:srgbClr val="292747"/>
            </a:solidFill>
            <a:prstDash val="solid"/>
          </a:ln>
          <a:effectLst>
            <a:outerShdw sx="100000" sy="100000" kx="0" ky="0" algn="bl" rotWithShape="0" blurRad="4.471758777120074e+53" dist="2.6830552662720448e+53" dir="5.877312307200001e+63">
              <a:srgbClr val="000000">
                <a:alpha val="2.5e+64"/>
              </a:srgbClr>
            </a:outerShdw>
          </a:effectLst>
        </p:spPr>
        <p:txBody>
          <a:bodyPr/>
          <a:p/>
        </p:txBody>
      </p:sp>
      <p:sp>
        <p:nvSpPr>
          <p:cNvPr id="12" name="Shape 10"/>
          <p:cNvSpPr/>
          <p:nvPr/>
        </p:nvSpPr>
        <p:spPr>
          <a:xfrm>
            <a:off x="941832" y="1993392"/>
            <a:ext cx="868680" cy="292608"/>
          </a:xfrm>
          <a:prstGeom prst="roundRect">
            <a:avLst>
              <a:gd name="adj" fmla="val 25000"/>
            </a:avLst>
          </a:prstGeom>
          <a:solidFill>
            <a:srgbClr val="A78BFA">
              <a:alpha val="16000"/>
            </a:srgbClr>
          </a:solidFill>
          <a:ln w="8890">
            <a:solidFill>
              <a:srgbClr val="A78BFA">
                <a:alpha val="55000"/>
              </a:srgbClr>
            </a:solidFill>
            <a:prstDash val="solid"/>
          </a:ln>
        </p:spPr>
        <p:txBody>
          <a:bodyPr/>
          <a:p/>
        </p:txBody>
      </p:sp>
      <p:sp>
        <p:nvSpPr>
          <p:cNvPr id="13" name="Text 11"/>
          <p:cNvSpPr/>
          <p:nvPr/>
        </p:nvSpPr>
        <p:spPr>
          <a:xfrm>
            <a:off x="941832" y="1997964"/>
            <a:ext cx="868680" cy="256032"/>
          </a:xfrm>
          <a:prstGeom prst="rect">
            <a:avLst/>
          </a:prstGeom>
          <a:noFill/>
          <a:ln/>
        </p:spPr>
        <p:txBody>
          <a:bodyPr wrap="square" lIns="0" tIns="0" rIns="0" bIns="0" rtlCol="0" anchor="ctr"/>
          <a:lstStyle/>
          <a:p>
            <a:pPr algn="ctr" indent="0" marL="0">
              <a:buNone/>
            </a:pPr>
            <a:r>
              <a:rPr lang="en-US" sz="850" b="1" dirty="0">
                <a:solidFill>
                  <a:srgbClr val="A78BFA"/>
                </a:solidFill>
                <a:latin typeface="Noto Sans CJK SC" pitchFamily="34" charset="0"/>
                <a:ea typeface="Noto Sans CJK SC" pitchFamily="34" charset="-122"/>
                <a:cs typeface="Noto Sans CJK SC" pitchFamily="34" charset="-120"/>
              </a:rPr>
              <a:t>BROWSER</a:t>
            </a:r>
            <a:endParaRPr lang="en-US" sz="850" dirty="0"/>
          </a:p>
        </p:txBody>
      </p:sp>
      <p:sp>
        <p:nvSpPr>
          <p:cNvPr id="14" name="Shape 12"/>
          <p:cNvSpPr/>
          <p:nvPr/>
        </p:nvSpPr>
        <p:spPr>
          <a:xfrm>
            <a:off x="932688" y="2615184"/>
            <a:ext cx="2423160" cy="393192"/>
          </a:xfrm>
          <a:prstGeom prst="roundRect">
            <a:avLst/>
          </a:prstGeom>
          <a:solidFill>
            <a:srgbClr val="16152E"/>
          </a:solidFill>
          <a:ln w="12700">
            <a:solidFill>
              <a:srgbClr val="292747"/>
            </a:solidFill>
            <a:prstDash val="solid"/>
          </a:ln>
        </p:spPr>
        <p:txBody>
          <a:bodyPr/>
          <a:p/>
        </p:txBody>
      </p:sp>
      <p:sp>
        <p:nvSpPr>
          <p:cNvPr id="15" name="Text 13"/>
          <p:cNvSpPr/>
          <p:nvPr/>
        </p:nvSpPr>
        <p:spPr>
          <a:xfrm>
            <a:off x="1078992" y="2724912"/>
            <a:ext cx="2121408" cy="164592"/>
          </a:xfrm>
          <a:prstGeom prst="rect">
            <a:avLst/>
          </a:prstGeom>
          <a:noFill/>
          <a:ln/>
        </p:spPr>
        <p:txBody>
          <a:bodyPr wrap="square" lIns="0" tIns="0" rIns="0" bIns="0" rtlCol="0" anchor="t">
            <a:normAutofit/>
          </a:bodyPr>
          <a:lstStyle/>
          <a:p>
            <a:pPr algn="l" indent="0" marL="0">
              <a:buNone/>
            </a:pPr>
            <a:r>
              <a:rPr lang="en-US" sz="1050" b="1" dirty="0">
                <a:solidFill>
                  <a:srgbClr val="E5E7EB"/>
                </a:solidFill>
                <a:latin typeface="Noto Sans CJK SC" pitchFamily="34" charset="0"/>
                <a:ea typeface="Noto Sans CJK SC" pitchFamily="34" charset="-122"/>
                <a:cs typeface="Noto Sans CJK SC" pitchFamily="34" charset="-120"/>
              </a:rPr>
              <a:t>assistant-ui Chat</a:t>
            </a:r>
            <a:endParaRPr lang="en-US" sz="1050" dirty="0"/>
          </a:p>
        </p:txBody>
      </p:sp>
      <p:sp>
        <p:nvSpPr>
          <p:cNvPr id="16" name="Shape 14"/>
          <p:cNvSpPr/>
          <p:nvPr/>
        </p:nvSpPr>
        <p:spPr>
          <a:xfrm>
            <a:off x="932688" y="3172968"/>
            <a:ext cx="2423160" cy="393192"/>
          </a:xfrm>
          <a:prstGeom prst="roundRect">
            <a:avLst/>
          </a:prstGeom>
          <a:solidFill>
            <a:srgbClr val="16152E"/>
          </a:solidFill>
          <a:ln w="12700">
            <a:solidFill>
              <a:srgbClr val="292747"/>
            </a:solidFill>
            <a:prstDash val="solid"/>
          </a:ln>
        </p:spPr>
        <p:txBody>
          <a:bodyPr/>
          <a:p/>
        </p:txBody>
      </p:sp>
      <p:sp>
        <p:nvSpPr>
          <p:cNvPr id="17" name="Text 15"/>
          <p:cNvSpPr/>
          <p:nvPr/>
        </p:nvSpPr>
        <p:spPr>
          <a:xfrm>
            <a:off x="1078992" y="3282696"/>
            <a:ext cx="2121408" cy="164592"/>
          </a:xfrm>
          <a:prstGeom prst="rect">
            <a:avLst/>
          </a:prstGeom>
          <a:noFill/>
          <a:ln/>
        </p:spPr>
        <p:txBody>
          <a:bodyPr wrap="square" lIns="0" tIns="0" rIns="0" bIns="0" rtlCol="0" anchor="t">
            <a:normAutofit/>
          </a:bodyPr>
          <a:lstStyle/>
          <a:p>
            <a:pPr algn="l" indent="0" marL="0">
              <a:buNone/>
            </a:pPr>
            <a:r>
              <a:rPr lang="en-US" sz="1050" b="1" dirty="0">
                <a:solidFill>
                  <a:srgbClr val="E5E7EB"/>
                </a:solidFill>
                <a:latin typeface="Noto Sans CJK SC" pitchFamily="34" charset="0"/>
                <a:ea typeface="Noto Sans CJK SC" pitchFamily="34" charset="-122"/>
                <a:cs typeface="Noto Sans CJK SC" pitchFamily="34" charset="-120"/>
              </a:rPr>
              <a:t>Intent Confirmation</a:t>
            </a:r>
            <a:endParaRPr lang="en-US" sz="1050" dirty="0"/>
          </a:p>
        </p:txBody>
      </p:sp>
      <p:sp>
        <p:nvSpPr>
          <p:cNvPr id="18" name="Shape 16"/>
          <p:cNvSpPr/>
          <p:nvPr/>
        </p:nvSpPr>
        <p:spPr>
          <a:xfrm>
            <a:off x="932688" y="3730752"/>
            <a:ext cx="2423160" cy="393192"/>
          </a:xfrm>
          <a:prstGeom prst="roundRect">
            <a:avLst/>
          </a:prstGeom>
          <a:solidFill>
            <a:srgbClr val="16152E"/>
          </a:solidFill>
          <a:ln w="12700">
            <a:solidFill>
              <a:srgbClr val="292747"/>
            </a:solidFill>
            <a:prstDash val="solid"/>
          </a:ln>
        </p:spPr>
        <p:txBody>
          <a:bodyPr/>
          <a:p/>
        </p:txBody>
      </p:sp>
      <p:sp>
        <p:nvSpPr>
          <p:cNvPr id="19" name="Text 17"/>
          <p:cNvSpPr/>
          <p:nvPr/>
        </p:nvSpPr>
        <p:spPr>
          <a:xfrm>
            <a:off x="1078992" y="3840480"/>
            <a:ext cx="2121408" cy="164592"/>
          </a:xfrm>
          <a:prstGeom prst="rect">
            <a:avLst/>
          </a:prstGeom>
          <a:noFill/>
          <a:ln/>
        </p:spPr>
        <p:txBody>
          <a:bodyPr wrap="square" lIns="0" tIns="0" rIns="0" bIns="0" rtlCol="0" anchor="t">
            <a:normAutofit/>
          </a:bodyPr>
          <a:lstStyle/>
          <a:p>
            <a:pPr algn="l" indent="0" marL="0">
              <a:buNone/>
            </a:pPr>
            <a:r>
              <a:rPr lang="en-US" sz="1050" dirty="0">
                <a:solidFill>
                  <a:srgbClr val="E5E7EB"/>
                </a:solidFill>
                <a:latin typeface="Noto Sans CJK SC" pitchFamily="34" charset="0"/>
                <a:ea typeface="Noto Sans CJK SC" pitchFamily="34" charset="-122"/>
                <a:cs typeface="Noto Sans CJK SC" pitchFamily="34" charset="-120"/>
              </a:rPr>
              <a:t>Execution Timeline</a:t>
            </a:r>
            <a:endParaRPr lang="en-US" sz="1050" dirty="0"/>
          </a:p>
        </p:txBody>
      </p:sp>
      <p:sp>
        <p:nvSpPr>
          <p:cNvPr id="20" name="Shape 18"/>
          <p:cNvSpPr/>
          <p:nvPr/>
        </p:nvSpPr>
        <p:spPr>
          <a:xfrm>
            <a:off x="932688" y="4288536"/>
            <a:ext cx="2423160" cy="393192"/>
          </a:xfrm>
          <a:prstGeom prst="roundRect">
            <a:avLst/>
          </a:prstGeom>
          <a:solidFill>
            <a:srgbClr val="16152E"/>
          </a:solidFill>
          <a:ln w="12700">
            <a:solidFill>
              <a:srgbClr val="292747"/>
            </a:solidFill>
            <a:prstDash val="solid"/>
          </a:ln>
        </p:spPr>
        <p:txBody>
          <a:bodyPr/>
          <a:p/>
        </p:txBody>
      </p:sp>
      <p:sp>
        <p:nvSpPr>
          <p:cNvPr id="21" name="Text 19"/>
          <p:cNvSpPr/>
          <p:nvPr/>
        </p:nvSpPr>
        <p:spPr>
          <a:xfrm>
            <a:off x="1078992" y="4398264"/>
            <a:ext cx="2121408" cy="164592"/>
          </a:xfrm>
          <a:prstGeom prst="rect">
            <a:avLst/>
          </a:prstGeom>
          <a:noFill/>
          <a:ln/>
        </p:spPr>
        <p:txBody>
          <a:bodyPr wrap="square" lIns="0" tIns="0" rIns="0" bIns="0" rtlCol="0" anchor="t">
            <a:normAutofit/>
          </a:bodyPr>
          <a:lstStyle/>
          <a:p>
            <a:pPr algn="l" indent="0" marL="0">
              <a:buNone/>
            </a:pPr>
            <a:r>
              <a:rPr lang="en-US" sz="1050" dirty="0">
                <a:solidFill>
                  <a:srgbClr val="E5E7EB"/>
                </a:solidFill>
                <a:latin typeface="Noto Sans CJK SC" pitchFamily="34" charset="0"/>
                <a:ea typeface="Noto Sans CJK SC" pitchFamily="34" charset="-122"/>
                <a:cs typeface="Noto Sans CJK SC" pitchFamily="34" charset="-120"/>
              </a:rPr>
              <a:t>Diff / Evidence</a:t>
            </a:r>
            <a:endParaRPr lang="en-US" sz="1050" dirty="0"/>
          </a:p>
        </p:txBody>
      </p:sp>
      <p:sp>
        <p:nvSpPr>
          <p:cNvPr id="22" name="Shape 20"/>
          <p:cNvSpPr/>
          <p:nvPr/>
        </p:nvSpPr>
        <p:spPr>
          <a:xfrm>
            <a:off x="932688" y="4846320"/>
            <a:ext cx="2423160" cy="393192"/>
          </a:xfrm>
          <a:prstGeom prst="roundRect">
            <a:avLst/>
          </a:prstGeom>
          <a:solidFill>
            <a:srgbClr val="16152E"/>
          </a:solidFill>
          <a:ln w="12700">
            <a:solidFill>
              <a:srgbClr val="292747"/>
            </a:solidFill>
            <a:prstDash val="solid"/>
          </a:ln>
        </p:spPr>
        <p:txBody>
          <a:bodyPr/>
          <a:p/>
        </p:txBody>
      </p:sp>
      <p:sp>
        <p:nvSpPr>
          <p:cNvPr id="23" name="Text 21"/>
          <p:cNvSpPr/>
          <p:nvPr/>
        </p:nvSpPr>
        <p:spPr>
          <a:xfrm>
            <a:off x="1078992" y="4956048"/>
            <a:ext cx="2121408" cy="164592"/>
          </a:xfrm>
          <a:prstGeom prst="rect">
            <a:avLst/>
          </a:prstGeom>
          <a:noFill/>
          <a:ln/>
        </p:spPr>
        <p:txBody>
          <a:bodyPr wrap="square" lIns="0" tIns="0" rIns="0" bIns="0" rtlCol="0" anchor="t">
            <a:normAutofit/>
          </a:bodyPr>
          <a:lstStyle/>
          <a:p>
            <a:pPr algn="l" indent="0" marL="0">
              <a:buNone/>
            </a:pPr>
            <a:r>
              <a:rPr lang="en-US" sz="1050" dirty="0">
                <a:solidFill>
                  <a:srgbClr val="E5E7EB"/>
                </a:solidFill>
                <a:latin typeface="Noto Sans CJK SC" pitchFamily="34" charset="0"/>
                <a:ea typeface="Noto Sans CJK SC" pitchFamily="34" charset="-122"/>
                <a:cs typeface="Noto Sans CJK SC" pitchFamily="34" charset="-120"/>
              </a:rPr>
              <a:t>Wallet Connector</a:t>
            </a:r>
            <a:endParaRPr lang="en-US" sz="1050" dirty="0"/>
          </a:p>
        </p:txBody>
      </p:sp>
      <p:sp>
        <p:nvSpPr>
          <p:cNvPr id="24" name="Shape 22"/>
          <p:cNvSpPr/>
          <p:nvPr/>
        </p:nvSpPr>
        <p:spPr>
          <a:xfrm>
            <a:off x="3913632" y="1719072"/>
            <a:ext cx="4572000" cy="4343400"/>
          </a:xfrm>
          <a:prstGeom prst="roundRect">
            <a:avLst>
              <a:gd name="adj" fmla="val 1895"/>
            </a:avLst>
          </a:prstGeom>
          <a:solidFill>
            <a:srgbClr val="0D0D1C"/>
          </a:solidFill>
          <a:ln w="10160">
            <a:solidFill>
              <a:srgbClr val="292747"/>
            </a:solidFill>
            <a:prstDash val="solid"/>
          </a:ln>
          <a:effectLst>
            <a:outerShdw sx="100000" sy="100000" kx="0" ky="0" algn="bl" rotWithShape="0" blurRad="5.679133646942494e+57" dist="3.407480188165497e+57" dir="3.526387384320001e+68">
              <a:srgbClr val="000000">
                <a:alpha val="2.4999999999999998e+69"/>
              </a:srgbClr>
            </a:outerShdw>
          </a:effectLst>
        </p:spPr>
        <p:txBody>
          <a:bodyPr/>
          <a:p/>
        </p:txBody>
      </p:sp>
      <p:sp>
        <p:nvSpPr>
          <p:cNvPr id="25" name="Shape 23"/>
          <p:cNvSpPr/>
          <p:nvPr/>
        </p:nvSpPr>
        <p:spPr>
          <a:xfrm>
            <a:off x="4224528" y="1993392"/>
            <a:ext cx="1719072" cy="292608"/>
          </a:xfrm>
          <a:prstGeom prst="roundRect">
            <a:avLst>
              <a:gd name="adj" fmla="val 25000"/>
            </a:avLst>
          </a:prstGeom>
          <a:solidFill>
            <a:srgbClr val="8B5CF6">
              <a:alpha val="16000"/>
            </a:srgbClr>
          </a:solidFill>
          <a:ln w="8890">
            <a:solidFill>
              <a:srgbClr val="8B5CF6">
                <a:alpha val="55000"/>
              </a:srgbClr>
            </a:solidFill>
            <a:prstDash val="solid"/>
          </a:ln>
        </p:spPr>
        <p:txBody>
          <a:bodyPr/>
          <a:p/>
        </p:txBody>
      </p:sp>
      <p:sp>
        <p:nvSpPr>
          <p:cNvPr id="26" name="Text 24"/>
          <p:cNvSpPr/>
          <p:nvPr/>
        </p:nvSpPr>
        <p:spPr>
          <a:xfrm>
            <a:off x="4224528" y="1997964"/>
            <a:ext cx="1719072" cy="256032"/>
          </a:xfrm>
          <a:prstGeom prst="rect">
            <a:avLst/>
          </a:prstGeom>
          <a:noFill/>
          <a:ln/>
        </p:spPr>
        <p:txBody>
          <a:bodyPr wrap="square" lIns="0" tIns="0" rIns="0" bIns="0" rtlCol="0" anchor="ctr"/>
          <a:lstStyle/>
          <a:p>
            <a:pPr algn="ctr" indent="0" marL="0">
              <a:buNone/>
            </a:pPr>
            <a:r>
              <a:rPr lang="en-US" sz="850" b="1" dirty="0">
                <a:solidFill>
                  <a:srgbClr val="8B5CF6"/>
                </a:solidFill>
                <a:latin typeface="Noto Sans CJK SC" pitchFamily="34" charset="0"/>
                <a:ea typeface="Noto Sans CJK SC" pitchFamily="34" charset="-122"/>
                <a:cs typeface="Noto Sans CJK SC" pitchFamily="34" charset="-120"/>
              </a:rPr>
              <a:t>TANSTACK START SERVER</a:t>
            </a:r>
            <a:endParaRPr lang="en-US" sz="850" dirty="0"/>
          </a:p>
        </p:txBody>
      </p:sp>
      <p:sp>
        <p:nvSpPr>
          <p:cNvPr id="27" name="Text 25"/>
          <p:cNvSpPr/>
          <p:nvPr/>
        </p:nvSpPr>
        <p:spPr>
          <a:xfrm>
            <a:off x="4297680" y="2542032"/>
            <a:ext cx="1389888" cy="201168"/>
          </a:xfrm>
          <a:prstGeom prst="rect">
            <a:avLst/>
          </a:prstGeom>
          <a:noFill/>
          <a:ln/>
        </p:spPr>
        <p:txBody>
          <a:bodyPr wrap="square" lIns="0" tIns="0" rIns="0" bIns="0" rtlCol="0" anchor="t">
            <a:normAutofit/>
          </a:bodyPr>
          <a:lstStyle/>
          <a:p>
            <a:pPr algn="l" indent="0" marL="0">
              <a:buNone/>
            </a:pPr>
            <a:r>
              <a:rPr lang="en-US" sz="1050" b="1" dirty="0">
                <a:solidFill>
                  <a:srgbClr val="F8FAFC"/>
                </a:solidFill>
                <a:latin typeface="Noto Sans CJK SC" pitchFamily="34" charset="0"/>
                <a:ea typeface="Noto Sans CJK SC" pitchFamily="34" charset="-122"/>
                <a:cs typeface="Noto Sans CJK SC" pitchFamily="34" charset="-120"/>
              </a:rPr>
              <a:t>AI Runtime</a:t>
            </a:r>
            <a:endParaRPr lang="en-US" sz="1050" dirty="0"/>
          </a:p>
        </p:txBody>
      </p:sp>
      <p:sp>
        <p:nvSpPr>
          <p:cNvPr id="28" name="Text 26"/>
          <p:cNvSpPr/>
          <p:nvPr/>
        </p:nvSpPr>
        <p:spPr>
          <a:xfrm>
            <a:off x="5641848" y="2542032"/>
            <a:ext cx="2487168" cy="228600"/>
          </a:xfrm>
          <a:prstGeom prst="rect">
            <a:avLst/>
          </a:prstGeom>
          <a:noFill/>
          <a:ln/>
        </p:spPr>
        <p:txBody>
          <a:bodyPr wrap="square" lIns="0" tIns="0" rIns="0" bIns="0" rtlCol="0" anchor="t">
            <a:normAutofit/>
          </a:bodyPr>
          <a:lstStyle/>
          <a:p>
            <a:pPr algn="l" indent="0" marL="0">
              <a:buNone/>
            </a:pPr>
            <a:r>
              <a:rPr lang="en-US" sz="920" dirty="0">
                <a:solidFill>
                  <a:srgbClr val="9CA3AF"/>
                </a:solidFill>
                <a:latin typeface="Noto Sans CJK SC" pitchFamily="34" charset="0"/>
                <a:ea typeface="Noto Sans CJK SC" pitchFamily="34" charset="-122"/>
                <a:cs typeface="Noto Sans CJK SC" pitchFamily="34" charset="-120"/>
              </a:rPr>
              <a:t>propose_intent / propose_agent_action</a:t>
            </a:r>
            <a:endParaRPr lang="en-US" sz="920" dirty="0"/>
          </a:p>
        </p:txBody>
      </p:sp>
      <p:sp>
        <p:nvSpPr>
          <p:cNvPr id="29" name="Shape 27"/>
          <p:cNvSpPr/>
          <p:nvPr/>
        </p:nvSpPr>
        <p:spPr>
          <a:xfrm>
            <a:off x="4297680" y="2907792"/>
            <a:ext cx="3749040" cy="0"/>
          </a:xfrm>
          <a:prstGeom prst="line">
            <a:avLst/>
          </a:prstGeom>
          <a:noFill/>
          <a:ln w="8890">
            <a:solidFill>
              <a:srgbClr val="292747">
                <a:alpha val="60000"/>
              </a:srgbClr>
            </a:solidFill>
            <a:prstDash val="solid"/>
          </a:ln>
        </p:spPr>
        <p:txBody>
          <a:bodyPr/>
          <a:p/>
        </p:txBody>
      </p:sp>
      <p:sp>
        <p:nvSpPr>
          <p:cNvPr id="30" name="Text 28"/>
          <p:cNvSpPr/>
          <p:nvPr/>
        </p:nvSpPr>
        <p:spPr>
          <a:xfrm>
            <a:off x="4297680" y="3063240"/>
            <a:ext cx="1389888" cy="201168"/>
          </a:xfrm>
          <a:prstGeom prst="rect">
            <a:avLst/>
          </a:prstGeom>
          <a:noFill/>
          <a:ln/>
        </p:spPr>
        <p:txBody>
          <a:bodyPr wrap="square" lIns="0" tIns="0" rIns="0" bIns="0" rtlCol="0" anchor="t">
            <a:normAutofit/>
          </a:bodyPr>
          <a:lstStyle/>
          <a:p>
            <a:pPr algn="l" indent="0" marL="0">
              <a:buNone/>
            </a:pPr>
            <a:r>
              <a:rPr lang="en-US" sz="1050" b="1" dirty="0">
                <a:solidFill>
                  <a:srgbClr val="F8FAFC"/>
                </a:solidFill>
                <a:latin typeface="Noto Sans CJK SC" pitchFamily="34" charset="0"/>
                <a:ea typeface="Noto Sans CJK SC" pitchFamily="34" charset="-122"/>
                <a:cs typeface="Noto Sans CJK SC" pitchFamily="34" charset="-120"/>
              </a:rPr>
              <a:t>Intent Service</a:t>
            </a:r>
            <a:endParaRPr lang="en-US" sz="1050" dirty="0"/>
          </a:p>
        </p:txBody>
      </p:sp>
      <p:sp>
        <p:nvSpPr>
          <p:cNvPr id="31" name="Text 29"/>
          <p:cNvSpPr/>
          <p:nvPr/>
        </p:nvSpPr>
        <p:spPr>
          <a:xfrm>
            <a:off x="5641848" y="3063240"/>
            <a:ext cx="2487168" cy="228600"/>
          </a:xfrm>
          <a:prstGeom prst="rect">
            <a:avLst/>
          </a:prstGeom>
          <a:noFill/>
          <a:ln/>
        </p:spPr>
        <p:txBody>
          <a:bodyPr wrap="square" lIns="0" tIns="0" rIns="0" bIns="0" rtlCol="0" anchor="t">
            <a:normAutofit/>
          </a:bodyPr>
          <a:lstStyle/>
          <a:p>
            <a:pPr algn="l" indent="0" marL="0">
              <a:buNone/>
            </a:pPr>
            <a:r>
              <a:rPr lang="en-US" sz="920" dirty="0">
                <a:solidFill>
                  <a:srgbClr val="9CA3AF"/>
                </a:solidFill>
                <a:latin typeface="Noto Sans CJK SC" pitchFamily="34" charset="0"/>
                <a:ea typeface="Noto Sans CJK SC" pitchFamily="34" charset="-122"/>
                <a:cs typeface="Noto Sans CJK SC" pitchFamily="34" charset="-120"/>
              </a:rPr>
              <a:t>Normalize · Hash · Confirmation Token</a:t>
            </a:r>
            <a:endParaRPr lang="en-US" sz="920" dirty="0"/>
          </a:p>
        </p:txBody>
      </p:sp>
      <p:sp>
        <p:nvSpPr>
          <p:cNvPr id="32" name="Shape 30"/>
          <p:cNvSpPr/>
          <p:nvPr/>
        </p:nvSpPr>
        <p:spPr>
          <a:xfrm>
            <a:off x="4297680" y="3429000"/>
            <a:ext cx="3749040" cy="0"/>
          </a:xfrm>
          <a:prstGeom prst="line">
            <a:avLst/>
          </a:prstGeom>
          <a:noFill/>
          <a:ln w="8890">
            <a:solidFill>
              <a:srgbClr val="292747">
                <a:alpha val="60000"/>
              </a:srgbClr>
            </a:solidFill>
            <a:prstDash val="solid"/>
          </a:ln>
        </p:spPr>
        <p:txBody>
          <a:bodyPr/>
          <a:p/>
        </p:txBody>
      </p:sp>
      <p:sp>
        <p:nvSpPr>
          <p:cNvPr id="33" name="Text 31"/>
          <p:cNvSpPr/>
          <p:nvPr/>
        </p:nvSpPr>
        <p:spPr>
          <a:xfrm>
            <a:off x="4297680" y="3584448"/>
            <a:ext cx="1389888" cy="201168"/>
          </a:xfrm>
          <a:prstGeom prst="rect">
            <a:avLst/>
          </a:prstGeom>
          <a:noFill/>
          <a:ln/>
        </p:spPr>
        <p:txBody>
          <a:bodyPr wrap="square" lIns="0" tIns="0" rIns="0" bIns="0" rtlCol="0" anchor="t">
            <a:normAutofit/>
          </a:bodyPr>
          <a:lstStyle/>
          <a:p>
            <a:pPr algn="l" indent="0" marL="0">
              <a:buNone/>
            </a:pPr>
            <a:r>
              <a:rPr lang="en-US" sz="1050" b="1" dirty="0">
                <a:solidFill>
                  <a:srgbClr val="F8FAFC"/>
                </a:solidFill>
                <a:latin typeface="Noto Sans CJK SC" pitchFamily="34" charset="0"/>
                <a:ea typeface="Noto Sans CJK SC" pitchFamily="34" charset="-122"/>
                <a:cs typeface="Noto Sans CJK SC" pitchFamily="34" charset="-120"/>
              </a:rPr>
              <a:t>Scenario Engine</a:t>
            </a:r>
            <a:endParaRPr lang="en-US" sz="1050" dirty="0"/>
          </a:p>
        </p:txBody>
      </p:sp>
      <p:sp>
        <p:nvSpPr>
          <p:cNvPr id="34" name="Text 32"/>
          <p:cNvSpPr/>
          <p:nvPr/>
        </p:nvSpPr>
        <p:spPr>
          <a:xfrm>
            <a:off x="5641848" y="3584448"/>
            <a:ext cx="2487168" cy="228600"/>
          </a:xfrm>
          <a:prstGeom prst="rect">
            <a:avLst/>
          </a:prstGeom>
          <a:noFill/>
          <a:ln/>
        </p:spPr>
        <p:txBody>
          <a:bodyPr wrap="square" lIns="0" tIns="0" rIns="0" bIns="0" rtlCol="0" anchor="t">
            <a:normAutofit/>
          </a:bodyPr>
          <a:lstStyle/>
          <a:p>
            <a:pPr algn="l" indent="0" marL="0">
              <a:buNone/>
            </a:pPr>
            <a:r>
              <a:rPr lang="en-US" sz="920" dirty="0">
                <a:solidFill>
                  <a:srgbClr val="9CA3AF"/>
                </a:solidFill>
                <a:latin typeface="Noto Sans CJK SC" pitchFamily="34" charset="0"/>
                <a:ea typeface="Noto Sans CJK SC" pitchFamily="34" charset="-122"/>
                <a:cs typeface="Noto Sans CJK SC" pitchFamily="34" charset="-120"/>
              </a:rPr>
              <a:t>Explicit Fault Injection</a:t>
            </a:r>
            <a:endParaRPr lang="en-US" sz="920" dirty="0"/>
          </a:p>
        </p:txBody>
      </p:sp>
      <p:sp>
        <p:nvSpPr>
          <p:cNvPr id="35" name="Shape 33"/>
          <p:cNvSpPr/>
          <p:nvPr/>
        </p:nvSpPr>
        <p:spPr>
          <a:xfrm>
            <a:off x="4297680" y="3950208"/>
            <a:ext cx="3749040" cy="0"/>
          </a:xfrm>
          <a:prstGeom prst="line">
            <a:avLst/>
          </a:prstGeom>
          <a:noFill/>
          <a:ln w="8890">
            <a:solidFill>
              <a:srgbClr val="292747">
                <a:alpha val="60000"/>
              </a:srgbClr>
            </a:solidFill>
            <a:prstDash val="solid"/>
          </a:ln>
        </p:spPr>
        <p:txBody>
          <a:bodyPr/>
          <a:p/>
        </p:txBody>
      </p:sp>
      <p:sp>
        <p:nvSpPr>
          <p:cNvPr id="36" name="Text 34"/>
          <p:cNvSpPr/>
          <p:nvPr/>
        </p:nvSpPr>
        <p:spPr>
          <a:xfrm>
            <a:off x="4297680" y="4105656"/>
            <a:ext cx="1389888" cy="201168"/>
          </a:xfrm>
          <a:prstGeom prst="rect">
            <a:avLst/>
          </a:prstGeom>
          <a:noFill/>
          <a:ln/>
        </p:spPr>
        <p:txBody>
          <a:bodyPr wrap="square" lIns="0" tIns="0" rIns="0" bIns="0" rtlCol="0" anchor="t">
            <a:normAutofit/>
          </a:bodyPr>
          <a:lstStyle/>
          <a:p>
            <a:pPr algn="l" indent="0" marL="0">
              <a:buNone/>
            </a:pPr>
            <a:r>
              <a:rPr lang="en-US" sz="1050" b="1" dirty="0">
                <a:solidFill>
                  <a:srgbClr val="F8FAFC"/>
                </a:solidFill>
                <a:latin typeface="Noto Sans CJK SC" pitchFamily="34" charset="0"/>
                <a:ea typeface="Noto Sans CJK SC" pitchFamily="34" charset="-122"/>
                <a:cs typeface="Noto Sans CJK SC" pitchFamily="34" charset="-120"/>
              </a:rPr>
              <a:t>Moss Adapter</a:t>
            </a:r>
            <a:endParaRPr lang="en-US" sz="1050" dirty="0"/>
          </a:p>
        </p:txBody>
      </p:sp>
      <p:sp>
        <p:nvSpPr>
          <p:cNvPr id="37" name="Text 35"/>
          <p:cNvSpPr/>
          <p:nvPr/>
        </p:nvSpPr>
        <p:spPr>
          <a:xfrm>
            <a:off x="5641848" y="4105656"/>
            <a:ext cx="2487168" cy="228600"/>
          </a:xfrm>
          <a:prstGeom prst="rect">
            <a:avLst/>
          </a:prstGeom>
          <a:noFill/>
          <a:ln/>
        </p:spPr>
        <p:txBody>
          <a:bodyPr wrap="square" lIns="0" tIns="0" rIns="0" bIns="0" rtlCol="0" anchor="t">
            <a:normAutofit/>
          </a:bodyPr>
          <a:lstStyle/>
          <a:p>
            <a:pPr algn="l" indent="0" marL="0">
              <a:buNone/>
            </a:pPr>
            <a:r>
              <a:rPr lang="en-US" sz="920" dirty="0">
                <a:solidFill>
                  <a:srgbClr val="9CA3AF"/>
                </a:solidFill>
                <a:latin typeface="Noto Sans CJK SC" pitchFamily="34" charset="0"/>
                <a:ea typeface="Noto Sans CJK SC" pitchFamily="34" charset="-122"/>
                <a:cs typeface="Noto Sans CJK SC" pitchFamily="34" charset="-120"/>
              </a:rPr>
              <a:t>discover · load · action · simulate</a:t>
            </a:r>
            <a:endParaRPr lang="en-US" sz="920" dirty="0"/>
          </a:p>
        </p:txBody>
      </p:sp>
      <p:sp>
        <p:nvSpPr>
          <p:cNvPr id="38" name="Shape 36"/>
          <p:cNvSpPr/>
          <p:nvPr/>
        </p:nvSpPr>
        <p:spPr>
          <a:xfrm>
            <a:off x="4297680" y="4471416"/>
            <a:ext cx="3749040" cy="0"/>
          </a:xfrm>
          <a:prstGeom prst="line">
            <a:avLst/>
          </a:prstGeom>
          <a:noFill/>
          <a:ln w="8890">
            <a:solidFill>
              <a:srgbClr val="292747">
                <a:alpha val="60000"/>
              </a:srgbClr>
            </a:solidFill>
            <a:prstDash val="solid"/>
          </a:ln>
        </p:spPr>
        <p:txBody>
          <a:bodyPr/>
          <a:p/>
        </p:txBody>
      </p:sp>
      <p:sp>
        <p:nvSpPr>
          <p:cNvPr id="39" name="Text 37"/>
          <p:cNvSpPr/>
          <p:nvPr/>
        </p:nvSpPr>
        <p:spPr>
          <a:xfrm>
            <a:off x="4297680" y="4626864"/>
            <a:ext cx="1389888" cy="201168"/>
          </a:xfrm>
          <a:prstGeom prst="rect">
            <a:avLst/>
          </a:prstGeom>
          <a:noFill/>
          <a:ln/>
        </p:spPr>
        <p:txBody>
          <a:bodyPr wrap="square" lIns="0" tIns="0" rIns="0" bIns="0" rtlCol="0" anchor="t">
            <a:normAutofit/>
          </a:bodyPr>
          <a:lstStyle/>
          <a:p>
            <a:pPr algn="l" indent="0" marL="0">
              <a:buNone/>
            </a:pPr>
            <a:r>
              <a:rPr lang="en-US" sz="1050" b="1" dirty="0">
                <a:solidFill>
                  <a:srgbClr val="F8FAFC"/>
                </a:solidFill>
                <a:latin typeface="Noto Sans CJK SC" pitchFamily="34" charset="0"/>
                <a:ea typeface="Noto Sans CJK SC" pitchFamily="34" charset="-122"/>
                <a:cs typeface="Noto Sans CJK SC" pitchFamily="34" charset="-120"/>
              </a:rPr>
              <a:t>Verification Engine</a:t>
            </a:r>
            <a:endParaRPr lang="en-US" sz="1050" dirty="0"/>
          </a:p>
        </p:txBody>
      </p:sp>
      <p:sp>
        <p:nvSpPr>
          <p:cNvPr id="40" name="Text 38"/>
          <p:cNvSpPr/>
          <p:nvPr/>
        </p:nvSpPr>
        <p:spPr>
          <a:xfrm>
            <a:off x="5641848" y="4626864"/>
            <a:ext cx="2487168" cy="228600"/>
          </a:xfrm>
          <a:prstGeom prst="rect">
            <a:avLst/>
          </a:prstGeom>
          <a:noFill/>
          <a:ln/>
        </p:spPr>
        <p:txBody>
          <a:bodyPr wrap="square" lIns="0" tIns="0" rIns="0" bIns="0" rtlCol="0" anchor="t">
            <a:normAutofit/>
          </a:bodyPr>
          <a:lstStyle/>
          <a:p>
            <a:pPr algn="l" indent="0" marL="0">
              <a:buNone/>
            </a:pPr>
            <a:r>
              <a:rPr lang="en-US" sz="920" dirty="0">
                <a:solidFill>
                  <a:srgbClr val="9CA3AF"/>
                </a:solidFill>
                <a:latin typeface="Noto Sans CJK SC" pitchFamily="34" charset="0"/>
                <a:ea typeface="Noto Sans CJK SC" pitchFamily="34" charset="-122"/>
                <a:cs typeface="Noto Sans CJK SC" pitchFamily="34" charset="-120"/>
              </a:rPr>
              <a:t>Transfer · Approval · Kuru · Effects</a:t>
            </a:r>
            <a:endParaRPr lang="en-US" sz="920" dirty="0"/>
          </a:p>
        </p:txBody>
      </p:sp>
      <p:sp>
        <p:nvSpPr>
          <p:cNvPr id="41" name="Shape 39"/>
          <p:cNvSpPr/>
          <p:nvPr/>
        </p:nvSpPr>
        <p:spPr>
          <a:xfrm>
            <a:off x="4297680" y="4992624"/>
            <a:ext cx="3749040" cy="0"/>
          </a:xfrm>
          <a:prstGeom prst="line">
            <a:avLst/>
          </a:prstGeom>
          <a:noFill/>
          <a:ln w="8890">
            <a:solidFill>
              <a:srgbClr val="292747">
                <a:alpha val="60000"/>
              </a:srgbClr>
            </a:solidFill>
            <a:prstDash val="solid"/>
          </a:ln>
        </p:spPr>
        <p:txBody>
          <a:bodyPr/>
          <a:p/>
        </p:txBody>
      </p:sp>
      <p:sp>
        <p:nvSpPr>
          <p:cNvPr id="42" name="Text 40"/>
          <p:cNvSpPr/>
          <p:nvPr/>
        </p:nvSpPr>
        <p:spPr>
          <a:xfrm>
            <a:off x="4297680" y="5148072"/>
            <a:ext cx="1389888" cy="201168"/>
          </a:xfrm>
          <a:prstGeom prst="rect">
            <a:avLst/>
          </a:prstGeom>
          <a:noFill/>
          <a:ln/>
        </p:spPr>
        <p:txBody>
          <a:bodyPr wrap="square" lIns="0" tIns="0" rIns="0" bIns="0" rtlCol="0" anchor="t">
            <a:normAutofit/>
          </a:bodyPr>
          <a:lstStyle/>
          <a:p>
            <a:pPr algn="l" indent="0" marL="0">
              <a:buNone/>
            </a:pPr>
            <a:r>
              <a:rPr lang="en-US" sz="1050" b="1" dirty="0">
                <a:solidFill>
                  <a:srgbClr val="F8FAFC"/>
                </a:solidFill>
                <a:latin typeface="Noto Sans CJK SC" pitchFamily="34" charset="0"/>
                <a:ea typeface="Noto Sans CJK SC" pitchFamily="34" charset="-122"/>
                <a:cs typeface="Noto Sans CJK SC" pitchFamily="34" charset="-120"/>
              </a:rPr>
              <a:t>Signer Gate</a:t>
            </a:r>
            <a:endParaRPr lang="en-US" sz="1050" dirty="0"/>
          </a:p>
        </p:txBody>
      </p:sp>
      <p:sp>
        <p:nvSpPr>
          <p:cNvPr id="43" name="Text 41"/>
          <p:cNvSpPr/>
          <p:nvPr/>
        </p:nvSpPr>
        <p:spPr>
          <a:xfrm>
            <a:off x="5641848" y="5148072"/>
            <a:ext cx="2487168" cy="228600"/>
          </a:xfrm>
          <a:prstGeom prst="rect">
            <a:avLst/>
          </a:prstGeom>
          <a:noFill/>
          <a:ln/>
        </p:spPr>
        <p:txBody>
          <a:bodyPr wrap="square" lIns="0" tIns="0" rIns="0" bIns="0" rtlCol="0" anchor="t">
            <a:normAutofit/>
          </a:bodyPr>
          <a:lstStyle/>
          <a:p>
            <a:pPr algn="l" indent="0" marL="0">
              <a:buNone/>
            </a:pPr>
            <a:r>
              <a:rPr lang="en-US" sz="920" dirty="0">
                <a:solidFill>
                  <a:srgbClr val="9CA3AF"/>
                </a:solidFill>
                <a:latin typeface="Noto Sans CJK SC" pitchFamily="34" charset="0"/>
                <a:ea typeface="Noto Sans CJK SC" pitchFamily="34" charset="-122"/>
                <a:cs typeface="Noto Sans CJK SC" pitchFamily="34" charset="-120"/>
              </a:rPr>
              <a:t>Only VERIFIED → Wallet Review</a:t>
            </a:r>
            <a:endParaRPr lang="en-US" sz="920" dirty="0"/>
          </a:p>
        </p:txBody>
      </p:sp>
      <p:sp>
        <p:nvSpPr>
          <p:cNvPr id="44" name="Shape 42"/>
          <p:cNvSpPr/>
          <p:nvPr/>
        </p:nvSpPr>
        <p:spPr>
          <a:xfrm>
            <a:off x="8759952" y="1719072"/>
            <a:ext cx="2779776" cy="4343400"/>
          </a:xfrm>
          <a:prstGeom prst="roundRect">
            <a:avLst>
              <a:gd name="adj" fmla="val 2961"/>
            </a:avLst>
          </a:prstGeom>
          <a:solidFill>
            <a:srgbClr val="111126"/>
          </a:solidFill>
          <a:ln w="10160">
            <a:solidFill>
              <a:srgbClr val="292747"/>
            </a:solidFill>
            <a:prstDash val="solid"/>
          </a:ln>
          <a:effectLst>
            <a:outerShdw sx="100000" sy="100000" kx="0" ky="0" algn="bl" rotWithShape="0" blurRad="7.212499731616968e+61" dist="4.327499838970181e+61" dir="2.1158324305920003e+73">
              <a:srgbClr val="000000">
                <a:alpha val="2.5e+74"/>
              </a:srgbClr>
            </a:outerShdw>
          </a:effectLst>
        </p:spPr>
        <p:txBody>
          <a:bodyPr/>
          <a:p/>
        </p:txBody>
      </p:sp>
      <p:sp>
        <p:nvSpPr>
          <p:cNvPr id="45" name="Shape 43"/>
          <p:cNvSpPr/>
          <p:nvPr/>
        </p:nvSpPr>
        <p:spPr>
          <a:xfrm>
            <a:off x="9052560" y="1993392"/>
            <a:ext cx="914400" cy="292608"/>
          </a:xfrm>
          <a:prstGeom prst="roundRect">
            <a:avLst>
              <a:gd name="adj" fmla="val 25000"/>
            </a:avLst>
          </a:prstGeom>
          <a:solidFill>
            <a:srgbClr val="22D3EE">
              <a:alpha val="16000"/>
            </a:srgbClr>
          </a:solidFill>
          <a:ln w="8890">
            <a:solidFill>
              <a:srgbClr val="22D3EE">
                <a:alpha val="55000"/>
              </a:srgbClr>
            </a:solidFill>
            <a:prstDash val="solid"/>
          </a:ln>
        </p:spPr>
        <p:txBody>
          <a:bodyPr/>
          <a:p/>
        </p:txBody>
      </p:sp>
      <p:sp>
        <p:nvSpPr>
          <p:cNvPr id="46" name="Text 44"/>
          <p:cNvSpPr/>
          <p:nvPr/>
        </p:nvSpPr>
        <p:spPr>
          <a:xfrm>
            <a:off x="9052560" y="1997964"/>
            <a:ext cx="914400" cy="256032"/>
          </a:xfrm>
          <a:prstGeom prst="rect">
            <a:avLst/>
          </a:prstGeom>
          <a:noFill/>
          <a:ln/>
        </p:spPr>
        <p:txBody>
          <a:bodyPr wrap="square" lIns="0" tIns="0" rIns="0" bIns="0" rtlCol="0" anchor="ctr"/>
          <a:lstStyle/>
          <a:p>
            <a:pPr algn="ctr" indent="0" marL="0">
              <a:buNone/>
            </a:pPr>
            <a:r>
              <a:rPr lang="en-US" sz="850" b="1" dirty="0">
                <a:solidFill>
                  <a:srgbClr val="22D3EE"/>
                </a:solidFill>
                <a:latin typeface="Noto Sans CJK SC" pitchFamily="34" charset="0"/>
                <a:ea typeface="Noto Sans CJK SC" pitchFamily="34" charset="-122"/>
                <a:cs typeface="Noto Sans CJK SC" pitchFamily="34" charset="-120"/>
              </a:rPr>
              <a:t>EXTERNAL</a:t>
            </a:r>
            <a:endParaRPr lang="en-US" sz="850" dirty="0"/>
          </a:p>
        </p:txBody>
      </p:sp>
      <p:sp>
        <p:nvSpPr>
          <p:cNvPr id="47" name="Shape 45"/>
          <p:cNvSpPr/>
          <p:nvPr/>
        </p:nvSpPr>
        <p:spPr>
          <a:xfrm>
            <a:off x="9107424" y="2697480"/>
            <a:ext cx="2084832" cy="530352"/>
          </a:xfrm>
          <a:prstGeom prst="roundRect">
            <a:avLst/>
          </a:prstGeom>
          <a:solidFill>
            <a:srgbClr val="A78BFA">
              <a:alpha val="12000"/>
            </a:srgbClr>
          </a:solidFill>
          <a:ln w="12700">
            <a:solidFill>
              <a:srgbClr val="A78BFA">
                <a:alpha val="60000"/>
              </a:srgbClr>
            </a:solidFill>
            <a:prstDash val="solid"/>
          </a:ln>
        </p:spPr>
        <p:txBody>
          <a:bodyPr/>
          <a:p/>
        </p:txBody>
      </p:sp>
      <p:sp>
        <p:nvSpPr>
          <p:cNvPr id="48" name="Text 46"/>
          <p:cNvSpPr/>
          <p:nvPr/>
        </p:nvSpPr>
        <p:spPr>
          <a:xfrm>
            <a:off x="9171432" y="2852928"/>
            <a:ext cx="1956816" cy="201168"/>
          </a:xfrm>
          <a:prstGeom prst="rect">
            <a:avLst/>
          </a:prstGeom>
          <a:noFill/>
          <a:ln/>
        </p:spPr>
        <p:txBody>
          <a:bodyPr wrap="square" lIns="0" tIns="0" rIns="0" bIns="0" rtlCol="0" anchor="t">
            <a:normAutofit/>
          </a:bodyPr>
          <a:lstStyle/>
          <a:p>
            <a:pPr algn="ctr" indent="0" marL="0">
              <a:buNone/>
            </a:pPr>
            <a:r>
              <a:rPr lang="en-US" sz="1120" b="1" dirty="0">
                <a:solidFill>
                  <a:srgbClr val="A78BFA"/>
                </a:solidFill>
                <a:latin typeface="Noto Sans CJK SC" pitchFamily="34" charset="0"/>
                <a:ea typeface="Noto Sans CJK SC" pitchFamily="34" charset="-122"/>
                <a:cs typeface="Noto Sans CJK SC" pitchFamily="34" charset="-120"/>
              </a:rPr>
              <a:t>AI Provider</a:t>
            </a:r>
            <a:endParaRPr lang="en-US" sz="1120" dirty="0"/>
          </a:p>
        </p:txBody>
      </p:sp>
      <p:sp>
        <p:nvSpPr>
          <p:cNvPr id="49" name="Shape 47"/>
          <p:cNvSpPr/>
          <p:nvPr/>
        </p:nvSpPr>
        <p:spPr>
          <a:xfrm>
            <a:off x="9107424" y="3557016"/>
            <a:ext cx="2084832" cy="530352"/>
          </a:xfrm>
          <a:prstGeom prst="roundRect">
            <a:avLst/>
          </a:prstGeom>
          <a:solidFill>
            <a:srgbClr val="22D3EE">
              <a:alpha val="12000"/>
            </a:srgbClr>
          </a:solidFill>
          <a:ln w="12700">
            <a:solidFill>
              <a:srgbClr val="22D3EE">
                <a:alpha val="60000"/>
              </a:srgbClr>
            </a:solidFill>
            <a:prstDash val="solid"/>
          </a:ln>
        </p:spPr>
        <p:txBody>
          <a:bodyPr/>
          <a:p/>
        </p:txBody>
      </p:sp>
      <p:sp>
        <p:nvSpPr>
          <p:cNvPr id="50" name="Text 48"/>
          <p:cNvSpPr/>
          <p:nvPr/>
        </p:nvSpPr>
        <p:spPr>
          <a:xfrm>
            <a:off x="9171432" y="3712464"/>
            <a:ext cx="1956816" cy="201168"/>
          </a:xfrm>
          <a:prstGeom prst="rect">
            <a:avLst/>
          </a:prstGeom>
          <a:noFill/>
          <a:ln/>
        </p:spPr>
        <p:txBody>
          <a:bodyPr wrap="square" lIns="0" tIns="0" rIns="0" bIns="0" rtlCol="0" anchor="t">
            <a:normAutofit/>
          </a:bodyPr>
          <a:lstStyle/>
          <a:p>
            <a:pPr algn="ctr" indent="0" marL="0">
              <a:buNone/>
            </a:pPr>
            <a:r>
              <a:rPr lang="en-US" sz="1120" b="1" dirty="0">
                <a:solidFill>
                  <a:srgbClr val="22D3EE"/>
                </a:solidFill>
                <a:latin typeface="Noto Sans CJK SC" pitchFamily="34" charset="0"/>
                <a:ea typeface="Noto Sans CJK SC" pitchFamily="34" charset="-122"/>
                <a:cs typeface="Noto Sans CJK SC" pitchFamily="34" charset="-120"/>
              </a:rPr>
              <a:t>Moss TS SDK</a:t>
            </a:r>
            <a:endParaRPr lang="en-US" sz="1120" dirty="0"/>
          </a:p>
        </p:txBody>
      </p:sp>
      <p:sp>
        <p:nvSpPr>
          <p:cNvPr id="51" name="Shape 49"/>
          <p:cNvSpPr/>
          <p:nvPr/>
        </p:nvSpPr>
        <p:spPr>
          <a:xfrm>
            <a:off x="9107424" y="4416552"/>
            <a:ext cx="2084832" cy="530352"/>
          </a:xfrm>
          <a:prstGeom prst="roundRect">
            <a:avLst/>
          </a:prstGeom>
          <a:solidFill>
            <a:srgbClr val="22C55E">
              <a:alpha val="12000"/>
            </a:srgbClr>
          </a:solidFill>
          <a:ln w="12700">
            <a:solidFill>
              <a:srgbClr val="22C55E">
                <a:alpha val="60000"/>
              </a:srgbClr>
            </a:solidFill>
            <a:prstDash val="solid"/>
          </a:ln>
        </p:spPr>
        <p:txBody>
          <a:bodyPr/>
          <a:p/>
        </p:txBody>
      </p:sp>
      <p:sp>
        <p:nvSpPr>
          <p:cNvPr id="52" name="Text 50"/>
          <p:cNvSpPr/>
          <p:nvPr/>
        </p:nvSpPr>
        <p:spPr>
          <a:xfrm>
            <a:off x="9171432" y="4572000"/>
            <a:ext cx="1956816" cy="201168"/>
          </a:xfrm>
          <a:prstGeom prst="rect">
            <a:avLst/>
          </a:prstGeom>
          <a:noFill/>
          <a:ln/>
        </p:spPr>
        <p:txBody>
          <a:bodyPr wrap="square" lIns="0" tIns="0" rIns="0" bIns="0" rtlCol="0" anchor="t">
            <a:normAutofit/>
          </a:bodyPr>
          <a:lstStyle/>
          <a:p>
            <a:pPr algn="ctr" indent="0" marL="0">
              <a:buNone/>
            </a:pPr>
            <a:r>
              <a:rPr lang="en-US" sz="1120" b="1" dirty="0">
                <a:solidFill>
                  <a:srgbClr val="22C55E"/>
                </a:solidFill>
                <a:latin typeface="Noto Sans CJK SC" pitchFamily="34" charset="0"/>
                <a:ea typeface="Noto Sans CJK SC" pitchFamily="34" charset="-122"/>
                <a:cs typeface="Noto Sans CJK SC" pitchFamily="34" charset="-120"/>
              </a:rPr>
              <a:t>Monad RPC · 143</a:t>
            </a:r>
            <a:endParaRPr lang="en-US" sz="1120" dirty="0"/>
          </a:p>
        </p:txBody>
      </p:sp>
      <p:sp>
        <p:nvSpPr>
          <p:cNvPr id="53" name="Text 51"/>
          <p:cNvSpPr/>
          <p:nvPr/>
        </p:nvSpPr>
        <p:spPr>
          <a:xfrm>
            <a:off x="9107424" y="5285232"/>
            <a:ext cx="2084832" cy="530352"/>
          </a:xfrm>
          <a:prstGeom prst="rect">
            <a:avLst/>
          </a:prstGeom>
          <a:noFill/>
          <a:ln/>
        </p:spPr>
        <p:txBody>
          <a:bodyPr wrap="square" lIns="0" tIns="0" rIns="0" bIns="0" rtlCol="0" anchor="t">
            <a:normAutofit/>
          </a:bodyPr>
          <a:lstStyle/>
          <a:p>
            <a:pPr algn="ctr" indent="0" marL="0">
              <a:buNone/>
            </a:pPr>
            <a:r>
              <a:rPr lang="en-US" sz="1020" b="1" dirty="0">
                <a:solidFill>
                  <a:srgbClr val="9CA3AF"/>
                </a:solidFill>
                <a:latin typeface="Noto Sans CJK SC" pitchFamily="34" charset="0"/>
                <a:ea typeface="Noto Sans CJK SC" pitchFamily="34" charset="-122"/>
                <a:cs typeface="Noto Sans CJK SC" pitchFamily="34" charset="-120"/>
              </a:rPr>
              <a:t>No private keys</a:t>
            </a:r>
            <a:endParaRPr lang="en-US" sz="1020" dirty="0"/>
          </a:p>
          <a:p>
            <a:pPr algn="ctr" indent="0" marL="0">
              <a:buNone/>
            </a:pPr>
            <a:r>
              <a:rPr lang="en-US" sz="1020" b="1" dirty="0">
                <a:solidFill>
                  <a:srgbClr val="9CA3AF"/>
                </a:solidFill>
                <a:latin typeface="Noto Sans CJK SC" pitchFamily="34" charset="0"/>
                <a:ea typeface="Noto Sans CJK SC" pitchFamily="34" charset="-122"/>
                <a:cs typeface="Noto Sans CJK SC" pitchFamily="34" charset="-120"/>
              </a:rPr>
              <a:t>No auto-sign</a:t>
            </a:r>
            <a:endParaRPr lang="en-US" sz="1020" dirty="0"/>
          </a:p>
          <a:p>
            <a:pPr algn="ctr" indent="0" marL="0">
              <a:buNone/>
            </a:pPr>
            <a:r>
              <a:rPr lang="en-US" sz="1020" b="1" dirty="0">
                <a:solidFill>
                  <a:srgbClr val="9CA3AF"/>
                </a:solidFill>
                <a:latin typeface="Noto Sans CJK SC" pitchFamily="34" charset="0"/>
                <a:ea typeface="Noto Sans CJK SC" pitchFamily="34" charset="-122"/>
                <a:cs typeface="Noto Sans CJK SC" pitchFamily="34" charset="-120"/>
              </a:rPr>
              <a:t>No auto-send</a:t>
            </a:r>
            <a:endParaRPr lang="en-US" sz="1020" dirty="0"/>
          </a:p>
        </p:txBody>
      </p:sp>
      <p:sp>
        <p:nvSpPr>
          <p:cNvPr id="54" name="Shape 52"/>
          <p:cNvSpPr/>
          <p:nvPr/>
        </p:nvSpPr>
        <p:spPr>
          <a:xfrm>
            <a:off x="3639312" y="3703320"/>
            <a:ext cx="237744" cy="0"/>
          </a:xfrm>
          <a:prstGeom prst="line">
            <a:avLst/>
          </a:prstGeom>
          <a:noFill/>
          <a:ln w="27940">
            <a:solidFill>
              <a:srgbClr val="8B5CF6"/>
            </a:solidFill>
            <a:prstDash val="solid"/>
            <a:headEnd type="none"/>
            <a:tailEnd type="triangle"/>
          </a:ln>
        </p:spPr>
        <p:txBody>
          <a:bodyPr/>
          <a:p/>
        </p:txBody>
      </p:sp>
      <p:sp>
        <p:nvSpPr>
          <p:cNvPr id="55" name="Shape 53"/>
          <p:cNvSpPr/>
          <p:nvPr/>
        </p:nvSpPr>
        <p:spPr>
          <a:xfrm>
            <a:off x="8513064" y="3703320"/>
            <a:ext cx="219456" cy="0"/>
          </a:xfrm>
          <a:prstGeom prst="line">
            <a:avLst/>
          </a:prstGeom>
          <a:noFill/>
          <a:ln w="27940">
            <a:solidFill>
              <a:srgbClr val="22D3EE"/>
            </a:solidFill>
            <a:prstDash val="solid"/>
            <a:headEnd type="none"/>
            <a:tailEnd type="triangle"/>
          </a:ln>
        </p:spPr>
        <p:txBody>
          <a:bodyPr/>
          <a:p/>
        </p:txBody>
      </p:sp>
      <p:sp>
        <p:nvSpPr>
          <p:cNvPr id="56" name="Shape 54"/>
          <p:cNvSpPr/>
          <p:nvPr/>
        </p:nvSpPr>
        <p:spPr>
          <a:xfrm>
            <a:off x="548640" y="6446520"/>
            <a:ext cx="11064240" cy="0"/>
          </a:xfrm>
          <a:prstGeom prst="line">
            <a:avLst/>
          </a:prstGeom>
          <a:noFill/>
          <a:ln w="7620">
            <a:solidFill>
              <a:srgbClr val="292747">
                <a:alpha val="70000"/>
              </a:srgbClr>
            </a:solidFill>
            <a:prstDash val="solid"/>
          </a:ln>
        </p:spPr>
        <p:txBody>
          <a:bodyPr/>
          <a:p/>
        </p:txBody>
      </p:sp>
      <p:sp>
        <p:nvSpPr>
          <p:cNvPr id="57" name="Text 55"/>
          <p:cNvSpPr/>
          <p:nvPr/>
        </p:nvSpPr>
        <p:spPr>
          <a:xfrm>
            <a:off x="576072" y="6492240"/>
            <a:ext cx="4023360" cy="155448"/>
          </a:xfrm>
          <a:prstGeom prst="rect">
            <a:avLst/>
          </a:prstGeom>
          <a:noFill/>
          <a:ln/>
        </p:spPr>
        <p:txBody>
          <a:bodyPr wrap="square" lIns="0" tIns="0" rIns="0" bIns="0" rtlCol="0" anchor="ctr"/>
          <a:lstStyle/>
          <a:p>
            <a:pPr indent="0" marL="0">
              <a:buNone/>
            </a:pPr>
            <a:r>
              <a:rPr lang="en-US" sz="760" dirty="0">
                <a:solidFill>
                  <a:srgbClr val="6B7280"/>
                </a:solidFill>
                <a:latin typeface="Noto Sans CJK SC" pitchFamily="34" charset="0"/>
                <a:ea typeface="Noto Sans CJK SC" pitchFamily="34" charset="-122"/>
                <a:cs typeface="Noto Sans CJK SC" pitchFamily="34" charset="-120"/>
              </a:rPr>
              <a:t>Agent proposes. Evidence decides. Human signs.</a:t>
            </a:r>
            <a:endParaRPr lang="en-US" sz="760" dirty="0"/>
          </a:p>
        </p:txBody>
      </p:sp>
      <p:sp>
        <p:nvSpPr>
          <p:cNvPr id="58" name="Text 56"/>
          <p:cNvSpPr/>
          <p:nvPr/>
        </p:nvSpPr>
        <p:spPr>
          <a:xfrm>
            <a:off x="5623560" y="6492240"/>
            <a:ext cx="5486400" cy="155448"/>
          </a:xfrm>
          <a:prstGeom prst="rect">
            <a:avLst/>
          </a:prstGeom>
          <a:noFill/>
          <a:ln/>
        </p:spPr>
        <p:txBody>
          <a:bodyPr wrap="square" lIns="0" tIns="0" rIns="0" bIns="0" rtlCol="0" anchor="ctr"/>
          <a:lstStyle/>
          <a:p>
            <a:pPr algn="r" indent="0" marL="0">
              <a:buNone/>
            </a:pPr>
            <a:r>
              <a:rPr lang="en-US" sz="720" dirty="0">
                <a:solidFill>
                  <a:srgbClr val="6B7280"/>
                </a:solidFill>
                <a:latin typeface="Noto Sans CJK SC" pitchFamily="34" charset="0"/>
                <a:ea typeface="Noto Sans CJK SC" pitchFamily="34" charset="-122"/>
                <a:cs typeface="Noto Sans CJK SC" pitchFamily="34" charset="-120"/>
              </a:rPr>
              <a:t>Sources: Moss README; Monad Docs</a:t>
            </a:r>
            <a:endParaRPr lang="en-US" sz="720" dirty="0"/>
          </a:p>
        </p:txBody>
      </p:sp>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7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11"/>
          </a:solidFill>
          <a:ln w="12700">
            <a:solidFill>
              <a:srgbClr val="070711"/>
            </a:solidFill>
            <a:prstDash val="solid"/>
          </a:ln>
        </p:spPr>
        <p:txBody>
          <a:bodyPr/>
          <a:p/>
        </p:txBody>
      </p:sp>
      <p:sp>
        <p:nvSpPr>
          <p:cNvPr id="3" name="Shape 1"/>
          <p:cNvSpPr/>
          <p:nvPr/>
        </p:nvSpPr>
        <p:spPr>
          <a:xfrm>
            <a:off x="10195560" y="18288"/>
            <a:ext cx="1874520" cy="1874520"/>
          </a:xfrm>
          <a:prstGeom prst="ellipse">
            <a:avLst/>
          </a:prstGeom>
          <a:solidFill>
            <a:srgbClr val="7C3AED">
              <a:alpha val="10000"/>
            </a:srgbClr>
          </a:solidFill>
          <a:ln w="12700">
            <a:solidFill>
              <a:srgbClr val="7C3AED">
                <a:alpha val="0"/>
              </a:srgbClr>
            </a:solidFill>
            <a:prstDash val="solid"/>
          </a:ln>
        </p:spPr>
        <p:txBody>
          <a:bodyPr/>
          <a:p/>
        </p:txBody>
      </p:sp>
      <p:sp>
        <p:nvSpPr>
          <p:cNvPr id="4" name="Shape 2"/>
          <p:cNvSpPr/>
          <p:nvPr/>
        </p:nvSpPr>
        <p:spPr>
          <a:xfrm>
            <a:off x="18288" y="5285232"/>
            <a:ext cx="1417320" cy="1417320"/>
          </a:xfrm>
          <a:prstGeom prst="ellipse">
            <a:avLst/>
          </a:prstGeom>
          <a:solidFill>
            <a:srgbClr val="22D3EE">
              <a:alpha val="5000"/>
            </a:srgbClr>
          </a:solidFill>
          <a:ln w="12700">
            <a:solidFill>
              <a:srgbClr val="22D3EE">
                <a:alpha val="0"/>
              </a:srgbClr>
            </a:solidFill>
            <a:prstDash val="solid"/>
          </a:ln>
        </p:spPr>
        <p:txBody>
          <a:bodyPr/>
          <a:p/>
        </p:txBody>
      </p:sp>
      <p:sp>
        <p:nvSpPr>
          <p:cNvPr id="5" name="Shape 3"/>
          <p:cNvSpPr/>
          <p:nvPr/>
        </p:nvSpPr>
        <p:spPr>
          <a:xfrm>
            <a:off x="512064" y="310896"/>
            <a:ext cx="310896" cy="310896"/>
          </a:xfrm>
          <a:prstGeom prst="diamond">
            <a:avLst/>
          </a:prstGeom>
          <a:solidFill>
            <a:srgbClr val="8B5CF6"/>
          </a:solidFill>
          <a:ln w="12700">
            <a:solidFill>
              <a:srgbClr val="A78BFA">
                <a:alpha val="60000"/>
              </a:srgbClr>
            </a:solidFill>
            <a:prstDash val="solid"/>
          </a:ln>
        </p:spPr>
        <p:txBody>
          <a:bodyPr/>
          <a:p/>
        </p:txBody>
      </p:sp>
      <p:sp>
        <p:nvSpPr>
          <p:cNvPr id="6" name="Shape 4"/>
          <p:cNvSpPr/>
          <p:nvPr/>
        </p:nvSpPr>
        <p:spPr>
          <a:xfrm>
            <a:off x="580461" y="379293"/>
            <a:ext cx="174102" cy="174102"/>
          </a:xfrm>
          <a:prstGeom prst="diamond">
            <a:avLst/>
          </a:prstGeom>
          <a:solidFill>
            <a:srgbClr val="070711"/>
          </a:solidFill>
          <a:ln w="12700">
            <a:solidFill>
              <a:srgbClr val="070711"/>
            </a:solidFill>
            <a:prstDash val="solid"/>
          </a:ln>
        </p:spPr>
        <p:txBody>
          <a:bodyPr/>
          <a:p/>
        </p:txBody>
      </p:sp>
      <p:sp>
        <p:nvSpPr>
          <p:cNvPr id="7" name="Text 5"/>
          <p:cNvSpPr/>
          <p:nvPr/>
        </p:nvSpPr>
        <p:spPr>
          <a:xfrm>
            <a:off x="914400" y="292608"/>
            <a:ext cx="1371600" cy="219456"/>
          </a:xfrm>
          <a:prstGeom prst="rect">
            <a:avLst/>
          </a:prstGeom>
          <a:noFill/>
          <a:ln/>
        </p:spPr>
        <p:txBody>
          <a:bodyPr wrap="square" lIns="0" tIns="0" rIns="0" bIns="0" rtlCol="0" anchor="ctr"/>
          <a:lstStyle/>
          <a:p>
            <a:pPr indent="0" marL="0">
              <a:buNone/>
            </a:pPr>
            <a:r>
              <a:rPr lang="en-US" sz="1000" b="1" spc="120" kern="0" dirty="0">
                <a:solidFill>
                  <a:srgbClr val="A78BFA"/>
                </a:solidFill>
                <a:latin typeface="Noto Sans CJK SC" pitchFamily="34" charset="0"/>
                <a:ea typeface="Noto Sans CJK SC" pitchFamily="34" charset="-122"/>
                <a:cs typeface="Noto Sans CJK SC" pitchFamily="34" charset="-120"/>
              </a:rPr>
              <a:t>MOSSGUARD</a:t>
            </a:r>
            <a:endParaRPr lang="en-US" sz="1000" dirty="0"/>
          </a:p>
        </p:txBody>
      </p:sp>
      <p:sp>
        <p:nvSpPr>
          <p:cNvPr id="8" name="Text 6"/>
          <p:cNvSpPr/>
          <p:nvPr/>
        </p:nvSpPr>
        <p:spPr>
          <a:xfrm>
            <a:off x="9875520" y="301752"/>
            <a:ext cx="1645920" cy="201168"/>
          </a:xfrm>
          <a:prstGeom prst="rect">
            <a:avLst/>
          </a:prstGeom>
          <a:noFill/>
          <a:ln/>
        </p:spPr>
        <p:txBody>
          <a:bodyPr wrap="square" lIns="0" tIns="0" rIns="0" bIns="0" rtlCol="0" anchor="ctr"/>
          <a:lstStyle/>
          <a:p>
            <a:pPr algn="r" indent="0" marL="0">
              <a:buNone/>
            </a:pPr>
            <a:r>
              <a:rPr lang="en-US" sz="900" dirty="0">
                <a:solidFill>
                  <a:srgbClr val="9CA3AF"/>
                </a:solidFill>
                <a:latin typeface="Noto Sans CJK SC" pitchFamily="34" charset="0"/>
                <a:ea typeface="Noto Sans CJK SC" pitchFamily="34" charset="-122"/>
                <a:cs typeface="Noto Sans CJK SC" pitchFamily="34" charset="-120"/>
              </a:rPr>
              <a:t>07 · VERIFICATION</a:t>
            </a:r>
            <a:endParaRPr lang="en-US" sz="900" dirty="0"/>
          </a:p>
        </p:txBody>
      </p:sp>
      <p:sp>
        <p:nvSpPr>
          <p:cNvPr id="9" name="Text 7"/>
          <p:cNvSpPr/>
          <p:nvPr/>
        </p:nvSpPr>
        <p:spPr>
          <a:xfrm>
            <a:off x="566928" y="749808"/>
            <a:ext cx="10881360" cy="475488"/>
          </a:xfrm>
          <a:prstGeom prst="rect">
            <a:avLst/>
          </a:prstGeom>
          <a:noFill/>
          <a:ln/>
        </p:spPr>
        <p:txBody>
          <a:bodyPr wrap="square" lIns="0" tIns="0" rIns="0" bIns="0" rtlCol="0" anchor="ctr"/>
          <a:lstStyle/>
          <a:p>
            <a:pPr indent="0" marL="0">
              <a:buNone/>
            </a:pPr>
            <a:r>
              <a:rPr lang="en-US" sz="2500" b="1" dirty="0">
                <a:solidFill>
                  <a:srgbClr val="F8FAFC"/>
                </a:solidFill>
                <a:latin typeface="Noto Sans CJK SC" pitchFamily="34" charset="0"/>
                <a:ea typeface="Noto Sans CJK SC" pitchFamily="34" charset="-122"/>
                <a:cs typeface="Noto Sans CJK SC" pitchFamily="34" charset="-120"/>
              </a:rPr>
              <a:t>Core innovation: deterministic three-way verification of Intent / Action / Outcome</a:t>
            </a:r>
            <a:endParaRPr lang="en-US" sz="2500" dirty="0"/>
          </a:p>
        </p:txBody>
      </p:sp>
      <p:sp>
        <p:nvSpPr>
          <p:cNvPr id="10" name="Text 8"/>
          <p:cNvSpPr/>
          <p:nvPr/>
        </p:nvSpPr>
        <p:spPr>
          <a:xfrm>
            <a:off x="576072" y="1216152"/>
            <a:ext cx="10698480" cy="274320"/>
          </a:xfrm>
          <a:prstGeom prst="rect">
            <a:avLst/>
          </a:prstGeom>
          <a:noFill/>
          <a:ln/>
        </p:spPr>
        <p:txBody>
          <a:bodyPr wrap="square" lIns="0" tIns="0" rIns="0" bIns="0" rtlCol="0" anchor="ctr"/>
          <a:lstStyle/>
          <a:p>
            <a:pPr indent="0" marL="0">
              <a:buNone/>
            </a:pPr>
            <a:r>
              <a:rPr lang="en-US" sz="1150" dirty="0">
                <a:solidFill>
                  <a:srgbClr val="9CA3AF"/>
                </a:solidFill>
                <a:latin typeface="Noto Sans CJK SC" pitchFamily="34" charset="0"/>
                <a:ea typeface="Noto Sans CJK SC" pitchFamily="34" charset="-122"/>
                <a:cs typeface="Noto Sans CJK SC" pitchFamily="34" charset="-120"/>
              </a:rPr>
              <a:t>Moss proves what will happen; MossGuard judges whether it is allowed.</a:t>
            </a:r>
            <a:endParaRPr lang="en-US" sz="1150" dirty="0"/>
          </a:p>
        </p:txBody>
      </p:sp>
      <p:sp>
        <p:nvSpPr>
          <p:cNvPr id="11" name="Shape 9"/>
          <p:cNvSpPr/>
          <p:nvPr/>
        </p:nvSpPr>
        <p:spPr>
          <a:xfrm>
            <a:off x="713232" y="1810512"/>
            <a:ext cx="2971800" cy="1389888"/>
          </a:xfrm>
          <a:prstGeom prst="roundRect">
            <a:avLst>
              <a:gd name="adj" fmla="val 5921"/>
            </a:avLst>
          </a:prstGeom>
          <a:solidFill>
            <a:srgbClr val="111126"/>
          </a:solidFill>
          <a:ln w="10160">
            <a:solidFill>
              <a:srgbClr val="22C55E">
                <a:alpha val="65000"/>
              </a:srgbClr>
            </a:solidFill>
            <a:prstDash val="solid"/>
          </a:ln>
          <a:effectLst>
            <a:outerShdw sx="100000" sy="100000" kx="0" ky="0" algn="bl" rotWithShape="0" blurRad="9.15987465915355e+65" dist="5.49592479549213e+65" dir="1.2694994583552002e+78">
              <a:srgbClr val="000000">
                <a:alpha val="2.4999999999999997e+79"/>
              </a:srgbClr>
            </a:outerShdw>
          </a:effectLst>
        </p:spPr>
        <p:txBody>
          <a:bodyPr/>
          <a:p/>
        </p:txBody>
      </p:sp>
      <p:sp>
        <p:nvSpPr>
          <p:cNvPr id="12" name="Shape 10"/>
          <p:cNvSpPr/>
          <p:nvPr/>
        </p:nvSpPr>
        <p:spPr>
          <a:xfrm>
            <a:off x="941832" y="2029968"/>
            <a:ext cx="2514600" cy="292608"/>
          </a:xfrm>
          <a:prstGeom prst="roundRect">
            <a:avLst>
              <a:gd name="adj" fmla="val 25000"/>
            </a:avLst>
          </a:prstGeom>
          <a:solidFill>
            <a:srgbClr val="22C55E">
              <a:alpha val="15000"/>
            </a:srgbClr>
          </a:solidFill>
          <a:ln w="8890">
            <a:solidFill>
              <a:srgbClr val="22C55E">
                <a:alpha val="55000"/>
              </a:srgbClr>
            </a:solidFill>
            <a:prstDash val="solid"/>
          </a:ln>
        </p:spPr>
        <p:txBody>
          <a:bodyPr/>
          <a:p/>
        </p:txBody>
      </p:sp>
      <p:sp>
        <p:nvSpPr>
          <p:cNvPr id="13" name="Text 11"/>
          <p:cNvSpPr/>
          <p:nvPr/>
        </p:nvSpPr>
        <p:spPr>
          <a:xfrm>
            <a:off x="941832" y="2034540"/>
            <a:ext cx="2514600" cy="256032"/>
          </a:xfrm>
          <a:prstGeom prst="rect">
            <a:avLst/>
          </a:prstGeom>
          <a:noFill/>
          <a:ln/>
        </p:spPr>
        <p:txBody>
          <a:bodyPr wrap="square" lIns="0" tIns="0" rIns="0" bIns="0" rtlCol="0" anchor="ctr"/>
          <a:lstStyle/>
          <a:p>
            <a:pPr algn="ctr" indent="0" marL="0">
              <a:buNone/>
            </a:pPr>
            <a:r>
              <a:rPr lang="en-US" sz="850" b="1" dirty="0">
                <a:solidFill>
                  <a:srgbClr val="22C55E"/>
                </a:solidFill>
                <a:latin typeface="Noto Sans CJK SC" pitchFamily="34" charset="0"/>
                <a:ea typeface="Noto Sans CJK SC" pitchFamily="34" charset="-122"/>
                <a:cs typeface="Noto Sans CJK SC" pitchFamily="34" charset="-120"/>
              </a:rPr>
              <a:t>CONFIRMED INTENT</a:t>
            </a:r>
            <a:endParaRPr lang="en-US" sz="850" dirty="0"/>
          </a:p>
        </p:txBody>
      </p:sp>
      <p:sp>
        <p:nvSpPr>
          <p:cNvPr id="14" name="Text 12"/>
          <p:cNvSpPr/>
          <p:nvPr/>
        </p:nvSpPr>
        <p:spPr>
          <a:xfrm>
            <a:off x="1033272" y="2587752"/>
            <a:ext cx="2331720" cy="274320"/>
          </a:xfrm>
          <a:prstGeom prst="rect">
            <a:avLst/>
          </a:prstGeom>
          <a:noFill/>
          <a:ln/>
        </p:spPr>
        <p:txBody>
          <a:bodyPr wrap="square" lIns="0" tIns="0" rIns="0" bIns="0" rtlCol="0" anchor="t">
            <a:normAutofit/>
          </a:bodyPr>
          <a:lstStyle/>
          <a:p>
            <a:pPr algn="ctr" indent="0" marL="0">
              <a:buNone/>
            </a:pPr>
            <a:r>
              <a:t>User-confirmed authorization boundary</a:t>
            </a:r>
            <a:endParaRPr lang="en-US" sz="1050" dirty="0"/>
          </a:p>
        </p:txBody>
      </p:sp>
      <p:sp>
        <p:nvSpPr>
          <p:cNvPr id="15" name="Shape 13"/>
          <p:cNvSpPr/>
          <p:nvPr/>
        </p:nvSpPr>
        <p:spPr>
          <a:xfrm>
            <a:off x="4142232" y="1810512"/>
            <a:ext cx="2971800" cy="1389888"/>
          </a:xfrm>
          <a:prstGeom prst="roundRect">
            <a:avLst>
              <a:gd name="adj" fmla="val 5921"/>
            </a:avLst>
          </a:prstGeom>
          <a:solidFill>
            <a:srgbClr val="111126"/>
          </a:solidFill>
          <a:ln w="10160">
            <a:solidFill>
              <a:srgbClr val="A78BFA">
                <a:alpha val="65000"/>
              </a:srgbClr>
            </a:solidFill>
            <a:prstDash val="solid"/>
          </a:ln>
          <a:effectLst>
            <a:outerShdw sx="100000" sy="100000" kx="0" ky="0" algn="bl" rotWithShape="0" blurRad="1.1633040817125008e+70" dist="6.979824490275004e+69" dir="7.616996750131201e+82">
              <a:srgbClr val="000000">
                <a:alpha val="2.4999999999999996e+84"/>
              </a:srgbClr>
            </a:outerShdw>
          </a:effectLst>
        </p:spPr>
        <p:txBody>
          <a:bodyPr/>
          <a:p/>
        </p:txBody>
      </p:sp>
      <p:sp>
        <p:nvSpPr>
          <p:cNvPr id="16" name="Shape 14"/>
          <p:cNvSpPr/>
          <p:nvPr/>
        </p:nvSpPr>
        <p:spPr>
          <a:xfrm>
            <a:off x="4370832" y="2029968"/>
            <a:ext cx="2514600" cy="292608"/>
          </a:xfrm>
          <a:prstGeom prst="roundRect">
            <a:avLst>
              <a:gd name="adj" fmla="val 25000"/>
            </a:avLst>
          </a:prstGeom>
          <a:solidFill>
            <a:srgbClr val="A78BFA">
              <a:alpha val="15000"/>
            </a:srgbClr>
          </a:solidFill>
          <a:ln w="8890">
            <a:solidFill>
              <a:srgbClr val="A78BFA">
                <a:alpha val="55000"/>
              </a:srgbClr>
            </a:solidFill>
            <a:prstDash val="solid"/>
          </a:ln>
        </p:spPr>
        <p:txBody>
          <a:bodyPr/>
          <a:p/>
        </p:txBody>
      </p:sp>
      <p:sp>
        <p:nvSpPr>
          <p:cNvPr id="17" name="Text 15"/>
          <p:cNvSpPr/>
          <p:nvPr/>
        </p:nvSpPr>
        <p:spPr>
          <a:xfrm>
            <a:off x="4370832" y="2034540"/>
            <a:ext cx="2514600" cy="256032"/>
          </a:xfrm>
          <a:prstGeom prst="rect">
            <a:avLst/>
          </a:prstGeom>
          <a:noFill/>
          <a:ln/>
        </p:spPr>
        <p:txBody>
          <a:bodyPr wrap="square" lIns="0" tIns="0" rIns="0" bIns="0" rtlCol="0" anchor="ctr"/>
          <a:lstStyle/>
          <a:p>
            <a:pPr algn="ctr" indent="0" marL="0">
              <a:buNone/>
            </a:pPr>
            <a:r>
              <a:rPr lang="en-US" sz="850" b="1" dirty="0">
                <a:solidFill>
                  <a:srgbClr val="A78BFA"/>
                </a:solidFill>
                <a:latin typeface="Noto Sans CJK SC" pitchFamily="34" charset="0"/>
                <a:ea typeface="Noto Sans CJK SC" pitchFamily="34" charset="-122"/>
                <a:cs typeface="Noto Sans CJK SC" pitchFamily="34" charset="-120"/>
              </a:rPr>
              <a:t>AGENT ACTION</a:t>
            </a:r>
            <a:endParaRPr lang="en-US" sz="850" dirty="0"/>
          </a:p>
        </p:txBody>
      </p:sp>
      <p:sp>
        <p:nvSpPr>
          <p:cNvPr id="18" name="Text 16"/>
          <p:cNvSpPr/>
          <p:nvPr/>
        </p:nvSpPr>
        <p:spPr>
          <a:xfrm>
            <a:off x="4462272" y="2587752"/>
            <a:ext cx="2331720" cy="274320"/>
          </a:xfrm>
          <a:prstGeom prst="rect">
            <a:avLst/>
          </a:prstGeom>
          <a:noFill/>
          <a:ln/>
        </p:spPr>
        <p:txBody>
          <a:bodyPr wrap="square" lIns="0" tIns="0" rIns="0" bIns="0" rtlCol="0" anchor="t">
            <a:normAutofit/>
          </a:bodyPr>
          <a:lstStyle/>
          <a:p>
            <a:pPr algn="ctr" indent="0" marL="0">
              <a:buNone/>
            </a:pPr>
            <a:r>
              <a:rPr lang="en-US" sz="1050" dirty="0">
                <a:solidFill>
                  <a:srgbClr val="E5E7EB"/>
                </a:solidFill>
                <a:latin typeface="Noto Sans CJK SC" pitchFamily="34" charset="0"/>
                <a:ea typeface="Noto Sans CJK SC" pitchFamily="34" charset="-122"/>
                <a:cs typeface="Noto Sans CJK SC" pitchFamily="34" charset="-120"/>
              </a:rPr>
              <a:t>The operation parameters actually proposed by AI</a:t>
            </a:r>
            <a:endParaRPr lang="en-US" sz="1050" dirty="0"/>
          </a:p>
        </p:txBody>
      </p:sp>
      <p:sp>
        <p:nvSpPr>
          <p:cNvPr id="19" name="Shape 17"/>
          <p:cNvSpPr/>
          <p:nvPr/>
        </p:nvSpPr>
        <p:spPr>
          <a:xfrm>
            <a:off x="7571232" y="1810512"/>
            <a:ext cx="2971800" cy="1389888"/>
          </a:xfrm>
          <a:prstGeom prst="roundRect">
            <a:avLst>
              <a:gd name="adj" fmla="val 5921"/>
            </a:avLst>
          </a:prstGeom>
          <a:solidFill>
            <a:srgbClr val="111126"/>
          </a:solidFill>
          <a:ln w="10160">
            <a:solidFill>
              <a:srgbClr val="22D3EE">
                <a:alpha val="65000"/>
              </a:srgbClr>
            </a:solidFill>
            <a:prstDash val="solid"/>
          </a:ln>
          <a:effectLst>
            <a:outerShdw sx="100000" sy="100000" kx="0" ky="0" algn="bl" rotWithShape="0" blurRad="1.477396183774876e+74" dist="8.864377102649255e+73" dir="4.57019805007872e+87">
              <a:srgbClr val="000000">
                <a:alpha val="2.4999999999999996e+89"/>
              </a:srgbClr>
            </a:outerShdw>
          </a:effectLst>
        </p:spPr>
        <p:txBody>
          <a:bodyPr/>
          <a:p/>
        </p:txBody>
      </p:sp>
      <p:sp>
        <p:nvSpPr>
          <p:cNvPr id="20" name="Shape 18"/>
          <p:cNvSpPr/>
          <p:nvPr/>
        </p:nvSpPr>
        <p:spPr>
          <a:xfrm>
            <a:off x="7799832" y="2029968"/>
            <a:ext cx="2514600" cy="292608"/>
          </a:xfrm>
          <a:prstGeom prst="roundRect">
            <a:avLst>
              <a:gd name="adj" fmla="val 25000"/>
            </a:avLst>
          </a:prstGeom>
          <a:solidFill>
            <a:srgbClr val="22D3EE">
              <a:alpha val="15000"/>
            </a:srgbClr>
          </a:solidFill>
          <a:ln w="8890">
            <a:solidFill>
              <a:srgbClr val="22D3EE">
                <a:alpha val="55000"/>
              </a:srgbClr>
            </a:solidFill>
            <a:prstDash val="solid"/>
          </a:ln>
        </p:spPr>
        <p:txBody>
          <a:bodyPr/>
          <a:p/>
        </p:txBody>
      </p:sp>
      <p:sp>
        <p:nvSpPr>
          <p:cNvPr id="21" name="Text 19"/>
          <p:cNvSpPr/>
          <p:nvPr/>
        </p:nvSpPr>
        <p:spPr>
          <a:xfrm>
            <a:off x="7799832" y="2034540"/>
            <a:ext cx="2514600" cy="256032"/>
          </a:xfrm>
          <a:prstGeom prst="rect">
            <a:avLst/>
          </a:prstGeom>
          <a:noFill/>
          <a:ln/>
        </p:spPr>
        <p:txBody>
          <a:bodyPr wrap="square" lIns="0" tIns="0" rIns="0" bIns="0" rtlCol="0" anchor="ctr"/>
          <a:lstStyle/>
          <a:p>
            <a:pPr algn="ctr" indent="0" marL="0">
              <a:buNone/>
            </a:pPr>
            <a:r>
              <a:rPr lang="en-US" sz="850" b="1" dirty="0">
                <a:solidFill>
                  <a:srgbClr val="22D3EE"/>
                </a:solidFill>
                <a:latin typeface="Noto Sans CJK SC" pitchFamily="34" charset="0"/>
                <a:ea typeface="Noto Sans CJK SC" pitchFamily="34" charset="-122"/>
                <a:cs typeface="Noto Sans CJK SC" pitchFamily="34" charset="-120"/>
              </a:rPr>
              <a:t>MOSS OUTCOME</a:t>
            </a:r>
            <a:endParaRPr lang="en-US" sz="850" dirty="0"/>
          </a:p>
        </p:txBody>
      </p:sp>
      <p:sp>
        <p:nvSpPr>
          <p:cNvPr id="22" name="Text 20"/>
          <p:cNvSpPr/>
          <p:nvPr/>
        </p:nvSpPr>
        <p:spPr>
          <a:xfrm>
            <a:off x="7891272" y="2587752"/>
            <a:ext cx="2331720" cy="274320"/>
          </a:xfrm>
          <a:prstGeom prst="rect">
            <a:avLst/>
          </a:prstGeom>
          <a:noFill/>
          <a:ln/>
        </p:spPr>
        <p:txBody>
          <a:bodyPr wrap="square" lIns="0" tIns="0" rIns="0" bIns="0" rtlCol="0" anchor="t">
            <a:normAutofit/>
          </a:bodyPr>
          <a:lstStyle/>
          <a:p>
            <a:pPr algn="ctr" indent="0" marL="0">
              <a:buNone/>
            </a:pPr>
            <a:r>
              <a:rPr lang="en-US" sz="1050" dirty="0">
                <a:solidFill>
                  <a:srgbClr val="E5E7EB"/>
                </a:solidFill>
                <a:latin typeface="Noto Sans CJK SC" pitchFamily="34" charset="0"/>
                <a:ea typeface="Noto Sans CJK SC" pitchFamily="34" charset="-122"/>
                <a:cs typeface="Noto Sans CJK SC" pitchFamily="34" charset="-120"/>
              </a:rPr>
              <a:t>Structured outcome from real Monad simulation</a:t>
            </a:r>
            <a:endParaRPr lang="en-US" sz="1050" dirty="0"/>
          </a:p>
        </p:txBody>
      </p:sp>
      <p:sp>
        <p:nvSpPr>
          <p:cNvPr id="23" name="Shape 21"/>
          <p:cNvSpPr/>
          <p:nvPr/>
        </p:nvSpPr>
        <p:spPr>
          <a:xfrm>
            <a:off x="2221992" y="3364992"/>
            <a:ext cx="2971800" cy="521208"/>
          </a:xfrm>
          <a:prstGeom prst="line">
            <a:avLst/>
          </a:prstGeom>
          <a:noFill/>
          <a:ln w="27940">
            <a:solidFill>
              <a:srgbClr val="8B5CF6"/>
            </a:solidFill>
            <a:prstDash val="solid"/>
            <a:headEnd type="none"/>
            <a:tailEnd type="triangle"/>
          </a:ln>
        </p:spPr>
        <p:txBody>
          <a:bodyPr/>
          <a:p/>
        </p:txBody>
      </p:sp>
      <p:sp>
        <p:nvSpPr>
          <p:cNvPr id="24" name="Shape 22"/>
          <p:cNvSpPr/>
          <p:nvPr/>
        </p:nvSpPr>
        <p:spPr>
          <a:xfrm>
            <a:off x="5632704" y="3364992"/>
            <a:ext cx="0" cy="475488"/>
          </a:xfrm>
          <a:prstGeom prst="line">
            <a:avLst/>
          </a:prstGeom>
          <a:noFill/>
          <a:ln w="27940">
            <a:solidFill>
              <a:srgbClr val="8B5CF6"/>
            </a:solidFill>
            <a:prstDash val="solid"/>
            <a:headEnd type="none"/>
            <a:tailEnd type="triangle"/>
          </a:ln>
        </p:spPr>
        <p:txBody>
          <a:bodyPr/>
          <a:p/>
        </p:txBody>
      </p:sp>
      <p:sp>
        <p:nvSpPr>
          <p:cNvPr id="25" name="Shape 23"/>
          <p:cNvSpPr/>
          <p:nvPr/>
        </p:nvSpPr>
        <p:spPr>
          <a:xfrm>
            <a:off x="9079992" y="3364992"/>
            <a:ext cx="-3026664" cy="521208"/>
          </a:xfrm>
          <a:prstGeom prst="line">
            <a:avLst/>
          </a:prstGeom>
          <a:noFill/>
          <a:ln w="27940">
            <a:solidFill>
              <a:srgbClr val="8B5CF6"/>
            </a:solidFill>
            <a:prstDash val="solid"/>
            <a:headEnd type="none"/>
            <a:tailEnd type="triangle"/>
          </a:ln>
        </p:spPr>
        <p:txBody>
          <a:bodyPr/>
          <a:p/>
        </p:txBody>
      </p:sp>
      <p:sp>
        <p:nvSpPr>
          <p:cNvPr id="26" name="Shape 24"/>
          <p:cNvSpPr/>
          <p:nvPr/>
        </p:nvSpPr>
        <p:spPr>
          <a:xfrm>
            <a:off x="3401568" y="3794760"/>
            <a:ext cx="4480560" cy="1261872"/>
          </a:xfrm>
          <a:prstGeom prst="roundRect">
            <a:avLst>
              <a:gd name="adj" fmla="val 6522"/>
            </a:avLst>
          </a:prstGeom>
          <a:solidFill>
            <a:srgbClr val="0D0D1C"/>
          </a:solidFill>
          <a:ln w="10160">
            <a:solidFill>
              <a:srgbClr val="8B5CF6">
                <a:alpha val="65000"/>
              </a:srgbClr>
            </a:solidFill>
            <a:prstDash val="solid"/>
          </a:ln>
          <a:effectLst>
            <a:outerShdw sx="100000" sy="100000" kx="0" ky="0" algn="bl" rotWithShape="0" blurRad="1.8762931533940924e+78" dist="1.1257758920364555e+78" dir="2.742118830047232e+92">
              <a:srgbClr val="000000">
                <a:alpha val="2.4999999999999997e+94"/>
              </a:srgbClr>
            </a:outerShdw>
          </a:effectLst>
        </p:spPr>
        <p:txBody>
          <a:bodyPr/>
          <a:p/>
        </p:txBody>
      </p:sp>
      <p:sp>
        <p:nvSpPr>
          <p:cNvPr id="27" name="Text 25"/>
          <p:cNvSpPr/>
          <p:nvPr/>
        </p:nvSpPr>
        <p:spPr>
          <a:xfrm>
            <a:off x="3749040" y="4050792"/>
            <a:ext cx="3767328" cy="237744"/>
          </a:xfrm>
          <a:prstGeom prst="rect">
            <a:avLst/>
          </a:prstGeom>
          <a:noFill/>
          <a:ln/>
        </p:spPr>
        <p:txBody>
          <a:bodyPr wrap="square" lIns="0" tIns="0" rIns="0" bIns="0" rtlCol="0" anchor="t">
            <a:normAutofit/>
          </a:bodyPr>
          <a:lstStyle/>
          <a:p>
            <a:pPr algn="ctr" indent="0" marL="0">
              <a:buNone/>
            </a:pPr>
            <a:r>
              <a:rPr lang="en-US" sz="1600" b="1" dirty="0">
                <a:solidFill>
                  <a:srgbClr val="F8FAFC"/>
                </a:solidFill>
                <a:latin typeface="Noto Sans CJK SC" pitchFamily="34" charset="0"/>
                <a:ea typeface="Noto Sans CJK SC" pitchFamily="34" charset="-122"/>
                <a:cs typeface="Noto Sans CJK SC" pitchFamily="34" charset="-120"/>
              </a:rPr>
              <a:t>DETERMINISTIC RULE ENGINE</a:t>
            </a:r>
            <a:endParaRPr lang="en-US" sz="1600" dirty="0"/>
          </a:p>
        </p:txBody>
      </p:sp>
      <p:sp>
        <p:nvSpPr>
          <p:cNvPr id="28" name="Text 26"/>
          <p:cNvSpPr/>
          <p:nvPr/>
        </p:nvSpPr>
        <p:spPr>
          <a:xfrm>
            <a:off x="3685032" y="4462272"/>
            <a:ext cx="3913632" cy="292608"/>
          </a:xfrm>
          <a:prstGeom prst="rect">
            <a:avLst/>
          </a:prstGeom>
          <a:noFill/>
          <a:ln/>
        </p:spPr>
        <p:txBody>
          <a:bodyPr wrap="square" lIns="0" tIns="0" rIns="0" bIns="0" rtlCol="0" anchor="t">
            <a:normAutofit/>
          </a:bodyPr>
          <a:lstStyle/>
          <a:p>
            <a:pPr algn="ctr" indent="0" marL="0">
              <a:buNone/>
            </a:pPr>
            <a:r>
              <a:rPr lang="en-US" sz="930" dirty="0">
                <a:solidFill>
                  <a:srgbClr val="9CA3AF"/>
                </a:solidFill>
                <a:latin typeface="Noto Sans CJK SC" pitchFamily="34" charset="0"/>
                <a:ea typeface="Noto Sans CJK SC" pitchFamily="34" charset="-122"/>
                <a:cs typeface="Noto Sans CJK SC" pitchFamily="34" charset="-120"/>
              </a:rPr>
              <a:t>Recipient · Amount · Asset · Protocol · Slippage · Approval · Unexpected Effects</a:t>
            </a:r>
            <a:endParaRPr lang="en-US" sz="930" dirty="0"/>
          </a:p>
        </p:txBody>
      </p:sp>
      <p:sp>
        <p:nvSpPr>
          <p:cNvPr id="29" name="Shape 27"/>
          <p:cNvSpPr/>
          <p:nvPr/>
        </p:nvSpPr>
        <p:spPr>
          <a:xfrm>
            <a:off x="713232" y="5340096"/>
            <a:ext cx="3429000" cy="658368"/>
          </a:xfrm>
          <a:prstGeom prst="roundRect">
            <a:avLst>
              <a:gd name="adj" fmla="val 12500"/>
            </a:avLst>
          </a:prstGeom>
          <a:solidFill>
            <a:srgbClr val="111126"/>
          </a:solidFill>
          <a:ln w="10160">
            <a:solidFill>
              <a:srgbClr val="22C55E">
                <a:alpha val="60000"/>
              </a:srgbClr>
            </a:solidFill>
            <a:prstDash val="solid"/>
          </a:ln>
        </p:spPr>
        <p:txBody>
          <a:bodyPr/>
          <a:p/>
        </p:txBody>
      </p:sp>
      <p:sp>
        <p:nvSpPr>
          <p:cNvPr id="30" name="Text 28"/>
          <p:cNvSpPr/>
          <p:nvPr/>
        </p:nvSpPr>
        <p:spPr>
          <a:xfrm>
            <a:off x="877824" y="5513832"/>
            <a:ext cx="1078992" cy="219456"/>
          </a:xfrm>
          <a:prstGeom prst="rect">
            <a:avLst/>
          </a:prstGeom>
          <a:noFill/>
          <a:ln/>
        </p:spPr>
        <p:txBody>
          <a:bodyPr wrap="square" lIns="0" tIns="0" rIns="0" bIns="0" rtlCol="0" anchor="t">
            <a:normAutofit/>
          </a:bodyPr>
          <a:lstStyle/>
          <a:p>
            <a:pPr algn="l" indent="0" marL="0">
              <a:buNone/>
            </a:pPr>
            <a:r>
              <a:rPr lang="en-US" sz="1250" b="1" dirty="0">
                <a:solidFill>
                  <a:srgbClr val="22C55E"/>
                </a:solidFill>
                <a:latin typeface="Noto Sans CJK SC" pitchFamily="34" charset="0"/>
                <a:ea typeface="Noto Sans CJK SC" pitchFamily="34" charset="-122"/>
                <a:cs typeface="Noto Sans CJK SC" pitchFamily="34" charset="-120"/>
              </a:rPr>
              <a:t>VERIFIED</a:t>
            </a:r>
            <a:endParaRPr lang="en-US" sz="1250" dirty="0"/>
          </a:p>
        </p:txBody>
      </p:sp>
      <p:sp>
        <p:nvSpPr>
          <p:cNvPr id="31" name="Text 29"/>
          <p:cNvSpPr/>
          <p:nvPr/>
        </p:nvSpPr>
        <p:spPr>
          <a:xfrm>
            <a:off x="1865376" y="5522976"/>
            <a:ext cx="2029968" cy="219456"/>
          </a:xfrm>
          <a:prstGeom prst="rect">
            <a:avLst/>
          </a:prstGeom>
          <a:noFill/>
          <a:ln/>
        </p:spPr>
        <p:txBody>
          <a:bodyPr wrap="square" lIns="0" tIns="0" rIns="0" bIns="0" rtlCol="0" anchor="t">
            <a:normAutofit/>
          </a:bodyPr>
          <a:lstStyle/>
          <a:p>
            <a:pPr algn="l" indent="0" marL="0">
              <a:buNone/>
            </a:pPr>
            <a:r>
              <a:rPr lang="en-US" sz="930" dirty="0">
                <a:solidFill>
                  <a:srgbClr val="9CA3AF"/>
                </a:solidFill>
                <a:latin typeface="Noto Sans CJK SC" pitchFamily="34" charset="0"/>
                <a:ea typeface="Noto Sans CJK SC" pitchFamily="34" charset="-122"/>
                <a:cs typeface="Noto Sans CJK SC" pitchFamily="34" charset="-120"/>
              </a:rPr>
              <a:t>Evidence complete, all rules pass</a:t>
            </a:r>
            <a:endParaRPr lang="en-US" sz="930" dirty="0"/>
          </a:p>
        </p:txBody>
      </p:sp>
      <p:sp>
        <p:nvSpPr>
          <p:cNvPr id="32" name="Shape 30"/>
          <p:cNvSpPr/>
          <p:nvPr/>
        </p:nvSpPr>
        <p:spPr>
          <a:xfrm>
            <a:off x="4553712" y="5340096"/>
            <a:ext cx="3429000" cy="658368"/>
          </a:xfrm>
          <a:prstGeom prst="roundRect">
            <a:avLst>
              <a:gd name="adj" fmla="val 12500"/>
            </a:avLst>
          </a:prstGeom>
          <a:solidFill>
            <a:srgbClr val="111126"/>
          </a:solidFill>
          <a:ln w="10160">
            <a:solidFill>
              <a:srgbClr val="EF4444">
                <a:alpha val="60000"/>
              </a:srgbClr>
            </a:solidFill>
            <a:prstDash val="solid"/>
          </a:ln>
        </p:spPr>
        <p:txBody>
          <a:bodyPr/>
          <a:p/>
        </p:txBody>
      </p:sp>
      <p:sp>
        <p:nvSpPr>
          <p:cNvPr id="33" name="Text 31"/>
          <p:cNvSpPr/>
          <p:nvPr/>
        </p:nvSpPr>
        <p:spPr>
          <a:xfrm>
            <a:off x="4718304" y="5513832"/>
            <a:ext cx="1078992" cy="219456"/>
          </a:xfrm>
          <a:prstGeom prst="rect">
            <a:avLst/>
          </a:prstGeom>
          <a:noFill/>
          <a:ln/>
        </p:spPr>
        <p:txBody>
          <a:bodyPr wrap="square" lIns="0" tIns="0" rIns="0" bIns="0" rtlCol="0" anchor="t">
            <a:normAutofit/>
          </a:bodyPr>
          <a:lstStyle/>
          <a:p>
            <a:pPr algn="l" indent="0" marL="0">
              <a:buNone/>
            </a:pPr>
            <a:r>
              <a:rPr lang="en-US" sz="1250" b="1" dirty="0">
                <a:solidFill>
                  <a:srgbClr val="EF4444"/>
                </a:solidFill>
                <a:latin typeface="Noto Sans CJK SC" pitchFamily="34" charset="0"/>
                <a:ea typeface="Noto Sans CJK SC" pitchFamily="34" charset="-122"/>
                <a:cs typeface="Noto Sans CJK SC" pitchFamily="34" charset="-120"/>
              </a:rPr>
              <a:t>BLOCKED</a:t>
            </a:r>
            <a:endParaRPr lang="en-US" sz="1250" dirty="0"/>
          </a:p>
        </p:txBody>
      </p:sp>
      <p:sp>
        <p:nvSpPr>
          <p:cNvPr id="34" name="Text 32"/>
          <p:cNvSpPr/>
          <p:nvPr/>
        </p:nvSpPr>
        <p:spPr>
          <a:xfrm>
            <a:off x="5705856" y="5522976"/>
            <a:ext cx="2029968" cy="219456"/>
          </a:xfrm>
          <a:prstGeom prst="rect">
            <a:avLst/>
          </a:prstGeom>
          <a:noFill/>
          <a:ln/>
        </p:spPr>
        <p:txBody>
          <a:bodyPr wrap="square" lIns="0" tIns="0" rIns="0" bIns="0" rtlCol="0" anchor="t">
            <a:normAutofit/>
          </a:bodyPr>
          <a:lstStyle/>
          <a:p>
            <a:pPr algn="l" indent="0" marL="0">
              <a:buNone/>
            </a:pPr>
            <a:r>
              <a:rPr lang="en-US" sz="930" dirty="0">
                <a:solidFill>
                  <a:srgbClr val="9CA3AF"/>
                </a:solidFill>
                <a:latin typeface="Noto Sans CJK SC" pitchFamily="34" charset="0"/>
                <a:ea typeface="Noto Sans CJK SC" pitchFamily="34" charset="-122"/>
                <a:cs typeface="Noto Sans CJK SC" pitchFamily="34" charset="-120"/>
              </a:rPr>
              <a:t>Evidence complete, explicit drift detected</a:t>
            </a:r>
            <a:endParaRPr lang="en-US" sz="930" dirty="0"/>
          </a:p>
        </p:txBody>
      </p:sp>
      <p:sp>
        <p:nvSpPr>
          <p:cNvPr id="35" name="Shape 33"/>
          <p:cNvSpPr/>
          <p:nvPr/>
        </p:nvSpPr>
        <p:spPr>
          <a:xfrm>
            <a:off x="8394192" y="5340096"/>
            <a:ext cx="3429000" cy="658368"/>
          </a:xfrm>
          <a:prstGeom prst="roundRect">
            <a:avLst>
              <a:gd name="adj" fmla="val 12500"/>
            </a:avLst>
          </a:prstGeom>
          <a:solidFill>
            <a:srgbClr val="111126"/>
          </a:solidFill>
          <a:ln w="10160">
            <a:solidFill>
              <a:srgbClr val="F59E0B">
                <a:alpha val="60000"/>
              </a:srgbClr>
            </a:solidFill>
            <a:prstDash val="solid"/>
          </a:ln>
        </p:spPr>
        <p:txBody>
          <a:bodyPr/>
          <a:p/>
        </p:txBody>
      </p:sp>
      <p:sp>
        <p:nvSpPr>
          <p:cNvPr id="36" name="Text 34"/>
          <p:cNvSpPr/>
          <p:nvPr/>
        </p:nvSpPr>
        <p:spPr>
          <a:xfrm>
            <a:off x="8558784" y="5513832"/>
            <a:ext cx="1078992" cy="219456"/>
          </a:xfrm>
          <a:prstGeom prst="rect">
            <a:avLst/>
          </a:prstGeom>
          <a:noFill/>
          <a:ln/>
        </p:spPr>
        <p:txBody>
          <a:bodyPr wrap="square" lIns="0" tIns="0" rIns="0" bIns="0" rtlCol="0" anchor="t">
            <a:normAutofit/>
          </a:bodyPr>
          <a:lstStyle/>
          <a:p>
            <a:pPr algn="l" indent="0" marL="0">
              <a:buNone/>
            </a:pPr>
            <a:r>
              <a:rPr lang="en-US" sz="1250" b="1" dirty="0">
                <a:solidFill>
                  <a:srgbClr val="F59E0B"/>
                </a:solidFill>
                <a:latin typeface="Noto Sans CJK SC" pitchFamily="34" charset="0"/>
                <a:ea typeface="Noto Sans CJK SC" pitchFamily="34" charset="-122"/>
                <a:cs typeface="Noto Sans CJK SC" pitchFamily="34" charset="-120"/>
              </a:rPr>
              <a:t>UNAVAILABLE</a:t>
            </a:r>
            <a:endParaRPr lang="en-US" sz="1250" dirty="0"/>
          </a:p>
        </p:txBody>
      </p:sp>
      <p:sp>
        <p:nvSpPr>
          <p:cNvPr id="37" name="Text 35"/>
          <p:cNvSpPr/>
          <p:nvPr/>
        </p:nvSpPr>
        <p:spPr>
          <a:xfrm>
            <a:off x="9546336" y="5522976"/>
            <a:ext cx="2029968" cy="219456"/>
          </a:xfrm>
          <a:prstGeom prst="rect">
            <a:avLst/>
          </a:prstGeom>
          <a:noFill/>
          <a:ln/>
        </p:spPr>
        <p:txBody>
          <a:bodyPr wrap="square" lIns="0" tIns="0" rIns="0" bIns="0" rtlCol="0" anchor="t">
            <a:normAutofit/>
          </a:bodyPr>
          <a:lstStyle/>
          <a:p>
            <a:pPr algn="l" indent="0" marL="0">
              <a:buNone/>
            </a:pPr>
            <a:r>
              <a:rPr lang="en-US" sz="930" dirty="0">
                <a:solidFill>
                  <a:srgbClr val="9CA3AF"/>
                </a:solidFill>
                <a:latin typeface="Noto Sans CJK SC" pitchFamily="34" charset="0"/>
                <a:ea typeface="Noto Sans CJK SC" pitchFamily="34" charset="-122"/>
                <a:cs typeface="Noto Sans CJK SC" pitchFamily="34" charset="-120"/>
              </a:rPr>
              <a:t>Warning / revert / incomplete evidence</a:t>
            </a:r>
            <a:endParaRPr lang="en-US" sz="930" dirty="0"/>
          </a:p>
        </p:txBody>
      </p:sp>
      <p:sp>
        <p:nvSpPr>
          <p:cNvPr id="38" name="Text 36"/>
          <p:cNvSpPr/>
          <p:nvPr/>
        </p:nvSpPr>
        <p:spPr>
          <a:xfrm>
            <a:off x="2331720" y="6144768"/>
            <a:ext cx="7543800" cy="256032"/>
          </a:xfrm>
          <a:prstGeom prst="rect">
            <a:avLst/>
          </a:prstGeom>
          <a:noFill/>
          <a:ln/>
        </p:spPr>
        <p:txBody>
          <a:bodyPr wrap="square" lIns="0" tIns="0" rIns="0" bIns="0" rtlCol="0" anchor="ctr"/>
          <a:lstStyle/>
          <a:p>
            <a:pPr algn="ctr" indent="0" marL="0">
              <a:buNone/>
            </a:pPr>
            <a:r>
              <a:rPr lang="en-US" sz="1000" i="1" dirty="0">
                <a:solidFill>
                  <a:srgbClr val="A78BFA"/>
                </a:solidFill>
                <a:latin typeface="Noto Sans CJK SC" pitchFamily="34" charset="0"/>
                <a:ea typeface="Noto Sans CJK SC" pitchFamily="34" charset="-122"/>
                <a:cs typeface="Noto Sans CJK SC" pitchFamily="34" charset="-120"/>
              </a:rPr>
              <a:t>Zero Moss warnings means the evidence is complete; it does not mean the action matches user intent.</a:t>
            </a:r>
            <a:endParaRPr lang="en-US" sz="1000" dirty="0"/>
          </a:p>
        </p:txBody>
      </p:sp>
      <p:sp>
        <p:nvSpPr>
          <p:cNvPr id="39" name="Shape 37"/>
          <p:cNvSpPr/>
          <p:nvPr/>
        </p:nvSpPr>
        <p:spPr>
          <a:xfrm>
            <a:off x="548640" y="6446520"/>
            <a:ext cx="11064240" cy="0"/>
          </a:xfrm>
          <a:prstGeom prst="line">
            <a:avLst/>
          </a:prstGeom>
          <a:noFill/>
          <a:ln w="7620">
            <a:solidFill>
              <a:srgbClr val="292747">
                <a:alpha val="70000"/>
              </a:srgbClr>
            </a:solidFill>
            <a:prstDash val="solid"/>
          </a:ln>
        </p:spPr>
        <p:txBody>
          <a:bodyPr/>
          <a:p/>
        </p:txBody>
      </p:sp>
      <p:sp>
        <p:nvSpPr>
          <p:cNvPr id="40" name="Text 38"/>
          <p:cNvSpPr/>
          <p:nvPr/>
        </p:nvSpPr>
        <p:spPr>
          <a:xfrm>
            <a:off x="576072" y="6492240"/>
            <a:ext cx="4023360" cy="155448"/>
          </a:xfrm>
          <a:prstGeom prst="rect">
            <a:avLst/>
          </a:prstGeom>
          <a:noFill/>
          <a:ln/>
        </p:spPr>
        <p:txBody>
          <a:bodyPr wrap="square" lIns="0" tIns="0" rIns="0" bIns="0" rtlCol="0" anchor="ctr"/>
          <a:lstStyle/>
          <a:p>
            <a:pPr indent="0" marL="0">
              <a:buNone/>
            </a:pPr>
            <a:r>
              <a:rPr lang="en-US" sz="760" dirty="0">
                <a:solidFill>
                  <a:srgbClr val="6B7280"/>
                </a:solidFill>
                <a:latin typeface="Noto Sans CJK SC" pitchFamily="34" charset="0"/>
                <a:ea typeface="Noto Sans CJK SC" pitchFamily="34" charset="-122"/>
                <a:cs typeface="Noto Sans CJK SC" pitchFamily="34" charset="-120"/>
              </a:rPr>
              <a:t>Agent proposes. Evidence decides. Human signs.</a:t>
            </a:r>
            <a:endParaRPr lang="en-US" sz="760" dirty="0"/>
          </a:p>
        </p:txBody>
      </p:sp>
      <p:sp>
        <p:nvSpPr>
          <p:cNvPr id="41" name="Text 39"/>
          <p:cNvSpPr/>
          <p:nvPr/>
        </p:nvSpPr>
        <p:spPr>
          <a:xfrm>
            <a:off x="5623560" y="6492240"/>
            <a:ext cx="5486400" cy="155448"/>
          </a:xfrm>
          <a:prstGeom prst="rect">
            <a:avLst/>
          </a:prstGeom>
          <a:noFill/>
          <a:ln/>
        </p:spPr>
        <p:txBody>
          <a:bodyPr wrap="square" lIns="0" tIns="0" rIns="0" bIns="0" rtlCol="0" anchor="ctr"/>
          <a:lstStyle/>
          <a:p>
            <a:pPr algn="r" indent="0" marL="0">
              <a:buNone/>
            </a:pPr>
            <a:r>
              <a:rPr lang="en-US" sz="720" dirty="0">
                <a:solidFill>
                  <a:srgbClr val="6B7280"/>
                </a:solidFill>
                <a:latin typeface="Noto Sans CJK SC" pitchFamily="34" charset="0"/>
                <a:ea typeface="Noto Sans CJK SC" pitchFamily="34" charset="-122"/>
                <a:cs typeface="Noto Sans CJK SC" pitchFamily="34" charset="-120"/>
              </a:rPr>
              <a:t>Sources: Moss README, SECURITY, Getting Started</a:t>
            </a:r>
            <a:endParaRPr lang="en-US" sz="720" dirty="0"/>
          </a:p>
        </p:txBody>
      </p:sp>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7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11"/>
          </a:solidFill>
          <a:ln w="12700">
            <a:solidFill>
              <a:srgbClr val="070711"/>
            </a:solidFill>
            <a:prstDash val="solid"/>
          </a:ln>
        </p:spPr>
        <p:txBody>
          <a:bodyPr/>
          <a:p/>
        </p:txBody>
      </p:sp>
      <p:sp>
        <p:nvSpPr>
          <p:cNvPr id="3" name="Shape 1"/>
          <p:cNvSpPr/>
          <p:nvPr/>
        </p:nvSpPr>
        <p:spPr>
          <a:xfrm>
            <a:off x="10195560" y="18288"/>
            <a:ext cx="1874520" cy="1874520"/>
          </a:xfrm>
          <a:prstGeom prst="ellipse">
            <a:avLst/>
          </a:prstGeom>
          <a:solidFill>
            <a:srgbClr val="7C3AED">
              <a:alpha val="10000"/>
            </a:srgbClr>
          </a:solidFill>
          <a:ln w="12700">
            <a:solidFill>
              <a:srgbClr val="7C3AED">
                <a:alpha val="0"/>
              </a:srgbClr>
            </a:solidFill>
            <a:prstDash val="solid"/>
          </a:ln>
        </p:spPr>
        <p:txBody>
          <a:bodyPr/>
          <a:p/>
        </p:txBody>
      </p:sp>
      <p:sp>
        <p:nvSpPr>
          <p:cNvPr id="4" name="Shape 2"/>
          <p:cNvSpPr/>
          <p:nvPr/>
        </p:nvSpPr>
        <p:spPr>
          <a:xfrm>
            <a:off x="18288" y="5285232"/>
            <a:ext cx="1417320" cy="1417320"/>
          </a:xfrm>
          <a:prstGeom prst="ellipse">
            <a:avLst/>
          </a:prstGeom>
          <a:solidFill>
            <a:srgbClr val="22D3EE">
              <a:alpha val="5000"/>
            </a:srgbClr>
          </a:solidFill>
          <a:ln w="12700">
            <a:solidFill>
              <a:srgbClr val="22D3EE">
                <a:alpha val="0"/>
              </a:srgbClr>
            </a:solidFill>
            <a:prstDash val="solid"/>
          </a:ln>
        </p:spPr>
        <p:txBody>
          <a:bodyPr/>
          <a:p/>
        </p:txBody>
      </p:sp>
      <p:sp>
        <p:nvSpPr>
          <p:cNvPr id="5" name="Shape 3"/>
          <p:cNvSpPr/>
          <p:nvPr/>
        </p:nvSpPr>
        <p:spPr>
          <a:xfrm>
            <a:off x="512064" y="310896"/>
            <a:ext cx="310896" cy="310896"/>
          </a:xfrm>
          <a:prstGeom prst="diamond">
            <a:avLst/>
          </a:prstGeom>
          <a:solidFill>
            <a:srgbClr val="8B5CF6"/>
          </a:solidFill>
          <a:ln w="12700">
            <a:solidFill>
              <a:srgbClr val="A78BFA">
                <a:alpha val="60000"/>
              </a:srgbClr>
            </a:solidFill>
            <a:prstDash val="solid"/>
          </a:ln>
        </p:spPr>
        <p:txBody>
          <a:bodyPr/>
          <a:p/>
        </p:txBody>
      </p:sp>
      <p:sp>
        <p:nvSpPr>
          <p:cNvPr id="6" name="Shape 4"/>
          <p:cNvSpPr/>
          <p:nvPr/>
        </p:nvSpPr>
        <p:spPr>
          <a:xfrm>
            <a:off x="580461" y="379293"/>
            <a:ext cx="174102" cy="174102"/>
          </a:xfrm>
          <a:prstGeom prst="diamond">
            <a:avLst/>
          </a:prstGeom>
          <a:solidFill>
            <a:srgbClr val="070711"/>
          </a:solidFill>
          <a:ln w="12700">
            <a:solidFill>
              <a:srgbClr val="070711"/>
            </a:solidFill>
            <a:prstDash val="solid"/>
          </a:ln>
        </p:spPr>
        <p:txBody>
          <a:bodyPr/>
          <a:p/>
        </p:txBody>
      </p:sp>
      <p:sp>
        <p:nvSpPr>
          <p:cNvPr id="7" name="Text 5"/>
          <p:cNvSpPr/>
          <p:nvPr/>
        </p:nvSpPr>
        <p:spPr>
          <a:xfrm>
            <a:off x="914400" y="292608"/>
            <a:ext cx="1371600" cy="219456"/>
          </a:xfrm>
          <a:prstGeom prst="rect">
            <a:avLst/>
          </a:prstGeom>
          <a:noFill/>
          <a:ln/>
        </p:spPr>
        <p:txBody>
          <a:bodyPr wrap="square" lIns="0" tIns="0" rIns="0" bIns="0" rtlCol="0" anchor="ctr"/>
          <a:lstStyle/>
          <a:p>
            <a:pPr indent="0" marL="0">
              <a:buNone/>
            </a:pPr>
            <a:r>
              <a:rPr lang="en-US" sz="1000" b="1" spc="120" kern="0" dirty="0">
                <a:solidFill>
                  <a:srgbClr val="A78BFA"/>
                </a:solidFill>
                <a:latin typeface="Noto Sans CJK SC" pitchFamily="34" charset="0"/>
                <a:ea typeface="Noto Sans CJK SC" pitchFamily="34" charset="-122"/>
                <a:cs typeface="Noto Sans CJK SC" pitchFamily="34" charset="-120"/>
              </a:rPr>
              <a:t>MOSSGUARD</a:t>
            </a:r>
            <a:endParaRPr lang="en-US" sz="1000" dirty="0"/>
          </a:p>
        </p:txBody>
      </p:sp>
      <p:sp>
        <p:nvSpPr>
          <p:cNvPr id="8" name="Text 6"/>
          <p:cNvSpPr/>
          <p:nvPr/>
        </p:nvSpPr>
        <p:spPr>
          <a:xfrm>
            <a:off x="9875520" y="301752"/>
            <a:ext cx="1645920" cy="201168"/>
          </a:xfrm>
          <a:prstGeom prst="rect">
            <a:avLst/>
          </a:prstGeom>
          <a:noFill/>
          <a:ln/>
        </p:spPr>
        <p:txBody>
          <a:bodyPr wrap="square" lIns="0" tIns="0" rIns="0" bIns="0" rtlCol="0" anchor="ctr"/>
          <a:lstStyle/>
          <a:p>
            <a:pPr algn="r" indent="0" marL="0">
              <a:buNone/>
            </a:pPr>
            <a:r>
              <a:rPr lang="en-US" sz="900" dirty="0">
                <a:solidFill>
                  <a:srgbClr val="9CA3AF"/>
                </a:solidFill>
                <a:latin typeface="Noto Sans CJK SC" pitchFamily="34" charset="0"/>
                <a:ea typeface="Noto Sans CJK SC" pitchFamily="34" charset="-122"/>
                <a:cs typeface="Noto Sans CJK SC" pitchFamily="34" charset="-120"/>
              </a:rPr>
              <a:t>08 · ADVANTAGE</a:t>
            </a:r>
            <a:endParaRPr lang="en-US" sz="900" dirty="0"/>
          </a:p>
        </p:txBody>
      </p:sp>
      <p:sp>
        <p:nvSpPr>
          <p:cNvPr id="9" name="Text 7"/>
          <p:cNvSpPr/>
          <p:nvPr/>
        </p:nvSpPr>
        <p:spPr>
          <a:xfrm>
            <a:off x="566928" y="749808"/>
            <a:ext cx="10881360" cy="475488"/>
          </a:xfrm>
          <a:prstGeom prst="rect">
            <a:avLst/>
          </a:prstGeom>
          <a:noFill/>
          <a:ln/>
        </p:spPr>
        <p:txBody>
          <a:bodyPr wrap="square" lIns="0" tIns="0" rIns="0" bIns="0" rtlCol="0" anchor="ctr"/>
          <a:lstStyle/>
          <a:p>
            <a:pPr indent="0" marL="0">
              <a:buNone/>
            </a:pPr>
            <a:r>
              <a:rPr lang="en-US" sz="2500" b="1" dirty="0">
                <a:solidFill>
                  <a:srgbClr val="F8FAFC"/>
                </a:solidFill>
                <a:latin typeface="Noto Sans CJK SC" pitchFamily="34" charset="0"/>
                <a:ea typeface="Noto Sans CJK SC" pitchFamily="34" charset="-122"/>
                <a:cs typeface="Noto Sans CJK SC" pitchFamily="34" charset="-120"/>
              </a:rPr>
              <a:t>Why MossGuard is competitive</a:t>
            </a:r>
            <a:endParaRPr lang="en-US" sz="2500" dirty="0"/>
          </a:p>
        </p:txBody>
      </p:sp>
      <p:sp>
        <p:nvSpPr>
          <p:cNvPr id="10" name="Text 8"/>
          <p:cNvSpPr/>
          <p:nvPr/>
        </p:nvSpPr>
        <p:spPr>
          <a:xfrm>
            <a:off x="576072" y="1216152"/>
            <a:ext cx="10698480" cy="274320"/>
          </a:xfrm>
          <a:prstGeom prst="rect">
            <a:avLst/>
          </a:prstGeom>
          <a:noFill/>
          <a:ln/>
        </p:spPr>
        <p:txBody>
          <a:bodyPr wrap="square" lIns="0" tIns="0" rIns="0" bIns="0" rtlCol="0" anchor="ctr"/>
          <a:lstStyle/>
          <a:p>
            <a:pPr indent="0" marL="0">
              <a:buNone/>
            </a:pPr>
            <a:r>
              <a:rPr lang="en-US" sz="1150" dirty="0">
                <a:solidFill>
                  <a:srgbClr val="9CA3AF"/>
                </a:solidFill>
                <a:latin typeface="Noto Sans CJK SC" pitchFamily="34" charset="0"/>
                <a:ea typeface="Noto Sans CJK SC" pitchFamily="34" charset="-122"/>
                <a:cs typeface="Noto Sans CJK SC" pitchFamily="34" charset="-120"/>
              </a:rPr>
              <a:t>Real, deterministic, explainable, and it preserves the user’s final control.</a:t>
            </a:r>
            <a:endParaRPr lang="en-US" sz="1150" dirty="0"/>
          </a:p>
        </p:txBody>
      </p:sp>
      <p:sp>
        <p:nvSpPr>
          <p:cNvPr id="11" name="Shape 9"/>
          <p:cNvSpPr/>
          <p:nvPr/>
        </p:nvSpPr>
        <p:spPr>
          <a:xfrm>
            <a:off x="658368" y="1764792"/>
            <a:ext cx="5257800" cy="1335024"/>
          </a:xfrm>
          <a:prstGeom prst="roundRect">
            <a:avLst>
              <a:gd name="adj" fmla="val 6164"/>
            </a:avLst>
          </a:prstGeom>
          <a:solidFill>
            <a:srgbClr val="111126"/>
          </a:solidFill>
          <a:ln w="10160">
            <a:solidFill>
              <a:srgbClr val="A78BFA">
                <a:alpha val="45000"/>
              </a:srgbClr>
            </a:solidFill>
            <a:prstDash val="solid"/>
          </a:ln>
          <a:effectLst>
            <a:outerShdw sx="100000" sy="100000" kx="0" ky="0" algn="bl" rotWithShape="0" blurRad="2.3828923048104974e+82" dist="1.4297353828862985e+82" dir="1.6452712980283393e+97">
              <a:srgbClr val="000000">
                <a:alpha val="2.4999999999999996e+99"/>
              </a:srgbClr>
            </a:outerShdw>
          </a:effectLst>
        </p:spPr>
        <p:txBody>
          <a:bodyPr/>
          <a:p/>
        </p:txBody>
      </p:sp>
      <p:sp>
        <p:nvSpPr>
          <p:cNvPr id="12" name="Shape 10"/>
          <p:cNvSpPr/>
          <p:nvPr/>
        </p:nvSpPr>
        <p:spPr>
          <a:xfrm>
            <a:off x="914400" y="2093976"/>
            <a:ext cx="502920" cy="502920"/>
          </a:xfrm>
          <a:prstGeom prst="ellipse">
            <a:avLst/>
          </a:prstGeom>
          <a:solidFill>
            <a:srgbClr val="A78BFA">
              <a:alpha val="88000"/>
            </a:srgbClr>
          </a:solidFill>
          <a:ln w="12700">
            <a:solidFill>
              <a:srgbClr val="A78BFA">
                <a:alpha val="80000"/>
              </a:srgbClr>
            </a:solidFill>
            <a:prstDash val="solid"/>
          </a:ln>
        </p:spPr>
        <p:txBody>
          <a:bodyPr/>
          <a:p/>
        </p:txBody>
      </p:sp>
      <p:sp>
        <p:nvSpPr>
          <p:cNvPr id="13" name="Text 11"/>
          <p:cNvSpPr/>
          <p:nvPr/>
        </p:nvSpPr>
        <p:spPr>
          <a:xfrm>
            <a:off x="914400" y="2212848"/>
            <a:ext cx="502920" cy="201168"/>
          </a:xfrm>
          <a:prstGeom prst="rect">
            <a:avLst/>
          </a:prstGeom>
          <a:noFill/>
          <a:ln/>
        </p:spPr>
        <p:txBody>
          <a:bodyPr wrap="square" lIns="0" tIns="0" rIns="0" bIns="0" rtlCol="0" anchor="t">
            <a:normAutofit/>
          </a:bodyPr>
          <a:lstStyle/>
          <a:p>
            <a:pPr algn="ctr" indent="0" marL="0">
              <a:buNone/>
            </a:pPr>
            <a:r>
              <a:rPr lang="en-US" sz="1300" b="1" dirty="0">
                <a:solidFill>
                  <a:srgbClr val="F8FAFC"/>
                </a:solidFill>
                <a:latin typeface="Noto Sans CJK SC" pitchFamily="34" charset="0"/>
                <a:ea typeface="Noto Sans CJK SC" pitchFamily="34" charset="-122"/>
                <a:cs typeface="Noto Sans CJK SC" pitchFamily="34" charset="-120"/>
              </a:rPr>
              <a:t>1</a:t>
            </a:r>
            <a:endParaRPr lang="en-US" sz="1300" dirty="0"/>
          </a:p>
        </p:txBody>
      </p:sp>
      <p:sp>
        <p:nvSpPr>
          <p:cNvPr id="14" name="Text 12"/>
          <p:cNvSpPr/>
          <p:nvPr/>
        </p:nvSpPr>
        <p:spPr>
          <a:xfrm>
            <a:off x="1591056" y="2039112"/>
            <a:ext cx="3931920" cy="274320"/>
          </a:xfrm>
          <a:prstGeom prst="rect">
            <a:avLst/>
          </a:prstGeom>
          <a:noFill/>
          <a:ln/>
        </p:spPr>
        <p:txBody>
          <a:bodyPr wrap="square" lIns="0" tIns="0" rIns="0" bIns="0" rtlCol="0" anchor="t">
            <a:normAutofit/>
          </a:bodyPr>
          <a:lstStyle/>
          <a:p>
            <a:pPr algn="l" indent="0" marL="0">
              <a:buNone/>
            </a:pPr>
            <a:r>
              <a:rPr lang="en-US" sz="1320" b="1" dirty="0">
                <a:solidFill>
                  <a:srgbClr val="F8FAFC"/>
                </a:solidFill>
                <a:latin typeface="Noto Sans CJK SC" pitchFamily="34" charset="0"/>
                <a:ea typeface="Noto Sans CJK SC" pitchFamily="34" charset="-122"/>
                <a:cs typeface="Noto Sans CJK SC" pitchFamily="34" charset="-120"/>
              </a:rPr>
              <a:t>REAL AI + REAL MOSS</a:t>
            </a:r>
            <a:endParaRPr lang="en-US" sz="1320" dirty="0"/>
          </a:p>
        </p:txBody>
      </p:sp>
      <p:sp>
        <p:nvSpPr>
          <p:cNvPr id="15" name="Text 13"/>
          <p:cNvSpPr/>
          <p:nvPr/>
        </p:nvSpPr>
        <p:spPr>
          <a:xfrm>
            <a:off x="1591056" y="2450592"/>
            <a:ext cx="3840480" cy="329184"/>
          </a:xfrm>
          <a:prstGeom prst="rect">
            <a:avLst/>
          </a:prstGeom>
          <a:noFill/>
          <a:ln/>
        </p:spPr>
        <p:txBody>
          <a:bodyPr wrap="square" lIns="0" tIns="0" rIns="0" bIns="0" rtlCol="0" anchor="t">
            <a:normAutofit/>
          </a:bodyPr>
          <a:lstStyle/>
          <a:p>
            <a:pPr algn="l" indent="0" marL="0">
              <a:buNone/>
            </a:pPr>
            <a:r>
              <a:rPr lang="en-US" sz="1020" dirty="0">
                <a:solidFill>
                  <a:srgbClr val="9CA3AF"/>
                </a:solidFill>
                <a:latin typeface="Noto Sans CJK SC" pitchFamily="34" charset="0"/>
                <a:ea typeface="Noto Sans CJK SC" pitchFamily="34" charset="-122"/>
                <a:cs typeface="Noto Sans CJK SC" pitchFamily="34" charset="-120"/>
              </a:rPr>
              <a:t>Free-form input, real tool calls, real Monad simulation</a:t>
            </a:r>
            <a:endParaRPr lang="en-US" sz="1020" dirty="0"/>
          </a:p>
        </p:txBody>
      </p:sp>
      <p:sp>
        <p:nvSpPr>
          <p:cNvPr id="16" name="Shape 14"/>
          <p:cNvSpPr/>
          <p:nvPr/>
        </p:nvSpPr>
        <p:spPr>
          <a:xfrm>
            <a:off x="6291072" y="1764792"/>
            <a:ext cx="5257800" cy="1335024"/>
          </a:xfrm>
          <a:prstGeom prst="roundRect">
            <a:avLst>
              <a:gd name="adj" fmla="val 6164"/>
            </a:avLst>
          </a:prstGeom>
          <a:solidFill>
            <a:srgbClr val="111126"/>
          </a:solidFill>
          <a:ln w="10160">
            <a:solidFill>
              <a:srgbClr val="22C55E">
                <a:alpha val="45000"/>
              </a:srgbClr>
            </a:solidFill>
            <a:prstDash val="solid"/>
          </a:ln>
          <a:effectLst>
            <a:outerShdw sx="100000" sy="100000" kx="0" ky="0" algn="bl" rotWithShape="0" blurRad="3.0262732271093317e+86" dist="1.815763936265599e+86" dir="9.871627788170037e+101">
              <a:srgbClr val="000000">
                <a:alpha val="2.4999999999999995e+104"/>
              </a:srgbClr>
            </a:outerShdw>
          </a:effectLst>
        </p:spPr>
        <p:txBody>
          <a:bodyPr/>
          <a:p/>
        </p:txBody>
      </p:sp>
      <p:sp>
        <p:nvSpPr>
          <p:cNvPr id="17" name="Shape 15"/>
          <p:cNvSpPr/>
          <p:nvPr/>
        </p:nvSpPr>
        <p:spPr>
          <a:xfrm>
            <a:off x="6547104" y="2093976"/>
            <a:ext cx="502920" cy="502920"/>
          </a:xfrm>
          <a:prstGeom prst="ellipse">
            <a:avLst/>
          </a:prstGeom>
          <a:solidFill>
            <a:srgbClr val="22C55E">
              <a:alpha val="88000"/>
            </a:srgbClr>
          </a:solidFill>
          <a:ln w="12700">
            <a:solidFill>
              <a:srgbClr val="22C55E">
                <a:alpha val="80000"/>
              </a:srgbClr>
            </a:solidFill>
            <a:prstDash val="solid"/>
          </a:ln>
        </p:spPr>
        <p:txBody>
          <a:bodyPr/>
          <a:p/>
        </p:txBody>
      </p:sp>
      <p:sp>
        <p:nvSpPr>
          <p:cNvPr id="18" name="Text 16"/>
          <p:cNvSpPr/>
          <p:nvPr/>
        </p:nvSpPr>
        <p:spPr>
          <a:xfrm>
            <a:off x="6547104" y="2212848"/>
            <a:ext cx="502920" cy="201168"/>
          </a:xfrm>
          <a:prstGeom prst="rect">
            <a:avLst/>
          </a:prstGeom>
          <a:noFill/>
          <a:ln/>
        </p:spPr>
        <p:txBody>
          <a:bodyPr wrap="square" lIns="0" tIns="0" rIns="0" bIns="0" rtlCol="0" anchor="t">
            <a:normAutofit/>
          </a:bodyPr>
          <a:lstStyle/>
          <a:p>
            <a:pPr algn="ctr" indent="0" marL="0">
              <a:buNone/>
            </a:pPr>
            <a:r>
              <a:rPr lang="en-US" sz="1300" b="1" dirty="0">
                <a:solidFill>
                  <a:srgbClr val="F8FAFC"/>
                </a:solidFill>
                <a:latin typeface="Noto Sans CJK SC" pitchFamily="34" charset="0"/>
                <a:ea typeface="Noto Sans CJK SC" pitchFamily="34" charset="-122"/>
                <a:cs typeface="Noto Sans CJK SC" pitchFamily="34" charset="-120"/>
              </a:rPr>
              <a:t>2</a:t>
            </a:r>
            <a:endParaRPr lang="en-US" sz="1300" dirty="0"/>
          </a:p>
        </p:txBody>
      </p:sp>
      <p:sp>
        <p:nvSpPr>
          <p:cNvPr id="19" name="Text 17"/>
          <p:cNvSpPr/>
          <p:nvPr/>
        </p:nvSpPr>
        <p:spPr>
          <a:xfrm>
            <a:off x="7223760" y="2039112"/>
            <a:ext cx="3931920" cy="274320"/>
          </a:xfrm>
          <a:prstGeom prst="rect">
            <a:avLst/>
          </a:prstGeom>
          <a:noFill/>
          <a:ln/>
        </p:spPr>
        <p:txBody>
          <a:bodyPr wrap="square" lIns="0" tIns="0" rIns="0" bIns="0" rtlCol="0" anchor="t">
            <a:normAutofit/>
          </a:bodyPr>
          <a:lstStyle/>
          <a:p>
            <a:pPr algn="l" indent="0" marL="0">
              <a:buNone/>
            </a:pPr>
            <a:r>
              <a:rPr lang="en-US" sz="1320" b="1" dirty="0">
                <a:solidFill>
                  <a:srgbClr val="F8FAFC"/>
                </a:solidFill>
                <a:latin typeface="Noto Sans CJK SC" pitchFamily="34" charset="0"/>
                <a:ea typeface="Noto Sans CJK SC" pitchFamily="34" charset="-122"/>
                <a:cs typeface="Noto Sans CJK SC" pitchFamily="34" charset="-120"/>
              </a:rPr>
              <a:t>HUMAN-CONFIRMED</a:t>
            </a:r>
            <a:endParaRPr lang="en-US" sz="1320" dirty="0"/>
          </a:p>
        </p:txBody>
      </p:sp>
      <p:sp>
        <p:nvSpPr>
          <p:cNvPr id="20" name="Text 18"/>
          <p:cNvSpPr/>
          <p:nvPr/>
        </p:nvSpPr>
        <p:spPr>
          <a:xfrm>
            <a:off x="7223760" y="2450592"/>
            <a:ext cx="3840480" cy="329184"/>
          </a:xfrm>
          <a:prstGeom prst="rect">
            <a:avLst/>
          </a:prstGeom>
          <a:noFill/>
          <a:ln/>
        </p:spPr>
        <p:txBody>
          <a:bodyPr wrap="square" lIns="0" tIns="0" rIns="0" bIns="0" rtlCol="0" anchor="t">
            <a:normAutofit/>
          </a:bodyPr>
          <a:lstStyle/>
          <a:p>
            <a:pPr algn="l" indent="0" marL="0">
              <a:buNone/>
            </a:pPr>
            <a:r>
              <a:rPr lang="en-US" sz="1020" dirty="0">
                <a:solidFill>
                  <a:srgbClr val="9CA3AF"/>
                </a:solidFill>
                <a:latin typeface="Noto Sans CJK SC" pitchFamily="34" charset="0"/>
                <a:ea typeface="Noto Sans CJK SC" pitchFamily="34" charset="-122"/>
                <a:cs typeface="Noto Sans CJK SC" pitchFamily="34" charset="-120"/>
              </a:rPr>
              <a:t>The user confirms intent before the agent continues</a:t>
            </a:r>
            <a:endParaRPr lang="en-US" sz="1020" dirty="0"/>
          </a:p>
        </p:txBody>
      </p:sp>
      <p:sp>
        <p:nvSpPr>
          <p:cNvPr id="21" name="Shape 19"/>
          <p:cNvSpPr/>
          <p:nvPr/>
        </p:nvSpPr>
        <p:spPr>
          <a:xfrm>
            <a:off x="658368" y="3392424"/>
            <a:ext cx="5257800" cy="1335024"/>
          </a:xfrm>
          <a:prstGeom prst="roundRect">
            <a:avLst>
              <a:gd name="adj" fmla="val 6164"/>
            </a:avLst>
          </a:prstGeom>
          <a:solidFill>
            <a:srgbClr val="111126"/>
          </a:solidFill>
          <a:ln w="10160">
            <a:solidFill>
              <a:srgbClr val="22D3EE">
                <a:alpha val="45000"/>
              </a:srgbClr>
            </a:solidFill>
            <a:prstDash val="solid"/>
          </a:ln>
          <a:effectLst>
            <a:outerShdw sx="100000" sy="100000" kx="0" ky="0" algn="bl" rotWithShape="0" blurRad="3.8433669984288512e+90" dist="2.3060201990573107e+90" dir="5.9229766729020215e+106">
              <a:srgbClr val="000000">
                <a:alpha val="2.4999999999999996e+109"/>
              </a:srgbClr>
            </a:outerShdw>
          </a:effectLst>
        </p:spPr>
        <p:txBody>
          <a:bodyPr/>
          <a:p/>
        </p:txBody>
      </p:sp>
      <p:sp>
        <p:nvSpPr>
          <p:cNvPr id="22" name="Shape 20"/>
          <p:cNvSpPr/>
          <p:nvPr/>
        </p:nvSpPr>
        <p:spPr>
          <a:xfrm>
            <a:off x="914400" y="3721608"/>
            <a:ext cx="502920" cy="502920"/>
          </a:xfrm>
          <a:prstGeom prst="ellipse">
            <a:avLst/>
          </a:prstGeom>
          <a:solidFill>
            <a:srgbClr val="22D3EE">
              <a:alpha val="88000"/>
            </a:srgbClr>
          </a:solidFill>
          <a:ln w="12700">
            <a:solidFill>
              <a:srgbClr val="22D3EE">
                <a:alpha val="80000"/>
              </a:srgbClr>
            </a:solidFill>
            <a:prstDash val="solid"/>
          </a:ln>
        </p:spPr>
        <p:txBody>
          <a:bodyPr/>
          <a:p/>
        </p:txBody>
      </p:sp>
      <p:sp>
        <p:nvSpPr>
          <p:cNvPr id="23" name="Text 21"/>
          <p:cNvSpPr/>
          <p:nvPr/>
        </p:nvSpPr>
        <p:spPr>
          <a:xfrm>
            <a:off x="914400" y="3840480"/>
            <a:ext cx="502920" cy="201168"/>
          </a:xfrm>
          <a:prstGeom prst="rect">
            <a:avLst/>
          </a:prstGeom>
          <a:noFill/>
          <a:ln/>
        </p:spPr>
        <p:txBody>
          <a:bodyPr wrap="square" lIns="0" tIns="0" rIns="0" bIns="0" rtlCol="0" anchor="t">
            <a:normAutofit/>
          </a:bodyPr>
          <a:lstStyle/>
          <a:p>
            <a:pPr algn="ctr" indent="0" marL="0">
              <a:buNone/>
            </a:pPr>
            <a:r>
              <a:rPr lang="en-US" sz="1300" b="1" dirty="0">
                <a:solidFill>
                  <a:srgbClr val="F8FAFC"/>
                </a:solidFill>
                <a:latin typeface="Noto Sans CJK SC" pitchFamily="34" charset="0"/>
                <a:ea typeface="Noto Sans CJK SC" pitchFamily="34" charset="-122"/>
                <a:cs typeface="Noto Sans CJK SC" pitchFamily="34" charset="-120"/>
              </a:rPr>
              <a:t>3</a:t>
            </a:r>
            <a:endParaRPr lang="en-US" sz="1300" dirty="0"/>
          </a:p>
        </p:txBody>
      </p:sp>
      <p:sp>
        <p:nvSpPr>
          <p:cNvPr id="24" name="Text 22"/>
          <p:cNvSpPr/>
          <p:nvPr/>
        </p:nvSpPr>
        <p:spPr>
          <a:xfrm>
            <a:off x="1591056" y="3666744"/>
            <a:ext cx="3931920" cy="274320"/>
          </a:xfrm>
          <a:prstGeom prst="rect">
            <a:avLst/>
          </a:prstGeom>
          <a:noFill/>
          <a:ln/>
        </p:spPr>
        <p:txBody>
          <a:bodyPr wrap="square" lIns="0" tIns="0" rIns="0" bIns="0" rtlCol="0" anchor="t">
            <a:normAutofit/>
          </a:bodyPr>
          <a:lstStyle/>
          <a:p>
            <a:pPr algn="l" indent="0" marL="0">
              <a:buNone/>
            </a:pPr>
            <a:r>
              <a:rPr lang="en-US" sz="1320" b="1" dirty="0">
                <a:solidFill>
                  <a:srgbClr val="F8FAFC"/>
                </a:solidFill>
                <a:latin typeface="Noto Sans CJK SC" pitchFamily="34" charset="0"/>
                <a:ea typeface="Noto Sans CJK SC" pitchFamily="34" charset="-122"/>
                <a:cs typeface="Noto Sans CJK SC" pitchFamily="34" charset="-120"/>
              </a:rPr>
              <a:t>DETERMINISTIC</a:t>
            </a:r>
            <a:endParaRPr lang="en-US" sz="1320" dirty="0"/>
          </a:p>
        </p:txBody>
      </p:sp>
      <p:sp>
        <p:nvSpPr>
          <p:cNvPr id="25" name="Text 23"/>
          <p:cNvSpPr/>
          <p:nvPr/>
        </p:nvSpPr>
        <p:spPr>
          <a:xfrm>
            <a:off x="1591056" y="4078224"/>
            <a:ext cx="3840480" cy="329184"/>
          </a:xfrm>
          <a:prstGeom prst="rect">
            <a:avLst/>
          </a:prstGeom>
          <a:noFill/>
          <a:ln/>
        </p:spPr>
        <p:txBody>
          <a:bodyPr wrap="square" lIns="0" tIns="0" rIns="0" bIns="0" rtlCol="0" anchor="t">
            <a:normAutofit/>
          </a:bodyPr>
          <a:lstStyle/>
          <a:p>
            <a:pPr algn="l" indent="0" marL="0">
              <a:buNone/>
            </a:pPr>
            <a:r>
              <a:rPr lang="en-US" sz="1020" dirty="0">
                <a:solidFill>
                  <a:srgbClr val="9CA3AF"/>
                </a:solidFill>
                <a:latin typeface="Noto Sans CJK SC" pitchFamily="34" charset="0"/>
                <a:ea typeface="Noto Sans CJK SC" pitchFamily="34" charset="-122"/>
                <a:cs typeface="Noto Sans CJK SC" pitchFamily="34" charset="-120"/>
              </a:rPr>
              <a:t>The LLM does not compute safety; an independent rule engine decides</a:t>
            </a:r>
            <a:endParaRPr lang="en-US" sz="1020" dirty="0"/>
          </a:p>
        </p:txBody>
      </p:sp>
      <p:sp>
        <p:nvSpPr>
          <p:cNvPr id="26" name="Shape 24"/>
          <p:cNvSpPr/>
          <p:nvPr/>
        </p:nvSpPr>
        <p:spPr>
          <a:xfrm>
            <a:off x="6291072" y="3392424"/>
            <a:ext cx="5257800" cy="1335024"/>
          </a:xfrm>
          <a:prstGeom prst="roundRect">
            <a:avLst>
              <a:gd name="adj" fmla="val 6164"/>
            </a:avLst>
          </a:prstGeom>
          <a:solidFill>
            <a:srgbClr val="111126"/>
          </a:solidFill>
          <a:ln w="10160">
            <a:solidFill>
              <a:srgbClr val="F59E0B">
                <a:alpha val="45000"/>
              </a:srgbClr>
            </a:solidFill>
            <a:prstDash val="solid"/>
          </a:ln>
          <a:effectLst>
            <a:outerShdw sx="100000" sy="100000" kx="0" ky="0" algn="bl" rotWithShape="0" blurRad="4.8810760880046414e+94" dist="2.928645652802785e+94" dir="3.553786003741213e+111">
              <a:srgbClr val="000000">
                <a:alpha val="2.4999999999999995e+114"/>
              </a:srgbClr>
            </a:outerShdw>
          </a:effectLst>
        </p:spPr>
        <p:txBody>
          <a:bodyPr/>
          <a:p/>
        </p:txBody>
      </p:sp>
      <p:sp>
        <p:nvSpPr>
          <p:cNvPr id="27" name="Shape 25"/>
          <p:cNvSpPr/>
          <p:nvPr/>
        </p:nvSpPr>
        <p:spPr>
          <a:xfrm>
            <a:off x="6547104" y="3721608"/>
            <a:ext cx="502920" cy="502920"/>
          </a:xfrm>
          <a:prstGeom prst="ellipse">
            <a:avLst/>
          </a:prstGeom>
          <a:solidFill>
            <a:srgbClr val="F59E0B">
              <a:alpha val="88000"/>
            </a:srgbClr>
          </a:solidFill>
          <a:ln w="12700">
            <a:solidFill>
              <a:srgbClr val="F59E0B">
                <a:alpha val="80000"/>
              </a:srgbClr>
            </a:solidFill>
            <a:prstDash val="solid"/>
          </a:ln>
        </p:spPr>
        <p:txBody>
          <a:bodyPr/>
          <a:p/>
        </p:txBody>
      </p:sp>
      <p:sp>
        <p:nvSpPr>
          <p:cNvPr id="28" name="Text 26"/>
          <p:cNvSpPr/>
          <p:nvPr/>
        </p:nvSpPr>
        <p:spPr>
          <a:xfrm>
            <a:off x="6547104" y="3840480"/>
            <a:ext cx="502920" cy="201168"/>
          </a:xfrm>
          <a:prstGeom prst="rect">
            <a:avLst/>
          </a:prstGeom>
          <a:noFill/>
          <a:ln/>
        </p:spPr>
        <p:txBody>
          <a:bodyPr wrap="square" lIns="0" tIns="0" rIns="0" bIns="0" rtlCol="0" anchor="t">
            <a:normAutofit/>
          </a:bodyPr>
          <a:lstStyle/>
          <a:p>
            <a:pPr algn="ctr" indent="0" marL="0">
              <a:buNone/>
            </a:pPr>
            <a:r>
              <a:rPr lang="en-US" sz="1300" b="1" dirty="0">
                <a:solidFill>
                  <a:srgbClr val="F8FAFC"/>
                </a:solidFill>
                <a:latin typeface="Noto Sans CJK SC" pitchFamily="34" charset="0"/>
                <a:ea typeface="Noto Sans CJK SC" pitchFamily="34" charset="-122"/>
                <a:cs typeface="Noto Sans CJK SC" pitchFamily="34" charset="-120"/>
              </a:rPr>
              <a:t>4</a:t>
            </a:r>
            <a:endParaRPr lang="en-US" sz="1300" dirty="0"/>
          </a:p>
        </p:txBody>
      </p:sp>
      <p:sp>
        <p:nvSpPr>
          <p:cNvPr id="29" name="Text 27"/>
          <p:cNvSpPr/>
          <p:nvPr/>
        </p:nvSpPr>
        <p:spPr>
          <a:xfrm>
            <a:off x="7223760" y="3666744"/>
            <a:ext cx="3931920" cy="274320"/>
          </a:xfrm>
          <a:prstGeom prst="rect">
            <a:avLst/>
          </a:prstGeom>
          <a:noFill/>
          <a:ln/>
        </p:spPr>
        <p:txBody>
          <a:bodyPr wrap="square" lIns="0" tIns="0" rIns="0" bIns="0" rtlCol="0" anchor="t">
            <a:normAutofit/>
          </a:bodyPr>
          <a:lstStyle/>
          <a:p>
            <a:pPr algn="l" indent="0" marL="0">
              <a:buNone/>
            </a:pPr>
            <a:r>
              <a:rPr lang="en-US" sz="1320" b="1" dirty="0">
                <a:solidFill>
                  <a:srgbClr val="F8FAFC"/>
                </a:solidFill>
                <a:latin typeface="Noto Sans CJK SC" pitchFamily="34" charset="0"/>
                <a:ea typeface="Noto Sans CJK SC" pitchFamily="34" charset="-122"/>
                <a:cs typeface="Noto Sans CJK SC" pitchFamily="34" charset="-120"/>
              </a:rPr>
              <a:t>EXPLAINABLE GATE</a:t>
            </a:r>
            <a:endParaRPr lang="en-US" sz="1320" dirty="0"/>
          </a:p>
        </p:txBody>
      </p:sp>
      <p:sp>
        <p:nvSpPr>
          <p:cNvPr id="30" name="Text 28"/>
          <p:cNvSpPr/>
          <p:nvPr/>
        </p:nvSpPr>
        <p:spPr>
          <a:xfrm>
            <a:off x="7223760" y="4078224"/>
            <a:ext cx="3840480" cy="329184"/>
          </a:xfrm>
          <a:prstGeom prst="rect">
            <a:avLst/>
          </a:prstGeom>
          <a:noFill/>
          <a:ln/>
        </p:spPr>
        <p:txBody>
          <a:bodyPr wrap="square" lIns="0" tIns="0" rIns="0" bIns="0" rtlCol="0" anchor="t">
            <a:normAutofit/>
          </a:bodyPr>
          <a:lstStyle/>
          <a:p>
            <a:pPr algn="l" indent="0" marL="0">
              <a:buNone/>
            </a:pPr>
            <a:r>
              <a:rPr lang="en-US" sz="1020" dirty="0">
                <a:solidFill>
                  <a:srgbClr val="9CA3AF"/>
                </a:solidFill>
                <a:latin typeface="Noto Sans CJK SC" pitchFamily="34" charset="0"/>
                <a:ea typeface="Noto Sans CJK SC" pitchFamily="34" charset="-122"/>
                <a:cs typeface="Noto Sans CJK SC" pitchFamily="34" charset="-120"/>
              </a:rPr>
              <a:t>Three-way diff + evidence reference + signer gate</a:t>
            </a:r>
            <a:endParaRPr lang="en-US" sz="1020" dirty="0"/>
          </a:p>
        </p:txBody>
      </p:sp>
      <p:sp>
        <p:nvSpPr>
          <p:cNvPr id="31" name="Shape 29"/>
          <p:cNvSpPr/>
          <p:nvPr/>
        </p:nvSpPr>
        <p:spPr>
          <a:xfrm>
            <a:off x="658368" y="5193792"/>
            <a:ext cx="10881360" cy="768096"/>
          </a:xfrm>
          <a:prstGeom prst="roundRect">
            <a:avLst>
              <a:gd name="adj" fmla="val 10714"/>
            </a:avLst>
          </a:prstGeom>
          <a:solidFill>
            <a:srgbClr val="0D0D1C"/>
          </a:solidFill>
          <a:ln w="10160">
            <a:solidFill>
              <a:srgbClr val="8B5CF6">
                <a:alpha val="45000"/>
              </a:srgbClr>
            </a:solidFill>
            <a:prstDash val="solid"/>
          </a:ln>
        </p:spPr>
        <p:txBody>
          <a:bodyPr/>
          <a:p/>
        </p:txBody>
      </p:sp>
      <p:sp>
        <p:nvSpPr>
          <p:cNvPr id="32" name="Text 30"/>
          <p:cNvSpPr/>
          <p:nvPr/>
        </p:nvSpPr>
        <p:spPr>
          <a:xfrm>
            <a:off x="987552" y="5404104"/>
            <a:ext cx="932688" cy="237744"/>
          </a:xfrm>
          <a:prstGeom prst="rect">
            <a:avLst/>
          </a:prstGeom>
          <a:noFill/>
          <a:ln/>
        </p:spPr>
        <p:txBody>
          <a:bodyPr wrap="square" lIns="0" tIns="0" rIns="0" bIns="0" rtlCol="0" anchor="t">
            <a:normAutofit/>
          </a:bodyPr>
          <a:lstStyle/>
          <a:p>
            <a:pPr algn="l" indent="0" marL="0">
              <a:buNone/>
            </a:pPr>
            <a:r>
              <a:rPr lang="en-US" sz="1420" b="1" dirty="0">
                <a:solidFill>
                  <a:srgbClr val="22D3EE"/>
                </a:solidFill>
                <a:latin typeface="Noto Sans CJK SC" pitchFamily="34" charset="0"/>
                <a:ea typeface="Noto Sans CJK SC" pitchFamily="34" charset="-122"/>
                <a:cs typeface="Noto Sans CJK SC" pitchFamily="34" charset="-120"/>
              </a:rPr>
              <a:t>MOSS</a:t>
            </a:r>
            <a:endParaRPr lang="en-US" sz="1420" dirty="0"/>
          </a:p>
        </p:txBody>
      </p:sp>
      <p:sp>
        <p:nvSpPr>
          <p:cNvPr id="33" name="Text 31"/>
          <p:cNvSpPr/>
          <p:nvPr/>
        </p:nvSpPr>
        <p:spPr>
          <a:xfrm>
            <a:off x="1938528" y="5422392"/>
            <a:ext cx="3273552" cy="219456"/>
          </a:xfrm>
          <a:prstGeom prst="rect">
            <a:avLst/>
          </a:prstGeom>
          <a:noFill/>
          <a:ln/>
        </p:spPr>
        <p:txBody>
          <a:bodyPr wrap="square" lIns="0" tIns="0" rIns="0" bIns="0" rtlCol="0" anchor="t">
            <a:normAutofit/>
          </a:bodyPr>
          <a:lstStyle/>
          <a:p>
            <a:pPr algn="l" indent="0" marL="0">
              <a:buNone/>
            </a:pPr>
            <a:r>
              <a:rPr lang="en-US" sz="1120" dirty="0">
                <a:solidFill>
                  <a:srgbClr val="E5E7EB"/>
                </a:solidFill>
                <a:latin typeface="Noto Sans CJK SC" pitchFamily="34" charset="0"/>
                <a:ea typeface="Noto Sans CJK SC" pitchFamily="34" charset="-122"/>
                <a:cs typeface="Noto Sans CJK SC" pitchFamily="34" charset="-120"/>
              </a:rPr>
              <a:t>Proves what the unsigned transaction will do</a:t>
            </a:r>
            <a:endParaRPr lang="en-US" sz="1120" dirty="0"/>
          </a:p>
        </p:txBody>
      </p:sp>
      <p:sp>
        <p:nvSpPr>
          <p:cNvPr id="34" name="Shape 32"/>
          <p:cNvSpPr/>
          <p:nvPr/>
        </p:nvSpPr>
        <p:spPr>
          <a:xfrm>
            <a:off x="5623560" y="5321808"/>
            <a:ext cx="0" cy="502920"/>
          </a:xfrm>
          <a:prstGeom prst="line">
            <a:avLst/>
          </a:prstGeom>
          <a:noFill/>
          <a:ln w="13970">
            <a:solidFill>
              <a:srgbClr val="292747"/>
            </a:solidFill>
            <a:prstDash val="solid"/>
          </a:ln>
        </p:spPr>
        <p:txBody>
          <a:bodyPr/>
          <a:p/>
        </p:txBody>
      </p:sp>
      <p:sp>
        <p:nvSpPr>
          <p:cNvPr id="35" name="Text 33"/>
          <p:cNvSpPr/>
          <p:nvPr/>
        </p:nvSpPr>
        <p:spPr>
          <a:xfrm>
            <a:off x="5989320" y="5404104"/>
            <a:ext cx="1325880" cy="237744"/>
          </a:xfrm>
          <a:prstGeom prst="rect">
            <a:avLst/>
          </a:prstGeom>
          <a:noFill/>
          <a:ln/>
        </p:spPr>
        <p:txBody>
          <a:bodyPr wrap="square" lIns="0" tIns="0" rIns="0" bIns="0" rtlCol="0" anchor="t">
            <a:normAutofit/>
          </a:bodyPr>
          <a:lstStyle/>
          <a:p>
            <a:pPr algn="l" indent="0" marL="0">
              <a:buNone/>
            </a:pPr>
            <a:r>
              <a:rPr lang="en-US" sz="1420" b="1" dirty="0">
                <a:solidFill>
                  <a:srgbClr val="A78BFA"/>
                </a:solidFill>
                <a:latin typeface="Noto Sans CJK SC" pitchFamily="34" charset="0"/>
                <a:ea typeface="Noto Sans CJK SC" pitchFamily="34" charset="-122"/>
                <a:cs typeface="Noto Sans CJK SC" pitchFamily="34" charset="-120"/>
              </a:rPr>
              <a:t>MOSSGUARD</a:t>
            </a:r>
            <a:endParaRPr lang="en-US" sz="1420" dirty="0"/>
          </a:p>
        </p:txBody>
      </p:sp>
      <p:sp>
        <p:nvSpPr>
          <p:cNvPr id="36" name="Text 34"/>
          <p:cNvSpPr/>
          <p:nvPr/>
        </p:nvSpPr>
        <p:spPr>
          <a:xfrm>
            <a:off x="7360920" y="5422392"/>
            <a:ext cx="3657600" cy="219456"/>
          </a:xfrm>
          <a:prstGeom prst="rect">
            <a:avLst/>
          </a:prstGeom>
          <a:noFill/>
          <a:ln/>
        </p:spPr>
        <p:txBody>
          <a:bodyPr wrap="square" lIns="0" tIns="0" rIns="0" bIns="0" rtlCol="0" anchor="t">
            <a:normAutofit/>
          </a:bodyPr>
          <a:lstStyle/>
          <a:p>
            <a:pPr algn="l" indent="0" marL="0">
              <a:buNone/>
            </a:pPr>
            <a:r>
              <a:rPr lang="en-US" sz="1120" dirty="0">
                <a:solidFill>
                  <a:srgbClr val="E5E7EB"/>
                </a:solidFill>
                <a:latin typeface="Noto Sans CJK SC" pitchFamily="34" charset="0"/>
                <a:ea typeface="Noto Sans CJK SC" pitchFamily="34" charset="-122"/>
                <a:cs typeface="Noto Sans CJK SC" pitchFamily="34" charset="-120"/>
              </a:rPr>
              <a:t>Judges whether the results remain within user authorization</a:t>
            </a:r>
            <a:endParaRPr lang="en-US" sz="1120" dirty="0"/>
          </a:p>
        </p:txBody>
      </p:sp>
      <p:sp>
        <p:nvSpPr>
          <p:cNvPr id="37" name="Shape 35"/>
          <p:cNvSpPr/>
          <p:nvPr/>
        </p:nvSpPr>
        <p:spPr>
          <a:xfrm>
            <a:off x="548640" y="6446520"/>
            <a:ext cx="11064240" cy="0"/>
          </a:xfrm>
          <a:prstGeom prst="line">
            <a:avLst/>
          </a:prstGeom>
          <a:noFill/>
          <a:ln w="7620">
            <a:solidFill>
              <a:srgbClr val="292747">
                <a:alpha val="70000"/>
              </a:srgbClr>
            </a:solidFill>
            <a:prstDash val="solid"/>
          </a:ln>
        </p:spPr>
        <p:txBody>
          <a:bodyPr/>
          <a:p/>
        </p:txBody>
      </p:sp>
      <p:sp>
        <p:nvSpPr>
          <p:cNvPr id="38" name="Text 36"/>
          <p:cNvSpPr/>
          <p:nvPr/>
        </p:nvSpPr>
        <p:spPr>
          <a:xfrm>
            <a:off x="576072" y="6492240"/>
            <a:ext cx="4023360" cy="155448"/>
          </a:xfrm>
          <a:prstGeom prst="rect">
            <a:avLst/>
          </a:prstGeom>
          <a:noFill/>
          <a:ln/>
        </p:spPr>
        <p:txBody>
          <a:bodyPr wrap="square" lIns="0" tIns="0" rIns="0" bIns="0" rtlCol="0" anchor="ctr"/>
          <a:lstStyle/>
          <a:p>
            <a:pPr indent="0" marL="0">
              <a:buNone/>
            </a:pPr>
            <a:r>
              <a:rPr lang="en-US" sz="760" dirty="0">
                <a:solidFill>
                  <a:srgbClr val="6B7280"/>
                </a:solidFill>
                <a:latin typeface="Noto Sans CJK SC" pitchFamily="34" charset="0"/>
                <a:ea typeface="Noto Sans CJK SC" pitchFamily="34" charset="-122"/>
                <a:cs typeface="Noto Sans CJK SC" pitchFamily="34" charset="-120"/>
              </a:rPr>
              <a:t>Agent proposes. Evidence decides. Human signs.</a:t>
            </a:r>
            <a:endParaRPr lang="en-US" sz="760" dirty="0"/>
          </a:p>
        </p:txBody>
      </p:sp>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7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11"/>
          </a:solidFill>
          <a:ln w="12700">
            <a:solidFill>
              <a:srgbClr val="070711"/>
            </a:solidFill>
            <a:prstDash val="solid"/>
          </a:ln>
        </p:spPr>
        <p:txBody>
          <a:bodyPr/>
          <a:p/>
        </p:txBody>
      </p:sp>
      <p:sp>
        <p:nvSpPr>
          <p:cNvPr id="3" name="Shape 1"/>
          <p:cNvSpPr/>
          <p:nvPr/>
        </p:nvSpPr>
        <p:spPr>
          <a:xfrm>
            <a:off x="10195560" y="18288"/>
            <a:ext cx="1874520" cy="1874520"/>
          </a:xfrm>
          <a:prstGeom prst="ellipse">
            <a:avLst/>
          </a:prstGeom>
          <a:solidFill>
            <a:srgbClr val="7C3AED">
              <a:alpha val="10000"/>
            </a:srgbClr>
          </a:solidFill>
          <a:ln w="12700">
            <a:solidFill>
              <a:srgbClr val="7C3AED">
                <a:alpha val="0"/>
              </a:srgbClr>
            </a:solidFill>
            <a:prstDash val="solid"/>
          </a:ln>
        </p:spPr>
        <p:txBody>
          <a:bodyPr/>
          <a:p/>
        </p:txBody>
      </p:sp>
      <p:sp>
        <p:nvSpPr>
          <p:cNvPr id="4" name="Shape 2"/>
          <p:cNvSpPr/>
          <p:nvPr/>
        </p:nvSpPr>
        <p:spPr>
          <a:xfrm>
            <a:off x="18288" y="5285232"/>
            <a:ext cx="1417320" cy="1417320"/>
          </a:xfrm>
          <a:prstGeom prst="ellipse">
            <a:avLst/>
          </a:prstGeom>
          <a:solidFill>
            <a:srgbClr val="22D3EE">
              <a:alpha val="5000"/>
            </a:srgbClr>
          </a:solidFill>
          <a:ln w="12700">
            <a:solidFill>
              <a:srgbClr val="22D3EE">
                <a:alpha val="0"/>
              </a:srgbClr>
            </a:solidFill>
            <a:prstDash val="solid"/>
          </a:ln>
        </p:spPr>
        <p:txBody>
          <a:bodyPr/>
          <a:p/>
        </p:txBody>
      </p:sp>
      <p:sp>
        <p:nvSpPr>
          <p:cNvPr id="5" name="Shape 3"/>
          <p:cNvSpPr/>
          <p:nvPr/>
        </p:nvSpPr>
        <p:spPr>
          <a:xfrm>
            <a:off x="512064" y="310896"/>
            <a:ext cx="310896" cy="310896"/>
          </a:xfrm>
          <a:prstGeom prst="diamond">
            <a:avLst/>
          </a:prstGeom>
          <a:solidFill>
            <a:srgbClr val="8B5CF6"/>
          </a:solidFill>
          <a:ln w="12700">
            <a:solidFill>
              <a:srgbClr val="A78BFA">
                <a:alpha val="60000"/>
              </a:srgbClr>
            </a:solidFill>
            <a:prstDash val="solid"/>
          </a:ln>
        </p:spPr>
        <p:txBody>
          <a:bodyPr/>
          <a:p/>
        </p:txBody>
      </p:sp>
      <p:sp>
        <p:nvSpPr>
          <p:cNvPr id="6" name="Shape 4"/>
          <p:cNvSpPr/>
          <p:nvPr/>
        </p:nvSpPr>
        <p:spPr>
          <a:xfrm>
            <a:off x="580461" y="379293"/>
            <a:ext cx="174102" cy="174102"/>
          </a:xfrm>
          <a:prstGeom prst="diamond">
            <a:avLst/>
          </a:prstGeom>
          <a:solidFill>
            <a:srgbClr val="070711"/>
          </a:solidFill>
          <a:ln w="12700">
            <a:solidFill>
              <a:srgbClr val="070711"/>
            </a:solidFill>
            <a:prstDash val="solid"/>
          </a:ln>
        </p:spPr>
        <p:txBody>
          <a:bodyPr/>
          <a:p/>
        </p:txBody>
      </p:sp>
      <p:sp>
        <p:nvSpPr>
          <p:cNvPr id="7" name="Text 5"/>
          <p:cNvSpPr/>
          <p:nvPr/>
        </p:nvSpPr>
        <p:spPr>
          <a:xfrm>
            <a:off x="914400" y="292608"/>
            <a:ext cx="1371600" cy="219456"/>
          </a:xfrm>
          <a:prstGeom prst="rect">
            <a:avLst/>
          </a:prstGeom>
          <a:noFill/>
          <a:ln/>
        </p:spPr>
        <p:txBody>
          <a:bodyPr wrap="square" lIns="0" tIns="0" rIns="0" bIns="0" rtlCol="0" anchor="ctr"/>
          <a:lstStyle/>
          <a:p>
            <a:pPr indent="0" marL="0">
              <a:buNone/>
            </a:pPr>
            <a:r>
              <a:rPr lang="en-US" sz="1000" b="1" spc="120" kern="0" dirty="0">
                <a:solidFill>
                  <a:srgbClr val="A78BFA"/>
                </a:solidFill>
                <a:latin typeface="Noto Sans CJK SC" pitchFamily="34" charset="0"/>
                <a:ea typeface="Noto Sans CJK SC" pitchFamily="34" charset="-122"/>
                <a:cs typeface="Noto Sans CJK SC" pitchFamily="34" charset="-120"/>
              </a:rPr>
              <a:t>MOSSGUARD</a:t>
            </a:r>
            <a:endParaRPr lang="en-US" sz="1000" dirty="0"/>
          </a:p>
        </p:txBody>
      </p:sp>
      <p:sp>
        <p:nvSpPr>
          <p:cNvPr id="8" name="Text 6"/>
          <p:cNvSpPr/>
          <p:nvPr/>
        </p:nvSpPr>
        <p:spPr>
          <a:xfrm>
            <a:off x="9875520" y="301752"/>
            <a:ext cx="1645920" cy="201168"/>
          </a:xfrm>
          <a:prstGeom prst="rect">
            <a:avLst/>
          </a:prstGeom>
          <a:noFill/>
          <a:ln/>
        </p:spPr>
        <p:txBody>
          <a:bodyPr wrap="square" lIns="0" tIns="0" rIns="0" bIns="0" rtlCol="0" anchor="ctr"/>
          <a:lstStyle/>
          <a:p>
            <a:pPr algn="r" indent="0" marL="0">
              <a:buNone/>
            </a:pPr>
            <a:r>
              <a:rPr lang="en-US" sz="900" dirty="0">
                <a:solidFill>
                  <a:srgbClr val="9CA3AF"/>
                </a:solidFill>
                <a:latin typeface="Noto Sans CJK SC" pitchFamily="34" charset="0"/>
                <a:ea typeface="Noto Sans CJK SC" pitchFamily="34" charset="-122"/>
                <a:cs typeface="Noto Sans CJK SC" pitchFamily="34" charset="-120"/>
              </a:rPr>
              <a:t>09 · VALUE</a:t>
            </a:r>
            <a:endParaRPr lang="en-US" sz="900" dirty="0"/>
          </a:p>
        </p:txBody>
      </p:sp>
      <p:sp>
        <p:nvSpPr>
          <p:cNvPr id="9" name="Text 7"/>
          <p:cNvSpPr/>
          <p:nvPr/>
        </p:nvSpPr>
        <p:spPr>
          <a:xfrm>
            <a:off x="566928" y="749808"/>
            <a:ext cx="10881360" cy="475488"/>
          </a:xfrm>
          <a:prstGeom prst="rect">
            <a:avLst/>
          </a:prstGeom>
          <a:noFill/>
          <a:ln/>
        </p:spPr>
        <p:txBody>
          <a:bodyPr wrap="square" lIns="0" tIns="0" rIns="0" bIns="0" rtlCol="0" anchor="ctr"/>
          <a:lstStyle/>
          <a:p>
            <a:pPr indent="0" marL="0">
              <a:buNone/>
            </a:pPr>
            <a:r>
              <a:rPr lang="en-US" sz="2500" b="1" dirty="0">
                <a:solidFill>
                  <a:srgbClr val="F8FAFC"/>
                </a:solidFill>
                <a:latin typeface="Noto Sans CJK SC" pitchFamily="34" charset="0"/>
                <a:ea typeface="Noto Sans CJK SC" pitchFamily="34" charset="-122"/>
                <a:cs typeface="Noto Sans CJK SC" pitchFamily="34" charset="-120"/>
              </a:rPr>
              <a:t>Adoption value, current limits, and roadmap</a:t>
            </a:r>
            <a:endParaRPr lang="en-US" sz="2500" dirty="0"/>
          </a:p>
        </p:txBody>
      </p:sp>
      <p:sp>
        <p:nvSpPr>
          <p:cNvPr id="10" name="Text 8"/>
          <p:cNvSpPr/>
          <p:nvPr/>
        </p:nvSpPr>
        <p:spPr>
          <a:xfrm>
            <a:off x="576072" y="1216152"/>
            <a:ext cx="10698480" cy="274320"/>
          </a:xfrm>
          <a:prstGeom prst="rect">
            <a:avLst/>
          </a:prstGeom>
          <a:noFill/>
          <a:ln/>
        </p:spPr>
        <p:txBody>
          <a:bodyPr wrap="square" lIns="0" tIns="0" rIns="0" bIns="0" rtlCol="0" anchor="ctr"/>
          <a:lstStyle/>
          <a:p>
            <a:pPr indent="0" marL="0">
              <a:buNone/>
            </a:pPr>
            <a:r>
              <a:rPr lang="en-US" sz="1150" dirty="0">
                <a:solidFill>
                  <a:srgbClr val="9CA3AF"/>
                </a:solidFill>
                <a:latin typeface="Noto Sans CJK SC" pitchFamily="34" charset="0"/>
                <a:ea typeface="Noto Sans CJK SC" pitchFamily="34" charset="-122"/>
                <a:cs typeface="Noto Sans CJK SC" pitchFamily="34" charset="-120"/>
              </a:rPr>
              <a:t>From hackathon playground to a standard safety layer between agents and wallets.</a:t>
            </a:r>
            <a:endParaRPr lang="en-US" sz="1150" dirty="0"/>
          </a:p>
        </p:txBody>
      </p:sp>
      <p:sp>
        <p:nvSpPr>
          <p:cNvPr id="11" name="Shape 9"/>
          <p:cNvSpPr/>
          <p:nvPr/>
        </p:nvSpPr>
        <p:spPr>
          <a:xfrm>
            <a:off x="658368" y="1773936"/>
            <a:ext cx="5230368" cy="3355848"/>
          </a:xfrm>
          <a:prstGeom prst="roundRect">
            <a:avLst>
              <a:gd name="adj" fmla="val 2452"/>
            </a:avLst>
          </a:prstGeom>
          <a:solidFill>
            <a:srgbClr val="111126"/>
          </a:solidFill>
          <a:ln w="10160">
            <a:solidFill>
              <a:srgbClr val="292747"/>
            </a:solidFill>
            <a:prstDash val="solid"/>
          </a:ln>
          <a:effectLst>
            <a:outerShdw sx="100000" sy="100000" kx="0" ky="0" algn="bl" rotWithShape="0" blurRad="6.198966631765894e+98" dist="3.7193799790595366e+98" dir="2.1322716022447277e+116">
              <a:srgbClr val="000000">
                <a:alpha val="2.4999999999999996e+119"/>
              </a:srgbClr>
            </a:outerShdw>
          </a:effectLst>
        </p:spPr>
        <p:txBody>
          <a:bodyPr/>
          <a:p/>
        </p:txBody>
      </p:sp>
      <p:sp>
        <p:nvSpPr>
          <p:cNvPr id="12" name="Shape 10"/>
          <p:cNvSpPr/>
          <p:nvPr/>
        </p:nvSpPr>
        <p:spPr>
          <a:xfrm>
            <a:off x="969264" y="2048256"/>
            <a:ext cx="1371600" cy="292608"/>
          </a:xfrm>
          <a:prstGeom prst="roundRect">
            <a:avLst>
              <a:gd name="adj" fmla="val 25000"/>
            </a:avLst>
          </a:prstGeom>
          <a:solidFill>
            <a:srgbClr val="22C55E">
              <a:alpha val="16000"/>
            </a:srgbClr>
          </a:solidFill>
          <a:ln w="8890">
            <a:solidFill>
              <a:srgbClr val="22C55E">
                <a:alpha val="55000"/>
              </a:srgbClr>
            </a:solidFill>
            <a:prstDash val="solid"/>
          </a:ln>
        </p:spPr>
        <p:txBody>
          <a:bodyPr/>
          <a:p/>
        </p:txBody>
      </p:sp>
      <p:sp>
        <p:nvSpPr>
          <p:cNvPr id="13" name="Text 11"/>
          <p:cNvSpPr/>
          <p:nvPr/>
        </p:nvSpPr>
        <p:spPr>
          <a:xfrm>
            <a:off x="969264" y="2052828"/>
            <a:ext cx="1371600" cy="256032"/>
          </a:xfrm>
          <a:prstGeom prst="rect">
            <a:avLst/>
          </a:prstGeom>
          <a:noFill/>
          <a:ln/>
        </p:spPr>
        <p:txBody>
          <a:bodyPr wrap="square" lIns="0" tIns="0" rIns="0" bIns="0" rtlCol="0" anchor="ctr"/>
          <a:lstStyle/>
          <a:p>
            <a:pPr algn="ctr" indent="0" marL="0">
              <a:buNone/>
            </a:pPr>
            <a:r>
              <a:rPr lang="en-US" sz="850" b="1" dirty="0">
                <a:solidFill>
                  <a:srgbClr val="22C55E"/>
                </a:solidFill>
                <a:latin typeface="Noto Sans CJK SC" pitchFamily="34" charset="0"/>
                <a:ea typeface="Noto Sans CJK SC" pitchFamily="34" charset="-122"/>
                <a:cs typeface="Noto Sans CJK SC" pitchFamily="34" charset="-120"/>
              </a:rPr>
              <a:t>LANDING VALUE</a:t>
            </a:r>
            <a:endParaRPr lang="en-US" sz="850" dirty="0"/>
          </a:p>
        </p:txBody>
      </p:sp>
      <p:sp>
        <p:nvSpPr>
          <p:cNvPr id="14" name="Text 12"/>
          <p:cNvSpPr/>
          <p:nvPr/>
        </p:nvSpPr>
        <p:spPr>
          <a:xfrm>
            <a:off x="987552" y="2670048"/>
            <a:ext cx="310896" cy="201168"/>
          </a:xfrm>
          <a:prstGeom prst="rect">
            <a:avLst/>
          </a:prstGeom>
          <a:noFill/>
          <a:ln/>
        </p:spPr>
        <p:txBody>
          <a:bodyPr wrap="square" lIns="0" tIns="0" rIns="0" bIns="0" rtlCol="0" anchor="t">
            <a:normAutofit/>
          </a:bodyPr>
          <a:lstStyle/>
          <a:p>
            <a:pPr algn="l" indent="0" marL="0">
              <a:buNone/>
            </a:pPr>
            <a:r>
              <a:rPr lang="en-US" sz="1300" b="1" dirty="0">
                <a:solidFill>
                  <a:srgbClr val="22C55E"/>
                </a:solidFill>
                <a:latin typeface="Noto Sans CJK SC" pitchFamily="34" charset="0"/>
                <a:ea typeface="Noto Sans CJK SC" pitchFamily="34" charset="-122"/>
                <a:cs typeface="Noto Sans CJK SC" pitchFamily="34" charset="-120"/>
              </a:rPr>
              <a:t>→</a:t>
            </a:r>
            <a:endParaRPr lang="en-US" sz="1300" dirty="0"/>
          </a:p>
        </p:txBody>
      </p:sp>
      <p:sp>
        <p:nvSpPr>
          <p:cNvPr id="15" name="Text 13"/>
          <p:cNvSpPr/>
          <p:nvPr/>
        </p:nvSpPr>
        <p:spPr>
          <a:xfrm>
            <a:off x="1353312" y="2660904"/>
            <a:ext cx="1783080" cy="219456"/>
          </a:xfrm>
          <a:prstGeom prst="rect">
            <a:avLst/>
          </a:prstGeom>
          <a:noFill/>
          <a:ln/>
        </p:spPr>
        <p:txBody>
          <a:bodyPr wrap="square" lIns="0" tIns="0" rIns="0" bIns="0" rtlCol="0" anchor="t">
            <a:normAutofit/>
          </a:bodyPr>
          <a:lstStyle/>
          <a:p>
            <a:pPr algn="l" indent="0" marL="0">
              <a:buNone/>
            </a:pPr>
            <a:r>
              <a:rPr lang="en-US" sz="1080" b="1" dirty="0">
                <a:solidFill>
                  <a:srgbClr val="F8FAFC"/>
                </a:solidFill>
                <a:latin typeface="Noto Sans CJK SC" pitchFamily="34" charset="0"/>
                <a:ea typeface="Noto Sans CJK SC" pitchFamily="34" charset="-122"/>
                <a:cs typeface="Noto Sans CJK SC" pitchFamily="34" charset="-120"/>
              </a:rPr>
              <a:t>Wallet Agent SDK</a:t>
            </a:r>
            <a:endParaRPr lang="en-US" sz="1080" dirty="0"/>
          </a:p>
        </p:txBody>
      </p:sp>
      <p:sp>
        <p:nvSpPr>
          <p:cNvPr id="16" name="Text 14"/>
          <p:cNvSpPr/>
          <p:nvPr/>
        </p:nvSpPr>
        <p:spPr>
          <a:xfrm>
            <a:off x="3154680" y="2660904"/>
            <a:ext cx="2267712" cy="219456"/>
          </a:xfrm>
          <a:prstGeom prst="rect">
            <a:avLst/>
          </a:prstGeom>
          <a:noFill/>
          <a:ln/>
        </p:spPr>
        <p:txBody>
          <a:bodyPr wrap="square" lIns="0" tIns="0" rIns="0" bIns="0" rtlCol="0" anchor="t">
            <a:normAutofit/>
          </a:bodyPr>
          <a:lstStyle/>
          <a:p>
            <a:pPr algn="l" indent="0" marL="0">
              <a:buNone/>
            </a:pPr>
            <a:r>
              <a:rPr lang="en-US" sz="960" dirty="0">
                <a:solidFill>
                  <a:srgbClr val="9CA3AF"/>
                </a:solidFill>
                <a:latin typeface="Noto Sans CJK SC" pitchFamily="34" charset="0"/>
                <a:ea typeface="Noto Sans CJK SC" pitchFamily="34" charset="-122"/>
                <a:cs typeface="Noto Sans CJK SC" pitchFamily="34" charset="-120"/>
              </a:rPr>
              <a:t>Pre-signing verification plugin</a:t>
            </a:r>
            <a:endParaRPr lang="en-US" sz="960" dirty="0"/>
          </a:p>
        </p:txBody>
      </p:sp>
      <p:sp>
        <p:nvSpPr>
          <p:cNvPr id="17" name="Text 15"/>
          <p:cNvSpPr/>
          <p:nvPr/>
        </p:nvSpPr>
        <p:spPr>
          <a:xfrm>
            <a:off x="987552" y="3227832"/>
            <a:ext cx="310896" cy="201168"/>
          </a:xfrm>
          <a:prstGeom prst="rect">
            <a:avLst/>
          </a:prstGeom>
          <a:noFill/>
          <a:ln/>
        </p:spPr>
        <p:txBody>
          <a:bodyPr wrap="square" lIns="0" tIns="0" rIns="0" bIns="0" rtlCol="0" anchor="t">
            <a:normAutofit/>
          </a:bodyPr>
          <a:lstStyle/>
          <a:p>
            <a:pPr algn="l" indent="0" marL="0">
              <a:buNone/>
            </a:pPr>
            <a:r>
              <a:rPr lang="en-US" sz="1300" b="1" dirty="0">
                <a:solidFill>
                  <a:srgbClr val="22C55E"/>
                </a:solidFill>
                <a:latin typeface="Noto Sans CJK SC" pitchFamily="34" charset="0"/>
                <a:ea typeface="Noto Sans CJK SC" pitchFamily="34" charset="-122"/>
                <a:cs typeface="Noto Sans CJK SC" pitchFamily="34" charset="-120"/>
              </a:rPr>
              <a:t>→</a:t>
            </a:r>
            <a:endParaRPr lang="en-US" sz="1300" dirty="0"/>
          </a:p>
        </p:txBody>
      </p:sp>
      <p:sp>
        <p:nvSpPr>
          <p:cNvPr id="18" name="Text 16"/>
          <p:cNvSpPr/>
          <p:nvPr/>
        </p:nvSpPr>
        <p:spPr>
          <a:xfrm>
            <a:off x="1353312" y="3218688"/>
            <a:ext cx="1783080" cy="219456"/>
          </a:xfrm>
          <a:prstGeom prst="rect">
            <a:avLst/>
          </a:prstGeom>
          <a:noFill/>
          <a:ln/>
        </p:spPr>
        <p:txBody>
          <a:bodyPr wrap="square" lIns="0" tIns="0" rIns="0" bIns="0" rtlCol="0" anchor="t">
            <a:normAutofit/>
          </a:bodyPr>
          <a:lstStyle/>
          <a:p>
            <a:pPr algn="l" indent="0" marL="0">
              <a:buNone/>
            </a:pPr>
            <a:r>
              <a:rPr lang="en-US" sz="1080" b="1" dirty="0">
                <a:solidFill>
                  <a:srgbClr val="F8FAFC"/>
                </a:solidFill>
                <a:latin typeface="Noto Sans CJK SC" pitchFamily="34" charset="0"/>
                <a:ea typeface="Noto Sans CJK SC" pitchFamily="34" charset="-122"/>
                <a:cs typeface="Noto Sans CJK SC" pitchFamily="34" charset="-120"/>
              </a:rPr>
              <a:t>Builder Guard API</a:t>
            </a:r>
            <a:endParaRPr lang="en-US" sz="1080" dirty="0"/>
          </a:p>
        </p:txBody>
      </p:sp>
      <p:sp>
        <p:nvSpPr>
          <p:cNvPr id="19" name="Text 17"/>
          <p:cNvSpPr/>
          <p:nvPr/>
        </p:nvSpPr>
        <p:spPr>
          <a:xfrm>
            <a:off x="3154680" y="3218688"/>
            <a:ext cx="2267712" cy="219456"/>
          </a:xfrm>
          <a:prstGeom prst="rect">
            <a:avLst/>
          </a:prstGeom>
          <a:noFill/>
          <a:ln/>
        </p:spPr>
        <p:txBody>
          <a:bodyPr wrap="square" lIns="0" tIns="0" rIns="0" bIns="0" rtlCol="0" anchor="t">
            <a:normAutofit/>
          </a:bodyPr>
          <a:lstStyle/>
          <a:p>
            <a:pPr algn="l" indent="0" marL="0">
              <a:buNone/>
            </a:pPr>
            <a:r>
              <a:rPr lang="en-US" sz="960" dirty="0">
                <a:solidFill>
                  <a:srgbClr val="9CA3AF"/>
                </a:solidFill>
                <a:latin typeface="Noto Sans CJK SC" pitchFamily="34" charset="0"/>
                <a:ea typeface="Noto Sans CJK SC" pitchFamily="34" charset="-122"/>
                <a:cs typeface="Noto Sans CJK SC" pitchFamily="34" charset="-120"/>
              </a:rPr>
              <a:t>Intent + Action → Report</a:t>
            </a:r>
            <a:endParaRPr lang="en-US" sz="960" dirty="0"/>
          </a:p>
        </p:txBody>
      </p:sp>
      <p:sp>
        <p:nvSpPr>
          <p:cNvPr id="20" name="Text 18"/>
          <p:cNvSpPr/>
          <p:nvPr/>
        </p:nvSpPr>
        <p:spPr>
          <a:xfrm>
            <a:off x="987552" y="3785616"/>
            <a:ext cx="310896" cy="201168"/>
          </a:xfrm>
          <a:prstGeom prst="rect">
            <a:avLst/>
          </a:prstGeom>
          <a:noFill/>
          <a:ln/>
        </p:spPr>
        <p:txBody>
          <a:bodyPr wrap="square" lIns="0" tIns="0" rIns="0" bIns="0" rtlCol="0" anchor="t">
            <a:normAutofit/>
          </a:bodyPr>
          <a:lstStyle/>
          <a:p>
            <a:pPr algn="l" indent="0" marL="0">
              <a:buNone/>
            </a:pPr>
            <a:r>
              <a:rPr lang="en-US" sz="1300" b="1" dirty="0">
                <a:solidFill>
                  <a:srgbClr val="22C55E"/>
                </a:solidFill>
                <a:latin typeface="Noto Sans CJK SC" pitchFamily="34" charset="0"/>
                <a:ea typeface="Noto Sans CJK SC" pitchFamily="34" charset="-122"/>
                <a:cs typeface="Noto Sans CJK SC" pitchFamily="34" charset="-120"/>
              </a:rPr>
              <a:t>→</a:t>
            </a:r>
            <a:endParaRPr lang="en-US" sz="1300" dirty="0"/>
          </a:p>
        </p:txBody>
      </p:sp>
      <p:sp>
        <p:nvSpPr>
          <p:cNvPr id="21" name="Text 19"/>
          <p:cNvSpPr/>
          <p:nvPr/>
        </p:nvSpPr>
        <p:spPr>
          <a:xfrm>
            <a:off x="1353312" y="3776472"/>
            <a:ext cx="1783080" cy="219456"/>
          </a:xfrm>
          <a:prstGeom prst="rect">
            <a:avLst/>
          </a:prstGeom>
          <a:noFill/>
          <a:ln/>
        </p:spPr>
        <p:txBody>
          <a:bodyPr wrap="square" lIns="0" tIns="0" rIns="0" bIns="0" rtlCol="0" anchor="t">
            <a:normAutofit/>
          </a:bodyPr>
          <a:lstStyle/>
          <a:p>
            <a:pPr algn="l" indent="0" marL="0">
              <a:buNone/>
            </a:pPr>
            <a:r>
              <a:rPr lang="en-US" sz="1080" b="1" dirty="0">
                <a:solidFill>
                  <a:srgbClr val="F8FAFC"/>
                </a:solidFill>
                <a:latin typeface="Noto Sans CJK SC" pitchFamily="34" charset="0"/>
                <a:ea typeface="Noto Sans CJK SC" pitchFamily="34" charset="-122"/>
                <a:cs typeface="Noto Sans CJK SC" pitchFamily="34" charset="-120"/>
              </a:rPr>
              <a:t>MCP Guard Server</a:t>
            </a:r>
            <a:endParaRPr lang="en-US" sz="1080" dirty="0"/>
          </a:p>
        </p:txBody>
      </p:sp>
      <p:sp>
        <p:nvSpPr>
          <p:cNvPr id="22" name="Text 20"/>
          <p:cNvSpPr/>
          <p:nvPr/>
        </p:nvSpPr>
        <p:spPr>
          <a:xfrm>
            <a:off x="3154680" y="3776472"/>
            <a:ext cx="2267712" cy="219456"/>
          </a:xfrm>
          <a:prstGeom prst="rect">
            <a:avLst/>
          </a:prstGeom>
          <a:noFill/>
          <a:ln/>
        </p:spPr>
        <p:txBody>
          <a:bodyPr wrap="square" lIns="0" tIns="0" rIns="0" bIns="0" rtlCol="0" anchor="t">
            <a:normAutofit/>
          </a:bodyPr>
          <a:lstStyle/>
          <a:p>
            <a:pPr algn="l" indent="0" marL="0">
              <a:buNone/>
            </a:pPr>
            <a:r>
              <a:rPr lang="en-US" sz="960" dirty="0">
                <a:solidFill>
                  <a:srgbClr val="9CA3AF"/>
                </a:solidFill>
                <a:latin typeface="Noto Sans CJK SC" pitchFamily="34" charset="0"/>
                <a:ea typeface="Noto Sans CJK SC" pitchFamily="34" charset="-122"/>
                <a:cs typeface="Noto Sans CJK SC" pitchFamily="34" charset="-120"/>
              </a:rPr>
              <a:t>Expose protected on-chain capabilities</a:t>
            </a:r>
            <a:endParaRPr lang="en-US" sz="960" dirty="0"/>
          </a:p>
        </p:txBody>
      </p:sp>
      <p:sp>
        <p:nvSpPr>
          <p:cNvPr id="23" name="Text 21"/>
          <p:cNvSpPr/>
          <p:nvPr/>
        </p:nvSpPr>
        <p:spPr>
          <a:xfrm>
            <a:off x="987552" y="4343400"/>
            <a:ext cx="310896" cy="201168"/>
          </a:xfrm>
          <a:prstGeom prst="rect">
            <a:avLst/>
          </a:prstGeom>
          <a:noFill/>
          <a:ln/>
        </p:spPr>
        <p:txBody>
          <a:bodyPr wrap="square" lIns="0" tIns="0" rIns="0" bIns="0" rtlCol="0" anchor="t">
            <a:normAutofit/>
          </a:bodyPr>
          <a:lstStyle/>
          <a:p>
            <a:pPr algn="l" indent="0" marL="0">
              <a:buNone/>
            </a:pPr>
            <a:r>
              <a:rPr lang="en-US" sz="1300" b="1" dirty="0">
                <a:solidFill>
                  <a:srgbClr val="22C55E"/>
                </a:solidFill>
                <a:latin typeface="Noto Sans CJK SC" pitchFamily="34" charset="0"/>
                <a:ea typeface="Noto Sans CJK SC" pitchFamily="34" charset="-122"/>
                <a:cs typeface="Noto Sans CJK SC" pitchFamily="34" charset="-120"/>
              </a:rPr>
              <a:t>→</a:t>
            </a:r>
            <a:endParaRPr lang="en-US" sz="1300" dirty="0"/>
          </a:p>
        </p:txBody>
      </p:sp>
      <p:sp>
        <p:nvSpPr>
          <p:cNvPr id="24" name="Text 22"/>
          <p:cNvSpPr/>
          <p:nvPr/>
        </p:nvSpPr>
        <p:spPr>
          <a:xfrm>
            <a:off x="1353312" y="4334256"/>
            <a:ext cx="1783080" cy="219456"/>
          </a:xfrm>
          <a:prstGeom prst="rect">
            <a:avLst/>
          </a:prstGeom>
          <a:noFill/>
          <a:ln/>
        </p:spPr>
        <p:txBody>
          <a:bodyPr wrap="square" lIns="0" tIns="0" rIns="0" bIns="0" rtlCol="0" anchor="t">
            <a:normAutofit/>
          </a:bodyPr>
          <a:lstStyle/>
          <a:p>
            <a:pPr algn="l" indent="0" marL="0">
              <a:buNone/>
            </a:pPr>
            <a:r>
              <a:rPr lang="en-US" sz="1080" b="1" dirty="0">
                <a:solidFill>
                  <a:srgbClr val="F8FAFC"/>
                </a:solidFill>
                <a:latin typeface="Noto Sans CJK SC" pitchFamily="34" charset="0"/>
                <a:ea typeface="Noto Sans CJK SC" pitchFamily="34" charset="-122"/>
                <a:cs typeface="Noto Sans CJK SC" pitchFamily="34" charset="-120"/>
              </a:rPr>
              <a:t>Enterprise Policy</a:t>
            </a:r>
            <a:endParaRPr lang="en-US" sz="1080" dirty="0"/>
          </a:p>
        </p:txBody>
      </p:sp>
      <p:sp>
        <p:nvSpPr>
          <p:cNvPr id="25" name="Text 23"/>
          <p:cNvSpPr/>
          <p:nvPr/>
        </p:nvSpPr>
        <p:spPr>
          <a:xfrm>
            <a:off x="3154680" y="4334256"/>
            <a:ext cx="2267712" cy="219456"/>
          </a:xfrm>
          <a:prstGeom prst="rect">
            <a:avLst/>
          </a:prstGeom>
          <a:noFill/>
          <a:ln/>
        </p:spPr>
        <p:txBody>
          <a:bodyPr wrap="square" lIns="0" tIns="0" rIns="0" bIns="0" rtlCol="0" anchor="t">
            <a:normAutofit/>
          </a:bodyPr>
          <a:lstStyle/>
          <a:p>
            <a:pPr algn="l" indent="0" marL="0">
              <a:buNone/>
            </a:pPr>
            <a:r>
              <a:rPr lang="en-US" sz="960" dirty="0">
                <a:solidFill>
                  <a:srgbClr val="9CA3AF"/>
                </a:solidFill>
                <a:latin typeface="Noto Sans CJK SC" pitchFamily="34" charset="0"/>
                <a:ea typeface="Noto Sans CJK SC" pitchFamily="34" charset="-122"/>
                <a:cs typeface="Noto Sans CJK SC" pitchFamily="34" charset="-120"/>
              </a:rPr>
              <a:t>Amount, protocol, approval, and policy rules</a:t>
            </a:r>
            <a:endParaRPr lang="en-US" sz="960" dirty="0"/>
          </a:p>
        </p:txBody>
      </p:sp>
      <p:sp>
        <p:nvSpPr>
          <p:cNvPr id="26" name="Shape 24"/>
          <p:cNvSpPr/>
          <p:nvPr/>
        </p:nvSpPr>
        <p:spPr>
          <a:xfrm>
            <a:off x="6144768" y="1773936"/>
            <a:ext cx="5394960" cy="3355848"/>
          </a:xfrm>
          <a:prstGeom prst="roundRect">
            <a:avLst>
              <a:gd name="adj" fmla="val 2452"/>
            </a:avLst>
          </a:prstGeom>
          <a:solidFill>
            <a:srgbClr val="111126"/>
          </a:solidFill>
          <a:ln w="10160">
            <a:solidFill>
              <a:srgbClr val="292747"/>
            </a:solidFill>
            <a:prstDash val="solid"/>
          </a:ln>
          <a:effectLst>
            <a:outerShdw sx="100000" sy="100000" kx="0" ky="0" algn="bl" rotWithShape="0" blurRad="7.872687622342685e+102" dist="4.723612573405612e+102" dir="1.2793629613468366e+121">
              <a:srgbClr val="000000">
                <a:alpha val="2.5e+124"/>
              </a:srgbClr>
            </a:outerShdw>
          </a:effectLst>
        </p:spPr>
        <p:txBody>
          <a:bodyPr/>
          <a:p/>
        </p:txBody>
      </p:sp>
      <p:sp>
        <p:nvSpPr>
          <p:cNvPr id="27" name="Shape 25"/>
          <p:cNvSpPr/>
          <p:nvPr/>
        </p:nvSpPr>
        <p:spPr>
          <a:xfrm>
            <a:off x="6455664" y="2048256"/>
            <a:ext cx="1335024" cy="292608"/>
          </a:xfrm>
          <a:prstGeom prst="roundRect">
            <a:avLst>
              <a:gd name="adj" fmla="val 25000"/>
            </a:avLst>
          </a:prstGeom>
          <a:solidFill>
            <a:srgbClr val="F59E0B">
              <a:alpha val="15000"/>
            </a:srgbClr>
          </a:solidFill>
          <a:ln w="8890">
            <a:solidFill>
              <a:srgbClr val="F59E0B">
                <a:alpha val="55000"/>
              </a:srgbClr>
            </a:solidFill>
            <a:prstDash val="solid"/>
          </a:ln>
        </p:spPr>
        <p:txBody>
          <a:bodyPr/>
          <a:p/>
        </p:txBody>
      </p:sp>
      <p:sp>
        <p:nvSpPr>
          <p:cNvPr id="28" name="Text 26"/>
          <p:cNvSpPr/>
          <p:nvPr/>
        </p:nvSpPr>
        <p:spPr>
          <a:xfrm>
            <a:off x="6455664" y="2052828"/>
            <a:ext cx="1335024" cy="256032"/>
          </a:xfrm>
          <a:prstGeom prst="rect">
            <a:avLst/>
          </a:prstGeom>
          <a:noFill/>
          <a:ln/>
        </p:spPr>
        <p:txBody>
          <a:bodyPr wrap="square" lIns="0" tIns="0" rIns="0" bIns="0" rtlCol="0" anchor="ctr"/>
          <a:lstStyle/>
          <a:p>
            <a:pPr algn="ctr" indent="0" marL="0">
              <a:buNone/>
            </a:pPr>
            <a:r>
              <a:rPr lang="en-US" sz="850" b="1" dirty="0">
                <a:solidFill>
                  <a:srgbClr val="F59E0B"/>
                </a:solidFill>
                <a:latin typeface="Noto Sans CJK SC" pitchFamily="34" charset="0"/>
                <a:ea typeface="Noto Sans CJK SC" pitchFamily="34" charset="-122"/>
                <a:cs typeface="Noto Sans CJK SC" pitchFamily="34" charset="-120"/>
              </a:rPr>
              <a:t>CURRENT LIMITS</a:t>
            </a:r>
            <a:endParaRPr lang="en-US" sz="850" dirty="0"/>
          </a:p>
        </p:txBody>
      </p:sp>
      <p:sp>
        <p:nvSpPr>
          <p:cNvPr id="29" name="Text 27"/>
          <p:cNvSpPr/>
          <p:nvPr/>
        </p:nvSpPr>
        <p:spPr>
          <a:xfrm>
            <a:off x="6473952" y="2697480"/>
            <a:ext cx="219456" cy="201168"/>
          </a:xfrm>
          <a:prstGeom prst="rect">
            <a:avLst/>
          </a:prstGeom>
          <a:noFill/>
          <a:ln/>
        </p:spPr>
        <p:txBody>
          <a:bodyPr wrap="square" lIns="0" tIns="0" rIns="0" bIns="0" rtlCol="0" anchor="t">
            <a:normAutofit/>
          </a:bodyPr>
          <a:lstStyle/>
          <a:p>
            <a:pPr algn="l" indent="0" marL="0">
              <a:buNone/>
            </a:pPr>
            <a:r>
              <a:rPr lang="en-US" sz="1400" b="1" dirty="0">
                <a:solidFill>
                  <a:srgbClr val="F59E0B"/>
                </a:solidFill>
                <a:latin typeface="Noto Sans CJK SC" pitchFamily="34" charset="0"/>
                <a:ea typeface="Noto Sans CJK SC" pitchFamily="34" charset="-122"/>
                <a:cs typeface="Noto Sans CJK SC" pitchFamily="34" charset="-120"/>
              </a:rPr>
              <a:t>•</a:t>
            </a:r>
            <a:endParaRPr lang="en-US" sz="1400" dirty="0"/>
          </a:p>
        </p:txBody>
      </p:sp>
      <p:sp>
        <p:nvSpPr>
          <p:cNvPr id="30" name="Text 28"/>
          <p:cNvSpPr/>
          <p:nvPr/>
        </p:nvSpPr>
        <p:spPr>
          <a:xfrm>
            <a:off x="6784848" y="2688336"/>
            <a:ext cx="4187952" cy="256032"/>
          </a:xfrm>
          <a:prstGeom prst="rect">
            <a:avLst/>
          </a:prstGeom>
          <a:noFill/>
          <a:ln/>
        </p:spPr>
        <p:txBody>
          <a:bodyPr wrap="square" lIns="0" tIns="0" rIns="0" bIns="0" rtlCol="0" anchor="t">
            <a:normAutofit/>
          </a:bodyPr>
          <a:lstStyle/>
          <a:p>
            <a:pPr algn="l" indent="0" marL="0">
              <a:buNone/>
            </a:pPr>
            <a:r>
              <a:rPr lang="en-US" sz="1030" dirty="0">
                <a:solidFill>
                  <a:srgbClr val="E5E7EB"/>
                </a:solidFill>
                <a:latin typeface="Noto Sans CJK SC" pitchFamily="34" charset="0"/>
                <a:ea typeface="Noto Sans CJK SC" pitchFamily="34" charset="-122"/>
                <a:cs typeface="Noto Sans CJK SC" pitchFamily="34" charset="-120"/>
              </a:rPr>
              <a:t>MVP supports Transfer / Approval / Kuru Swap only</a:t>
            </a:r>
            <a:endParaRPr lang="en-US" sz="1030" dirty="0"/>
          </a:p>
        </p:txBody>
      </p:sp>
      <p:sp>
        <p:nvSpPr>
          <p:cNvPr id="31" name="Text 29"/>
          <p:cNvSpPr/>
          <p:nvPr/>
        </p:nvSpPr>
        <p:spPr>
          <a:xfrm>
            <a:off x="6473952" y="3246120"/>
            <a:ext cx="219456" cy="201168"/>
          </a:xfrm>
          <a:prstGeom prst="rect">
            <a:avLst/>
          </a:prstGeom>
          <a:noFill/>
          <a:ln/>
        </p:spPr>
        <p:txBody>
          <a:bodyPr wrap="square" lIns="0" tIns="0" rIns="0" bIns="0" rtlCol="0" anchor="t">
            <a:normAutofit/>
          </a:bodyPr>
          <a:lstStyle/>
          <a:p>
            <a:pPr algn="l" indent="0" marL="0">
              <a:buNone/>
            </a:pPr>
            <a:r>
              <a:rPr lang="en-US" sz="1400" b="1" dirty="0">
                <a:solidFill>
                  <a:srgbClr val="F59E0B"/>
                </a:solidFill>
                <a:latin typeface="Noto Sans CJK SC" pitchFamily="34" charset="0"/>
                <a:ea typeface="Noto Sans CJK SC" pitchFamily="34" charset="-122"/>
                <a:cs typeface="Noto Sans CJK SC" pitchFamily="34" charset="-120"/>
              </a:rPr>
              <a:t>•</a:t>
            </a:r>
            <a:endParaRPr lang="en-US" sz="1400" dirty="0"/>
          </a:p>
        </p:txBody>
      </p:sp>
      <p:sp>
        <p:nvSpPr>
          <p:cNvPr id="32" name="Text 30"/>
          <p:cNvSpPr/>
          <p:nvPr/>
        </p:nvSpPr>
        <p:spPr>
          <a:xfrm>
            <a:off x="6784848" y="3236976"/>
            <a:ext cx="4187952" cy="256032"/>
          </a:xfrm>
          <a:prstGeom prst="rect">
            <a:avLst/>
          </a:prstGeom>
          <a:noFill/>
          <a:ln/>
        </p:spPr>
        <p:txBody>
          <a:bodyPr wrap="square" lIns="0" tIns="0" rIns="0" bIns="0" rtlCol="0" anchor="t">
            <a:normAutofit/>
          </a:bodyPr>
          <a:lstStyle/>
          <a:p>
            <a:pPr algn="l" indent="0" marL="0">
              <a:buNone/>
            </a:pPr>
            <a:r>
              <a:rPr lang="en-US" sz="1030" dirty="0">
                <a:solidFill>
                  <a:srgbClr val="E5E7EB"/>
                </a:solidFill>
                <a:latin typeface="Noto Sans CJK SC" pitchFamily="34" charset="0"/>
                <a:ea typeface="Noto Sans CJK SC" pitchFamily="34" charset="-122"/>
                <a:cs typeface="Noto Sans CJK SC" pitchFamily="34" charset="-120"/>
              </a:rPr>
              <a:t>Simulation is a snapshot of on-chain state, not a guarantee of future execution</a:t>
            </a:r>
            <a:endParaRPr lang="en-US" sz="1030" dirty="0"/>
          </a:p>
        </p:txBody>
      </p:sp>
      <p:sp>
        <p:nvSpPr>
          <p:cNvPr id="33" name="Text 31"/>
          <p:cNvSpPr/>
          <p:nvPr/>
        </p:nvSpPr>
        <p:spPr>
          <a:xfrm>
            <a:off x="6473952" y="3794760"/>
            <a:ext cx="219456" cy="201168"/>
          </a:xfrm>
          <a:prstGeom prst="rect">
            <a:avLst/>
          </a:prstGeom>
          <a:noFill/>
          <a:ln/>
        </p:spPr>
        <p:txBody>
          <a:bodyPr wrap="square" lIns="0" tIns="0" rIns="0" bIns="0" rtlCol="0" anchor="t">
            <a:normAutofit/>
          </a:bodyPr>
          <a:lstStyle/>
          <a:p>
            <a:pPr algn="l" indent="0" marL="0">
              <a:buNone/>
            </a:pPr>
            <a:r>
              <a:rPr lang="en-US" sz="1400" b="1" dirty="0">
                <a:solidFill>
                  <a:srgbClr val="F59E0B"/>
                </a:solidFill>
                <a:latin typeface="Noto Sans CJK SC" pitchFamily="34" charset="0"/>
                <a:ea typeface="Noto Sans CJK SC" pitchFamily="34" charset="-122"/>
                <a:cs typeface="Noto Sans CJK SC" pitchFamily="34" charset="-120"/>
              </a:rPr>
              <a:t>•</a:t>
            </a:r>
            <a:endParaRPr lang="en-US" sz="1400" dirty="0"/>
          </a:p>
        </p:txBody>
      </p:sp>
      <p:sp>
        <p:nvSpPr>
          <p:cNvPr id="34" name="Text 32"/>
          <p:cNvSpPr/>
          <p:nvPr/>
        </p:nvSpPr>
        <p:spPr>
          <a:xfrm>
            <a:off x="6784848" y="3785616"/>
            <a:ext cx="4187952" cy="256032"/>
          </a:xfrm>
          <a:prstGeom prst="rect">
            <a:avLst/>
          </a:prstGeom>
          <a:noFill/>
          <a:ln/>
        </p:spPr>
        <p:txBody>
          <a:bodyPr wrap="square" lIns="0" tIns="0" rIns="0" bIns="0" rtlCol="0" anchor="t">
            <a:normAutofit/>
          </a:bodyPr>
          <a:lstStyle/>
          <a:p>
            <a:pPr algn="l" indent="0" marL="0">
              <a:buNone/>
            </a:pPr>
            <a:r>
              <a:rPr lang="en-US" sz="1030" dirty="0">
                <a:solidFill>
                  <a:srgbClr val="E5E7EB"/>
                </a:solidFill>
                <a:latin typeface="Noto Sans CJK SC" pitchFamily="34" charset="0"/>
                <a:ea typeface="Noto Sans CJK SC" pitchFamily="34" charset="-122"/>
                <a:cs typeface="Noto Sans CJK SC" pitchFamily="34" charset="-120"/>
              </a:rPr>
              <a:t>Depends on AI provider, Monad RPC, and protocol availability</a:t>
            </a:r>
            <a:endParaRPr lang="en-US" sz="1030" dirty="0"/>
          </a:p>
        </p:txBody>
      </p:sp>
      <p:sp>
        <p:nvSpPr>
          <p:cNvPr id="35" name="Text 33"/>
          <p:cNvSpPr/>
          <p:nvPr/>
        </p:nvSpPr>
        <p:spPr>
          <a:xfrm>
            <a:off x="6473952" y="4343400"/>
            <a:ext cx="219456" cy="201168"/>
          </a:xfrm>
          <a:prstGeom prst="rect">
            <a:avLst/>
          </a:prstGeom>
          <a:noFill/>
          <a:ln/>
        </p:spPr>
        <p:txBody>
          <a:bodyPr wrap="square" lIns="0" tIns="0" rIns="0" bIns="0" rtlCol="0" anchor="t">
            <a:normAutofit/>
          </a:bodyPr>
          <a:lstStyle/>
          <a:p>
            <a:pPr algn="l" indent="0" marL="0">
              <a:buNone/>
            </a:pPr>
            <a:r>
              <a:rPr lang="en-US" sz="1400" b="1" dirty="0">
                <a:solidFill>
                  <a:srgbClr val="F59E0B"/>
                </a:solidFill>
                <a:latin typeface="Noto Sans CJK SC" pitchFamily="34" charset="0"/>
                <a:ea typeface="Noto Sans CJK SC" pitchFamily="34" charset="-122"/>
                <a:cs typeface="Noto Sans CJK SC" pitchFamily="34" charset="-120"/>
              </a:rPr>
              <a:t>•</a:t>
            </a:r>
            <a:endParaRPr lang="en-US" sz="1400" dirty="0"/>
          </a:p>
        </p:txBody>
      </p:sp>
      <p:sp>
        <p:nvSpPr>
          <p:cNvPr id="36" name="Text 34"/>
          <p:cNvSpPr/>
          <p:nvPr/>
        </p:nvSpPr>
        <p:spPr>
          <a:xfrm>
            <a:off x="6784848" y="4334256"/>
            <a:ext cx="4187952" cy="256032"/>
          </a:xfrm>
          <a:prstGeom prst="rect">
            <a:avLst/>
          </a:prstGeom>
          <a:noFill/>
          <a:ln/>
        </p:spPr>
        <p:txBody>
          <a:bodyPr wrap="square" lIns="0" tIns="0" rIns="0" bIns="0" rtlCol="0" anchor="t">
            <a:normAutofit/>
          </a:bodyPr>
          <a:lstStyle/>
          <a:p>
            <a:pPr algn="l" indent="0" marL="0">
              <a:buNone/>
            </a:pPr>
            <a:r>
              <a:rPr lang="en-US" sz="1030" dirty="0">
                <a:solidFill>
                  <a:srgbClr val="E5E7EB"/>
                </a:solidFill>
                <a:latin typeface="Noto Sans CJK SC" pitchFamily="34" charset="0"/>
                <a:ea typeface="Noto Sans CJK SC" pitchFamily="34" charset="-122"/>
                <a:cs typeface="Noto Sans CJK SC" pitchFamily="34" charset="-120"/>
              </a:rPr>
              <a:t>Moss is currently unaudited alpha; do not use with production funds</a:t>
            </a:r>
            <a:endParaRPr lang="en-US" sz="1030" dirty="0"/>
          </a:p>
        </p:txBody>
      </p:sp>
      <p:sp>
        <p:nvSpPr>
          <p:cNvPr id="37" name="Text 35"/>
          <p:cNvSpPr/>
          <p:nvPr/>
        </p:nvSpPr>
        <p:spPr>
          <a:xfrm>
            <a:off x="713232" y="5449824"/>
            <a:ext cx="1097280" cy="219456"/>
          </a:xfrm>
          <a:prstGeom prst="rect">
            <a:avLst/>
          </a:prstGeom>
          <a:noFill/>
          <a:ln/>
        </p:spPr>
        <p:txBody>
          <a:bodyPr wrap="square" lIns="0" tIns="0" rIns="0" bIns="0" rtlCol="0" anchor="t">
            <a:normAutofit/>
          </a:bodyPr>
          <a:lstStyle/>
          <a:p>
            <a:pPr algn="l" indent="0" marL="0">
              <a:buNone/>
            </a:pPr>
            <a:r>
              <a:rPr lang="en-US" sz="950" b="1" spc="100" kern="0" dirty="0">
                <a:solidFill>
                  <a:srgbClr val="A78BFA"/>
                </a:solidFill>
                <a:latin typeface="Noto Sans CJK SC" pitchFamily="34" charset="0"/>
                <a:ea typeface="Noto Sans CJK SC" pitchFamily="34" charset="-122"/>
                <a:cs typeface="Noto Sans CJK SC" pitchFamily="34" charset="-120"/>
              </a:rPr>
              <a:t>ROADMAP</a:t>
            </a:r>
            <a:endParaRPr lang="en-US" sz="950" dirty="0"/>
          </a:p>
        </p:txBody>
      </p:sp>
      <p:sp>
        <p:nvSpPr>
          <p:cNvPr id="38" name="Shape 36"/>
          <p:cNvSpPr/>
          <p:nvPr/>
        </p:nvSpPr>
        <p:spPr>
          <a:xfrm>
            <a:off x="1965960" y="5925312"/>
            <a:ext cx="8092440" cy="0"/>
          </a:xfrm>
          <a:prstGeom prst="line">
            <a:avLst/>
          </a:prstGeom>
          <a:noFill/>
          <a:ln w="27940">
            <a:solidFill>
              <a:srgbClr val="8B5CF6"/>
            </a:solidFill>
            <a:prstDash val="solid"/>
          </a:ln>
        </p:spPr>
        <p:txBody>
          <a:bodyPr/>
          <a:p/>
        </p:txBody>
      </p:sp>
      <p:sp>
        <p:nvSpPr>
          <p:cNvPr id="39" name="Shape 37"/>
          <p:cNvSpPr/>
          <p:nvPr/>
        </p:nvSpPr>
        <p:spPr>
          <a:xfrm>
            <a:off x="1691640" y="5724144"/>
            <a:ext cx="402336" cy="402336"/>
          </a:xfrm>
          <a:prstGeom prst="ellipse">
            <a:avLst/>
          </a:prstGeom>
          <a:solidFill>
            <a:srgbClr val="22C55E">
              <a:alpha val="95000"/>
            </a:srgbClr>
          </a:solidFill>
          <a:ln w="12700">
            <a:solidFill>
              <a:srgbClr val="22C55E"/>
            </a:solidFill>
            <a:prstDash val="solid"/>
          </a:ln>
        </p:spPr>
        <p:txBody>
          <a:bodyPr/>
          <a:p/>
        </p:txBody>
      </p:sp>
      <p:sp>
        <p:nvSpPr>
          <p:cNvPr id="40" name="Text 38"/>
          <p:cNvSpPr/>
          <p:nvPr/>
        </p:nvSpPr>
        <p:spPr>
          <a:xfrm>
            <a:off x="1005840" y="6153912"/>
            <a:ext cx="1783080" cy="201168"/>
          </a:xfrm>
          <a:prstGeom prst="rect">
            <a:avLst/>
          </a:prstGeom>
          <a:noFill/>
          <a:ln/>
        </p:spPr>
        <p:txBody>
          <a:bodyPr wrap="square" lIns="0" tIns="0" rIns="0" bIns="0" rtlCol="0" anchor="t">
            <a:normAutofit/>
          </a:bodyPr>
          <a:lstStyle/>
          <a:p>
            <a:pPr algn="ctr" indent="0" marL="0">
              <a:buNone/>
            </a:pPr>
            <a:r>
              <a:rPr lang="en-US" sz="980" b="1" dirty="0">
                <a:solidFill>
                  <a:srgbClr val="F8FAFC"/>
                </a:solidFill>
                <a:latin typeface="Noto Sans CJK SC" pitchFamily="34" charset="0"/>
                <a:ea typeface="Noto Sans CJK SC" pitchFamily="34" charset="-122"/>
                <a:cs typeface="Noto Sans CJK SC" pitchFamily="34" charset="-120"/>
              </a:rPr>
              <a:t>Hackathon MVP</a:t>
            </a:r>
            <a:endParaRPr lang="en-US" sz="980" dirty="0"/>
          </a:p>
        </p:txBody>
      </p:sp>
      <p:sp>
        <p:nvSpPr>
          <p:cNvPr id="41" name="Text 39"/>
          <p:cNvSpPr/>
          <p:nvPr/>
        </p:nvSpPr>
        <p:spPr>
          <a:xfrm>
            <a:off x="941832" y="6382512"/>
            <a:ext cx="1920240" cy="164592"/>
          </a:xfrm>
          <a:prstGeom prst="rect">
            <a:avLst/>
          </a:prstGeom>
          <a:noFill/>
          <a:ln/>
        </p:spPr>
        <p:txBody>
          <a:bodyPr wrap="square" lIns="0" tIns="0" rIns="0" bIns="0" rtlCol="0" anchor="t">
            <a:normAutofit/>
          </a:bodyPr>
          <a:lstStyle/>
          <a:p>
            <a:pPr algn="ctr" indent="0" marL="0">
              <a:buNone/>
            </a:pPr>
            <a:r>
              <a:rPr lang="en-US" sz="780" dirty="0">
                <a:solidFill>
                  <a:srgbClr val="9CA3AF"/>
                </a:solidFill>
                <a:latin typeface="Noto Sans CJK SC" pitchFamily="34" charset="0"/>
                <a:ea typeface="Noto Sans CJK SC" pitchFamily="34" charset="-122"/>
                <a:cs typeface="Noto Sans CJK SC" pitchFamily="34" charset="-120"/>
              </a:rPr>
              <a:t>3 scenarios</a:t>
            </a:r>
            <a:endParaRPr lang="en-US" sz="780" dirty="0"/>
          </a:p>
        </p:txBody>
      </p:sp>
      <p:sp>
        <p:nvSpPr>
          <p:cNvPr id="42" name="Shape 40"/>
          <p:cNvSpPr/>
          <p:nvPr/>
        </p:nvSpPr>
        <p:spPr>
          <a:xfrm>
            <a:off x="4160520" y="5724144"/>
            <a:ext cx="402336" cy="402336"/>
          </a:xfrm>
          <a:prstGeom prst="ellipse">
            <a:avLst/>
          </a:prstGeom>
          <a:solidFill>
            <a:srgbClr val="8B5CF6">
              <a:alpha val="75000"/>
            </a:srgbClr>
          </a:solidFill>
          <a:ln w="12700">
            <a:solidFill>
              <a:srgbClr val="8B5CF6"/>
            </a:solidFill>
            <a:prstDash val="solid"/>
          </a:ln>
        </p:spPr>
        <p:txBody>
          <a:bodyPr/>
          <a:p/>
        </p:txBody>
      </p:sp>
      <p:sp>
        <p:nvSpPr>
          <p:cNvPr id="43" name="Text 41"/>
          <p:cNvSpPr/>
          <p:nvPr/>
        </p:nvSpPr>
        <p:spPr>
          <a:xfrm>
            <a:off x="3474720" y="6153912"/>
            <a:ext cx="1783080" cy="201168"/>
          </a:xfrm>
          <a:prstGeom prst="rect">
            <a:avLst/>
          </a:prstGeom>
          <a:noFill/>
          <a:ln/>
        </p:spPr>
        <p:txBody>
          <a:bodyPr wrap="square" lIns="0" tIns="0" rIns="0" bIns="0" rtlCol="0" anchor="t">
            <a:normAutofit/>
          </a:bodyPr>
          <a:lstStyle/>
          <a:p>
            <a:pPr algn="ctr" indent="0" marL="0">
              <a:buNone/>
            </a:pPr>
            <a:r>
              <a:rPr lang="en-US" sz="980" b="1" dirty="0">
                <a:solidFill>
                  <a:srgbClr val="F8FAFC"/>
                </a:solidFill>
                <a:latin typeface="Noto Sans CJK SC" pitchFamily="34" charset="0"/>
                <a:ea typeface="Noto Sans CJK SC" pitchFamily="34" charset="-122"/>
                <a:cs typeface="Noto Sans CJK SC" pitchFamily="34" charset="-120"/>
              </a:rPr>
              <a:t>Guard SDK / API</a:t>
            </a:r>
            <a:endParaRPr lang="en-US" sz="980" dirty="0"/>
          </a:p>
        </p:txBody>
      </p:sp>
      <p:sp>
        <p:nvSpPr>
          <p:cNvPr id="44" name="Text 42"/>
          <p:cNvSpPr/>
          <p:nvPr/>
        </p:nvSpPr>
        <p:spPr>
          <a:xfrm>
            <a:off x="3410712" y="6382512"/>
            <a:ext cx="1920240" cy="164592"/>
          </a:xfrm>
          <a:prstGeom prst="rect">
            <a:avLst/>
          </a:prstGeom>
          <a:noFill/>
          <a:ln/>
        </p:spPr>
        <p:txBody>
          <a:bodyPr wrap="square" lIns="0" tIns="0" rIns="0" bIns="0" rtlCol="0" anchor="t">
            <a:normAutofit/>
          </a:bodyPr>
          <a:lstStyle/>
          <a:p>
            <a:pPr algn="ctr" indent="0" marL="0">
              <a:buNone/>
            </a:pPr>
            <a:r>
              <a:rPr lang="en-US" sz="780" dirty="0">
                <a:solidFill>
                  <a:srgbClr val="9CA3AF"/>
                </a:solidFill>
                <a:latin typeface="Noto Sans CJK SC" pitchFamily="34" charset="0"/>
                <a:ea typeface="Noto Sans CJK SC" pitchFamily="34" charset="-122"/>
                <a:cs typeface="Noto Sans CJK SC" pitchFamily="34" charset="-120"/>
              </a:rPr>
              <a:t>Builder-ready</a:t>
            </a:r>
            <a:endParaRPr lang="en-US" sz="780" dirty="0"/>
          </a:p>
        </p:txBody>
      </p:sp>
      <p:sp>
        <p:nvSpPr>
          <p:cNvPr id="45" name="Shape 43"/>
          <p:cNvSpPr/>
          <p:nvPr/>
        </p:nvSpPr>
        <p:spPr>
          <a:xfrm>
            <a:off x="6629400" y="5724144"/>
            <a:ext cx="402336" cy="402336"/>
          </a:xfrm>
          <a:prstGeom prst="ellipse">
            <a:avLst/>
          </a:prstGeom>
          <a:solidFill>
            <a:srgbClr val="8B5CF6">
              <a:alpha val="75000"/>
            </a:srgbClr>
          </a:solidFill>
          <a:ln w="12700">
            <a:solidFill>
              <a:srgbClr val="8B5CF6"/>
            </a:solidFill>
            <a:prstDash val="solid"/>
          </a:ln>
        </p:spPr>
        <p:txBody>
          <a:bodyPr/>
          <a:p/>
        </p:txBody>
      </p:sp>
      <p:sp>
        <p:nvSpPr>
          <p:cNvPr id="46" name="Text 44"/>
          <p:cNvSpPr/>
          <p:nvPr/>
        </p:nvSpPr>
        <p:spPr>
          <a:xfrm>
            <a:off x="5943600" y="6153912"/>
            <a:ext cx="1783080" cy="201168"/>
          </a:xfrm>
          <a:prstGeom prst="rect">
            <a:avLst/>
          </a:prstGeom>
          <a:noFill/>
          <a:ln/>
        </p:spPr>
        <p:txBody>
          <a:bodyPr wrap="square" lIns="0" tIns="0" rIns="0" bIns="0" rtlCol="0" anchor="t">
            <a:normAutofit/>
          </a:bodyPr>
          <a:lstStyle/>
          <a:p>
            <a:pPr algn="ctr" indent="0" marL="0">
              <a:buNone/>
            </a:pPr>
            <a:r>
              <a:rPr lang="en-US" sz="980" b="1" dirty="0">
                <a:solidFill>
                  <a:srgbClr val="F8FAFC"/>
                </a:solidFill>
                <a:latin typeface="Noto Sans CJK SC" pitchFamily="34" charset="0"/>
                <a:ea typeface="Noto Sans CJK SC" pitchFamily="34" charset="-122"/>
                <a:cs typeface="Noto Sans CJK SC" pitchFamily="34" charset="-120"/>
              </a:rPr>
              <a:t>Wallet Integration</a:t>
            </a:r>
            <a:endParaRPr lang="en-US" sz="980" dirty="0"/>
          </a:p>
        </p:txBody>
      </p:sp>
      <p:sp>
        <p:nvSpPr>
          <p:cNvPr id="47" name="Text 45"/>
          <p:cNvSpPr/>
          <p:nvPr/>
        </p:nvSpPr>
        <p:spPr>
          <a:xfrm>
            <a:off x="5879592" y="6382512"/>
            <a:ext cx="1920240" cy="164592"/>
          </a:xfrm>
          <a:prstGeom prst="rect">
            <a:avLst/>
          </a:prstGeom>
          <a:noFill/>
          <a:ln/>
        </p:spPr>
        <p:txBody>
          <a:bodyPr wrap="square" lIns="0" tIns="0" rIns="0" bIns="0" rtlCol="0" anchor="t">
            <a:normAutofit/>
          </a:bodyPr>
          <a:lstStyle/>
          <a:p>
            <a:pPr algn="ctr" indent="0" marL="0">
              <a:buNone/>
            </a:pPr>
            <a:r>
              <a:rPr lang="en-US" sz="780" dirty="0">
                <a:solidFill>
                  <a:srgbClr val="9CA3AF"/>
                </a:solidFill>
                <a:latin typeface="Noto Sans CJK SC" pitchFamily="34" charset="0"/>
                <a:ea typeface="Noto Sans CJK SC" pitchFamily="34" charset="-122"/>
                <a:cs typeface="Noto Sans CJK SC" pitchFamily="34" charset="-120"/>
              </a:rPr>
              <a:t>Signer attestation</a:t>
            </a:r>
            <a:endParaRPr lang="en-US" sz="780" dirty="0"/>
          </a:p>
        </p:txBody>
      </p:sp>
      <p:sp>
        <p:nvSpPr>
          <p:cNvPr id="48" name="Shape 46"/>
          <p:cNvSpPr/>
          <p:nvPr/>
        </p:nvSpPr>
        <p:spPr>
          <a:xfrm>
            <a:off x="9098280" y="5724144"/>
            <a:ext cx="402336" cy="402336"/>
          </a:xfrm>
          <a:prstGeom prst="ellipse">
            <a:avLst/>
          </a:prstGeom>
          <a:solidFill>
            <a:srgbClr val="8B5CF6">
              <a:alpha val="75000"/>
            </a:srgbClr>
          </a:solidFill>
          <a:ln w="12700">
            <a:solidFill>
              <a:srgbClr val="8B5CF6"/>
            </a:solidFill>
            <a:prstDash val="solid"/>
          </a:ln>
        </p:spPr>
        <p:txBody>
          <a:bodyPr/>
          <a:p/>
        </p:txBody>
      </p:sp>
      <p:sp>
        <p:nvSpPr>
          <p:cNvPr id="49" name="Text 47"/>
          <p:cNvSpPr/>
          <p:nvPr/>
        </p:nvSpPr>
        <p:spPr>
          <a:xfrm>
            <a:off x="8412480" y="6153912"/>
            <a:ext cx="1783080" cy="201168"/>
          </a:xfrm>
          <a:prstGeom prst="rect">
            <a:avLst/>
          </a:prstGeom>
          <a:noFill/>
          <a:ln/>
        </p:spPr>
        <p:txBody>
          <a:bodyPr wrap="square" lIns="0" tIns="0" rIns="0" bIns="0" rtlCol="0" anchor="t">
            <a:normAutofit/>
          </a:bodyPr>
          <a:lstStyle/>
          <a:p>
            <a:pPr algn="ctr" indent="0" marL="0">
              <a:buNone/>
            </a:pPr>
            <a:r>
              <a:rPr lang="en-US" sz="980" b="1" dirty="0">
                <a:solidFill>
                  <a:srgbClr val="F8FAFC"/>
                </a:solidFill>
                <a:latin typeface="Noto Sans CJK SC" pitchFamily="34" charset="0"/>
                <a:ea typeface="Noto Sans CJK SC" pitchFamily="34" charset="-122"/>
                <a:cs typeface="Noto Sans CJK SC" pitchFamily="34" charset="-120"/>
              </a:rPr>
              <a:t>Multi-Protocol Policy</a:t>
            </a:r>
            <a:endParaRPr lang="en-US" sz="980" dirty="0"/>
          </a:p>
        </p:txBody>
      </p:sp>
      <p:sp>
        <p:nvSpPr>
          <p:cNvPr id="50" name="Text 48"/>
          <p:cNvSpPr/>
          <p:nvPr/>
        </p:nvSpPr>
        <p:spPr>
          <a:xfrm>
            <a:off x="8348472" y="6382512"/>
            <a:ext cx="1920240" cy="164592"/>
          </a:xfrm>
          <a:prstGeom prst="rect">
            <a:avLst/>
          </a:prstGeom>
          <a:noFill/>
          <a:ln/>
        </p:spPr>
        <p:txBody>
          <a:bodyPr wrap="square" lIns="0" tIns="0" rIns="0" bIns="0" rtlCol="0" anchor="t">
            <a:normAutofit/>
          </a:bodyPr>
          <a:lstStyle/>
          <a:p>
            <a:pPr algn="ctr" indent="0" marL="0">
              <a:buNone/>
            </a:pPr>
            <a:r>
              <a:rPr lang="en-US" sz="780" dirty="0">
                <a:solidFill>
                  <a:srgbClr val="9CA3AF"/>
                </a:solidFill>
                <a:latin typeface="Noto Sans CJK SC" pitchFamily="34" charset="0"/>
                <a:ea typeface="Noto Sans CJK SC" pitchFamily="34" charset="-122"/>
                <a:cs typeface="Noto Sans CJK SC" pitchFamily="34" charset="-120"/>
              </a:rPr>
              <a:t>More protocols &amp; policies</a:t>
            </a:r>
            <a:endParaRPr lang="en-US" sz="780" dirty="0"/>
          </a:p>
        </p:txBody>
      </p:sp>
      <p:sp>
        <p:nvSpPr>
          <p:cNvPr id="51" name="Shape 49"/>
          <p:cNvSpPr/>
          <p:nvPr/>
        </p:nvSpPr>
        <p:spPr>
          <a:xfrm>
            <a:off x="548640" y="6446520"/>
            <a:ext cx="11064240" cy="0"/>
          </a:xfrm>
          <a:prstGeom prst="line">
            <a:avLst/>
          </a:prstGeom>
          <a:noFill/>
          <a:ln w="7620">
            <a:solidFill>
              <a:srgbClr val="292747">
                <a:alpha val="70000"/>
              </a:srgbClr>
            </a:solidFill>
            <a:prstDash val="solid"/>
          </a:ln>
        </p:spPr>
        <p:txBody>
          <a:bodyPr/>
          <a:p/>
        </p:txBody>
      </p:sp>
      <p:sp>
        <p:nvSpPr>
          <p:cNvPr id="52" name="Text 50"/>
          <p:cNvSpPr/>
          <p:nvPr/>
        </p:nvSpPr>
        <p:spPr>
          <a:xfrm>
            <a:off x="576072" y="6492240"/>
            <a:ext cx="4023360" cy="155448"/>
          </a:xfrm>
          <a:prstGeom prst="rect">
            <a:avLst/>
          </a:prstGeom>
          <a:noFill/>
          <a:ln/>
        </p:spPr>
        <p:txBody>
          <a:bodyPr wrap="square" lIns="0" tIns="0" rIns="0" bIns="0" rtlCol="0" anchor="ctr"/>
          <a:lstStyle/>
          <a:p>
            <a:pPr indent="0" marL="0">
              <a:buNone/>
            </a:pPr>
            <a:r>
              <a:rPr lang="en-US" sz="760" dirty="0">
                <a:solidFill>
                  <a:srgbClr val="6B7280"/>
                </a:solidFill>
                <a:latin typeface="Noto Sans CJK SC" pitchFamily="34" charset="0"/>
                <a:ea typeface="Noto Sans CJK SC" pitchFamily="34" charset="-122"/>
                <a:cs typeface="Noto Sans CJK SC" pitchFamily="34" charset="-120"/>
              </a:rPr>
              <a:t>Agent proposes. Evidence decides. Human signs.</a:t>
            </a:r>
            <a:endParaRPr lang="en-US" sz="760" dirty="0"/>
          </a:p>
        </p:txBody>
      </p:sp>
      <p:sp>
        <p:nvSpPr>
          <p:cNvPr id="53" name="Text 51"/>
          <p:cNvSpPr/>
          <p:nvPr/>
        </p:nvSpPr>
        <p:spPr>
          <a:xfrm>
            <a:off x="5623560" y="6492240"/>
            <a:ext cx="5486400" cy="155448"/>
          </a:xfrm>
          <a:prstGeom prst="rect">
            <a:avLst/>
          </a:prstGeom>
          <a:noFill/>
          <a:ln/>
        </p:spPr>
        <p:txBody>
          <a:bodyPr wrap="square" lIns="0" tIns="0" rIns="0" bIns="0" rtlCol="0" anchor="ctr"/>
          <a:lstStyle/>
          <a:p>
            <a:pPr algn="r" indent="0" marL="0">
              <a:buNone/>
            </a:pPr>
            <a:r>
              <a:rPr lang="en-US" sz="720" dirty="0">
                <a:solidFill>
                  <a:srgbClr val="6B7280"/>
                </a:solidFill>
                <a:latin typeface="Noto Sans CJK SC" pitchFamily="34" charset="0"/>
                <a:ea typeface="Noto Sans CJK SC" pitchFamily="34" charset="-122"/>
                <a:cs typeface="Noto Sans CJK SC" pitchFamily="34" charset="-120"/>
              </a:rPr>
              <a:t>Moss is unaudited alpha software</a:t>
            </a:r>
            <a:endParaRPr lang="en-US" sz="720" dirty="0"/>
          </a:p>
        </p:txBody>
      </p:sp>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7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11"/>
          </a:solidFill>
          <a:ln w="12700">
            <a:solidFill>
              <a:srgbClr val="070711"/>
            </a:solidFill>
            <a:prstDash val="solid"/>
          </a:ln>
        </p:spPr>
        <p:txBody>
          <a:bodyPr/>
          <a:p/>
        </p:txBody>
      </p:sp>
      <p:sp>
        <p:nvSpPr>
          <p:cNvPr id="3" name="Shape 1"/>
          <p:cNvSpPr/>
          <p:nvPr/>
        </p:nvSpPr>
        <p:spPr>
          <a:xfrm>
            <a:off x="10195560" y="18288"/>
            <a:ext cx="1874520" cy="1874520"/>
          </a:xfrm>
          <a:prstGeom prst="ellipse">
            <a:avLst/>
          </a:prstGeom>
          <a:solidFill>
            <a:srgbClr val="7C3AED">
              <a:alpha val="10000"/>
            </a:srgbClr>
          </a:solidFill>
          <a:ln w="12700">
            <a:solidFill>
              <a:srgbClr val="7C3AED">
                <a:alpha val="0"/>
              </a:srgbClr>
            </a:solidFill>
            <a:prstDash val="solid"/>
          </a:ln>
        </p:spPr>
        <p:txBody>
          <a:bodyPr/>
          <a:p/>
        </p:txBody>
      </p:sp>
      <p:sp>
        <p:nvSpPr>
          <p:cNvPr id="4" name="Shape 2"/>
          <p:cNvSpPr/>
          <p:nvPr/>
        </p:nvSpPr>
        <p:spPr>
          <a:xfrm>
            <a:off x="18288" y="5285232"/>
            <a:ext cx="1417320" cy="1417320"/>
          </a:xfrm>
          <a:prstGeom prst="ellipse">
            <a:avLst/>
          </a:prstGeom>
          <a:solidFill>
            <a:srgbClr val="22D3EE">
              <a:alpha val="5000"/>
            </a:srgbClr>
          </a:solidFill>
          <a:ln w="12700">
            <a:solidFill>
              <a:srgbClr val="22D3EE">
                <a:alpha val="0"/>
              </a:srgbClr>
            </a:solidFill>
            <a:prstDash val="solid"/>
          </a:ln>
        </p:spPr>
        <p:txBody>
          <a:bodyPr/>
          <a:p/>
        </p:txBody>
      </p:sp>
      <p:sp>
        <p:nvSpPr>
          <p:cNvPr id="5" name="Shape 3"/>
          <p:cNvSpPr/>
          <p:nvPr/>
        </p:nvSpPr>
        <p:spPr>
          <a:xfrm>
            <a:off x="676656" y="438912"/>
            <a:ext cx="457200" cy="457200"/>
          </a:xfrm>
          <a:prstGeom prst="diamond">
            <a:avLst/>
          </a:prstGeom>
          <a:solidFill>
            <a:srgbClr val="8B5CF6"/>
          </a:solidFill>
          <a:ln w="12700">
            <a:solidFill>
              <a:srgbClr val="A78BFA">
                <a:alpha val="60000"/>
              </a:srgbClr>
            </a:solidFill>
            <a:prstDash val="solid"/>
          </a:ln>
        </p:spPr>
        <p:txBody>
          <a:bodyPr/>
          <a:p/>
        </p:txBody>
      </p:sp>
      <p:sp>
        <p:nvSpPr>
          <p:cNvPr id="6" name="Shape 4"/>
          <p:cNvSpPr/>
          <p:nvPr/>
        </p:nvSpPr>
        <p:spPr>
          <a:xfrm>
            <a:off x="777240" y="539496"/>
            <a:ext cx="256032" cy="256032"/>
          </a:xfrm>
          <a:prstGeom prst="diamond">
            <a:avLst/>
          </a:prstGeom>
          <a:solidFill>
            <a:srgbClr val="070711"/>
          </a:solidFill>
          <a:ln w="12700">
            <a:solidFill>
              <a:srgbClr val="070711"/>
            </a:solidFill>
            <a:prstDash val="solid"/>
          </a:ln>
        </p:spPr>
        <p:txBody>
          <a:bodyPr/>
          <a:p/>
        </p:txBody>
      </p:sp>
      <p:sp>
        <p:nvSpPr>
          <p:cNvPr id="7" name="Text 5"/>
          <p:cNvSpPr/>
          <p:nvPr/>
        </p:nvSpPr>
        <p:spPr>
          <a:xfrm>
            <a:off x="1261872" y="429768"/>
            <a:ext cx="1463040" cy="457200"/>
          </a:xfrm>
          <a:prstGeom prst="rect">
            <a:avLst/>
          </a:prstGeom>
          <a:noFill/>
          <a:ln/>
        </p:spPr>
        <p:txBody>
          <a:bodyPr wrap="square" lIns="0" tIns="0" rIns="0" bIns="0" rtlCol="0" anchor="ctr"/>
          <a:lstStyle/>
          <a:p>
            <a:pPr indent="0" marL="0">
              <a:buNone/>
            </a:pPr>
            <a:r>
              <a:rPr lang="en-US" sz="1800" b="1" dirty="0">
                <a:solidFill>
                  <a:srgbClr val="F8FAFC"/>
                </a:solidFill>
                <a:latin typeface="Noto Sans CJK SC" pitchFamily="34" charset="0"/>
                <a:ea typeface="Noto Sans CJK SC" pitchFamily="34" charset="-122"/>
                <a:cs typeface="Noto Sans CJK SC" pitchFamily="34" charset="-120"/>
              </a:rPr>
              <a:t>MossGuard</a:t>
            </a:r>
            <a:endParaRPr lang="en-US" sz="1800" dirty="0"/>
          </a:p>
        </p:txBody>
      </p:sp>
      <p:sp>
        <p:nvSpPr>
          <p:cNvPr id="8" name="Shape 6"/>
          <p:cNvSpPr/>
          <p:nvPr/>
        </p:nvSpPr>
        <p:spPr>
          <a:xfrm>
            <a:off x="9555480" y="475488"/>
            <a:ext cx="1901952" cy="292608"/>
          </a:xfrm>
          <a:prstGeom prst="roundRect">
            <a:avLst>
              <a:gd name="adj" fmla="val 25000"/>
            </a:avLst>
          </a:prstGeom>
          <a:solidFill>
            <a:srgbClr val="8B5CF6">
              <a:alpha val="17000"/>
            </a:srgbClr>
          </a:solidFill>
          <a:ln w="8890">
            <a:solidFill>
              <a:srgbClr val="8B5CF6">
                <a:alpha val="55000"/>
              </a:srgbClr>
            </a:solidFill>
            <a:prstDash val="solid"/>
          </a:ln>
        </p:spPr>
        <p:txBody>
          <a:bodyPr/>
          <a:p/>
        </p:txBody>
      </p:sp>
      <p:sp>
        <p:nvSpPr>
          <p:cNvPr id="9" name="Text 7"/>
          <p:cNvSpPr/>
          <p:nvPr/>
        </p:nvSpPr>
        <p:spPr>
          <a:xfrm>
            <a:off x="9555480" y="480060"/>
            <a:ext cx="1901952" cy="256032"/>
          </a:xfrm>
          <a:prstGeom prst="rect">
            <a:avLst/>
          </a:prstGeom>
          <a:noFill/>
          <a:ln/>
        </p:spPr>
        <p:txBody>
          <a:bodyPr wrap="square" lIns="0" tIns="0" rIns="0" bIns="0" rtlCol="0" anchor="ctr"/>
          <a:lstStyle/>
          <a:p>
            <a:pPr algn="ctr" indent="0" marL="0">
              <a:buNone/>
            </a:pPr>
            <a:r>
              <a:rPr lang="en-US" sz="850" b="1" dirty="0">
                <a:solidFill>
                  <a:srgbClr val="8B5CF6"/>
                </a:solidFill>
                <a:latin typeface="Noto Sans CJK SC" pitchFamily="34" charset="0"/>
                <a:ea typeface="Noto Sans CJK SC" pitchFamily="34" charset="-122"/>
                <a:cs typeface="Noto Sans CJK SC" pitchFamily="34" charset="-120"/>
              </a:rPr>
              <a:t>BUILT ON MOSS + MONAD</a:t>
            </a:r>
            <a:endParaRPr lang="en-US" sz="850" dirty="0"/>
          </a:p>
        </p:txBody>
      </p:sp>
      <p:sp>
        <p:nvSpPr>
          <p:cNvPr id="10" name="Text 8"/>
          <p:cNvSpPr/>
          <p:nvPr/>
        </p:nvSpPr>
        <p:spPr>
          <a:xfrm>
            <a:off x="777240" y="1527048"/>
            <a:ext cx="7132320" cy="658368"/>
          </a:xfrm>
          <a:prstGeom prst="rect">
            <a:avLst/>
          </a:prstGeom>
          <a:noFill/>
          <a:ln/>
        </p:spPr>
        <p:txBody>
          <a:bodyPr wrap="square" lIns="0" tIns="0" rIns="0" bIns="0" rtlCol="0" anchor="t">
            <a:normAutofit/>
          </a:bodyPr>
          <a:lstStyle/>
          <a:p>
            <a:pPr algn="l" indent="0" marL="0">
              <a:buNone/>
            </a:pPr>
            <a:r>
              <a:rPr lang="en-US" sz="3100" b="1" dirty="0">
                <a:solidFill>
                  <a:srgbClr val="F8FAFC"/>
                </a:solidFill>
                <a:latin typeface="Noto Sans CJK SC" pitchFamily="34" charset="0"/>
                <a:ea typeface="Noto Sans CJK SC" pitchFamily="34" charset="-122"/>
                <a:cs typeface="Noto Sans CJK SC" pitchFamily="34" charset="-120"/>
              </a:rPr>
              <a:t>Moss proves what will happen.</a:t>
            </a:r>
            <a:endParaRPr lang="en-US" sz="3100" dirty="0"/>
          </a:p>
        </p:txBody>
      </p:sp>
      <p:sp>
        <p:nvSpPr>
          <p:cNvPr id="11" name="Text 9"/>
          <p:cNvSpPr/>
          <p:nvPr/>
        </p:nvSpPr>
        <p:spPr>
          <a:xfrm>
            <a:off x="777240" y="2240280"/>
            <a:ext cx="7863840" cy="658368"/>
          </a:xfrm>
          <a:prstGeom prst="rect">
            <a:avLst/>
          </a:prstGeom>
          <a:noFill/>
          <a:ln/>
        </p:spPr>
        <p:txBody>
          <a:bodyPr wrap="square" lIns="0" tIns="0" rIns="0" bIns="0" rtlCol="0" anchor="t">
            <a:normAutofit/>
          </a:bodyPr>
          <a:lstStyle/>
          <a:p>
            <a:pPr algn="l" indent="0" marL="0">
              <a:buNone/>
            </a:pPr>
            <a:r>
              <a:rPr lang="en-US" sz="3100" b="1" dirty="0">
                <a:solidFill>
                  <a:srgbClr val="A78BFA"/>
                </a:solidFill>
                <a:latin typeface="Noto Sans CJK SC" pitchFamily="34" charset="0"/>
                <a:ea typeface="Noto Sans CJK SC" pitchFamily="34" charset="-122"/>
                <a:cs typeface="Noto Sans CJK SC" pitchFamily="34" charset="-120"/>
              </a:rPr>
              <a:t>MossGuard judges whether it is allowed.</a:t>
            </a:r>
            <a:endParaRPr lang="en-US" sz="3100" dirty="0"/>
          </a:p>
        </p:txBody>
      </p:sp>
      <p:sp>
        <p:nvSpPr>
          <p:cNvPr id="12" name="Text 10"/>
          <p:cNvSpPr/>
          <p:nvPr/>
        </p:nvSpPr>
        <p:spPr>
          <a:xfrm>
            <a:off x="795528" y="3218688"/>
            <a:ext cx="6858000" cy="365760"/>
          </a:xfrm>
          <a:prstGeom prst="rect">
            <a:avLst/>
          </a:prstGeom>
          <a:noFill/>
          <a:ln/>
        </p:spPr>
        <p:txBody>
          <a:bodyPr wrap="square" lIns="0" tIns="0" rIns="0" bIns="0" rtlCol="0" anchor="t">
            <a:normAutofit/>
          </a:bodyPr>
          <a:lstStyle/>
          <a:p>
            <a:pPr algn="l" indent="0" marL="0">
              <a:buNone/>
            </a:pPr>
            <a:r>
              <a:rPr lang="en-US" sz="1700" dirty="0">
                <a:solidFill>
                  <a:srgbClr val="E5E7EB"/>
                </a:solidFill>
                <a:latin typeface="Noto Sans CJK SC" pitchFamily="34" charset="0"/>
                <a:ea typeface="Noto Sans CJK SC" pitchFamily="34" charset="-122"/>
                <a:cs typeface="Noto Sans CJK SC" pitchFamily="34" charset="-120"/>
              </a:rPr>
              <a:t>Upgrade on-chain agent execution from “trust it” to “verify it.”</a:t>
            </a:r>
            <a:endParaRPr lang="en-US" sz="1700" dirty="0"/>
          </a:p>
        </p:txBody>
      </p:sp>
      <p:sp>
        <p:nvSpPr>
          <p:cNvPr id="13" name="Shape 11"/>
          <p:cNvSpPr/>
          <p:nvPr/>
        </p:nvSpPr>
        <p:spPr>
          <a:xfrm>
            <a:off x="786384" y="4096512"/>
            <a:ext cx="6400800" cy="1188720"/>
          </a:xfrm>
          <a:prstGeom prst="roundRect">
            <a:avLst>
              <a:gd name="adj" fmla="val 6923"/>
            </a:avLst>
          </a:prstGeom>
          <a:solidFill>
            <a:srgbClr val="111126"/>
          </a:solidFill>
          <a:ln w="10160">
            <a:solidFill>
              <a:srgbClr val="8B5CF6">
                <a:alpha val="45000"/>
              </a:srgbClr>
            </a:solidFill>
            <a:prstDash val="solid"/>
          </a:ln>
          <a:effectLst>
            <a:outerShdw sx="100000" sy="100000" kx="0" ky="0" algn="bl" rotWithShape="0" blurRad="9.998313280375211e+106" dist="5.998987968225127e+106" dir="7.67617776808102e+125">
              <a:srgbClr val="000000">
                <a:alpha val="2.4999999999999998e+129"/>
              </a:srgbClr>
            </a:outerShdw>
          </a:effectLst>
        </p:spPr>
        <p:txBody>
          <a:bodyPr/>
          <a:p/>
        </p:txBody>
      </p:sp>
      <p:sp>
        <p:nvSpPr>
          <p:cNvPr id="14" name="Text 12"/>
          <p:cNvSpPr/>
          <p:nvPr/>
        </p:nvSpPr>
        <p:spPr>
          <a:xfrm>
            <a:off x="1078992" y="4407408"/>
            <a:ext cx="1572768" cy="292608"/>
          </a:xfrm>
          <a:prstGeom prst="rect">
            <a:avLst/>
          </a:prstGeom>
          <a:noFill/>
          <a:ln/>
        </p:spPr>
        <p:txBody>
          <a:bodyPr wrap="square" lIns="0" tIns="0" rIns="0" bIns="0" rtlCol="0" anchor="t">
            <a:normAutofit/>
          </a:bodyPr>
          <a:lstStyle/>
          <a:p>
            <a:pPr algn="l" indent="0" marL="0">
              <a:buNone/>
            </a:pPr>
            <a:r>
              <a:rPr lang="en-US" sz="1600" b="1" dirty="0">
                <a:solidFill>
                  <a:srgbClr val="A78BFA"/>
                </a:solidFill>
                <a:latin typeface="Noto Sans CJK SC" pitchFamily="34" charset="0"/>
                <a:ea typeface="Noto Sans CJK SC" pitchFamily="34" charset="-122"/>
                <a:cs typeface="Noto Sans CJK SC" pitchFamily="34" charset="-120"/>
              </a:rPr>
              <a:t>Agent proposes.</a:t>
            </a:r>
            <a:endParaRPr lang="en-US" sz="1600" dirty="0"/>
          </a:p>
        </p:txBody>
      </p:sp>
      <p:sp>
        <p:nvSpPr>
          <p:cNvPr id="15" name="Text 13"/>
          <p:cNvSpPr/>
          <p:nvPr/>
        </p:nvSpPr>
        <p:spPr>
          <a:xfrm>
            <a:off x="2816352" y="4407408"/>
            <a:ext cx="1938528" cy="292608"/>
          </a:xfrm>
          <a:prstGeom prst="rect">
            <a:avLst/>
          </a:prstGeom>
          <a:noFill/>
          <a:ln/>
        </p:spPr>
        <p:txBody>
          <a:bodyPr wrap="square" lIns="0" tIns="0" rIns="0" bIns="0" rtlCol="0" anchor="t">
            <a:normAutofit/>
          </a:bodyPr>
          <a:lstStyle/>
          <a:p>
            <a:pPr algn="l" indent="0" marL="0">
              <a:buNone/>
            </a:pPr>
            <a:r>
              <a:rPr lang="en-US" sz="1600" b="1" dirty="0">
                <a:solidFill>
                  <a:srgbClr val="22D3EE"/>
                </a:solidFill>
                <a:latin typeface="Noto Sans CJK SC" pitchFamily="34" charset="0"/>
                <a:ea typeface="Noto Sans CJK SC" pitchFamily="34" charset="-122"/>
                <a:cs typeface="Noto Sans CJK SC" pitchFamily="34" charset="-120"/>
              </a:rPr>
              <a:t>Evidence decides.</a:t>
            </a:r>
            <a:endParaRPr lang="en-US" sz="1600" dirty="0"/>
          </a:p>
        </p:txBody>
      </p:sp>
      <p:sp>
        <p:nvSpPr>
          <p:cNvPr id="16" name="Text 14"/>
          <p:cNvSpPr/>
          <p:nvPr/>
        </p:nvSpPr>
        <p:spPr>
          <a:xfrm>
            <a:off x="5047488" y="4407408"/>
            <a:ext cx="1554480" cy="292608"/>
          </a:xfrm>
          <a:prstGeom prst="rect">
            <a:avLst/>
          </a:prstGeom>
          <a:noFill/>
          <a:ln/>
        </p:spPr>
        <p:txBody>
          <a:bodyPr wrap="square" lIns="0" tIns="0" rIns="0" bIns="0" rtlCol="0" anchor="t">
            <a:normAutofit/>
          </a:bodyPr>
          <a:lstStyle/>
          <a:p>
            <a:pPr algn="l" indent="0" marL="0">
              <a:buNone/>
            </a:pPr>
            <a:r>
              <a:rPr lang="en-US" sz="1600" b="1" dirty="0">
                <a:solidFill>
                  <a:srgbClr val="22C55E"/>
                </a:solidFill>
                <a:latin typeface="Noto Sans CJK SC" pitchFamily="34" charset="0"/>
                <a:ea typeface="Noto Sans CJK SC" pitchFamily="34" charset="-122"/>
                <a:cs typeface="Noto Sans CJK SC" pitchFamily="34" charset="-120"/>
              </a:rPr>
              <a:t>Human signs.</a:t>
            </a:r>
            <a:endParaRPr lang="en-US" sz="1600" dirty="0"/>
          </a:p>
        </p:txBody>
      </p:sp>
      <p:sp>
        <p:nvSpPr>
          <p:cNvPr id="17" name="Shape 15"/>
          <p:cNvSpPr/>
          <p:nvPr/>
        </p:nvSpPr>
        <p:spPr>
          <a:xfrm>
            <a:off x="8293608" y="1417320"/>
            <a:ext cx="3127248" cy="4526280"/>
          </a:xfrm>
          <a:prstGeom prst="roundRect">
            <a:avLst>
              <a:gd name="adj" fmla="val 2632"/>
            </a:avLst>
          </a:prstGeom>
          <a:solidFill>
            <a:srgbClr val="0D0D1C"/>
          </a:solidFill>
          <a:ln w="10160">
            <a:solidFill>
              <a:srgbClr val="292747"/>
            </a:solidFill>
            <a:prstDash val="solid"/>
          </a:ln>
          <a:effectLst>
            <a:outerShdw sx="100000" sy="100000" kx="0" ky="0" algn="bl" rotWithShape="0" blurRad="1.2697857866076517e+111" dist="7.618714719645911e+110" dir="4.605706660848612e+130">
              <a:srgbClr val="000000">
                <a:alpha val="2.5e+134"/>
              </a:srgbClr>
            </a:outerShdw>
          </a:effectLst>
        </p:spPr>
        <p:txBody>
          <a:bodyPr/>
          <a:p/>
        </p:txBody>
      </p:sp>
      <p:sp>
        <p:nvSpPr>
          <p:cNvPr id="18" name="Shape 16"/>
          <p:cNvSpPr/>
          <p:nvPr/>
        </p:nvSpPr>
        <p:spPr>
          <a:xfrm>
            <a:off x="9125712" y="1938528"/>
            <a:ext cx="1463040" cy="1463040"/>
          </a:xfrm>
          <a:prstGeom prst="diamond">
            <a:avLst/>
          </a:prstGeom>
          <a:solidFill>
            <a:srgbClr val="8B5CF6">
              <a:alpha val="94000"/>
            </a:srgbClr>
          </a:solidFill>
          <a:ln w="17780">
            <a:solidFill>
              <a:srgbClr val="A78BFA"/>
            </a:solidFill>
            <a:prstDash val="solid"/>
          </a:ln>
        </p:spPr>
        <p:txBody>
          <a:bodyPr/>
          <a:p/>
        </p:txBody>
      </p:sp>
      <p:sp>
        <p:nvSpPr>
          <p:cNvPr id="19" name="Shape 17"/>
          <p:cNvSpPr/>
          <p:nvPr/>
        </p:nvSpPr>
        <p:spPr>
          <a:xfrm>
            <a:off x="9473184" y="2286000"/>
            <a:ext cx="768096" cy="768096"/>
          </a:xfrm>
          <a:prstGeom prst="diamond">
            <a:avLst/>
          </a:prstGeom>
          <a:solidFill>
            <a:srgbClr val="070711"/>
          </a:solidFill>
          <a:ln w="12700">
            <a:solidFill>
              <a:srgbClr val="070711"/>
            </a:solidFill>
            <a:prstDash val="solid"/>
          </a:ln>
        </p:spPr>
        <p:txBody>
          <a:bodyPr/>
          <a:p/>
        </p:txBody>
      </p:sp>
      <p:sp>
        <p:nvSpPr>
          <p:cNvPr id="20" name="Text 18"/>
          <p:cNvSpPr/>
          <p:nvPr/>
        </p:nvSpPr>
        <p:spPr>
          <a:xfrm>
            <a:off x="8732520" y="3877056"/>
            <a:ext cx="2249424" cy="347472"/>
          </a:xfrm>
          <a:prstGeom prst="rect">
            <a:avLst/>
          </a:prstGeom>
          <a:noFill/>
          <a:ln/>
        </p:spPr>
        <p:txBody>
          <a:bodyPr wrap="square" lIns="0" tIns="0" rIns="0" bIns="0" rtlCol="0" anchor="t">
            <a:normAutofit/>
          </a:bodyPr>
          <a:lstStyle/>
          <a:p>
            <a:pPr algn="ctr" indent="0" marL="0">
              <a:buNone/>
            </a:pPr>
            <a:r>
              <a:rPr lang="en-US" sz="1700" b="1" dirty="0">
                <a:solidFill>
                  <a:srgbClr val="F8FAFC"/>
                </a:solidFill>
                <a:latin typeface="Noto Sans CJK SC" pitchFamily="34" charset="0"/>
                <a:ea typeface="Noto Sans CJK SC" pitchFamily="34" charset="-122"/>
                <a:cs typeface="Noto Sans CJK SC" pitchFamily="34" charset="-120"/>
              </a:rPr>
              <a:t>READY TO DEMO</a:t>
            </a:r>
            <a:endParaRPr lang="en-US" sz="1700" dirty="0"/>
          </a:p>
        </p:txBody>
      </p:sp>
      <p:sp>
        <p:nvSpPr>
          <p:cNvPr id="21" name="Text 19"/>
          <p:cNvSpPr/>
          <p:nvPr/>
        </p:nvSpPr>
        <p:spPr>
          <a:xfrm>
            <a:off x="8851392" y="4471416"/>
            <a:ext cx="2011680" cy="768096"/>
          </a:xfrm>
          <a:prstGeom prst="rect">
            <a:avLst/>
          </a:prstGeom>
          <a:noFill/>
          <a:ln/>
        </p:spPr>
        <p:txBody>
          <a:bodyPr wrap="square" lIns="0" tIns="0" rIns="0" bIns="0" rtlCol="0" anchor="t">
            <a:normAutofit/>
          </a:bodyPr>
          <a:lstStyle/>
          <a:p>
            <a:pPr algn="ctr" indent="0" marL="0">
              <a:buNone/>
            </a:pPr>
            <a:r>
              <a:rPr lang="en-US" sz="1220" dirty="0">
                <a:solidFill>
                  <a:srgbClr val="9CA3AF"/>
                </a:solidFill>
                <a:latin typeface="Noto Sans CJK SC" pitchFamily="34" charset="0"/>
                <a:ea typeface="Noto Sans CJK SC" pitchFamily="34" charset="-122"/>
                <a:cs typeface="Noto Sans CJK SC" pitchFamily="34" charset="-120"/>
              </a:rPr>
              <a:t>Transfer Drift</a:t>
            </a:r>
            <a:endParaRPr lang="en-US" sz="1220" dirty="0"/>
          </a:p>
          <a:p>
            <a:pPr algn="ctr" indent="0" marL="0">
              <a:buNone/>
            </a:pPr>
            <a:r>
              <a:rPr lang="en-US" sz="1220" dirty="0">
                <a:solidFill>
                  <a:srgbClr val="9CA3AF"/>
                </a:solidFill>
                <a:latin typeface="Noto Sans CJK SC" pitchFamily="34" charset="0"/>
                <a:ea typeface="Noto Sans CJK SC" pitchFamily="34" charset="-122"/>
                <a:cs typeface="Noto Sans CJK SC" pitchFamily="34" charset="-120"/>
              </a:rPr>
              <a:t>Unlimited Approval</a:t>
            </a:r>
            <a:endParaRPr lang="en-US" sz="1220" dirty="0"/>
          </a:p>
          <a:p>
            <a:pPr algn="ctr" indent="0" marL="0">
              <a:buNone/>
            </a:pPr>
            <a:r>
              <a:rPr lang="en-US" sz="1220" dirty="0">
                <a:solidFill>
                  <a:srgbClr val="9CA3AF"/>
                </a:solidFill>
                <a:latin typeface="Noto Sans CJK SC" pitchFamily="34" charset="0"/>
                <a:ea typeface="Noto Sans CJK SC" pitchFamily="34" charset="-122"/>
                <a:cs typeface="Noto Sans CJK SC" pitchFamily="34" charset="-120"/>
              </a:rPr>
              <a:t>Safe Kuru Swap</a:t>
            </a:r>
            <a:endParaRPr lang="en-US" sz="1220" dirty="0"/>
          </a:p>
        </p:txBody>
      </p:sp>
      <p:sp>
        <p:nvSpPr>
          <p:cNvPr id="22" name="Text 20"/>
          <p:cNvSpPr/>
          <p:nvPr/>
        </p:nvSpPr>
        <p:spPr>
          <a:xfrm>
            <a:off x="8823960" y="5422392"/>
            <a:ext cx="2048256" cy="292608"/>
          </a:xfrm>
          <a:prstGeom prst="rect">
            <a:avLst/>
          </a:prstGeom>
          <a:noFill/>
          <a:ln/>
        </p:spPr>
        <p:txBody>
          <a:bodyPr wrap="square" lIns="0" tIns="0" rIns="0" bIns="0" rtlCol="0" anchor="t">
            <a:normAutofit/>
          </a:bodyPr>
          <a:lstStyle/>
          <a:p>
            <a:pPr algn="ctr" indent="0" marL="0">
              <a:buNone/>
            </a:pPr>
            <a:r>
              <a:rPr lang="en-US" sz="1600" b="1" dirty="0">
                <a:solidFill>
                  <a:srgbClr val="A78BFA"/>
                </a:solidFill>
                <a:latin typeface="Noto Sans CJK SC" pitchFamily="34" charset="0"/>
                <a:ea typeface="Noto Sans CJK SC" pitchFamily="34" charset="-122"/>
                <a:cs typeface="Noto Sans CJK SC" pitchFamily="34" charset="-120"/>
              </a:rPr>
              <a:t>Thank you</a:t>
            </a:r>
            <a:endParaRPr lang="en-US" sz="1600" dirty="0"/>
          </a:p>
        </p:txBody>
      </p:sp>
      <p:sp>
        <p:nvSpPr>
          <p:cNvPr id="23" name="Shape 21"/>
          <p:cNvSpPr/>
          <p:nvPr/>
        </p:nvSpPr>
        <p:spPr>
          <a:xfrm>
            <a:off x="548640" y="6446520"/>
            <a:ext cx="11064240" cy="0"/>
          </a:xfrm>
          <a:prstGeom prst="line">
            <a:avLst/>
          </a:prstGeom>
          <a:noFill/>
          <a:ln w="7620">
            <a:solidFill>
              <a:srgbClr val="292747">
                <a:alpha val="70000"/>
              </a:srgbClr>
            </a:solidFill>
            <a:prstDash val="solid"/>
          </a:ln>
        </p:spPr>
        <p:txBody>
          <a:bodyPr/>
          <a:p/>
        </p:txBody>
      </p:sp>
      <p:sp>
        <p:nvSpPr>
          <p:cNvPr id="24" name="Text 22"/>
          <p:cNvSpPr/>
          <p:nvPr/>
        </p:nvSpPr>
        <p:spPr>
          <a:xfrm>
            <a:off x="576072" y="6492240"/>
            <a:ext cx="4023360" cy="155448"/>
          </a:xfrm>
          <a:prstGeom prst="rect">
            <a:avLst/>
          </a:prstGeom>
          <a:noFill/>
          <a:ln/>
        </p:spPr>
        <p:txBody>
          <a:bodyPr wrap="square" lIns="0" tIns="0" rIns="0" bIns="0" rtlCol="0" anchor="ctr"/>
          <a:lstStyle/>
          <a:p>
            <a:pPr indent="0" marL="0">
              <a:buNone/>
            </a:pPr>
            <a:r>
              <a:rPr lang="en-US" sz="760" dirty="0">
                <a:solidFill>
                  <a:srgbClr val="6B7280"/>
                </a:solidFill>
                <a:latin typeface="Noto Sans CJK SC" pitchFamily="34" charset="0"/>
                <a:ea typeface="Noto Sans CJK SC" pitchFamily="34" charset="-122"/>
                <a:cs typeface="Noto Sans CJK SC" pitchFamily="34" charset="-120"/>
              </a:rPr>
              <a:t>Agent proposes. Evidence decides. Human signs.</a:t>
            </a:r>
            <a:endParaRPr lang="en-US" sz="760" dirty="0"/>
          </a:p>
        </p:txBody>
      </p:sp>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71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11"/>
          </a:solidFill>
          <a:ln w="12700">
            <a:solidFill>
              <a:srgbClr val="070711"/>
            </a:solidFill>
            <a:prstDash val="solid"/>
          </a:ln>
        </p:spPr>
        <p:txBody>
          <a:bodyPr/>
          <a:p/>
        </p:txBody>
      </p:sp>
      <p:sp>
        <p:nvSpPr>
          <p:cNvPr id="3" name="Shape 1"/>
          <p:cNvSpPr/>
          <p:nvPr/>
        </p:nvSpPr>
        <p:spPr>
          <a:xfrm>
            <a:off x="512064" y="310896"/>
            <a:ext cx="310896" cy="310896"/>
          </a:xfrm>
          <a:prstGeom prst="diamond">
            <a:avLst/>
          </a:prstGeom>
          <a:solidFill>
            <a:srgbClr val="8B5CF6"/>
          </a:solidFill>
          <a:ln w="12700">
            <a:solidFill>
              <a:srgbClr val="A78BFA">
                <a:alpha val="60000"/>
              </a:srgbClr>
            </a:solidFill>
            <a:prstDash val="solid"/>
          </a:ln>
        </p:spPr>
        <p:txBody>
          <a:bodyPr/>
          <a:p/>
        </p:txBody>
      </p:sp>
      <p:sp>
        <p:nvSpPr>
          <p:cNvPr id="4" name="Shape 2"/>
          <p:cNvSpPr/>
          <p:nvPr/>
        </p:nvSpPr>
        <p:spPr>
          <a:xfrm>
            <a:off x="580461" y="379293"/>
            <a:ext cx="174102" cy="174102"/>
          </a:xfrm>
          <a:prstGeom prst="diamond">
            <a:avLst/>
          </a:prstGeom>
          <a:solidFill>
            <a:srgbClr val="070711"/>
          </a:solidFill>
          <a:ln w="12700">
            <a:solidFill>
              <a:srgbClr val="070711"/>
            </a:solidFill>
            <a:prstDash val="solid"/>
          </a:ln>
        </p:spPr>
        <p:txBody>
          <a:bodyPr/>
          <a:p/>
        </p:txBody>
      </p:sp>
      <p:sp>
        <p:nvSpPr>
          <p:cNvPr id="5" name="Text 3"/>
          <p:cNvSpPr/>
          <p:nvPr/>
        </p:nvSpPr>
        <p:spPr>
          <a:xfrm>
            <a:off x="914400" y="292608"/>
            <a:ext cx="1371600" cy="219456"/>
          </a:xfrm>
          <a:prstGeom prst="rect">
            <a:avLst/>
          </a:prstGeom>
          <a:noFill/>
          <a:ln/>
        </p:spPr>
        <p:txBody>
          <a:bodyPr wrap="square" lIns="0" tIns="0" rIns="0" bIns="0" rtlCol="0" anchor="ctr"/>
          <a:lstStyle/>
          <a:p>
            <a:pPr indent="0" marL="0">
              <a:buNone/>
            </a:pPr>
            <a:r>
              <a:rPr lang="en-US" sz="1000" b="1" spc="120" kern="0" dirty="0">
                <a:solidFill>
                  <a:srgbClr val="A78BFA"/>
                </a:solidFill>
                <a:latin typeface="Noto Sans CJK SC" pitchFamily="34" charset="0"/>
                <a:ea typeface="Noto Sans CJK SC" pitchFamily="34" charset="-122"/>
                <a:cs typeface="Noto Sans CJK SC" pitchFamily="34" charset="-120"/>
              </a:rPr>
              <a:t>MOSSGUARD</a:t>
            </a:r>
            <a:endParaRPr lang="en-US" sz="1000" dirty="0"/>
          </a:p>
        </p:txBody>
      </p:sp>
      <p:sp>
        <p:nvSpPr>
          <p:cNvPr id="6" name="Text 4"/>
          <p:cNvSpPr/>
          <p:nvPr/>
        </p:nvSpPr>
        <p:spPr>
          <a:xfrm>
            <a:off x="9875520" y="301752"/>
            <a:ext cx="1645920" cy="201168"/>
          </a:xfrm>
          <a:prstGeom prst="rect">
            <a:avLst/>
          </a:prstGeom>
          <a:noFill/>
          <a:ln/>
        </p:spPr>
        <p:txBody>
          <a:bodyPr wrap="square" lIns="0" tIns="0" rIns="0" bIns="0" rtlCol="0" anchor="ctr"/>
          <a:lstStyle/>
          <a:p>
            <a:pPr algn="r" indent="0" marL="0">
              <a:buNone/>
            </a:pPr>
            <a:r>
              <a:rPr lang="en-US" sz="900" dirty="0">
                <a:solidFill>
                  <a:srgbClr val="9CA3AF"/>
                </a:solidFill>
                <a:latin typeface="Noto Sans CJK SC" pitchFamily="34" charset="0"/>
                <a:ea typeface="Noto Sans CJK SC" pitchFamily="34" charset="-122"/>
                <a:cs typeface="Noto Sans CJK SC" pitchFamily="34" charset="-120"/>
              </a:rPr>
              <a:t>APPENDIX</a:t>
            </a:r>
            <a:endParaRPr lang="en-US" sz="900" dirty="0"/>
          </a:p>
        </p:txBody>
      </p:sp>
      <p:sp>
        <p:nvSpPr>
          <p:cNvPr id="7" name="Text 5"/>
          <p:cNvSpPr/>
          <p:nvPr/>
        </p:nvSpPr>
        <p:spPr>
          <a:xfrm>
            <a:off x="566928" y="749808"/>
            <a:ext cx="10881360" cy="475488"/>
          </a:xfrm>
          <a:prstGeom prst="rect">
            <a:avLst/>
          </a:prstGeom>
          <a:noFill/>
          <a:ln/>
        </p:spPr>
        <p:txBody>
          <a:bodyPr wrap="square" lIns="0" tIns="0" rIns="0" bIns="0" rtlCol="0" anchor="ctr"/>
          <a:lstStyle/>
          <a:p>
            <a:pPr indent="0" marL="0">
              <a:buNone/>
            </a:pPr>
            <a:r>
              <a:rPr lang="en-US" sz="2500" b="1" dirty="0">
                <a:solidFill>
                  <a:srgbClr val="F8FAFC"/>
                </a:solidFill>
                <a:latin typeface="Noto Sans CJK SC" pitchFamily="34" charset="0"/>
                <a:ea typeface="Noto Sans CJK SC" pitchFamily="34" charset="-122"/>
                <a:cs typeface="Noto Sans CJK SC" pitchFamily="34" charset="-120"/>
              </a:rPr>
              <a:t>Appendix: factual sources and development baseline</a:t>
            </a:r>
            <a:endParaRPr lang="en-US" sz="2500" dirty="0"/>
          </a:p>
        </p:txBody>
      </p:sp>
      <p:sp>
        <p:nvSpPr>
          <p:cNvPr id="8" name="Text 6"/>
          <p:cNvSpPr/>
          <p:nvPr/>
        </p:nvSpPr>
        <p:spPr>
          <a:xfrm>
            <a:off x="576072" y="1216152"/>
            <a:ext cx="10698480" cy="274320"/>
          </a:xfrm>
          <a:prstGeom prst="rect">
            <a:avLst/>
          </a:prstGeom>
          <a:noFill/>
          <a:ln/>
        </p:spPr>
        <p:txBody>
          <a:bodyPr wrap="square" lIns="0" tIns="0" rIns="0" bIns="0" rtlCol="0" anchor="ctr"/>
          <a:lstStyle/>
          <a:p>
            <a:pPr indent="0" marL="0">
              <a:buNone/>
            </a:pPr>
            <a:r>
              <a:rPr lang="en-US" sz="1150" dirty="0">
                <a:solidFill>
                  <a:srgbClr val="9CA3AF"/>
                </a:solidFill>
                <a:latin typeface="Noto Sans CJK SC" pitchFamily="34" charset="0"/>
                <a:ea typeface="Noto Sans CJK SC" pitchFamily="34" charset="-122"/>
                <a:cs typeface="Noto Sans CJK SC" pitchFamily="34" charset="-120"/>
              </a:rPr>
              <a:t>Network, capability, and security boundaries in the pitch are based on official documentation.</a:t>
            </a:r>
            <a:endParaRPr lang="en-US" sz="1150" dirty="0"/>
          </a:p>
        </p:txBody>
      </p:sp>
      <p:sp>
        <p:nvSpPr>
          <p:cNvPr id="9" name="Shape 7"/>
          <p:cNvSpPr/>
          <p:nvPr/>
        </p:nvSpPr>
        <p:spPr>
          <a:xfrm>
            <a:off x="749808" y="1783080"/>
            <a:ext cx="5303520" cy="4160520"/>
          </a:xfrm>
          <a:prstGeom prst="roundRect">
            <a:avLst>
              <a:gd name="adj" fmla="val 1978"/>
            </a:avLst>
          </a:prstGeom>
          <a:solidFill>
            <a:srgbClr val="111126"/>
          </a:solidFill>
          <a:ln w="10160">
            <a:solidFill>
              <a:srgbClr val="292747"/>
            </a:solidFill>
            <a:prstDash val="solid"/>
          </a:ln>
          <a:effectLst>
            <a:outerShdw sx="100000" sy="100000" kx="0" ky="0" algn="bl" rotWithShape="0" blurRad="1.6126279489917177e+115" dist="9.675767693950307e+114" dir="2.763423996509167e+135">
              <a:srgbClr val="000000">
                <a:alpha val="2.5e+139"/>
              </a:srgbClr>
            </a:outerShdw>
          </a:effectLst>
        </p:spPr>
        <p:txBody>
          <a:bodyPr/>
          <a:p/>
        </p:txBody>
      </p:sp>
      <p:sp>
        <p:nvSpPr>
          <p:cNvPr id="10" name="Shape 8"/>
          <p:cNvSpPr/>
          <p:nvPr/>
        </p:nvSpPr>
        <p:spPr>
          <a:xfrm>
            <a:off x="1042416" y="2075688"/>
            <a:ext cx="822960" cy="292608"/>
          </a:xfrm>
          <a:prstGeom prst="roundRect">
            <a:avLst>
              <a:gd name="adj" fmla="val 25000"/>
            </a:avLst>
          </a:prstGeom>
          <a:solidFill>
            <a:srgbClr val="22D3EE">
              <a:alpha val="16000"/>
            </a:srgbClr>
          </a:solidFill>
          <a:ln w="8890">
            <a:solidFill>
              <a:srgbClr val="22D3EE">
                <a:alpha val="55000"/>
              </a:srgbClr>
            </a:solidFill>
            <a:prstDash val="solid"/>
          </a:ln>
        </p:spPr>
        <p:txBody>
          <a:bodyPr/>
          <a:p/>
        </p:txBody>
      </p:sp>
      <p:sp>
        <p:nvSpPr>
          <p:cNvPr id="11" name="Text 9"/>
          <p:cNvSpPr/>
          <p:nvPr/>
        </p:nvSpPr>
        <p:spPr>
          <a:xfrm>
            <a:off x="1042416" y="2080260"/>
            <a:ext cx="822960" cy="256032"/>
          </a:xfrm>
          <a:prstGeom prst="rect">
            <a:avLst/>
          </a:prstGeom>
          <a:noFill/>
          <a:ln/>
        </p:spPr>
        <p:txBody>
          <a:bodyPr wrap="square" lIns="0" tIns="0" rIns="0" bIns="0" rtlCol="0" anchor="ctr"/>
          <a:lstStyle/>
          <a:p>
            <a:pPr algn="ctr" indent="0" marL="0">
              <a:buNone/>
            </a:pPr>
            <a:r>
              <a:rPr lang="en-US" sz="850" b="1" dirty="0">
                <a:solidFill>
                  <a:srgbClr val="22D3EE"/>
                </a:solidFill>
                <a:latin typeface="Noto Sans CJK SC" pitchFamily="34" charset="0"/>
                <a:ea typeface="Noto Sans CJK SC" pitchFamily="34" charset="-122"/>
                <a:cs typeface="Noto Sans CJK SC" pitchFamily="34" charset="-120"/>
              </a:rPr>
              <a:t>MOSS</a:t>
            </a:r>
            <a:endParaRPr lang="en-US" sz="850" dirty="0"/>
          </a:p>
        </p:txBody>
      </p:sp>
      <p:sp>
        <p:nvSpPr>
          <p:cNvPr id="12" name="Text 10"/>
          <p:cNvSpPr/>
          <p:nvPr/>
        </p:nvSpPr>
        <p:spPr>
          <a:xfrm>
            <a:off x="1042416" y="2633472"/>
            <a:ext cx="3200400" cy="347472"/>
          </a:xfrm>
          <a:prstGeom prst="rect">
            <a:avLst/>
          </a:prstGeom>
          <a:noFill/>
          <a:ln/>
        </p:spPr>
        <p:txBody>
          <a:bodyPr wrap="square" lIns="0" tIns="0" rIns="0" bIns="0" rtlCol="0" anchor="t">
            <a:normAutofit/>
          </a:bodyPr>
          <a:lstStyle/>
          <a:p>
            <a:pPr algn="l" indent="0" marL="0">
              <a:buNone/>
            </a:pPr>
            <a:r>
              <a:rPr lang="en-US" sz="2000" b="1" dirty="0">
                <a:solidFill>
                  <a:srgbClr val="F8FAFC"/>
                </a:solidFill>
                <a:latin typeface="Noto Sans CJK SC" pitchFamily="34" charset="0"/>
                <a:ea typeface="Noto Sans CJK SC" pitchFamily="34" charset="-122"/>
                <a:cs typeface="Noto Sans CJK SC" pitchFamily="34" charset="-120"/>
              </a:rPr>
              <a:t>nishuzumi/moss</a:t>
            </a:r>
            <a:endParaRPr lang="en-US" sz="2000" dirty="0"/>
          </a:p>
        </p:txBody>
      </p:sp>
      <p:sp>
        <p:nvSpPr>
          <p:cNvPr id="13" name="Text 11"/>
          <p:cNvSpPr/>
          <p:nvPr/>
        </p:nvSpPr>
        <p:spPr>
          <a:xfrm>
            <a:off x="1051560" y="3218688"/>
            <a:ext cx="4526280" cy="1691640"/>
          </a:xfrm>
          <a:prstGeom prst="rect">
            <a:avLst/>
          </a:prstGeom>
          <a:noFill/>
          <a:ln/>
        </p:spPr>
        <p:txBody>
          <a:bodyPr wrap="square" lIns="0" tIns="0" rIns="0" bIns="0" rtlCol="0" anchor="t">
            <a:normAutofit/>
          </a:bodyPr>
          <a:lstStyle/>
          <a:p>
            <a:pPr algn="l" indent="0" marL="0">
              <a:buNone/>
            </a:pPr>
            <a:r>
              <a:t>• README: discover → load → action → simulate</a:t>
            </a:r>
            <a:endParaRPr lang="en-US" sz="1150" dirty="0"/>
          </a:p>
          <a:p>
            <a:r>
              <a:t>• SECURITY: no signing, no sending; warnings stop execution</a:t>
            </a:r>
          </a:p>
          <a:p>
            <a:r>
              <a:t>• Getting Started: compare structured Receipt Outcome with Intent</a:t>
            </a:r>
          </a:p>
          <a:p>
            <a:r>
              <a:t>• Current target: Monad Mainnet, Chain ID 143</a:t>
            </a:r>
          </a:p>
        </p:txBody>
      </p:sp>
      <p:sp>
        <p:nvSpPr>
          <p:cNvPr id="14" name="Text 12"/>
          <p:cNvSpPr/>
          <p:nvPr/>
        </p:nvSpPr>
        <p:spPr>
          <a:xfrm>
            <a:off x="1051560" y="5358384"/>
            <a:ext cx="4480560" cy="219456"/>
          </a:xfrm>
          <a:prstGeom prst="rect">
            <a:avLst/>
          </a:prstGeom>
          <a:noFill/>
          <a:ln/>
        </p:spPr>
        <p:txBody>
          <a:bodyPr wrap="square" lIns="0" tIns="0" rIns="0" bIns="0" rtlCol="0" anchor="t">
            <a:normAutofit/>
          </a:bodyPr>
          <a:lstStyle/>
          <a:p>
            <a:pPr algn="l" indent="0" marL="0">
              <a:buNone/>
            </a:pPr>
            <a:r>
              <a:rPr lang="en-US" sz="950" b="1" dirty="0">
                <a:solidFill>
                  <a:srgbClr val="F59E0B"/>
                </a:solidFill>
                <a:latin typeface="Noto Sans CJK SC" pitchFamily="34" charset="0"/>
                <a:ea typeface="Noto Sans CJK SC" pitchFamily="34" charset="-122"/>
                <a:cs typeface="Noto Sans CJK SC" pitchFamily="34" charset="-120"/>
              </a:rPr>
              <a:t>Alpha software · Do not use with production funds</a:t>
            </a:r>
            <a:endParaRPr lang="en-US" sz="950" dirty="0"/>
          </a:p>
        </p:txBody>
      </p:sp>
      <p:sp>
        <p:nvSpPr>
          <p:cNvPr id="15" name="Shape 13"/>
          <p:cNvSpPr/>
          <p:nvPr/>
        </p:nvSpPr>
        <p:spPr>
          <a:xfrm>
            <a:off x="6291072" y="1783080"/>
            <a:ext cx="5166360" cy="4160520"/>
          </a:xfrm>
          <a:prstGeom prst="roundRect">
            <a:avLst>
              <a:gd name="adj" fmla="val 1978"/>
            </a:avLst>
          </a:prstGeom>
          <a:solidFill>
            <a:srgbClr val="111126"/>
          </a:solidFill>
          <a:ln w="10160">
            <a:solidFill>
              <a:srgbClr val="292747"/>
            </a:solidFill>
            <a:prstDash val="solid"/>
          </a:ln>
          <a:effectLst>
            <a:outerShdw sx="100000" sy="100000" kx="0" ky="0" algn="bl" rotWithShape="0" blurRad="2.0480374952194813e+119" dist="1.2288224971316889e+119" dir="1.6580543979055002e+140">
              <a:srgbClr val="000000">
                <a:alpha val="2.5000000000000003e+144"/>
              </a:srgbClr>
            </a:outerShdw>
          </a:effectLst>
        </p:spPr>
        <p:txBody>
          <a:bodyPr/>
          <a:p/>
        </p:txBody>
      </p:sp>
      <p:sp>
        <p:nvSpPr>
          <p:cNvPr id="16" name="Shape 14"/>
          <p:cNvSpPr/>
          <p:nvPr/>
        </p:nvSpPr>
        <p:spPr>
          <a:xfrm>
            <a:off x="6583680" y="2075688"/>
            <a:ext cx="896112" cy="292608"/>
          </a:xfrm>
          <a:prstGeom prst="roundRect">
            <a:avLst>
              <a:gd name="adj" fmla="val 25000"/>
            </a:avLst>
          </a:prstGeom>
          <a:solidFill>
            <a:srgbClr val="A78BFA">
              <a:alpha val="16000"/>
            </a:srgbClr>
          </a:solidFill>
          <a:ln w="8890">
            <a:solidFill>
              <a:srgbClr val="A78BFA">
                <a:alpha val="55000"/>
              </a:srgbClr>
            </a:solidFill>
            <a:prstDash val="solid"/>
          </a:ln>
        </p:spPr>
        <p:txBody>
          <a:bodyPr/>
          <a:p/>
        </p:txBody>
      </p:sp>
      <p:sp>
        <p:nvSpPr>
          <p:cNvPr id="17" name="Text 15"/>
          <p:cNvSpPr/>
          <p:nvPr/>
        </p:nvSpPr>
        <p:spPr>
          <a:xfrm>
            <a:off x="6583680" y="2080260"/>
            <a:ext cx="896112" cy="256032"/>
          </a:xfrm>
          <a:prstGeom prst="rect">
            <a:avLst/>
          </a:prstGeom>
          <a:noFill/>
          <a:ln/>
        </p:spPr>
        <p:txBody>
          <a:bodyPr wrap="square" lIns="0" tIns="0" rIns="0" bIns="0" rtlCol="0" anchor="ctr"/>
          <a:lstStyle/>
          <a:p>
            <a:pPr algn="ctr" indent="0" marL="0">
              <a:buNone/>
            </a:pPr>
            <a:r>
              <a:rPr lang="en-US" sz="850" b="1" dirty="0">
                <a:solidFill>
                  <a:srgbClr val="A78BFA"/>
                </a:solidFill>
                <a:latin typeface="Noto Sans CJK SC" pitchFamily="34" charset="0"/>
                <a:ea typeface="Noto Sans CJK SC" pitchFamily="34" charset="-122"/>
                <a:cs typeface="Noto Sans CJK SC" pitchFamily="34" charset="-120"/>
              </a:rPr>
              <a:t>MONAD</a:t>
            </a:r>
            <a:endParaRPr lang="en-US" sz="850" dirty="0"/>
          </a:p>
        </p:txBody>
      </p:sp>
      <p:sp>
        <p:nvSpPr>
          <p:cNvPr id="18" name="Text 16"/>
          <p:cNvSpPr/>
          <p:nvPr/>
        </p:nvSpPr>
        <p:spPr>
          <a:xfrm>
            <a:off x="6583680" y="2633472"/>
            <a:ext cx="3749040" cy="347472"/>
          </a:xfrm>
          <a:prstGeom prst="rect">
            <a:avLst/>
          </a:prstGeom>
          <a:noFill/>
          <a:ln/>
        </p:spPr>
        <p:txBody>
          <a:bodyPr wrap="square" lIns="0" tIns="0" rIns="0" bIns="0" rtlCol="0" anchor="t">
            <a:normAutofit/>
          </a:bodyPr>
          <a:lstStyle/>
          <a:p>
            <a:pPr algn="l" indent="0" marL="0">
              <a:buNone/>
            </a:pPr>
            <a:r>
              <a:rPr lang="en-US" sz="2000" b="1" dirty="0">
                <a:solidFill>
                  <a:srgbClr val="F8FAFC"/>
                </a:solidFill>
                <a:latin typeface="Noto Sans CJK SC" pitchFamily="34" charset="0"/>
                <a:ea typeface="Noto Sans CJK SC" pitchFamily="34" charset="-122"/>
                <a:cs typeface="Noto Sans CJK SC" pitchFamily="34" charset="-120"/>
              </a:rPr>
              <a:t>Monad Documentation</a:t>
            </a:r>
            <a:endParaRPr lang="en-US" sz="2000" dirty="0"/>
          </a:p>
        </p:txBody>
      </p:sp>
      <p:sp>
        <p:nvSpPr>
          <p:cNvPr id="19" name="Text 17"/>
          <p:cNvSpPr/>
          <p:nvPr/>
        </p:nvSpPr>
        <p:spPr>
          <a:xfrm>
            <a:off x="6583680" y="3218688"/>
            <a:ext cx="4389120" cy="1417320"/>
          </a:xfrm>
          <a:prstGeom prst="rect">
            <a:avLst/>
          </a:prstGeom>
          <a:noFill/>
          <a:ln/>
        </p:spPr>
        <p:txBody>
          <a:bodyPr wrap="square" lIns="0" tIns="0" rIns="0" bIns="0" rtlCol="0" anchor="t">
            <a:normAutofit/>
          </a:bodyPr>
          <a:lstStyle/>
          <a:p>
            <a:pPr algn="l" indent="0" marL="0">
              <a:buNone/>
            </a:pPr>
            <a:r>
              <a:t>• Mainnet Chain ID: 143</a:t>
            </a:r>
            <a:endParaRPr lang="en-US" sz="1150" dirty="0"/>
          </a:p>
          <a:p>
            <a:r>
              <a:t>• EVM-compatible Layer 1</a:t>
            </a:r>
          </a:p>
          <a:p>
            <a:r>
              <a:t>• JSON-RPC supports debug_traceCall</a:t>
            </a:r>
          </a:p>
          <a:p>
            <a:r>
              <a:t>• Mainnet is publicly live</a:t>
            </a:r>
          </a:p>
        </p:txBody>
      </p:sp>
      <p:sp>
        <p:nvSpPr>
          <p:cNvPr id="20" name="Text 18"/>
          <p:cNvSpPr/>
          <p:nvPr/>
        </p:nvSpPr>
        <p:spPr>
          <a:xfrm>
            <a:off x="6583680" y="5358384"/>
            <a:ext cx="4251960" cy="219456"/>
          </a:xfrm>
          <a:prstGeom prst="rect">
            <a:avLst/>
          </a:prstGeom>
          <a:noFill/>
          <a:ln/>
        </p:spPr>
        <p:txBody>
          <a:bodyPr wrap="square" lIns="0" tIns="0" rIns="0" bIns="0" rtlCol="0" anchor="t">
            <a:normAutofit/>
          </a:bodyPr>
          <a:lstStyle/>
          <a:p>
            <a:pPr algn="l" indent="0" marL="0">
              <a:buNone/>
            </a:pPr>
            <a:r>
              <a:rPr lang="en-US" sz="950" b="1" dirty="0">
                <a:solidFill>
                  <a:srgbClr val="9CA3AF"/>
                </a:solidFill>
                <a:latin typeface="Noto Sans CJK SC" pitchFamily="34" charset="0"/>
                <a:ea typeface="Noto Sans CJK SC" pitchFamily="34" charset="-122"/>
                <a:cs typeface="Noto Sans CJK SC" pitchFamily="34" charset="-120"/>
              </a:rPr>
              <a:t>Deck prepared for MossGuard Hackathon Demo</a:t>
            </a:r>
            <a:endParaRPr lang="en-US" sz="950" dirty="0"/>
          </a:p>
        </p:txBody>
      </p:sp>
      <p:sp>
        <p:nvSpPr>
          <p:cNvPr id="21" name="Shape 19"/>
          <p:cNvSpPr/>
          <p:nvPr/>
        </p:nvSpPr>
        <p:spPr>
          <a:xfrm>
            <a:off x="548640" y="6446520"/>
            <a:ext cx="11064240" cy="0"/>
          </a:xfrm>
          <a:prstGeom prst="line">
            <a:avLst/>
          </a:prstGeom>
          <a:noFill/>
          <a:ln w="7620">
            <a:solidFill>
              <a:srgbClr val="292747">
                <a:alpha val="70000"/>
              </a:srgbClr>
            </a:solidFill>
            <a:prstDash val="solid"/>
          </a:ln>
        </p:spPr>
        <p:txBody>
          <a:bodyPr/>
          <a:p/>
        </p:txBody>
      </p:sp>
      <p:sp>
        <p:nvSpPr>
          <p:cNvPr id="22" name="Text 20"/>
          <p:cNvSpPr/>
          <p:nvPr/>
        </p:nvSpPr>
        <p:spPr>
          <a:xfrm>
            <a:off x="576072" y="6492240"/>
            <a:ext cx="4023360" cy="155448"/>
          </a:xfrm>
          <a:prstGeom prst="rect">
            <a:avLst/>
          </a:prstGeom>
          <a:noFill/>
          <a:ln/>
        </p:spPr>
        <p:txBody>
          <a:bodyPr wrap="square" lIns="0" tIns="0" rIns="0" bIns="0" rtlCol="0" anchor="ctr"/>
          <a:lstStyle/>
          <a:p>
            <a:pPr indent="0" marL="0">
              <a:buNone/>
            </a:pPr>
            <a:r>
              <a:rPr lang="en-US" sz="760" dirty="0">
                <a:solidFill>
                  <a:srgbClr val="6B7280"/>
                </a:solidFill>
                <a:latin typeface="Noto Sans CJK SC" pitchFamily="34" charset="0"/>
                <a:ea typeface="Noto Sans CJK SC" pitchFamily="34" charset="-122"/>
                <a:cs typeface="Noto Sans CJK SC" pitchFamily="34" charset="-120"/>
              </a:rPr>
              <a:t>Agent proposes. Evidence decides. Human signs.</a:t>
            </a:r>
            <a:endParaRPr lang="en-US" sz="760" dirty="0"/>
          </a:p>
        </p:txBody>
      </p:sp>
      <p:sp>
        <p:nvSpPr>
          <p:cNvPr id="23" name="Text 21"/>
          <p:cNvSpPr/>
          <p:nvPr/>
        </p:nvSpPr>
        <p:spPr>
          <a:xfrm>
            <a:off x="5623560" y="6492240"/>
            <a:ext cx="5486400" cy="155448"/>
          </a:xfrm>
          <a:prstGeom prst="rect">
            <a:avLst/>
          </a:prstGeom>
          <a:noFill/>
          <a:ln/>
        </p:spPr>
        <p:txBody>
          <a:bodyPr wrap="square" lIns="0" tIns="0" rIns="0" bIns="0" rtlCol="0" anchor="ctr"/>
          <a:lstStyle/>
          <a:p>
            <a:pPr algn="r" indent="0" marL="0">
              <a:buNone/>
            </a:pPr>
            <a:r>
              <a:rPr lang="en-US" sz="720" dirty="0">
                <a:solidFill>
                  <a:srgbClr val="6B7280"/>
                </a:solidFill>
                <a:latin typeface="Noto Sans CJK SC" pitchFamily="34" charset="0"/>
                <a:ea typeface="Noto Sans CJK SC" pitchFamily="34" charset="-122"/>
                <a:cs typeface="Noto Sans CJK SC" pitchFamily="34" charset="-120"/>
              </a:rPr>
              <a:t>Official sources checked: 2026-07-29</a:t>
            </a:r>
            <a:endParaRPr lang="en-US" sz="720" dirty="0"/>
          </a:p>
        </p:txBody>
      </p:sp>
      <p:sp>
        <p:nvSpPr>
          <p:cNvPr id="25" name="Slide Number Placeholder 0"/>
          <p:cNvSpPr>
            <a:spLocks noGrp="1"/>
          </p:cNvSpPr>
          <p:nvPr>
            <p:ph type="sldNum" sz="quarter" idx="4294967295"/>
          </p:nvPr>
        </p:nvSpPr>
        <p:spPr>
          <a:xfrm>
            <a:off x="11475720" y="6473952"/>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Noto Sans CJK SC"/>
                <a:ea typeface="Noto Sans CJK SC"/>
                <a:cs typeface="Noto Sans CJK SC"/>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MossGuard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MossGuard — AI Agent Trust Layer for Monad</dc:title>
  <dc:subject>MossGuard Hackathon Pitch Deck</dc:subject>
  <dc:creator>OpenAI</dc:creator>
  <cp:lastModifiedBy>OpenAI</cp:lastModifiedBy>
  <cp:revision>1</cp:revision>
  <dcterms:created xsi:type="dcterms:W3CDTF">2026-07-29T07:48:33Z</dcterms:created>
  <dcterms:modified xsi:type="dcterms:W3CDTF">2026-07-29T07:48:33Z</dcterms:modified>
</cp:coreProperties>
</file>