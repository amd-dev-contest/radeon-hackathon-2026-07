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D1C24"/>
                </a:solidFill>
                <a:latin typeface="Segoe UI"/>
              </a:defRPr>
            </a:pPr>
            <a:r>
              <a:t>AMD Radeon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Segoe UI"/>
              </a:defRPr>
            </a:pPr>
            <a:r>
              <a:t>Argos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CFFF"/>
                </a:solidFill>
                <a:latin typeface="Segoe UI"/>
              </a:defRPr>
            </a:pPr>
            <a:r>
              <a:t>Agentic AI Companion with Local RAG, Tool Invocation &amp; Voice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  <a:latin typeface="Segoe UI"/>
              </a:defRPr>
            </a:pPr>
            <a:r>
              <a:t>Track 2: Development &amp; Local Deployment of Private AI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D700"/>
                </a:solidFill>
                <a:latin typeface="Segoe UI"/>
              </a:defRPr>
            </a:pPr>
            <a:r>
              <a:t>Team: GERALD BUSTILLA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E676"/>
                </a:solidFill>
                <a:latin typeface="Segoe UI"/>
              </a:defRPr>
            </a:pPr>
            <a:r>
              <a:t>Powered by AMD Radeon Cloud API (OpenAI-compatible) + Local Whisper STT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D1C24"/>
                </a:solidFill>
                <a:latin typeface="Segoe UI"/>
              </a:defRPr>
            </a:pPr>
            <a:r>
              <a:t>Application Scenarios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3200400" cy="1097280"/>
          </a:xfrm>
          <a:prstGeom prst="roundRect">
            <a:avLst/>
          </a:prstGeom>
          <a:solidFill>
            <a:srgbClr val="ED1C24"/>
          </a:solidFill>
          <a:ln>
            <a:solidFill>
              <a:srgbClr val="ED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Personal Intelligent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132588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Segoe UI"/>
              </a:defRPr>
            </a:pPr>
            <a:r>
              <a:t>Always-on desktop companion with real-time chat, proactive engagement,</a:t>
            </a:r>
            <a:br/>
            <a:r>
              <a:t>voice input (Whisper), and screen awareness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468880"/>
            <a:ext cx="3200400" cy="1097280"/>
          </a:xfrm>
          <a:prstGeom prst="roundRect">
            <a:avLst/>
          </a:prstGeom>
          <a:solidFill>
            <a:srgbClr val="ED1C24"/>
          </a:solidFill>
          <a:ln>
            <a:solidFill>
              <a:srgbClr val="ED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Office Automation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260604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Segoe UI"/>
              </a:defRPr>
            </a:pPr>
            <a:r>
              <a:t>Browser automation, file management, command execution,</a:t>
            </a:r>
            <a:br/>
            <a:r>
              <a:t>keyboard/mouse control via 38+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749040"/>
            <a:ext cx="3200400" cy="1097280"/>
          </a:xfrm>
          <a:prstGeom prst="roundRect">
            <a:avLst/>
          </a:prstGeom>
          <a:solidFill>
            <a:srgbClr val="ED1C24"/>
          </a:solidFill>
          <a:ln>
            <a:solidFill>
              <a:srgbClr val="ED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Local Knowledge Base Q&amp;A (RAG)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38862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Segoe UI"/>
              </a:defRPr>
            </a:pPr>
            <a:r>
              <a:t>TF-IDF + BM25 document indexing with Reciprocal Rank Fusion.</a:t>
            </a:r>
            <a:br/>
            <a:r>
              <a:t>Manual folder sync, persistent index, 100% local search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029200"/>
            <a:ext cx="3200400" cy="1097280"/>
          </a:xfrm>
          <a:prstGeom prst="roundRect">
            <a:avLst/>
          </a:prstGeom>
          <a:solidFill>
            <a:srgbClr val="ED1C24"/>
          </a:solidFill>
          <a:ln>
            <a:solidFill>
              <a:srgbClr val="ED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Privacy-First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51663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Segoe UI"/>
              </a:defRPr>
            </a:pPr>
            <a:r>
              <a:t>No hardcoded API keys, configurable endpoints, no telemetry.</a:t>
            </a:r>
            <a:br/>
            <a:r>
              <a:t>All RAG, memory, and tool execution runs locally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D1C24"/>
                </a:solidFill>
                <a:latin typeface="Segoe UI"/>
              </a:defRPr>
            </a:pPr>
            <a:r>
              <a:t>Agent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3200400" cy="731520"/>
          </a:xfrm>
          <a:prstGeom prst="roundRect">
            <a:avLst/>
          </a:prstGeom>
          <a:solidFill>
            <a:srgbClr val="2A2A4A"/>
          </a:solidFill>
          <a:ln>
            <a:solidFill>
              <a:srgbClr val="2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CFFF"/>
                </a:solidFill>
                <a:latin typeface="Segoe UI"/>
              </a:defRPr>
            </a:pPr>
            <a:r>
              <a:t>Robot Overlay</a:t>
            </a:r>
            <a:br/>
            <a:r>
              <a:t>(Direct2D)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31920" y="1188720"/>
            <a:ext cx="3200400" cy="731520"/>
          </a:xfrm>
          <a:prstGeom prst="roundRect">
            <a:avLst/>
          </a:prstGeom>
          <a:solidFill>
            <a:srgbClr val="2A2A4A"/>
          </a:solidFill>
          <a:ln>
            <a:solidFill>
              <a:srgbClr val="2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CFFF"/>
                </a:solidFill>
                <a:latin typeface="Segoe UI"/>
              </a:defRPr>
            </a:pPr>
            <a:r>
              <a:t>Speech Bubble</a:t>
            </a:r>
            <a:br/>
            <a:r>
              <a:t>(Chat UI + Settings)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0" y="1188720"/>
            <a:ext cx="4114800" cy="731520"/>
          </a:xfrm>
          <a:prstGeom prst="roundRect">
            <a:avLst/>
          </a:prstGeom>
          <a:solidFill>
            <a:srgbClr val="2A2A4A"/>
          </a:solidFill>
          <a:ln>
            <a:solidFill>
              <a:srgbClr val="2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CFFF"/>
                </a:solidFill>
                <a:latin typeface="Segoe UI"/>
              </a:defRPr>
            </a:pPr>
            <a:r>
              <a:t>System Tray</a:t>
            </a:r>
            <a:br/>
            <a:r>
              <a:t>(Hide/Show/Quit)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377440"/>
            <a:ext cx="9144000" cy="548640"/>
          </a:xfrm>
          <a:prstGeom prst="roundRect">
            <a:avLst/>
          </a:prstGeom>
          <a:solidFill>
            <a:srgbClr val="0D4747"/>
          </a:solidFill>
          <a:ln>
            <a:solidFill>
              <a:srgbClr val="0D47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Agent Core (C++17)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00400"/>
            <a:ext cx="2560320" cy="914400"/>
          </a:xfrm>
          <a:prstGeom prst="roundRect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E676"/>
                </a:solidFill>
                <a:latin typeface="Segoe UI"/>
              </a:defRPr>
            </a:pPr>
            <a:r>
              <a:t>AgentClient</a:t>
            </a:r>
            <a:br/>
            <a:r>
              <a:t>SSE Streaming</a:t>
            </a:r>
            <a:br/>
            <a:r>
              <a:t>Tool Loop (8 iter)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3200400"/>
            <a:ext cx="2560320" cy="914400"/>
          </a:xfrm>
          <a:prstGeom prst="roundRect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E676"/>
                </a:solidFill>
                <a:latin typeface="Segoe UI"/>
              </a:defRPr>
            </a:pPr>
            <a:r>
              <a:t>Tool Dispatcher</a:t>
            </a:r>
            <a:br/>
            <a:r>
              <a:t>38+ Tools</a:t>
            </a:r>
            <a:br/>
            <a:r>
              <a:t>File/Browser/Screen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3200400"/>
            <a:ext cx="2560320" cy="914400"/>
          </a:xfrm>
          <a:prstGeom prst="roundRect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E676"/>
                </a:solidFill>
                <a:latin typeface="Segoe UI"/>
              </a:defRPr>
            </a:pPr>
            <a:r>
              <a:t>RAG Engine</a:t>
            </a:r>
            <a:br/>
            <a:r>
              <a:t>TF-IDF + BM25</a:t>
            </a:r>
            <a:br/>
            <a:r>
              <a:t>RRF Fusion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3200400"/>
            <a:ext cx="2743200" cy="914400"/>
          </a:xfrm>
          <a:prstGeom prst="roundRect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E676"/>
                </a:solidFill>
                <a:latin typeface="Segoe UI"/>
              </a:defRPr>
            </a:pPr>
            <a:r>
              <a:t>Memory (JSONL)</a:t>
            </a:r>
            <a:br/>
            <a:r>
              <a:t>+ Whisper STT</a:t>
            </a:r>
            <a:br/>
            <a:r>
              <a:t>(Local, GGML)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4572000"/>
            <a:ext cx="7315200" cy="731520"/>
          </a:xfrm>
          <a:prstGeom prst="roundRect">
            <a:avLst/>
          </a:prstGeom>
          <a:solidFill>
            <a:srgbClr val="ED1C24"/>
          </a:solidFill>
          <a:ln>
            <a:solidFill>
              <a:srgbClr val="ED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AMD Radeon Cloud API (OpenAI-compatible)</a:t>
            </a:r>
            <a:br/>
            <a:r>
              <a:t>DeepSeek-V4-Flash | MiniCPM5-1B | Qwen3.6-35B-A3B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D700"/>
                </a:solidFill>
                <a:latin typeface="Segoe UI"/>
              </a:defRPr>
            </a:pPr>
            <a:r>
              <a:t>Local: Whisper STT, RAG, Memory, All Tools    |    Cloud: LLM Inference on AMD Radeon GPU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D1C24"/>
                </a:solidFill>
                <a:latin typeface="Segoe UI"/>
              </a:defRPr>
            </a:pPr>
            <a:r>
              <a:t>Core Capabilities (5 of 5 Implemented)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188720"/>
            <a:ext cx="2286000" cy="457200"/>
          </a:xfrm>
          <a:prstGeom prst="roundRect">
            <a:avLst/>
          </a:prstGeom>
          <a:solidFill>
            <a:srgbClr val="00E676"/>
          </a:solidFill>
          <a:ln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Local Knowledge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37744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Segoe UI"/>
              </a:defRPr>
            </a:pPr>
            <a:r>
              <a:t>TF-IDF + BM25 + RRF</a:t>
            </a:r>
            <a:br/>
            <a:r>
              <a:t>Persistent disk index</a:t>
            </a:r>
            <a:br/>
            <a:r>
              <a:t>Manual folder sync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1188720"/>
            <a:ext cx="2286000" cy="457200"/>
          </a:xfrm>
          <a:prstGeom prst="roundRect">
            <a:avLst/>
          </a:prstGeom>
          <a:solidFill>
            <a:srgbClr val="00CFFF"/>
          </a:solidFill>
          <a:ln>
            <a:solidFill>
              <a:srgbClr val="00C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Tool Invocation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237744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Segoe UI"/>
              </a:defRPr>
            </a:pPr>
            <a:r>
              <a:t>38+ tools</a:t>
            </a:r>
            <a:br/>
            <a:r>
              <a:t>Agentic loop (8 iter)</a:t>
            </a:r>
            <a:br/>
            <a:r>
              <a:t>Browser, file, screen, keyboard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188720"/>
            <a:ext cx="228600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Planning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Multi-Step Task Planning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37744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Segoe UI"/>
              </a:defRPr>
            </a:pPr>
            <a:r>
              <a:t>AI decomposes tasks</a:t>
            </a:r>
            <a:br/>
            <a:r>
              <a:t>Conditional tool calls</a:t>
            </a:r>
            <a:br/>
            <a:r>
              <a:t>Self-correction on errors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188720"/>
            <a:ext cx="2286000" cy="457200"/>
          </a:xfrm>
          <a:prstGeom prst="roundRect">
            <a:avLst/>
          </a:prstGeom>
          <a:solidFill>
            <a:srgbClr val="BB33FF"/>
          </a:solidFill>
          <a:ln>
            <a:solidFill>
              <a:srgbClr val="BB3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Memory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Local Multi-Turn 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237744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Segoe UI"/>
              </a:defRPr>
            </a:pPr>
            <a:r>
              <a:t>JSONL persistence</a:t>
            </a:r>
            <a:br/>
            <a:r>
              <a:t>Cross-session recall</a:t>
            </a:r>
            <a:br/>
            <a:r>
              <a:t>recall / forget tools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84080" y="1188720"/>
            <a:ext cx="2286000" cy="457200"/>
          </a:xfrm>
          <a:prstGeom prst="roundRect">
            <a:avLst/>
          </a:prstGeom>
          <a:solidFill>
            <a:srgbClr val="ED1C24"/>
          </a:solidFill>
          <a:ln>
            <a:solidFill>
              <a:srgbClr val="ED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Privacy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Permission &amp; Privacy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237744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Segoe UI"/>
              </a:defRPr>
            </a:pPr>
            <a:r>
              <a:t>No hardcoded keys</a:t>
            </a:r>
            <a:br/>
            <a:r>
              <a:t>Config file + env vars</a:t>
            </a:r>
            <a:br/>
            <a:r>
              <a:t>No telemetry, local-first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E676"/>
                </a:solidFill>
                <a:latin typeface="Segoe UI"/>
              </a:defRPr>
            </a:pPr>
            <a:r>
              <a:t>Minimum requirement: 2 of 5  →  Implemented: 5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D1C24"/>
                </a:solidFill>
                <a:latin typeface="Segoe UI"/>
              </a:defRPr>
            </a:pPr>
            <a:r>
              <a:t>Models &amp; Local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CFFF"/>
                </a:solidFill>
                <a:latin typeface="Segoe UI"/>
              </a:defRPr>
            </a:pPr>
            <a:r>
              <a:t>Models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DeepSeek-V4-Flash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645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Segoe UI"/>
              </a:defRPr>
            </a:pPr>
            <a:r>
              <a:t>Primary 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645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E676"/>
                </a:solidFill>
                <a:latin typeface="Segoe UI"/>
              </a:defRPr>
            </a:pPr>
            <a:r>
              <a:t>AMD Radeon Cloud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645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Fast inference, SSE streaming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MiniCPM5-1B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194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Segoe UI"/>
              </a:defRPr>
            </a:pPr>
            <a:r>
              <a:t>Fallback LLM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194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E676"/>
                </a:solidFill>
                <a:latin typeface="Segoe UI"/>
              </a:defRPr>
            </a:pPr>
            <a:r>
              <a:t>AMD Radeon Cloud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194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Lightweight, auto-fallback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Qwen3.6-35B-A3B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743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Segoe UI"/>
              </a:defRPr>
            </a:pPr>
            <a:r>
              <a:t>Vision/Multimodal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743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E676"/>
                </a:solidFill>
                <a:latin typeface="Segoe UI"/>
              </a:defRPr>
            </a:pPr>
            <a:r>
              <a:t>AMD Radeon Cloud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743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OCR, screen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291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Whisper Tiny 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291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Segoe UI"/>
              </a:defRPr>
            </a:pPr>
            <a:r>
              <a:t>Speech-to-Text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3291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E676"/>
                </a:solidFill>
                <a:latin typeface="Segoe UI"/>
              </a:defRPr>
            </a:pPr>
            <a:r>
              <a:t>100% Local (whisper.cpp)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291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GGML quantized, on-device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CFFF"/>
                </a:solidFill>
                <a:latin typeface="Segoe UI"/>
              </a:defRPr>
            </a:pPr>
            <a:r>
              <a:t>Full Local Deployment Path (AMD Radeon GPU + ROCm)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7548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1. Deploy vLLM or llama.cpp (ROCm build) on AMD Radeon GPU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2. Load model (e.g., DeepSeek-V4-Flash) and expose OpenAI-compatible API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3. Point Argos to local endpoint via argos_config.txt: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     server_url=http://localhost:8000/v1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     api_key=local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4. Whisper STT, RAG, Memory, and all tools already run 100% locally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D1C24"/>
                </a:solidFill>
                <a:latin typeface="Segoe UI"/>
              </a:defRPr>
            </a:pPr>
            <a:r>
              <a:t>Inference Speed Optimization on AMD Radeon GPU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3474720" cy="822960"/>
          </a:xfrm>
          <a:prstGeom prst="roundRect">
            <a:avLst/>
          </a:prstGeom>
          <a:solidFill>
            <a:srgbClr val="0D4747"/>
          </a:solidFill>
          <a:ln>
            <a:solidFill>
              <a:srgbClr val="0D47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CFFF"/>
                </a:solidFill>
                <a:latin typeface="Segoe UI"/>
              </a:defRPr>
            </a:pPr>
            <a:r>
              <a:t>SSE Streaming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1143000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Token-by-token streaming eliminates perceived latency.</a:t>
            </a:r>
            <a:br/>
            <a:r>
              <a:t>Users see partial responses immediately.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03120"/>
            <a:ext cx="3474720" cy="822960"/>
          </a:xfrm>
          <a:prstGeom prst="roundRect">
            <a:avLst/>
          </a:prstGeom>
          <a:solidFill>
            <a:srgbClr val="0D4747"/>
          </a:solidFill>
          <a:ln>
            <a:solidFill>
              <a:srgbClr val="0D47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CFFF"/>
                </a:solidFill>
                <a:latin typeface="Segoe UI"/>
              </a:defRPr>
            </a:pPr>
            <a:r>
              <a:t>Model Fallback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2148840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Primary (DeepSeek-V4-Flash) → Fallback (MiniCPM5-1B).</a:t>
            </a:r>
            <a:br/>
            <a:r>
              <a:t>Prevents total failure, always returns a response.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108960"/>
            <a:ext cx="3474720" cy="822960"/>
          </a:xfrm>
          <a:prstGeom prst="roundRect">
            <a:avLst/>
          </a:prstGeom>
          <a:solidFill>
            <a:srgbClr val="0D4747"/>
          </a:solidFill>
          <a:ln>
            <a:solidFill>
              <a:srgbClr val="0D47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CFFF"/>
                </a:solidFill>
                <a:latin typeface="Segoe UI"/>
              </a:defRPr>
            </a:pPr>
            <a:r>
              <a:t>Agentic Loop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3154680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Max 8 tool iterations, concise tool results,</a:t>
            </a:r>
            <a:br/>
            <a:r>
              <a:t>history limited to 20 messages to manage prompt size.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114800"/>
            <a:ext cx="3474720" cy="822960"/>
          </a:xfrm>
          <a:prstGeom prst="roundRect">
            <a:avLst/>
          </a:prstGeom>
          <a:solidFill>
            <a:srgbClr val="0D4747"/>
          </a:solidFill>
          <a:ln>
            <a:solidFill>
              <a:srgbClr val="0D47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CFFF"/>
                </a:solidFill>
                <a:latin typeface="Segoe UI"/>
              </a:defRPr>
            </a:pPr>
            <a:r>
              <a:t>Local Component Optimization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4160520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Whisper Tiny EN: ~75MB, sub-second on CPU.</a:t>
            </a:r>
            <a:br/>
            <a:r>
              <a:t>RAG persistent index: no re-indexing on startup.</a:t>
            </a:r>
            <a:br/>
            <a:r>
              <a:t>JSONL memory: O(1) append writes.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3474720" cy="822960"/>
          </a:xfrm>
          <a:prstGeom prst="roundRect">
            <a:avLst/>
          </a:prstGeom>
          <a:solidFill>
            <a:srgbClr val="0D4747"/>
          </a:solidFill>
          <a:ln>
            <a:solidFill>
              <a:srgbClr val="0D47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CFFF"/>
                </a:solidFill>
                <a:latin typeface="Segoe UI"/>
              </a:defRPr>
            </a:pPr>
            <a:r>
              <a:t>AMD Radeon GPU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5166360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vLLM with ROCm: PagedAttention for KV cache.</a:t>
            </a:r>
            <a:br/>
            <a:r>
              <a:t>INT8/INT4 quantization via GGUF for llama.cpp.</a:t>
            </a:r>
            <a:br/>
            <a:r>
              <a:t>Flash Attention on ROCm for memory bandwidth.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D1C24"/>
                </a:solidFill>
                <a:latin typeface="Segoe UI"/>
              </a:defRPr>
            </a:pPr>
            <a:r>
              <a:t>Tech Stack &amp;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CFFF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Language: C++17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UI: Win32 API + Direct2D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AI Inference: AMD Radeon Cloud API (OpenAI-compatible)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Speech-to-Text: whisper.cpp (GGML, local)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RAG Engine: Custom TF-IDF + BM25 + RRF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Memory: JSONL persistent storage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Browser Automation: Windows UI Automation API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Build: MSBuild (Visual Studio 2022)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Platform: Windows 10/11 x64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CFFF"/>
                </a:solidFill>
                <a:latin typeface="Segoe UI"/>
              </a:defRPr>
            </a:pPr>
            <a:r>
              <a:t>Build &amp; Run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Segoe UI"/>
              </a:defRPr>
            </a:pPr>
            <a:r>
              <a:t>1. Install VS 2022 Build Tools (C++ workload)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Segoe UI"/>
              </a:defRPr>
            </a:pPr>
            <a:r>
              <a:t>2. git clone https://github.com/Zrald1/amdagentic.git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Segoe UI"/>
              </a:defRPr>
            </a:pPr>
            <a:r>
              <a:t>3. cd amdagentic\cpp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Segoe UI"/>
              </a:defRPr>
            </a:pPr>
            <a:r>
              <a:t>4. build.bat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Segoe UI"/>
              </a:defRPr>
            </a:pPr>
            <a:r>
              <a:t>5. Output: build\Debug\argos.exe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Segoe UI"/>
              </a:defRPr>
            </a:pPr>
            <a:r>
              <a:t>Configuration (3 methods):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Segoe UI"/>
              </a:defRPr>
            </a:pPr>
            <a:r>
              <a:t>  - Environment variables: ARGOS_API_KEY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Segoe UI"/>
              </a:defRPr>
            </a:pPr>
            <a:r>
              <a:t>  - Config file: argos_config.txt (next to exe)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Segoe UI"/>
              </a:defRPr>
            </a:pPr>
            <a:r>
              <a:t>  - In-app Settings UI (auto-saves to config)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Segoe UI"/>
              </a:defRPr>
            </a:pPr>
            <a:r>
              <a:t>No hardcoded API keys in source code.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Segoe UI"/>
              </a:defRPr>
            </a:pPr>
            <a:r>
              <a:t>Zero external package manager dependencies.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D1C24"/>
                </a:solidFill>
                <a:latin typeface="Segoe UI"/>
              </a:defRPr>
            </a:pPr>
            <a:r>
              <a:t>Demo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82880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CCCCCC"/>
                </a:solidFill>
                <a:latin typeface="Segoe UI"/>
              </a:defRPr>
            </a:pPr>
            <a:r>
              <a:t>Spartan warrior robot with shield &amp; sword on desktop</a:t>
            </a:r>
          </a:p>
          <a:p>
            <a:pPr>
              <a:spcAft>
                <a:spcPts val="600"/>
              </a:spcAft>
              <a:defRPr sz="1800">
                <a:solidFill>
                  <a:srgbClr val="CCCCCC"/>
                </a:solidFill>
                <a:latin typeface="Segoe UI"/>
              </a:defRPr>
            </a:pPr>
            <a:r>
              <a:t>Electric lightning effect during tool execution</a:t>
            </a:r>
          </a:p>
          <a:p>
            <a:pPr>
              <a:spcAft>
                <a:spcPts val="600"/>
              </a:spcAft>
              <a:defRPr sz="1800">
                <a:solidFill>
                  <a:srgbClr val="CCCCCC"/>
                </a:solidFill>
                <a:latin typeface="Segoe UI"/>
              </a:defRPr>
            </a:pPr>
            <a:r>
              <a:t>Push-to-talk voice input (Caps Lock + Whisper)</a:t>
            </a:r>
          </a:p>
          <a:p>
            <a:pPr>
              <a:spcAft>
                <a:spcPts val="600"/>
              </a:spcAft>
              <a:defRPr sz="1800">
                <a:solidFill>
                  <a:srgbClr val="CCCCCC"/>
                </a:solidFill>
                <a:latin typeface="Segoe UI"/>
              </a:defRPr>
            </a:pPr>
            <a:r>
              <a:t>RAG folder sync &amp; semantic search</a:t>
            </a:r>
          </a:p>
          <a:p>
            <a:pPr>
              <a:spcAft>
                <a:spcPts val="600"/>
              </a:spcAft>
              <a:defRPr sz="1800">
                <a:solidFill>
                  <a:srgbClr val="CCCCCC"/>
                </a:solidFill>
                <a:latin typeface="Segoe UI"/>
              </a:defRPr>
            </a:pPr>
            <a:r>
              <a:t>Browser automation: open URL → read screen → summarize</a:t>
            </a:r>
          </a:p>
          <a:p>
            <a:pPr>
              <a:spcAft>
                <a:spcPts val="600"/>
              </a:spcAft>
              <a:defRPr sz="1800">
                <a:solidFill>
                  <a:srgbClr val="CCCCCC"/>
                </a:solidFill>
                <a:latin typeface="Segoe UI"/>
              </a:defRPr>
            </a:pPr>
            <a:r>
              <a:t>Multi-turn conversation with persistent memory</a:t>
            </a:r>
          </a:p>
          <a:p>
            <a:pPr>
              <a:spcAft>
                <a:spcPts val="600"/>
              </a:spcAft>
              <a:defRPr sz="1800">
                <a:solidFill>
                  <a:srgbClr val="CCCCCC"/>
                </a:solidFill>
                <a:latin typeface="Segoe UI"/>
              </a:defRPr>
            </a:pPr>
            <a:r>
              <a:t>Streaming responses with reasoning/thoughts display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D700"/>
                </a:solidFill>
                <a:latin typeface="Segoe UI"/>
              </a:defRPr>
            </a:pPr>
            <a:r>
              <a:t>Team: GERALD BUSTILLA  |  Track 2  |  Argos — Agentic AI Companion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