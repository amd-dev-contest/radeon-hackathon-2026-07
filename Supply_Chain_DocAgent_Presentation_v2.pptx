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Supply Chain DocAgent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C8D3E6"/>
                </a:solidFill>
              </a:rPr>
              <a:t>基于 AMD Radeon GPU 的供应链单据智能处理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0D9488"/>
                </a:solidFill>
              </a:rPr>
              <a:t>AMD AI DevMaster Hackathon 2026 | Track 2: Private AI Agent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888888"/>
                </a:solidFill>
              </a:rPr>
              <a:t>Python | LangChain | vLLM | ROCm | Llama-3.1-8B | BGE Embeddings | Gradio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供应链单据处理的痛点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188720"/>
            <a:ext cx="36576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现状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188720"/>
            <a:ext cx="36576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人工逐单核对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每张单据处理需 15 分钟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9456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效率低下，难以应对大批量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3657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三单匹配依赖经验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200400"/>
            <a:ext cx="3657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新手容易漏检差异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200400"/>
            <a:ext cx="3657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错误率约 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单据格式不统一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20624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不同供应商模板各异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20624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识别困难，需人工适配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3657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异常处理追溯难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5212080"/>
            <a:ext cx="3657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394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纸质单据难以检索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5212080"/>
            <a:ext cx="3657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5394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审计困难，责任不清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我们的解决方案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零云端依赖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所有数据本地处理</a:t>
            </a:r>
            <a:br/>
            <a:r>
              <a:t>保护商业机密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560320" cy="2286000"/>
          </a:xfrm>
          <a:prstGeom prst="roundRect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全流程自动化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识别→提取→校验</a:t>
            </a:r>
            <a:br/>
            <a:r>
              <a:t>→录入→异常处理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560320" cy="2286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多Agent协作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5个专业Agent</a:t>
            </a:r>
            <a:br/>
            <a:r>
              <a:t>各司其职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人机协作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AI处理标准流程</a:t>
            </a:r>
            <a:br/>
            <a:r>
              <a:t>异常自动升级人工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1F1F"/>
                </a:solidFill>
              </a:rPr>
              <a:t>技术亮点</a:t>
            </a:r>
          </a:p>
          <a:p>
            <a:r>
              <a:rPr sz="1600">
                <a:solidFill>
                  <a:srgbClr val="444444"/>
                </a:solidFill>
              </a:rPr>
              <a:t>• Llama-3.1-8B + ROCm 6.x 本地推理，FP16 混合精度</a:t>
            </a:r>
          </a:p>
          <a:p>
            <a:r>
              <a:rPr sz="1600">
                <a:solidFill>
                  <a:srgbClr val="444444"/>
                </a:solidFill>
              </a:rPr>
              <a:t>• BGE Embeddings 向量化 + LlamaIndex RAG 引擎</a:t>
            </a:r>
          </a:p>
          <a:p>
            <a:r>
              <a:rPr sz="1600">
                <a:solidFill>
                  <a:srgbClr val="444444"/>
                </a:solidFill>
              </a:rPr>
              <a:t>• vLLM 高性能推理服务，GPU 显存占用 &lt; 12GB</a:t>
            </a:r>
          </a:p>
          <a:p>
            <a:r>
              <a:rPr sz="1600">
                <a:solidFill>
                  <a:srgbClr val="444444"/>
                </a:solidFill>
              </a:rPr>
              <a:t>• Gradio Web UI，支持对话式查询和文档处理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solidFill>
            <a:srgbClr val="E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输入层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拍照/扫描 | PDF/Excel | 邮件附件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Agent 编排层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Classify | Extract | Validate | Entry | Exception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RAG 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BGE Embeddings + LlamaIndex | 单据模板库 + 历史案例库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10058400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LLM 推理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Llama-3.1-8B + vLLM + ROCm | FP16 混合精度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输出层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21208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核对通过 → 自动入库 | 异常 → 推送审批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多 Agent 协作分工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97280"/>
            <a:ext cx="27432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职责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097280"/>
            <a:ext cx="32004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234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97280"/>
            <a:ext cx="32004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234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Classify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92024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识别单据类型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92024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单据文本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92024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类型标签 (PO/送货单/发票)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22860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Extract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74320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提取结构化字段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743200"/>
            <a:ext cx="3200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单据文本 + 类型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743200"/>
            <a:ext cx="3200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JSON 字段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703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Validate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56616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三单交叉校验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56616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PO + 送货单 + 发票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56616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校验结果 + 差异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20"/>
            <a:ext cx="22860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Entry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38912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ERP 数据回写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4389120"/>
            <a:ext cx="3200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校验通过的数据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4389120"/>
            <a:ext cx="3200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录入确认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21208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Exception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21208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异常分类与通知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521208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校验失败的数据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521208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396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</a:rPr>
              <a:t>审批通知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技术栈详情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320040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技术选型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097280"/>
            <a:ext cx="274320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版本/配置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200400" cy="6400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82880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Llama-3.1-8B-Instruct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82880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FP16, temp=0.3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单据理解与生成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18288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推理引擎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560320"/>
            <a:ext cx="32004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vLLM + ROCm 6.x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560320"/>
            <a:ext cx="2743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批处理优化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560320"/>
            <a:ext cx="32004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高性能 GPU 推理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Embeddings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29184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BGE-small-en-v1.5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512 chunk, top_k=5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9184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向量化与 RAG 检索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18288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RAG 框架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4023360"/>
            <a:ext cx="32004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LlamaIndex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4023360"/>
            <a:ext cx="2743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向量数据库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23360"/>
            <a:ext cx="32004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知识库管理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5488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Agent 框架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475488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LangChain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475488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多Agent编排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75488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工作流协调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486400"/>
            <a:ext cx="18288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Web UI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5486400"/>
            <a:ext cx="32004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0" y="5577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Gradio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5486400"/>
            <a:ext cx="2743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端口 7860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5486400"/>
            <a:ext cx="32004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5577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用户交互界面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AMD Radeon GPU + ROCm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F1F"/>
                </a:solidFill>
              </a:rPr>
              <a:t>测试环境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 GPU: AMD Radeon RX 7900 XTX (24GB VRAM)</a:t>
            </a:r>
          </a:p>
          <a:p>
            <a:r>
              <a:rPr sz="1600"/>
              <a:t>• OS: Ubuntu 22.04 LTS</a:t>
            </a:r>
          </a:p>
          <a:p>
            <a:r>
              <a:rPr sz="1600"/>
              <a:t>• ROCm: 6.1</a:t>
            </a:r>
          </a:p>
          <a:p>
            <a:r>
              <a:rPr sz="1600"/>
              <a:t>• PyTorch: 2.4.0+rocm6.1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F1F"/>
                </a:solidFill>
              </a:rPr>
              <a:t>性能指标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单据分类准确率: 98%+</a:t>
            </a:r>
          </a:p>
          <a:p>
            <a:r>
              <a:rPr sz="1600"/>
              <a:t>字段提取准确率: 95%+</a:t>
            </a:r>
          </a:p>
          <a:p>
            <a:r>
              <a:rPr sz="1600"/>
              <a:t>三单匹配准确率: 99%+</a:t>
            </a:r>
          </a:p>
          <a:p>
            <a:r>
              <a:rPr sz="1600"/>
              <a:t>单张处理时间: &lt; 30 秒</a:t>
            </a:r>
          </a:p>
          <a:p>
            <a:r>
              <a:rPr sz="1600"/>
              <a:t>GPU 显存占用: &lt; 12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F1F"/>
                </a:solidFill>
              </a:rPr>
              <a:t>优化技术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• FP16 混合精度推理 - 减少显存占用，提升计算效率</a:t>
            </a:r>
          </a:p>
          <a:p>
            <a:r>
              <a:rPr sz="1400">
                <a:solidFill>
                  <a:srgbClr val="444444"/>
                </a:solidFill>
              </a:rPr>
              <a:t>• vLLM 批处理优化 - 支持并发请求，提高吞吐量</a:t>
            </a:r>
          </a:p>
          <a:p>
            <a:r>
              <a:rPr sz="1400">
                <a:solidFill>
                  <a:srgbClr val="444444"/>
                </a:solidFill>
              </a:rPr>
              <a:t>• BGE 向量化 - 本地 Embedding 计算，零网络延迟</a:t>
            </a:r>
          </a:p>
          <a:p>
            <a:r>
              <a:rPr sz="1400">
                <a:solidFill>
                  <a:srgbClr val="444444"/>
                </a:solidFill>
              </a:rPr>
              <a:t>• ROCm HIP 后端 - 原生 AMD GPU 支持，无需 CUDA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三单交叉校验逻辑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校验规则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• PO号匹配</a:t>
            </a:r>
          </a:p>
          <a:p>
            <a:r>
              <a:rPr sz="1400">
                <a:solidFill>
                  <a:srgbClr val="666666"/>
                </a:solidFill>
              </a:rPr>
              <a:t>  po_number ↔ po_reference</a:t>
            </a:r>
          </a:p>
          <a:p>
            <a:r>
              <a:rPr sz="1600" b="1"/>
              <a:t>• 物料编码匹配</a:t>
            </a:r>
          </a:p>
          <a:p>
            <a:r>
              <a:rPr sz="1400">
                <a:solidFill>
                  <a:srgbClr val="666666"/>
                </a:solidFill>
              </a:rPr>
              <a:t>  item_code ↔ item_code</a:t>
            </a:r>
          </a:p>
          <a:p>
            <a:r>
              <a:rPr sz="1600" b="1"/>
              <a:t>• 数量匹配</a:t>
            </a:r>
          </a:p>
          <a:p>
            <a:r>
              <a:rPr sz="1400">
                <a:solidFill>
                  <a:srgbClr val="666666"/>
                </a:solidFill>
              </a:rPr>
              <a:t>  quantity ↔ quantity_delivered (±5%容差)</a:t>
            </a:r>
          </a:p>
          <a:p>
            <a:r>
              <a:rPr sz="1600" b="1"/>
              <a:t>• 单价匹配</a:t>
            </a:r>
          </a:p>
          <a:p>
            <a:r>
              <a:rPr sz="1400">
                <a:solidFill>
                  <a:srgbClr val="666666"/>
                </a:solidFill>
              </a:rPr>
              <a:t>  unit_price ↔ unit_price</a:t>
            </a:r>
          </a:p>
          <a:p>
            <a:r>
              <a:rPr sz="1600" b="1"/>
              <a:t>• 金额匹配</a:t>
            </a:r>
          </a:p>
          <a:p>
            <a:r>
              <a:rPr sz="1400">
                <a:solidFill>
                  <a:srgbClr val="666666"/>
                </a:solidFill>
              </a:rPr>
              <a:t>  total_amount ↔ amount (±1%容差)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校验流程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1. 上传采购订单</a:t>
            </a:r>
          </a:p>
          <a:p>
            <a:r>
              <a:rPr sz="1400">
                <a:solidFill>
                  <a:srgbClr val="666666"/>
                </a:solidFill>
              </a:rPr>
              <a:t>  Extract Agent 提取字段</a:t>
            </a:r>
          </a:p>
          <a:p>
            <a:r>
              <a:rPr sz="1600" b="1"/>
              <a:t>2. 上传送货单</a:t>
            </a:r>
          </a:p>
          <a:p>
            <a:r>
              <a:rPr sz="1400">
                <a:solidFill>
                  <a:srgbClr val="666666"/>
                </a:solidFill>
              </a:rPr>
              <a:t>  Extract Agent 提取字段</a:t>
            </a:r>
          </a:p>
          <a:p>
            <a:r>
              <a:rPr sz="1600" b="1"/>
              <a:t>3. 上传发票</a:t>
            </a:r>
          </a:p>
          <a:p>
            <a:r>
              <a:rPr sz="1400">
                <a:solidFill>
                  <a:srgbClr val="666666"/>
                </a:solidFill>
              </a:rPr>
              <a:t>  Extract Agent 提取字段</a:t>
            </a:r>
          </a:p>
          <a:p>
            <a:r>
              <a:rPr sz="1600" b="1"/>
              <a:t>4. 三单交叉校验</a:t>
            </a:r>
          </a:p>
          <a:p>
            <a:r>
              <a:rPr sz="1400">
                <a:solidFill>
                  <a:srgbClr val="666666"/>
                </a:solidFill>
              </a:rPr>
              <a:t>  Validate Agent 比对</a:t>
            </a:r>
          </a:p>
          <a:p>
            <a:r>
              <a:rPr sz="1600" b="1"/>
              <a:t>5. 生成校验报告</a:t>
            </a:r>
          </a:p>
          <a:p>
            <a:r>
              <a:rPr sz="1400">
                <a:solidFill>
                  <a:srgbClr val="666666"/>
                </a:solidFill>
              </a:rPr>
              <a:t>  通过/异常 分流处理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商业价值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2004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188720"/>
            <a:ext cx="27432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改进前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27432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改进后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188720"/>
            <a:ext cx="2286000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371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单据处理时间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19456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15 分钟/张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2 分钟/张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194560"/>
            <a:ext cx="22860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3200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错误率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20040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33832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20040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0.5%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200400"/>
            <a:ext cx="22860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383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人力需求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20624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43891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8 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0624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3891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2 人（异常处理）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206240"/>
            <a:ext cx="22860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3200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3949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库存差异发现时效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521208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5394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T+1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21208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394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</a:rPr>
              <a:t>实时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5212080"/>
            <a:ext cx="22860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53949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创新点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领域专精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针对供应链单据场景深度优化</a:t>
            </a:r>
            <a:br/>
            <a:r>
              <a:t>非通用 Agent，专业能力更强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560320" cy="2286000"/>
          </a:xfrm>
          <a:prstGeom prst="roundRect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多 Agent 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5 个专业 Agent 各司其职</a:t>
            </a:r>
            <a:br/>
            <a:r>
              <a:t>协同完成复杂业务流程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560320" cy="22860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三单交叉校验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自动核对 PO/送货单/发票</a:t>
            </a:r>
            <a:br/>
            <a:r>
              <a:t>替代人工经验判断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完全本地化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商业数据零泄露风险</a:t>
            </a:r>
            <a:br/>
            <a:r>
              <a:t>适合企业私有化部署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未来扩展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1F1F"/>
                </a:solidFill>
              </a:rPr>
              <a:t>图像单据支持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集成多模态 LLM</a:t>
            </a:r>
            <a:br/>
            <a:r>
              <a:t>支持拍照识别手写单据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91440" cy="2286000"/>
          </a:xfrm>
          <a:prstGeom prst="rect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1F1F"/>
                </a:solidFill>
              </a:rPr>
              <a:t>全流程覆盖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扩展到出库、对账、结算</a:t>
            </a:r>
            <a:br/>
            <a:r>
              <a:t>覆盖供应链全链路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91440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1F1F"/>
                </a:solidFill>
              </a:rPr>
              <a:t>ERP 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对接 SAP/Oracle/用友</a:t>
            </a:r>
            <a:br/>
            <a:r>
              <a:t>实现真正的自动化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91440" cy="22860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1F1F"/>
                </a:solidFill>
              </a:rPr>
              <a:t>多仓库协同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支持多仓库并行处理</a:t>
            </a:r>
            <a:br/>
            <a:r>
              <a:t>统一管理和调度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D9488"/>
                </a:solidFill>
              </a:rPr>
              <a:t>✓ Multi-Agent collaboration (5 specialized agents)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D9488"/>
                </a:solidFill>
              </a:rPr>
              <a:t>✓ AMD GPU acceleration with ROCm 6.x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D9488"/>
                </a:solidFill>
              </a:rPr>
              <a:t>✓ Complete privacy protection (100% local)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D9488"/>
                </a:solidFill>
              </a:rPr>
              <a:t>✓ Real-world business value (87% time reduction)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D9488"/>
                </a:solidFill>
              </a:rPr>
              <a:t>✓ High accuracy (98%+ classification, 99%+ matching)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8D3E6"/>
                </a:solidFill>
              </a:rPr>
              <a:t>Team: cyslmsolomon</a:t>
            </a:r>
          </a:p>
          <a:p>
            <a:pPr algn="ctr"/>
            <a:r>
              <a:rPr sz="1600">
                <a:solidFill>
                  <a:srgbClr val="888888"/>
                </a:solidFill>
              </a:rPr>
              <a:t>GitHub: github.com/cyslmsolomon/Radeon-hackathon-2026-07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