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bead2dd1b43ab" /><Relationship Type="http://schemas.openxmlformats.org/officeDocument/2006/relationships/extended-properties" Target="/docProps/app.xml" Id="Rcaac5efe07dc4732" /><Relationship Type="http://schemas.openxmlformats.org/officeDocument/2006/relationships/officeDocument" Target="/ppt/presentation.xml" Id="R742c45979949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995e82b73421e"/>
  </p:sldMasterIdLst>
  <p:notesMasterIdLst>
    <p:notesMasterId xmlns:r="http://schemas.openxmlformats.org/officeDocument/2006/relationships" r:id="Raede33c572e4436f"/>
  </p:notesMasterIdLst>
  <p:sldIdLst>
    <p:sldId xmlns:r="http://schemas.openxmlformats.org/officeDocument/2006/relationships" id="256" r:id="R4d0ffbdcf7254a76"/>
    <p:sldId xmlns:r="http://schemas.openxmlformats.org/officeDocument/2006/relationships" id="257" r:id="R9486bc4e7b7b40ac"/>
    <p:sldId xmlns:r="http://schemas.openxmlformats.org/officeDocument/2006/relationships" id="258" r:id="R73148d866e994aa6"/>
    <p:sldId xmlns:r="http://schemas.openxmlformats.org/officeDocument/2006/relationships" id="259" r:id="Rfaea721b883b46b0"/>
    <p:sldId xmlns:r="http://schemas.openxmlformats.org/officeDocument/2006/relationships" id="260" r:id="R6a9ff0daaa6b4596"/>
    <p:sldId xmlns:r="http://schemas.openxmlformats.org/officeDocument/2006/relationships" id="261" r:id="R3d3c82c907ee402a"/>
    <p:sldId xmlns:r="http://schemas.openxmlformats.org/officeDocument/2006/relationships" id="262" r:id="R18d8d155ad274a4d"/>
    <p:sldId xmlns:r="http://schemas.openxmlformats.org/officeDocument/2006/relationships" id="263" r:id="R06315ee582cf4ffa"/>
    <p:sldId xmlns:r="http://schemas.openxmlformats.org/officeDocument/2006/relationships" id="264" r:id="R33d1c8f1070b4c3c"/>
    <p:sldId xmlns:r="http://schemas.openxmlformats.org/officeDocument/2006/relationships" id="265" r:id="Rba03e6fdaf15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d6db850c448db" /><Relationship Type="http://schemas.openxmlformats.org/officeDocument/2006/relationships/slideMaster" Target="/ppt/slideMasters/slideMaster1.xml" Id="R6c2995e82b73421e" /><Relationship Type="http://schemas.openxmlformats.org/officeDocument/2006/relationships/notesMaster" Target="/ppt/notesMasters/notesMaster1.xml" Id="Raede33c572e4436f" /><Relationship Type="http://schemas.openxmlformats.org/officeDocument/2006/relationships/presProps" Target="/ppt/presProps.xml" Id="R27be9ef2bcf9417f" /><Relationship Type="http://schemas.openxmlformats.org/officeDocument/2006/relationships/tableStyles" Target="/ppt/tableStyles.xml" Id="R115d729358604107" /><Relationship Type="http://schemas.openxmlformats.org/officeDocument/2006/relationships/slide" Target="/ppt/slides/slide1.xml" Id="R4d0ffbdcf7254a76" /><Relationship Type="http://schemas.openxmlformats.org/officeDocument/2006/relationships/slide" Target="/ppt/slides/slide2.xml" Id="R9486bc4e7b7b40ac" /><Relationship Type="http://schemas.openxmlformats.org/officeDocument/2006/relationships/slide" Target="/ppt/slides/slide3.xml" Id="R73148d866e994aa6" /><Relationship Type="http://schemas.openxmlformats.org/officeDocument/2006/relationships/slide" Target="/ppt/slides/slide4.xml" Id="Rfaea721b883b46b0" /><Relationship Type="http://schemas.openxmlformats.org/officeDocument/2006/relationships/slide" Target="/ppt/slides/slide5.xml" Id="R6a9ff0daaa6b4596" /><Relationship Type="http://schemas.openxmlformats.org/officeDocument/2006/relationships/slide" Target="/ppt/slides/slide6.xml" Id="R3d3c82c907ee402a" /><Relationship Type="http://schemas.openxmlformats.org/officeDocument/2006/relationships/slide" Target="/ppt/slides/slide7.xml" Id="R18d8d155ad274a4d" /><Relationship Type="http://schemas.openxmlformats.org/officeDocument/2006/relationships/slide" Target="/ppt/slides/slide8.xml" Id="R06315ee582cf4ffa" /><Relationship Type="http://schemas.openxmlformats.org/officeDocument/2006/relationships/slide" Target="/ppt/slides/slide9.xml" Id="R33d1c8f1070b4c3c" /><Relationship Type="http://schemas.openxmlformats.org/officeDocument/2006/relationships/slide" Target="/ppt/slides/slide10.xml" Id="Rba03e6fdaf15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8b63a2f246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8d3356dea41b3" /><Relationship Type="http://schemas.openxmlformats.org/officeDocument/2006/relationships/notesMaster" Target="/ppt/notesMasters/notesMaster1.xml" Id="R097bd95bc7f8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4137246d14bc4" /><Relationship Type="http://schemas.openxmlformats.org/officeDocument/2006/relationships/notesMaster" Target="/ppt/notesMasters/notesMaster1.xml" Id="Rb1a710edb98d41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bd66f3dd30481f" /><Relationship Type="http://schemas.openxmlformats.org/officeDocument/2006/relationships/notesMaster" Target="/ppt/notesMasters/notesMaster1.xml" Id="R8edf3169005f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e88fb71664558" /><Relationship Type="http://schemas.openxmlformats.org/officeDocument/2006/relationships/notesMaster" Target="/ppt/notesMasters/notesMaster1.xml" Id="R0e4cca12b690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30288624d43e9" /><Relationship Type="http://schemas.openxmlformats.org/officeDocument/2006/relationships/notesMaster" Target="/ppt/notesMasters/notesMaster1.xml" Id="Re12992817ee6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70b5faf8f469f" /><Relationship Type="http://schemas.openxmlformats.org/officeDocument/2006/relationships/notesMaster" Target="/ppt/notesMasters/notesMaster1.xml" Id="R5b9f60623edc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5a493f2e754ecd" /><Relationship Type="http://schemas.openxmlformats.org/officeDocument/2006/relationships/notesMaster" Target="/ppt/notesMasters/notesMaster1.xml" Id="R9b5e254683c34a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562cc1433d4740" /><Relationship Type="http://schemas.openxmlformats.org/officeDocument/2006/relationships/notesMaster" Target="/ppt/notesMasters/notesMaster1.xml" Id="R485a77f69c3e49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a4352916d343fc" /><Relationship Type="http://schemas.openxmlformats.org/officeDocument/2006/relationships/notesMaster" Target="/ppt/notesMasters/notesMaster1.xml" Id="R336778ca7ba049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b05106d7e403a" /><Relationship Type="http://schemas.openxmlformats.org/officeDocument/2006/relationships/notesMaster" Target="/ppt/notesMasters/notesMaster1.xml" Id="Rcc13bf0489de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this is an Agent that converts photographic intent into actions, not an image-captioning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https://github.com/AMD-DEV-CONTEST/Radeon-hackathon-2026-07</a:t>
            </a:r>
          </a:p>
          <a:p xmlns:a="http://schemas.openxmlformats.org/drawingml/2006/main">
            <a:r>
              <a:t>- https://www.pexels.com/photo/portrait-of-man-with-smartphone-19518383/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gap between visual recognition and real-world execution. The product is designed for ordinary users, so actions take priority over technical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https://www.pexels.com/photo/portrait-of-a-woman-standing-12182660/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in one breath: upload a photo, wait for local analysis, then use or download a stable guidance card. The reference thumbnail and real subject contour are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https://www.pexels.com/photo/portrait-of-man-with-smartphone-19518383/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user-facing sequence. Avoid technical detail here; the next slide reveals the Agent architecture behind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Every tool is registered, permission-checked, timed, and recorded. The Critic can request at most one bounded refinement and cannot invent new visual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the product directly to the official Track 2 capability list. The visible audit fields are returned with every result, so these are product behaviors rather than presentation-only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https://github.com/AMD-DEV-CONTEST/Radeon-hackathon-2026-07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deliberate safety and product decision. The system uses AI for interpretation and planning, then uses deterministic rendering for a stable, inspectable teaching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https://www.pexels.com/photo/portrait-of-a-woman-standing-12182660/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GPU remains local and the measurements are retained as observed. The slower group path includes malformed-output repair, grounding, and a second completion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cases to show image-specific behavior: a real phone changes the hand instruction, the no-prop image does not invent an object, and the group path matches all three foreground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https://www.pexels.com/photo/portrait-of-man-with-smartphone-19518383/</a:t>
            </a:r>
          </a:p>
          <a:p xmlns:a="http://schemas.openxmlformats.org/drawingml/2006/main">
            <a:r>
              <a:t>- https://www.pexels.com/photo/portrait-of-a-woman-standing-12182660/</a:t>
            </a:r>
          </a:p>
          <a:p xmlns:a="http://schemas.openxmlformats.org/drawingml/2006/main">
            <a:r>
              <a:t>- https://www.pexels.com/photo/group-portrait-of-three-friends-outdoors-35054544/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tension: the value is not describing a photo; it is exposing the decisions that let ordinary people recreate the result. End on reproducibility and the public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https://github.com/yang13926151198-ai/AI-Photographer-Agent-ROCm</a:t>
            </a:r>
          </a:p>
          <a:p xmlns:a="http://schemas.openxmlformats.org/drawingml/2006/main">
            <a:r>
              <a:t>- https://github.com/AMD-DEV-CONTEST/Radeon-hackathon-2026-07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54789b7c94d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d83e3acc7b493d" /><Relationship Type="http://schemas.openxmlformats.org/officeDocument/2006/relationships/slideLayout" Target="/ppt/slideLayouts/slideLayout1.xml" Id="R3ec2281940d4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c2281940d4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1bae8d99425c" /><Relationship Type="http://schemas.openxmlformats.org/officeDocument/2006/relationships/image" Target="/ppt/media/image.jpeg" Id="Rc90a95a7108a4c82" /><Relationship Type="http://schemas.openxmlformats.org/officeDocument/2006/relationships/notesSlide" Target="/ppt/notesSlides/notesSlide1.xml" Id="Ra4ac4e672149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434f1a83e41e3" /><Relationship Type="http://schemas.openxmlformats.org/officeDocument/2006/relationships/image" Target="/ppt/media/image2.jpeg" Id="Rec4c258289b4465b" /><Relationship Type="http://schemas.openxmlformats.org/officeDocument/2006/relationships/notesSlide" Target="/ppt/notesSlides/notesSlide2.xml" Id="R385b8f06ccc14e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775bf604d438d" /><Relationship Type="http://schemas.openxmlformats.org/officeDocument/2006/relationships/image" Target="/ppt/media/image3.jpeg" Id="R610ac5afbea7455b" /><Relationship Type="http://schemas.openxmlformats.org/officeDocument/2006/relationships/image" Target="/ppt/media/image.png" Id="R6dfd1231b6e942d6" /><Relationship Type="http://schemas.openxmlformats.org/officeDocument/2006/relationships/notesSlide" Target="/ppt/notesSlides/notesSlide3.xml" Id="R2f3edf6a39da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33c4a77f74163" /><Relationship Type="http://schemas.openxmlformats.org/officeDocument/2006/relationships/notesSlide" Target="/ppt/notesSlides/notesSlide4.xml" Id="R1f243e2d7871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5e80228434b74" /><Relationship Type="http://schemas.openxmlformats.org/officeDocument/2006/relationships/notesSlide" Target="/ppt/notesSlides/notesSlide5.xml" Id="R7a05e4e7338844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f8a7b34a4a63" /><Relationship Type="http://schemas.openxmlformats.org/officeDocument/2006/relationships/notesSlide" Target="/ppt/notesSlides/notesSlide6.xml" Id="R37857d8634f744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6989989b64884" /><Relationship Type="http://schemas.openxmlformats.org/officeDocument/2006/relationships/image" Target="/ppt/media/image2.png" Id="Rcb5c8bd087864847" /><Relationship Type="http://schemas.openxmlformats.org/officeDocument/2006/relationships/notesSlide" Target="/ppt/notesSlides/notesSlide7.xml" Id="R9f1ec0c086414d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fbdf5383b4e53" /><Relationship Type="http://schemas.openxmlformats.org/officeDocument/2006/relationships/notesSlide" Target="/ppt/notesSlides/notesSlide8.xml" Id="R1eebeb5345c1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e281bac9040e3" /><Relationship Type="http://schemas.openxmlformats.org/officeDocument/2006/relationships/image" Target="/ppt/media/image3.png" Id="R0d6b5abeb9274bd6" /><Relationship Type="http://schemas.openxmlformats.org/officeDocument/2006/relationships/image" Target="/ppt/media/image4.png" Id="Rc5940c175dff4e6b" /><Relationship Type="http://schemas.openxmlformats.org/officeDocument/2006/relationships/image" Target="/ppt/media/image5.png" Id="R037017e25f65439b" /><Relationship Type="http://schemas.openxmlformats.org/officeDocument/2006/relationships/notesSlide" Target="/ppt/notesSlides/notesSlide9.xml" Id="Ra15bbea3a3d64a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9c5f9e1ba441d" /><Relationship Type="http://schemas.openxmlformats.org/officeDocument/2006/relationships/notesSlide" Target="/ppt/notesSlides/notesSlide10.xml" Id="R375512f7ee4f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01CA-9806-4BA2-9815-63BD8D51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25B88-CFB0-4273-855D-14C46FB5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7864"/>
                </a:solidFill>
              </a:defRPr>
            </a:pPr>
            <a:r>
              <a:rPr sz="1050" b="1">
                <a:solidFill>
                  <a:srgbClr val="A97864"/>
                </a:solidFill>
              </a:rPr>
              <a:t>TRACK 2  ·  PRIVATE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AC917-C3DF-49E7-886F-398B64AE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0342F"/>
                </a:solidFill>
              </a:defRPr>
            </a:pPr>
            <a:r>
              <a:rPr sz="4500" b="1">
                <a:solidFill>
                  <a:srgbClr val="30342F"/>
                </a:solidFill>
              </a:rPr>
              <a:t>Aperture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9FF3B-82E1-47EC-A002-8D272B14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8995"/>
                </a:solidFill>
              </a:defRPr>
            </a:pPr>
            <a:r>
              <a:rPr sz="2550" b="1">
                <a:solidFill>
                  <a:srgbClr val="718995"/>
                </a:solidFill>
              </a:rPr>
              <a:t>AI Photographer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2269-94B0-47A8-9B00-305A3942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41F"/>
                </a:solidFill>
              </a:defRPr>
            </a:pPr>
            <a:r>
              <a:rPr sz="1725" b="0">
                <a:solidFill>
                  <a:srgbClr val="20241F"/>
                </a:solidFill>
              </a:rPr>
              <a:t>Turns a private reference photo into an executable on-location shooting plan—fully local on AMD Radeon + ROCm.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54A1-8896-4F65-8DD2-BF9CB9B3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02DE-A67A-4741-A545-32EF694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342F"/>
                </a:solidFill>
              </a:defRPr>
            </a:pPr>
            <a:r>
              <a:rPr sz="1350" b="1">
                <a:solidFill>
                  <a:srgbClr val="30342F"/>
                </a:solidFill>
              </a:rPr>
              <a:t>Aperture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3EFCD-00B5-40EC-AFD1-DC897C9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46E"/>
                </a:solidFill>
              </a:defRPr>
            </a:pPr>
            <a:r>
              <a:rPr sz="1125" b="0">
                <a:solidFill>
                  <a:srgbClr val="6F746E"/>
                </a:solidFill>
              </a:rPr>
              <a:t>AMD AI DevMaster Hackathon · 2026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a95a7108a4c82"/>
          <a:srcRect xmlns:a="http://schemas.openxmlformats.org/drawingml/2006/main" l="24940" t="0" r="24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57200"/>
            <a:ext cx="5295900" cy="594360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99B01-0C14-49A2-9421-39BBB0E3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42950"/>
            <a:ext cx="952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070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58143-2BE7-4FBA-B162-FBCC98ED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5127-AE62-4330-953C-12C16548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Liking a photo is easy. Recreating it is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AD53-9B22-45D1-AE63-1EDA429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Most tools explain what is visible; photographers need to know what to do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E59A3-98F8-4B6D-9E1D-4D0C30A7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B8D09-DA27-434C-A06E-FB181F4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c258289b4465b"/>
          <a:srcRect xmlns:a="http://schemas.openxmlformats.org/drawingml/2006/main" l="0" t="18919" r="0" b="18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4229100" cy="3943350"/>
          </a:xfrm>
          <a:prstGeom xmlns:a="http://schemas.openxmlformats.org/drawingml/2006/main" prst="roundRect">
            <a:avLst>
              <a:gd name="adj" fmla="val 53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04A3-AAF7-41AC-917E-6ECD3BF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342F"/>
                </a:solidFill>
              </a:defRPr>
            </a:pPr>
            <a:r>
              <a:rPr sz="2100" b="1">
                <a:solidFill>
                  <a:srgbClr val="30342F"/>
                </a:solidFill>
              </a:rPr>
              <a:t>A reference photo hides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F21DE-1328-4814-B646-16E4D93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26D35-A55C-4659-AC07-F7D21C4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1F"/>
                </a:solidFill>
              </a:defRPr>
            </a:pPr>
            <a:r>
              <a:rPr sz="1575" b="0">
                <a:solidFill>
                  <a:srgbClr val="20241F"/>
                </a:solidFill>
              </a:rPr>
              <a:t>Where should the photographer place the camera?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C9C3F-1217-4840-93E5-1F078004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2AF4B-73D2-4E81-A2F7-7DBCE0D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24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995"/>
                </a:solidFill>
              </a:defRPr>
            </a:pPr>
            <a:r>
              <a:rPr sz="975" b="1">
                <a:solidFill>
                  <a:srgbClr val="718995"/>
                </a:solidFill>
              </a:rPr>
              <a:t>HOW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EB5FB-B117-47F4-9302-6F26E6D9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1F"/>
                </a:solidFill>
              </a:defRPr>
            </a:pPr>
            <a:r>
              <a:rPr sz="1575" b="0">
                <a:solidFill>
                  <a:srgbClr val="20241F"/>
                </a:solidFill>
              </a:rPr>
              <a:t>How should the person stand, look, and interact?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870F7-360E-47AA-8888-9FD7B52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576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022A1-636D-4589-B879-01185326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672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9B8B"/>
                </a:solidFill>
              </a:defRPr>
            </a:pPr>
            <a:r>
              <a:rPr sz="975" b="1">
                <a:solidFill>
                  <a:srgbClr val="8E9B8B"/>
                </a:solidFill>
              </a:rPr>
              <a:t>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67B11-0857-4A8C-A68A-CB7301F7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1F"/>
                </a:solidFill>
              </a:defRPr>
            </a:pPr>
            <a:r>
              <a:rPr sz="1575" b="0">
                <a:solidFill>
                  <a:srgbClr val="20241F"/>
                </a:solidFill>
              </a:rPr>
              <a:t>Why does this subject–environment relationship work?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89050-DECE-418E-8928-623542B0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00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3286A-7C84-462A-BDBE-6D3D49EA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762"/>
                </a:solidFill>
              </a:defRPr>
            </a:pPr>
            <a:r>
              <a:rPr sz="975" b="1">
                <a:solidFill>
                  <a:srgbClr val="B49762"/>
                </a:solidFill>
              </a:rPr>
              <a:t>AVOID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5E575-F136-432B-9372-E5439739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91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1F"/>
                </a:solidFill>
              </a:defRPr>
            </a:pPr>
            <a:r>
              <a:rPr sz="1575" b="0">
                <a:solidFill>
                  <a:srgbClr val="20241F"/>
                </a:solidFill>
              </a:rPr>
              <a:t>What will make the recreation fail?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140FA-3236-45BD-A7F7-94C246AB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3852C-8860-4C4E-80D3-E24F6A9C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212225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E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CF0C1-7A3B-4DEE-B47F-CE9F3B9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EF5A2-581D-43B8-9B62-44D3E1AD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One private photo becomes one executable guidance card.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15C9F-D6CA-437F-9546-A488E76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No text prompt is required in the current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CA7C8-BDFE-43A7-903A-8C522F70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0F5B5-52E6-4960-B1E5-F0E85E8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1DC8D-5134-4520-8055-3A6A0BB5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INPUT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ac5afbea7455b"/>
          <a:srcRect xmlns:a="http://schemas.openxmlformats.org/drawingml/2006/main" l="23674" t="0" r="236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3067050" cy="3276600"/>
          </a:xfrm>
          <a:prstGeom xmlns:a="http://schemas.openxmlformats.org/drawingml/2006/main" prst="roundRect">
            <a:avLst>
              <a:gd name="adj" fmla="val 621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A8EC5-93D3-4D97-B9FB-DD6F84D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42F"/>
                </a:solidFill>
              </a:defRPr>
            </a:pPr>
            <a:r>
              <a:rPr sz="1350" b="1">
                <a:solidFill>
                  <a:srgbClr val="30342F"/>
                </a:solidFill>
              </a:rPr>
              <a:t>Private reference photo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1E9E2-6303-47CC-84D1-8E3E4CC8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19817-B05F-467A-9DB8-652496C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4800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LOCAL</a:t>
            </a:r>
          </a:p>
          <a:p xmlns:a="http://schemas.openxmlformats.org/drawingml/2006/main">
            <a:pPr algn="ctr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667D5-6D91-4FA0-8C02-17BF7DA6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995"/>
                </a:solidFill>
              </a:defRPr>
            </a:pPr>
            <a:r>
              <a:rPr sz="975" b="1">
                <a:solidFill>
                  <a:srgbClr val="718995"/>
                </a:solidFill>
              </a:rPr>
              <a:t>OUTPUT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d1231b6e942d6"/>
          <a:stretch xmlns:a="http://schemas.openxmlformats.org/drawingml/2006/main"/>
        </p:blipFill>
        <p:spPr>
          <a:xfrm xmlns:a="http://schemas.openxmlformats.org/drawingml/2006/main">
            <a:off x="6094268" y="2305050"/>
            <a:ext cx="4765964" cy="3276600"/>
          </a:xfrm>
          <a:prstGeom xmlns:a="http://schemas.openxmlformats.org/drawingml/2006/main" prst="roundRect">
            <a:avLst>
              <a:gd name="adj" fmla="val 58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FD7F8-F47E-418E-95EC-879D6A4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34050"/>
            <a:ext cx="613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0342F"/>
                </a:solidFill>
              </a:defRPr>
            </a:pPr>
            <a:r>
              <a:rPr sz="1275" b="1">
                <a:solidFill>
                  <a:srgbClr val="30342F"/>
                </a:solidFill>
              </a:rPr>
              <a:t>Why it works  ·  Photographer actions  ·  Subject actions  ·  Shooting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4DACB-4E01-41F0-80B4-E1B9EFB6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36A5-A06D-4FE1-B7D2-DAEAEF6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348520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2AB33-6838-4F0A-8CFA-230E3D4D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THE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8F21E-D651-400D-98F6-D9C3873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The interface is simple; the Agent does the complex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D0780-3133-4A48-A158-7E120477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A photo-only interface keeps the interaction focused and repeatable.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DC4C2-E64D-46AB-A19D-59E186D9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77D2C-C669-4812-B5DD-C4EAC792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F279B-7BC5-4DC0-82EC-5A92BE63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7864"/>
                </a:solidFill>
              </a:defRPr>
            </a:pPr>
            <a:r>
              <a:rPr sz="2100" b="1">
                <a:solidFill>
                  <a:srgbClr val="A9786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518E1-3302-46DA-BE01-EC51B92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AC34B-A264-4976-8736-7966861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42F"/>
                </a:solidFill>
              </a:defRPr>
            </a:pPr>
            <a:r>
              <a:rPr sz="1875" b="1">
                <a:solidFill>
                  <a:srgbClr val="30342F"/>
                </a:solidFill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0543D-3E8F-4672-AFA4-BC5787E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7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1F"/>
                </a:solidFill>
              </a:defRPr>
            </a:pPr>
            <a:r>
              <a:rPr sz="1350" b="0">
                <a:solidFill>
                  <a:srgbClr val="20241F"/>
                </a:solidFill>
              </a:rPr>
              <a:t>Add one portrait or group photo.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F2D2A-8A93-46C6-A948-47764CDD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67125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E3FFD-606C-40BF-B249-D45BCF9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18995"/>
                </a:solidFill>
              </a:defRPr>
            </a:pPr>
            <a:r>
              <a:rPr sz="2100" b="1">
                <a:solidFill>
                  <a:srgbClr val="71899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543EB-CA21-4D9A-8376-52C0D26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19F80-6CD8-4B4F-BA4D-5CB0C75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42F"/>
                </a:solidFill>
              </a:defRPr>
            </a:pPr>
            <a:r>
              <a:rPr sz="1875" b="1">
                <a:solidFill>
                  <a:srgbClr val="30342F"/>
                </a:solidFill>
              </a:rPr>
              <a:t>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B7978-AA03-404B-8336-62123997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77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1F"/>
                </a:solidFill>
              </a:defRPr>
            </a:pPr>
            <a:r>
              <a:rPr sz="1350" b="0">
                <a:solidFill>
                  <a:srgbClr val="20241F"/>
                </a:solidFill>
              </a:rPr>
              <a:t>Ground scene, people, composition, and props.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353B0-2329-4D76-8AA6-83A4278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67125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FE4F7-EB15-44C1-9982-EFF7A00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9762"/>
                </a:solidFill>
              </a:defRPr>
            </a:pPr>
            <a:r>
              <a:rPr sz="2100" b="1">
                <a:solidFill>
                  <a:srgbClr val="B4976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A8C94-FAF1-4760-B610-CC51B17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7CF5A-D0BE-436B-AB6A-6B70E80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42F"/>
                </a:solidFill>
              </a:defRPr>
            </a:pPr>
            <a:r>
              <a:rPr sz="1875" b="1">
                <a:solidFill>
                  <a:srgbClr val="30342F"/>
                </a:solidFill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09CD1-E5F7-4E6A-AACD-C54B2DD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77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1F"/>
                </a:solidFill>
              </a:defRPr>
            </a:pPr>
            <a:r>
              <a:rPr sz="1350" b="0">
                <a:solidFill>
                  <a:srgbClr val="20241F"/>
                </a:solidFill>
              </a:rPr>
              <a:t>Translate evidence into concrete shooting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B728A-7F59-49EA-AF61-26D0A28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21926-A84B-46DF-8AA2-72E449A5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E9B8B"/>
                </a:solidFill>
              </a:defRPr>
            </a:pPr>
            <a:r>
              <a:rPr sz="2100" b="1">
                <a:solidFill>
                  <a:srgbClr val="8E9B8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0A395-E156-4022-A82B-B651306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1EA71-9936-49D7-A133-16E6881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42F"/>
                </a:solidFill>
              </a:defRPr>
            </a:pPr>
            <a:r>
              <a:rPr sz="1875" b="1">
                <a:solidFill>
                  <a:srgbClr val="30342F"/>
                </a:solidFill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6E5E8-D351-49B0-8C2D-C2CBE63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77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1F"/>
                </a:solidFill>
              </a:defRPr>
            </a:pPr>
            <a:r>
              <a:rPr sz="1350" b="0">
                <a:solidFill>
                  <a:srgbClr val="20241F"/>
                </a:solidFill>
              </a:rPr>
              <a:t>Critic rejects vague, contradictory, or unsupported advice.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D43B3-84F3-404A-A7E5-43E5C75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00AA8-59D3-49D3-942B-5CA287F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7864"/>
                </a:solidFill>
              </a:defRPr>
            </a:pPr>
            <a:r>
              <a:rPr sz="2100" b="1">
                <a:solidFill>
                  <a:srgbClr val="A97864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968CB-EA2B-4539-B3B2-0BBB69B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81FC5-11A8-4525-80E1-2FA90D7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42F"/>
                </a:solidFill>
              </a:defRPr>
            </a:pPr>
            <a:r>
              <a:rPr sz="1875" b="1">
                <a:solidFill>
                  <a:srgbClr val="30342F"/>
                </a:solidFill>
              </a:rPr>
              <a:t>Render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0C5DB-0BC4-4C97-8DE0-86F7FB6D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77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1F"/>
                </a:solidFill>
              </a:defRPr>
            </a:pPr>
            <a:r>
              <a:rPr sz="1350" b="0">
                <a:solidFill>
                  <a:srgbClr val="20241F"/>
                </a:solidFill>
              </a:rPr>
              <a:t>Draw a stable card from the real person mask.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FCD75-14AA-4807-83BD-677DD92C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9347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3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6DD1B-64FD-4064-9EFB-F875848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AF8F3"/>
                </a:solidFill>
              </a:defRPr>
            </a:pPr>
            <a:r>
              <a:rPr sz="1725" b="1">
                <a:solidFill>
                  <a:srgbClr val="FAF8F3"/>
                </a:solidFill>
              </a:rPr>
              <a:t>The result is not a photography lesson. It is a set of actions that two people can execute on location.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B153B-3AA4-4219-96C9-136ED4B2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720EB6-DBF6-4F1C-A849-19F9713A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471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9E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6CD5E3-98D2-4DB8-B1FA-1CEAD8C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45BE1-0017-4C11-A088-0BFE2F2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Eight audited tools turn evidence into a guidance card.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75CF6-B73B-4068-99CB-9B082AC2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Core vision and segmentation run locally through PyTorch ROCm.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0E97A-294D-42B8-9BAC-83A020BE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92EB-C353-42DC-9F0D-2334F759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EF6E0-19AC-429C-9D08-2127AA2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A978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AE6FB-FF4F-4ABC-871E-2AD14285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85FE9-189A-4C15-8E86-F281DB38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Intent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1CF4F-FA96-41CF-A5C0-6928B65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71899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EA82B-5F93-4814-88DB-92E9322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ED7BB-5E46-4745-91D0-99A63AA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Vision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Analyzer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C86C2-43DD-4C2D-80BB-5F7CCA3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8E9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5805D-0BAD-495F-9BE8-179E3E5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9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78C41-7829-4198-B2E6-E36DADF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Composition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Checker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6DAE0-27C3-4BE9-8D33-0C1A15A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B497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20678-0B8A-48F2-8894-808A32B3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21FB3-6DCA-407E-B042-7E80A46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Photography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Planner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F49E1-DA8B-48C6-8A6B-F3ECFFA0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A978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D4930-BDFA-45BA-896D-8BC608B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47380-6DD8-4423-ACD4-E961B8C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Plan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Critic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3948A-C9BC-4AF9-9780-EE4F844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A978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07A93-20B2-4543-A87D-B163890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AE473-F4B0-452C-B40F-15F8B28A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Plan Refiner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(optional)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8AFF5-F059-43B2-9EB2-A84228A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71899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F376B-8D3D-409B-AAE5-B603ED68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49F67-252C-45F3-B8E9-62368015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Pose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Analyzer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8835E-A9F8-4E39-BC9C-D26695D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16573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B497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704D6-448C-41D1-91F5-23EB7FD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F0249-3BA3-42CA-BE81-D517D5F0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Pose Card</a:t>
            </a:r>
          </a:p>
          <a:p xmlns:a="http://schemas.openxmlformats.org/drawingml/2006/main">
            <a:pPr algn="ctr">
              <a:defRPr sz="1200" b="1">
                <a:solidFill>
                  <a:srgbClr val="30342F"/>
                </a:solidFill>
              </a:defRPr>
            </a:pPr>
            <a:r>
              <a:rPr sz="1200" b="1">
                <a:solidFill>
                  <a:srgbClr val="30342F"/>
                </a:solidFill>
              </a:rPr>
              <a:t>Renderer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40D8CD-343F-401E-A268-DCB721E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4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92E44-7BEB-42DB-9578-9102BB1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BFB33-B420-44AC-9B72-47DC8CB5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EF0DE-8BCC-4193-B23B-C5359BE1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B80A72-A7FD-4920-BBB3-8ED66DA0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623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A7A5D-74D6-4F2A-8B13-6EEF2DC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957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1AC2FF-EEF1-423C-BFE1-D8926EFB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957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1B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296B7-08B9-474B-A657-FDBC5E9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780B5A-616B-46B9-8F87-ADFC2B5C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D97A1C-6B09-41DC-8855-56A95239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429000" cy="1504950"/>
          </a:xfrm>
          <a:prstGeom xmlns:a="http://schemas.openxmlformats.org/drawingml/2006/main" prst="roundRect">
            <a:avLst>
              <a:gd name="adj" fmla="val 12658"/>
            </a:avLst>
          </a:prstGeom>
          <a:solidFill xmlns:a="http://schemas.openxmlformats.org/drawingml/2006/main">
            <a:srgbClr val="33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031FEC-F192-487A-82D7-79D0AF2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9762"/>
                </a:solidFill>
              </a:defRPr>
            </a:pPr>
            <a:r>
              <a:rPr sz="1125" b="1">
                <a:solidFill>
                  <a:srgbClr val="B49762"/>
                </a:solidFill>
              </a:rPr>
              <a:t>AMD RADEON + ROCm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F6E106-1790-416B-A28A-E9FE47D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AF8F3"/>
                </a:solidFill>
              </a:defRPr>
            </a:pPr>
            <a:r>
              <a:rPr sz="1500" b="1">
                <a:solidFill>
                  <a:srgbClr val="FAF8F3"/>
                </a:solidFill>
              </a:rPr>
              <a:t>Qwen2.5-VL-3B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20CF5B-6576-492F-A92F-37A88A7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F8F3"/>
                </a:solidFill>
              </a:defRPr>
            </a:pPr>
            <a:r>
              <a:rPr sz="1350" b="1">
                <a:solidFill>
                  <a:srgbClr val="FAF8F3"/>
                </a:solidFill>
              </a:rPr>
              <a:t>+ Torchvision Mask R-CNN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6C38B5-F74D-45E6-B439-D2CF83A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AB0"/>
                </a:solidFill>
              </a:defRPr>
            </a:pPr>
            <a:r>
              <a:rPr sz="1050" b="0">
                <a:solidFill>
                  <a:srgbClr val="9AAAB0"/>
                </a:solidFill>
              </a:rPr>
              <a:t>Local vision + person segmentation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12F44-8036-413C-BC9A-51189BD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7864"/>
                </a:solidFill>
              </a:defRPr>
            </a:pPr>
            <a:r>
              <a:rPr sz="1125" b="1">
                <a:solidFill>
                  <a:srgbClr val="A97864"/>
                </a:solidFill>
              </a:rPr>
              <a:t>One bounded repair pass; no unbounded loop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03566-1401-42B4-BA48-E5BFA244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F746E"/>
                </a:solidFill>
              </a:defRPr>
            </a:pPr>
            <a:r>
              <a:rPr sz="1125" b="0">
                <a:solidFill>
                  <a:srgbClr val="6F746E"/>
                </a:solidFill>
              </a:rPr>
              <a:t>The renderer receives validated JSON and a real person mask.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872EBE-26D9-495E-9649-1744DD33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53F13C-3252-4152-AF51-B801C759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366753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A4073-5DDA-4A2D-9014-E89FF04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TRACK 2 COMPLIANCE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2AF3D-90F2-450B-B01B-060066FB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Aperture demonstrates three Track 2 Agent capabilities.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36564-94F0-4945-8617-DBD938C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The official minimum is two; Aperture proves three with inspectable runtime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AB082-C724-4ECE-8AD1-F55D72C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32B7E-6761-42D7-AD74-D3301F31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D69E4-D3AE-4CA4-A30B-851A97D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7864"/>
                </a:solidFill>
              </a:defRPr>
            </a:pPr>
            <a:r>
              <a:rPr sz="2400" b="1">
                <a:solidFill>
                  <a:srgbClr val="A9786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B0140-0E46-4C1E-BC5F-EB57BF13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42F"/>
                </a:solidFill>
              </a:defRPr>
            </a:pPr>
            <a:r>
              <a:rPr sz="1950" b="1">
                <a:solidFill>
                  <a:srgbClr val="30342F"/>
                </a:solidFill>
              </a:rPr>
              <a:t>Tool invocation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7A308-7185-41A7-AFE4-BBC40174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105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Eight registered tools with ordered calls, timing, device, safe summaries, and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B5AA6-B087-474C-AAFD-34B72B5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EF046-B631-4096-A4B2-146FE62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18995"/>
                </a:solidFill>
              </a:defRPr>
            </a:pPr>
            <a:r>
              <a:rPr sz="2400" b="1">
                <a:solidFill>
                  <a:srgbClr val="71899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31DFF-6315-4E2E-91A6-00114C8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42F"/>
                </a:solidFill>
              </a:defRPr>
            </a:pPr>
            <a:r>
              <a:rPr sz="1950" b="1">
                <a:solidFill>
                  <a:srgbClr val="30342F"/>
                </a:solidFill>
              </a:rPr>
              <a:t>Multi-step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ED4B9-C225-4C43-86CC-4B1A085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105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Grounded analysis → planning → criticism → bounded repair → deterministic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7181C-F00A-4E37-AF17-77CF7B8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E2EC7-BD54-4653-9A14-7A6E11C6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E9B8B"/>
                </a:solidFill>
              </a:defRPr>
            </a:pPr>
            <a:r>
              <a:rPr sz="2400" b="1">
                <a:solidFill>
                  <a:srgbClr val="8E9B8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AE450-A0ED-4CCD-99C9-342DE380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342F"/>
                </a:solidFill>
              </a:defRPr>
            </a:pPr>
            <a:r>
              <a:rPr sz="1950" b="1">
                <a:solidFill>
                  <a:srgbClr val="30342F"/>
                </a:solidFill>
              </a:rPr>
              <a:t>Permission &amp; 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0EA83-5F14-4956-BFDF-C93625B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105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Local image read and GPU inference allowed; network and persistent storage denied.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275E0-1B04-4722-8C62-6D83B9F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7ACE8-8E82-4236-950D-13135E5A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AUDITABLE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DE33B-38FC-4D7C-815C-3468511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342F"/>
                </a:solidFill>
              </a:defRPr>
            </a:pPr>
            <a:r>
              <a:rPr sz="1350" b="1">
                <a:solidFill>
                  <a:srgbClr val="30342F"/>
                </a:solidFill>
              </a:rPr>
              <a:t>tool_manifest  ·  tool_calls  ·  permission_audit  ·  privacy  ·  agent_trace  ·  GPU &amp; latency 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0B510-BBE5-4124-9736-BA7004FE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3D09C-0562-4AB9-892C-AACFA025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86401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E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B713-B76D-4B65-9EA5-906FDA90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PRODUCT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43BCB-C239-4413-8AA7-73AA1D3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The final image is rendered, not generated.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D980-CAA6-46E2-81A1-4FF66FE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AI decides the actions; deterministic code decides every pixel of the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E986-7C4D-4F2A-918C-76E7642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B219-A35C-47AD-93EE-655DAE81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c8bd087864847"/>
          <a:srcRect xmlns:a="http://schemas.openxmlformats.org/drawingml/2006/main" l="0" t="5211" r="0" b="5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57400"/>
            <a:ext cx="6248400" cy="3848100"/>
          </a:xfrm>
          <a:prstGeom xmlns:a="http://schemas.openxmlformats.org/drawingml/2006/main" prst="roundRect">
            <a:avLst>
              <a:gd name="adj" fmla="val 54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E4DF5-535C-413A-9306-2046F7C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REAL CONTOUR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44E1E-BE2F-491E-A5B9-5EC4F369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Mask R-CNN extracts the subject from the uploaded photo.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0A1F7-96CB-481C-AF97-4860017C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995"/>
                </a:solidFill>
              </a:defRPr>
            </a:pPr>
            <a:r>
              <a:rPr sz="975" b="1">
                <a:solidFill>
                  <a:srgbClr val="718995"/>
                </a:solidFill>
              </a:rPr>
              <a:t>STRUCTURED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D50A9-2BA4-40C8-A519-A9D7CC22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14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Qwen returns body, head, gaze, hands, interaction, and camera guidance as JSON.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87082-57B6-440E-B874-620E2B5C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9B8B"/>
                </a:solidFill>
              </a:defRPr>
            </a:pPr>
            <a:r>
              <a:rPr sz="975" b="1">
                <a:solidFill>
                  <a:srgbClr val="8E9B8B"/>
                </a:solidFill>
              </a:rPr>
              <a:t>STABLE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8560E-41A9-43E6-92C0-082D580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PIL/SVG-style drawing keeps the layout consistent across photos.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B7A5F-E0C1-467A-BD77-35B216C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762"/>
                </a:solidFill>
              </a:defRPr>
            </a:pPr>
            <a:r>
              <a:rPr sz="975" b="1">
                <a:solidFill>
                  <a:srgbClr val="B49762"/>
                </a:solidFill>
              </a:rPr>
              <a:t>NO REPLACEMENT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86B23-E1C8-44C9-A726-DE55777B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1F"/>
                </a:solidFill>
              </a:defRPr>
            </a:pPr>
            <a:r>
              <a:rPr sz="1425" b="0">
                <a:solidFill>
                  <a:srgbClr val="20241F"/>
                </a:solidFill>
              </a:rPr>
              <a:t>No image-generation model is called; the system teaches rather than imitates.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C43A2-FC23-46B8-835E-97B4309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006C1-70DD-4A32-A3B5-A230E15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440438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33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39EEDC-097E-4F45-9901-54198AFF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762"/>
                </a:solidFill>
              </a:defRPr>
            </a:pPr>
            <a:r>
              <a:rPr sz="975" b="1">
                <a:solidFill>
                  <a:srgbClr val="B49762"/>
                </a:solidFill>
              </a:rPr>
              <a:t>VERIFIED ON RADEON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63DF9-1646-4F25-BB45-E80E4C7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8F3"/>
                </a:solidFill>
              </a:defRPr>
            </a:pPr>
            <a:r>
              <a:rPr sz="2850" b="1">
                <a:solidFill>
                  <a:srgbClr val="FAF8F3"/>
                </a:solidFill>
              </a:rPr>
              <a:t>Local runtime evidence, not synthetic estimates.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4856E-B30E-4053-8B70-EA37260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B0"/>
                </a:solidFill>
              </a:defRPr>
            </a:pPr>
            <a:r>
              <a:rPr sz="1350" b="0">
                <a:solidFill>
                  <a:srgbClr val="9AAAB0"/>
                </a:solidFill>
              </a:rPr>
              <a:t>AMD Radeon Graphics  ·  ROCm/HIP 7.2.53211  ·  PyTorch 2.13.0+rocm7.2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A75DA-1D71-4021-963C-F66DCE1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945C1-BC40-43AB-9A79-39060461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9762"/>
                </a:solidFill>
              </a:defRPr>
            </a:pPr>
            <a:r>
              <a:rPr sz="2550" b="1">
                <a:solidFill>
                  <a:srgbClr val="B49762"/>
                </a:solidFill>
              </a:rPr>
              <a:t>47.98 GiB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8C8A2-F4CB-4522-ABBD-662CF7B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F8F3"/>
                </a:solidFill>
              </a:defRPr>
            </a:pPr>
            <a:r>
              <a:rPr sz="1200" b="1">
                <a:solidFill>
                  <a:srgbClr val="FAF8F3"/>
                </a:solidFill>
              </a:rPr>
              <a:t>GPU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06C29-F380-4B04-BF4E-B0DBD8B4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AAB0"/>
                </a:solidFill>
              </a:defRPr>
            </a:pPr>
            <a:r>
              <a:rPr sz="2550" b="1">
                <a:solidFill>
                  <a:srgbClr val="9AAAB0"/>
                </a:solidFill>
              </a:rPr>
              <a:t>10.403 GiB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E1893-2E97-47FC-AA2A-47FB1BBC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F8F3"/>
                </a:solidFill>
              </a:defRPr>
            </a:pPr>
            <a:r>
              <a:rPr sz="1200" b="1">
                <a:solidFill>
                  <a:srgbClr val="FAF8F3"/>
                </a:solidFill>
              </a:rPr>
              <a:t>Peak allocated VRAM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66969-E71F-4618-BE13-13EEAD5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E9B8B"/>
                </a:solidFill>
              </a:defRPr>
            </a:pPr>
            <a:r>
              <a:rPr sz="2550" b="1">
                <a:solidFill>
                  <a:srgbClr val="8E9B8B"/>
                </a:solidFill>
              </a:rPr>
              <a:t>76 /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4EFAC-A0B0-422B-B261-B17B600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F8F3"/>
                </a:solidFill>
              </a:defRPr>
            </a:pPr>
            <a:r>
              <a:rPr sz="1200" b="1">
                <a:solidFill>
                  <a:srgbClr val="FAF8F3"/>
                </a:solidFill>
              </a:rPr>
              <a:t>Automated tests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F13DE-48FF-476A-98D4-5E5FE026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52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97864"/>
                </a:solidFill>
              </a:defRPr>
            </a:pPr>
            <a:r>
              <a:rPr sz="2550" b="1">
                <a:solidFill>
                  <a:srgbClr val="A97864"/>
                </a:solidFill>
              </a:rPr>
              <a:t>3 /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AC45D-D267-4551-A099-11E3F1E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F8F3"/>
                </a:solidFill>
              </a:defRPr>
            </a:pPr>
            <a:r>
              <a:rPr sz="1200" b="1">
                <a:solidFill>
                  <a:srgbClr val="FAF8F3"/>
                </a:solidFill>
              </a:rPr>
              <a:t>Fresh English demo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C6F39-B1E6-480A-89C9-58EC94F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C658A-91CB-4661-A61E-B4B69BB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9762"/>
                </a:solidFill>
              </a:defRPr>
            </a:pPr>
            <a:r>
              <a:rPr sz="975" b="1">
                <a:solidFill>
                  <a:srgbClr val="B49762"/>
                </a:solidFill>
              </a:rPr>
              <a:t>MEASURED END-TO-END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BF143-BE7A-4AF9-A69D-F5800D1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F8F3"/>
                </a:solidFill>
              </a:defRPr>
            </a:pPr>
            <a:r>
              <a:rPr sz="1800" b="1">
                <a:solidFill>
                  <a:srgbClr val="FAF8F3"/>
                </a:solidFill>
              </a:rPr>
              <a:t>82.376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B6458-7218-4506-9E26-796080E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B0"/>
                </a:solidFill>
              </a:defRPr>
            </a:pPr>
            <a:r>
              <a:rPr sz="1425" b="0">
                <a:solidFill>
                  <a:srgbClr val="9AAAB0"/>
                </a:solidFill>
              </a:rPr>
              <a:t>Single portrait with JSON repair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ABA5E-6EF4-4CCB-9B4A-1DA47F5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81475"/>
            <a:ext cx="2476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10BAC-C39E-4660-B69D-B5709D8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F8F3"/>
                </a:solidFill>
              </a:defRPr>
            </a:pPr>
            <a:r>
              <a:rPr sz="1800" b="1">
                <a:solidFill>
                  <a:srgbClr val="FAF8F3"/>
                </a:solidFill>
              </a:rPr>
              <a:t>57.867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A06B2-79E1-4AA1-9048-4861FB0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B0"/>
                </a:solidFill>
              </a:defRPr>
            </a:pPr>
            <a:r>
              <a:rPr sz="1425" b="0">
                <a:solidFill>
                  <a:srgbClr val="9AAAB0"/>
                </a:solidFill>
              </a:rPr>
              <a:t>Single portrait without a prop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83F26-9F5E-4FF2-91CF-2CE1DB0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72025"/>
            <a:ext cx="3810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F8E13-6C05-4C72-92A7-C9AC230A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F8F3"/>
                </a:solidFill>
              </a:defRPr>
            </a:pPr>
            <a:r>
              <a:rPr sz="1800" b="1">
                <a:solidFill>
                  <a:srgbClr val="FAF8F3"/>
                </a:solidFill>
              </a:rPr>
              <a:t>59.569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B998E-686C-4D5E-AF99-1C1DB978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B0"/>
                </a:solidFill>
              </a:defRPr>
            </a:pPr>
            <a:r>
              <a:rPr sz="1425" b="0">
                <a:solidFill>
                  <a:srgbClr val="9AAAB0"/>
                </a:solidFill>
              </a:rPr>
              <a:t>Three-person graduation 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A3A9F-AAC3-4184-B8E4-167CDFA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62575"/>
            <a:ext cx="581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601BD-45FF-4B4C-87E1-D72627AF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864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AF8F3"/>
                </a:solidFill>
              </a:defRPr>
            </a:pPr>
            <a:r>
              <a:rPr sz="1125" b="0">
                <a:solidFill>
                  <a:srgbClr val="FAF8F3"/>
                </a:solidFill>
              </a:rPr>
              <a:t>Longer paths expose real JSON repair and multi-person grounding costs instead of hiding them in an average.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8FE69-712D-49D8-94B1-9DC6325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AAB0"/>
                </a:solidFill>
              </a:defRPr>
            </a:pPr>
            <a:r>
              <a:rPr sz="750" b="0">
                <a:solidFill>
                  <a:srgbClr val="9AAAB0"/>
                </a:solidFill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28460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1AE77-F66C-438C-8DDD-42CE9DDD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REAL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015FF-1092-44DE-A988-63F7460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342F"/>
                </a:solidFill>
              </a:defRPr>
            </a:pPr>
            <a:r>
              <a:rPr sz="2850" b="1">
                <a:solidFill>
                  <a:srgbClr val="30342F"/>
                </a:solidFill>
              </a:rPr>
              <a:t>The guidance changes with every photo.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5173C-B5A9-466A-B5DA-5303046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46E"/>
                </a:solidFill>
              </a:defRPr>
            </a:pPr>
            <a:r>
              <a:rPr sz="1350" b="0">
                <a:solidFill>
                  <a:srgbClr val="6F746E"/>
                </a:solidFill>
              </a:rPr>
              <a:t>Three licensed inputs; three distinct local plans; one consistent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14CD5-693D-49B7-8BEB-D38F009B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995"/>
                </a:solidFill>
              </a:defRPr>
            </a:pPr>
            <a:r>
              <a:rPr sz="1050" b="1">
                <a:solidFill>
                  <a:srgbClr val="71899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5E907-67A4-467A-BB6A-67DFAD32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b5abeb9274bd6"/>
          <a:stretch xmlns:a="http://schemas.openxmlformats.org/drawingml/2006/main"/>
        </p:blipFill>
        <p:spPr>
          <a:xfrm xmlns:a="http://schemas.openxmlformats.org/drawingml/2006/main">
            <a:off x="609600" y="2097881"/>
            <a:ext cx="3429000" cy="2357438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92E3B-2930-49FE-816B-AA7BC813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0342F"/>
                </a:solidFill>
              </a:defRPr>
            </a:pPr>
            <a:r>
              <a:rPr sz="1500" b="1">
                <a:solidFill>
                  <a:srgbClr val="30342F"/>
                </a:solidFill>
              </a:rPr>
              <a:t>Single portrait ·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48EAE-20B2-498B-9E7A-3FECF0AD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7864"/>
                </a:solidFill>
              </a:defRPr>
            </a:pPr>
            <a:r>
              <a:rPr sz="1200" b="0">
                <a:solidFill>
                  <a:srgbClr val="A97864"/>
                </a:solidFill>
              </a:rPr>
              <a:t>Prop-specific hand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607EC-D458-462D-90EE-1A7B0D3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40c175dff4e6b"/>
          <a:stretch xmlns:a="http://schemas.openxmlformats.org/drawingml/2006/main"/>
        </p:blipFill>
        <p:spPr>
          <a:xfrm xmlns:a="http://schemas.openxmlformats.org/drawingml/2006/main">
            <a:off x="4286250" y="2097881"/>
            <a:ext cx="3429000" cy="2357438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41E99-DACB-42A6-9B8E-2B0C4896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0342F"/>
                </a:solidFill>
              </a:defRPr>
            </a:pPr>
            <a:r>
              <a:rPr sz="1500" b="1">
                <a:solidFill>
                  <a:srgbClr val="30342F"/>
                </a:solidFill>
              </a:rPr>
              <a:t>Single portrait · no prop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C26BC-A724-4720-B863-5436270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995"/>
                </a:solidFill>
              </a:defRPr>
            </a:pPr>
            <a:r>
              <a:rPr sz="1200" b="0">
                <a:solidFill>
                  <a:srgbClr val="718995"/>
                </a:solidFill>
              </a:rPr>
              <a:t>No invented object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42463-52AA-4FD8-90D0-F86D8DC9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17e25f65439b"/>
          <a:stretch xmlns:a="http://schemas.openxmlformats.org/drawingml/2006/main"/>
        </p:blipFill>
        <p:spPr>
          <a:xfrm xmlns:a="http://schemas.openxmlformats.org/drawingml/2006/main">
            <a:off x="7962900" y="2097881"/>
            <a:ext cx="3429000" cy="2357438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192CA-B5E2-4E64-881F-7F749E2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0342F"/>
                </a:solidFill>
              </a:defRPr>
            </a:pPr>
            <a:r>
              <a:rPr sz="1500" b="1">
                <a:solidFill>
                  <a:srgbClr val="30342F"/>
                </a:solidFill>
              </a:rPr>
              <a:t>Three-person group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889D2-105D-45C8-A2EE-426FC99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9B8B"/>
                </a:solidFill>
              </a:defRPr>
            </a:pPr>
            <a:r>
              <a:rPr sz="1200" b="0">
                <a:solidFill>
                  <a:srgbClr val="8E9B8B"/>
                </a:solidFill>
              </a:rPr>
              <a:t>Three matched contours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7F8CF-7806-4E72-846D-DEC0F98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29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986A9-AA08-48CC-B2ED-A5FB1A1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7864"/>
                </a:solidFill>
              </a:defRPr>
            </a:pPr>
            <a:r>
              <a:rPr sz="1800" b="1">
                <a:solidFill>
                  <a:srgbClr val="A97864"/>
                </a:solidFill>
              </a:rPr>
              <a:t>1 /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51E65-5207-4C3F-9A36-FE438CB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8995"/>
                </a:solidFill>
              </a:defRPr>
            </a:pPr>
            <a:r>
              <a:rPr sz="1800" b="1">
                <a:solidFill>
                  <a:srgbClr val="718995"/>
                </a:solidFill>
              </a:rPr>
              <a:t>1 /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36AFA-ABD5-4723-85CD-1BB4337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9B8B"/>
                </a:solidFill>
              </a:defRPr>
            </a:pPr>
            <a:r>
              <a:rPr sz="1800" b="1">
                <a:solidFill>
                  <a:srgbClr val="8E9B8B"/>
                </a:solidFill>
              </a:rPr>
              <a:t>3 /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9833F-B8F0-4576-A97E-9C146BB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E"/>
                </a:solidFill>
              </a:defRPr>
            </a:pPr>
            <a:r>
              <a:rPr sz="1050" b="0">
                <a:solidFill>
                  <a:srgbClr val="6F746E"/>
                </a:solidFill>
              </a:rPr>
              <a:t>people detected / matched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5A79C-3428-4155-825E-A8472586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62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E"/>
                </a:solidFill>
              </a:defRPr>
            </a:pPr>
            <a:r>
              <a:rPr sz="1050" b="0">
                <a:solidFill>
                  <a:srgbClr val="6F746E"/>
                </a:solidFill>
              </a:rPr>
              <a:t>people detected / matched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CCBF8-26FA-43BA-BB7A-15B9747B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62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46E"/>
                </a:solidFill>
              </a:defRPr>
            </a:pPr>
            <a:r>
              <a:rPr sz="1050" b="0">
                <a:solidFill>
                  <a:srgbClr val="6F746E"/>
                </a:solidFill>
              </a:rPr>
              <a:t>people detected / matched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141BB-D15E-4135-BB53-BE30DF1E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995"/>
                </a:solidFill>
              </a:defRPr>
            </a:pPr>
            <a:r>
              <a:rPr sz="750" b="1">
                <a:solidFill>
                  <a:srgbClr val="718995"/>
                </a:solidFill>
              </a:rPr>
              <a:t>APERTURE  /  AMD AI DEVMASTER HACKATHON  /  TRACK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7B57D-A9F0-443A-82F1-94EF5EE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313113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9E4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9C9C8-8718-4545-9D74-DC8AA8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004C-6FAF-4F5D-88F9-3C39E53C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7864"/>
                </a:solidFill>
              </a:defRPr>
            </a:pPr>
            <a:r>
              <a:rPr sz="975" b="1">
                <a:solidFill>
                  <a:srgbClr val="A97864"/>
                </a:solidFill>
              </a:rPr>
              <a:t>THE PRODUCT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215BB-8C8C-41CE-B937-DDB77322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0342F"/>
                </a:solidFill>
              </a:defRPr>
            </a:pPr>
            <a:r>
              <a:rPr sz="3600" b="1">
                <a:solidFill>
                  <a:srgbClr val="30342F"/>
                </a:solidFill>
              </a:rPr>
              <a:t>Make the photographer’s hidden decisions visible—and executable.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8C18A-EFB0-4AF0-AB8F-F7970699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38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41F"/>
                </a:solidFill>
              </a:defRPr>
            </a:pPr>
            <a:r>
              <a:rPr sz="1650" b="0">
                <a:solidFill>
                  <a:srgbClr val="20241F"/>
                </a:solidFill>
              </a:rPr>
              <a:t>Aperture combines local multimodal understanding, audited tool orchestration, bounded criticism, real-person segmentation, and deterministic rendering on AMD Radeon + ROCm.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A11C-FF19-4956-8209-68D03B74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555CD-E178-4D9E-BD34-8C4B206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995"/>
                </a:solidFill>
              </a:defRPr>
            </a:pPr>
            <a:r>
              <a:rPr sz="975" b="1">
                <a:solidFill>
                  <a:srgbClr val="718995"/>
                </a:solidFill>
              </a:rPr>
              <a:t>PUBLIC &amp; REPRODUCIBLE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4906-E5A9-4296-8652-D0A3B77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342F"/>
                </a:solidFill>
              </a:defRPr>
            </a:pPr>
            <a:r>
              <a:rPr sz="1350" b="1">
                <a:solidFill>
                  <a:srgbClr val="30342F"/>
                </a:solidFill>
              </a:rPr>
              <a:t>github.com/yang13926151198-ai/AI-Photographer-Agent-ROCm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34AC5-FCD3-4E98-8761-DFC523B7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81050"/>
            <a:ext cx="3486150" cy="50863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333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DF050-38E6-498D-B5DF-81BC8BE5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AF8F3"/>
                </a:solidFill>
              </a:defRPr>
            </a:pPr>
            <a:r>
              <a:rPr sz="2100" b="1">
                <a:solidFill>
                  <a:srgbClr val="FAF8F3"/>
                </a:solidFill>
              </a:rPr>
              <a:t>Submission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1E45A-8BA8-4D37-80CA-3450BE6B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3A1C1-6CD3-4B69-B183-5AE13043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24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Complete public source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4AC7A-D905-4392-B0D7-EDE17389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66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A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A4F16-3CF6-4935-994F-4606CDCD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English README &amp;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1B4EB-134C-4BB1-BDF0-133DF456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9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62993-5DA0-460D-95F5-BF21C53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Official local checkpoints supported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BED31-06F5-40AF-9639-960CC91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4BE6D-19A2-4509-902E-C5268FA8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76/76 automated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2F6D9-F64F-4E57-8408-4B63BAAB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A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E42A4-322C-4CCD-8C39-FDDB159B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3/3 fresh English demo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59CC6-1B5A-443F-A79A-A612CEA6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9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5744B-15F4-4BAD-9BCD-9259A0BB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No remote AI API for core functions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D541E-1FAA-41D6-81F9-46BE6E1B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3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9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BB922-9687-4352-BAE1-4D72D342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AF8F3"/>
                </a:solidFill>
              </a:defRPr>
            </a:pPr>
            <a:r>
              <a:rPr sz="1275" b="0">
                <a:solidFill>
                  <a:srgbClr val="FAF8F3"/>
                </a:solidFill>
              </a:rPr>
              <a:t>No image-generation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07F64-D251-46D2-A6B4-09B95A26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46E"/>
                </a:solidFill>
              </a:defRPr>
            </a:pPr>
            <a:r>
              <a:rPr sz="750" b="0">
                <a:solidFill>
                  <a:srgbClr val="6F746E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413246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2026-08-06T08:34:51.4690000Z</dcterms:created>
  <dcterms:modified xsi:type="dcterms:W3CDTF">2026-08-06T08:34:51.4690000Z</dcterms:modified>
</coreProperties>
</file>