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73152"/>
          </a:xfrm>
          <a:prstGeom prst="rect">
            <a:avLst/>
          </a:prstGeom>
          <a:solidFill>
            <a:srgbClr val="2E7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5400" b="1" i="0">
                <a:solidFill>
                  <a:srgbClr val="FFFFFF"/>
                </a:solidFill>
                <a:latin typeface="Calibri"/>
              </a:rPr>
              <a:t>AetherStyle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71800"/>
            <a:ext cx="10728655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0" i="0">
                <a:solidFill>
                  <a:srgbClr val="CFE6EA"/>
                </a:solidFill>
                <a:latin typeface="Calibri"/>
              </a:rPr>
              <a:t>A Multimodal Content Creation Toolkit for AMD Radeon GPUs / ROCm</a:t>
            </a:r>
          </a:p>
          <a:p>
            <a:r>
              <a:rPr sz="1500" b="0" i="0">
                <a:solidFill>
                  <a:srgbClr val="B9D3D8"/>
                </a:solidFill>
                <a:latin typeface="Calibri"/>
              </a:rPr>
              <a:t>Text-to-Image  ·  Image-to-Image  ·  Text-to-Video  —  stable, local, Chinese-friendly</a:t>
            </a:r>
          </a:p>
          <a:p>
            <a:r>
              <a:rPr sz="1400" b="1" i="0">
                <a:solidFill>
                  <a:srgbClr val="2E7D8A"/>
                </a:solidFill>
                <a:latin typeface="Calibri"/>
              </a:rPr>
              <a:t>Track 1: Development of Multimodal Content Creation Tools</a:t>
            </a:r>
          </a:p>
          <a:p>
            <a:r>
              <a:rPr sz="1200" b="0" i="0">
                <a:solidFill>
                  <a:srgbClr val="9FB8BD"/>
                </a:solidFill>
                <a:latin typeface="Calibri"/>
              </a:rPr>
              <a:t>Submission materials — Supplementary PPT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7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 i="0">
                <a:solidFill>
                  <a:srgbClr val="2E7D8A"/>
                </a:solidFill>
                <a:latin typeface="Calibri"/>
              </a:rPr>
              <a:t>ONE-LINE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What is AetherStyle?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1F3A5F"/>
                </a:solidFill>
                <a:latin typeface="Calibri"/>
              </a:rPr>
              <a:t>A local-first tool that turns natural-language prompts into images and short videos — natively on AMD Radeon / ROCm, with no cloud dependency.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834640"/>
            <a:ext cx="3566160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834640"/>
            <a:ext cx="3566160" cy="548640"/>
          </a:xfrm>
          <a:prstGeom prst="rect">
            <a:avLst/>
          </a:prstGeom>
          <a:solidFill>
            <a:srgbClr val="2E7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880360"/>
            <a:ext cx="3291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Calibri"/>
              </a:rPr>
              <a:t>Image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20440"/>
            <a:ext cx="32004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 i="0">
                <a:solidFill>
                  <a:srgbClr val="555555"/>
                </a:solidFill>
                <a:latin typeface="Calibri"/>
              </a:rPr>
              <a:t>SD3.5-Medium → SDXL → SD1.5
High-quality text &amp; image-to-image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2834640"/>
            <a:ext cx="3566160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2834640"/>
            <a:ext cx="3566160" cy="548640"/>
          </a:xfrm>
          <a:prstGeom prst="rect">
            <a:avLst/>
          </a:prstGeom>
          <a:solidFill>
            <a:srgbClr val="2E7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880360"/>
            <a:ext cx="3291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Calibri"/>
              </a:rPr>
              <a:t>Video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3520440"/>
            <a:ext cx="32004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 i="0">
                <a:solidFill>
                  <a:srgbClr val="555555"/>
                </a:solidFill>
                <a:latin typeface="Calibri"/>
              </a:rPr>
              <a:t>Wan2.2-TI2V-5B → LTX-Video → Legacy
720P @ 24fps, native Chinese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2834640"/>
            <a:ext cx="3566160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40" y="2834640"/>
            <a:ext cx="3566160" cy="548640"/>
          </a:xfrm>
          <a:prstGeom prst="rect">
            <a:avLst/>
          </a:prstGeom>
          <a:solidFill>
            <a:srgbClr val="2E7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2880360"/>
            <a:ext cx="3291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Calibri"/>
              </a:rPr>
              <a:t>Stable on AMD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3520440"/>
            <a:ext cx="32004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 i="0">
                <a:solidFill>
                  <a:srgbClr val="555555"/>
                </a:solidFill>
                <a:latin typeface="Calibri"/>
              </a:rPr>
              <a:t>Auto best-model selection
Crash-proof fallback 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 i="0">
                <a:solidFill>
                  <a:srgbClr val="2E7D8A"/>
                </a:solidFill>
                <a:latin typeface="Calibri"/>
              </a:rPr>
              <a:t>AetherStyle  ·  Track 1: Multimodal Content Creation 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7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 i="0">
                <a:solidFill>
                  <a:srgbClr val="2E7D8A"/>
                </a:solidFill>
                <a:latin typeface="Calibri"/>
              </a:rPr>
              <a:t>THE GAP WE FILL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94415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700" b="0" i="0">
                <a:solidFill>
                  <a:srgbClr val="555555"/>
                </a:solidFill>
                <a:latin typeface="Calibri"/>
              </a:rPr>
              <a:t>•  Most open AIGC tooling assumes NVIDIA CUDA — AMD Radeon owners are underserved.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555555"/>
                </a:solidFill>
                <a:latin typeface="Calibri"/>
              </a:rPr>
              <a:t>•  Creators want local, private generation (no cloud upload of commercial / sensitive material).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555555"/>
                </a:solidFill>
                <a:latin typeface="Calibri"/>
              </a:rPr>
              <a:t>•  Short-video &amp; e-commerce demand is exploding, but tools are heavy and hardware-picky.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555555"/>
                </a:solidFill>
                <a:latin typeface="Calibri"/>
              </a:rPr>
              <a:t>•  Chinese-speaking creators need native-language prompts without a translation step.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555555"/>
                </a:solidFill>
                <a:latin typeface="Calibri"/>
              </a:rPr>
              <a:t>•  AetherStyle makes 'will it run on my AMD card?' an automatic decision, not a gamble.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 i="0">
                <a:solidFill>
                  <a:srgbClr val="2E7D8A"/>
                </a:solidFill>
                <a:latin typeface="Calibri"/>
              </a:rPr>
              <a:t>AetherStyle  ·  Track 1: Multimodal Content Creation 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7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 i="0">
                <a:solidFill>
                  <a:srgbClr val="2E7D8A"/>
                </a:solidFill>
                <a:latin typeface="Calibri"/>
              </a:rPr>
              <a:t>LAYERED &amp; DECOUPLED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2743200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25603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Calibri"/>
              </a:rPr>
              <a:t>UI layer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417320"/>
            <a:ext cx="8259775" cy="91440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417320"/>
            <a:ext cx="789401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 i="0">
                <a:solidFill>
                  <a:srgbClr val="555555"/>
                </a:solidFill>
                <a:latin typeface="Calibri"/>
              </a:rPr>
              <a:t>Gradio Web UI (port 7860) · Tabs: T2I / I2I / T2V · model-management panel · optional FastAPI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96312"/>
            <a:ext cx="2743200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496312"/>
            <a:ext cx="25603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Calibri"/>
              </a:rPr>
              <a:t>Orchestration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2496312"/>
            <a:ext cx="8259775" cy="91440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2496312"/>
            <a:ext cx="789401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 i="0">
                <a:solidFill>
                  <a:srgbClr val="555555"/>
                </a:solidFill>
                <a:latin typeface="Calibri"/>
              </a:rPr>
              <a:t>engine.py — task routing, disk/VRAM gating, model loader, tiered fallback, export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575304"/>
            <a:ext cx="2743200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575304"/>
            <a:ext cx="25603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Calibri"/>
              </a:rPr>
              <a:t>Model layer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3575304"/>
            <a:ext cx="8259775" cy="91440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3575304"/>
            <a:ext cx="789401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 i="0">
                <a:solidFill>
                  <a:srgbClr val="555555"/>
                </a:solidFill>
                <a:latin typeface="Calibri"/>
              </a:rPr>
              <a:t>diffusers: SD3.5 / SDXL / SD1.5 · Wan2.2-TI2V-5B / LTX-Video / Legacy SDPipeline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654296"/>
            <a:ext cx="2743200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654296"/>
            <a:ext cx="25603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Calibri"/>
              </a:rPr>
              <a:t>Runtime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0" y="4654296"/>
            <a:ext cx="8259775" cy="91440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0" y="4654296"/>
            <a:ext cx="789401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 i="0">
                <a:solidFill>
                  <a:srgbClr val="555555"/>
                </a:solidFill>
                <a:latin typeface="Calibri"/>
              </a:rPr>
              <a:t>PyTorch on ROCm (HIP) · bf16 compute · CPU offload when VRAM is tight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 i="0">
                <a:solidFill>
                  <a:srgbClr val="2E7D8A"/>
                </a:solidFill>
                <a:latin typeface="Calibri"/>
              </a:rPr>
              <a:t>AetherStyle  ·  Track 1: Multimodal Content Creation Tools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7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 i="0">
                <a:solidFill>
                  <a:srgbClr val="2E7D8A"/>
                </a:solidFill>
                <a:latin typeface="Calibri"/>
              </a:rPr>
              <a:t>BEST-FIT, AUTOMATICALLY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Models &amp; Algorithms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2E7D8A"/>
                </a:solidFill>
                <a:latin typeface="Calibri"/>
              </a:rPr>
              <a:t>Image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1094415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 i="0">
                <a:solidFill>
                  <a:srgbClr val="555555"/>
                </a:solidFill>
                <a:latin typeface="Calibri"/>
              </a:rPr>
              <a:t>•  Primary: Stable Diffusion 3.5-Medium (MMDiT + T5-XXL + flow-matching) — strong prompt adherence.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555555"/>
                </a:solidFill>
                <a:latin typeface="Calibri"/>
              </a:rPr>
              <a:t>•  Fallback: SDXL → SD v1.5 for constrained environments.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63240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2E7D8A"/>
                </a:solidFill>
                <a:latin typeface="Calibri"/>
              </a:rPr>
              <a:t>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20440"/>
            <a:ext cx="11094415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 i="0">
                <a:solidFill>
                  <a:srgbClr val="555555"/>
                </a:solidFill>
                <a:latin typeface="Calibri"/>
              </a:rPr>
              <a:t>•  Primary: Wan2.2-TI2V-5B (5B DiT + umt5-xxl, 720P@24fps, Apache-2.0) — native Chinese, no translation.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555555"/>
                </a:solidFill>
                <a:latin typeface="Calibri"/>
              </a:rPr>
              <a:t>•  Fallback: LTX-Video 2B (fast DiT) → Legacy damo-vilab SDPipeline.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555555"/>
                </a:solidFill>
                <a:latin typeface="Calibri"/>
              </a:rPr>
              <a:t>•  bf16 default; 50 steps / guidance 6.0; resolution ÷16, (frames−1) ÷4; seed-controllable.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 i="0">
                <a:solidFill>
                  <a:srgbClr val="2E7D8A"/>
                </a:solidFill>
                <a:latin typeface="Calibri"/>
              </a:rPr>
              <a:t>AetherStyle  ·  Track 1: Multimodal Content Creation 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7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 i="0">
                <a:solidFill>
                  <a:srgbClr val="2E7D8A"/>
                </a:solidFill>
                <a:latin typeface="Calibri"/>
              </a:rPr>
              <a:t>ENGINEERED FOR THE RED TEAM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AMD Radeon / ROCm Adaptation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94415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•  Runs on the ROCm (HIP) backend via official PyTorch ROCm wheels — no CUDA-specific code.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•  Validated on AMD Radeon gfx1100 with 48 GB VRAM, single card, image + video together.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•  bf16 compute + CPU offload let Wan (34 GB) and SD3.5 (10 GB) coexist without OOM.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•  Portable across the AMD stack (relies only on diffusers + torch.cuda mapped to HIP).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•  Compatibility shims: HSA_OVERRIDE_GFX_VERSION for older torch; HfFolder stub for newer hub.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•  Disk/VRAM gating + tiered fallback keep it stable on constrained AMD boxes.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 i="0">
                <a:solidFill>
                  <a:srgbClr val="2E7D8A"/>
                </a:solidFill>
                <a:latin typeface="Calibri"/>
              </a:rPr>
              <a:t>AetherStyle  ·  Track 1: Multimodal Content Creation 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7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 i="0">
                <a:solidFill>
                  <a:srgbClr val="2E7D8A"/>
                </a:solidFill>
                <a:latin typeface="Calibri"/>
              </a:rPr>
              <a:t>WHO USES IT, FOR WHAT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Creative Scenarios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3566160" cy="210312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3566160" cy="502920"/>
          </a:xfrm>
          <a:prstGeom prst="rect">
            <a:avLst/>
          </a:prstGeom>
          <a:solidFill>
            <a:srgbClr val="2E7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3291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Calibri"/>
              </a:rPr>
              <a:t>Short 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3200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 i="0">
                <a:solidFill>
                  <a:srgbClr val="555555"/>
                </a:solidFill>
                <a:latin typeface="Calibri"/>
              </a:rPr>
              <a:t>Ad spots, vlogs, explainers from a text prompt (720P@24fps).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1417320"/>
            <a:ext cx="3566160" cy="210312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417320"/>
            <a:ext cx="3566160" cy="502920"/>
          </a:xfrm>
          <a:prstGeom prst="rect">
            <a:avLst/>
          </a:prstGeom>
          <a:solidFill>
            <a:srgbClr val="2E7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17320"/>
            <a:ext cx="3291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Calibri"/>
              </a:rPr>
              <a:t>E-commerce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011680"/>
            <a:ext cx="3200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 i="0">
                <a:solidFill>
                  <a:srgbClr val="555555"/>
                </a:solidFill>
                <a:latin typeface="Calibri"/>
              </a:rPr>
              <a:t>On-demand product photos, posters, social cards.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0" y="1417320"/>
            <a:ext cx="3566160" cy="210312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21040" y="1417320"/>
            <a:ext cx="3566160" cy="502920"/>
          </a:xfrm>
          <a:prstGeom prst="rect">
            <a:avLst/>
          </a:prstGeom>
          <a:solidFill>
            <a:srgbClr val="2E7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1417320"/>
            <a:ext cx="3291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Calibri"/>
              </a:rPr>
              <a:t>Concept 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011680"/>
            <a:ext cx="3200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 i="0">
                <a:solidFill>
                  <a:srgbClr val="555555"/>
                </a:solidFill>
                <a:latin typeface="Calibri"/>
              </a:rPr>
              <a:t>Storyboards &amp; previs for games / film, straight on AMD HW.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840480"/>
            <a:ext cx="3566160" cy="210312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840480"/>
            <a:ext cx="3566160" cy="502920"/>
          </a:xfrm>
          <a:prstGeom prst="rect">
            <a:avLst/>
          </a:prstGeom>
          <a:solidFill>
            <a:srgbClr val="2E7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840480"/>
            <a:ext cx="3291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Calibri"/>
              </a:rPr>
              <a:t>Education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434840"/>
            <a:ext cx="3200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 i="0">
                <a:solidFill>
                  <a:srgbClr val="555555"/>
                </a:solidFill>
                <a:latin typeface="Calibri"/>
              </a:rPr>
              <a:t>Turn lesson points into visuals and short clips.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34840" y="3840480"/>
            <a:ext cx="3566160" cy="210312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34840" y="3840480"/>
            <a:ext cx="3566160" cy="502920"/>
          </a:xfrm>
          <a:prstGeom prst="rect">
            <a:avLst/>
          </a:prstGeom>
          <a:solidFill>
            <a:srgbClr val="2E7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3840480"/>
            <a:ext cx="3291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Calibri"/>
              </a:rPr>
              <a:t>Private gen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4434840"/>
            <a:ext cx="3200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 i="0">
                <a:solidFill>
                  <a:srgbClr val="555555"/>
                </a:solidFill>
                <a:latin typeface="Calibri"/>
              </a:rPr>
              <a:t>Fully local creation for commercial / confidential material.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21040" y="3840480"/>
            <a:ext cx="3566160" cy="210312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321040" y="3840480"/>
            <a:ext cx="3566160" cy="502920"/>
          </a:xfrm>
          <a:prstGeom prst="rect">
            <a:avLst/>
          </a:prstGeom>
          <a:solidFill>
            <a:srgbClr val="2E7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58200" y="3840480"/>
            <a:ext cx="3291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Calibri"/>
              </a:rPr>
              <a:t>Prototyping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4434840"/>
            <a:ext cx="3200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 i="0">
                <a:solidFill>
                  <a:srgbClr val="555555"/>
                </a:solidFill>
                <a:latin typeface="Calibri"/>
              </a:rPr>
              <a:t>Rapid ideation for creators on cost-effective AMD GPUs.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 i="0">
                <a:solidFill>
                  <a:srgbClr val="2E7D8A"/>
                </a:solidFill>
                <a:latin typeface="Calibri"/>
              </a:rPr>
              <a:t>AetherStyle  ·  Track 1: Multimodal Content Creation Tools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7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 i="0">
                <a:solidFill>
                  <a:srgbClr val="2E7D8A"/>
                </a:solidFill>
                <a:latin typeface="Calibri"/>
              </a:rPr>
              <a:t>WHY TEAMS ADOPT IT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Practical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94415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•  Cost-effective: unlocks capable, affordable AMD Radeon GPUs for AIGC.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•  Crash-proof: incomplete weights / quota limits / OOM route to the next tier — service stays up.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•  Zero-guess model choice: engine only downloads what fits disk and loads what fits VRAM.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•  Reproducible: fixed-seed support for deterministic, demonstrable outputs.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•  Chinese-first: native prompts on the video path, no translation subsystem.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•  One toolkit, many jobs: image + video + restyle in a single local UI.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 i="0">
                <a:solidFill>
                  <a:srgbClr val="2E7D8A"/>
                </a:solidFill>
                <a:latin typeface="Calibri"/>
              </a:rPr>
              <a:t>AetherStyle  ·  Track 1: Multimodal Content Creation 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7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 i="0">
                <a:solidFill>
                  <a:srgbClr val="2E7D8A"/>
                </a:solidFill>
                <a:latin typeface="Calibri"/>
              </a:rPr>
              <a:t>WHAT THE VIDEO SHOWS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Demo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94415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•  Launch on AMD ROCm: `bash run_light.sh` → Web UI at :7860.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•  Text-to-Image: a prompt rendered with SD3.5-Medium (clarity + prompt adherence).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•  Text-to-Video: a Chinese prompt → Wan2.2-TI2V-5B clip (720P@24fps).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•  Diversity: several distinct prompts / styles in one session (stability).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•  Robustness: show fallback behavior if a heavier model is unavailable.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 i="0">
                <a:solidFill>
                  <a:srgbClr val="2E7D8A"/>
                </a:solidFill>
                <a:latin typeface="Calibri"/>
              </a:rPr>
              <a:t>AetherStyle  ·  Track 1: Multimodal Content Creation 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73152"/>
          </a:xfrm>
          <a:prstGeom prst="rect">
            <a:avLst/>
          </a:prstGeom>
          <a:solidFill>
            <a:srgbClr val="2E7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28655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728655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D7E6EA"/>
                </a:solidFill>
                <a:latin typeface="Calibri"/>
              </a:rPr>
              <a:t>AetherStyle — multimodal AIGC, native on AMD ROCm.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D7E6EA"/>
                </a:solidFill>
                <a:latin typeface="Calibri"/>
              </a:rPr>
              <a:t>PR title format:  "Track 1, &lt;Your Team Name&gt;, AetherStyle"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D7E6EA"/>
                </a:solidFill>
                <a:latin typeface="Calibri"/>
              </a:rPr>
              <a:t>Materials: Project Profile (PDF) · README · Demo Video · this PPT.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D7E6EA"/>
                </a:solidFill>
                <a:latin typeface="Calibri"/>
              </a:rPr>
              <a:t>All submission text is in English per the contest rules.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