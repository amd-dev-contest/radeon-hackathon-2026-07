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46"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Hello everyone, welcome to the project achievement report for the Super Desktop Assistant. Today, I will present a revolutionary AI agent that brings the power of multiple AI models directly to your desktop, running entirely on local hardware. Let's dive into the details of this exciting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begin, let's look at the executive summary. The Super Desktop Assistant is a groundbreaking AI agent designed to run entirely locally on an AMD Radeon PRO W7900 GPU. Its key innovation lies in a smart orchestration system that maximizes GPU performance. Our major achievements include full local operation for ultimate privacy, significant performance boosts through ROCm optimizations, efficient VRAM management, and a robust four-layer architecture.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Here's the roadmap for today's presentation. We'll start with the vision and problem statement, then dive deep into our core innovations, application scenarios, system architecture, and capabilities. We'll also cover model deployment, our extensive GPU optimizations, hardware analysis, VRAM management, and conclude with a summary of our achievements.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start with the problem. Current AI services present three major hurdles: data privacy, high costs, and tool fragmentation. Uploading sensitive data to the cloud is a significant risk. Continuous API calls add up financially and create a dependency on internet access. And switching between different apps for different tasks breaks your workflow and wastes time.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solution is the Super Desktop Assistant. It's a single interface where all AI runs locally on your AMD Radeon GPU. This means absolute privacy, zero ongoing costs, and a seamless workflow. The core concept is unified orchestration: you give a single command, and the system intelligently breaks it down into parallel tasks for different AI models, all running on your local hardware.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let's explore our core innovation: the "Rewrite, Activate, Maximize" pipeline. First, it rewrites simple user commands into professional-grade prompts. Then, it activates the appropriate expert AI models for the task. Finally, it maximizes the utilization of your local GPU through parallel processing and deep optimizations, resulting in significant performance gains.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see how this works in practice. Here are some real-world use cases. From generating poetry in about 18 seconds, to analyzing images in 3 seconds, to voice-activated image generation, the assistant handles a variety of tasks efficiently. The table shows the end-to-end latency for each scenario, demonstrating its versatility and tangible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make it more concrete, here are some actual outputs. On the left, you see a classical Chinese poem generated by the LLM. In the middle, an anime girl created from a simple text prompt. And on the right, a cyberpunk cat generated using voice commands. All of these were created seamlessly within the same interface.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foundation of our system is a robust four-layer architecture. At the top, the UserAgent handles input preprocessing. Below it, the Supervisor acts as the brain, planning, executing, and routing tasks. The Foremen layer contains the specialized AI experts. And the bottom layer provides a unified API to the underlying models. This structure ensures reliable and efficient task execution.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take a closer look at each layer. Layer 1, the UserAgent, is the entry point, responsible for cleaning and standardizing input. Layer 2, the Supervisor, is the brain that parses commands, generates a Task DAG, and orchestrates parallel execution. Layer 3, the Foremen, are the specialized AI experts for domains like vision or language, each with their own toolbox. Layer 4 provides a unified API that abstracts the underlying models. Key features include the structured Task DAG for handling complex workflows and a robust failure propagation mechanism that prevents cascading errors, ensuring the system remains stable even if individual components fail.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Our assistant is like a Swiss Army knife for local AI. It combines powerful LLM reasoning, vision analysis, speech-to-text powered by faster-whisper, text-to-speech with the Kokoro model, and high-quality image generation via ComfyUI. Additionally, it includes 8 agent tools and a unique feature that allows configuration through natural language dialogue.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Here's a breakdown of the models we selected and how they are deployed. The large Qwen2.5-VL model runs on the GPU using vLLM with ROCm. Speech tasks are offloaded to the CPU to free up GPU resources for more intensive tasks like LLM and image generation. This 100% local deployment strategy ensures maximum privacy and reliability.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 major focus of this project was optimizing for the AMD Radeon PRO W7900 and the ROCm platform. Our efforts have paid off with significant performance gains. We achieved an 11% improvement in text generation speed and a remarkable 109% improvement in long-context prefill speed, more than doubling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how did we achieve these gains? Through three key techniques. First, we switched from bfloat16 to float32 accumulation to fix a critical kernel crash. Second, we tuned the AWQ block size from 32 to 128, boosting bandwidth efficiency by 10%. Finally, by combining these changes, we optimized the AWQ Triton kernel to reach the new speed record. These changes are now part of our custom vLLM build.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Optimization isn't guesswork; it's based on a deep understanding of the hardware. Using the Roofline model, we analyzed the RDNA3 architecture. We found that text generation decode is memory bandwidth-bound, with a theoretical ceiling of about 54 tokens per second. Our achieved speed of 13.7 tokens/s is 25% of that ceiling, up from 23% before our optimizations, showing we're effectively pushing the hardware to its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Another major challenge is managing the 48GB of VRAM on the W7900. Our strategy is a combination of resident and on-demand memory. The large Qwen model stays resident in about 32GB of VRAM. The image generation model is loaded on-demand, using another 8GB. Speech tasks are offloaded to the CPU. This totals about 40GB, well within the 48GB limit, ensuring smooth concurrent operation without memory errors.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illustrate the system's capabilities, let's walk through a complete workflow. The user commands the system to draw an anime girl. The supervisor generates a task DAG, the LLM builds a professional prompt, and the image model renders the picture. The total end-to-end time is about 45 seconds. This demonstrates full DAG orchestration, zero cloud dependency, and robust failure handling.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In conclusion, the Super Desktop Assistant stands out for several key reasons. It offers real-time prompt rewriting, intelligent expert activation, and maximized local AI utilization with proven performance gains. It's fully local and private, built on a robust architecture with graceful degradation, and masterfully manages VRAM to run multiple large models on a single GPU. It truly is one interface for all your local AI needs.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Thank you for your attention. We believe the Super Desktop Assistant is a game-changer for personal AI computing, and we're excited to continue developing its capabilities.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2.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3.svg" Type="http://schemas.openxmlformats.org/officeDocument/2006/relationships/image"/><Relationship Id="rId11" Target="../notesSlides/notesSlide7.xml" Type="http://schemas.openxmlformats.org/officeDocument/2006/relationships/notesSlide"/><Relationship Id="rId2" Target="../media/image2.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4.jpeg" Type="http://schemas.openxmlformats.org/officeDocument/2006/relationships/image"/><Relationship Id="rId4" Target="../media/image35.jpeg" Type="http://schemas.openxmlformats.org/officeDocument/2006/relationships/image"/><Relationship Id="rId5" Target="../media/image36.jpeg" Type="http://schemas.openxmlformats.org/officeDocument/2006/relationships/image"/><Relationship Id="rId6"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7.png" Type="http://schemas.openxmlformats.org/officeDocument/2006/relationships/image"/><Relationship Id="rId4" Target="../media/image38.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notesSlides/notesSlide11.xml" Type="http://schemas.openxmlformats.org/officeDocument/2006/relationships/notesSlide"/><Relationship Id="rId2" Target="../media/image2.jpeg" Type="http://schemas.openxmlformats.org/officeDocument/2006/relationships/image"/><Relationship Id="rId3" Target="../media/image39.jpeg" Type="http://schemas.openxmlformats.org/officeDocument/2006/relationships/image"/><Relationship Id="rId4" Target="../media/image40.jpeg" Type="http://schemas.openxmlformats.org/officeDocument/2006/relationships/image"/><Relationship Id="rId5" Target="../media/image41.jpe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48.png" Type="http://schemas.openxmlformats.org/officeDocument/2006/relationships/image"/><Relationship Id="rId6" Target="../media/image49.svg" Type="http://schemas.openxmlformats.org/officeDocument/2006/relationships/image"/><Relationship Id="rId7" Target="../media/image50.jpeg" Type="http://schemas.openxmlformats.org/officeDocument/2006/relationships/image"/><Relationship Id="rId8"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1.jpe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4.jpeg" Type="http://schemas.openxmlformats.org/officeDocument/2006/relationships/image"/><Relationship Id="rId4"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5.jpeg" Type="http://schemas.openxmlformats.org/officeDocument/2006/relationships/image"/><Relationship Id="rId4"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61.svg" Type="http://schemas.openxmlformats.org/officeDocument/2006/relationships/image"/><Relationship Id="rId11" Target="../media/image62.png" Type="http://schemas.openxmlformats.org/officeDocument/2006/relationships/image"/><Relationship Id="rId12" Target="../media/image63.svg" Type="http://schemas.openxmlformats.org/officeDocument/2006/relationships/image"/><Relationship Id="rId13" Target="../media/image37.png" Type="http://schemas.openxmlformats.org/officeDocument/2006/relationships/image"/><Relationship Id="rId14" Target="../media/image38.svg" Type="http://schemas.openxmlformats.org/officeDocument/2006/relationships/image"/><Relationship Id="rId15" Target="../media/image7.png" Type="http://schemas.openxmlformats.org/officeDocument/2006/relationships/image"/><Relationship Id="rId16" Target="../media/image8.svg" Type="http://schemas.openxmlformats.org/officeDocument/2006/relationships/image"/><Relationship Id="rId17" Target="../media/image3.png" Type="http://schemas.openxmlformats.org/officeDocument/2006/relationships/image"/><Relationship Id="rId18" Target="../media/image4.svg" Type="http://schemas.openxmlformats.org/officeDocument/2006/relationships/image"/><Relationship Id="rId19" Target="../notesSlides/notesSlide17.xml" Type="http://schemas.openxmlformats.org/officeDocument/2006/relationships/notesSlide"/><Relationship Id="rId2" Target="../media/image2.jpeg" Type="http://schemas.openxmlformats.org/officeDocument/2006/relationships/image"/><Relationship Id="rId3" Target="../media/image56.png" Type="http://schemas.openxmlformats.org/officeDocument/2006/relationships/image"/><Relationship Id="rId4" Target="../media/image57.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6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svg" Type="http://schemas.openxmlformats.org/officeDocument/2006/relationships/image"/><Relationship Id="rId11" Target="../media/image64.png" Type="http://schemas.openxmlformats.org/officeDocument/2006/relationships/image"/><Relationship Id="rId12" Target="../media/image65.svg" Type="http://schemas.openxmlformats.org/officeDocument/2006/relationships/image"/><Relationship Id="rId13" Target="../media/image66.png" Type="http://schemas.openxmlformats.org/officeDocument/2006/relationships/image"/><Relationship Id="rId14" Target="../media/image67.svg" Type="http://schemas.openxmlformats.org/officeDocument/2006/relationships/image"/><Relationship Id="rId15" Target="../media/image7.png" Type="http://schemas.openxmlformats.org/officeDocument/2006/relationships/image"/><Relationship Id="rId16" Target="../media/image8.svg" Type="http://schemas.openxmlformats.org/officeDocument/2006/relationships/image"/><Relationship Id="rId17" Target="../notesSlides/notesSlide18.xml" Type="http://schemas.openxmlformats.org/officeDocument/2006/relationships/notesSlide"/><Relationship Id="rId2" Target="../media/image2.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8.jpeg" Type="http://schemas.openxmlformats.org/officeDocument/2006/relationships/image"/><Relationship Id="rId3" Target="../notesSlides/notesSlide19.xml" Type="http://schemas.openxmlformats.org/officeDocument/2006/relationships/notesSlide"/><Relationship Id="rId4" Target="../media/image6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cmpd="sng" cap="flat">
            <a:solidFill>
              <a:srgbClr val="000000">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08000"/>
            <a:ext cx="1524000" cy="1524000"/>
          </a:xfrm>
          <a:prstGeom prst="ellipse">
            <a:avLst/>
          </a:prstGeom>
          <a:solidFill>
            <a:srgbClr val="8A2BE2">
              <a:alpha val="20000"/>
            </a:srgbClr>
          </a:solidFill>
          <a:ln cmpd="sng" cap="flat">
            <a:solidFill>
              <a:srgbClr val="7112C9">
                <a:alpha val="2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286000"/>
            <a:ext cx="10668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5200">
                <a:solidFill>
                  <a:srgbClr val="FFFFFF"/>
                </a:solidFill>
                <a:latin typeface="Poppins"/>
                <a:ea typeface="Poppins"/>
                <a:cs typeface="Poppins"/>
                <a:sym typeface="Poppins"/>
              </a:rPr>
              <a:t>Super Desktop Assistant</a:t>
            </a:r>
            <a:endParaRPr lang="en-US" sz="1100"/>
          </a:p>
        </p:txBody>
      </p:sp>
      <p:sp>
        <p:nvSpPr>
          <p:cNvPr name="AutoShape 5" id="5"/>
          <p:cNvSpPr/>
          <p:nvPr/>
        </p:nvSpPr>
        <p:spPr>
          <a:xfrm rot="0" flipH="false" flipV="false">
            <a:off x="762000" y="4064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800" spc="200">
                <a:solidFill>
                  <a:srgbClr val="E6D2FF">
                    <a:alpha val="90196"/>
                  </a:srgbClr>
                </a:solidFill>
                <a:latin typeface="Poppins"/>
                <a:ea typeface="Poppins"/>
                <a:cs typeface="Poppins"/>
                <a:sym typeface="Poppins"/>
              </a:rPr>
              <a:t>Project Achievement Report</a:t>
            </a:r>
            <a:endParaRPr lang="en-US" sz="1100"/>
          </a:p>
        </p:txBody>
      </p:sp>
      <p:sp>
        <p:nvSpPr>
          <p:cNvPr name="AutoShape 6" id="6"/>
          <p:cNvSpPr/>
          <p:nvPr/>
        </p:nvSpPr>
        <p:spPr>
          <a:xfrm rot="0" flipH="false" flipV="false">
            <a:off x="762000" y="5207000"/>
            <a:ext cx="1016000" cy="50800"/>
          </a:xfrm>
          <a:prstGeom prst="roundRect">
            <a:avLst>
              <a:gd name="adj" fmla="val 0"/>
            </a:avLst>
          </a:prstGeom>
          <a:solidFill>
            <a:srgbClr val="8A2BE2">
              <a:alpha val="100000"/>
            </a:srgbClr>
          </a:solidFill>
          <a:ln cmpd="sng" cap="flat">
            <a:solidFill>
              <a:srgbClr val="7112C9">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55245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FFFFFF">
                    <a:alpha val="60000"/>
                  </a:srgbClr>
                </a:solidFill>
                <a:latin typeface="Poppins"/>
                <a:ea typeface="Poppins"/>
                <a:cs typeface="Poppins"/>
                <a:sym typeface="Poppins"/>
              </a:rPr>
              <a:t>August 2026 • AI Innovation &amp; Research Lab</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Executive Summary</a:t>
            </a:r>
            <a:endParaRPr lang="en-US" sz="1100"/>
          </a:p>
        </p:txBody>
      </p:sp>
      <p:sp>
        <p:nvSpPr>
          <p:cNvPr name="AutoShape 4" id="4"/>
          <p:cNvSpPr/>
          <p:nvPr/>
        </p:nvSpPr>
        <p:spPr>
          <a:xfrm rot="0" flipH="false" flipV="false">
            <a:off x="762000" y="1397000"/>
            <a:ext cx="10668000" cy="10795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498600"/>
            <a:ext cx="1028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8A2BE2"/>
                </a:solidFill>
                <a:latin typeface="Poppins"/>
                <a:ea typeface="Poppins"/>
                <a:cs typeface="Poppins"/>
                <a:sym typeface="Poppins"/>
              </a:rPr>
              <a:t>Project: Super Desktop Assistant</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300">
                <a:solidFill>
                  <a:srgbClr val="DCDCDC"/>
                </a:solidFill>
                <a:latin typeface="Poppins"/>
                <a:ea typeface="Poppins"/>
                <a:cs typeface="Poppins"/>
                <a:sym typeface="Poppins"/>
              </a:rPr>
              <a:t>A unified local-first AI agent merging LLM, Vision, Speech, and Image Generation into a single conversational interface—powered entirely by the AMD Radeon PRO W7900 GPU with ROCm, delivering a private, cloud-independent experience.</a:t>
            </a:r>
          </a:p>
        </p:txBody>
      </p:sp>
      <p:sp>
        <p:nvSpPr>
          <p:cNvPr name="AutoShape 6" id="6"/>
          <p:cNvSpPr/>
          <p:nvPr/>
        </p:nvSpPr>
        <p:spPr>
          <a:xfrm rot="0" flipH="false" flipV="false">
            <a:off x="762000" y="2667000"/>
            <a:ext cx="10668000" cy="9525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2768600"/>
            <a:ext cx="1028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8A2BE2"/>
                </a:solidFill>
                <a:latin typeface="Poppins"/>
                <a:ea typeface="Poppins"/>
                <a:cs typeface="Poppins"/>
                <a:sym typeface="Poppins"/>
              </a:rPr>
              <a:t>Core Innovation: Dynamic DAG Orchestration</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300">
                <a:solidFill>
                  <a:srgbClr val="DCDCDC"/>
                </a:solidFill>
                <a:latin typeface="Poppins"/>
                <a:ea typeface="Poppins"/>
                <a:cs typeface="Poppins"/>
                <a:sym typeface="Poppins"/>
              </a:rPr>
              <a:t>The system dynamically rewrites user prompts to activate specialized "expert" models, and leverages a sophisticated DAG parallel system to maximize local GPU utilization for complex multimodal tasks.</a:t>
            </a:r>
          </a:p>
        </p:txBody>
      </p:sp>
      <p:sp>
        <p:nvSpPr>
          <p:cNvPr name="AutoShape 8" id="8"/>
          <p:cNvSpPr/>
          <p:nvPr/>
        </p:nvSpPr>
        <p:spPr>
          <a:xfrm rot="0" flipH="false" flipV="false">
            <a:off x="762000" y="3937000"/>
            <a:ext cx="5207000" cy="11430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4127500"/>
            <a:ext cx="406400" cy="406400"/>
          </a:xfrm>
          <a:prstGeom prst="rect">
            <a:avLst/>
          </a:prstGeom>
        </p:spPr>
      </p:pic>
      <p:sp>
        <p:nvSpPr>
          <p:cNvPr name="AutoShape 10" id="10"/>
          <p:cNvSpPr/>
          <p:nvPr/>
        </p:nvSpPr>
        <p:spPr>
          <a:xfrm rot="0" flipH="false" flipV="false">
            <a:off x="1460500" y="4038600"/>
            <a:ext cx="438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FFFFFF"/>
                </a:solidFill>
                <a:latin typeface="Poppins"/>
                <a:ea typeface="Poppins"/>
                <a:cs typeface="Poppins"/>
                <a:sym typeface="Poppins"/>
              </a:rPr>
              <a:t>100% Local &amp; Private</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200">
                <a:solidFill>
                  <a:srgbClr val="BEBEBE"/>
                </a:solidFill>
                <a:latin typeface="Poppins"/>
                <a:ea typeface="Poppins"/>
                <a:cs typeface="Poppins"/>
                <a:sym typeface="Poppins"/>
              </a:rPr>
              <a:t>Eliminates cloud API costs and latency, ensuring complete data privacy with no external data transmission—ideal for secure enterprise and personal use.</a:t>
            </a:r>
          </a:p>
        </p:txBody>
      </p:sp>
      <p:sp>
        <p:nvSpPr>
          <p:cNvPr name="AutoShape 11" id="11"/>
          <p:cNvSpPr/>
          <p:nvPr/>
        </p:nvSpPr>
        <p:spPr>
          <a:xfrm rot="0" flipH="false" flipV="false">
            <a:off x="6223000" y="3937000"/>
            <a:ext cx="5207000" cy="11430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4127500"/>
            <a:ext cx="406400" cy="406400"/>
          </a:xfrm>
          <a:prstGeom prst="rect">
            <a:avLst/>
          </a:prstGeom>
        </p:spPr>
      </p:pic>
      <p:sp>
        <p:nvSpPr>
          <p:cNvPr name="AutoShape 13" id="13"/>
          <p:cNvSpPr/>
          <p:nvPr/>
        </p:nvSpPr>
        <p:spPr>
          <a:xfrm rot="0" flipH="false" flipV="false">
            <a:off x="6921500" y="4038600"/>
            <a:ext cx="438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FFFFFF"/>
                </a:solidFill>
                <a:latin typeface="Poppins"/>
                <a:ea typeface="Poppins"/>
                <a:cs typeface="Poppins"/>
                <a:sym typeface="Poppins"/>
              </a:rPr>
              <a:t>+11% &amp; +109% Performance Gains</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200">
                <a:solidFill>
                  <a:srgbClr val="BEBEBE"/>
                </a:solidFill>
                <a:latin typeface="Poppins"/>
                <a:ea typeface="Poppins"/>
                <a:cs typeface="Poppins"/>
                <a:sym typeface="Poppins"/>
              </a:rPr>
              <a:t>Significantly faster text generation and a massive boost in long-context prefill speed on the AMD Radeon PRO W7900, enabling real-time AI interactions.</a:t>
            </a:r>
          </a:p>
        </p:txBody>
      </p:sp>
      <p:sp>
        <p:nvSpPr>
          <p:cNvPr name="AutoShape 14" id="14"/>
          <p:cNvSpPr/>
          <p:nvPr/>
        </p:nvSpPr>
        <p:spPr>
          <a:xfrm rot="0" flipH="false" flipV="false">
            <a:off x="762000" y="5207000"/>
            <a:ext cx="5207000" cy="11430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397500"/>
            <a:ext cx="406400" cy="406400"/>
          </a:xfrm>
          <a:prstGeom prst="rect">
            <a:avLst/>
          </a:prstGeom>
        </p:spPr>
      </p:pic>
      <p:sp>
        <p:nvSpPr>
          <p:cNvPr name="AutoShape 16" id="16"/>
          <p:cNvSpPr/>
          <p:nvPr/>
        </p:nvSpPr>
        <p:spPr>
          <a:xfrm rot="0" flipH="false" flipV="false">
            <a:off x="1460500" y="5308600"/>
            <a:ext cx="438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FFFFFF"/>
                </a:solidFill>
                <a:latin typeface="Poppins"/>
                <a:ea typeface="Poppins"/>
                <a:cs typeface="Poppins"/>
                <a:sym typeface="Poppins"/>
              </a:rPr>
              <a:t>Unified 48GB GPU Resource</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200">
                <a:solidFill>
                  <a:srgbClr val="BEBEBE"/>
                </a:solidFill>
                <a:latin typeface="Poppins"/>
                <a:ea typeface="Poppins"/>
                <a:cs typeface="Poppins"/>
                <a:sym typeface="Poppins"/>
              </a:rPr>
              <a:t>Co-locates a 32B-parameter multimodal LLM, image generator, and speech processor on a single GPU, demonstrating exceptional edge AI consolidation.</a:t>
            </a:r>
          </a:p>
        </p:txBody>
      </p:sp>
      <p:sp>
        <p:nvSpPr>
          <p:cNvPr name="AutoShape 17" id="17"/>
          <p:cNvSpPr/>
          <p:nvPr/>
        </p:nvSpPr>
        <p:spPr>
          <a:xfrm rot="0" flipH="false" flipV="false">
            <a:off x="6223000" y="5207000"/>
            <a:ext cx="5207000" cy="11430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5397500"/>
            <a:ext cx="406400" cy="406400"/>
          </a:xfrm>
          <a:prstGeom prst="rect">
            <a:avLst/>
          </a:prstGeom>
        </p:spPr>
      </p:pic>
      <p:sp>
        <p:nvSpPr>
          <p:cNvPr name="AutoShape 19" id="19"/>
          <p:cNvSpPr/>
          <p:nvPr/>
        </p:nvSpPr>
        <p:spPr>
          <a:xfrm rot="0" flipH="false" flipV="false">
            <a:off x="6921500" y="5308600"/>
            <a:ext cx="4381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FFFFFF"/>
                </a:solidFill>
                <a:latin typeface="Poppins"/>
                <a:ea typeface="Poppins"/>
                <a:cs typeface="Poppins"/>
                <a:sym typeface="Poppins"/>
              </a:rPr>
              <a:t>Robust 4-Layer Agent Architecture</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200">
                <a:solidFill>
                  <a:srgbClr val="BEBEBE"/>
                </a:solidFill>
                <a:latin typeface="Poppins"/>
                <a:ea typeface="Poppins"/>
                <a:cs typeface="Poppins"/>
                <a:sym typeface="Poppins"/>
              </a:rPr>
              <a:t>Ensures reliable task planning, execution, and failure handling through a sophisticated hierarchical design, guaranteeing system stability.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Table of Contents</a:t>
            </a:r>
            <a:endParaRPr lang="en-US" sz="1100"/>
          </a:p>
        </p:txBody>
      </p:sp>
      <p:sp>
        <p:nvSpPr>
          <p:cNvPr name="AutoShape 4" id="4"/>
          <p:cNvSpPr/>
          <p:nvPr/>
        </p:nvSpPr>
        <p:spPr>
          <a:xfrm rot="0" flipH="false" flipV="false">
            <a:off x="762000" y="17780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01</a:t>
            </a:r>
            <a:r>
              <a:rPr lang="en-US" b="true" i="false" strike="noStrike" u="none" sz="1600">
                <a:solidFill>
                  <a:srgbClr val="FFFFFF"/>
                </a:solidFill>
                <a:latin typeface="Poppins"/>
                <a:ea typeface="Poppins"/>
                <a:cs typeface="Poppins"/>
                <a:sym typeface="Poppins"/>
              </a:rPr>
              <a:t>Introduction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The Vision of a Local AI Assistant &amp; Problem Statement</a:t>
            </a:r>
            <a:endParaRPr lang="en-US" sz="1100"/>
          </a:p>
        </p:txBody>
      </p:sp>
      <p:cxnSp>
        <p:nvCxnSpPr>
          <p:cNvPr name="Connector 5" id="5"/>
          <p:cNvCxnSpPr/>
          <p:nvPr/>
        </p:nvCxnSpPr>
        <p:spPr>
          <a:xfrm rot="-8814" flipH="false" flipV="false">
            <a:off x="762008" y="2635250"/>
            <a:ext cx="4953000" cy="12700"/>
          </a:xfrm>
          <a:prstGeom prst="straightConnector1">
            <a:avLst/>
          </a:prstGeom>
          <a:solidFill>
            <a:srgbClr val="DEE0E3">
              <a:alpha val="100000"/>
            </a:srgbClr>
          </a:solidFill>
          <a:ln w="12700" cmpd="sng" cap="flat">
            <a:solidFill>
              <a:srgbClr val="8A2BE2">
                <a:alpha val="25000"/>
              </a:srgbClr>
            </a:solidFill>
            <a:prstDash val="solid"/>
            <a:round/>
            <a:headEnd type="none" w="med" len="med"/>
            <a:tailEnd type="none" w="med" len="med"/>
          </a:ln>
        </p:spPr>
      </p:cxnSp>
      <p:sp>
        <p:nvSpPr>
          <p:cNvPr name="AutoShape 6" id="6"/>
          <p:cNvSpPr/>
          <p:nvPr/>
        </p:nvSpPr>
        <p:spPr>
          <a:xfrm rot="0" flipH="false" flipV="false">
            <a:off x="762000" y="27305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02</a:t>
            </a:r>
            <a:r>
              <a:rPr lang="en-US" b="true" i="false" strike="noStrike" u="none" sz="1600">
                <a:solidFill>
                  <a:srgbClr val="FFFFFF"/>
                </a:solidFill>
                <a:latin typeface="Poppins"/>
                <a:ea typeface="Poppins"/>
                <a:cs typeface="Poppins"/>
                <a:sym typeface="Poppins"/>
              </a:rPr>
              <a:t>Core Innovation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The "Rewrite → Activate → Maximize" Pipeline</a:t>
            </a:r>
            <a:endParaRPr lang="en-US" sz="1100"/>
          </a:p>
        </p:txBody>
      </p:sp>
      <p:cxnSp>
        <p:nvCxnSpPr>
          <p:cNvPr name="Connector 7" id="7"/>
          <p:cNvCxnSpPr/>
          <p:nvPr/>
        </p:nvCxnSpPr>
        <p:spPr>
          <a:xfrm rot="-8814" flipH="false" flipV="false">
            <a:off x="762008" y="3587750"/>
            <a:ext cx="4953000" cy="12700"/>
          </a:xfrm>
          <a:prstGeom prst="straightConnector1">
            <a:avLst/>
          </a:prstGeom>
          <a:solidFill>
            <a:srgbClr val="DEE0E3">
              <a:alpha val="100000"/>
            </a:srgbClr>
          </a:solidFill>
          <a:ln w="12700" cmpd="sng" cap="flat">
            <a:solidFill>
              <a:srgbClr val="8A2BE2">
                <a:alpha val="25000"/>
              </a:srgbClr>
            </a:solidFill>
            <a:prstDash val="solid"/>
            <a:round/>
            <a:headEnd type="none" w="med" len="med"/>
            <a:tailEnd type="none" w="med" len="med"/>
          </a:ln>
        </p:spPr>
      </p:cxnSp>
      <p:sp>
        <p:nvSpPr>
          <p:cNvPr name="AutoShape 8" id="8"/>
          <p:cNvSpPr/>
          <p:nvPr/>
        </p:nvSpPr>
        <p:spPr>
          <a:xfrm rot="0" flipH="false" flipV="false">
            <a:off x="762000" y="36830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03</a:t>
            </a:r>
            <a:r>
              <a:rPr lang="en-US" b="true" i="false" strike="noStrike" u="none" sz="1600">
                <a:solidFill>
                  <a:srgbClr val="FFFFFF"/>
                </a:solidFill>
                <a:latin typeface="Poppins"/>
                <a:ea typeface="Poppins"/>
                <a:cs typeface="Poppins"/>
                <a:sym typeface="Poppins"/>
              </a:rPr>
              <a:t>Application Scenarios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Real-World Use Cases Across Industries</a:t>
            </a:r>
            <a:endParaRPr lang="en-US" sz="1100"/>
          </a:p>
        </p:txBody>
      </p:sp>
      <p:cxnSp>
        <p:nvCxnSpPr>
          <p:cNvPr name="Connector 9" id="9"/>
          <p:cNvCxnSpPr/>
          <p:nvPr/>
        </p:nvCxnSpPr>
        <p:spPr>
          <a:xfrm rot="-8814" flipH="false" flipV="false">
            <a:off x="762008" y="4540250"/>
            <a:ext cx="4953000" cy="12700"/>
          </a:xfrm>
          <a:prstGeom prst="straightConnector1">
            <a:avLst/>
          </a:prstGeom>
          <a:solidFill>
            <a:srgbClr val="DEE0E3">
              <a:alpha val="100000"/>
            </a:srgbClr>
          </a:solidFill>
          <a:ln w="12700" cmpd="sng" cap="flat">
            <a:solidFill>
              <a:srgbClr val="8A2BE2">
                <a:alpha val="25000"/>
              </a:srgbClr>
            </a:solidFill>
            <a:prstDash val="solid"/>
            <a:round/>
            <a:headEnd type="none" w="med" len="med"/>
            <a:tailEnd type="none" w="med" len="med"/>
          </a:ln>
        </p:spPr>
      </p:cxnSp>
      <p:sp>
        <p:nvSpPr>
          <p:cNvPr name="AutoShape 10" id="10"/>
          <p:cNvSpPr/>
          <p:nvPr/>
        </p:nvSpPr>
        <p:spPr>
          <a:xfrm rot="0" flipH="false" flipV="false">
            <a:off x="762000" y="46355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04</a:t>
            </a:r>
            <a:r>
              <a:rPr lang="en-US" b="true" i="false" strike="noStrike" u="none" sz="1600">
                <a:solidFill>
                  <a:srgbClr val="FFFFFF"/>
                </a:solidFill>
                <a:latin typeface="Poppins"/>
                <a:ea typeface="Poppins"/>
                <a:cs typeface="Poppins"/>
                <a:sym typeface="Poppins"/>
              </a:rPr>
              <a:t>System Architecture</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A Robust Four-Layer Design for Scalability</a:t>
            </a:r>
            <a:endParaRPr lang="en-US" sz="1100"/>
          </a:p>
        </p:txBody>
      </p:sp>
      <p:cxnSp>
        <p:nvCxnSpPr>
          <p:cNvPr name="Connector 11" id="11"/>
          <p:cNvCxnSpPr/>
          <p:nvPr/>
        </p:nvCxnSpPr>
        <p:spPr>
          <a:xfrm rot="-8814" flipH="false" flipV="false">
            <a:off x="762008" y="5492750"/>
            <a:ext cx="4953000" cy="12700"/>
          </a:xfrm>
          <a:prstGeom prst="straightConnector1">
            <a:avLst/>
          </a:prstGeom>
          <a:solidFill>
            <a:srgbClr val="DEE0E3">
              <a:alpha val="100000"/>
            </a:srgbClr>
          </a:solidFill>
          <a:ln w="12700" cmpd="sng" cap="flat">
            <a:solidFill>
              <a:srgbClr val="8A2BE2">
                <a:alpha val="25000"/>
              </a:srgbClr>
            </a:solidFill>
            <a:prstDash val="solid"/>
            <a:round/>
            <a:headEnd type="none" w="med" len="med"/>
            <a:tailEnd type="none" w="med" len="med"/>
          </a:ln>
        </p:spPr>
      </p:cxnSp>
      <p:sp>
        <p:nvSpPr>
          <p:cNvPr name="AutoShape 12" id="12"/>
          <p:cNvSpPr/>
          <p:nvPr/>
        </p:nvSpPr>
        <p:spPr>
          <a:xfrm rot="0" flipH="false" flipV="false">
            <a:off x="762000" y="55880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05</a:t>
            </a:r>
            <a:r>
              <a:rPr lang="en-US" b="true" i="false" strike="noStrike" u="none" sz="1600">
                <a:solidFill>
                  <a:srgbClr val="FFFFFF"/>
                </a:solidFill>
                <a:latin typeface="Poppins"/>
                <a:ea typeface="Poppins"/>
                <a:cs typeface="Poppins"/>
                <a:sym typeface="Poppins"/>
              </a:rPr>
              <a:t>Core Capabilities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The Swiss Army Knife of Local AI Features</a:t>
            </a:r>
            <a:endParaRPr lang="en-US" sz="1100"/>
          </a:p>
        </p:txBody>
      </p:sp>
      <p:sp>
        <p:nvSpPr>
          <p:cNvPr name="AutoShape 13" id="13"/>
          <p:cNvSpPr/>
          <p:nvPr/>
        </p:nvSpPr>
        <p:spPr>
          <a:xfrm rot="0" flipH="false" flipV="false">
            <a:off x="6223000" y="17780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06</a:t>
            </a:r>
            <a:r>
              <a:rPr lang="en-US" b="true" i="false" strike="noStrike" u="none" sz="1600">
                <a:solidFill>
                  <a:srgbClr val="FFFFFF"/>
                </a:solidFill>
                <a:latin typeface="Poppins"/>
                <a:ea typeface="Poppins"/>
                <a:cs typeface="Poppins"/>
                <a:sym typeface="Poppins"/>
              </a:rPr>
              <a:t>Model Selection &amp; Deployment</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Optimized Models for Local Execution &amp; Integration</a:t>
            </a:r>
            <a:endParaRPr lang="en-US" sz="1100"/>
          </a:p>
        </p:txBody>
      </p:sp>
      <p:cxnSp>
        <p:nvCxnSpPr>
          <p:cNvPr name="Connector 14" id="14"/>
          <p:cNvCxnSpPr/>
          <p:nvPr/>
        </p:nvCxnSpPr>
        <p:spPr>
          <a:xfrm rot="-8814" flipH="false" flipV="false">
            <a:off x="6223008" y="2635250"/>
            <a:ext cx="4953000" cy="12700"/>
          </a:xfrm>
          <a:prstGeom prst="straightConnector1">
            <a:avLst/>
          </a:prstGeom>
          <a:solidFill>
            <a:srgbClr val="DEE0E3">
              <a:alpha val="100000"/>
            </a:srgbClr>
          </a:solidFill>
          <a:ln w="12700" cmpd="sng" cap="flat">
            <a:solidFill>
              <a:srgbClr val="8A2BE2">
                <a:alpha val="25000"/>
              </a:srgbClr>
            </a:solidFill>
            <a:prstDash val="solid"/>
            <a:round/>
            <a:headEnd type="none" w="med" len="med"/>
            <a:tailEnd type="none" w="med" len="med"/>
          </a:ln>
        </p:spPr>
      </p:cxnSp>
      <p:sp>
        <p:nvSpPr>
          <p:cNvPr name="AutoShape 15" id="15"/>
          <p:cNvSpPr/>
          <p:nvPr/>
        </p:nvSpPr>
        <p:spPr>
          <a:xfrm rot="0" flipH="false" flipV="false">
            <a:off x="6223000" y="27305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07</a:t>
            </a:r>
            <a:r>
              <a:rPr lang="en-US" b="true" i="false" strike="noStrike" u="none" sz="1600">
                <a:solidFill>
                  <a:srgbClr val="FFFFFF"/>
                </a:solidFill>
                <a:latin typeface="Poppins"/>
                <a:ea typeface="Poppins"/>
                <a:cs typeface="Poppins"/>
                <a:sym typeface="Poppins"/>
              </a:rPr>
              <a:t>AMD GPU Optimization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Unleashing the Power of ROCm &amp; OpenCL</a:t>
            </a:r>
            <a:endParaRPr lang="en-US" sz="1100"/>
          </a:p>
        </p:txBody>
      </p:sp>
      <p:cxnSp>
        <p:nvCxnSpPr>
          <p:cNvPr name="Connector 16" id="16"/>
          <p:cNvCxnSpPr/>
          <p:nvPr/>
        </p:nvCxnSpPr>
        <p:spPr>
          <a:xfrm rot="-8814" flipH="false" flipV="false">
            <a:off x="6223008" y="3587750"/>
            <a:ext cx="4953000" cy="12700"/>
          </a:xfrm>
          <a:prstGeom prst="straightConnector1">
            <a:avLst/>
          </a:prstGeom>
          <a:solidFill>
            <a:srgbClr val="DEE0E3">
              <a:alpha val="100000"/>
            </a:srgbClr>
          </a:solidFill>
          <a:ln w="12700" cmpd="sng" cap="flat">
            <a:solidFill>
              <a:srgbClr val="8A2BE2">
                <a:alpha val="25000"/>
              </a:srgbClr>
            </a:solidFill>
            <a:prstDash val="solid"/>
            <a:round/>
            <a:headEnd type="none" w="med" len="med"/>
            <a:tailEnd type="none" w="med" len="med"/>
          </a:ln>
        </p:spPr>
      </p:cxnSp>
      <p:sp>
        <p:nvSpPr>
          <p:cNvPr name="AutoShape 17" id="17"/>
          <p:cNvSpPr/>
          <p:nvPr/>
        </p:nvSpPr>
        <p:spPr>
          <a:xfrm rot="0" flipH="false" flipV="false">
            <a:off x="6223000" y="36830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08</a:t>
            </a:r>
            <a:r>
              <a:rPr lang="en-US" b="true" i="false" strike="noStrike" u="none" sz="1600">
                <a:solidFill>
                  <a:srgbClr val="FFFFFF"/>
                </a:solidFill>
                <a:latin typeface="Poppins"/>
                <a:ea typeface="Poppins"/>
                <a:cs typeface="Poppins"/>
                <a:sym typeface="Poppins"/>
              </a:rPr>
              <a:t>Hardware Cognition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Analyzing the RDNA3 Roofline Performance Model</a:t>
            </a:r>
            <a:endParaRPr lang="en-US" sz="1100"/>
          </a:p>
        </p:txBody>
      </p:sp>
      <p:cxnSp>
        <p:nvCxnSpPr>
          <p:cNvPr name="Connector 18" id="18"/>
          <p:cNvCxnSpPr/>
          <p:nvPr/>
        </p:nvCxnSpPr>
        <p:spPr>
          <a:xfrm rot="-8814" flipH="false" flipV="false">
            <a:off x="6223008" y="4540250"/>
            <a:ext cx="4953000" cy="12700"/>
          </a:xfrm>
          <a:prstGeom prst="straightConnector1">
            <a:avLst/>
          </a:prstGeom>
          <a:solidFill>
            <a:srgbClr val="DEE0E3">
              <a:alpha val="100000"/>
            </a:srgbClr>
          </a:solidFill>
          <a:ln w="12700" cmpd="sng" cap="flat">
            <a:solidFill>
              <a:srgbClr val="8A2BE2">
                <a:alpha val="25000"/>
              </a:srgbClr>
            </a:solidFill>
            <a:prstDash val="solid"/>
            <a:round/>
            <a:headEnd type="none" w="med" len="med"/>
            <a:tailEnd type="none" w="med" len="med"/>
          </a:ln>
        </p:spPr>
      </p:cxnSp>
      <p:sp>
        <p:nvSpPr>
          <p:cNvPr name="AutoShape 19" id="19"/>
          <p:cNvSpPr/>
          <p:nvPr/>
        </p:nvSpPr>
        <p:spPr>
          <a:xfrm rot="0" flipH="false" flipV="false">
            <a:off x="6223000" y="4635500"/>
            <a:ext cx="5207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09</a:t>
            </a:r>
            <a:r>
              <a:rPr lang="en-US" b="true" i="false" strike="noStrike" u="none" sz="1600">
                <a:solidFill>
                  <a:srgbClr val="FFFFFF"/>
                </a:solidFill>
                <a:latin typeface="Poppins"/>
                <a:ea typeface="Poppins"/>
                <a:cs typeface="Poppins"/>
                <a:sym typeface="Poppins"/>
              </a:rPr>
              <a:t>VRAM Budgeting</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Efficiently Managing 48GB of GPU Memory</a:t>
            </a:r>
            <a:endParaRPr lang="en-US" sz="1100"/>
          </a:p>
        </p:txBody>
      </p:sp>
      <p:cxnSp>
        <p:nvCxnSpPr>
          <p:cNvPr name="Connector 20" id="20"/>
          <p:cNvCxnSpPr/>
          <p:nvPr/>
        </p:nvCxnSpPr>
        <p:spPr>
          <a:xfrm rot="-8814" flipH="false" flipV="false">
            <a:off x="6223008" y="5492750"/>
            <a:ext cx="4953000" cy="12700"/>
          </a:xfrm>
          <a:prstGeom prst="straightConnector1">
            <a:avLst/>
          </a:prstGeom>
          <a:solidFill>
            <a:srgbClr val="DEE0E3">
              <a:alpha val="100000"/>
            </a:srgbClr>
          </a:solidFill>
          <a:ln w="12700" cmpd="sng" cap="flat">
            <a:solidFill>
              <a:srgbClr val="8A2BE2">
                <a:alpha val="25000"/>
              </a:srgbClr>
            </a:solidFill>
            <a:prstDash val="solid"/>
            <a:round/>
            <a:headEnd type="none" w="med" len="med"/>
            <a:tailEnd type="none" w="med" len="med"/>
          </a:ln>
        </p:spPr>
      </p:cxnSp>
      <p:sp>
        <p:nvSpPr>
          <p:cNvPr name="AutoShape 21" id="21"/>
          <p:cNvSpPr/>
          <p:nvPr/>
        </p:nvSpPr>
        <p:spPr>
          <a:xfrm rot="0" flipH="false" flipV="false">
            <a:off x="6223000" y="5588000"/>
            <a:ext cx="2476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10</a:t>
            </a:r>
            <a:r>
              <a:rPr lang="en-US" b="true" i="false" strike="noStrike" u="none" sz="1600">
                <a:solidFill>
                  <a:srgbClr val="FFFFFF"/>
                </a:solidFill>
                <a:latin typeface="Poppins"/>
                <a:ea typeface="Poppins"/>
                <a:cs typeface="Poppins"/>
                <a:sym typeface="Poppins"/>
              </a:rPr>
              <a:t>Performance</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End-to-End Workflow</a:t>
            </a:r>
            <a:endParaRPr lang="en-US" sz="1100"/>
          </a:p>
        </p:txBody>
      </p:sp>
      <p:sp>
        <p:nvSpPr>
          <p:cNvPr name="AutoShape 22" id="22"/>
          <p:cNvSpPr/>
          <p:nvPr/>
        </p:nvSpPr>
        <p:spPr>
          <a:xfrm rot="0" flipH="false" flipV="false">
            <a:off x="8953500" y="5588000"/>
            <a:ext cx="2476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400">
                <a:solidFill>
                  <a:srgbClr val="8A2BE2"/>
                </a:solidFill>
                <a:latin typeface="Poppins"/>
                <a:ea typeface="Poppins"/>
                <a:cs typeface="Poppins"/>
                <a:sym typeface="Poppins"/>
              </a:rPr>
              <a:t>11</a:t>
            </a:r>
            <a:r>
              <a:rPr lang="en-US" b="true" i="false" strike="noStrike" u="none" sz="1600">
                <a:solidFill>
                  <a:srgbClr val="FFFFFF"/>
                </a:solidFill>
                <a:latin typeface="Poppins"/>
                <a:ea typeface="Poppins"/>
                <a:cs typeface="Poppins"/>
                <a:sym typeface="Poppins"/>
              </a:rPr>
              <a:t>Conclusion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50196"/>
                  </a:srgbClr>
                </a:solidFill>
                <a:latin typeface="Poppins"/>
                <a:ea typeface="Poppins"/>
                <a:cs typeface="Poppins"/>
                <a:sym typeface="Poppins"/>
              </a:rPr>
              <a:t>Key Differentiators</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Introduction: The Problem with Current AI Services</a:t>
            </a:r>
            <a:endParaRPr lang="en-US" sz="1100"/>
          </a:p>
        </p:txBody>
      </p:sp>
      <p:sp>
        <p:nvSpPr>
          <p:cNvPr name="AutoShape 4" id="4"/>
          <p:cNvSpPr/>
          <p:nvPr/>
        </p:nvSpPr>
        <p:spPr>
          <a:xfrm rot="0" flipH="false" flipV="false">
            <a:off x="762000" y="2032000"/>
            <a:ext cx="3378200" cy="3302000"/>
          </a:xfrm>
          <a:prstGeom prst="roundRect">
            <a:avLst>
              <a:gd name="adj" fmla="val 0"/>
            </a:avLst>
          </a:prstGeom>
          <a:solidFill>
            <a:srgbClr val="8A2BE2">
              <a:alpha val="12000"/>
            </a:srgbClr>
          </a:solidFill>
          <a:ln w="12700" cmpd="sng" cap="flat">
            <a:solidFill>
              <a:srgbClr val="8A2BE2">
                <a:alpha val="5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349500"/>
            <a:ext cx="457200" cy="457200"/>
          </a:xfrm>
          <a:prstGeom prst="rect">
            <a:avLst/>
          </a:prstGeom>
        </p:spPr>
      </p:pic>
      <p:sp>
        <p:nvSpPr>
          <p:cNvPr name="AutoShape 6" id="6"/>
          <p:cNvSpPr/>
          <p:nvPr/>
        </p:nvSpPr>
        <p:spPr>
          <a:xfrm rot="0" flipH="false" flipV="false">
            <a:off x="1016000" y="2984500"/>
            <a:ext cx="28702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Poppins"/>
                <a:ea typeface="Poppins"/>
                <a:cs typeface="Poppins"/>
                <a:sym typeface="Poppins"/>
              </a:rPr>
              <a:t>Data Privacy Concerns</a:t>
            </a:r>
            <a:endParaRPr lang="en-US" sz="1100"/>
          </a:p>
        </p:txBody>
      </p:sp>
      <p:sp>
        <p:nvSpPr>
          <p:cNvPr name="AutoShape 7" id="7"/>
          <p:cNvSpPr/>
          <p:nvPr/>
        </p:nvSpPr>
        <p:spPr>
          <a:xfrm rot="0" flipH="false" flipV="false">
            <a:off x="1016000" y="3556000"/>
            <a:ext cx="28702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85098"/>
                  </a:srgbClr>
                </a:solidFill>
                <a:latin typeface="Poppins"/>
                <a:ea typeface="Poppins"/>
                <a:cs typeface="Poppins"/>
                <a:sym typeface="Poppins"/>
              </a:rPr>
              <a:t>Cloud-based AI forces uploading sensitive data—screenshots, voice recordings, and personal documents—creating major security vulnerabilities and exposing your information to potential breaches.</a:t>
            </a:r>
            <a:endParaRPr lang="en-US" sz="1100"/>
          </a:p>
        </p:txBody>
      </p:sp>
      <p:sp>
        <p:nvSpPr>
          <p:cNvPr name="AutoShape 8" id="8"/>
          <p:cNvSpPr/>
          <p:nvPr/>
        </p:nvSpPr>
        <p:spPr>
          <a:xfrm rot="0" flipH="false" flipV="false">
            <a:off x="4394200" y="2032000"/>
            <a:ext cx="3378200" cy="3302000"/>
          </a:xfrm>
          <a:prstGeom prst="roundRect">
            <a:avLst>
              <a:gd name="adj" fmla="val 0"/>
            </a:avLst>
          </a:prstGeom>
          <a:solidFill>
            <a:srgbClr val="8A2BE2">
              <a:alpha val="12000"/>
            </a:srgbClr>
          </a:solidFill>
          <a:ln w="12700" cmpd="sng" cap="flat">
            <a:solidFill>
              <a:srgbClr val="8A2BE2">
                <a:alpha val="5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2349500"/>
            <a:ext cx="457200" cy="457200"/>
          </a:xfrm>
          <a:prstGeom prst="rect">
            <a:avLst/>
          </a:prstGeom>
        </p:spPr>
      </p:pic>
      <p:sp>
        <p:nvSpPr>
          <p:cNvPr name="AutoShape 10" id="10"/>
          <p:cNvSpPr/>
          <p:nvPr/>
        </p:nvSpPr>
        <p:spPr>
          <a:xfrm rot="0" flipH="false" flipV="false">
            <a:off x="4648200" y="2984500"/>
            <a:ext cx="28702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Poppins"/>
                <a:ea typeface="Poppins"/>
                <a:cs typeface="Poppins"/>
                <a:sym typeface="Poppins"/>
              </a:rPr>
              <a:t>Prohibitive Costs &amp; Dependency</a:t>
            </a:r>
            <a:endParaRPr lang="en-US" sz="1100"/>
          </a:p>
        </p:txBody>
      </p:sp>
      <p:sp>
        <p:nvSpPr>
          <p:cNvPr name="AutoShape 11" id="11"/>
          <p:cNvSpPr/>
          <p:nvPr/>
        </p:nvSpPr>
        <p:spPr>
          <a:xfrm rot="0" flipH="false" flipV="false">
            <a:off x="4648200" y="3556000"/>
            <a:ext cx="28702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85098"/>
                  </a:srgbClr>
                </a:solidFill>
                <a:latin typeface="Poppins"/>
                <a:ea typeface="Poppins"/>
                <a:cs typeface="Poppins"/>
                <a:sym typeface="Poppins"/>
              </a:rPr>
              <a:t>Recurring API calls quickly inflate costs, especially for heavy usage. Additionally, you’re tethered to an internet connection—AI access is lost offline, crippling mobility and flexibility.</a:t>
            </a:r>
            <a:endParaRPr lang="en-US" sz="1100"/>
          </a:p>
        </p:txBody>
      </p:sp>
      <p:sp>
        <p:nvSpPr>
          <p:cNvPr name="AutoShape 12" id="12"/>
          <p:cNvSpPr/>
          <p:nvPr/>
        </p:nvSpPr>
        <p:spPr>
          <a:xfrm rot="0" flipH="false" flipV="false">
            <a:off x="8026400" y="2032000"/>
            <a:ext cx="3378200" cy="3302000"/>
          </a:xfrm>
          <a:prstGeom prst="roundRect">
            <a:avLst>
              <a:gd name="adj" fmla="val 0"/>
            </a:avLst>
          </a:prstGeom>
          <a:solidFill>
            <a:srgbClr val="8A2BE2">
              <a:alpha val="12000"/>
            </a:srgbClr>
          </a:solidFill>
          <a:ln w="12700" cmpd="sng" cap="flat">
            <a:solidFill>
              <a:srgbClr val="8A2BE2">
                <a:alpha val="5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80400" y="2349500"/>
            <a:ext cx="457200" cy="457200"/>
          </a:xfrm>
          <a:prstGeom prst="rect">
            <a:avLst/>
          </a:prstGeom>
        </p:spPr>
      </p:pic>
      <p:sp>
        <p:nvSpPr>
          <p:cNvPr name="AutoShape 14" id="14"/>
          <p:cNvSpPr/>
          <p:nvPr/>
        </p:nvSpPr>
        <p:spPr>
          <a:xfrm rot="0" flipH="false" flipV="false">
            <a:off x="8280400" y="2984500"/>
            <a:ext cx="28702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Poppins"/>
                <a:ea typeface="Poppins"/>
                <a:cs typeface="Poppins"/>
                <a:sym typeface="Poppins"/>
              </a:rPr>
              <a:t>Chronic Tool Fragmentation</a:t>
            </a:r>
            <a:endParaRPr lang="en-US" sz="1100"/>
          </a:p>
        </p:txBody>
      </p:sp>
      <p:sp>
        <p:nvSpPr>
          <p:cNvPr name="AutoShape 15" id="15"/>
          <p:cNvSpPr/>
          <p:nvPr/>
        </p:nvSpPr>
        <p:spPr>
          <a:xfrm rot="0" flipH="false" flipV="false">
            <a:off x="8280400" y="3556000"/>
            <a:ext cx="28702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85098"/>
                  </a:srgbClr>
                </a:solidFill>
                <a:latin typeface="Poppins"/>
                <a:ea typeface="Poppins"/>
                <a:cs typeface="Poppins"/>
                <a:sym typeface="Poppins"/>
              </a:rPr>
              <a:t>Users juggle disjointed apps for chat, image generation, and coding, creating a fragmented workflow. Critical context is lost between tools, leading to inefficiency and cognitive overload.</a:t>
            </a:r>
            <a:endParaRPr lang="en-US" sz="1100"/>
          </a:p>
        </p:txBody>
      </p:sp>
      <p:sp>
        <p:nvSpPr>
          <p:cNvPr name="AutoShape 16" id="16"/>
          <p:cNvSpPr/>
          <p:nvPr/>
        </p:nvSpPr>
        <p:spPr>
          <a:xfrm rot="0" flipH="false" flipV="false">
            <a:off x="762000" y="57785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A78BFA"/>
                </a:solidFill>
                <a:latin typeface="Poppins"/>
                <a:ea typeface="Poppins"/>
                <a:cs typeface="Poppins"/>
                <a:sym typeface="Poppins"/>
              </a:rPr>
              <a:t>THE BOTTOM LINE:</a:t>
            </a:r>
            <a:r>
              <a:rPr lang="en-US" b="false" i="false" strike="noStrike" u="none" sz="1400">
                <a:solidFill>
                  <a:srgbClr val="D1D5DB"/>
                </a:solidFill>
                <a:latin typeface="Poppins"/>
                <a:ea typeface="Poppins"/>
                <a:cs typeface="Poppins"/>
                <a:sym typeface="Poppins"/>
              </a:rPr>
              <a:t>These systemic flaws turn AI from a productivity catalyst into a restrictive liability.</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1.2. Our Solution: One Interface, All Local AI on AMD Radeon</a:t>
            </a:r>
            <a:endParaRPr lang="en-US" sz="1100"/>
          </a:p>
        </p:txBody>
      </p:sp>
      <p:sp>
        <p:nvSpPr>
          <p:cNvPr name="AutoShape 4" id="4"/>
          <p:cNvSpPr/>
          <p:nvPr/>
        </p:nvSpPr>
        <p:spPr>
          <a:xfrm rot="0" flipH="false" flipV="false">
            <a:off x="762000" y="1651000"/>
            <a:ext cx="5588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90196"/>
                  </a:srgbClr>
                </a:solidFill>
                <a:latin typeface="Poppins"/>
                <a:ea typeface="Poppins"/>
                <a:cs typeface="Poppins"/>
                <a:sym typeface="Poppins"/>
              </a:rPr>
              <a:t>The</a:t>
            </a:r>
            <a:r>
              <a:rPr lang="en-US" b="true" i="false" strike="noStrike" u="none" sz="1400">
                <a:solidFill>
                  <a:srgbClr val="8A2BE2"/>
                </a:solidFill>
                <a:latin typeface="Poppins"/>
                <a:ea typeface="Poppins"/>
                <a:cs typeface="Poppins"/>
                <a:sym typeface="Poppins"/>
              </a:rPr>
              <a:t>Super Desktop Assistant</a:t>
            </a:r>
            <a:r>
              <a:rPr lang="en-US" b="false" i="false" strike="noStrike" u="none" sz="1400">
                <a:solidFill>
                  <a:srgbClr val="E5E7EB">
                    <a:alpha val="90196"/>
                  </a:srgbClr>
                </a:solidFill>
                <a:latin typeface="Poppins"/>
                <a:ea typeface="Poppins"/>
                <a:cs typeface="Poppins"/>
                <a:sym typeface="Poppins"/>
              </a:rPr>
              <a:t>redefines AI interaction with a unified chat interface where every model runs directly on your AMD Radeon GPU. This approach eliminates cloud latency and dependency, putting the power of AI entirely in your hands.</a:t>
            </a:r>
            <a:endParaRPr lang="en-US" sz="1100"/>
          </a:p>
        </p:txBody>
      </p:sp>
      <p:sp>
        <p:nvSpPr>
          <p:cNvPr name="AutoShape 5" id="5"/>
          <p:cNvSpPr/>
          <p:nvPr/>
        </p:nvSpPr>
        <p:spPr>
          <a:xfrm rot="0" flipH="false" flipV="false">
            <a:off x="762000" y="2921000"/>
            <a:ext cx="5588000" cy="9525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90600" y="3213100"/>
            <a:ext cx="355600" cy="355600"/>
          </a:xfrm>
          <a:prstGeom prst="rect">
            <a:avLst/>
          </a:prstGeom>
        </p:spPr>
      </p:pic>
      <p:sp>
        <p:nvSpPr>
          <p:cNvPr name="AutoShape 7" id="7"/>
          <p:cNvSpPr/>
          <p:nvPr/>
        </p:nvSpPr>
        <p:spPr>
          <a:xfrm rot="0" flipH="false" flipV="false">
            <a:off x="1524000" y="3022600"/>
            <a:ext cx="469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Absolute Data Sovereignty</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D1D5DB"/>
                </a:solidFill>
                <a:latin typeface="Noto Sans SC"/>
                <a:ea typeface="Noto Sans SC"/>
                <a:cs typeface="Noto Sans SC"/>
                <a:sym typeface="Noto Sans SC"/>
              </a:rPr>
              <a:t>Your data never leaves your machine. All processing—from prompts to outputs—happens locally, ensuring complete privacy and compliance.</a:t>
            </a:r>
          </a:p>
        </p:txBody>
      </p:sp>
      <p:sp>
        <p:nvSpPr>
          <p:cNvPr name="AutoShape 8" id="8"/>
          <p:cNvSpPr/>
          <p:nvPr/>
        </p:nvSpPr>
        <p:spPr>
          <a:xfrm rot="0" flipH="false" flipV="false">
            <a:off x="762000" y="4000500"/>
            <a:ext cx="5588000" cy="9525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90600" y="4292600"/>
            <a:ext cx="355600" cy="355600"/>
          </a:xfrm>
          <a:prstGeom prst="rect">
            <a:avLst/>
          </a:prstGeom>
        </p:spPr>
      </p:pic>
      <p:sp>
        <p:nvSpPr>
          <p:cNvPr name="AutoShape 10" id="10"/>
          <p:cNvSpPr/>
          <p:nvPr/>
        </p:nvSpPr>
        <p:spPr>
          <a:xfrm rot="0" flipH="false" flipV="false">
            <a:off x="1524000" y="4102100"/>
            <a:ext cx="469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Zero Operational Costs</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D1D5DB"/>
                </a:solidFill>
                <a:latin typeface="Noto Sans SC"/>
                <a:ea typeface="Noto Sans SC"/>
                <a:cs typeface="Noto Sans SC"/>
                <a:sym typeface="Noto Sans SC"/>
              </a:rPr>
              <a:t>No recurring API fees or cloud subscription bills. Invest once in your Radeon hardware and own unlimited, free compute power forever.</a:t>
            </a:r>
          </a:p>
        </p:txBody>
      </p:sp>
      <p:sp>
        <p:nvSpPr>
          <p:cNvPr name="AutoShape 11" id="11"/>
          <p:cNvSpPr/>
          <p:nvPr/>
        </p:nvSpPr>
        <p:spPr>
          <a:xfrm rot="0" flipH="false" flipV="false">
            <a:off x="762000" y="5080000"/>
            <a:ext cx="5588000" cy="9525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90600" y="5372100"/>
            <a:ext cx="355600" cy="355600"/>
          </a:xfrm>
          <a:prstGeom prst="rect">
            <a:avLst/>
          </a:prstGeom>
        </p:spPr>
      </p:pic>
      <p:sp>
        <p:nvSpPr>
          <p:cNvPr name="AutoShape 13" id="13"/>
          <p:cNvSpPr/>
          <p:nvPr/>
        </p:nvSpPr>
        <p:spPr>
          <a:xfrm rot="0" flipH="false" flipV="false">
            <a:off x="1524000" y="5181600"/>
            <a:ext cx="4699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Seamless Unified Workflow</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D1D5DB"/>
                </a:solidFill>
                <a:latin typeface="Noto Sans SC"/>
                <a:ea typeface="Noto Sans SC"/>
                <a:cs typeface="Noto Sans SC"/>
                <a:sym typeface="Noto Sans SC"/>
              </a:rPr>
              <a:t>A single interface for all AI needs—LLM chat, image generation, and speech processing—no context switching between disconnected apps.</a:t>
            </a:r>
          </a:p>
        </p:txBody>
      </p:sp>
      <p:pic>
        <p:nvPicPr>
          <p:cNvPr name="Picture 14" id="14"/>
          <p:cNvPicPr>
            <a:picLocks noChangeAspect="true"/>
          </p:cNvPicPr>
          <p:nvPr/>
        </p:nvPicPr>
        <p:blipFill>
          <a:blip r:embed="rId9"/>
          <a:srcRect l="69" r="69" t="0" b="0"/>
          <a:stretch>
            <a:fillRect/>
          </a:stretch>
        </p:blipFill>
        <p:spPr>
          <a:xfrm rot="0" flipH="false" flipV="false">
            <a:off x="6731000" y="1778000"/>
            <a:ext cx="4826000" cy="2717800"/>
          </a:xfrm>
          <a:prstGeom prst="rect">
            <a:avLst/>
          </a:prstGeom>
          <a:noFill/>
          <a:ln w="25400" cmpd="sng" cap="flat">
            <a:solidFill>
              <a:srgbClr val="8A2BE2">
                <a:alpha val="60000"/>
              </a:srgbClr>
            </a:solidFill>
            <a:prstDash val="solid"/>
            <a:round/>
          </a:ln>
          <a:effectLst>
            <a:outerShdw dir="2700000" dist="0" blurRad="317500" algn="tl" rotWithShape="false">
              <a:srgbClr val="8A2BE2">
                <a:alpha val="20000"/>
              </a:srgbClr>
            </a:outerShdw>
          </a:effectLst>
        </p:spPr>
      </p:pic>
      <p:sp>
        <p:nvSpPr>
          <p:cNvPr name="AutoShape 15" id="15"/>
          <p:cNvSpPr/>
          <p:nvPr/>
        </p:nvSpPr>
        <p:spPr>
          <a:xfrm rot="0" flipH="false" flipV="false">
            <a:off x="6731000" y="4762500"/>
            <a:ext cx="4826000" cy="1714500"/>
          </a:xfrm>
          <a:prstGeom prst="roundRect">
            <a:avLst>
              <a:gd name="adj" fmla="val 0"/>
            </a:avLst>
          </a:prstGeom>
          <a:solidFill>
            <a:srgbClr val="0F051E">
              <a:alpha val="70000"/>
            </a:srgbClr>
          </a:solidFill>
          <a:ln w="12700" cmpd="sng" cap="flat">
            <a:solidFill>
              <a:srgbClr val="8A2BE2">
                <a:alpha val="40000"/>
              </a:srgbClr>
            </a:solidFill>
            <a:prstDash val="dash"/>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858000" y="4889500"/>
            <a:ext cx="4572000" cy="158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A78BFA"/>
                </a:solidFill>
                <a:latin typeface="Noto Sans SC"/>
                <a:ea typeface="Noto Sans SC"/>
                <a:cs typeface="Noto Sans SC"/>
                <a:sym typeface="Noto Sans SC"/>
              </a:rPr>
              <a:t>CORE CONCEPT: THE LOCAL AI CONDUCTOR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E5E7EB">
                    <a:alpha val="85098"/>
                  </a:srgbClr>
                </a:solidFill>
                <a:latin typeface="Noto Sans SC"/>
                <a:ea typeface="Noto Sans SC"/>
                <a:cs typeface="Noto Sans SC"/>
                <a:sym typeface="Noto Sans SC"/>
              </a:rPr>
              <a:t>“One sentence input, parallel AI output. The system orchestrates LLM, Vision, and Image models as a directed acyclic graph (DAG), all accelerated by ROCm on your AMD Radeon GPU.”</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2. Core Innovation: The "Rewrite → Activate → Maximize" Pipeline</a:t>
            </a:r>
            <a:endParaRPr lang="en-US" sz="1100"/>
          </a:p>
        </p:txBody>
      </p:sp>
      <p:sp>
        <p:nvSpPr>
          <p:cNvPr name="AutoShape 4" id="4"/>
          <p:cNvSpPr/>
          <p:nvPr/>
        </p:nvSpPr>
        <p:spPr>
          <a:xfrm rot="0" flipH="false" flipV="false">
            <a:off x="762000" y="2032000"/>
            <a:ext cx="3378200" cy="2794000"/>
          </a:xfrm>
          <a:prstGeom prst="roundRect">
            <a:avLst>
              <a:gd name="adj" fmla="val 0"/>
            </a:avLst>
          </a:prstGeom>
          <a:solidFill>
            <a:srgbClr val="8A2BE2">
              <a:alpha val="12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311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8A2BE2"/>
                </a:solidFill>
                <a:latin typeface="Poppins"/>
                <a:ea typeface="Poppins"/>
                <a:cs typeface="Poppins"/>
                <a:sym typeface="Poppins"/>
              </a:rPr>
              <a:t>01 Rewrite</a:t>
            </a:r>
            <a:endParaRPr lang="en-US" sz="1100"/>
          </a:p>
        </p:txBody>
      </p:sp>
      <p:sp>
        <p:nvSpPr>
          <p:cNvPr name="AutoShape 7" id="7"/>
          <p:cNvSpPr/>
          <p:nvPr/>
        </p:nvSpPr>
        <p:spPr>
          <a:xfrm rot="0" flipH="false" flipV="false">
            <a:off x="1016000" y="2857500"/>
            <a:ext cx="2870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alpha val="90196"/>
                  </a:srgbClr>
                </a:solidFill>
                <a:latin typeface="Poppins"/>
                <a:ea typeface="Poppins"/>
                <a:cs typeface="Poppins"/>
                <a:sym typeface="Poppins"/>
              </a:rPr>
              <a:t>Real-Time Prompt Enhancement</a:t>
            </a:r>
            <a:endParaRPr lang="en-US" sz="1100"/>
          </a:p>
        </p:txBody>
      </p:sp>
      <p:sp>
        <p:nvSpPr>
          <p:cNvPr name="AutoShape 8" id="8"/>
          <p:cNvSpPr/>
          <p:nvPr/>
        </p:nvSpPr>
        <p:spPr>
          <a:xfrm rot="0" flipH="false" flipV="false">
            <a:off x="1016000" y="3302000"/>
            <a:ext cx="2870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alpha val="70196"/>
                  </a:srgbClr>
                </a:solidFill>
                <a:latin typeface="Poppins"/>
                <a:ea typeface="Poppins"/>
                <a:cs typeface="Poppins"/>
                <a:sym typeface="Poppins"/>
              </a:rPr>
              <a:t>Dynamically rewrites basic user commands into professional-grade prompts. It injects expert tags and granular details on-the-fly, turning vague requests into precise instructions for the AI.</a:t>
            </a:r>
            <a:endParaRPr lang="en-US" sz="1100"/>
          </a:p>
        </p:txBody>
      </p:sp>
      <p:sp>
        <p:nvSpPr>
          <p:cNvPr name="AutoShape 9" id="9"/>
          <p:cNvSpPr/>
          <p:nvPr/>
        </p:nvSpPr>
        <p:spPr>
          <a:xfrm rot="0" flipH="false" flipV="false">
            <a:off x="4406900" y="2032000"/>
            <a:ext cx="3378200" cy="2794000"/>
          </a:xfrm>
          <a:prstGeom prst="roundRect">
            <a:avLst>
              <a:gd name="adj" fmla="val 0"/>
            </a:avLst>
          </a:prstGeom>
          <a:solidFill>
            <a:srgbClr val="8A2BE2">
              <a:alpha val="12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2286000"/>
            <a:ext cx="406400" cy="406400"/>
          </a:xfrm>
          <a:prstGeom prst="rect">
            <a:avLst/>
          </a:prstGeom>
        </p:spPr>
      </p:pic>
      <p:sp>
        <p:nvSpPr>
          <p:cNvPr name="AutoShape 11" id="11"/>
          <p:cNvSpPr/>
          <p:nvPr/>
        </p:nvSpPr>
        <p:spPr>
          <a:xfrm rot="0" flipH="false" flipV="false">
            <a:off x="5168900" y="2311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8A2BE2"/>
                </a:solidFill>
                <a:latin typeface="Poppins"/>
                <a:ea typeface="Poppins"/>
                <a:cs typeface="Poppins"/>
                <a:sym typeface="Poppins"/>
              </a:rPr>
              <a:t>02 Activate</a:t>
            </a:r>
            <a:endParaRPr lang="en-US" sz="1100"/>
          </a:p>
        </p:txBody>
      </p:sp>
      <p:sp>
        <p:nvSpPr>
          <p:cNvPr name="AutoShape 12" id="12"/>
          <p:cNvSpPr/>
          <p:nvPr/>
        </p:nvSpPr>
        <p:spPr>
          <a:xfrm rot="0" flipH="false" flipV="false">
            <a:off x="4660900" y="2857500"/>
            <a:ext cx="2870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alpha val="90196"/>
                  </a:srgbClr>
                </a:solidFill>
                <a:latin typeface="Poppins"/>
                <a:ea typeface="Poppins"/>
                <a:cs typeface="Poppins"/>
                <a:sym typeface="Poppins"/>
              </a:rPr>
              <a:t>Parallel Expert Model Execution</a:t>
            </a:r>
            <a:endParaRPr lang="en-US" sz="1100"/>
          </a:p>
        </p:txBody>
      </p:sp>
      <p:sp>
        <p:nvSpPr>
          <p:cNvPr name="AutoShape 13" id="13"/>
          <p:cNvSpPr/>
          <p:nvPr/>
        </p:nvSpPr>
        <p:spPr>
          <a:xfrm rot="0" flipH="false" flipV="false">
            <a:off x="4660900" y="3302000"/>
            <a:ext cx="2870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alpha val="70196"/>
                  </a:srgbClr>
                </a:solidFill>
                <a:latin typeface="Poppins"/>
                <a:ea typeface="Poppins"/>
                <a:cs typeface="Poppins"/>
                <a:sym typeface="Poppins"/>
              </a:rPr>
              <a:t>Intelligently activates specialized local models (LLM, Vision, Speech) in parallel. Each "expert" model operates concurrently, ensuring complex multi-modal tasks are handled efficiently and accurately.</a:t>
            </a:r>
            <a:endParaRPr lang="en-US" sz="1100"/>
          </a:p>
        </p:txBody>
      </p:sp>
      <p:sp>
        <p:nvSpPr>
          <p:cNvPr name="AutoShape 14" id="14"/>
          <p:cNvSpPr/>
          <p:nvPr/>
        </p:nvSpPr>
        <p:spPr>
          <a:xfrm rot="0" flipH="false" flipV="false">
            <a:off x="8051800" y="2032000"/>
            <a:ext cx="3378200" cy="2794000"/>
          </a:xfrm>
          <a:prstGeom prst="roundRect">
            <a:avLst>
              <a:gd name="adj" fmla="val 0"/>
            </a:avLst>
          </a:prstGeom>
          <a:solidFill>
            <a:srgbClr val="8A2BE2">
              <a:alpha val="12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2286000"/>
            <a:ext cx="406400" cy="406400"/>
          </a:xfrm>
          <a:prstGeom prst="rect">
            <a:avLst/>
          </a:prstGeom>
        </p:spPr>
      </p:pic>
      <p:sp>
        <p:nvSpPr>
          <p:cNvPr name="AutoShape 16" id="16"/>
          <p:cNvSpPr/>
          <p:nvPr/>
        </p:nvSpPr>
        <p:spPr>
          <a:xfrm rot="0" flipH="false" flipV="false">
            <a:off x="8813800" y="2311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8A2BE2"/>
                </a:solidFill>
                <a:latin typeface="Poppins"/>
                <a:ea typeface="Poppins"/>
                <a:cs typeface="Poppins"/>
                <a:sym typeface="Poppins"/>
              </a:rPr>
              <a:t>03 Maximize</a:t>
            </a:r>
            <a:endParaRPr lang="en-US" sz="1100"/>
          </a:p>
        </p:txBody>
      </p:sp>
      <p:sp>
        <p:nvSpPr>
          <p:cNvPr name="AutoShape 17" id="17"/>
          <p:cNvSpPr/>
          <p:nvPr/>
        </p:nvSpPr>
        <p:spPr>
          <a:xfrm rot="0" flipH="false" flipV="false">
            <a:off x="8305800" y="2857500"/>
            <a:ext cx="2870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alpha val="90196"/>
                  </a:srgbClr>
                </a:solidFill>
                <a:latin typeface="Poppins"/>
                <a:ea typeface="Poppins"/>
                <a:cs typeface="Poppins"/>
                <a:sym typeface="Poppins"/>
              </a:rPr>
              <a:t>GPU Utilization Optimization</a:t>
            </a:r>
            <a:endParaRPr lang="en-US" sz="1100"/>
          </a:p>
        </p:txBody>
      </p:sp>
      <p:sp>
        <p:nvSpPr>
          <p:cNvPr name="AutoShape 18" id="18"/>
          <p:cNvSpPr/>
          <p:nvPr/>
        </p:nvSpPr>
        <p:spPr>
          <a:xfrm rot="0" flipH="false" flipV="false">
            <a:off x="8305800" y="3302000"/>
            <a:ext cx="2870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alpha val="70196"/>
                  </a:srgbClr>
                </a:solidFill>
                <a:latin typeface="Poppins"/>
                <a:ea typeface="Poppins"/>
                <a:cs typeface="Poppins"/>
                <a:sym typeface="Poppins"/>
              </a:rPr>
              <a:t>Engineered with DAG parallelism and ROCm optimizations to fully exploit AMD Radeon GPU potential. This unlocks unprecedented performance for both short and long-context AI workloads.</a:t>
            </a:r>
            <a:endParaRPr lang="en-US" sz="1100"/>
          </a:p>
        </p:txBody>
      </p:sp>
      <p:sp>
        <p:nvSpPr>
          <p:cNvPr name="AutoShape 19" id="19"/>
          <p:cNvSpPr/>
          <p:nvPr/>
        </p:nvSpPr>
        <p:spPr>
          <a:xfrm rot="0" flipH="false" flipV="false">
            <a:off x="762000" y="5143500"/>
            <a:ext cx="10668000" cy="1206500"/>
          </a:xfrm>
          <a:prstGeom prst="roundRect">
            <a:avLst>
              <a:gd name="adj" fmla="val 0"/>
            </a:avLst>
          </a:prstGeom>
          <a:solidFill>
            <a:srgbClr val="8A2BE2">
              <a:alpha val="1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16000" y="5334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8A2BE2"/>
                </a:solidFill>
                <a:latin typeface="Poppins"/>
                <a:ea typeface="Poppins"/>
                <a:cs typeface="Poppins"/>
                <a:sym typeface="Poppins"/>
              </a:rPr>
              <a:t>+11%</a:t>
            </a:r>
            <a:r>
              <a:rPr lang="en-US" b="false" i="false" strike="noStrike" u="none" sz="1600">
                <a:solidFill>
                  <a:srgbClr val="1F2329"/>
                </a:solidFill>
                <a:latin typeface="Poppins"/>
                <a:ea typeface="Poppins"/>
                <a:cs typeface="Poppins"/>
                <a:sym typeface="Poppins"/>
              </a:rPr>
              <a:t/>
            </a:r>
            <a:endParaRPr lang="en-US" sz="1100"/>
          </a:p>
          <a:p>
            <a:pPr algn="l" marL="0" indent="0">
              <a:lnSpc>
                <a:spcPct val="125000"/>
              </a:lnSpc>
            </a:pPr>
            <a:r>
              <a:rPr lang="en-US" b="false" i="false" strike="noStrike" u="none" sz="1300">
                <a:solidFill>
                  <a:srgbClr val="FFFFFF">
                    <a:alpha val="80000"/>
                  </a:srgbClr>
                </a:solidFill>
                <a:latin typeface="Poppins"/>
                <a:ea typeface="Poppins"/>
                <a:cs typeface="Poppins"/>
                <a:sym typeface="Poppins"/>
              </a:rPr>
              <a:t>Text Generation Speed</a:t>
            </a:r>
          </a:p>
        </p:txBody>
      </p:sp>
      <p:cxnSp>
        <p:nvCxnSpPr>
          <p:cNvPr name="Connector 21" id="21"/>
          <p:cNvCxnSpPr/>
          <p:nvPr/>
        </p:nvCxnSpPr>
        <p:spPr>
          <a:xfrm rot="5337502" flipH="false" flipV="false">
            <a:off x="3143250" y="5740458"/>
            <a:ext cx="698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2" id="22"/>
          <p:cNvSpPr/>
          <p:nvPr/>
        </p:nvSpPr>
        <p:spPr>
          <a:xfrm rot="0" flipH="false" flipV="false">
            <a:off x="3746500" y="53340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8A2BE2"/>
                </a:solidFill>
                <a:latin typeface="Poppins"/>
                <a:ea typeface="Poppins"/>
                <a:cs typeface="Poppins"/>
                <a:sym typeface="Poppins"/>
              </a:rPr>
              <a:t>+109%</a:t>
            </a:r>
            <a:r>
              <a:rPr lang="en-US" b="false" i="false" strike="noStrike" u="none" sz="1600">
                <a:solidFill>
                  <a:srgbClr val="1F2329"/>
                </a:solidFill>
                <a:latin typeface="Poppins"/>
                <a:ea typeface="Poppins"/>
                <a:cs typeface="Poppins"/>
                <a:sym typeface="Poppins"/>
              </a:rPr>
              <a:t/>
            </a:r>
            <a:endParaRPr lang="en-US" sz="1100"/>
          </a:p>
          <a:p>
            <a:pPr algn="l" marL="0" indent="0">
              <a:lnSpc>
                <a:spcPct val="125000"/>
              </a:lnSpc>
            </a:pPr>
            <a:r>
              <a:rPr lang="en-US" b="false" i="false" strike="noStrike" u="none" sz="1300">
                <a:solidFill>
                  <a:srgbClr val="FFFFFF">
                    <a:alpha val="80000"/>
                  </a:srgbClr>
                </a:solidFill>
                <a:latin typeface="Poppins"/>
                <a:ea typeface="Poppins"/>
                <a:cs typeface="Poppins"/>
                <a:sym typeface="Poppins"/>
              </a:rPr>
              <a:t>Long-Context Prefill</a:t>
            </a:r>
          </a:p>
        </p:txBody>
      </p:sp>
      <p:cxnSp>
        <p:nvCxnSpPr>
          <p:cNvPr name="Connector 23" id="23"/>
          <p:cNvCxnSpPr/>
          <p:nvPr/>
        </p:nvCxnSpPr>
        <p:spPr>
          <a:xfrm rot="5337502" flipH="false" flipV="false">
            <a:off x="5873750" y="5740458"/>
            <a:ext cx="6985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24" id="24"/>
          <p:cNvSpPr/>
          <p:nvPr/>
        </p:nvSpPr>
        <p:spPr>
          <a:xfrm rot="0" flipH="false" flipV="false">
            <a:off x="6477000" y="5359400"/>
            <a:ext cx="482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true" strike="noStrike" u="none" sz="1400">
                <a:solidFill>
                  <a:srgbClr val="FFFFFF">
                    <a:alpha val="94902"/>
                  </a:srgbClr>
                </a:solidFill>
                <a:latin typeface="Poppins"/>
                <a:ea typeface="Poppins"/>
                <a:cs typeface="Poppins"/>
                <a:sym typeface="Poppins"/>
              </a:rPr>
              <a:t>"One sentence in → expert-grade prompts, powered by your local GPU."</a:t>
            </a:r>
            <a:r>
              <a:rPr lang="en-US" b="false" i="false" strike="noStrike" u="none" sz="1600">
                <a:solidFill>
                  <a:srgbClr val="1F2329"/>
                </a:solidFill>
                <a:latin typeface="Poppins"/>
                <a:ea typeface="Poppins"/>
                <a:cs typeface="Poppins"/>
                <a:sym typeface="Poppins"/>
              </a:rPr>
              <a:t/>
            </a:r>
            <a:endParaRPr lang="en-US" sz="1100"/>
          </a:p>
          <a:p>
            <a:pPr algn="l" marL="0" indent="0">
              <a:lnSpc>
                <a:spcPct val="125000"/>
              </a:lnSpc>
            </a:pPr>
            <a:r>
              <a:rPr lang="en-US" b="false" i="false" strike="noStrike" u="none" sz="1300">
                <a:solidFill>
                  <a:srgbClr val="C8C8C8">
                    <a:alpha val="70196"/>
                  </a:srgbClr>
                </a:solidFill>
                <a:latin typeface="Poppins"/>
                <a:ea typeface="Poppins"/>
                <a:cs typeface="Poppins"/>
                <a:sym typeface="Poppins"/>
              </a:rPr>
              <a:t>Transforming simple user intent into high-quality AI output with unmatched speed.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3. Application Scenarios: Real-World Use Cases</a:t>
            </a:r>
            <a:endParaRPr lang="en-US" sz="1100"/>
          </a:p>
        </p:txBody>
      </p:sp>
      <p:sp>
        <p:nvSpPr>
          <p:cNvPr name="AutoShape 4" id="4"/>
          <p:cNvSpPr/>
          <p:nvPr/>
        </p:nvSpPr>
        <p:spPr>
          <a:xfrm rot="0" flipH="false" flipV="false">
            <a:off x="762000" y="1397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70196"/>
                  </a:srgbClr>
                </a:solidFill>
                <a:latin typeface="Poppins"/>
                <a:ea typeface="Poppins"/>
                <a:cs typeface="Poppins"/>
                <a:sym typeface="Poppins"/>
              </a:rPr>
              <a:t>The Super Desktop Assistant excels in practical, everyday tasks, demonstrating measurable efficiency and versatility across different AI modalities—all accessible through a unified interface.</a:t>
            </a:r>
            <a:endParaRPr lang="en-US" sz="1100"/>
          </a:p>
        </p:txBody>
      </p:sp>
      <p:sp>
        <p:nvSpPr>
          <p:cNvPr name="AutoShape 5" id="5"/>
          <p:cNvSpPr/>
          <p:nvPr/>
        </p:nvSpPr>
        <p:spPr>
          <a:xfrm rot="0" flipH="false" flipV="false">
            <a:off x="762000" y="2286000"/>
            <a:ext cx="5270500" cy="16510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489200"/>
            <a:ext cx="304800" cy="304800"/>
          </a:xfrm>
          <a:prstGeom prst="rect">
            <a:avLst/>
          </a:prstGeom>
        </p:spPr>
      </p:pic>
      <p:sp>
        <p:nvSpPr>
          <p:cNvPr name="AutoShape 7" id="7"/>
          <p:cNvSpPr/>
          <p:nvPr/>
        </p:nvSpPr>
        <p:spPr>
          <a:xfrm rot="0" flipH="false" flipV="false">
            <a:off x="1460500" y="24638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01. Text Generation</a:t>
            </a:r>
            <a:endParaRPr lang="en-US" sz="1100"/>
          </a:p>
        </p:txBody>
      </p:sp>
      <p:sp>
        <p:nvSpPr>
          <p:cNvPr name="AutoShape 8" id="8"/>
          <p:cNvSpPr/>
          <p:nvPr/>
        </p:nvSpPr>
        <p:spPr>
          <a:xfrm rot="0" flipH="false" flipV="false">
            <a:off x="1016000" y="29464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Poppins"/>
                <a:ea typeface="Poppins"/>
                <a:cs typeface="Poppins"/>
                <a:sym typeface="Poppins"/>
              </a:rPr>
              <a:t>Prompt: "Write a five-character quatrain about autumn."</a:t>
            </a:r>
            <a:r>
              <a:rPr lang="en-US" b="false" i="false" strike="noStrike" u="none" sz="1200">
                <a:solidFill>
                  <a:srgbClr val="1F2329"/>
                </a:solidFill>
                <a:latin typeface="Poppins"/>
                <a:ea typeface="Poppins"/>
                <a:cs typeface="Poppins"/>
                <a:sym typeface="Poppins"/>
              </a:rPr>
              <a:t/>
            </a:r>
            <a:br>
              <a:rPr lang="en-US" b="false" i="false" strike="noStrike" u="none" sz="1200">
                <a:solidFill>
                  <a:srgbClr val="1F2329"/>
                </a:solidFill>
                <a:latin typeface="Poppins"/>
                <a:ea typeface="Poppins"/>
                <a:cs typeface="Poppins"/>
                <a:sym typeface="Poppins"/>
              </a:rPr>
            </a:br>
            <a:r>
              <a:rPr lang="en-US" b="true" i="false" strike="noStrike" u="none" sz="1200">
                <a:solidFill>
                  <a:srgbClr val="8A2BE2"/>
                </a:solidFill>
                <a:latin typeface="Poppins"/>
                <a:ea typeface="Poppins"/>
                <a:cs typeface="Poppins"/>
                <a:sym typeface="Poppins"/>
              </a:rPr>
              <a:t>⏱️ Latency: ~18s</a:t>
            </a:r>
            <a:r>
              <a:rPr lang="en-US" b="false" i="false" strike="noStrike" u="none" sz="1200">
                <a:solidFill>
                  <a:srgbClr val="D1D5DB"/>
                </a:solidFill>
                <a:latin typeface="Poppins"/>
                <a:ea typeface="Poppins"/>
                <a:cs typeface="Poppins"/>
                <a:sym typeface="Poppins"/>
              </a:rPr>
              <a:t>— Generates poetic, context-aware responses with natural language flow, adapting to creative or formal prompts.</a:t>
            </a:r>
            <a:endParaRPr lang="en-US" sz="1100"/>
          </a:p>
        </p:txBody>
      </p:sp>
      <p:sp>
        <p:nvSpPr>
          <p:cNvPr name="AutoShape 9" id="9"/>
          <p:cNvSpPr/>
          <p:nvPr/>
        </p:nvSpPr>
        <p:spPr>
          <a:xfrm rot="0" flipH="false" flipV="false">
            <a:off x="6159500" y="2286000"/>
            <a:ext cx="5270500" cy="16510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13500" y="2489200"/>
            <a:ext cx="304800" cy="304800"/>
          </a:xfrm>
          <a:prstGeom prst="rect">
            <a:avLst/>
          </a:prstGeom>
        </p:spPr>
      </p:pic>
      <p:sp>
        <p:nvSpPr>
          <p:cNvPr name="AutoShape 11" id="11"/>
          <p:cNvSpPr/>
          <p:nvPr/>
        </p:nvSpPr>
        <p:spPr>
          <a:xfrm rot="0" flipH="false" flipV="false">
            <a:off x="6858000" y="24638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02. Vision Analysis</a:t>
            </a:r>
            <a:endParaRPr lang="en-US" sz="1100"/>
          </a:p>
        </p:txBody>
      </p:sp>
      <p:sp>
        <p:nvSpPr>
          <p:cNvPr name="AutoShape 12" id="12"/>
          <p:cNvSpPr/>
          <p:nvPr/>
        </p:nvSpPr>
        <p:spPr>
          <a:xfrm rot="0" flipH="false" flipV="false">
            <a:off x="6413500" y="29464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Poppins"/>
                <a:ea typeface="Poppins"/>
                <a:cs typeface="Poppins"/>
                <a:sym typeface="Poppins"/>
              </a:rPr>
              <a:t>Prompt: "Describe this image's content and artistic style."</a:t>
            </a:r>
            <a:r>
              <a:rPr lang="en-US" b="false" i="false" strike="noStrike" u="none" sz="1200">
                <a:solidFill>
                  <a:srgbClr val="1F2329"/>
                </a:solidFill>
                <a:latin typeface="Poppins"/>
                <a:ea typeface="Poppins"/>
                <a:cs typeface="Poppins"/>
                <a:sym typeface="Poppins"/>
              </a:rPr>
              <a:t/>
            </a:r>
            <a:br>
              <a:rPr lang="en-US" b="false" i="false" strike="noStrike" u="none" sz="1200">
                <a:solidFill>
                  <a:srgbClr val="1F2329"/>
                </a:solidFill>
                <a:latin typeface="Poppins"/>
                <a:ea typeface="Poppins"/>
                <a:cs typeface="Poppins"/>
                <a:sym typeface="Poppins"/>
              </a:rPr>
            </a:br>
            <a:r>
              <a:rPr lang="en-US" b="true" i="false" strike="noStrike" u="none" sz="1200">
                <a:solidFill>
                  <a:srgbClr val="8A2BE2"/>
                </a:solidFill>
                <a:latin typeface="Poppins"/>
                <a:ea typeface="Poppins"/>
                <a:cs typeface="Poppins"/>
                <a:sym typeface="Poppins"/>
              </a:rPr>
              <a:t>⏱️ Latency: ~3s</a:t>
            </a:r>
            <a:r>
              <a:rPr lang="en-US" b="false" i="false" strike="noStrike" u="none" sz="1200">
                <a:solidFill>
                  <a:srgbClr val="D1D5DB"/>
                </a:solidFill>
                <a:latin typeface="Poppins"/>
                <a:ea typeface="Poppins"/>
                <a:cs typeface="Poppins"/>
                <a:sym typeface="Poppins"/>
              </a:rPr>
              <a:t>— Rapidly extracts visual details, objects, and stylistic elements for real-time image understanding.</a:t>
            </a:r>
            <a:endParaRPr lang="en-US" sz="1100"/>
          </a:p>
        </p:txBody>
      </p:sp>
      <p:sp>
        <p:nvSpPr>
          <p:cNvPr name="AutoShape 13" id="13"/>
          <p:cNvSpPr/>
          <p:nvPr/>
        </p:nvSpPr>
        <p:spPr>
          <a:xfrm rot="0" flipH="false" flipV="false">
            <a:off x="762000" y="4191000"/>
            <a:ext cx="5270500" cy="16510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94200"/>
            <a:ext cx="304800" cy="304800"/>
          </a:xfrm>
          <a:prstGeom prst="rect">
            <a:avLst/>
          </a:prstGeom>
        </p:spPr>
      </p:pic>
      <p:sp>
        <p:nvSpPr>
          <p:cNvPr name="AutoShape 15" id="15"/>
          <p:cNvSpPr/>
          <p:nvPr/>
        </p:nvSpPr>
        <p:spPr>
          <a:xfrm rot="0" flipH="false" flipV="false">
            <a:off x="1460500" y="43688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03. Voice-Activated Workflow</a:t>
            </a:r>
            <a:endParaRPr lang="en-US" sz="1100"/>
          </a:p>
        </p:txBody>
      </p:sp>
      <p:sp>
        <p:nvSpPr>
          <p:cNvPr name="AutoShape 16" id="16"/>
          <p:cNvSpPr/>
          <p:nvPr/>
        </p:nvSpPr>
        <p:spPr>
          <a:xfrm rot="0" flipH="false" flipV="false">
            <a:off x="1016000" y="48514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Poppins"/>
                <a:ea typeface="Poppins"/>
                <a:cs typeface="Poppins"/>
                <a:sym typeface="Poppins"/>
              </a:rPr>
              <a:t>Prompt: "Wake word: draw a cyberpunk cat."</a:t>
            </a:r>
            <a:r>
              <a:rPr lang="en-US" b="false" i="false" strike="noStrike" u="none" sz="1200">
                <a:solidFill>
                  <a:srgbClr val="1F2329"/>
                </a:solidFill>
                <a:latin typeface="Poppins"/>
                <a:ea typeface="Poppins"/>
                <a:cs typeface="Poppins"/>
                <a:sym typeface="Poppins"/>
              </a:rPr>
              <a:t/>
            </a:r>
            <a:br>
              <a:rPr lang="en-US" b="false" i="false" strike="noStrike" u="none" sz="1200">
                <a:solidFill>
                  <a:srgbClr val="1F2329"/>
                </a:solidFill>
                <a:latin typeface="Poppins"/>
                <a:ea typeface="Poppins"/>
                <a:cs typeface="Poppins"/>
                <a:sym typeface="Poppins"/>
              </a:rPr>
            </a:br>
            <a:r>
              <a:rPr lang="en-US" b="true" i="false" strike="noStrike" u="none" sz="1200">
                <a:solidFill>
                  <a:srgbClr val="8A2BE2"/>
                </a:solidFill>
                <a:latin typeface="Poppins"/>
                <a:ea typeface="Poppins"/>
                <a:cs typeface="Poppins"/>
                <a:sym typeface="Poppins"/>
              </a:rPr>
              <a:t>🔄 Flow: Fully Integrated</a:t>
            </a:r>
            <a:r>
              <a:rPr lang="en-US" b="false" i="false" strike="noStrike" u="none" sz="1200">
                <a:solidFill>
                  <a:srgbClr val="D1D5DB"/>
                </a:solidFill>
                <a:latin typeface="Poppins"/>
                <a:ea typeface="Poppins"/>
                <a:cs typeface="Poppins"/>
                <a:sym typeface="Poppins"/>
              </a:rPr>
              <a:t>— Seamless speech-to-text conversion triggers downstream AI pipelines for hands-free control.</a:t>
            </a:r>
            <a:endParaRPr lang="en-US" sz="1100"/>
          </a:p>
        </p:txBody>
      </p:sp>
      <p:sp>
        <p:nvSpPr>
          <p:cNvPr name="AutoShape 17" id="17"/>
          <p:cNvSpPr/>
          <p:nvPr/>
        </p:nvSpPr>
        <p:spPr>
          <a:xfrm rot="0" flipH="false" flipV="false">
            <a:off x="6159500" y="4191000"/>
            <a:ext cx="5270500" cy="1651000"/>
          </a:xfrm>
          <a:prstGeom prst="roundRect">
            <a:avLst>
              <a:gd name="adj" fmla="val 0"/>
            </a:avLst>
          </a:prstGeom>
          <a:solidFill>
            <a:srgbClr val="8A2BE2">
              <a:alpha val="12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4394200"/>
            <a:ext cx="304800" cy="304800"/>
          </a:xfrm>
          <a:prstGeom prst="rect">
            <a:avLst/>
          </a:prstGeom>
        </p:spPr>
      </p:pic>
      <p:sp>
        <p:nvSpPr>
          <p:cNvPr name="AutoShape 19" id="19"/>
          <p:cNvSpPr/>
          <p:nvPr/>
        </p:nvSpPr>
        <p:spPr>
          <a:xfrm rot="0" flipH="false" flipV="false">
            <a:off x="6858000" y="4368800"/>
            <a:ext cx="431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04. Image Generation</a:t>
            </a:r>
            <a:endParaRPr lang="en-US" sz="1100"/>
          </a:p>
        </p:txBody>
      </p:sp>
      <p:sp>
        <p:nvSpPr>
          <p:cNvPr name="AutoShape 20" id="20"/>
          <p:cNvSpPr/>
          <p:nvPr/>
        </p:nvSpPr>
        <p:spPr>
          <a:xfrm rot="0" flipH="false" flipV="false">
            <a:off x="6413500" y="48514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solidFill>
                <a:latin typeface="Poppins"/>
                <a:ea typeface="Poppins"/>
                <a:cs typeface="Poppins"/>
                <a:sym typeface="Poppins"/>
              </a:rPr>
              <a:t>Prompt: "Draw an anime girl with silver hair in a neon city."</a:t>
            </a:r>
            <a:r>
              <a:rPr lang="en-US" b="false" i="false" strike="noStrike" u="none" sz="1200">
                <a:solidFill>
                  <a:srgbClr val="1F2329"/>
                </a:solidFill>
                <a:latin typeface="Poppins"/>
                <a:ea typeface="Poppins"/>
                <a:cs typeface="Poppins"/>
                <a:sym typeface="Poppins"/>
              </a:rPr>
              <a:t/>
            </a:r>
            <a:br>
              <a:rPr lang="en-US" b="false" i="false" strike="noStrike" u="none" sz="1200">
                <a:solidFill>
                  <a:srgbClr val="1F2329"/>
                </a:solidFill>
                <a:latin typeface="Poppins"/>
                <a:ea typeface="Poppins"/>
                <a:cs typeface="Poppins"/>
                <a:sym typeface="Poppins"/>
              </a:rPr>
            </a:br>
            <a:r>
              <a:rPr lang="en-US" b="true" i="false" strike="noStrike" u="none" sz="1200">
                <a:solidFill>
                  <a:srgbClr val="8A2BE2"/>
                </a:solidFill>
                <a:latin typeface="Poppins"/>
                <a:ea typeface="Poppins"/>
                <a:cs typeface="Poppins"/>
                <a:sym typeface="Poppins"/>
              </a:rPr>
              <a:t>⏱️ Latency: ~45s</a:t>
            </a:r>
            <a:r>
              <a:rPr lang="en-US" b="false" i="false" strike="noStrike" u="none" sz="1200">
                <a:solidFill>
                  <a:srgbClr val="D1D5DB"/>
                </a:solidFill>
                <a:latin typeface="Poppins"/>
                <a:ea typeface="Poppins"/>
                <a:cs typeface="Poppins"/>
                <a:sym typeface="Poppins"/>
              </a:rPr>
              <a:t>— Produces high-fidelity visuals from detailed prompts, including initial model loading and rendering time.</a:t>
            </a:r>
            <a:endParaRPr lang="en-US" sz="1100"/>
          </a:p>
        </p:txBody>
      </p:sp>
      <p:sp>
        <p:nvSpPr>
          <p:cNvPr name="AutoShape 21" id="21"/>
          <p:cNvSpPr/>
          <p:nvPr/>
        </p:nvSpPr>
        <p:spPr>
          <a:xfrm rot="0" flipH="false" flipV="false">
            <a:off x="762000" y="61214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A78BFA"/>
                </a:solidFill>
                <a:latin typeface="Poppins"/>
                <a:ea typeface="Poppins"/>
                <a:cs typeface="Poppins"/>
                <a:sym typeface="Poppins"/>
              </a:rPr>
              <a:t>★ The "visible performance" across these diverse tasks underscores the assistant's role as a transformative productivity enhancer.</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3.1. Application Scenarios: Examples</a:t>
            </a:r>
            <a:endParaRPr lang="en-US" sz="1100"/>
          </a:p>
        </p:txBody>
      </p:sp>
      <p:sp>
        <p:nvSpPr>
          <p:cNvPr name="AutoShape 4" id="4"/>
          <p:cNvSpPr/>
          <p:nvPr/>
        </p:nvSpPr>
        <p:spPr>
          <a:xfrm rot="0" flipH="false" flipV="false">
            <a:off x="762000" y="1778000"/>
            <a:ext cx="3378200" cy="4064000"/>
          </a:xfrm>
          <a:prstGeom prst="roundRect">
            <a:avLst>
              <a:gd name="adj" fmla="val 0"/>
            </a:avLst>
          </a:prstGeom>
          <a:solidFill>
            <a:srgbClr val="8A2BE2">
              <a:alpha val="10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5511" b="5511"/>
          <a:stretch>
            <a:fillRect/>
          </a:stretch>
        </p:blipFill>
        <p:spPr>
          <a:xfrm rot="0" flipH="false" flipV="false">
            <a:off x="1435100" y="2032000"/>
            <a:ext cx="2032000" cy="2413000"/>
          </a:xfrm>
          <a:prstGeom prst="roundRect">
            <a:avLst>
              <a:gd name="adj" fmla="val 7500"/>
            </a:avLst>
          </a:prstGeom>
          <a:noFill/>
          <a:ln w="25400" cmpd="sng" cap="flat">
            <a:noFill/>
            <a:prstDash val="solid"/>
            <a:round/>
          </a:ln>
        </p:spPr>
      </p:pic>
      <p:sp>
        <p:nvSpPr>
          <p:cNvPr name="AutoShape 6" id="6"/>
          <p:cNvSpPr/>
          <p:nvPr/>
        </p:nvSpPr>
        <p:spPr>
          <a:xfrm rot="0" flipH="false" flipV="false">
            <a:off x="889000" y="4572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8A2BE2"/>
                </a:solidFill>
                <a:latin typeface="Poppins"/>
                <a:ea typeface="Poppins"/>
                <a:cs typeface="Poppins"/>
                <a:sym typeface="Poppins"/>
              </a:rPr>
              <a:t>Text Generation</a:t>
            </a:r>
            <a:endParaRPr lang="en-US" sz="1100"/>
          </a:p>
        </p:txBody>
      </p:sp>
      <p:sp>
        <p:nvSpPr>
          <p:cNvPr name="AutoShape 7" id="7"/>
          <p:cNvSpPr/>
          <p:nvPr/>
        </p:nvSpPr>
        <p:spPr>
          <a:xfrm rot="0" flipH="false" flipV="false">
            <a:off x="889000" y="5016500"/>
            <a:ext cx="3124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0000"/>
                  </a:srgbClr>
                </a:solidFill>
                <a:latin typeface="Poppins"/>
                <a:ea typeface="Poppins"/>
                <a:cs typeface="Poppins"/>
                <a:sym typeface="Poppins"/>
              </a:rPr>
              <a:t>"早秋惊落葉，飄零似客心..." — A classical five-character quatrain about autumn, showcasing the LLM's creative and poetic capabilities.</a:t>
            </a:r>
            <a:endParaRPr lang="en-US" sz="1100"/>
          </a:p>
        </p:txBody>
      </p:sp>
      <p:sp>
        <p:nvSpPr>
          <p:cNvPr name="AutoShape 8" id="8"/>
          <p:cNvSpPr/>
          <p:nvPr/>
        </p:nvSpPr>
        <p:spPr>
          <a:xfrm rot="0" flipH="false" flipV="false">
            <a:off x="4406900" y="1778000"/>
            <a:ext cx="3378200" cy="4064000"/>
          </a:xfrm>
          <a:prstGeom prst="roundRect">
            <a:avLst>
              <a:gd name="adj" fmla="val 0"/>
            </a:avLst>
          </a:prstGeom>
          <a:solidFill>
            <a:srgbClr val="8A2BE2">
              <a:alpha val="10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srcRect l="0" r="0" t="0" b="20833"/>
          <a:stretch>
            <a:fillRect/>
          </a:stretch>
        </p:blipFill>
        <p:spPr>
          <a:xfrm rot="0" flipH="false" flipV="false">
            <a:off x="5080000" y="2032000"/>
            <a:ext cx="2032000" cy="2413000"/>
          </a:xfrm>
          <a:prstGeom prst="roundRect">
            <a:avLst>
              <a:gd name="adj" fmla="val 7500"/>
            </a:avLst>
          </a:prstGeom>
          <a:noFill/>
          <a:ln w="25400" cmpd="sng" cap="flat">
            <a:noFill/>
            <a:prstDash val="solid"/>
            <a:round/>
          </a:ln>
        </p:spPr>
      </p:pic>
      <p:sp>
        <p:nvSpPr>
          <p:cNvPr name="AutoShape 10" id="10"/>
          <p:cNvSpPr/>
          <p:nvPr/>
        </p:nvSpPr>
        <p:spPr>
          <a:xfrm rot="0" flipH="false" flipV="false">
            <a:off x="4533900" y="4572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8A2BE2"/>
                </a:solidFill>
                <a:latin typeface="Poppins"/>
                <a:ea typeface="Poppins"/>
                <a:cs typeface="Poppins"/>
                <a:sym typeface="Poppins"/>
              </a:rPr>
              <a:t>Image Generation</a:t>
            </a:r>
            <a:endParaRPr lang="en-US" sz="1100"/>
          </a:p>
        </p:txBody>
      </p:sp>
      <p:sp>
        <p:nvSpPr>
          <p:cNvPr name="AutoShape 11" id="11"/>
          <p:cNvSpPr/>
          <p:nvPr/>
        </p:nvSpPr>
        <p:spPr>
          <a:xfrm rot="0" flipH="false" flipV="false">
            <a:off x="4533900" y="5016500"/>
            <a:ext cx="3124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0000"/>
                  </a:srgbClr>
                </a:solidFill>
                <a:latin typeface="Poppins"/>
                <a:ea typeface="Poppins"/>
                <a:cs typeface="Poppins"/>
                <a:sym typeface="Poppins"/>
              </a:rPr>
              <a:t>Prompt: "Draw an anime girl with silver hair." High-fidelity character art generated in seconds with customizable styles.</a:t>
            </a:r>
            <a:endParaRPr lang="en-US" sz="1100"/>
          </a:p>
        </p:txBody>
      </p:sp>
      <p:sp>
        <p:nvSpPr>
          <p:cNvPr name="AutoShape 12" id="12"/>
          <p:cNvSpPr/>
          <p:nvPr/>
        </p:nvSpPr>
        <p:spPr>
          <a:xfrm rot="0" flipH="false" flipV="false">
            <a:off x="8051800" y="1778000"/>
            <a:ext cx="3378200" cy="4064000"/>
          </a:xfrm>
          <a:prstGeom prst="roundRect">
            <a:avLst>
              <a:gd name="adj" fmla="val 0"/>
            </a:avLst>
          </a:prstGeom>
          <a:solidFill>
            <a:srgbClr val="8A2BE2">
              <a:alpha val="10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srcRect l="7894" r="7894" t="0" b="0"/>
          <a:stretch>
            <a:fillRect/>
          </a:stretch>
        </p:blipFill>
        <p:spPr>
          <a:xfrm rot="0" flipH="false" flipV="false">
            <a:off x="8724900" y="2032000"/>
            <a:ext cx="2032000" cy="2413000"/>
          </a:xfrm>
          <a:prstGeom prst="roundRect">
            <a:avLst>
              <a:gd name="adj" fmla="val 7500"/>
            </a:avLst>
          </a:prstGeom>
          <a:noFill/>
          <a:ln w="25400" cmpd="sng" cap="flat">
            <a:noFill/>
            <a:prstDash val="solid"/>
            <a:round/>
          </a:ln>
        </p:spPr>
      </p:pic>
      <p:sp>
        <p:nvSpPr>
          <p:cNvPr name="AutoShape 14" id="14"/>
          <p:cNvSpPr/>
          <p:nvPr/>
        </p:nvSpPr>
        <p:spPr>
          <a:xfrm rot="0" flipH="false" flipV="false">
            <a:off x="8178800" y="4572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8A2BE2"/>
                </a:solidFill>
                <a:latin typeface="Poppins"/>
                <a:ea typeface="Poppins"/>
                <a:cs typeface="Poppins"/>
                <a:sym typeface="Poppins"/>
              </a:rPr>
              <a:t>Voice-Activated Creation</a:t>
            </a:r>
            <a:endParaRPr lang="en-US" sz="1100"/>
          </a:p>
        </p:txBody>
      </p:sp>
      <p:sp>
        <p:nvSpPr>
          <p:cNvPr name="AutoShape 15" id="15"/>
          <p:cNvSpPr/>
          <p:nvPr/>
        </p:nvSpPr>
        <p:spPr>
          <a:xfrm rot="0" flipH="false" flipV="false">
            <a:off x="8178800" y="5016500"/>
            <a:ext cx="31242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0000"/>
                  </a:srgbClr>
                </a:solidFill>
                <a:latin typeface="Poppins"/>
                <a:ea typeface="Poppins"/>
                <a:cs typeface="Poppins"/>
                <a:sym typeface="Poppins"/>
              </a:rPr>
              <a:t>Wake Word: "Draw a cyberpunk cat." Hands-free generation responding to natural voice commands for a seamless workflow.</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4. System Architecture: A Robust Four-Layer Design</a:t>
            </a:r>
            <a:endParaRPr lang="en-US" sz="1100"/>
          </a:p>
        </p:txBody>
      </p:sp>
      <p:sp>
        <p:nvSpPr>
          <p:cNvPr name="AutoShape 4" id="4"/>
          <p:cNvSpPr/>
          <p:nvPr/>
        </p:nvSpPr>
        <p:spPr>
          <a:xfrm rot="0" flipH="false" flipV="false">
            <a:off x="762000" y="15875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70196"/>
                  </a:srgbClr>
                </a:solidFill>
                <a:latin typeface="Poppins"/>
                <a:ea typeface="Poppins"/>
                <a:cs typeface="Poppins"/>
                <a:sym typeface="Poppins"/>
              </a:rPr>
              <a:t>The Super Desktop Assistant is built on a robust, four-layer agent architecture that ensures reliable and efficient task execution, with each layer specializing in distinct operational roles to maintain system stability and adaptability.</a:t>
            </a:r>
            <a:endParaRPr lang="en-US" sz="1100"/>
          </a:p>
        </p:txBody>
      </p:sp>
      <p:sp>
        <p:nvSpPr>
          <p:cNvPr name="AutoShape 5" id="5"/>
          <p:cNvSpPr/>
          <p:nvPr/>
        </p:nvSpPr>
        <p:spPr>
          <a:xfrm rot="0" flipH="false" flipV="false">
            <a:off x="762000" y="2413000"/>
            <a:ext cx="10668000" cy="787400"/>
          </a:xfrm>
          <a:prstGeom prst="roundRect">
            <a:avLst>
              <a:gd name="adj" fmla="val 0"/>
            </a:avLst>
          </a:prstGeom>
          <a:solidFill>
            <a:srgbClr val="8A2BE2">
              <a:alpha val="12000"/>
            </a:srgbClr>
          </a:solidFill>
          <a:ln w="12700" cmpd="sng" cap="flat">
            <a:solidFill>
              <a:srgbClr val="8A2BE2">
                <a:alpha val="35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413000"/>
            <a:ext cx="1397000" cy="787400"/>
          </a:xfrm>
          <a:prstGeom prst="roundRect">
            <a:avLst>
              <a:gd name="adj" fmla="val 0"/>
            </a:avLst>
          </a:prstGeom>
          <a:solidFill>
            <a:srgbClr val="8A2BE2">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413000"/>
            <a:ext cx="1397000" cy="787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Poppins"/>
                <a:ea typeface="Poppins"/>
                <a:cs typeface="Poppins"/>
                <a:sym typeface="Poppins"/>
              </a:rPr>
              <a:t>L1 UserAgent</a:t>
            </a:r>
            <a:endParaRPr lang="en-US" sz="1100"/>
          </a:p>
        </p:txBody>
      </p:sp>
      <p:sp>
        <p:nvSpPr>
          <p:cNvPr name="AutoShape 8" id="8"/>
          <p:cNvSpPr/>
          <p:nvPr/>
        </p:nvSpPr>
        <p:spPr>
          <a:xfrm rot="0" flipH="false" flipV="false">
            <a:off x="2286000" y="2413000"/>
            <a:ext cx="901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85098"/>
                  </a:srgbClr>
                </a:solidFill>
                <a:latin typeface="Poppins"/>
                <a:ea typeface="Poppins"/>
                <a:cs typeface="Poppins"/>
                <a:sym typeface="Poppins"/>
              </a:rPr>
              <a:t>Input Sanitization &amp; Preprocessing: Manages query truncation, entity extraction, malicious injection filtering, and configuration interception to standardize user requests.</a:t>
            </a:r>
            <a:endParaRPr lang="en-US" sz="1100"/>
          </a:p>
        </p:txBody>
      </p:sp>
      <p:sp>
        <p:nvSpPr>
          <p:cNvPr name="AutoShape 9" id="9"/>
          <p:cNvSpPr/>
          <p:nvPr/>
        </p:nvSpPr>
        <p:spPr>
          <a:xfrm rot="0" flipH="false" flipV="false">
            <a:off x="762000" y="3327400"/>
            <a:ext cx="10668000" cy="787400"/>
          </a:xfrm>
          <a:prstGeom prst="roundRect">
            <a:avLst>
              <a:gd name="adj" fmla="val 0"/>
            </a:avLst>
          </a:prstGeom>
          <a:solidFill>
            <a:srgbClr val="8A2BE2">
              <a:alpha val="12000"/>
            </a:srgbClr>
          </a:solidFill>
          <a:ln w="12700" cmpd="sng" cap="flat">
            <a:solidFill>
              <a:srgbClr val="8A2BE2">
                <a:alpha val="35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3327400"/>
            <a:ext cx="1397000" cy="787400"/>
          </a:xfrm>
          <a:prstGeom prst="roundRect">
            <a:avLst>
              <a:gd name="adj" fmla="val 0"/>
            </a:avLst>
          </a:prstGeom>
          <a:solidFill>
            <a:srgbClr val="8A2BE2">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327400"/>
            <a:ext cx="1397000" cy="787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Poppins"/>
                <a:ea typeface="Poppins"/>
                <a:cs typeface="Poppins"/>
                <a:sym typeface="Poppins"/>
              </a:rPr>
              <a:t>L2 Supervisor</a:t>
            </a:r>
            <a:endParaRPr lang="en-US" sz="1100"/>
          </a:p>
        </p:txBody>
      </p:sp>
      <p:sp>
        <p:nvSpPr>
          <p:cNvPr name="AutoShape 12" id="12"/>
          <p:cNvSpPr/>
          <p:nvPr/>
        </p:nvSpPr>
        <p:spPr>
          <a:xfrm rot="0" flipH="false" flipV="false">
            <a:off x="2286000" y="3327400"/>
            <a:ext cx="901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85098"/>
                  </a:srgbClr>
                </a:solidFill>
                <a:latin typeface="Poppins"/>
                <a:ea typeface="Poppins"/>
                <a:cs typeface="Poppins"/>
                <a:sym typeface="Poppins"/>
              </a:rPr>
              <a:t>Core Orchestration: Converts LLM outputs into executable JSON DAGs (Planner), executes via topological sorting with parallelism (Executor), and routes tasks to specialists (Router).</a:t>
            </a:r>
            <a:endParaRPr lang="en-US" sz="1100"/>
          </a:p>
        </p:txBody>
      </p:sp>
      <p:sp>
        <p:nvSpPr>
          <p:cNvPr name="AutoShape 13" id="13"/>
          <p:cNvSpPr/>
          <p:nvPr/>
        </p:nvSpPr>
        <p:spPr>
          <a:xfrm rot="0" flipH="false" flipV="false">
            <a:off x="762000" y="4241800"/>
            <a:ext cx="10668000" cy="787400"/>
          </a:xfrm>
          <a:prstGeom prst="roundRect">
            <a:avLst>
              <a:gd name="adj" fmla="val 0"/>
            </a:avLst>
          </a:prstGeom>
          <a:solidFill>
            <a:srgbClr val="8A2BE2">
              <a:alpha val="12000"/>
            </a:srgbClr>
          </a:solidFill>
          <a:ln w="12700" cmpd="sng" cap="flat">
            <a:solidFill>
              <a:srgbClr val="8A2BE2">
                <a:alpha val="35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4241800"/>
            <a:ext cx="1397000" cy="787400"/>
          </a:xfrm>
          <a:prstGeom prst="roundRect">
            <a:avLst>
              <a:gd name="adj" fmla="val 0"/>
            </a:avLst>
          </a:prstGeom>
          <a:solidFill>
            <a:srgbClr val="8A2BE2">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762000" y="4241800"/>
            <a:ext cx="1397000" cy="787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Poppins"/>
                <a:ea typeface="Poppins"/>
                <a:cs typeface="Poppins"/>
                <a:sym typeface="Poppins"/>
              </a:rPr>
              <a:t>L3 Foremen</a:t>
            </a:r>
            <a:endParaRPr lang="en-US" sz="1100"/>
          </a:p>
        </p:txBody>
      </p:sp>
      <p:sp>
        <p:nvSpPr>
          <p:cNvPr name="AutoShape 16" id="16"/>
          <p:cNvSpPr/>
          <p:nvPr/>
        </p:nvSpPr>
        <p:spPr>
          <a:xfrm rot="0" flipH="false" flipV="false">
            <a:off x="2286000" y="4241800"/>
            <a:ext cx="901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85098"/>
                  </a:srgbClr>
                </a:solidFill>
                <a:latin typeface="Poppins"/>
                <a:ea typeface="Poppins"/>
                <a:cs typeface="Poppins"/>
                <a:sym typeface="Poppins"/>
              </a:rPr>
              <a:t>Specialized Expert Agents: Houses LLMForeman, SpeechForeman, ImageForeman—each equipped with 8+ tools and intelligent fallback mechanisms for domain-specific tasks.</a:t>
            </a:r>
            <a:endParaRPr lang="en-US" sz="1100"/>
          </a:p>
        </p:txBody>
      </p:sp>
      <p:sp>
        <p:nvSpPr>
          <p:cNvPr name="AutoShape 17" id="17"/>
          <p:cNvSpPr/>
          <p:nvPr/>
        </p:nvSpPr>
        <p:spPr>
          <a:xfrm rot="0" flipH="false" flipV="false">
            <a:off x="762000" y="5156200"/>
            <a:ext cx="10668000" cy="787400"/>
          </a:xfrm>
          <a:prstGeom prst="roundRect">
            <a:avLst>
              <a:gd name="adj" fmla="val 0"/>
            </a:avLst>
          </a:prstGeom>
          <a:solidFill>
            <a:srgbClr val="8A2BE2">
              <a:alpha val="12000"/>
            </a:srgbClr>
          </a:solidFill>
          <a:ln w="12700" cmpd="sng" cap="flat">
            <a:solidFill>
              <a:srgbClr val="8A2BE2">
                <a:alpha val="35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5156200"/>
            <a:ext cx="1397000" cy="787400"/>
          </a:xfrm>
          <a:prstGeom prst="roundRect">
            <a:avLst>
              <a:gd name="adj" fmla="val 0"/>
            </a:avLst>
          </a:prstGeom>
          <a:solidFill>
            <a:srgbClr val="8A2BE2">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762000" y="5156200"/>
            <a:ext cx="1397000" cy="7874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Poppins"/>
                <a:ea typeface="Poppins"/>
                <a:cs typeface="Poppins"/>
                <a:sym typeface="Poppins"/>
              </a:rPr>
              <a:t>L4 Foundation</a:t>
            </a:r>
            <a:endParaRPr lang="en-US" sz="1100"/>
          </a:p>
        </p:txBody>
      </p:sp>
      <p:sp>
        <p:nvSpPr>
          <p:cNvPr name="AutoShape 20" id="20"/>
          <p:cNvSpPr/>
          <p:nvPr/>
        </p:nvSpPr>
        <p:spPr>
          <a:xfrm rot="0" flipH="false" flipV="false">
            <a:off x="2286000" y="5156200"/>
            <a:ext cx="9017000" cy="787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FFFFFF">
                    <a:alpha val="85098"/>
                  </a:srgbClr>
                </a:solidFill>
                <a:latin typeface="Poppins"/>
                <a:ea typeface="Poppins"/>
                <a:cs typeface="Poppins"/>
                <a:sym typeface="Poppins"/>
              </a:rPr>
              <a:t>Unified Interface: Combines MCP (Model Context Protocol) contracts with the ai-coin API layer, providing a standardized bridge to foundational models and persistent memory systems.</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4.1. Architecture Deep Dive</a:t>
            </a:r>
            <a:endParaRPr lang="en-US" sz="1100"/>
          </a:p>
        </p:txBody>
      </p:sp>
      <p:sp>
        <p:nvSpPr>
          <p:cNvPr name="AutoShape 4" id="4"/>
          <p:cNvSpPr/>
          <p:nvPr/>
        </p:nvSpPr>
        <p:spPr>
          <a:xfrm rot="0" flipH="false" flipV="false">
            <a:off x="762000" y="1651000"/>
            <a:ext cx="52705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841500"/>
            <a:ext cx="488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A2BE2"/>
                </a:solidFill>
                <a:latin typeface="Poppins"/>
                <a:ea typeface="Poppins"/>
                <a:cs typeface="Poppins"/>
                <a:sym typeface="Poppins"/>
              </a:rPr>
              <a:t>01 / UserAgent (The Gateway)</a:t>
            </a:r>
            <a:endParaRPr lang="en-US" sz="1100"/>
          </a:p>
        </p:txBody>
      </p:sp>
      <p:sp>
        <p:nvSpPr>
          <p:cNvPr name="AutoShape 6" id="6"/>
          <p:cNvSpPr/>
          <p:nvPr/>
        </p:nvSpPr>
        <p:spPr>
          <a:xfrm rot="0" flipH="false" flipV="false">
            <a:off x="952500" y="22606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5098"/>
                  </a:srgbClr>
                </a:solidFill>
                <a:latin typeface="Poppins"/>
                <a:ea typeface="Poppins"/>
                <a:cs typeface="Poppins"/>
                <a:sym typeface="Poppins"/>
              </a:rPr>
              <a:t>The system's front door, responsible for cleaning and standardizing raw user input. It handles truncation, entity extraction, and validation to ensure only high-quality, structured data propagates downstream.</a:t>
            </a:r>
            <a:endParaRPr lang="en-US" sz="1100"/>
          </a:p>
        </p:txBody>
      </p:sp>
      <p:sp>
        <p:nvSpPr>
          <p:cNvPr name="AutoShape 7" id="7"/>
          <p:cNvSpPr/>
          <p:nvPr/>
        </p:nvSpPr>
        <p:spPr>
          <a:xfrm rot="0" flipH="false" flipV="false">
            <a:off x="6159500" y="1651000"/>
            <a:ext cx="52705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350000" y="1841500"/>
            <a:ext cx="488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A2BE2"/>
                </a:solidFill>
                <a:latin typeface="Poppins"/>
                <a:ea typeface="Poppins"/>
                <a:cs typeface="Poppins"/>
                <a:sym typeface="Poppins"/>
              </a:rPr>
              <a:t>02 / Supervisor (The Orchestrator)</a:t>
            </a:r>
            <a:endParaRPr lang="en-US" sz="1100"/>
          </a:p>
        </p:txBody>
      </p:sp>
      <p:sp>
        <p:nvSpPr>
          <p:cNvPr name="AutoShape 9" id="9"/>
          <p:cNvSpPr/>
          <p:nvPr/>
        </p:nvSpPr>
        <p:spPr>
          <a:xfrm rot="0" flipH="false" flipV="false">
            <a:off x="6350000" y="22606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5098"/>
                  </a:srgbClr>
                </a:solidFill>
                <a:latin typeface="Poppins"/>
                <a:ea typeface="Poppins"/>
                <a:cs typeface="Poppins"/>
                <a:sym typeface="Poppins"/>
              </a:rPr>
              <a:t>The central "brain" that parses intent using an LLM to generate a Task DAG. It performs topological sorting for parallel execution and intelligently routes each subtask to the appropriate specialized expert in Layer 3.</a:t>
            </a:r>
            <a:endParaRPr lang="en-US" sz="1100"/>
          </a:p>
        </p:txBody>
      </p:sp>
      <p:sp>
        <p:nvSpPr>
          <p:cNvPr name="AutoShape 10" id="10"/>
          <p:cNvSpPr/>
          <p:nvPr/>
        </p:nvSpPr>
        <p:spPr>
          <a:xfrm rot="0" flipH="false" flipV="false">
            <a:off x="762000" y="3556000"/>
            <a:ext cx="52705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52500" y="3746500"/>
            <a:ext cx="488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A2BE2"/>
                </a:solidFill>
                <a:latin typeface="Poppins"/>
                <a:ea typeface="Poppins"/>
                <a:cs typeface="Poppins"/>
                <a:sym typeface="Poppins"/>
              </a:rPr>
              <a:t>03 / Foremen (Domain Specialists)</a:t>
            </a:r>
            <a:endParaRPr lang="en-US" sz="1100"/>
          </a:p>
        </p:txBody>
      </p:sp>
      <p:sp>
        <p:nvSpPr>
          <p:cNvPr name="AutoShape 12" id="12"/>
          <p:cNvSpPr/>
          <p:nvPr/>
        </p:nvSpPr>
        <p:spPr>
          <a:xfrm rot="0" flipH="false" flipV="false">
            <a:off x="952500" y="41656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5098"/>
                  </a:srgbClr>
                </a:solidFill>
                <a:latin typeface="Poppins"/>
                <a:ea typeface="Poppins"/>
                <a:cs typeface="Poppins"/>
                <a:sym typeface="Poppins"/>
              </a:rPr>
              <a:t>AI experts for specific domains (LLM, Speech, Image). Each foreman is equipped with a suite of tools—e.g., ImageForeman integrates 8+ vision tools—with graceful degradation to handle partial tool failures.</a:t>
            </a:r>
            <a:endParaRPr lang="en-US" sz="1100"/>
          </a:p>
        </p:txBody>
      </p:sp>
      <p:sp>
        <p:nvSpPr>
          <p:cNvPr name="AutoShape 13" id="13"/>
          <p:cNvSpPr/>
          <p:nvPr/>
        </p:nvSpPr>
        <p:spPr>
          <a:xfrm rot="0" flipH="false" flipV="false">
            <a:off x="6159500" y="3556000"/>
            <a:ext cx="52705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350000" y="3746500"/>
            <a:ext cx="488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A2BE2"/>
                </a:solidFill>
                <a:latin typeface="Poppins"/>
                <a:ea typeface="Poppins"/>
                <a:cs typeface="Poppins"/>
                <a:sym typeface="Poppins"/>
              </a:rPr>
              <a:t>04 / MCP Contract &amp; API Layer</a:t>
            </a:r>
            <a:endParaRPr lang="en-US" sz="1100"/>
          </a:p>
        </p:txBody>
      </p:sp>
      <p:sp>
        <p:nvSpPr>
          <p:cNvPr name="AutoShape 15" id="15"/>
          <p:cNvSpPr/>
          <p:nvPr/>
        </p:nvSpPr>
        <p:spPr>
          <a:xfrm rot="0" flipH="false" flipV="false">
            <a:off x="6350000" y="4165600"/>
            <a:ext cx="4889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85098"/>
                  </a:srgbClr>
                </a:solidFill>
                <a:latin typeface="Poppins"/>
                <a:ea typeface="Poppins"/>
                <a:cs typeface="Poppins"/>
                <a:sym typeface="Poppins"/>
              </a:rPr>
              <a:t>A unified abstraction layer that decouples foremen from underlying models. It provides a consistent API for model interaction, simplifying upgrades, swapping models, and integrating new AI services.</a:t>
            </a:r>
            <a:endParaRPr lang="en-US" sz="1100"/>
          </a:p>
        </p:txBody>
      </p:sp>
      <p:sp>
        <p:nvSpPr>
          <p:cNvPr name="AutoShape 16" id="16"/>
          <p:cNvSpPr/>
          <p:nvPr/>
        </p:nvSpPr>
        <p:spPr>
          <a:xfrm rot="0" flipH="false" flipV="false">
            <a:off x="762000" y="5397500"/>
            <a:ext cx="5270500" cy="1079500"/>
          </a:xfrm>
          <a:prstGeom prst="roundRect">
            <a:avLst>
              <a:gd name="adj" fmla="val 0"/>
            </a:avLst>
          </a:prstGeom>
          <a:solidFill>
            <a:srgbClr val="8A2BE2">
              <a:alpha val="20000"/>
            </a:srgbClr>
          </a:solidFill>
          <a:ln w="12700" cmpd="sng" cap="flat">
            <a:solidFill>
              <a:srgbClr val="8A2BE2">
                <a:alpha val="5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5588000"/>
            <a:ext cx="355600" cy="355600"/>
          </a:xfrm>
          <a:prstGeom prst="rect">
            <a:avLst/>
          </a:prstGeom>
        </p:spPr>
      </p:pic>
      <p:sp>
        <p:nvSpPr>
          <p:cNvPr name="AutoShape 18" id="18"/>
          <p:cNvSpPr/>
          <p:nvPr/>
        </p:nvSpPr>
        <p:spPr>
          <a:xfrm rot="0" flipH="false" flipV="false">
            <a:off x="1460500" y="5588000"/>
            <a:ext cx="4381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Structured Task DAG</a:t>
            </a:r>
            <a:endParaRPr lang="en-US" sz="1100"/>
          </a:p>
        </p:txBody>
      </p:sp>
      <p:sp>
        <p:nvSpPr>
          <p:cNvPr name="AutoShape 19" id="19"/>
          <p:cNvSpPr/>
          <p:nvPr/>
        </p:nvSpPr>
        <p:spPr>
          <a:xfrm rot="0" flipH="false" flipV="false">
            <a:off x="1460500" y="5943600"/>
            <a:ext cx="438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FFFFFF">
                    <a:alpha val="70196"/>
                  </a:srgbClr>
                </a:solidFill>
                <a:latin typeface="Poppins"/>
                <a:ea typeface="Poppins"/>
                <a:cs typeface="Poppins"/>
                <a:sym typeface="Poppins"/>
              </a:rPr>
              <a:t>Decomposes complex tasks into a directed acyclic graph for efficient parallel execution and dependency management.</a:t>
            </a:r>
            <a:endParaRPr lang="en-US" sz="1100"/>
          </a:p>
        </p:txBody>
      </p:sp>
      <p:sp>
        <p:nvSpPr>
          <p:cNvPr name="AutoShape 20" id="20"/>
          <p:cNvSpPr/>
          <p:nvPr/>
        </p:nvSpPr>
        <p:spPr>
          <a:xfrm rot="0" flipH="false" flipV="false">
            <a:off x="6159500" y="5397500"/>
            <a:ext cx="5270500" cy="1079500"/>
          </a:xfrm>
          <a:prstGeom prst="roundRect">
            <a:avLst>
              <a:gd name="adj" fmla="val 0"/>
            </a:avLst>
          </a:prstGeom>
          <a:solidFill>
            <a:srgbClr val="8A2BE2">
              <a:alpha val="20000"/>
            </a:srgbClr>
          </a:solidFill>
          <a:ln w="12700" cmpd="sng" cap="flat">
            <a:solidFill>
              <a:srgbClr val="8A2BE2">
                <a:alpha val="5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350000" y="5588000"/>
            <a:ext cx="355600" cy="355600"/>
          </a:xfrm>
          <a:prstGeom prst="rect">
            <a:avLst/>
          </a:prstGeom>
        </p:spPr>
      </p:pic>
      <p:sp>
        <p:nvSpPr>
          <p:cNvPr name="AutoShape 22" id="22"/>
          <p:cNvSpPr/>
          <p:nvPr/>
        </p:nvSpPr>
        <p:spPr>
          <a:xfrm rot="0" flipH="false" flipV="false">
            <a:off x="6858000" y="5588000"/>
            <a:ext cx="4381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Robust Failure Propagation</a:t>
            </a:r>
            <a:endParaRPr lang="en-US" sz="1100"/>
          </a:p>
        </p:txBody>
      </p:sp>
      <p:sp>
        <p:nvSpPr>
          <p:cNvPr name="AutoShape 23" id="23"/>
          <p:cNvSpPr/>
          <p:nvPr/>
        </p:nvSpPr>
        <p:spPr>
          <a:xfrm rot="0" flipH="false" flipV="false">
            <a:off x="6858000" y="5943600"/>
            <a:ext cx="438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FFFFFF">
                    <a:alpha val="70196"/>
                  </a:srgbClr>
                </a:solidFill>
                <a:latin typeface="Poppins"/>
                <a:ea typeface="Poppins"/>
                <a:cs typeface="Poppins"/>
                <a:sym typeface="Poppins"/>
              </a:rPr>
              <a:t>Gracefully skips dependent tasks on upstream failures, preventing cascading errors and ensuring system stability.</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5. Core Capabilities: A Swiss Army Knife of Local AI</a:t>
            </a:r>
            <a:endParaRPr lang="en-US" sz="1100"/>
          </a:p>
        </p:txBody>
      </p:sp>
      <p:sp>
        <p:nvSpPr>
          <p:cNvPr name="AutoShape 4" id="4"/>
          <p:cNvSpPr/>
          <p:nvPr/>
        </p:nvSpPr>
        <p:spPr>
          <a:xfrm rot="0" flipH="false" flipV="false">
            <a:off x="762000" y="1778000"/>
            <a:ext cx="3429000" cy="26670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0" r="0" t="178" b="178"/>
          <a:stretch>
            <a:fillRect/>
          </a:stretch>
        </p:blipFill>
        <p:spPr>
          <a:xfrm rot="0" flipH="false" flipV="false">
            <a:off x="952500" y="1968500"/>
            <a:ext cx="1778000" cy="1181100"/>
          </a:xfrm>
          <a:prstGeom prst="rect">
            <a:avLst/>
          </a:prstGeom>
          <a:noFill/>
          <a:ln w="25400" cmpd="sng" cap="flat">
            <a:noFill/>
            <a:prstDash val="solid"/>
            <a:round/>
          </a:ln>
        </p:spPr>
      </p:pic>
      <p:sp>
        <p:nvSpPr>
          <p:cNvPr name="AutoShape 6" id="6"/>
          <p:cNvSpPr/>
          <p:nvPr/>
        </p:nvSpPr>
        <p:spPr>
          <a:xfrm rot="0" flipH="false" flipV="false">
            <a:off x="952500" y="33020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A78BFA"/>
                </a:solidFill>
                <a:latin typeface="Poppins"/>
                <a:ea typeface="Poppins"/>
                <a:cs typeface="Poppins"/>
                <a:sym typeface="Poppins"/>
              </a:rPr>
              <a:t>LLM &amp; Vision Analysis</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200">
                <a:solidFill>
                  <a:srgbClr val="E5E7EB">
                    <a:alpha val="80000"/>
                  </a:srgbClr>
                </a:solidFill>
                <a:latin typeface="Poppins"/>
                <a:ea typeface="Poppins"/>
                <a:cs typeface="Poppins"/>
                <a:sym typeface="Poppins"/>
              </a:rPr>
              <a:t>Powered by Qwen2.5-VL, it handles up to 8 rounds of tool reasoning and multimodal image understanding for complex tasks.</a:t>
            </a:r>
          </a:p>
        </p:txBody>
      </p:sp>
      <p:sp>
        <p:nvSpPr>
          <p:cNvPr name="AutoShape 7" id="7"/>
          <p:cNvSpPr/>
          <p:nvPr/>
        </p:nvSpPr>
        <p:spPr>
          <a:xfrm rot="0" flipH="false" flipV="false">
            <a:off x="4381500" y="1778000"/>
            <a:ext cx="3429000" cy="26670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srcRect l="12365" r="12365" t="0" b="0"/>
          <a:stretch>
            <a:fillRect/>
          </a:stretch>
        </p:blipFill>
        <p:spPr>
          <a:xfrm rot="0" flipH="false" flipV="false">
            <a:off x="4572000" y="1968500"/>
            <a:ext cx="1778000" cy="1181100"/>
          </a:xfrm>
          <a:prstGeom prst="rect">
            <a:avLst/>
          </a:prstGeom>
          <a:noFill/>
          <a:ln w="25400" cmpd="sng" cap="flat">
            <a:noFill/>
            <a:prstDash val="solid"/>
            <a:round/>
          </a:ln>
        </p:spPr>
      </p:pic>
      <p:sp>
        <p:nvSpPr>
          <p:cNvPr name="AutoShape 9" id="9"/>
          <p:cNvSpPr/>
          <p:nvPr/>
        </p:nvSpPr>
        <p:spPr>
          <a:xfrm rot="0" flipH="false" flipV="false">
            <a:off x="4572000" y="33020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A78BFA"/>
                </a:solidFill>
                <a:latin typeface="Poppins"/>
                <a:ea typeface="Poppins"/>
                <a:cs typeface="Poppins"/>
                <a:sym typeface="Poppins"/>
              </a:rPr>
              <a:t>Local Speech Powerhouse</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200">
                <a:solidFill>
                  <a:srgbClr val="E5E7EB">
                    <a:alpha val="80000"/>
                  </a:srgbClr>
                </a:solidFill>
                <a:latin typeface="Poppins"/>
                <a:ea typeface="Poppins"/>
                <a:cs typeface="Poppins"/>
                <a:sym typeface="Poppins"/>
              </a:rPr>
              <a:t>Features faster-whisper for ultra-accurate STT and Kokoro-82M for natural TTS, all running offline with zero latency.</a:t>
            </a:r>
          </a:p>
        </p:txBody>
      </p:sp>
      <p:sp>
        <p:nvSpPr>
          <p:cNvPr name="AutoShape 10" id="10"/>
          <p:cNvSpPr/>
          <p:nvPr/>
        </p:nvSpPr>
        <p:spPr>
          <a:xfrm rot="0" flipH="false" flipV="false">
            <a:off x="8001000" y="1778000"/>
            <a:ext cx="3429000" cy="26670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srcRect l="0" r="0" t="16785" b="16785"/>
          <a:stretch>
            <a:fillRect/>
          </a:stretch>
        </p:blipFill>
        <p:spPr>
          <a:xfrm rot="0" flipH="false" flipV="false">
            <a:off x="8191500" y="1968500"/>
            <a:ext cx="1778000" cy="1181100"/>
          </a:xfrm>
          <a:prstGeom prst="rect">
            <a:avLst/>
          </a:prstGeom>
          <a:noFill/>
          <a:ln w="25400" cmpd="sng" cap="flat">
            <a:noFill/>
            <a:prstDash val="solid"/>
            <a:round/>
          </a:ln>
        </p:spPr>
      </p:pic>
      <p:sp>
        <p:nvSpPr>
          <p:cNvPr name="AutoShape 12" id="12"/>
          <p:cNvSpPr/>
          <p:nvPr/>
        </p:nvSpPr>
        <p:spPr>
          <a:xfrm rot="0" flipH="false" flipV="false">
            <a:off x="8191500" y="33020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A78BFA"/>
                </a:solidFill>
                <a:latin typeface="Poppins"/>
                <a:ea typeface="Poppins"/>
                <a:cs typeface="Poppins"/>
                <a:sym typeface="Poppins"/>
              </a:rPr>
              <a:t>AI Image Generation</a:t>
            </a:r>
            <a:r>
              <a:rPr lang="en-US" b="false" i="false" strike="noStrike" u="none" sz="1600">
                <a:solidFill>
                  <a:srgbClr val="1F2329"/>
                </a:solidFill>
                <a:latin typeface="Poppins"/>
                <a:ea typeface="Poppins"/>
                <a:cs typeface="Poppins"/>
                <a:sym typeface="Poppins"/>
              </a:rPr>
              <a:t/>
            </a:r>
            <a:endParaRPr lang="en-US" sz="1100"/>
          </a:p>
          <a:p>
            <a:pPr algn="l" marL="0" indent="0">
              <a:lnSpc>
                <a:spcPct val="108333"/>
              </a:lnSpc>
            </a:pPr>
            <a:r>
              <a:rPr lang="en-US" b="false" i="false" strike="noStrike" u="none" sz="1200">
                <a:solidFill>
                  <a:srgbClr val="E5E7EB">
                    <a:alpha val="80000"/>
                  </a:srgbClr>
                </a:solidFill>
                <a:latin typeface="Poppins"/>
                <a:ea typeface="Poppins"/>
                <a:cs typeface="Poppins"/>
                <a:sym typeface="Poppins"/>
              </a:rPr>
              <a:t>Leverages ComfyUI with custom degradation models to produce high-quality, stylized images directly on your desktop.</a:t>
            </a:r>
          </a:p>
        </p:txBody>
      </p:sp>
      <p:sp>
        <p:nvSpPr>
          <p:cNvPr name="AutoShape 13" id="13"/>
          <p:cNvSpPr/>
          <p:nvPr/>
        </p:nvSpPr>
        <p:spPr>
          <a:xfrm rot="0" flipH="false" flipV="false">
            <a:off x="762000" y="4826000"/>
            <a:ext cx="3429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52500" y="5016500"/>
            <a:ext cx="304800" cy="304800"/>
          </a:xfrm>
          <a:prstGeom prst="rect">
            <a:avLst/>
          </a:prstGeom>
        </p:spPr>
      </p:pic>
      <p:sp>
        <p:nvSpPr>
          <p:cNvPr name="AutoShape 15" id="15"/>
          <p:cNvSpPr/>
          <p:nvPr/>
        </p:nvSpPr>
        <p:spPr>
          <a:xfrm rot="0" flipH="false" flipV="false">
            <a:off x="1333500" y="5016500"/>
            <a:ext cx="266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8 Agent Tools Suite</a:t>
            </a:r>
            <a:endParaRPr lang="en-US" sz="1100"/>
          </a:p>
        </p:txBody>
      </p:sp>
      <p:sp>
        <p:nvSpPr>
          <p:cNvPr name="AutoShape 16" id="16"/>
          <p:cNvSpPr/>
          <p:nvPr/>
        </p:nvSpPr>
        <p:spPr>
          <a:xfrm rot="0" flipH="false" flipV="false">
            <a:off x="952500" y="5461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alpha val="80000"/>
                  </a:srgbClr>
                </a:solidFill>
                <a:latin typeface="Poppins"/>
                <a:ea typeface="Poppins"/>
                <a:cs typeface="Poppins"/>
                <a:sym typeface="Poppins"/>
              </a:rPr>
              <a:t>Equipped with file I/O, web search, memory management, and more to extend AI's real-world utility.</a:t>
            </a:r>
            <a:endParaRPr lang="en-US" sz="1100"/>
          </a:p>
        </p:txBody>
      </p:sp>
      <p:sp>
        <p:nvSpPr>
          <p:cNvPr name="AutoShape 17" id="17"/>
          <p:cNvSpPr/>
          <p:nvPr/>
        </p:nvSpPr>
        <p:spPr>
          <a:xfrm rot="0" flipH="false" flipV="false">
            <a:off x="4381500" y="4826000"/>
            <a:ext cx="3429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572000" y="5016500"/>
            <a:ext cx="304800" cy="304800"/>
          </a:xfrm>
          <a:prstGeom prst="rect">
            <a:avLst/>
          </a:prstGeom>
        </p:spPr>
      </p:pic>
      <p:sp>
        <p:nvSpPr>
          <p:cNvPr name="AutoShape 19" id="19"/>
          <p:cNvSpPr/>
          <p:nvPr/>
        </p:nvSpPr>
        <p:spPr>
          <a:xfrm rot="0" flipH="false" flipV="false">
            <a:off x="4953000" y="5016500"/>
            <a:ext cx="266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Natural Language Setup</a:t>
            </a:r>
            <a:endParaRPr lang="en-US" sz="1100"/>
          </a:p>
        </p:txBody>
      </p:sp>
      <p:sp>
        <p:nvSpPr>
          <p:cNvPr name="AutoShape 20" id="20"/>
          <p:cNvSpPr/>
          <p:nvPr/>
        </p:nvSpPr>
        <p:spPr>
          <a:xfrm rot="0" flipH="false" flipV="false">
            <a:off x="4572000" y="5461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alpha val="80000"/>
                  </a:srgbClr>
                </a:solidFill>
                <a:latin typeface="Poppins"/>
                <a:ea typeface="Poppins"/>
                <a:cs typeface="Poppins"/>
                <a:sym typeface="Poppins"/>
              </a:rPr>
              <a:t>A unique feature that lets you configure the system through casual dialogue—no confusing menus.</a:t>
            </a:r>
            <a:endParaRPr lang="en-US" sz="1100"/>
          </a:p>
        </p:txBody>
      </p:sp>
      <p:sp>
        <p:nvSpPr>
          <p:cNvPr name="AutoShape 21" id="21"/>
          <p:cNvSpPr/>
          <p:nvPr/>
        </p:nvSpPr>
        <p:spPr>
          <a:xfrm rot="0" flipH="false" flipV="false">
            <a:off x="8001000" y="4826000"/>
            <a:ext cx="3429000" cy="1524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191500" y="5016500"/>
            <a:ext cx="304800" cy="304800"/>
          </a:xfrm>
          <a:prstGeom prst="rect">
            <a:avLst/>
          </a:prstGeom>
        </p:spPr>
      </p:pic>
      <p:sp>
        <p:nvSpPr>
          <p:cNvPr name="AutoShape 23" id="23"/>
          <p:cNvSpPr/>
          <p:nvPr/>
        </p:nvSpPr>
        <p:spPr>
          <a:xfrm rot="0" flipH="false" flipV="false">
            <a:off x="8572500" y="5016500"/>
            <a:ext cx="266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100% Local &amp; Private</a:t>
            </a:r>
            <a:endParaRPr lang="en-US" sz="1100"/>
          </a:p>
        </p:txBody>
      </p:sp>
      <p:sp>
        <p:nvSpPr>
          <p:cNvPr name="AutoShape 24" id="24"/>
          <p:cNvSpPr/>
          <p:nvPr/>
        </p:nvSpPr>
        <p:spPr>
          <a:xfrm rot="0" flipH="false" flipV="false">
            <a:off x="8191500" y="5461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D1D5DB">
                    <a:alpha val="80000"/>
                  </a:srgbClr>
                </a:solidFill>
                <a:latin typeface="Poppins"/>
                <a:ea typeface="Poppins"/>
                <a:cs typeface="Poppins"/>
                <a:sym typeface="Poppins"/>
              </a:rPr>
              <a:t>All processing runs offline on your device. Enjoy maximum speed with complete data privacy.</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6. Model Selection &amp; Local Deployment</a:t>
            </a:r>
            <a:endParaRPr lang="en-US" sz="1100"/>
          </a:p>
        </p:txBody>
      </p:sp>
      <p:sp>
        <p:nvSpPr>
          <p:cNvPr name="AutoShape 4" id="4"/>
          <p:cNvSpPr/>
          <p:nvPr/>
        </p:nvSpPr>
        <p:spPr>
          <a:xfrm rot="0" flipH="false" flipV="false">
            <a:off x="762000" y="1397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500">
                <a:solidFill>
                  <a:srgbClr val="E5E7EB">
                    <a:alpha val="80000"/>
                  </a:srgbClr>
                </a:solidFill>
                <a:latin typeface="Poppins"/>
                <a:ea typeface="Poppins"/>
                <a:cs typeface="Poppins"/>
                <a:sym typeface="Poppins"/>
              </a:rPr>
              <a:t>All AI models are deployed locally on a single AMD Radeon PRO W7900, eliminating any cloud dependency and ensuring full control over data privacy, security, and low-latency inference.</a:t>
            </a:r>
            <a:endParaRPr lang="en-US" sz="1100"/>
          </a:p>
        </p:txBody>
      </p:sp>
      <p:graphicFrame>
        <p:nvGraphicFramePr>
          <p:cNvPr name="Table 5" id="5"/>
          <p:cNvGraphicFramePr>
            <a:graphicFrameLocks noGrp="true"/>
          </p:cNvGraphicFramePr>
          <p:nvPr/>
        </p:nvGraphicFramePr>
        <p:xfrm>
          <a:off x="762000" y="2286000"/>
          <a:ext cx="10668000" cy="2705100"/>
        </p:xfrm>
        <a:graphic>
          <a:graphicData uri="http://schemas.openxmlformats.org/drawingml/2006/table">
            <a:tbl>
              <a:tblPr>
                <a:effectLst/>
              </a:tblPr>
              <a:tblGrid>
                <a:gridCol w="1778000"/>
                <a:gridCol w="3556000"/>
                <a:gridCol w="1651000"/>
                <a:gridCol w="1270000"/>
                <a:gridCol w="2413000"/>
              </a:tblGrid>
              <a:tr h="571500">
                <a:tc>
                  <a:txBody>
                    <a:bodyPr anchor="t" rtlCol="false"/>
                    <a:lstStyle/>
                    <a:p>
                      <a:pPr algn="l" marL="0" indent="0">
                        <a:lnSpc>
                          <a:spcPct val="100000"/>
                        </a:lnSpc>
                        <a:defRPr/>
                      </a:pPr>
                      <a:r>
                        <a:rPr lang="en-US" b="true" i="false" strike="noStrike" u="none" sz="1400">
                          <a:solidFill>
                            <a:srgbClr val="FFFFFF"/>
                          </a:solidFill>
                          <a:latin typeface="Noto Sans SC"/>
                          <a:ea typeface="Noto Sans SC"/>
                          <a:cs typeface="Noto Sans SC"/>
                          <a:sym typeface="Noto Sans SC"/>
                        </a:rPr>
                        <a:t>Role</a:t>
                      </a:r>
                      <a:endParaRPr lang="en-US" sz="1100"/>
                    </a:p>
                  </a:txBody>
                  <a:tcPr anchor="ctr" anchorCtr="false" marL="101600" marR="101600" marT="101600" marB="101600">
                    <a:lnL>
                      <a:noFill/>
                    </a:lnL>
                    <a:lnR>
                      <a:noFill/>
                    </a:lnR>
                    <a:lnT>
                      <a:noFill/>
                    </a:lnT>
                    <a:lnB>
                      <a:noFill/>
                    </a:lnB>
                    <a:solidFill>
                      <a:srgbClr val="8A2BE2">
                        <a:alpha val="30000"/>
                      </a:srgbClr>
                    </a:solidFill>
                  </a:tcPr>
                </a:tc>
                <a:tc>
                  <a:txBody>
                    <a:bodyPr anchor="t" rtlCol="false"/>
                    <a:lstStyle/>
                    <a:p>
                      <a:pPr algn="l" marL="0" indent="0">
                        <a:lnSpc>
                          <a:spcPct val="100000"/>
                        </a:lnSpc>
                        <a:defRPr/>
                      </a:pPr>
                      <a:r>
                        <a:rPr lang="en-US" b="true" i="false" strike="noStrike" u="none" sz="1400">
                          <a:solidFill>
                            <a:srgbClr val="FFFFFF"/>
                          </a:solidFill>
                          <a:latin typeface="Noto Sans SC"/>
                          <a:ea typeface="Noto Sans SC"/>
                          <a:cs typeface="Noto Sans SC"/>
                          <a:sym typeface="Noto Sans SC"/>
                        </a:rPr>
                        <a:t>Model Architecture</a:t>
                      </a:r>
                      <a:endParaRPr lang="en-US" sz="1100"/>
                    </a:p>
                  </a:txBody>
                  <a:tcPr anchor="ctr" anchorCtr="false" marL="101600" marR="101600" marT="101600" marB="101600">
                    <a:lnL>
                      <a:noFill/>
                    </a:lnL>
                    <a:lnR>
                      <a:noFill/>
                    </a:lnR>
                    <a:lnT>
                      <a:noFill/>
                    </a:lnT>
                    <a:lnB>
                      <a:noFill/>
                    </a:lnB>
                    <a:solidFill>
                      <a:srgbClr val="8A2BE2">
                        <a:alpha val="30000"/>
                      </a:srgbClr>
                    </a:solidFill>
                  </a:tcPr>
                </a:tc>
                <a:tc>
                  <a:txBody>
                    <a:bodyPr anchor="t" rtlCol="false"/>
                    <a:lstStyle/>
                    <a:p>
                      <a:pPr algn="l" marL="0" indent="0">
                        <a:lnSpc>
                          <a:spcPct val="100000"/>
                        </a:lnSpc>
                        <a:defRPr/>
                      </a:pPr>
                      <a:r>
                        <a:rPr lang="en-US" b="true" i="false" strike="noStrike" u="none" sz="1400">
                          <a:solidFill>
                            <a:srgbClr val="FFFFFF"/>
                          </a:solidFill>
                          <a:latin typeface="Noto Sans SC"/>
                          <a:ea typeface="Noto Sans SC"/>
                          <a:cs typeface="Noto Sans SC"/>
                          <a:sym typeface="Noto Sans SC"/>
                        </a:rPr>
                        <a:t>Size / Params</a:t>
                      </a:r>
                      <a:endParaRPr lang="en-US" sz="1100"/>
                    </a:p>
                  </a:txBody>
                  <a:tcPr anchor="ctr" anchorCtr="false" marL="101600" marR="101600" marT="101600" marB="101600">
                    <a:lnL>
                      <a:noFill/>
                    </a:lnL>
                    <a:lnR>
                      <a:noFill/>
                    </a:lnR>
                    <a:lnT>
                      <a:noFill/>
                    </a:lnT>
                    <a:lnB>
                      <a:noFill/>
                    </a:lnB>
                    <a:solidFill>
                      <a:srgbClr val="8A2BE2">
                        <a:alpha val="30000"/>
                      </a:srgbClr>
                    </a:solidFill>
                  </a:tcPr>
                </a:tc>
                <a:tc>
                  <a:txBody>
                    <a:bodyPr anchor="t" rtlCol="false"/>
                    <a:lstStyle/>
                    <a:p>
                      <a:pPr algn="l" marL="0" indent="0">
                        <a:lnSpc>
                          <a:spcPct val="100000"/>
                        </a:lnSpc>
                        <a:defRPr/>
                      </a:pPr>
                      <a:r>
                        <a:rPr lang="en-US" b="true" i="false" strike="noStrike" u="none" sz="1400">
                          <a:solidFill>
                            <a:srgbClr val="FFFFFF"/>
                          </a:solidFill>
                          <a:latin typeface="Noto Sans SC"/>
                          <a:ea typeface="Noto Sans SC"/>
                          <a:cs typeface="Noto Sans SC"/>
                          <a:sym typeface="Noto Sans SC"/>
                        </a:rPr>
                        <a:t>Port</a:t>
                      </a:r>
                      <a:endParaRPr lang="en-US" sz="1100"/>
                    </a:p>
                  </a:txBody>
                  <a:tcPr anchor="ctr" anchorCtr="false" marL="101600" marR="101600" marT="101600" marB="101600">
                    <a:lnL>
                      <a:noFill/>
                    </a:lnL>
                    <a:lnR>
                      <a:noFill/>
                    </a:lnR>
                    <a:lnT>
                      <a:noFill/>
                    </a:lnT>
                    <a:lnB>
                      <a:noFill/>
                    </a:lnB>
                    <a:solidFill>
                      <a:srgbClr val="8A2BE2">
                        <a:alpha val="30000"/>
                      </a:srgbClr>
                    </a:solidFill>
                  </a:tcPr>
                </a:tc>
                <a:tc>
                  <a:txBody>
                    <a:bodyPr anchor="t" rtlCol="false"/>
                    <a:lstStyle/>
                    <a:p>
                      <a:pPr algn="l" marL="0" indent="0">
                        <a:lnSpc>
                          <a:spcPct val="100000"/>
                        </a:lnSpc>
                        <a:defRPr/>
                      </a:pPr>
                      <a:r>
                        <a:rPr lang="en-US" b="true" i="false" strike="noStrike" u="none" sz="1400">
                          <a:solidFill>
                            <a:srgbClr val="FFFFFF"/>
                          </a:solidFill>
                          <a:latin typeface="Noto Sans SC"/>
                          <a:ea typeface="Noto Sans SC"/>
                          <a:cs typeface="Noto Sans SC"/>
                          <a:sym typeface="Noto Sans SC"/>
                        </a:rPr>
                        <a:t>Runtime Env</a:t>
                      </a:r>
                      <a:endParaRPr lang="en-US" sz="1100"/>
                    </a:p>
                  </a:txBody>
                  <a:tcPr anchor="ctr" anchorCtr="false" marL="101600" marR="101600" marT="101600" marB="101600">
                    <a:lnL>
                      <a:noFill/>
                    </a:lnL>
                    <a:lnR>
                      <a:noFill/>
                    </a:lnR>
                    <a:lnT>
                      <a:noFill/>
                    </a:lnT>
                    <a:lnB>
                      <a:noFill/>
                    </a:lnB>
                    <a:solidFill>
                      <a:srgbClr val="8A2BE2">
                        <a:alpha val="30000"/>
                      </a:srgbClr>
                    </a:solidFill>
                  </a:tcPr>
                </a:tc>
              </a:tr>
              <a:tr h="533400">
                <a:tc>
                  <a:txBody>
                    <a:bodyPr anchor="t" rtlCol="false"/>
                    <a:lstStyle/>
                    <a:p>
                      <a:pPr algn="l" marL="0" indent="0">
                        <a:lnSpc>
                          <a:spcPct val="100000"/>
                        </a:lnSpc>
                        <a:defRPr/>
                      </a:pPr>
                      <a:r>
                        <a:rPr lang="en-US" b="true" i="false" strike="noStrike" u="none" sz="1600">
                          <a:solidFill>
                            <a:srgbClr val="A78BFA"/>
                          </a:solidFill>
                          <a:latin typeface="Noto Sans SC"/>
                          <a:ea typeface="Noto Sans SC"/>
                          <a:cs typeface="Noto Sans SC"/>
                          <a:sym typeface="Noto Sans SC"/>
                        </a:rPr>
                        <a:t>LLM + Vision</a:t>
                      </a:r>
                      <a:endParaRPr lang="en-US" sz="1100"/>
                    </a:p>
                  </a:txBody>
                  <a:tcPr anchor="ctr" anchorCtr="false" marL="101600" marR="101600" marT="101600" marB="101600">
                    <a:lnL>
                      <a:noFill/>
                    </a:lnL>
                    <a:lnR>
                      <a:noFill/>
                    </a:lnR>
                    <a:lnT>
                      <a:noFill/>
                    </a:lnT>
                    <a:lnB>
                      <a:noFill/>
                    </a:lnB>
                    <a:solidFill>
                      <a:srgbClr val="FFFFFF">
                        <a:alpha val="8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Qwen2.5-VL-32B-Instruct-AWQ</a:t>
                      </a:r>
                      <a:endParaRPr lang="en-US" sz="1100"/>
                    </a:p>
                  </a:txBody>
                  <a:tcPr anchor="ctr" anchorCtr="false" marL="101600" marR="101600" marT="101600" marB="101600">
                    <a:lnL>
                      <a:noFill/>
                    </a:lnL>
                    <a:lnR>
                      <a:noFill/>
                    </a:lnR>
                    <a:lnT>
                      <a:noFill/>
                    </a:lnT>
                    <a:lnB>
                      <a:noFill/>
                    </a:lnB>
                    <a:solidFill>
                      <a:srgbClr val="FFFFFF">
                        <a:alpha val="8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20.7 GB (VRAM)</a:t>
                      </a:r>
                      <a:endParaRPr lang="en-US" sz="1100"/>
                    </a:p>
                  </a:txBody>
                  <a:tcPr anchor="ctr" anchorCtr="false" marL="101600" marR="101600" marT="101600" marB="101600">
                    <a:lnL>
                      <a:noFill/>
                    </a:lnL>
                    <a:lnR>
                      <a:noFill/>
                    </a:lnR>
                    <a:lnT>
                      <a:noFill/>
                    </a:lnT>
                    <a:lnB>
                      <a:noFill/>
                    </a:lnB>
                    <a:solidFill>
                      <a:srgbClr val="FFFFFF">
                        <a:alpha val="8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8000</a:t>
                      </a:r>
                      <a:endParaRPr lang="en-US" sz="1100"/>
                    </a:p>
                  </a:txBody>
                  <a:tcPr anchor="ctr" anchorCtr="false" marL="101600" marR="101600" marT="101600" marB="101600">
                    <a:lnL>
                      <a:noFill/>
                    </a:lnL>
                    <a:lnR>
                      <a:noFill/>
                    </a:lnR>
                    <a:lnT>
                      <a:noFill/>
                    </a:lnT>
                    <a:lnB>
                      <a:noFill/>
                    </a:lnB>
                    <a:solidFill>
                      <a:srgbClr val="FFFFFF">
                        <a:alpha val="8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vLLM (ROCm Optimized)</a:t>
                      </a:r>
                      <a:endParaRPr lang="en-US" sz="1100"/>
                    </a:p>
                  </a:txBody>
                  <a:tcPr anchor="ctr" anchorCtr="false" marL="101600" marR="101600" marT="101600" marB="101600">
                    <a:lnL>
                      <a:noFill/>
                    </a:lnL>
                    <a:lnR>
                      <a:noFill/>
                    </a:lnR>
                    <a:lnT>
                      <a:noFill/>
                    </a:lnT>
                    <a:lnB>
                      <a:noFill/>
                    </a:lnB>
                    <a:solidFill>
                      <a:srgbClr val="FFFFFF">
                        <a:alpha val="8000"/>
                      </a:srgbClr>
                    </a:solidFill>
                  </a:tcPr>
                </a:tc>
              </a:tr>
              <a:tr h="533400">
                <a:tc>
                  <a:txBody>
                    <a:bodyPr anchor="t" rtlCol="false"/>
                    <a:lstStyle/>
                    <a:p>
                      <a:pPr algn="l" marL="0" indent="0">
                        <a:lnSpc>
                          <a:spcPct val="100000"/>
                        </a:lnSpc>
                        <a:defRPr/>
                      </a:pPr>
                      <a:r>
                        <a:rPr lang="en-US" b="true" i="false" strike="noStrike" u="none" sz="1600">
                          <a:solidFill>
                            <a:srgbClr val="A78BFA"/>
                          </a:solidFill>
                          <a:latin typeface="Noto Sans SC"/>
                          <a:ea typeface="Noto Sans SC"/>
                          <a:cs typeface="Noto Sans SC"/>
                          <a:sym typeface="Noto Sans SC"/>
                        </a:rPr>
                        <a:t>Text-to-Speech</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Kokoro-82M (Chinese)</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82M Parameters</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8766</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ONNX Runtime (CPU)</a:t>
                      </a:r>
                      <a:endParaRPr lang="en-US" sz="1100"/>
                    </a:p>
                  </a:txBody>
                  <a:tcPr anchor="ctr" anchorCtr="false" marL="101600" marR="101600" marT="101600" marB="101600">
                    <a:lnL>
                      <a:noFill/>
                    </a:lnL>
                    <a:lnR>
                      <a:noFill/>
                    </a:lnR>
                    <a:lnT>
                      <a:noFill/>
                    </a:lnT>
                    <a:lnB>
                      <a:noFill/>
                    </a:lnB>
                    <a:solidFill>
                      <a:srgbClr val="FFFFFF">
                        <a:alpha val="5000"/>
                      </a:srgbClr>
                    </a:solidFill>
                  </a:tcPr>
                </a:tc>
              </a:tr>
              <a:tr h="533400">
                <a:tc>
                  <a:txBody>
                    <a:bodyPr anchor="t" rtlCol="false"/>
                    <a:lstStyle/>
                    <a:p>
                      <a:pPr algn="l" marL="0" indent="0">
                        <a:lnSpc>
                          <a:spcPct val="100000"/>
                        </a:lnSpc>
                        <a:defRPr/>
                      </a:pPr>
                      <a:r>
                        <a:rPr lang="en-US" b="true" i="false" strike="noStrike" u="none" sz="1600">
                          <a:solidFill>
                            <a:srgbClr val="A78BFA"/>
                          </a:solidFill>
                          <a:latin typeface="Noto Sans SC"/>
                          <a:ea typeface="Noto Sans SC"/>
                          <a:cs typeface="Noto Sans SC"/>
                          <a:sym typeface="Noto Sans SC"/>
                        </a:rPr>
                        <a:t>Speech-to-Text</a:t>
                      </a:r>
                      <a:endParaRPr lang="en-US" sz="1100"/>
                    </a:p>
                  </a:txBody>
                  <a:tcPr anchor="ctr" anchorCtr="false" marL="101600" marR="101600" marT="101600" marB="101600">
                    <a:lnL>
                      <a:noFill/>
                    </a:lnL>
                    <a:lnR>
                      <a:noFill/>
                    </a:lnR>
                    <a:lnT>
                      <a:noFill/>
                    </a:lnT>
                    <a:lnB>
                      <a:noFill/>
                    </a:lnB>
                    <a:solidFill>
                      <a:srgbClr val="FFFFFF">
                        <a:alpha val="8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faster-whisper-medium</a:t>
                      </a:r>
                      <a:endParaRPr lang="en-US" sz="1100"/>
                    </a:p>
                  </a:txBody>
                  <a:tcPr anchor="ctr" anchorCtr="false" marL="101600" marR="101600" marT="101600" marB="101600">
                    <a:lnL>
                      <a:noFill/>
                    </a:lnL>
                    <a:lnR>
                      <a:noFill/>
                    </a:lnR>
                    <a:lnT>
                      <a:noFill/>
                    </a:lnT>
                    <a:lnB>
                      <a:noFill/>
                    </a:lnB>
                    <a:solidFill>
                      <a:srgbClr val="FFFFFF">
                        <a:alpha val="8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~1.5 GB (RAM)</a:t>
                      </a:r>
                      <a:endParaRPr lang="en-US" sz="1100"/>
                    </a:p>
                  </a:txBody>
                  <a:tcPr anchor="ctr" anchorCtr="false" marL="101600" marR="101600" marT="101600" marB="101600">
                    <a:lnL>
                      <a:noFill/>
                    </a:lnL>
                    <a:lnR>
                      <a:noFill/>
                    </a:lnR>
                    <a:lnT>
                      <a:noFill/>
                    </a:lnT>
                    <a:lnB>
                      <a:noFill/>
                    </a:lnB>
                    <a:solidFill>
                      <a:srgbClr val="FFFFFF">
                        <a:alpha val="8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8766</a:t>
                      </a:r>
                      <a:endParaRPr lang="en-US" sz="1100"/>
                    </a:p>
                  </a:txBody>
                  <a:tcPr anchor="ctr" anchorCtr="false" marL="101600" marR="101600" marT="101600" marB="101600">
                    <a:lnL>
                      <a:noFill/>
                    </a:lnL>
                    <a:lnR>
                      <a:noFill/>
                    </a:lnR>
                    <a:lnT>
                      <a:noFill/>
                    </a:lnT>
                    <a:lnB>
                      <a:noFill/>
                    </a:lnB>
                    <a:solidFill>
                      <a:srgbClr val="FFFFFF">
                        <a:alpha val="8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CTranslate2 (CPU Int8)</a:t>
                      </a:r>
                      <a:endParaRPr lang="en-US" sz="1100"/>
                    </a:p>
                  </a:txBody>
                  <a:tcPr anchor="ctr" anchorCtr="false" marL="101600" marR="101600" marT="101600" marB="101600">
                    <a:lnL>
                      <a:noFill/>
                    </a:lnL>
                    <a:lnR>
                      <a:noFill/>
                    </a:lnR>
                    <a:lnT>
                      <a:noFill/>
                    </a:lnT>
                    <a:lnB>
                      <a:noFill/>
                    </a:lnB>
                    <a:solidFill>
                      <a:srgbClr val="FFFFFF">
                        <a:alpha val="8000"/>
                      </a:srgbClr>
                    </a:solidFill>
                  </a:tcPr>
                </a:tc>
              </a:tr>
              <a:tr h="533400">
                <a:tc>
                  <a:txBody>
                    <a:bodyPr anchor="t" rtlCol="false"/>
                    <a:lstStyle/>
                    <a:p>
                      <a:pPr algn="l" marL="0" indent="0">
                        <a:lnSpc>
                          <a:spcPct val="100000"/>
                        </a:lnSpc>
                        <a:defRPr/>
                      </a:pPr>
                      <a:r>
                        <a:rPr lang="en-US" b="true" i="false" strike="noStrike" u="none" sz="1600">
                          <a:solidFill>
                            <a:srgbClr val="A78BFA"/>
                          </a:solidFill>
                          <a:latin typeface="Noto Sans SC"/>
                          <a:ea typeface="Noto Sans SC"/>
                          <a:cs typeface="Noto Sans SC"/>
                          <a:sym typeface="Noto Sans SC"/>
                        </a:rPr>
                        <a:t>Image Gen</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MiaoMiao Anima v1.1 (DiT)</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3.99 GB (VRAM)</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8188</a:t>
                      </a:r>
                      <a:endParaRPr lang="en-US" sz="1100"/>
                    </a:p>
                  </a:txBody>
                  <a:tcPr anchor="ctr" anchorCtr="false" marL="101600" marR="101600" marT="101600" marB="101600">
                    <a:lnL>
                      <a:noFill/>
                    </a:lnL>
                    <a:lnR>
                      <a:noFill/>
                    </a:lnR>
                    <a:lnT>
                      <a:noFill/>
                    </a:lnT>
                    <a:lnB>
                      <a:noFill/>
                    </a:lnB>
                    <a:solidFill>
                      <a:srgbClr val="FFFFFF">
                        <a:alpha val="5000"/>
                      </a:srgbClr>
                    </a:solidFill>
                  </a:tcPr>
                </a:tc>
                <a:tc>
                  <a:txBody>
                    <a:bodyPr anchor="t" rtlCol="false"/>
                    <a:lstStyle/>
                    <a:p>
                      <a:pPr algn="l" marL="0" indent="0">
                        <a:lnSpc>
                          <a:spcPct val="100000"/>
                        </a:lnSpc>
                        <a:defRPr/>
                      </a:pPr>
                      <a:r>
                        <a:rPr lang="en-US" b="false" i="false" strike="noStrike" u="none" sz="1300">
                          <a:solidFill>
                            <a:srgbClr val="E5E7EB"/>
                          </a:solidFill>
                          <a:latin typeface="Noto Sans SC"/>
                          <a:ea typeface="Noto Sans SC"/>
                          <a:cs typeface="Noto Sans SC"/>
                          <a:sym typeface="Noto Sans SC"/>
                        </a:rPr>
                        <a:t>ComfyUI (ROCm)</a:t>
                      </a:r>
                      <a:endParaRPr lang="en-US" sz="1100"/>
                    </a:p>
                  </a:txBody>
                  <a:tcPr anchor="ctr" anchorCtr="false" marL="101600" marR="101600" marT="101600" marB="101600">
                    <a:lnL>
                      <a:noFill/>
                    </a:lnL>
                    <a:lnR>
                      <a:noFill/>
                    </a:lnR>
                    <a:lnT>
                      <a:noFill/>
                    </a:lnT>
                    <a:lnB>
                      <a:noFill/>
                    </a:lnB>
                    <a:solidFill>
                      <a:srgbClr val="FFFFFF">
                        <a:alpha val="5000"/>
                      </a:srgbClr>
                    </a:solidFill>
                  </a:tcPr>
                </a:tc>
              </a:tr>
            </a:tbl>
          </a:graphicData>
        </a:graphic>
      </p:graphicFrame>
      <p:sp>
        <p:nvSpPr>
          <p:cNvPr name="AutoShape 6" id="6"/>
          <p:cNvSpPr/>
          <p:nvPr/>
        </p:nvSpPr>
        <p:spPr>
          <a:xfrm rot="0" flipH="false" flipV="false">
            <a:off x="762000" y="5016500"/>
            <a:ext cx="3429000" cy="13970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5207000"/>
            <a:ext cx="304800" cy="304800"/>
          </a:xfrm>
          <a:prstGeom prst="rect">
            <a:avLst/>
          </a:prstGeom>
        </p:spPr>
      </p:pic>
      <p:sp>
        <p:nvSpPr>
          <p:cNvPr name="AutoShape 8" id="8"/>
          <p:cNvSpPr/>
          <p:nvPr/>
        </p:nvSpPr>
        <p:spPr>
          <a:xfrm rot="0" flipH="false" flipV="false">
            <a:off x="1333500" y="51816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100% Private &amp; Offline</a:t>
            </a:r>
            <a:endParaRPr lang="en-US" sz="1100"/>
          </a:p>
        </p:txBody>
      </p:sp>
      <p:sp>
        <p:nvSpPr>
          <p:cNvPr name="AutoShape 9" id="9"/>
          <p:cNvSpPr/>
          <p:nvPr/>
        </p:nvSpPr>
        <p:spPr>
          <a:xfrm rot="0" flipH="false" flipV="false">
            <a:off x="952500" y="5613400"/>
            <a:ext cx="304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D1D5DB"/>
                </a:solidFill>
                <a:latin typeface="Noto Sans SC"/>
                <a:ea typeface="Noto Sans SC"/>
                <a:cs typeface="Noto Sans SC"/>
                <a:sym typeface="Noto Sans SC"/>
              </a:rPr>
              <a:t>No external API calls or data exfiltration. Complete on-device processing ensures compliance and data sovereignty.</a:t>
            </a:r>
            <a:endParaRPr lang="en-US" sz="1100"/>
          </a:p>
        </p:txBody>
      </p:sp>
      <p:sp>
        <p:nvSpPr>
          <p:cNvPr name="AutoShape 10" id="10"/>
          <p:cNvSpPr/>
          <p:nvPr/>
        </p:nvSpPr>
        <p:spPr>
          <a:xfrm rot="0" flipH="false" flipV="false">
            <a:off x="4381500" y="5016500"/>
            <a:ext cx="3429000" cy="13970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5207000"/>
            <a:ext cx="304800" cy="304800"/>
          </a:xfrm>
          <a:prstGeom prst="rect">
            <a:avLst/>
          </a:prstGeom>
        </p:spPr>
      </p:pic>
      <p:sp>
        <p:nvSpPr>
          <p:cNvPr name="AutoShape 12" id="12"/>
          <p:cNvSpPr/>
          <p:nvPr/>
        </p:nvSpPr>
        <p:spPr>
          <a:xfrm rot="0" flipH="false" flipV="false">
            <a:off x="4953000" y="5181600"/>
            <a:ext cx="279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Optimal Resource Isolation</a:t>
            </a:r>
            <a:endParaRPr lang="en-US" sz="1100"/>
          </a:p>
        </p:txBody>
      </p:sp>
      <p:sp>
        <p:nvSpPr>
          <p:cNvPr name="AutoShape 13" id="13"/>
          <p:cNvSpPr/>
          <p:nvPr/>
        </p:nvSpPr>
        <p:spPr>
          <a:xfrm rot="0" flipH="false" flipV="false">
            <a:off x="4572000" y="5613400"/>
            <a:ext cx="304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D1D5DB"/>
                </a:solidFill>
                <a:latin typeface="Noto Sans SC"/>
                <a:ea typeface="Noto Sans SC"/>
                <a:cs typeface="Noto Sans SC"/>
                <a:sym typeface="Noto Sans SC"/>
              </a:rPr>
              <a:t>CPU handles lightweight speech tasks, reserving the GPU's full 24GB VRAM for high-throughput LLM and image generation.</a:t>
            </a:r>
            <a:endParaRPr lang="en-US" sz="1100"/>
          </a:p>
        </p:txBody>
      </p:sp>
      <p:sp>
        <p:nvSpPr>
          <p:cNvPr name="AutoShape 14" id="14"/>
          <p:cNvSpPr/>
          <p:nvPr/>
        </p:nvSpPr>
        <p:spPr>
          <a:xfrm rot="0" flipH="false" flipV="false">
            <a:off x="8001000" y="5016500"/>
            <a:ext cx="3429000" cy="1397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srcRect l="25" r="25" t="0" b="0"/>
          <a:stretch>
            <a:fillRect/>
          </a:stretch>
        </p:blipFill>
        <p:spPr>
          <a:xfrm rot="0" flipH="false" flipV="false">
            <a:off x="8191500" y="5270500"/>
            <a:ext cx="1587500" cy="762000"/>
          </a:xfrm>
          <a:prstGeom prst="rect">
            <a:avLst/>
          </a:prstGeom>
          <a:noFill/>
          <a:ln w="25400" cmpd="sng" cap="flat">
            <a:noFill/>
            <a:prstDash val="solid"/>
            <a:round/>
          </a:ln>
        </p:spPr>
      </p:pic>
      <p:sp>
        <p:nvSpPr>
          <p:cNvPr name="AutoShape 16" id="16"/>
          <p:cNvSpPr/>
          <p:nvPr/>
        </p:nvSpPr>
        <p:spPr>
          <a:xfrm rot="0" flipH="false" flipV="false">
            <a:off x="9842500" y="5232400"/>
            <a:ext cx="1524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A78BFA"/>
                </a:solidFill>
                <a:latin typeface="Noto Sans SC"/>
                <a:ea typeface="Noto Sans SC"/>
                <a:cs typeface="Noto Sans SC"/>
                <a:sym typeface="Noto Sans SC"/>
              </a:rPr>
              <a:t>High-Perf Engine</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200">
                <a:solidFill>
                  <a:srgbClr val="D1D5DB"/>
                </a:solidFill>
                <a:latin typeface="Noto Sans SC"/>
                <a:ea typeface="Noto Sans SC"/>
                <a:cs typeface="Noto Sans SC"/>
                <a:sym typeface="Noto Sans SC"/>
              </a:rPr>
              <a:t>vLLM powers fast inference with PagedAttention, critical for real-time interactions.</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7. AMD GPU Optimization: Unleashing the Power of ROCm</a:t>
            </a:r>
            <a:endParaRPr lang="en-US" sz="1100"/>
          </a:p>
        </p:txBody>
      </p:sp>
      <p:sp>
        <p:nvSpPr>
          <p:cNvPr name="AutoShape 4" id="4"/>
          <p:cNvSpPr/>
          <p:nvPr/>
        </p:nvSpPr>
        <p:spPr>
          <a:xfrm rot="0" flipH="false" flipV="false">
            <a:off x="762000" y="1651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80000"/>
                  </a:srgbClr>
                </a:solidFill>
                <a:latin typeface="Poppins"/>
                <a:ea typeface="Poppins"/>
                <a:cs typeface="Poppins"/>
                <a:sym typeface="Poppins"/>
              </a:rPr>
              <a:t>This project heavily leverages and optimizes for the AMD Radeon PRO W7900 and the ROCm platform, delivering transformative performance gains through deep framework and hardware-level optimizations.</a:t>
            </a:r>
            <a:endParaRPr lang="en-US" sz="1100"/>
          </a:p>
        </p:txBody>
      </p:sp>
      <p:sp>
        <p:nvSpPr>
          <p:cNvPr name="AutoShape 5" id="5"/>
          <p:cNvSpPr/>
          <p:nvPr/>
        </p:nvSpPr>
        <p:spPr>
          <a:xfrm rot="0" flipH="false" flipV="false">
            <a:off x="762000" y="2667000"/>
            <a:ext cx="5207000" cy="17145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857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Poppins"/>
                <a:ea typeface="Poppins"/>
                <a:cs typeface="Poppins"/>
                <a:sym typeface="Poppins"/>
              </a:rPr>
              <a:t>Text Generation Speed</a:t>
            </a:r>
            <a:endParaRPr lang="en-US" sz="1100"/>
          </a:p>
        </p:txBody>
      </p:sp>
      <p:sp>
        <p:nvSpPr>
          <p:cNvPr name="AutoShape 7" id="7"/>
          <p:cNvSpPr/>
          <p:nvPr/>
        </p:nvSpPr>
        <p:spPr>
          <a:xfrm rot="0" flipH="false" flipV="false">
            <a:off x="952500" y="33655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9CA3AF"/>
                </a:solidFill>
                <a:latin typeface="Noto Sans SC"/>
                <a:ea typeface="Noto Sans SC"/>
                <a:cs typeface="Noto Sans SC"/>
                <a:sym typeface="Noto Sans SC"/>
              </a:rPr>
              <a:t>Before: 12.3 tokens/s</a:t>
            </a:r>
            <a:r>
              <a:rPr lang="en-US" b="false" i="false" strike="noStrike" u="none" sz="1300">
                <a:solidFill>
                  <a:srgbClr val="9CA3AF"/>
                </a:solidFill>
                <a:latin typeface="Noto Sans SC"/>
                <a:ea typeface="Noto Sans SC"/>
                <a:cs typeface="Noto Sans SC"/>
                <a:sym typeface="Noto Sans SC"/>
              </a:rPr>
              <a:t/>
            </a:r>
            <a:br>
              <a:rPr lang="en-US" b="false" i="false" strike="noStrike" u="none" sz="1300">
                <a:solidFill>
                  <a:srgbClr val="9CA3AF"/>
                </a:solidFill>
                <a:latin typeface="Noto Sans SC"/>
                <a:ea typeface="Noto Sans SC"/>
                <a:cs typeface="Noto Sans SC"/>
                <a:sym typeface="Noto Sans SC"/>
              </a:rPr>
            </a:br>
            <a:r>
              <a:rPr lang="en-US" b="false" i="false" strike="noStrike" u="none" sz="1300">
                <a:solidFill>
                  <a:srgbClr val="9CA3AF"/>
                </a:solidFill>
                <a:latin typeface="Noto Sans SC"/>
                <a:ea typeface="Noto Sans SC"/>
                <a:cs typeface="Noto Sans SC"/>
                <a:sym typeface="Noto Sans SC"/>
              </a:rPr>
              <a:t>After: 13.7 tokens/s</a:t>
            </a:r>
            <a:endParaRPr lang="en-US" sz="1100"/>
          </a:p>
        </p:txBody>
      </p:sp>
      <p:sp>
        <p:nvSpPr>
          <p:cNvPr name="AutoShape 8" id="8"/>
          <p:cNvSpPr/>
          <p:nvPr/>
        </p:nvSpPr>
        <p:spPr>
          <a:xfrm rot="0" flipH="false" flipV="false">
            <a:off x="3429000" y="3365500"/>
            <a:ext cx="2286000" cy="889000"/>
          </a:xfrm>
          <a:prstGeom prst="rect">
            <a:avLst/>
          </a:prstGeom>
          <a:noFill/>
          <a:ln w="12700" cmpd="sng" cap="flat">
            <a:noFill/>
            <a:prstDash val="solid"/>
            <a:round/>
          </a:ln>
        </p:spPr>
        <p:txBody>
          <a:bodyPr anchor="ctr" rtlCol="false" anchorCtr="false" vert="horz" wrap="square" lIns="0" rIns="0" tIns="0" bIns="0"/>
          <a:lstStyle/>
          <a:p>
            <a:pPr algn="r" marL="0" indent="0">
              <a:lnSpc>
                <a:spcPct val="100000"/>
              </a:lnSpc>
              <a:defRPr/>
            </a:pPr>
            <a:r>
              <a:rPr lang="en-US" b="false" i="false" strike="noStrike" u="none" sz="1300">
                <a:solidFill>
                  <a:srgbClr val="9CA3AF"/>
                </a:solidFill>
                <a:latin typeface="Noto Sans SC"/>
                <a:ea typeface="Noto Sans SC"/>
                <a:cs typeface="Noto Sans SC"/>
                <a:sym typeface="Noto Sans SC"/>
              </a:rPr>
              <a:t>Performance Boost</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2400">
                <a:solidFill>
                  <a:srgbClr val="8A2BE2"/>
                </a:solidFill>
                <a:latin typeface="Noto Sans SC"/>
                <a:ea typeface="Noto Sans SC"/>
                <a:cs typeface="Noto Sans SC"/>
                <a:sym typeface="Noto Sans SC"/>
              </a:rPr>
              <a:t>+11%</a:t>
            </a:r>
            <a:endParaRPr lang="en-US" sz="1100"/>
          </a:p>
        </p:txBody>
      </p:sp>
      <p:sp>
        <p:nvSpPr>
          <p:cNvPr name="AutoShape 9" id="9"/>
          <p:cNvSpPr/>
          <p:nvPr/>
        </p:nvSpPr>
        <p:spPr>
          <a:xfrm rot="0" flipH="false" flipV="false">
            <a:off x="762000" y="4572000"/>
            <a:ext cx="5207000" cy="17145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52500" y="47625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Poppins"/>
                <a:ea typeface="Poppins"/>
                <a:cs typeface="Poppins"/>
                <a:sym typeface="Poppins"/>
              </a:rPr>
              <a:t>16k Long-Context Prefill</a:t>
            </a:r>
            <a:endParaRPr lang="en-US" sz="1100"/>
          </a:p>
        </p:txBody>
      </p:sp>
      <p:sp>
        <p:nvSpPr>
          <p:cNvPr name="AutoShape 11" id="11"/>
          <p:cNvSpPr/>
          <p:nvPr/>
        </p:nvSpPr>
        <p:spPr>
          <a:xfrm rot="0" flipH="false" flipV="false">
            <a:off x="952500" y="52705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9CA3AF"/>
                </a:solidFill>
                <a:latin typeface="Noto Sans SC"/>
                <a:ea typeface="Noto Sans SC"/>
                <a:cs typeface="Noto Sans SC"/>
                <a:sym typeface="Noto Sans SC"/>
              </a:rPr>
              <a:t>Before: 7.95 seconds</a:t>
            </a:r>
            <a:r>
              <a:rPr lang="en-US" b="false" i="false" strike="noStrike" u="none" sz="1300">
                <a:solidFill>
                  <a:srgbClr val="9CA3AF"/>
                </a:solidFill>
                <a:latin typeface="Noto Sans SC"/>
                <a:ea typeface="Noto Sans SC"/>
                <a:cs typeface="Noto Sans SC"/>
                <a:sym typeface="Noto Sans SC"/>
              </a:rPr>
              <a:t/>
            </a:r>
            <a:br>
              <a:rPr lang="en-US" b="false" i="false" strike="noStrike" u="none" sz="1300">
                <a:solidFill>
                  <a:srgbClr val="9CA3AF"/>
                </a:solidFill>
                <a:latin typeface="Noto Sans SC"/>
                <a:ea typeface="Noto Sans SC"/>
                <a:cs typeface="Noto Sans SC"/>
                <a:sym typeface="Noto Sans SC"/>
              </a:rPr>
            </a:br>
            <a:r>
              <a:rPr lang="en-US" b="false" i="false" strike="noStrike" u="none" sz="1300">
                <a:solidFill>
                  <a:srgbClr val="9CA3AF"/>
                </a:solidFill>
                <a:latin typeface="Noto Sans SC"/>
                <a:ea typeface="Noto Sans SC"/>
                <a:cs typeface="Noto Sans SC"/>
                <a:sym typeface="Noto Sans SC"/>
              </a:rPr>
              <a:t>After: 3.80 seconds</a:t>
            </a:r>
            <a:endParaRPr lang="en-US" sz="1100"/>
          </a:p>
        </p:txBody>
      </p:sp>
      <p:sp>
        <p:nvSpPr>
          <p:cNvPr name="AutoShape 12" id="12"/>
          <p:cNvSpPr/>
          <p:nvPr/>
        </p:nvSpPr>
        <p:spPr>
          <a:xfrm rot="0" flipH="false" flipV="false">
            <a:off x="3429000" y="5270500"/>
            <a:ext cx="2286000" cy="889000"/>
          </a:xfrm>
          <a:prstGeom prst="rect">
            <a:avLst/>
          </a:prstGeom>
          <a:noFill/>
          <a:ln w="12700" cmpd="sng" cap="flat">
            <a:noFill/>
            <a:prstDash val="solid"/>
            <a:round/>
          </a:ln>
        </p:spPr>
        <p:txBody>
          <a:bodyPr anchor="ctr" rtlCol="false" anchorCtr="false" vert="horz" wrap="square" lIns="0" rIns="0" tIns="0" bIns="0"/>
          <a:lstStyle/>
          <a:p>
            <a:pPr algn="r" marL="0" indent="0">
              <a:lnSpc>
                <a:spcPct val="100000"/>
              </a:lnSpc>
              <a:defRPr/>
            </a:pPr>
            <a:r>
              <a:rPr lang="en-US" b="false" i="false" strike="noStrike" u="none" sz="1300">
                <a:solidFill>
                  <a:srgbClr val="9CA3AF"/>
                </a:solidFill>
                <a:latin typeface="Noto Sans SC"/>
                <a:ea typeface="Noto Sans SC"/>
                <a:cs typeface="Noto Sans SC"/>
                <a:sym typeface="Noto Sans SC"/>
              </a:rPr>
              <a:t>Performance Boost</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2400">
                <a:solidFill>
                  <a:srgbClr val="8A2BE2"/>
                </a:solidFill>
                <a:latin typeface="Noto Sans SC"/>
                <a:ea typeface="Noto Sans SC"/>
                <a:cs typeface="Noto Sans SC"/>
                <a:sym typeface="Noto Sans SC"/>
              </a:rPr>
              <a:t>+109%</a:t>
            </a:r>
            <a:endParaRPr lang="en-US" sz="1100"/>
          </a:p>
        </p:txBody>
      </p:sp>
      <p:pic>
        <p:nvPicPr>
          <p:cNvPr name="Picture 13" id="13"/>
          <p:cNvPicPr>
            <a:picLocks noChangeAspect="true"/>
          </p:cNvPicPr>
          <p:nvPr/>
        </p:nvPicPr>
        <p:blipFill>
          <a:blip r:embed="rId3"/>
          <a:srcRect l="0" r="0" t="0" b="0"/>
          <a:stretch>
            <a:fillRect/>
          </a:stretch>
        </p:blipFill>
        <p:spPr>
          <a:xfrm rot="0" flipH="false" flipV="false">
            <a:off x="6731000" y="2667000"/>
            <a:ext cx="4064000" cy="2286000"/>
          </a:xfrm>
          <a:prstGeom prst="rect">
            <a:avLst/>
          </a:prstGeom>
          <a:noFill/>
          <a:ln w="25400" cmpd="sng" cap="flat">
            <a:solidFill>
              <a:srgbClr val="8A2BE2">
                <a:alpha val="60000"/>
              </a:srgbClr>
            </a:solidFill>
            <a:prstDash val="solid"/>
            <a:round/>
          </a:ln>
        </p:spPr>
      </p:pic>
      <p:sp>
        <p:nvSpPr>
          <p:cNvPr name="AutoShape 14" id="14"/>
          <p:cNvSpPr/>
          <p:nvPr/>
        </p:nvSpPr>
        <p:spPr>
          <a:xfrm rot="0" flipH="false" flipV="false">
            <a:off x="6731000" y="5143500"/>
            <a:ext cx="4826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D1D5DB"/>
                </a:solidFill>
                <a:latin typeface="Poppins"/>
                <a:ea typeface="Poppins"/>
                <a:cs typeface="Poppins"/>
                <a:sym typeface="Poppins"/>
              </a:rPr>
              <a:t>These breakthrough results were achieved through low-level optimizations of the ROCm open software platform, unlocking the full compute potential of AMD’s RDNA™ 3 architecture for demanding AI workloads.</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7.1. Key Optimization Techniques</a:t>
            </a:r>
            <a:endParaRPr lang="en-US" sz="1100"/>
          </a:p>
        </p:txBody>
      </p:sp>
      <p:sp>
        <p:nvSpPr>
          <p:cNvPr name="AutoShape 4" id="4"/>
          <p:cNvSpPr/>
          <p:nvPr/>
        </p:nvSpPr>
        <p:spPr>
          <a:xfrm rot="0" flipH="false" flipV="false">
            <a:off x="762000" y="2032000"/>
            <a:ext cx="3378200" cy="29210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6" id="6"/>
          <p:cNvSpPr/>
          <p:nvPr/>
        </p:nvSpPr>
        <p:spPr>
          <a:xfrm rot="0" flipH="false" flipV="false">
            <a:off x="1524000" y="2286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8A2BE2"/>
                </a:solidFill>
                <a:latin typeface="Poppins"/>
                <a:ea typeface="Poppins"/>
                <a:cs typeface="Poppins"/>
                <a:sym typeface="Poppins"/>
              </a:rPr>
              <a:t>01. Stable Kernel Fix</a:t>
            </a:r>
            <a:endParaRPr lang="en-US" sz="1100"/>
          </a:p>
        </p:txBody>
      </p:sp>
      <p:cxnSp>
        <p:nvCxnSpPr>
          <p:cNvPr name="Connector 7" id="7"/>
          <p:cNvCxnSpPr/>
          <p:nvPr/>
        </p:nvCxnSpPr>
        <p:spPr>
          <a:xfrm rot="-15211" flipH="false" flipV="false">
            <a:off x="1016014" y="2851150"/>
            <a:ext cx="2870200" cy="12700"/>
          </a:xfrm>
          <a:prstGeom prst="straightConnector1">
            <a:avLst/>
          </a:prstGeom>
          <a:solidFill>
            <a:srgbClr val="DEE0E3">
              <a:alpha val="100000"/>
            </a:srgbClr>
          </a:solidFill>
          <a:ln w="12700" cmpd="sng" cap="flat">
            <a:solidFill>
              <a:srgbClr val="8A2BE2">
                <a:alpha val="30000"/>
              </a:srgbClr>
            </a:solidFill>
            <a:prstDash val="solid"/>
            <a:round/>
            <a:headEnd type="none" w="med" len="med"/>
            <a:tailEnd type="none" w="med" len="med"/>
          </a:ln>
        </p:spPr>
      </p:cxnSp>
      <p:sp>
        <p:nvSpPr>
          <p:cNvPr name="AutoShape 8" id="8"/>
          <p:cNvSpPr/>
          <p:nvPr/>
        </p:nvSpPr>
        <p:spPr>
          <a:xfrm rot="0" flipH="false" flipV="false">
            <a:off x="1016000" y="3048000"/>
            <a:ext cx="28702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80000"/>
                  </a:srgbClr>
                </a:solidFill>
                <a:latin typeface="Poppins"/>
                <a:ea typeface="Poppins"/>
                <a:cs typeface="Poppins"/>
                <a:sym typeface="Poppins"/>
              </a:rPr>
              <a:t>Transitioned from bfloat16 to float32 accumulation to resolve critical crashes in the ROCm Triton `tl.dot` kernel, ensuring rock-solid stability for large-scale matrix multiplications and uninterrupted workload execution.</a:t>
            </a:r>
            <a:endParaRPr lang="en-US" sz="1100"/>
          </a:p>
        </p:txBody>
      </p:sp>
      <p:sp>
        <p:nvSpPr>
          <p:cNvPr name="AutoShape 9" id="9"/>
          <p:cNvSpPr/>
          <p:nvPr/>
        </p:nvSpPr>
        <p:spPr>
          <a:xfrm rot="0" flipH="false" flipV="false">
            <a:off x="4406900" y="2032000"/>
            <a:ext cx="3378200" cy="29210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60900" y="2286000"/>
            <a:ext cx="406400" cy="406400"/>
          </a:xfrm>
          <a:prstGeom prst="rect">
            <a:avLst/>
          </a:prstGeom>
        </p:spPr>
      </p:pic>
      <p:sp>
        <p:nvSpPr>
          <p:cNvPr name="AutoShape 11" id="11"/>
          <p:cNvSpPr/>
          <p:nvPr/>
        </p:nvSpPr>
        <p:spPr>
          <a:xfrm rot="0" flipH="false" flipV="false">
            <a:off x="5168900" y="2286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8A2BE2"/>
                </a:solidFill>
                <a:latin typeface="Poppins"/>
                <a:ea typeface="Poppins"/>
                <a:cs typeface="Poppins"/>
                <a:sym typeface="Poppins"/>
              </a:rPr>
              <a:t>02. Bandwidth Efficiency</a:t>
            </a:r>
            <a:endParaRPr lang="en-US" sz="1100"/>
          </a:p>
        </p:txBody>
      </p:sp>
      <p:cxnSp>
        <p:nvCxnSpPr>
          <p:cNvPr name="Connector 12" id="12"/>
          <p:cNvCxnSpPr/>
          <p:nvPr/>
        </p:nvCxnSpPr>
        <p:spPr>
          <a:xfrm rot="-15211" flipH="false" flipV="false">
            <a:off x="4660914" y="2851150"/>
            <a:ext cx="2870200" cy="12700"/>
          </a:xfrm>
          <a:prstGeom prst="straightConnector1">
            <a:avLst/>
          </a:prstGeom>
          <a:solidFill>
            <a:srgbClr val="DEE0E3">
              <a:alpha val="100000"/>
            </a:srgbClr>
          </a:solidFill>
          <a:ln w="12700" cmpd="sng" cap="flat">
            <a:solidFill>
              <a:srgbClr val="8A2BE2">
                <a:alpha val="30000"/>
              </a:srgbClr>
            </a:solidFill>
            <a:prstDash val="solid"/>
            <a:round/>
            <a:headEnd type="none" w="med" len="med"/>
            <a:tailEnd type="none" w="med" len="med"/>
          </a:ln>
        </p:spPr>
      </p:cxnSp>
      <p:sp>
        <p:nvSpPr>
          <p:cNvPr name="AutoShape 13" id="13"/>
          <p:cNvSpPr/>
          <p:nvPr/>
        </p:nvSpPr>
        <p:spPr>
          <a:xfrm rot="0" flipH="false" flipV="false">
            <a:off x="4660900" y="3048000"/>
            <a:ext cx="28702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80000"/>
                  </a:srgbClr>
                </a:solidFill>
                <a:latin typeface="Poppins"/>
                <a:ea typeface="Poppins"/>
                <a:cs typeface="Poppins"/>
                <a:sym typeface="Poppins"/>
              </a:rPr>
              <a:t>Increased AWQ block size from 32 to 128 for large matrices (N=27648). This adjustment directly improved memory bandwidth efficiency by</a:t>
            </a:r>
            <a:r>
              <a:rPr lang="en-US" b="true" i="false" strike="noStrike" u="none" sz="1400">
                <a:solidFill>
                  <a:srgbClr val="8A2BE2"/>
                </a:solidFill>
                <a:latin typeface="Poppins"/>
                <a:ea typeface="Poppins"/>
                <a:cs typeface="Poppins"/>
                <a:sym typeface="Poppins"/>
              </a:rPr>
              <a:t>+10%</a:t>
            </a:r>
            <a:r>
              <a:rPr lang="en-US" b="false" i="false" strike="noStrike" u="none" sz="1400">
                <a:solidFill>
                  <a:srgbClr val="FFFFFF">
                    <a:alpha val="80000"/>
                  </a:srgbClr>
                </a:solidFill>
                <a:latin typeface="Poppins"/>
                <a:ea typeface="Poppins"/>
                <a:cs typeface="Poppins"/>
                <a:sym typeface="Poppins"/>
              </a:rPr>
              <a:t>, significantly reducing data transfer bottlenecks.</a:t>
            </a:r>
            <a:endParaRPr lang="en-US" sz="1100"/>
          </a:p>
        </p:txBody>
      </p:sp>
      <p:sp>
        <p:nvSpPr>
          <p:cNvPr name="AutoShape 14" id="14"/>
          <p:cNvSpPr/>
          <p:nvPr/>
        </p:nvSpPr>
        <p:spPr>
          <a:xfrm rot="0" flipH="false" flipV="false">
            <a:off x="8051800" y="2032000"/>
            <a:ext cx="3378200" cy="29210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05800" y="2286000"/>
            <a:ext cx="406400" cy="406400"/>
          </a:xfrm>
          <a:prstGeom prst="rect">
            <a:avLst/>
          </a:prstGeom>
        </p:spPr>
      </p:pic>
      <p:sp>
        <p:nvSpPr>
          <p:cNvPr name="AutoShape 16" id="16"/>
          <p:cNvSpPr/>
          <p:nvPr/>
        </p:nvSpPr>
        <p:spPr>
          <a:xfrm rot="0" flipH="false" flipV="false">
            <a:off x="8813800" y="2286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8A2BE2"/>
                </a:solidFill>
                <a:latin typeface="Poppins"/>
                <a:ea typeface="Poppins"/>
                <a:cs typeface="Poppins"/>
                <a:sym typeface="Poppins"/>
              </a:rPr>
              <a:t>03. Triton Kernel Tuning</a:t>
            </a:r>
            <a:endParaRPr lang="en-US" sz="1100"/>
          </a:p>
        </p:txBody>
      </p:sp>
      <p:cxnSp>
        <p:nvCxnSpPr>
          <p:cNvPr name="Connector 17" id="17"/>
          <p:cNvCxnSpPr/>
          <p:nvPr/>
        </p:nvCxnSpPr>
        <p:spPr>
          <a:xfrm rot="-15211" flipH="false" flipV="false">
            <a:off x="8305814" y="2851150"/>
            <a:ext cx="2870200" cy="12700"/>
          </a:xfrm>
          <a:prstGeom prst="straightConnector1">
            <a:avLst/>
          </a:prstGeom>
          <a:solidFill>
            <a:srgbClr val="DEE0E3">
              <a:alpha val="100000"/>
            </a:srgbClr>
          </a:solidFill>
          <a:ln w="12700" cmpd="sng" cap="flat">
            <a:solidFill>
              <a:srgbClr val="8A2BE2">
                <a:alpha val="30000"/>
              </a:srgbClr>
            </a:solidFill>
            <a:prstDash val="solid"/>
            <a:round/>
            <a:headEnd type="none" w="med" len="med"/>
            <a:tailEnd type="none" w="med" len="med"/>
          </a:ln>
        </p:spPr>
      </p:cxnSp>
      <p:sp>
        <p:nvSpPr>
          <p:cNvPr name="AutoShape 18" id="18"/>
          <p:cNvSpPr/>
          <p:nvPr/>
        </p:nvSpPr>
        <p:spPr>
          <a:xfrm rot="0" flipH="false" flipV="false">
            <a:off x="8305800" y="3048000"/>
            <a:ext cx="28702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80000"/>
                  </a:srgbClr>
                </a:solidFill>
                <a:latin typeface="Poppins"/>
                <a:ea typeface="Poppins"/>
                <a:cs typeface="Poppins"/>
                <a:sym typeface="Poppins"/>
              </a:rPr>
              <a:t>Synergized block size tuning with fp32 accumulation to achieve a decode speed of</a:t>
            </a:r>
            <a:r>
              <a:rPr lang="en-US" b="true" i="false" strike="noStrike" u="none" sz="1400">
                <a:solidFill>
                  <a:srgbClr val="8A2BE2"/>
                </a:solidFill>
                <a:latin typeface="Poppins"/>
                <a:ea typeface="Poppins"/>
                <a:cs typeface="Poppins"/>
                <a:sym typeface="Poppins"/>
              </a:rPr>
              <a:t>13.7 tok/s</a:t>
            </a:r>
            <a:r>
              <a:rPr lang="en-US" b="false" i="false" strike="noStrike" u="none" sz="1400">
                <a:solidFill>
                  <a:srgbClr val="FFFFFF">
                    <a:alpha val="80000"/>
                  </a:srgbClr>
                </a:solidFill>
                <a:latin typeface="Poppins"/>
                <a:ea typeface="Poppins"/>
                <a:cs typeface="Poppins"/>
                <a:sym typeface="Poppins"/>
              </a:rPr>
              <a:t>. This optimized path is now the default in our vLLM build, replacing the slower FP16 matmul baseline.</a:t>
            </a:r>
            <a:endParaRPr lang="en-US" sz="1100"/>
          </a:p>
        </p:txBody>
      </p:sp>
      <p:sp>
        <p:nvSpPr>
          <p:cNvPr name="AutoShape 19" id="19"/>
          <p:cNvSpPr/>
          <p:nvPr/>
        </p:nvSpPr>
        <p:spPr>
          <a:xfrm rot="0" flipH="false" flipV="false">
            <a:off x="762000" y="5461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FFFFFF">
                    <a:alpha val="70196"/>
                  </a:srgbClr>
                </a:solidFill>
                <a:latin typeface="Poppins"/>
                <a:ea typeface="Poppins"/>
                <a:cs typeface="Poppins"/>
                <a:sym typeface="Poppins"/>
              </a:rPr>
              <a:t>These optimizations demonstrate our deep dive into the hardware-software stack, leveraging low-level kernel tuning to unlock the full potential of the architecture for state-of-the-art inference performance.</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8. Hardware Cognition: Understanding the RDNA3 Roofline Model</a:t>
            </a:r>
            <a:endParaRPr lang="en-US" sz="1100"/>
          </a:p>
        </p:txBody>
      </p:sp>
      <p:sp>
        <p:nvSpPr>
          <p:cNvPr name="AutoShape 4" id="4"/>
          <p:cNvSpPr/>
          <p:nvPr/>
        </p:nvSpPr>
        <p:spPr>
          <a:xfrm rot="0" flipH="false" flipV="false">
            <a:off x="762000" y="1651000"/>
            <a:ext cx="5334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solidFill>
                <a:latin typeface="Poppins"/>
                <a:ea typeface="Poppins"/>
                <a:cs typeface="Poppins"/>
                <a:sym typeface="Poppins"/>
              </a:rPr>
              <a:t>Effective optimization starts with understanding hardware limits. We use the Roofline model to analyze the Radeon PRO W7900, identifying bottlenecks and opportunities for AI text generation.</a:t>
            </a:r>
            <a:endParaRPr lang="en-US" sz="1100"/>
          </a:p>
        </p:txBody>
      </p:sp>
      <p:sp>
        <p:nvSpPr>
          <p:cNvPr name="AutoShape 5" id="5"/>
          <p:cNvSpPr/>
          <p:nvPr/>
        </p:nvSpPr>
        <p:spPr>
          <a:xfrm rot="0" flipH="false" flipV="false">
            <a:off x="762000" y="2730500"/>
            <a:ext cx="5334000" cy="14605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895600"/>
            <a:ext cx="5016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A78BFA"/>
                </a:solidFill>
                <a:latin typeface="Poppins"/>
                <a:ea typeface="Poppins"/>
                <a:cs typeface="Poppins"/>
                <a:sym typeface="Poppins"/>
              </a:rPr>
              <a:t>Decode is Bandwidth-Bound</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D1D5DB"/>
                </a:solidFill>
                <a:latin typeface="Poppins"/>
                <a:ea typeface="Poppins"/>
                <a:cs typeface="Poppins"/>
                <a:sym typeface="Poppins"/>
              </a:rPr>
              <a:t>Text generation’s decode phase (M=1) cannot utilize the GPU’s WMMA cores, making it strictly memory-bound. The theoretical throughput ceiling for this hardware is approximately 54 tokens/s.</a:t>
            </a:r>
            <a:endParaRPr lang="en-US" sz="1100"/>
          </a:p>
        </p:txBody>
      </p:sp>
      <p:sp>
        <p:nvSpPr>
          <p:cNvPr name="AutoShape 7" id="7"/>
          <p:cNvSpPr/>
          <p:nvPr/>
        </p:nvSpPr>
        <p:spPr>
          <a:xfrm rot="0" flipH="false" flipV="false">
            <a:off x="762000" y="4572000"/>
            <a:ext cx="5334000" cy="14605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4737100"/>
            <a:ext cx="5016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A78BFA"/>
                </a:solidFill>
                <a:latin typeface="Poppins"/>
                <a:ea typeface="Poppins"/>
                <a:cs typeface="Poppins"/>
                <a:sym typeface="Poppins"/>
              </a:rPr>
              <a:t>Pushing the Hardware Limits</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D1D5DB"/>
                </a:solidFill>
                <a:latin typeface="Poppins"/>
                <a:ea typeface="Poppins"/>
                <a:cs typeface="Poppins"/>
                <a:sym typeface="Poppins"/>
              </a:rPr>
              <a:t>Post-optimization, we achieved 13.7 tokens/s, utilizing 25% of the theoretical ceiling (up from 23%). This demonstrates significant progress toward the physical limits of the RDNA3 architecture.</a:t>
            </a:r>
            <a:endParaRPr lang="en-US" sz="1100"/>
          </a:p>
        </p:txBody>
      </p:sp>
      <p:pic>
        <p:nvPicPr>
          <p:cNvPr name="Picture 9" id="9"/>
          <p:cNvPicPr>
            <a:picLocks noChangeAspect="true"/>
          </p:cNvPicPr>
          <p:nvPr/>
        </p:nvPicPr>
        <p:blipFill>
          <a:blip r:embed="rId3"/>
          <a:srcRect l="178" r="178" t="0" b="0"/>
          <a:stretch>
            <a:fillRect/>
          </a:stretch>
        </p:blipFill>
        <p:spPr>
          <a:xfrm rot="0" flipH="false" flipV="false">
            <a:off x="6731000" y="1651000"/>
            <a:ext cx="4318000" cy="2768600"/>
          </a:xfrm>
          <a:prstGeom prst="rect">
            <a:avLst/>
          </a:prstGeom>
          <a:noFill/>
          <a:ln w="25400" cmpd="sng" cap="flat">
            <a:solidFill>
              <a:srgbClr val="8A2BE2">
                <a:alpha val="60000"/>
              </a:srgbClr>
            </a:solidFill>
            <a:prstDash val="solid"/>
            <a:round/>
          </a:ln>
        </p:spPr>
      </p:pic>
      <p:sp>
        <p:nvSpPr>
          <p:cNvPr name="AutoShape 10" id="10"/>
          <p:cNvSpPr/>
          <p:nvPr/>
        </p:nvSpPr>
        <p:spPr>
          <a:xfrm rot="0" flipH="false" flipV="false">
            <a:off x="6731000" y="4699000"/>
            <a:ext cx="1714500" cy="1397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731000" y="4826000"/>
            <a:ext cx="1714500" cy="1206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A78BFA"/>
                </a:solidFill>
                <a:latin typeface="Poppins"/>
                <a:ea typeface="Poppins"/>
                <a:cs typeface="Poppins"/>
                <a:sym typeface="Poppins"/>
              </a:rPr>
              <a:t>FP16 / BF16 WMMA</a:t>
            </a:r>
            <a:r>
              <a:rPr lang="en-US" b="false" i="false" strike="noStrike" u="none" sz="1600">
                <a:solidFill>
                  <a:srgbClr val="1F2329"/>
                </a:solidFill>
                <a:latin typeface="Poppins"/>
                <a:ea typeface="Poppins"/>
                <a:cs typeface="Poppins"/>
                <a:sym typeface="Poppins"/>
              </a:rPr>
              <a:t/>
            </a:r>
            <a:endParaRPr lang="en-US" sz="1100"/>
          </a:p>
          <a:p>
            <a:pPr algn="ctr" marL="0" indent="0">
              <a:lnSpc>
                <a:spcPct val="100000"/>
              </a:lnSpc>
            </a:pPr>
            <a:r>
              <a:rPr lang="en-US" b="true" i="false" strike="noStrike" u="none" sz="2400">
                <a:solidFill>
                  <a:srgbClr val="FFFFFF"/>
                </a:solidFill>
                <a:latin typeface="Poppins"/>
                <a:ea typeface="Poppins"/>
                <a:cs typeface="Poppins"/>
                <a:sym typeface="Poppins"/>
              </a:rPr>
              <a:t>123</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9CA3AF"/>
                </a:solidFill>
                <a:latin typeface="Poppins"/>
                <a:ea typeface="Poppins"/>
                <a:cs typeface="Poppins"/>
                <a:sym typeface="Poppins"/>
              </a:rPr>
              <a:t>TFLOPS</a:t>
            </a:r>
          </a:p>
        </p:txBody>
      </p:sp>
      <p:sp>
        <p:nvSpPr>
          <p:cNvPr name="AutoShape 12" id="12"/>
          <p:cNvSpPr/>
          <p:nvPr/>
        </p:nvSpPr>
        <p:spPr>
          <a:xfrm rot="0" flipH="false" flipV="false">
            <a:off x="8534400" y="4699000"/>
            <a:ext cx="1714500" cy="1397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534400" y="4826000"/>
            <a:ext cx="1714500" cy="1206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A78BFA"/>
                </a:solidFill>
                <a:latin typeface="Poppins"/>
                <a:ea typeface="Poppins"/>
                <a:cs typeface="Poppins"/>
                <a:sym typeface="Poppins"/>
              </a:rPr>
              <a:t>INT4 WMMA</a:t>
            </a:r>
            <a:r>
              <a:rPr lang="en-US" b="false" i="false" strike="noStrike" u="none" sz="1600">
                <a:solidFill>
                  <a:srgbClr val="1F2329"/>
                </a:solidFill>
                <a:latin typeface="Poppins"/>
                <a:ea typeface="Poppins"/>
                <a:cs typeface="Poppins"/>
                <a:sym typeface="Poppins"/>
              </a:rPr>
              <a:t/>
            </a:r>
            <a:endParaRPr lang="en-US" sz="1100"/>
          </a:p>
          <a:p>
            <a:pPr algn="ctr" marL="0" indent="0">
              <a:lnSpc>
                <a:spcPct val="100000"/>
              </a:lnSpc>
            </a:pPr>
            <a:r>
              <a:rPr lang="en-US" b="true" i="false" strike="noStrike" u="none" sz="2400">
                <a:solidFill>
                  <a:srgbClr val="FFFFFF"/>
                </a:solidFill>
                <a:latin typeface="Poppins"/>
                <a:ea typeface="Poppins"/>
                <a:cs typeface="Poppins"/>
                <a:sym typeface="Poppins"/>
              </a:rPr>
              <a:t>245</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9CA3AF"/>
                </a:solidFill>
                <a:latin typeface="Poppins"/>
                <a:ea typeface="Poppins"/>
                <a:cs typeface="Poppins"/>
                <a:sym typeface="Poppins"/>
              </a:rPr>
              <a:t>TOPS</a:t>
            </a:r>
          </a:p>
        </p:txBody>
      </p:sp>
      <p:sp>
        <p:nvSpPr>
          <p:cNvPr name="AutoShape 14" id="14"/>
          <p:cNvSpPr/>
          <p:nvPr/>
        </p:nvSpPr>
        <p:spPr>
          <a:xfrm rot="0" flipH="false" flipV="false">
            <a:off x="10350500" y="4699000"/>
            <a:ext cx="1714500" cy="1397000"/>
          </a:xfrm>
          <a:prstGeom prst="roundRect">
            <a:avLst>
              <a:gd name="adj" fmla="val 0"/>
            </a:avLst>
          </a:prstGeom>
          <a:solidFill>
            <a:srgbClr val="FFFFFF">
              <a:alpha val="8000"/>
            </a:srgbClr>
          </a:solidFill>
          <a:ln w="12700" cmpd="sng" cap="flat">
            <a:solidFill>
              <a:srgbClr val="FFFFFF">
                <a:alpha val="1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10350500" y="4826000"/>
            <a:ext cx="1714500" cy="12065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A78BFA"/>
                </a:solidFill>
                <a:latin typeface="Poppins"/>
                <a:ea typeface="Poppins"/>
                <a:cs typeface="Poppins"/>
                <a:sym typeface="Poppins"/>
              </a:rPr>
              <a:t>FP8 Support</a:t>
            </a:r>
            <a:r>
              <a:rPr lang="en-US" b="false" i="false" strike="noStrike" u="none" sz="1600">
                <a:solidFill>
                  <a:srgbClr val="1F2329"/>
                </a:solidFill>
                <a:latin typeface="Poppins"/>
                <a:ea typeface="Poppins"/>
                <a:cs typeface="Poppins"/>
                <a:sym typeface="Poppins"/>
              </a:rPr>
              <a:t/>
            </a:r>
            <a:endParaRPr lang="en-US" sz="1100"/>
          </a:p>
          <a:p>
            <a:pPr algn="ctr" marL="0" indent="0">
              <a:lnSpc>
                <a:spcPct val="100000"/>
              </a:lnSpc>
            </a:pPr>
            <a:r>
              <a:rPr lang="en-US" b="true" i="false" strike="noStrike" u="none" sz="2000">
                <a:solidFill>
                  <a:srgbClr val="F87171"/>
                </a:solidFill>
                <a:latin typeface="Poppins"/>
                <a:ea typeface="Poppins"/>
                <a:cs typeface="Poppins"/>
                <a:sym typeface="Poppins"/>
              </a:rPr>
              <a:t>N/A</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9CA3AF"/>
                </a:solidFill>
                <a:latin typeface="Poppins"/>
                <a:ea typeface="Poppins"/>
                <a:cs typeface="Poppins"/>
                <a:sym typeface="Poppins"/>
              </a:rPr>
              <a:t>RDNA3 Arch</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9. VRAM Budgeting: Efficiently Managing 48 GB</a:t>
            </a:r>
            <a:endParaRPr lang="en-US" sz="1100"/>
          </a:p>
        </p:txBody>
      </p:sp>
      <p:sp>
        <p:nvSpPr>
          <p:cNvPr name="AutoShape 4" id="4"/>
          <p:cNvSpPr/>
          <p:nvPr/>
        </p:nvSpPr>
        <p:spPr>
          <a:xfrm rot="0" flipH="false" flipV="false">
            <a:off x="762000" y="1524000"/>
            <a:ext cx="5588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alpha val="90196"/>
                  </a:srgbClr>
                </a:solidFill>
                <a:latin typeface="Poppins"/>
                <a:ea typeface="Poppins"/>
                <a:cs typeface="Poppins"/>
                <a:sym typeface="Poppins"/>
              </a:rPr>
              <a:t>To run multiple large models concurrently on a single GPU, strategic VRAM allocation is critical. Our 48 GB budgeting strategy ensures all components coexist harmoniously, eliminating OOM (Out of Memory) errors and maintaining high throughput.</a:t>
            </a:r>
            <a:endParaRPr lang="en-US" sz="1100"/>
          </a:p>
        </p:txBody>
      </p:sp>
      <p:sp>
        <p:nvSpPr>
          <p:cNvPr name="AutoShape 5" id="5"/>
          <p:cNvSpPr/>
          <p:nvPr/>
        </p:nvSpPr>
        <p:spPr>
          <a:xfrm rot="0" flipH="false" flipV="false">
            <a:off x="762000" y="2667000"/>
            <a:ext cx="5588000" cy="10795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2794000"/>
            <a:ext cx="520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8A2BE2"/>
                </a:solidFill>
                <a:latin typeface="Poppins"/>
                <a:ea typeface="Poppins"/>
                <a:cs typeface="Poppins"/>
                <a:sym typeface="Poppins"/>
              </a:rPr>
              <a:t>01. Resident Core (vLLM Qwen2.5-VL-32B)</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74902"/>
                  </a:srgbClr>
                </a:solidFill>
                <a:latin typeface="Poppins"/>
                <a:ea typeface="Poppins"/>
                <a:cs typeface="Poppins"/>
                <a:sym typeface="Poppins"/>
              </a:rPr>
              <a:t>~32 GB Utilized (72% of capacity). Includes model weights (20.7G), vision encoder (~2G), and a 36k token KV cache (~9G). Kept persistently in VRAM for ultra-low latency inference.</a:t>
            </a:r>
            <a:endParaRPr lang="en-US" sz="1100"/>
          </a:p>
        </p:txBody>
      </p:sp>
      <p:sp>
        <p:nvSpPr>
          <p:cNvPr name="AutoShape 7" id="7"/>
          <p:cNvSpPr/>
          <p:nvPr/>
        </p:nvSpPr>
        <p:spPr>
          <a:xfrm rot="0" flipH="false" flipV="false">
            <a:off x="762000" y="3873500"/>
            <a:ext cx="5588000" cy="10795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4000500"/>
            <a:ext cx="520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8A2BE2"/>
                </a:solidFill>
                <a:latin typeface="Poppins"/>
                <a:ea typeface="Poppins"/>
                <a:cs typeface="Poppins"/>
                <a:sym typeface="Poppins"/>
              </a:rPr>
              <a:t>02. On-Demand (ComfyUI Image Generation)</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74902"/>
                  </a:srgbClr>
                </a:solidFill>
                <a:latin typeface="Poppins"/>
                <a:ea typeface="Poppins"/>
                <a:cs typeface="Poppins"/>
                <a:sym typeface="Poppins"/>
              </a:rPr>
              <a:t>~8 GB Allocated dynamically. The image pipeline is loaded only when needed for generation tasks and immediately released afterward to free up VRAM for other processes.</a:t>
            </a:r>
            <a:endParaRPr lang="en-US" sz="1100"/>
          </a:p>
        </p:txBody>
      </p:sp>
      <p:sp>
        <p:nvSpPr>
          <p:cNvPr name="AutoShape 9" id="9"/>
          <p:cNvSpPr/>
          <p:nvPr/>
        </p:nvSpPr>
        <p:spPr>
          <a:xfrm rot="0" flipH="false" flipV="false">
            <a:off x="762000" y="5080000"/>
            <a:ext cx="5588000" cy="1079500"/>
          </a:xfrm>
          <a:prstGeom prst="roundRect">
            <a:avLst>
              <a:gd name="adj" fmla="val 0"/>
            </a:avLst>
          </a:prstGeom>
          <a:solidFill>
            <a:srgbClr val="8A2BE2">
              <a:alpha val="15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952500" y="5207000"/>
            <a:ext cx="520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8A2BE2"/>
                </a:solidFill>
                <a:latin typeface="Poppins"/>
                <a:ea typeface="Poppins"/>
                <a:cs typeface="Poppins"/>
                <a:sym typeface="Poppins"/>
              </a:rPr>
              <a:t>03. CPU Offloading (Speech &amp; Audio)</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74902"/>
                  </a:srgbClr>
                </a:solidFill>
                <a:latin typeface="Poppins"/>
                <a:ea typeface="Poppins"/>
                <a:cs typeface="Poppins"/>
                <a:sym typeface="Poppins"/>
              </a:rPr>
              <a:t>0 GB VRAM Usage. TTS/STT workloads are fully delegated to CPU cores, completely isolating audio processing from GPU memory contention.</a:t>
            </a:r>
            <a:endParaRPr lang="en-US" sz="1100"/>
          </a:p>
        </p:txBody>
      </p:sp>
      <p:pic>
        <p:nvPicPr>
          <p:cNvPr name="Picture 11" id="11"/>
          <p:cNvPicPr>
            <a:picLocks noChangeAspect="true"/>
          </p:cNvPicPr>
          <p:nvPr/>
        </p:nvPicPr>
        <p:blipFill>
          <a:blip r:embed="rId3"/>
          <a:srcRect l="0" r="0" t="3125" b="3125"/>
          <a:stretch>
            <a:fillRect/>
          </a:stretch>
        </p:blipFill>
        <p:spPr>
          <a:xfrm rot="0" flipH="false" flipV="false">
            <a:off x="6604000" y="1968500"/>
            <a:ext cx="5080000" cy="2857500"/>
          </a:xfrm>
          <a:prstGeom prst="rect">
            <a:avLst/>
          </a:prstGeom>
          <a:noFill/>
          <a:ln w="25400" cmpd="sng" cap="flat">
            <a:solidFill>
              <a:srgbClr val="8A2BE2">
                <a:alpha val="30000"/>
              </a:srgbClr>
            </a:solidFill>
            <a:prstDash val="solid"/>
            <a:round/>
          </a:ln>
        </p:spPr>
      </p:pic>
      <p:sp>
        <p:nvSpPr>
          <p:cNvPr name="AutoShape 12" id="12"/>
          <p:cNvSpPr/>
          <p:nvPr/>
        </p:nvSpPr>
        <p:spPr>
          <a:xfrm rot="0" flipH="false" flipV="false">
            <a:off x="6604000" y="5080000"/>
            <a:ext cx="5080000" cy="1270000"/>
          </a:xfrm>
          <a:prstGeom prst="roundRect">
            <a:avLst>
              <a:gd name="adj" fmla="val 0"/>
            </a:avLst>
          </a:prstGeom>
          <a:solidFill>
            <a:srgbClr val="10B981">
              <a:alpha val="12000"/>
            </a:srgbClr>
          </a:solidFill>
          <a:ln w="12700" cmpd="sng" cap="flat">
            <a:solidFill>
              <a:srgbClr val="10B981">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794500" y="5207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34D399"/>
                </a:solidFill>
                <a:latin typeface="Poppins"/>
                <a:ea typeface="Poppins"/>
                <a:cs typeface="Poppins"/>
                <a:sym typeface="Poppins"/>
              </a:rPr>
              <a:t>Total: 40 GB / 48 GB (✅ Under Limit)</a:t>
            </a:r>
            <a:r>
              <a:rPr lang="en-US" b="false" i="false" strike="noStrike" u="none" sz="1600">
                <a:solidFill>
                  <a:srgbClr val="1F2329"/>
                </a:solidFill>
                <a:latin typeface="Poppins"/>
                <a:ea typeface="Poppins"/>
                <a:cs typeface="Poppins"/>
                <a:sym typeface="Poppins"/>
              </a:rPr>
              <a:t/>
            </a:r>
            <a:br>
              <a:rPr lang="en-US" b="false" i="false" strike="noStrike" u="none" sz="1600">
                <a:solidFill>
                  <a:srgbClr val="1F2329"/>
                </a:solidFill>
                <a:latin typeface="Poppins"/>
                <a:ea typeface="Poppins"/>
                <a:cs typeface="Poppins"/>
                <a:sym typeface="Poppins"/>
              </a:rPr>
            </a:br>
            <a:r>
              <a:rPr lang="en-US" b="false" i="false" strike="noStrike" u="none" sz="1300">
                <a:solidFill>
                  <a:srgbClr val="FFFFFF">
                    <a:alpha val="74902"/>
                  </a:srgbClr>
                </a:solidFill>
                <a:latin typeface="Poppins"/>
                <a:ea typeface="Poppins"/>
                <a:cs typeface="Poppins"/>
                <a:sym typeface="Poppins"/>
              </a:rPr>
              <a:t>This "resident + on-demand" model guarantees headroom for peak loads, enabling seamless parallel execution of multimodal AI workflows without throttling or crashes.</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10. End-to-End Performance: A Complete Workflow</a:t>
            </a:r>
            <a:endParaRPr lang="en-US" sz="1100"/>
          </a:p>
        </p:txBody>
      </p:sp>
      <p:sp>
        <p:nvSpPr>
          <p:cNvPr name="AutoShape 4" id="4"/>
          <p:cNvSpPr/>
          <p:nvPr/>
        </p:nvSpPr>
        <p:spPr>
          <a:xfrm rot="0" flipH="false" flipV="false">
            <a:off x="762000" y="1651000"/>
            <a:ext cx="10668000" cy="8890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778000"/>
            <a:ext cx="1028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E6E6FF"/>
                </a:solidFill>
                <a:latin typeface="Poppins"/>
                <a:ea typeface="Poppins"/>
                <a:cs typeface="Poppins"/>
                <a:sym typeface="Poppins"/>
              </a:rPr>
              <a:t>Task: "Draw an anime girl with silver hair."</a:t>
            </a:r>
            <a:r>
              <a:rPr lang="en-US" b="false" i="false" strike="noStrike" u="none" sz="1400">
                <a:solidFill>
                  <a:srgbClr val="C8C8DC"/>
                </a:solidFill>
                <a:latin typeface="Poppins"/>
                <a:ea typeface="Poppins"/>
                <a:cs typeface="Poppins"/>
                <a:sym typeface="Poppins"/>
              </a:rPr>
              <a:t>— A complete generation process from raw user intent to a high-quality visual output, orchestrated seamlessly on a single local GPU.</a:t>
            </a:r>
            <a:endParaRPr lang="en-US" sz="1100"/>
          </a:p>
        </p:txBody>
      </p:sp>
      <p:sp>
        <p:nvSpPr>
          <p:cNvPr name="AutoShape 6" id="6"/>
          <p:cNvSpPr/>
          <p:nvPr/>
        </p:nvSpPr>
        <p:spPr>
          <a:xfrm rot="0" flipH="false" flipV="false">
            <a:off x="762000" y="2794000"/>
            <a:ext cx="2032000" cy="18415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984500"/>
            <a:ext cx="304800" cy="304800"/>
          </a:xfrm>
          <a:prstGeom prst="rect">
            <a:avLst/>
          </a:prstGeom>
        </p:spPr>
      </p:pic>
      <p:sp>
        <p:nvSpPr>
          <p:cNvPr name="AutoShape 8" id="8"/>
          <p:cNvSpPr/>
          <p:nvPr/>
        </p:nvSpPr>
        <p:spPr>
          <a:xfrm rot="0" flipH="false" flipV="false">
            <a:off x="1333500" y="29845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01. Input</a:t>
            </a:r>
            <a:endParaRPr lang="en-US" sz="1100"/>
          </a:p>
        </p:txBody>
      </p:sp>
      <p:sp>
        <p:nvSpPr>
          <p:cNvPr name="AutoShape 9" id="9"/>
          <p:cNvSpPr/>
          <p:nvPr/>
        </p:nvSpPr>
        <p:spPr>
          <a:xfrm rot="0" flipH="false" flipV="false">
            <a:off x="952500" y="3429000"/>
            <a:ext cx="171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B4B4C8"/>
                </a:solidFill>
                <a:latin typeface="Poppins"/>
                <a:ea typeface="Poppins"/>
                <a:cs typeface="Poppins"/>
                <a:sym typeface="Poppins"/>
              </a:rPr>
              <a:t>User initiates the process by entering a natural language creative command into the interface.</a:t>
            </a:r>
            <a:endParaRPr lang="en-US" sz="1100"/>
          </a:p>
        </p:txBody>
      </p:sp>
      <p:sp>
        <p:nvSpPr>
          <p:cNvPr name="AutoShape 10" id="10"/>
          <p:cNvSpPr/>
          <p:nvPr/>
        </p:nvSpPr>
        <p:spPr>
          <a:xfrm rot="0" flipH="false" flipV="false">
            <a:off x="2921000" y="2794000"/>
            <a:ext cx="2032000" cy="18415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111500" y="2984500"/>
            <a:ext cx="304800" cy="304800"/>
          </a:xfrm>
          <a:prstGeom prst="rect">
            <a:avLst/>
          </a:prstGeom>
        </p:spPr>
      </p:pic>
      <p:sp>
        <p:nvSpPr>
          <p:cNvPr name="AutoShape 12" id="12"/>
          <p:cNvSpPr/>
          <p:nvPr/>
        </p:nvSpPr>
        <p:spPr>
          <a:xfrm rot="0" flipH="false" flipV="false">
            <a:off x="3492500" y="29845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02. Plan (0.5s)</a:t>
            </a:r>
            <a:endParaRPr lang="en-US" sz="1100"/>
          </a:p>
        </p:txBody>
      </p:sp>
      <p:sp>
        <p:nvSpPr>
          <p:cNvPr name="AutoShape 13" id="13"/>
          <p:cNvSpPr/>
          <p:nvPr/>
        </p:nvSpPr>
        <p:spPr>
          <a:xfrm rot="0" flipH="false" flipV="false">
            <a:off x="3111500" y="3429000"/>
            <a:ext cx="171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B4B4C8"/>
                </a:solidFill>
                <a:latin typeface="Poppins"/>
                <a:ea typeface="Poppins"/>
                <a:cs typeface="Poppins"/>
                <a:sym typeface="Poppins"/>
              </a:rPr>
              <a:t>Supervisor's Planner parses the intent and automatically generates a task DAG for execution.</a:t>
            </a:r>
            <a:endParaRPr lang="en-US" sz="1100"/>
          </a:p>
        </p:txBody>
      </p:sp>
      <p:sp>
        <p:nvSpPr>
          <p:cNvPr name="AutoShape 14" id="14"/>
          <p:cNvSpPr/>
          <p:nvPr/>
        </p:nvSpPr>
        <p:spPr>
          <a:xfrm rot="0" flipH="false" flipV="false">
            <a:off x="5080000" y="2794000"/>
            <a:ext cx="2032000" cy="18415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5270500" y="2984500"/>
            <a:ext cx="304800" cy="304800"/>
          </a:xfrm>
          <a:prstGeom prst="rect">
            <a:avLst/>
          </a:prstGeom>
        </p:spPr>
      </p:pic>
      <p:sp>
        <p:nvSpPr>
          <p:cNvPr name="AutoShape 16" id="16"/>
          <p:cNvSpPr/>
          <p:nvPr/>
        </p:nvSpPr>
        <p:spPr>
          <a:xfrm rot="0" flipH="false" flipV="false">
            <a:off x="5651500" y="29845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03. Prompt (10s)</a:t>
            </a:r>
            <a:endParaRPr lang="en-US" sz="1100"/>
          </a:p>
        </p:txBody>
      </p:sp>
      <p:sp>
        <p:nvSpPr>
          <p:cNvPr name="AutoShape 17" id="17"/>
          <p:cNvSpPr/>
          <p:nvPr/>
        </p:nvSpPr>
        <p:spPr>
          <a:xfrm rot="0" flipH="false" flipV="false">
            <a:off x="5270500" y="3429000"/>
            <a:ext cx="171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B4B4C8"/>
                </a:solidFill>
                <a:latin typeface="Poppins"/>
                <a:ea typeface="Poppins"/>
                <a:cs typeface="Poppins"/>
                <a:sym typeface="Poppins"/>
              </a:rPr>
              <a:t>LLMForeman rewrites and enhances the prompt to professional, model-optimized standards.</a:t>
            </a:r>
            <a:endParaRPr lang="en-US" sz="1100"/>
          </a:p>
        </p:txBody>
      </p:sp>
      <p:sp>
        <p:nvSpPr>
          <p:cNvPr name="AutoShape 18" id="18"/>
          <p:cNvSpPr/>
          <p:nvPr/>
        </p:nvSpPr>
        <p:spPr>
          <a:xfrm rot="0" flipH="false" flipV="false">
            <a:off x="7239000" y="2794000"/>
            <a:ext cx="2032000" cy="18415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7429500" y="2984500"/>
            <a:ext cx="304800" cy="304800"/>
          </a:xfrm>
          <a:prstGeom prst="rect">
            <a:avLst/>
          </a:prstGeom>
        </p:spPr>
      </p:pic>
      <p:sp>
        <p:nvSpPr>
          <p:cNvPr name="AutoShape 20" id="20"/>
          <p:cNvSpPr/>
          <p:nvPr/>
        </p:nvSpPr>
        <p:spPr>
          <a:xfrm rot="0" flipH="false" flipV="false">
            <a:off x="7810500" y="29845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04. Render (35s)</a:t>
            </a:r>
            <a:endParaRPr lang="en-US" sz="1100"/>
          </a:p>
        </p:txBody>
      </p:sp>
      <p:sp>
        <p:nvSpPr>
          <p:cNvPr name="AutoShape 21" id="21"/>
          <p:cNvSpPr/>
          <p:nvPr/>
        </p:nvSpPr>
        <p:spPr>
          <a:xfrm rot="0" flipH="false" flipV="false">
            <a:off x="7429500" y="3429000"/>
            <a:ext cx="171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B4B4C8"/>
                </a:solidFill>
                <a:latin typeface="Poppins"/>
                <a:ea typeface="Poppins"/>
                <a:cs typeface="Poppins"/>
                <a:sym typeface="Poppins"/>
              </a:rPr>
              <a:t>ImageForeman loads the model and renders the final image with high fidelity.</a:t>
            </a:r>
            <a:endParaRPr lang="en-US" sz="1100"/>
          </a:p>
        </p:txBody>
      </p:sp>
      <p:sp>
        <p:nvSpPr>
          <p:cNvPr name="AutoShape 22" id="22"/>
          <p:cNvSpPr/>
          <p:nvPr/>
        </p:nvSpPr>
        <p:spPr>
          <a:xfrm rot="0" flipH="false" flipV="false">
            <a:off x="9398000" y="2794000"/>
            <a:ext cx="2032000" cy="1841500"/>
          </a:xfrm>
          <a:prstGeom prst="roundRect">
            <a:avLst>
              <a:gd name="adj" fmla="val 0"/>
            </a:avLst>
          </a:prstGeom>
          <a:solidFill>
            <a:srgbClr val="FFFFFF">
              <a:alpha val="8000"/>
            </a:srgbClr>
          </a:solidFill>
          <a:ln w="12700" cmpd="sng" cap="flat">
            <a:solidFill>
              <a:srgbClr val="8A2BE2">
                <a:alpha val="2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588500" y="2984500"/>
            <a:ext cx="304800" cy="304800"/>
          </a:xfrm>
          <a:prstGeom prst="rect">
            <a:avLst/>
          </a:prstGeom>
        </p:spPr>
      </p:pic>
      <p:sp>
        <p:nvSpPr>
          <p:cNvPr name="AutoShape 24" id="24"/>
          <p:cNvSpPr/>
          <p:nvPr/>
        </p:nvSpPr>
        <p:spPr>
          <a:xfrm rot="0" flipH="false" flipV="false">
            <a:off x="9969500" y="2984500"/>
            <a:ext cx="165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05. Deliver</a:t>
            </a:r>
            <a:endParaRPr lang="en-US" sz="1100"/>
          </a:p>
        </p:txBody>
      </p:sp>
      <p:sp>
        <p:nvSpPr>
          <p:cNvPr name="AutoShape 25" id="25"/>
          <p:cNvSpPr/>
          <p:nvPr/>
        </p:nvSpPr>
        <p:spPr>
          <a:xfrm rot="0" flipH="false" flipV="false">
            <a:off x="9588500" y="3429000"/>
            <a:ext cx="171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B4B4C8"/>
                </a:solidFill>
                <a:latin typeface="Poppins"/>
                <a:ea typeface="Poppins"/>
                <a:cs typeface="Poppins"/>
                <a:sym typeface="Poppins"/>
              </a:rPr>
              <a:t>The finished visual asset is returned to the user interface for download or further use.</a:t>
            </a:r>
            <a:endParaRPr lang="en-US" sz="1100"/>
          </a:p>
        </p:txBody>
      </p:sp>
      <p:sp>
        <p:nvSpPr>
          <p:cNvPr name="AutoShape 26" id="26"/>
          <p:cNvSpPr/>
          <p:nvPr/>
        </p:nvSpPr>
        <p:spPr>
          <a:xfrm rot="0" flipH="false" flipV="false">
            <a:off x="762000" y="4889500"/>
            <a:ext cx="10668000" cy="571500"/>
          </a:xfrm>
          <a:prstGeom prst="roundRect">
            <a:avLst>
              <a:gd name="adj" fmla="val 0"/>
            </a:avLst>
          </a:prstGeom>
          <a:gradFill rotWithShape="true">
            <a:gsLst>
              <a:gs pos="0">
                <a:srgbClr val="8A2BE2">
                  <a:alpha val="25000"/>
                </a:srgbClr>
              </a:gs>
              <a:gs pos="100000">
                <a:srgbClr val="8A2BE2">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52500" y="4991100"/>
            <a:ext cx="10414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 Total Time: ~45 Seconds</a:t>
            </a:r>
            <a:r>
              <a:rPr lang="en-US" b="false" i="false" strike="noStrike" u="none" sz="1400">
                <a:solidFill>
                  <a:srgbClr val="C8C8DC"/>
                </a:solidFill>
                <a:latin typeface="Poppins"/>
                <a:ea typeface="Poppins"/>
                <a:cs typeface="Poppins"/>
                <a:sym typeface="Poppins"/>
              </a:rPr>
              <a:t>— Achieved entirely on a single AMD Radeon Pro W7900 GPU with zero cloud dependency.</a:t>
            </a:r>
            <a:endParaRPr lang="en-US" sz="1100"/>
          </a:p>
        </p:txBody>
      </p:sp>
      <p:sp>
        <p:nvSpPr>
          <p:cNvPr name="AutoShape 28" id="28"/>
          <p:cNvSpPr/>
          <p:nvPr/>
        </p:nvSpPr>
        <p:spPr>
          <a:xfrm rot="0" flipH="false" flipV="false">
            <a:off x="762000" y="5588000"/>
            <a:ext cx="3429000" cy="1079500"/>
          </a:xfrm>
          <a:prstGeom prst="roundRect">
            <a:avLst>
              <a:gd name="adj" fmla="val 0"/>
            </a:avLst>
          </a:prstGeom>
          <a:solidFill>
            <a:srgbClr val="1E1E28">
              <a:alpha val="60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52500" y="5778500"/>
            <a:ext cx="355600" cy="355600"/>
          </a:xfrm>
          <a:prstGeom prst="rect">
            <a:avLst/>
          </a:prstGeom>
        </p:spPr>
      </p:pic>
      <p:sp>
        <p:nvSpPr>
          <p:cNvPr name="AutoShape 30" id="30"/>
          <p:cNvSpPr/>
          <p:nvPr/>
        </p:nvSpPr>
        <p:spPr>
          <a:xfrm rot="0" flipH="false" flipV="false">
            <a:off x="1397000" y="5778500"/>
            <a:ext cx="2730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Full DAG Orchestration</a:t>
            </a:r>
            <a:endParaRPr lang="en-US" sz="1100"/>
          </a:p>
        </p:txBody>
      </p:sp>
      <p:sp>
        <p:nvSpPr>
          <p:cNvPr name="AutoShape 31" id="31"/>
          <p:cNvSpPr/>
          <p:nvPr/>
        </p:nvSpPr>
        <p:spPr>
          <a:xfrm rot="0" flipH="false" flipV="false">
            <a:off x="952500" y="61214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A0A0B4"/>
                </a:solidFill>
                <a:latin typeface="Poppins"/>
                <a:ea typeface="Poppins"/>
                <a:cs typeface="Poppins"/>
                <a:sym typeface="Poppins"/>
              </a:rPr>
              <a:t>Complex workflows managed automatically on a single powerful GPU.</a:t>
            </a:r>
            <a:endParaRPr lang="en-US" sz="1100"/>
          </a:p>
        </p:txBody>
      </p:sp>
      <p:sp>
        <p:nvSpPr>
          <p:cNvPr name="AutoShape 32" id="32"/>
          <p:cNvSpPr/>
          <p:nvPr/>
        </p:nvSpPr>
        <p:spPr>
          <a:xfrm rot="0" flipH="false" flipV="false">
            <a:off x="4381500" y="5588000"/>
            <a:ext cx="3429000" cy="1079500"/>
          </a:xfrm>
          <a:prstGeom prst="roundRect">
            <a:avLst>
              <a:gd name="adj" fmla="val 0"/>
            </a:avLst>
          </a:prstGeom>
          <a:solidFill>
            <a:srgbClr val="1E1E28">
              <a:alpha val="60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33" id="33"/>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4572000" y="5778500"/>
            <a:ext cx="355600" cy="355600"/>
          </a:xfrm>
          <a:prstGeom prst="rect">
            <a:avLst/>
          </a:prstGeom>
        </p:spPr>
      </p:pic>
      <p:sp>
        <p:nvSpPr>
          <p:cNvPr name="AutoShape 34" id="34"/>
          <p:cNvSpPr/>
          <p:nvPr/>
        </p:nvSpPr>
        <p:spPr>
          <a:xfrm rot="0" flipH="false" flipV="false">
            <a:off x="5016500" y="5778500"/>
            <a:ext cx="2730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Zero Cloud Latency</a:t>
            </a:r>
            <a:endParaRPr lang="en-US" sz="1100"/>
          </a:p>
        </p:txBody>
      </p:sp>
      <p:sp>
        <p:nvSpPr>
          <p:cNvPr name="AutoShape 35" id="35"/>
          <p:cNvSpPr/>
          <p:nvPr/>
        </p:nvSpPr>
        <p:spPr>
          <a:xfrm rot="0" flipH="false" flipV="false">
            <a:off x="4572000" y="61214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A0A0B4"/>
                </a:solidFill>
                <a:latin typeface="Poppins"/>
                <a:ea typeface="Poppins"/>
                <a:cs typeface="Poppins"/>
                <a:sym typeface="Poppins"/>
              </a:rPr>
              <a:t>Local processing eliminates network round-trips for instant responses.</a:t>
            </a:r>
            <a:endParaRPr lang="en-US" sz="1100"/>
          </a:p>
        </p:txBody>
      </p:sp>
      <p:sp>
        <p:nvSpPr>
          <p:cNvPr name="AutoShape 36" id="36"/>
          <p:cNvSpPr/>
          <p:nvPr/>
        </p:nvSpPr>
        <p:spPr>
          <a:xfrm rot="0" flipH="false" flipV="false">
            <a:off x="8001000" y="5588000"/>
            <a:ext cx="3429000" cy="1079500"/>
          </a:xfrm>
          <a:prstGeom prst="roundRect">
            <a:avLst>
              <a:gd name="adj" fmla="val 0"/>
            </a:avLst>
          </a:prstGeom>
          <a:solidFill>
            <a:srgbClr val="1E1E28">
              <a:alpha val="60000"/>
            </a:srgbClr>
          </a:solidFill>
          <a:ln w="12700" cmpd="sng" cap="flat">
            <a:solidFill>
              <a:srgbClr val="8A2BE2">
                <a:alpha val="40000"/>
              </a:srgbClr>
            </a:solidFill>
            <a:prstDash val="solid"/>
            <a:round/>
          </a:ln>
        </p:spPr>
        <p:txBody>
          <a:bodyPr anchor="ctr" rtlCol="false" vert="horz" wrap="square" lIns="63500" rIns="63500" tIns="63500" bIns="63500"/>
          <a:lstStyle/>
          <a:p>
            <a:pPr algn="ctr">
              <a:defRPr/>
            </a:pPr>
            <a:endParaRPr/>
          </a:p>
        </p:txBody>
      </p:sp>
      <p:pic>
        <p:nvPicPr>
          <p:cNvPr name="Picture 37" id="37"/>
          <p:cNvPicPr>
            <a:picLocks noChangeAspect="true"/>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0" flipH="false" flipV="false">
            <a:off x="8191500" y="5778500"/>
            <a:ext cx="355600" cy="355600"/>
          </a:xfrm>
          <a:prstGeom prst="rect">
            <a:avLst/>
          </a:prstGeom>
        </p:spPr>
      </p:pic>
      <p:sp>
        <p:nvSpPr>
          <p:cNvPr name="AutoShape 38" id="38"/>
          <p:cNvSpPr/>
          <p:nvPr/>
        </p:nvSpPr>
        <p:spPr>
          <a:xfrm rot="0" flipH="false" flipV="false">
            <a:off x="8636000" y="5778500"/>
            <a:ext cx="2730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Poppins"/>
                <a:ea typeface="Poppins"/>
                <a:cs typeface="Poppins"/>
                <a:sym typeface="Poppins"/>
              </a:rPr>
              <a:t>Robust Fallbacks</a:t>
            </a:r>
            <a:endParaRPr lang="en-US" sz="1100"/>
          </a:p>
        </p:txBody>
      </p:sp>
      <p:sp>
        <p:nvSpPr>
          <p:cNvPr name="AutoShape 39" id="39"/>
          <p:cNvSpPr/>
          <p:nvPr/>
        </p:nvSpPr>
        <p:spPr>
          <a:xfrm rot="0" flipH="false" flipV="false">
            <a:off x="8191500" y="61214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A0A0B4"/>
                </a:solidFill>
                <a:latin typeface="Poppins"/>
                <a:ea typeface="Poppins"/>
                <a:cs typeface="Poppins"/>
                <a:sym typeface="Poppins"/>
              </a:rPr>
              <a:t>Graceful degradation ensures task completion even if backends fail.</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Poppins"/>
                <a:ea typeface="Poppins"/>
                <a:cs typeface="Poppins"/>
                <a:sym typeface="Poppins"/>
              </a:rPr>
              <a:t>11. Conclusion: Why It Stands Out</a:t>
            </a:r>
            <a:endParaRPr lang="en-US" sz="1100"/>
          </a:p>
        </p:txBody>
      </p:sp>
      <p:sp>
        <p:nvSpPr>
          <p:cNvPr name="AutoShape 4" id="4"/>
          <p:cNvSpPr/>
          <p:nvPr/>
        </p:nvSpPr>
        <p:spPr>
          <a:xfrm rot="0" flipH="false" flipV="false">
            <a:off x="762000" y="1778000"/>
            <a:ext cx="33782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1981200"/>
            <a:ext cx="355600" cy="355600"/>
          </a:xfrm>
          <a:prstGeom prst="rect">
            <a:avLst/>
          </a:prstGeom>
        </p:spPr>
      </p:pic>
      <p:sp>
        <p:nvSpPr>
          <p:cNvPr name="AutoShape 6" id="6"/>
          <p:cNvSpPr/>
          <p:nvPr/>
        </p:nvSpPr>
        <p:spPr>
          <a:xfrm rot="0" flipH="false" flipV="false">
            <a:off x="1397000" y="19812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Real-time Prompt Rewriting</a:t>
            </a:r>
            <a:endParaRPr lang="en-US" sz="1100"/>
          </a:p>
        </p:txBody>
      </p:sp>
      <p:sp>
        <p:nvSpPr>
          <p:cNvPr name="AutoShape 7" id="7"/>
          <p:cNvSpPr/>
          <p:nvPr/>
        </p:nvSpPr>
        <p:spPr>
          <a:xfrm rot="0" flipH="false" flipV="false">
            <a:off x="965200" y="24384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Poppins"/>
                <a:ea typeface="Poppins"/>
                <a:cs typeface="Poppins"/>
                <a:sym typeface="Poppins"/>
              </a:rPr>
              <a:t>Instantly elevates plain user commands into expert-crafted prompts, unlocking the full potential of local AI models.</a:t>
            </a:r>
            <a:endParaRPr lang="en-US" sz="1100"/>
          </a:p>
        </p:txBody>
      </p:sp>
      <p:sp>
        <p:nvSpPr>
          <p:cNvPr name="AutoShape 8" id="8"/>
          <p:cNvSpPr/>
          <p:nvPr/>
        </p:nvSpPr>
        <p:spPr>
          <a:xfrm rot="0" flipH="false" flipV="false">
            <a:off x="4406900" y="1778000"/>
            <a:ext cx="33782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10100" y="1981200"/>
            <a:ext cx="355600" cy="355600"/>
          </a:xfrm>
          <a:prstGeom prst="rect">
            <a:avLst/>
          </a:prstGeom>
        </p:spPr>
      </p:pic>
      <p:sp>
        <p:nvSpPr>
          <p:cNvPr name="AutoShape 10" id="10"/>
          <p:cNvSpPr/>
          <p:nvPr/>
        </p:nvSpPr>
        <p:spPr>
          <a:xfrm rot="0" flipH="false" flipV="false">
            <a:off x="5041900" y="19812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Intelligent Expert Routing</a:t>
            </a:r>
            <a:endParaRPr lang="en-US" sz="1100"/>
          </a:p>
        </p:txBody>
      </p:sp>
      <p:sp>
        <p:nvSpPr>
          <p:cNvPr name="AutoShape 11" id="11"/>
          <p:cNvSpPr/>
          <p:nvPr/>
        </p:nvSpPr>
        <p:spPr>
          <a:xfrm rot="0" flipH="false" flipV="false">
            <a:off x="4610100" y="24384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Poppins"/>
                <a:ea typeface="Poppins"/>
                <a:cs typeface="Poppins"/>
                <a:sym typeface="Poppins"/>
              </a:rPr>
              <a:t>Dynamically assigns each task to the most specialized local AI model, ensuring precision and efficiency for every request.</a:t>
            </a:r>
            <a:endParaRPr lang="en-US" sz="1100"/>
          </a:p>
        </p:txBody>
      </p:sp>
      <p:sp>
        <p:nvSpPr>
          <p:cNvPr name="AutoShape 12" id="12"/>
          <p:cNvSpPr/>
          <p:nvPr/>
        </p:nvSpPr>
        <p:spPr>
          <a:xfrm rot="0" flipH="false" flipV="false">
            <a:off x="8051800" y="1778000"/>
            <a:ext cx="33782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1981200"/>
            <a:ext cx="355600" cy="355600"/>
          </a:xfrm>
          <a:prstGeom prst="rect">
            <a:avLst/>
          </a:prstGeom>
        </p:spPr>
      </p:pic>
      <p:sp>
        <p:nvSpPr>
          <p:cNvPr name="AutoShape 14" id="14"/>
          <p:cNvSpPr/>
          <p:nvPr/>
        </p:nvSpPr>
        <p:spPr>
          <a:xfrm rot="0" flipH="false" flipV="false">
            <a:off x="8686800" y="19812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Unmatched Performance</a:t>
            </a:r>
            <a:endParaRPr lang="en-US" sz="1100"/>
          </a:p>
        </p:txBody>
      </p:sp>
      <p:sp>
        <p:nvSpPr>
          <p:cNvPr name="AutoShape 15" id="15"/>
          <p:cNvSpPr/>
          <p:nvPr/>
        </p:nvSpPr>
        <p:spPr>
          <a:xfrm rot="0" flipH="false" flipV="false">
            <a:off x="8255000" y="24384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Poppins"/>
                <a:ea typeface="Poppins"/>
                <a:cs typeface="Poppins"/>
                <a:sym typeface="Poppins"/>
              </a:rPr>
              <a:t>Achieves</a:t>
            </a:r>
            <a:r>
              <a:rPr lang="en-US" b="true" i="false" strike="noStrike" u="none" sz="1300">
                <a:solidFill>
                  <a:srgbClr val="8A2BE2"/>
                </a:solidFill>
                <a:latin typeface="Poppins"/>
                <a:ea typeface="Poppins"/>
                <a:cs typeface="Poppins"/>
                <a:sym typeface="Poppins"/>
              </a:rPr>
              <a:t>+11%</a:t>
            </a:r>
            <a:r>
              <a:rPr lang="en-US" b="false" i="false" strike="noStrike" u="none" sz="1300">
                <a:solidFill>
                  <a:srgbClr val="FFFFFF">
                    <a:alpha val="70196"/>
                  </a:srgbClr>
                </a:solidFill>
                <a:latin typeface="Poppins"/>
                <a:ea typeface="Poppins"/>
                <a:cs typeface="Poppins"/>
                <a:sym typeface="Poppins"/>
              </a:rPr>
              <a:t>generation speed and</a:t>
            </a:r>
            <a:r>
              <a:rPr lang="en-US" b="true" i="false" strike="noStrike" u="none" sz="1300">
                <a:solidFill>
                  <a:srgbClr val="8A2BE2"/>
                </a:solidFill>
                <a:latin typeface="Poppins"/>
                <a:ea typeface="Poppins"/>
                <a:cs typeface="Poppins"/>
                <a:sym typeface="Poppins"/>
              </a:rPr>
              <a:t>+109%</a:t>
            </a:r>
            <a:r>
              <a:rPr lang="en-US" b="false" i="false" strike="noStrike" u="none" sz="1300">
                <a:solidFill>
                  <a:srgbClr val="FFFFFF">
                    <a:alpha val="70196"/>
                  </a:srgbClr>
                </a:solidFill>
                <a:latin typeface="Poppins"/>
                <a:ea typeface="Poppins"/>
                <a:cs typeface="Poppins"/>
                <a:sym typeface="Poppins"/>
              </a:rPr>
              <a:t>prefill speed via advanced DAG parallelism and ROCm tuning.</a:t>
            </a:r>
            <a:endParaRPr lang="en-US" sz="1100"/>
          </a:p>
        </p:txBody>
      </p:sp>
      <p:sp>
        <p:nvSpPr>
          <p:cNvPr name="AutoShape 16" id="16"/>
          <p:cNvSpPr/>
          <p:nvPr/>
        </p:nvSpPr>
        <p:spPr>
          <a:xfrm rot="0" flipH="false" flipV="false">
            <a:off x="762000" y="3683000"/>
            <a:ext cx="33782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65200" y="3886200"/>
            <a:ext cx="355600" cy="355600"/>
          </a:xfrm>
          <a:prstGeom prst="rect">
            <a:avLst/>
          </a:prstGeom>
        </p:spPr>
      </p:pic>
      <p:sp>
        <p:nvSpPr>
          <p:cNvPr name="AutoShape 18" id="18"/>
          <p:cNvSpPr/>
          <p:nvPr/>
        </p:nvSpPr>
        <p:spPr>
          <a:xfrm rot="0" flipH="false" flipV="false">
            <a:off x="1397000" y="38862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100% Local &amp; Private</a:t>
            </a:r>
            <a:endParaRPr lang="en-US" sz="1100"/>
          </a:p>
        </p:txBody>
      </p:sp>
      <p:sp>
        <p:nvSpPr>
          <p:cNvPr name="AutoShape 19" id="19"/>
          <p:cNvSpPr/>
          <p:nvPr/>
        </p:nvSpPr>
        <p:spPr>
          <a:xfrm rot="0" flipH="false" flipV="false">
            <a:off x="965200" y="43434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Poppins"/>
                <a:ea typeface="Poppins"/>
                <a:cs typeface="Poppins"/>
                <a:sym typeface="Poppins"/>
              </a:rPr>
              <a:t>Your data never leaves the machine. Enjoy the power of AI without compromising on privacy or security.</a:t>
            </a:r>
            <a:endParaRPr lang="en-US" sz="1100"/>
          </a:p>
        </p:txBody>
      </p:sp>
      <p:sp>
        <p:nvSpPr>
          <p:cNvPr name="AutoShape 20" id="20"/>
          <p:cNvSpPr/>
          <p:nvPr/>
        </p:nvSpPr>
        <p:spPr>
          <a:xfrm rot="0" flipH="false" flipV="false">
            <a:off x="4406900" y="3683000"/>
            <a:ext cx="33782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610100" y="3886200"/>
            <a:ext cx="355600" cy="355600"/>
          </a:xfrm>
          <a:prstGeom prst="rect">
            <a:avLst/>
          </a:prstGeom>
        </p:spPr>
      </p:pic>
      <p:sp>
        <p:nvSpPr>
          <p:cNvPr name="AutoShape 22" id="22"/>
          <p:cNvSpPr/>
          <p:nvPr/>
        </p:nvSpPr>
        <p:spPr>
          <a:xfrm rot="0" flipH="false" flipV="false">
            <a:off x="5041900" y="38862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Robust Scalable Design</a:t>
            </a:r>
            <a:endParaRPr lang="en-US" sz="1100"/>
          </a:p>
        </p:txBody>
      </p:sp>
      <p:sp>
        <p:nvSpPr>
          <p:cNvPr name="AutoShape 23" id="23"/>
          <p:cNvSpPr/>
          <p:nvPr/>
        </p:nvSpPr>
        <p:spPr>
          <a:xfrm rot="0" flipH="false" flipV="false">
            <a:off x="4610100" y="43434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Poppins"/>
                <a:ea typeface="Poppins"/>
                <a:cs typeface="Poppins"/>
                <a:sym typeface="Poppins"/>
              </a:rPr>
              <a:t>Built on a four-layer agent architecture with DAG parallel orchestration for handling complex, multi-step AI workflows.</a:t>
            </a:r>
            <a:endParaRPr lang="en-US" sz="1100"/>
          </a:p>
        </p:txBody>
      </p:sp>
      <p:sp>
        <p:nvSpPr>
          <p:cNvPr name="AutoShape 24" id="24"/>
          <p:cNvSpPr/>
          <p:nvPr/>
        </p:nvSpPr>
        <p:spPr>
          <a:xfrm rot="0" flipH="false" flipV="false">
            <a:off x="8051800" y="3683000"/>
            <a:ext cx="3378200" cy="1714500"/>
          </a:xfrm>
          <a:prstGeom prst="roundRect">
            <a:avLst>
              <a:gd name="adj" fmla="val 0"/>
            </a:avLst>
          </a:prstGeom>
          <a:solidFill>
            <a:srgbClr val="8A2BE2">
              <a:alpha val="15000"/>
            </a:srgbClr>
          </a:solidFill>
          <a:ln w="12700" cmpd="sng" cap="flat">
            <a:solidFill>
              <a:srgbClr val="8A2BE2">
                <a:alpha val="3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255000" y="3886200"/>
            <a:ext cx="355600" cy="355600"/>
          </a:xfrm>
          <a:prstGeom prst="rect">
            <a:avLst/>
          </a:prstGeom>
        </p:spPr>
      </p:pic>
      <p:sp>
        <p:nvSpPr>
          <p:cNvPr name="AutoShape 26" id="26"/>
          <p:cNvSpPr/>
          <p:nvPr/>
        </p:nvSpPr>
        <p:spPr>
          <a:xfrm rot="0" flipH="false" flipV="false">
            <a:off x="8686800" y="38862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Poppins"/>
                <a:ea typeface="Poppins"/>
                <a:cs typeface="Poppins"/>
                <a:sym typeface="Poppins"/>
              </a:rPr>
              <a:t>3-Tier Degradation System</a:t>
            </a:r>
            <a:endParaRPr lang="en-US" sz="1100"/>
          </a:p>
        </p:txBody>
      </p:sp>
      <p:sp>
        <p:nvSpPr>
          <p:cNvPr name="AutoShape 27" id="27"/>
          <p:cNvSpPr/>
          <p:nvPr/>
        </p:nvSpPr>
        <p:spPr>
          <a:xfrm rot="0" flipH="false" flipV="false">
            <a:off x="8255000" y="4343400"/>
            <a:ext cx="29718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FFFFFF">
                    <a:alpha val="70196"/>
                  </a:srgbClr>
                </a:solidFill>
                <a:latin typeface="Poppins"/>
                <a:ea typeface="Poppins"/>
                <a:cs typeface="Poppins"/>
                <a:sym typeface="Poppins"/>
              </a:rPr>
              <a:t>Guarantees uninterrupted service availability by seamlessly switching to fallback models if primary backends fail.</a:t>
            </a:r>
            <a:endParaRPr lang="en-US" sz="1100"/>
          </a:p>
        </p:txBody>
      </p:sp>
      <p:sp>
        <p:nvSpPr>
          <p:cNvPr name="AutoShape 28" id="28"/>
          <p:cNvSpPr/>
          <p:nvPr/>
        </p:nvSpPr>
        <p:spPr>
          <a:xfrm rot="0" flipH="false" flipV="false">
            <a:off x="762000" y="5588000"/>
            <a:ext cx="10668000" cy="889000"/>
          </a:xfrm>
          <a:prstGeom prst="roundRect">
            <a:avLst>
              <a:gd name="adj" fmla="val 0"/>
            </a:avLst>
          </a:prstGeom>
          <a:solidFill>
            <a:srgbClr val="8A2BE2">
              <a:alpha val="25000"/>
            </a:srgbClr>
          </a:solidFill>
          <a:ln w="12700" cmpd="sng" cap="flat">
            <a:solidFill>
              <a:srgbClr val="8A2BE2">
                <a:alpha val="50000"/>
              </a:srgbClr>
            </a:solid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1016000" y="5829300"/>
            <a:ext cx="406400" cy="406400"/>
          </a:xfrm>
          <a:prstGeom prst="rect">
            <a:avLst/>
          </a:prstGeom>
        </p:spPr>
      </p:pic>
      <p:sp>
        <p:nvSpPr>
          <p:cNvPr name="AutoShape 30" id="30"/>
          <p:cNvSpPr/>
          <p:nvPr/>
        </p:nvSpPr>
        <p:spPr>
          <a:xfrm rot="0" flipH="false" flipV="false">
            <a:off x="1587500" y="5740400"/>
            <a:ext cx="965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FFFFF"/>
                </a:solidFill>
                <a:latin typeface="Poppins"/>
                <a:ea typeface="Poppins"/>
                <a:cs typeface="Poppins"/>
                <a:sym typeface="Poppins"/>
              </a:rPr>
              <a:t>Masterclass in Efficiency:</a:t>
            </a:r>
            <a:r>
              <a:rPr lang="en-US" b="false" i="false" strike="noStrike" u="none" sz="1400">
                <a:solidFill>
                  <a:srgbClr val="FFFFFF">
                    <a:alpha val="80000"/>
                  </a:srgbClr>
                </a:solidFill>
                <a:latin typeface="Poppins"/>
                <a:ea typeface="Poppins"/>
                <a:cs typeface="Poppins"/>
                <a:sym typeface="Poppins"/>
              </a:rPr>
              <a:t>LLM, Vision, Speech, and Image models coexist in just 48GB VRAM — the ultimate all-in-one local AI interface.</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667000"/>
            <a:ext cx="12192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Poppins"/>
                <a:ea typeface="Poppins"/>
                <a:cs typeface="Poppins"/>
                <a:sym typeface="Poppins"/>
              </a:rPr>
              <a:t>Thank You</a:t>
            </a:r>
            <a:endParaRPr lang="en-US" sz="1100"/>
          </a:p>
        </p:txBody>
      </p:sp>
      <p:sp>
        <p:nvSpPr>
          <p:cNvPr name="AutoShape 4" id="4"/>
          <p:cNvSpPr/>
          <p:nvPr/>
        </p:nvSpPr>
        <p:spPr>
          <a:xfrm rot="0" flipH="false" flipV="false">
            <a:off x="1016000" y="4699000"/>
            <a:ext cx="10160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E6DCFF">
                    <a:alpha val="70196"/>
                  </a:srgbClr>
                </a:solidFill>
                <a:latin typeface="Poppins"/>
                <a:ea typeface="Poppins"/>
                <a:cs typeface="Poppins"/>
                <a:sym typeface="Poppins"/>
              </a:rPr>
              <a:t>Empowering the future of personal AI computing — Innovate, create, and transform with us.</a:t>
            </a:r>
            <a:endParaRPr lang="en-US" sz="1100"/>
          </a:p>
        </p:txBody>
      </p:sp>
      <p:pic>
        <p:nvPicPr>
          <p:cNvPr name="Picture 5" id="5"/>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{"Label":"1","ContentProducer":"001191110102MACQD9K64010000","ProduceID":"7670940983398371534","ReservedCode1":"","ContentPropagator":"","PropagateID":"","ReservedCode2":""}</vt:lpwstr>
  </property>
</Properties>
</file>