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77" r:id="rId12"/>
    <p:sldId id="264" r:id="rId13"/>
    <p:sldId id="265" r:id="rId14"/>
    <p:sldId id="266" r:id="rId15"/>
    <p:sldId id="267" r:id="rId16"/>
    <p:sldId id="268" r:id="rId17"/>
    <p:sldId id="269" r:id="rId18"/>
    <p:sldId id="278" r:id="rId19"/>
    <p:sldId id="270" r:id="rId20"/>
    <p:sldId id="271" r:id="rId21"/>
    <p:sldId id="272" r:id="rId22"/>
    <p:sldId id="273" r:id="rId23"/>
    <p:sldId id="274" r:id="rId24"/>
    <p:sldId id="275" r:id="rId25"/>
    <p:sldId id="276" r:id="rId26"/>
  </p:sldIdLst>
  <p:sldSz cx="12192000" cy="6858000"/>
  <p:notesSz cx="6858000" cy="9144000"/>
  <p:embeddedFontLst>
    <p:embeddedFont>
      <p:font typeface="Inter" panose="02000503000000020004"/>
      <p:regular r:id="rId30"/>
      <p:bold r:id="rId31"/>
    </p:embeddedFont>
    <p:embeddedFont>
      <p:font typeface="FZYaYiHei GB18030L2 R" panose="02000500000000000000" charset="-122"/>
      <p:regular r:id="rId32"/>
    </p:embeddedFont>
    <p:embeddedFont>
      <p:font typeface="Calibri" panose="020F050202020403020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pos="2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04"/>
        <p:guide pos="285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好，今天我将为大家展示我们专为金融新员工培训打造的AI智能体平台。这不仅是一个简单的知识库，而是一个集成了超长文本动态记忆压缩和高效问答系统的认知引擎，旨在用AI技术彻底重塑金融行业的培训与合规赋能流程。</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本次汇报将分为五个部分：首先明确项目的业务定位与典型场景；其次剖析核心的创新理念与五层系统架构；接着深入知识锻造与认知检索的底层机制；然后展示我们在动态压缩、推理加速及AMD硬件部署上的技术突破与基准测试；最后进行项目总结与展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让我们先进入第一部分。金融行业的知识密度极高，合规要求严苛，传统的培训方式往往让新员工难以消化。我们来看看这个AI平台是如何定位并解决这些实际业务场景痛点的。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个平台的核心定位是一个专为金融行业量身定制的AI智能培训生态系统。大家可以看到，它覆盖了从知识积累到个性化学习路径规划的完整闭环。我们的目标是让新员工快速掌握复杂的合规要求和业务技能。底层依托大模型、知识图谱和RAG技术，将被动阅读转化为主动的认知赋能。</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具体落地场景上，我们划分为两大核心模块。左侧是知识库与智能问答，系统能自动解析各类文档并构建图谱，支持带溯源的自然语言问答，这在金融合规审查中至关重要。右侧是模拟考试与课程学习，大模型不仅能动态出题、进行语义评分，还能根据艾宾浩斯记忆曲线安排错题复习，真正实现千人千面的个性化培训。</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了解了业务场景，接下来我们进入第二部分，看看支撑这些场景的核心创新理念和整体系统架构。我们是如何突破传统大模型上下文限制的？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是我们项目最核心的创新点。传统的RAG方案在处理上千页的金融文档时，经常会遇到上下文溢出和多跳推理断裂的问题。我们提出了'认知抽屉'模型，通过三层动态记忆压缩——隐式向量、结构化图谱和显式场景摘要，根据查询实时组装最相关的微上下文。这不仅解决了信息过载，还实现了千页文档的毫秒级精准问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整体架构上，我们采用了严谨的五层设计。前端和网关层使用React和FastAPI，确保SSE流式输出的低延迟与高并发安全。业务与AI层采用DDD领域驱动设计，核心推理引擎基于本地部署的Qwen3-14B模型，并配备云端容灾。底层基础设施则创新性地融合了关系型数据库、向量库zvec和图数据库Neo4j，为复杂金融数据提供混合存储支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整体架构上，我们采用了严谨的五层设计。前端和网关层使用React和FastAPI，确保SSE流式输出的低延迟与高并发安全。业务与AI层采用DDD领域驱动设计，核心推理引擎基于本地部署的Qwen3-14B模型，并配备云端容灾。底层基础设施则创新性地融合了关系型数据库、向量库zvec和图数据库Neo4j，为复杂金融数据提供混合存储支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架构搭建好后，数据是如何流转的？第三部分我们将深入剖析知识锻造工坊和认知检索机制的底层工作流。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知识锻造工坊是整个系统的数据源头。我们使用MinerU SDK进行工业级解析，不仅能提取文本，还能精准识别复杂的金融表格和公式。在分块策略上，我们按Markdown标题递归切分，保证512 Token内的语义完整。随后，大模型会提取诸如'薪酬规则影响银保佣金'这样的实体关系写入Neo4j图谱。所有重计算任务均在后台异步队列处理，绝不阻塞前端交互。</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有了高质量的数据，检索机制必须足够聪明。我们的认知检索引擎具备自适应路由能力，能根据查询意图自动选择向量、图谱或混合检索，并通过异步并发执行。最关键的是重排与压缩环节，BGE-reranker筛选出Top-5后，大模型会进行语义蒸馏，将上下文压缩至原来的五分之一。配合相似度大于0.92的语义缓存，高频合规问题的响应延迟被压缩到了50毫秒以内。</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培训闭环的后半段，智能练习与学习中心发挥了关键作用。左侧的练习引擎能从知识片段中动态生成场景题，并用大模型进行语义维度的评分，结合SM-2算法科学安排错题复习。右侧的学习中心则追踪视频进度，分析个人的考试表现，由AI动态推荐后续课程并给出推荐理由，彻底告别一刀切的培训模式。</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第四部分，我们将进入本次汇报最硬核的技术深水区。大家将看到我们是如何在代码层面实现三层动态压缩，以及如何榨干AMD GPU的推理性能的。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详细拆解我们的三层动态压缩架构。第一层是原子化语义块，保留标题层级和元数据，确保溯源能力。第二层是隐式与结构化记忆的双库协同，zvec负责广度匹配，Neo4j负责深度多跳推理。第三层是动态工作记忆压缩器，它会在实时查询时，将上下文硬截断并调用大模型蒸馏成核心知识点，直接将输入给大模型的Payload体积压缩了80%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详细拆解我们的三层动态压缩架构。第一层是原子化语义块，保留标题层级和元数据，确保溯源能力。第二层是隐式与结构化记忆的双库协同，zvec负责广度匹配，Neo4j负责深度多跳推理。第三层是动态工作记忆压缩器，它会在实时查询时，将上下文硬截断并调用大模型蒸馏成核心知识点，直接将输入给大模型的Payload体积压缩了80%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代码实现层面，我们设计了读时和写时的双重压缩策略。写时压缩发生在数据入库阶段，通过细粒度分块和图谱三元组提取，让数据库保持极度精简。读时压缩则是On-the-Fly的，当检索片段超过800字符时，系统会自动触发大模型蒸馏，并严格限制图节点和社区摘要的数量。这种双管齐下的策略，彻底消除了高峰期并发推理时的上下文瓶颈。</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除了压缩，我们在问答加速上也做到了极致。首先是利用GPU高并行度进行向量与图谱的并发检索。其次是激进的过滤策略，BGE-Reranker将上下文Token量削减了99.9%，这不仅加快了速度，更大幅降低了模型幻觉。最后，SSE流式输出和语义缓存的结合，确保了用户端极低的字首延迟和重复问题的瞬时响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最后一部分，我们来看看这套系统在国产/AMD硬件上的部署表现，以及与传统方案的量化对比，最后进行项目总结。</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在部署方案上，我们选择了Qwen3-14B-AWQ模型，4-bit量化仅需10GB显存即可支撑16k上下文，性价比极高。更关键的是，我们针对AMD Radeon GPU和ROCm环境进行了深度调优，包括环境变量注入、vLLM参数微调以及前缀缓存的开启。最终实测数据显示，首字延迟约200ms，生成速度达到30-40 tokens/s，端到端延迟控制在3到5秒内，完全满足企业级生产要求。</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张表格量化了我们系统的颠覆性优势。传统方案处理超过10页的文档就会崩溃，且上下文冗余率极高。而我们的动态压缩+RAG方案，不仅打破了文档长度限制，将上下文冗余率降至5%以下，更通过图谱补全将多跳推理准确率提升了40%。平均输出Token量大幅缩减，高频查询延迟更是从秒级跨越到了50毫秒以内。</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总结一下。这个项目绝不仅仅是'文档搜索+大模型'的简单拼接，而是一个专为金融超长文本打造的动态记忆压缩与高效问答系统。它实现了从知识管理到考试赋能的端到端闭环，并通过原子化分块、双库检索和极致的硬件调优，在单张GPU上跑出了企业级的性能。模块化的DDD架构也为其未来的横向扩展奠定了坚实基础。</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以上就是本次汇报的全部内容。我们非常期待能与各位在金融AI落地应用方面有更多的交流与合作。感谢大家的聆听，欢迎提问！</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6.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4.xml"/><Relationship Id="rId14" Type="http://schemas.openxmlformats.org/officeDocument/2006/relationships/slideLayout" Target="../slideLayouts/slideLayout6.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6.xml"/><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12.jpe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6.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6.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image" Target="../media/image23.jpe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1" Type="http://schemas.openxmlformats.org/officeDocument/2006/relationships/notesSlide" Target="../notesSlides/notesSlide20.xml"/><Relationship Id="rId20" Type="http://schemas.openxmlformats.org/officeDocument/2006/relationships/slideLayout" Target="../slideLayouts/slideLayout6.xml"/><Relationship Id="rId2" Type="http://schemas.openxmlformats.org/officeDocument/2006/relationships/tags" Target="../tags/tag13.xml"/><Relationship Id="rId19" Type="http://schemas.openxmlformats.org/officeDocument/2006/relationships/tags" Target="../tags/tag30.xml"/><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2" Type="http://schemas.openxmlformats.org/officeDocument/2006/relationships/notesSlide" Target="../notesSlides/notesSlide22.xml"/><Relationship Id="rId21" Type="http://schemas.openxmlformats.org/officeDocument/2006/relationships/slideLayout" Target="../slideLayouts/slideLayout6.xml"/><Relationship Id="rId20" Type="http://schemas.openxmlformats.org/officeDocument/2006/relationships/tags" Target="../tags/tag49.xml"/><Relationship Id="rId2" Type="http://schemas.openxmlformats.org/officeDocument/2006/relationships/tags" Target="../tags/tag31.xml"/><Relationship Id="rId19" Type="http://schemas.openxmlformats.org/officeDocument/2006/relationships/tags" Target="../tags/tag48.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6.xml"/><Relationship Id="rId2" Type="http://schemas.openxmlformats.org/officeDocument/2006/relationships/image" Target="../media/image27.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0" y="0"/>
            <a:ext cx="12188952" cy="6858000"/>
          </a:xfrm>
          <a:prstGeom prst="rect">
            <a:avLst/>
          </a:prstGeom>
          <a:blipFill rotWithShape="1">
            <a:blip r:embed="rId3">
              <a:alphaModFix amt="100000"/>
              <a:alphaModFix amt="100000"/>
            </a:blip>
            <a:stretch>
              <a:fillRect/>
            </a:stretch>
          </a:blipFill>
          <a:ln>
            <a:headEnd type="none"/>
            <a:tailEnd type="none"/>
          </a:ln>
        </p:spPr>
      </p:sp>
      <p:sp>
        <p:nvSpPr>
          <p:cNvPr id="7" name="AutoShape 7"/>
          <p:cNvSpPr/>
          <p:nvPr/>
        </p:nvSpPr>
        <p:spPr>
          <a:xfrm>
            <a:off x="380905" y="381000"/>
            <a:ext cx="304724" cy="9525"/>
          </a:xfrm>
          <a:prstGeom prst="line">
            <a:avLst/>
          </a:prstGeom>
          <a:ln w="9525">
            <a:solidFill>
              <a:srgbClr val="F4FAFF">
                <a:alpha val="50196"/>
              </a:srgbClr>
            </a:solidFill>
            <a:prstDash val="solid"/>
            <a:headEnd type="none"/>
            <a:tailEnd type="none"/>
          </a:ln>
        </p:spPr>
      </p:sp>
      <p:sp>
        <p:nvSpPr>
          <p:cNvPr id="8" name="AutoShape 8"/>
          <p:cNvSpPr/>
          <p:nvPr/>
        </p:nvSpPr>
        <p:spPr>
          <a:xfrm>
            <a:off x="380905" y="381000"/>
            <a:ext cx="9522" cy="304800"/>
          </a:xfrm>
          <a:prstGeom prst="line">
            <a:avLst/>
          </a:prstGeom>
          <a:ln w="9525">
            <a:solidFill>
              <a:srgbClr val="F4FAFF">
                <a:alpha val="50196"/>
              </a:srgbClr>
            </a:solidFill>
            <a:prstDash val="solid"/>
            <a:headEnd type="none"/>
            <a:tailEnd type="none"/>
          </a:ln>
        </p:spPr>
      </p:sp>
      <p:sp>
        <p:nvSpPr>
          <p:cNvPr id="9" name="AutoShape 9"/>
          <p:cNvSpPr/>
          <p:nvPr/>
        </p:nvSpPr>
        <p:spPr>
          <a:xfrm>
            <a:off x="11503323" y="381000"/>
            <a:ext cx="304724" cy="9525"/>
          </a:xfrm>
          <a:prstGeom prst="line">
            <a:avLst/>
          </a:prstGeom>
          <a:ln w="9525">
            <a:solidFill>
              <a:srgbClr val="F4FAFF">
                <a:alpha val="50196"/>
              </a:srgbClr>
            </a:solidFill>
            <a:prstDash val="solid"/>
            <a:headEnd type="none"/>
            <a:tailEnd type="none"/>
          </a:ln>
        </p:spPr>
      </p:sp>
      <p:sp>
        <p:nvSpPr>
          <p:cNvPr id="10" name="AutoShape 10"/>
          <p:cNvSpPr/>
          <p:nvPr/>
        </p:nvSpPr>
        <p:spPr>
          <a:xfrm>
            <a:off x="11798525" y="381000"/>
            <a:ext cx="9522" cy="304800"/>
          </a:xfrm>
          <a:prstGeom prst="line">
            <a:avLst/>
          </a:prstGeom>
          <a:ln w="9525">
            <a:solidFill>
              <a:srgbClr val="F4FAFF">
                <a:alpha val="50196"/>
              </a:srgbClr>
            </a:solidFill>
            <a:prstDash val="solid"/>
            <a:headEnd type="none"/>
            <a:tailEnd type="none"/>
          </a:ln>
        </p:spPr>
      </p:sp>
      <p:sp>
        <p:nvSpPr>
          <p:cNvPr id="11" name="AutoShape 11"/>
          <p:cNvSpPr/>
          <p:nvPr/>
        </p:nvSpPr>
        <p:spPr>
          <a:xfrm>
            <a:off x="380905" y="6467475"/>
            <a:ext cx="304724" cy="9525"/>
          </a:xfrm>
          <a:prstGeom prst="line">
            <a:avLst/>
          </a:prstGeom>
          <a:ln w="9525">
            <a:solidFill>
              <a:srgbClr val="F4FAFF">
                <a:alpha val="50196"/>
              </a:srgbClr>
            </a:solidFill>
            <a:prstDash val="solid"/>
            <a:headEnd type="none"/>
            <a:tailEnd type="none"/>
          </a:ln>
        </p:spPr>
      </p:sp>
      <p:sp>
        <p:nvSpPr>
          <p:cNvPr id="12" name="AutoShape 12"/>
          <p:cNvSpPr/>
          <p:nvPr/>
        </p:nvSpPr>
        <p:spPr>
          <a:xfrm>
            <a:off x="380905" y="6172200"/>
            <a:ext cx="9522" cy="304800"/>
          </a:xfrm>
          <a:prstGeom prst="line">
            <a:avLst/>
          </a:prstGeom>
          <a:ln w="9525">
            <a:solidFill>
              <a:srgbClr val="F4FAFF">
                <a:alpha val="50196"/>
              </a:srgbClr>
            </a:solidFill>
            <a:prstDash val="solid"/>
            <a:headEnd type="none"/>
            <a:tailEnd type="none"/>
          </a:ln>
        </p:spPr>
      </p:sp>
      <p:sp>
        <p:nvSpPr>
          <p:cNvPr id="13" name="AutoShape 13"/>
          <p:cNvSpPr/>
          <p:nvPr/>
        </p:nvSpPr>
        <p:spPr>
          <a:xfrm>
            <a:off x="11798525" y="6172200"/>
            <a:ext cx="9522" cy="304800"/>
          </a:xfrm>
          <a:prstGeom prst="line">
            <a:avLst/>
          </a:prstGeom>
          <a:ln w="9525">
            <a:solidFill>
              <a:srgbClr val="F4FAFF">
                <a:alpha val="50196"/>
              </a:srgbClr>
            </a:solidFill>
            <a:prstDash val="solid"/>
            <a:headEnd type="none"/>
            <a:tailEnd type="none"/>
          </a:ln>
        </p:spPr>
      </p:sp>
      <p:sp>
        <p:nvSpPr>
          <p:cNvPr id="14" name="AutoShape 14"/>
          <p:cNvSpPr/>
          <p:nvPr/>
        </p:nvSpPr>
        <p:spPr>
          <a:xfrm>
            <a:off x="11503323" y="6467475"/>
            <a:ext cx="304724" cy="9525"/>
          </a:xfrm>
          <a:prstGeom prst="line">
            <a:avLst/>
          </a:prstGeom>
          <a:ln w="9525">
            <a:solidFill>
              <a:srgbClr val="F4FAFF">
                <a:alpha val="50196"/>
              </a:srgbClr>
            </a:solidFill>
            <a:prstDash val="solid"/>
            <a:headEnd type="none"/>
            <a:tailEnd type="none"/>
          </a:ln>
        </p:spPr>
      </p:sp>
      <p:sp>
        <p:nvSpPr>
          <p:cNvPr id="15" name="AutoShape 15"/>
          <p:cNvSpPr/>
          <p:nvPr/>
        </p:nvSpPr>
        <p:spPr>
          <a:xfrm>
            <a:off x="5789604" y="2300139"/>
            <a:ext cx="609448" cy="19050"/>
          </a:xfrm>
          <a:prstGeom prst="rect">
            <a:avLst/>
          </a:prstGeom>
          <a:gradFill>
            <a:gsLst>
              <a:gs pos="0">
                <a:srgbClr val="2DE7F0">
                  <a:alpha val="100000"/>
                </a:srgbClr>
              </a:gs>
              <a:gs pos="100000">
                <a:srgbClr val="2DE7F0">
                  <a:alpha val="0"/>
                </a:srgbClr>
              </a:gs>
            </a:gsLst>
            <a:lin ang="5400000"/>
          </a:gradFill>
          <a:ln>
            <a:headEnd type="none"/>
            <a:tailEnd type="none"/>
          </a:ln>
        </p:spPr>
      </p:sp>
      <p:sp>
        <p:nvSpPr>
          <p:cNvPr id="16" name="TextBox 16"/>
          <p:cNvSpPr txBox="1"/>
          <p:nvPr/>
        </p:nvSpPr>
        <p:spPr>
          <a:xfrm>
            <a:off x="2568205" y="2623989"/>
            <a:ext cx="7052393" cy="981372"/>
          </a:xfrm>
          <a:prstGeom prst="rect">
            <a:avLst/>
          </a:prstGeom>
          <a:ln>
            <a:headEnd type="none"/>
            <a:tailEnd type="none"/>
          </a:ln>
        </p:spPr>
        <p:txBody>
          <a:bodyPr vert="horz" wrap="square" lIns="0" tIns="0" rIns="0" bIns="0" rtlCol="0" anchor="t" anchorCtr="1"/>
          <a:lstStyle/>
          <a:p>
            <a:pPr algn="ctr">
              <a:defRPr/>
            </a:pPr>
            <a:r>
              <a:rPr lang="en-US" sz="3400" b="1" i="0" strike="noStrike">
                <a:solidFill>
                  <a:srgbClr val="F4FAFF">
                    <a:alpha val="100000"/>
                  </a:srgbClr>
                </a:solidFill>
                <a:latin typeface="Inter" panose="02000503000000020004"/>
                <a:ea typeface="Inter" panose="02000503000000020004"/>
                <a:cs typeface="Inter" panose="02000503000000020004"/>
              </a:rPr>
              <a:t>Intelligent Agent Platform</a:t>
            </a:r>
            <a:endParaRPr lang="en-US" sz="1100"/>
          </a:p>
          <a:p>
            <a:pPr algn="ctr"/>
            <a:r>
              <a:rPr sz="3400" b="1" i="0" strike="noStrike">
                <a:solidFill>
                  <a:srgbClr val="2DE7F0">
                    <a:alpha val="100000"/>
                  </a:srgbClr>
                </a:solidFill>
                <a:latin typeface="Inter" panose="02000503000000020004"/>
                <a:ea typeface="Inter" panose="02000503000000020004"/>
                <a:cs typeface="Inter" panose="02000503000000020004"/>
              </a:rPr>
              <a:t>for Financial New Hire Training</a:t>
            </a:r>
            <a:endParaRPr sz="3400" b="1" i="0" strike="noStrike">
              <a:solidFill>
                <a:srgbClr val="2DE7F0">
                  <a:alpha val="100000"/>
                </a:srgbClr>
              </a:solidFill>
              <a:latin typeface="Inter" panose="02000503000000020004"/>
              <a:ea typeface="Inter" panose="02000503000000020004"/>
              <a:cs typeface="Inter" panose="02000503000000020004"/>
            </a:endParaRPr>
          </a:p>
        </p:txBody>
      </p:sp>
      <p:sp>
        <p:nvSpPr>
          <p:cNvPr id="17" name="AutoShape 17"/>
          <p:cNvSpPr/>
          <p:nvPr/>
        </p:nvSpPr>
        <p:spPr>
          <a:xfrm>
            <a:off x="2254927" y="3933974"/>
            <a:ext cx="3658620" cy="9525"/>
          </a:xfrm>
          <a:prstGeom prst="rect">
            <a:avLst/>
          </a:prstGeom>
          <a:gradFill>
            <a:gsLst>
              <a:gs pos="0">
                <a:srgbClr val="2DE7F0">
                  <a:alpha val="0"/>
                </a:srgbClr>
              </a:gs>
              <a:gs pos="50000">
                <a:srgbClr val="2DE7F0">
                  <a:alpha val="36078"/>
                </a:srgbClr>
              </a:gs>
              <a:gs pos="100000">
                <a:srgbClr val="2DE7F0">
                  <a:alpha val="0"/>
                </a:srgbClr>
              </a:gs>
            </a:gsLst>
            <a:lin ang="5400000"/>
          </a:gradFill>
          <a:ln>
            <a:headEnd type="none"/>
            <a:tailEnd type="none"/>
          </a:ln>
        </p:spPr>
      </p:sp>
      <p:sp>
        <p:nvSpPr>
          <p:cNvPr id="18" name="AutoShape 18"/>
          <p:cNvSpPr/>
          <p:nvPr/>
        </p:nvSpPr>
        <p:spPr>
          <a:xfrm rot="2700000">
            <a:off x="6065909" y="3910161"/>
            <a:ext cx="57136" cy="57150"/>
          </a:xfrm>
          <a:prstGeom prst="rect">
            <a:avLst/>
          </a:prstGeom>
          <a:ln w="9525">
            <a:solidFill>
              <a:srgbClr val="2DE7F0">
                <a:alpha val="70196"/>
              </a:srgbClr>
            </a:solidFill>
            <a:prstDash val="solid"/>
            <a:headEnd type="none"/>
            <a:tailEnd type="none"/>
          </a:ln>
        </p:spPr>
      </p:sp>
      <p:sp>
        <p:nvSpPr>
          <p:cNvPr id="19" name="AutoShape 19"/>
          <p:cNvSpPr/>
          <p:nvPr/>
        </p:nvSpPr>
        <p:spPr>
          <a:xfrm>
            <a:off x="6275405" y="3933974"/>
            <a:ext cx="3658620" cy="9525"/>
          </a:xfrm>
          <a:prstGeom prst="rect">
            <a:avLst/>
          </a:prstGeom>
          <a:gradFill>
            <a:gsLst>
              <a:gs pos="0">
                <a:srgbClr val="2DE7F0">
                  <a:alpha val="0"/>
                </a:srgbClr>
              </a:gs>
              <a:gs pos="50000">
                <a:srgbClr val="2DE7F0">
                  <a:alpha val="36078"/>
                </a:srgbClr>
              </a:gs>
              <a:gs pos="100000">
                <a:srgbClr val="2DE7F0">
                  <a:alpha val="0"/>
                </a:srgbClr>
              </a:gs>
            </a:gsLst>
            <a:lin ang="5400000"/>
          </a:gradFill>
          <a:ln>
            <a:headEnd type="none"/>
            <a:tailEnd type="none"/>
          </a:ln>
        </p:spPr>
      </p:sp>
      <p:sp>
        <p:nvSpPr>
          <p:cNvPr id="20" name="TextBox 20"/>
          <p:cNvSpPr txBox="1"/>
          <p:nvPr/>
        </p:nvSpPr>
        <p:spPr>
          <a:xfrm>
            <a:off x="2603543" y="4272111"/>
            <a:ext cx="6981716" cy="285750"/>
          </a:xfrm>
          <a:prstGeom prst="rect">
            <a:avLst/>
          </a:prstGeom>
          <a:ln>
            <a:headEnd type="none"/>
            <a:tailEnd type="none"/>
          </a:ln>
        </p:spPr>
        <p:txBody>
          <a:bodyPr vert="horz" wrap="none" lIns="0" tIns="0" rIns="0" bIns="0" rtlCol="0" anchor="ctr" anchorCtr="1"/>
          <a:lstStyle/>
          <a:p>
            <a:pPr algn="ctr">
              <a:defRPr/>
            </a:pPr>
            <a:r>
              <a:rPr lang="en-US" sz="1500" b="0" i="0" strike="noStrike">
                <a:solidFill>
                  <a:srgbClr val="B9CED8">
                    <a:alpha val="100000"/>
                  </a:srgbClr>
                </a:solidFill>
                <a:latin typeface="Inter" panose="02000503000000020004"/>
                <a:ea typeface="Inter" panose="02000503000000020004"/>
                <a:cs typeface="Inter" panose="02000503000000020004"/>
              </a:rPr>
              <a:t>Ultra-Long Text Dynamic Memory Compression &amp; Efficient Q&amp;A System</a:t>
            </a:r>
            <a:endParaRPr lang="en-US" sz="1100"/>
          </a:p>
        </p:txBody>
      </p:sp>
      <p:sp>
        <p:nvSpPr>
          <p:cNvPr id="21" name="AutoShape 21"/>
          <p:cNvSpPr/>
          <p:nvPr/>
        </p:nvSpPr>
        <p:spPr>
          <a:xfrm>
            <a:off x="4951762" y="6286500"/>
            <a:ext cx="38090" cy="38100"/>
          </a:xfrm>
          <a:prstGeom prst="ellipse">
            <a:avLst/>
          </a:prstGeom>
          <a:solidFill>
            <a:srgbClr val="2DE7F0">
              <a:alpha val="60000"/>
            </a:srgbClr>
          </a:solidFill>
          <a:ln>
            <a:headEnd type="none"/>
            <a:tailEnd type="none"/>
          </a:ln>
        </p:spPr>
      </p:sp>
      <p:sp>
        <p:nvSpPr>
          <p:cNvPr id="22" name="AutoShape 22"/>
          <p:cNvSpPr/>
          <p:nvPr/>
        </p:nvSpPr>
        <p:spPr>
          <a:xfrm>
            <a:off x="4989852" y="6300788"/>
            <a:ext cx="1085578" cy="9525"/>
          </a:xfrm>
          <a:prstGeom prst="rect">
            <a:avLst/>
          </a:prstGeom>
          <a:solidFill>
            <a:srgbClr val="2DE7F0">
              <a:alpha val="25098"/>
            </a:srgbClr>
          </a:solidFill>
          <a:ln>
            <a:headEnd type="none"/>
            <a:tailEnd type="none"/>
          </a:ln>
        </p:spPr>
      </p:sp>
      <p:sp>
        <p:nvSpPr>
          <p:cNvPr id="23" name="AutoShape 23"/>
          <p:cNvSpPr/>
          <p:nvPr/>
        </p:nvSpPr>
        <p:spPr>
          <a:xfrm>
            <a:off x="6075431" y="6286500"/>
            <a:ext cx="38090" cy="38100"/>
          </a:xfrm>
          <a:prstGeom prst="ellipse">
            <a:avLst/>
          </a:prstGeom>
          <a:solidFill>
            <a:srgbClr val="2DE7F0">
              <a:alpha val="60000"/>
            </a:srgbClr>
          </a:solidFill>
          <a:ln>
            <a:headEnd type="none"/>
            <a:tailEnd type="none"/>
          </a:ln>
        </p:spPr>
      </p:sp>
      <p:sp>
        <p:nvSpPr>
          <p:cNvPr id="24" name="AutoShape 24"/>
          <p:cNvSpPr/>
          <p:nvPr/>
        </p:nvSpPr>
        <p:spPr>
          <a:xfrm>
            <a:off x="6113521" y="6300788"/>
            <a:ext cx="1085578" cy="9525"/>
          </a:xfrm>
          <a:prstGeom prst="rect">
            <a:avLst/>
          </a:prstGeom>
          <a:solidFill>
            <a:srgbClr val="2DE7F0">
              <a:alpha val="25098"/>
            </a:srgbClr>
          </a:solidFill>
          <a:ln>
            <a:headEnd type="none"/>
            <a:tailEnd type="none"/>
          </a:ln>
        </p:spPr>
      </p:sp>
      <p:sp>
        <p:nvSpPr>
          <p:cNvPr id="25" name="AutoShape 25"/>
          <p:cNvSpPr/>
          <p:nvPr/>
        </p:nvSpPr>
        <p:spPr>
          <a:xfrm>
            <a:off x="7199099" y="6286500"/>
            <a:ext cx="38090" cy="38100"/>
          </a:xfrm>
          <a:prstGeom prst="ellipse">
            <a:avLst/>
          </a:prstGeom>
          <a:solidFill>
            <a:srgbClr val="2DE7F0">
              <a:alpha val="60000"/>
            </a:srgbClr>
          </a:solidFill>
          <a:ln>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0" y="0"/>
            <a:ext cx="12188952" cy="6858000"/>
          </a:xfrm>
          <a:prstGeom prst="rect">
            <a:avLst/>
          </a:prstGeom>
          <a:blipFill rotWithShape="1">
            <a:blip r:embed="rId3">
              <a:alphaModFix amt="100000"/>
              <a:alphaModFix amt="100000"/>
            </a:blip>
            <a:stretch>
              <a:fillRect/>
            </a:stretch>
          </a:blipFill>
          <a:ln>
            <a:headEnd type="none"/>
            <a:tailEnd type="none"/>
          </a:ln>
        </p:spPr>
      </p:sp>
      <p:sp>
        <p:nvSpPr>
          <p:cNvPr id="7" name="AutoShape 7"/>
          <p:cNvSpPr/>
          <p:nvPr/>
        </p:nvSpPr>
        <p:spPr>
          <a:xfrm>
            <a:off x="609448" y="697706"/>
            <a:ext cx="457086" cy="9525"/>
          </a:xfrm>
          <a:prstGeom prst="rect">
            <a:avLst/>
          </a:prstGeom>
          <a:solidFill>
            <a:srgbClr val="2DE7F0">
              <a:alpha val="70196"/>
            </a:srgbClr>
          </a:solidFill>
          <a:ln>
            <a:headEnd type="none"/>
            <a:tailEnd type="none"/>
          </a:ln>
        </p:spPr>
      </p:sp>
      <p:sp>
        <p:nvSpPr>
          <p:cNvPr id="8" name="TextBox 8"/>
          <p:cNvSpPr txBox="1"/>
          <p:nvPr/>
        </p:nvSpPr>
        <p:spPr>
          <a:xfrm>
            <a:off x="1199850" y="628650"/>
            <a:ext cx="1585665"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Table of Contents</a:t>
            </a:r>
            <a:endParaRPr lang="en-US" sz="1100"/>
          </a:p>
        </p:txBody>
      </p:sp>
      <p:sp>
        <p:nvSpPr>
          <p:cNvPr id="9" name="TextBox 9"/>
          <p:cNvSpPr txBox="1"/>
          <p:nvPr/>
        </p:nvSpPr>
        <p:spPr>
          <a:xfrm>
            <a:off x="609448" y="938212"/>
            <a:ext cx="10970057" cy="552450"/>
          </a:xfrm>
          <a:prstGeom prst="rect">
            <a:avLst/>
          </a:prstGeom>
          <a:ln>
            <a:headEnd type="none"/>
            <a:tailEnd type="none"/>
          </a:ln>
        </p:spPr>
        <p:txBody>
          <a:bodyPr vert="horz" wrap="none" lIns="0" tIns="0" rIns="0" bIns="0" rtlCol="0" anchor="t" anchorCtr="0"/>
          <a:lstStyle/>
          <a:p>
            <a:pPr algn="l">
              <a:defRPr/>
            </a:pPr>
            <a:r>
              <a:rPr lang="en-US" sz="3900" b="1" i="0" strike="noStrike">
                <a:solidFill>
                  <a:srgbClr val="F4FAFF">
                    <a:alpha val="100000"/>
                  </a:srgbClr>
                </a:solidFill>
                <a:latin typeface="Inter" panose="02000503000000020004"/>
                <a:ea typeface="Inter" panose="02000503000000020004"/>
                <a:cs typeface="Inter" panose="02000503000000020004"/>
              </a:rPr>
              <a:t>Agenda</a:t>
            </a:r>
            <a:endParaRPr lang="en-US" sz="1100"/>
          </a:p>
        </p:txBody>
      </p:sp>
      <p:sp>
        <p:nvSpPr>
          <p:cNvPr id="10" name="AutoShape 10"/>
          <p:cNvSpPr/>
          <p:nvPr/>
        </p:nvSpPr>
        <p:spPr>
          <a:xfrm>
            <a:off x="609448" y="1558826"/>
            <a:ext cx="10970057"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1" name="AutoShape 11"/>
          <p:cNvSpPr/>
          <p:nvPr/>
        </p:nvSpPr>
        <p:spPr>
          <a:xfrm>
            <a:off x="609448" y="1911251"/>
            <a:ext cx="10970057" cy="760810"/>
          </a:xfrm>
          <a:prstGeom prst="roundRect">
            <a:avLst>
              <a:gd name="adj" fmla="val 12038"/>
            </a:avLst>
          </a:prstGeom>
          <a:solidFill>
            <a:srgbClr val="0C232E">
              <a:alpha val="61960"/>
            </a:srgbClr>
          </a:solidFill>
          <a:ln w="9525">
            <a:solidFill>
              <a:srgbClr val="2DE7F0">
                <a:alpha val="21960"/>
              </a:srgbClr>
            </a:solidFill>
            <a:prstDash val="solid"/>
            <a:headEnd type="none"/>
            <a:tailEnd type="none"/>
          </a:ln>
        </p:spPr>
      </p:sp>
      <p:sp>
        <p:nvSpPr>
          <p:cNvPr id="12" name="TextBox 12"/>
          <p:cNvSpPr txBox="1"/>
          <p:nvPr/>
        </p:nvSpPr>
        <p:spPr>
          <a:xfrm>
            <a:off x="885604" y="2120205"/>
            <a:ext cx="533267" cy="342900"/>
          </a:xfrm>
          <a:prstGeom prst="rect">
            <a:avLst/>
          </a:prstGeom>
          <a:ln>
            <a:headEnd type="none"/>
            <a:tailEnd type="none"/>
          </a:ln>
        </p:spPr>
        <p:txBody>
          <a:bodyPr vert="horz" wrap="none" lIns="0" tIns="0" rIns="0" bIns="0" rtlCol="0" anchor="t" anchorCtr="0"/>
          <a:lstStyle/>
          <a:p>
            <a:pPr algn="l">
              <a:defRPr/>
            </a:pPr>
            <a:r>
              <a:rPr lang="en-US" sz="2400" b="1" i="0" strike="noStrike">
                <a:solidFill>
                  <a:srgbClr val="2DE7F0">
                    <a:alpha val="100000"/>
                  </a:srgbClr>
                </a:solidFill>
                <a:latin typeface="Inter" panose="02000503000000020004"/>
                <a:ea typeface="Inter" panose="02000503000000020004"/>
                <a:cs typeface="Inter" panose="02000503000000020004"/>
              </a:rPr>
              <a:t>01</a:t>
            </a:r>
            <a:endParaRPr lang="en-US" sz="1100"/>
          </a:p>
        </p:txBody>
      </p:sp>
      <p:sp>
        <p:nvSpPr>
          <p:cNvPr id="13" name="AutoShape 13"/>
          <p:cNvSpPr/>
          <p:nvPr/>
        </p:nvSpPr>
        <p:spPr>
          <a:xfrm>
            <a:off x="1647414" y="2263080"/>
            <a:ext cx="57136" cy="57150"/>
          </a:xfrm>
          <a:prstGeom prst="ellipse">
            <a:avLst/>
          </a:prstGeom>
          <a:solidFill>
            <a:srgbClr val="2DE7F0">
              <a:alpha val="60000"/>
            </a:srgbClr>
          </a:solidFill>
          <a:ln>
            <a:headEnd type="none"/>
            <a:tailEnd type="none"/>
          </a:ln>
        </p:spPr>
      </p:sp>
      <p:sp>
        <p:nvSpPr>
          <p:cNvPr id="14" name="TextBox 14"/>
          <p:cNvSpPr txBox="1"/>
          <p:nvPr/>
        </p:nvSpPr>
        <p:spPr>
          <a:xfrm>
            <a:off x="1933091" y="2164259"/>
            <a:ext cx="2979984" cy="238125"/>
          </a:xfrm>
          <a:prstGeom prst="rect">
            <a:avLst/>
          </a:prstGeom>
          <a:ln>
            <a:headEnd type="none"/>
            <a:tailEnd type="none"/>
          </a:ln>
        </p:spPr>
        <p:txBody>
          <a:bodyPr vert="horz" wrap="non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Project Positioning &amp; Scenarios</a:t>
            </a:r>
            <a:endParaRPr lang="en-US" sz="1100"/>
          </a:p>
        </p:txBody>
      </p:sp>
      <p:sp>
        <p:nvSpPr>
          <p:cNvPr id="15" name="AutoShape 15"/>
          <p:cNvSpPr/>
          <p:nvPr/>
        </p:nvSpPr>
        <p:spPr>
          <a:xfrm>
            <a:off x="609448" y="2805410"/>
            <a:ext cx="10970057" cy="760810"/>
          </a:xfrm>
          <a:prstGeom prst="roundRect">
            <a:avLst>
              <a:gd name="adj" fmla="val 12038"/>
            </a:avLst>
          </a:prstGeom>
          <a:solidFill>
            <a:srgbClr val="0C232E">
              <a:alpha val="61960"/>
            </a:srgbClr>
          </a:solidFill>
          <a:ln w="9525">
            <a:solidFill>
              <a:srgbClr val="2DE7F0">
                <a:alpha val="21960"/>
              </a:srgbClr>
            </a:solidFill>
            <a:prstDash val="solid"/>
            <a:headEnd type="none"/>
            <a:tailEnd type="none"/>
          </a:ln>
        </p:spPr>
      </p:sp>
      <p:sp>
        <p:nvSpPr>
          <p:cNvPr id="16" name="TextBox 16"/>
          <p:cNvSpPr txBox="1"/>
          <p:nvPr/>
        </p:nvSpPr>
        <p:spPr>
          <a:xfrm>
            <a:off x="885604" y="3014365"/>
            <a:ext cx="533267" cy="342900"/>
          </a:xfrm>
          <a:prstGeom prst="rect">
            <a:avLst/>
          </a:prstGeom>
          <a:ln>
            <a:headEnd type="none"/>
            <a:tailEnd type="none"/>
          </a:ln>
        </p:spPr>
        <p:txBody>
          <a:bodyPr vert="horz" wrap="none" lIns="0" tIns="0" rIns="0" bIns="0" rtlCol="0" anchor="t" anchorCtr="0"/>
          <a:lstStyle/>
          <a:p>
            <a:pPr algn="l">
              <a:defRPr/>
            </a:pPr>
            <a:r>
              <a:rPr lang="en-US" sz="2400" b="1" i="0" strike="noStrike">
                <a:solidFill>
                  <a:srgbClr val="2DE7F0">
                    <a:alpha val="100000"/>
                  </a:srgbClr>
                </a:solidFill>
                <a:latin typeface="Inter" panose="02000503000000020004"/>
                <a:ea typeface="Inter" panose="02000503000000020004"/>
                <a:cs typeface="Inter" panose="02000503000000020004"/>
              </a:rPr>
              <a:t>02</a:t>
            </a:r>
            <a:endParaRPr lang="en-US" sz="1100"/>
          </a:p>
        </p:txBody>
      </p:sp>
      <p:sp>
        <p:nvSpPr>
          <p:cNvPr id="17" name="AutoShape 17"/>
          <p:cNvSpPr/>
          <p:nvPr/>
        </p:nvSpPr>
        <p:spPr>
          <a:xfrm>
            <a:off x="1647414" y="3157240"/>
            <a:ext cx="57136" cy="57150"/>
          </a:xfrm>
          <a:prstGeom prst="ellipse">
            <a:avLst/>
          </a:prstGeom>
          <a:solidFill>
            <a:srgbClr val="2DE7F0">
              <a:alpha val="60000"/>
            </a:srgbClr>
          </a:solidFill>
          <a:ln>
            <a:headEnd type="none"/>
            <a:tailEnd type="none"/>
          </a:ln>
        </p:spPr>
      </p:sp>
      <p:sp>
        <p:nvSpPr>
          <p:cNvPr id="18" name="TextBox 18"/>
          <p:cNvSpPr txBox="1"/>
          <p:nvPr/>
        </p:nvSpPr>
        <p:spPr>
          <a:xfrm>
            <a:off x="1933091" y="3058418"/>
            <a:ext cx="2898596" cy="238125"/>
          </a:xfrm>
          <a:prstGeom prst="rect">
            <a:avLst/>
          </a:prstGeom>
          <a:ln>
            <a:headEnd type="none"/>
            <a:tailEnd type="none"/>
          </a:ln>
        </p:spPr>
        <p:txBody>
          <a:bodyPr vert="horz" wrap="non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Core Innovation &amp; Architecture</a:t>
            </a:r>
            <a:endParaRPr lang="en-US" sz="1100"/>
          </a:p>
        </p:txBody>
      </p:sp>
      <p:sp>
        <p:nvSpPr>
          <p:cNvPr id="19" name="AutoShape 19"/>
          <p:cNvSpPr/>
          <p:nvPr/>
        </p:nvSpPr>
        <p:spPr>
          <a:xfrm>
            <a:off x="609448" y="3699570"/>
            <a:ext cx="10970057" cy="760810"/>
          </a:xfrm>
          <a:prstGeom prst="roundRect">
            <a:avLst>
              <a:gd name="adj" fmla="val 12038"/>
            </a:avLst>
          </a:prstGeom>
          <a:solidFill>
            <a:srgbClr val="0C232E">
              <a:alpha val="61960"/>
            </a:srgbClr>
          </a:solidFill>
          <a:ln w="9525">
            <a:solidFill>
              <a:srgbClr val="2DE7F0">
                <a:alpha val="21960"/>
              </a:srgbClr>
            </a:solidFill>
            <a:prstDash val="solid"/>
            <a:headEnd type="none"/>
            <a:tailEnd type="none"/>
          </a:ln>
        </p:spPr>
      </p:sp>
      <p:sp>
        <p:nvSpPr>
          <p:cNvPr id="20" name="TextBox 20"/>
          <p:cNvSpPr txBox="1"/>
          <p:nvPr/>
        </p:nvSpPr>
        <p:spPr>
          <a:xfrm>
            <a:off x="885604" y="3908524"/>
            <a:ext cx="533267" cy="342900"/>
          </a:xfrm>
          <a:prstGeom prst="rect">
            <a:avLst/>
          </a:prstGeom>
          <a:ln>
            <a:headEnd type="none"/>
            <a:tailEnd type="none"/>
          </a:ln>
        </p:spPr>
        <p:txBody>
          <a:bodyPr vert="horz" wrap="none" lIns="0" tIns="0" rIns="0" bIns="0" rtlCol="0" anchor="t" anchorCtr="0"/>
          <a:lstStyle/>
          <a:p>
            <a:pPr algn="l">
              <a:defRPr/>
            </a:pPr>
            <a:r>
              <a:rPr lang="en-US" sz="2400" b="1" i="0" strike="noStrike">
                <a:solidFill>
                  <a:srgbClr val="2DE7F0">
                    <a:alpha val="100000"/>
                  </a:srgbClr>
                </a:solidFill>
                <a:latin typeface="Inter" panose="02000503000000020004"/>
                <a:ea typeface="Inter" panose="02000503000000020004"/>
                <a:cs typeface="Inter" panose="02000503000000020004"/>
              </a:rPr>
              <a:t>03</a:t>
            </a:r>
            <a:endParaRPr lang="en-US" sz="1100"/>
          </a:p>
        </p:txBody>
      </p:sp>
      <p:sp>
        <p:nvSpPr>
          <p:cNvPr id="21" name="AutoShape 21"/>
          <p:cNvSpPr/>
          <p:nvPr/>
        </p:nvSpPr>
        <p:spPr>
          <a:xfrm>
            <a:off x="1647414" y="4051399"/>
            <a:ext cx="57136" cy="57150"/>
          </a:xfrm>
          <a:prstGeom prst="ellipse">
            <a:avLst/>
          </a:prstGeom>
          <a:solidFill>
            <a:srgbClr val="2DE7F0">
              <a:alpha val="60000"/>
            </a:srgbClr>
          </a:solidFill>
          <a:ln>
            <a:headEnd type="none"/>
            <a:tailEnd type="none"/>
          </a:ln>
        </p:spPr>
      </p:sp>
      <p:sp>
        <p:nvSpPr>
          <p:cNvPr id="22" name="TextBox 22"/>
          <p:cNvSpPr txBox="1"/>
          <p:nvPr/>
        </p:nvSpPr>
        <p:spPr>
          <a:xfrm>
            <a:off x="1933091" y="3952578"/>
            <a:ext cx="3713673" cy="238125"/>
          </a:xfrm>
          <a:prstGeom prst="rect">
            <a:avLst/>
          </a:prstGeom>
          <a:ln>
            <a:headEnd type="none"/>
            <a:tailEnd type="none"/>
          </a:ln>
        </p:spPr>
        <p:txBody>
          <a:bodyPr vert="horz" wrap="non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Knowledge Forge &amp; Cognitive Retrieval</a:t>
            </a:r>
            <a:endParaRPr lang="en-US" sz="1100"/>
          </a:p>
        </p:txBody>
      </p:sp>
      <p:sp>
        <p:nvSpPr>
          <p:cNvPr id="23" name="AutoShape 23"/>
          <p:cNvSpPr/>
          <p:nvPr/>
        </p:nvSpPr>
        <p:spPr>
          <a:xfrm>
            <a:off x="609448" y="4593728"/>
            <a:ext cx="10970057" cy="760810"/>
          </a:xfrm>
          <a:prstGeom prst="roundRect">
            <a:avLst>
              <a:gd name="adj" fmla="val 12038"/>
            </a:avLst>
          </a:prstGeom>
          <a:solidFill>
            <a:srgbClr val="0C232E">
              <a:alpha val="61960"/>
            </a:srgbClr>
          </a:solidFill>
          <a:ln w="9525">
            <a:solidFill>
              <a:srgbClr val="2DE7F0">
                <a:alpha val="21960"/>
              </a:srgbClr>
            </a:solidFill>
            <a:prstDash val="solid"/>
            <a:headEnd type="none"/>
            <a:tailEnd type="none"/>
          </a:ln>
        </p:spPr>
      </p:sp>
      <p:sp>
        <p:nvSpPr>
          <p:cNvPr id="24" name="TextBox 24"/>
          <p:cNvSpPr txBox="1"/>
          <p:nvPr/>
        </p:nvSpPr>
        <p:spPr>
          <a:xfrm>
            <a:off x="885604" y="4802684"/>
            <a:ext cx="533267" cy="342900"/>
          </a:xfrm>
          <a:prstGeom prst="rect">
            <a:avLst/>
          </a:prstGeom>
          <a:ln>
            <a:headEnd type="none"/>
            <a:tailEnd type="none"/>
          </a:ln>
        </p:spPr>
        <p:txBody>
          <a:bodyPr vert="horz" wrap="none" lIns="0" tIns="0" rIns="0" bIns="0" rtlCol="0" anchor="t" anchorCtr="0"/>
          <a:lstStyle/>
          <a:p>
            <a:pPr algn="l">
              <a:defRPr/>
            </a:pPr>
            <a:r>
              <a:rPr lang="en-US" sz="2400" b="1" i="0" strike="noStrike">
                <a:solidFill>
                  <a:srgbClr val="2DE7F0">
                    <a:alpha val="100000"/>
                  </a:srgbClr>
                </a:solidFill>
                <a:latin typeface="Inter" panose="02000503000000020004"/>
                <a:ea typeface="Inter" panose="02000503000000020004"/>
                <a:cs typeface="Inter" panose="02000503000000020004"/>
              </a:rPr>
              <a:t>04</a:t>
            </a:r>
            <a:endParaRPr lang="en-US" sz="1100"/>
          </a:p>
        </p:txBody>
      </p:sp>
      <p:sp>
        <p:nvSpPr>
          <p:cNvPr id="25" name="AutoShape 25"/>
          <p:cNvSpPr/>
          <p:nvPr/>
        </p:nvSpPr>
        <p:spPr>
          <a:xfrm>
            <a:off x="1647414" y="4945559"/>
            <a:ext cx="57136" cy="57150"/>
          </a:xfrm>
          <a:prstGeom prst="ellipse">
            <a:avLst/>
          </a:prstGeom>
          <a:solidFill>
            <a:srgbClr val="2DE7F0">
              <a:alpha val="60000"/>
            </a:srgbClr>
          </a:solidFill>
          <a:ln>
            <a:headEnd type="none"/>
            <a:tailEnd type="none"/>
          </a:ln>
        </p:spPr>
      </p:sp>
      <p:sp>
        <p:nvSpPr>
          <p:cNvPr id="26" name="TextBox 26"/>
          <p:cNvSpPr txBox="1"/>
          <p:nvPr/>
        </p:nvSpPr>
        <p:spPr>
          <a:xfrm>
            <a:off x="1933091" y="4846737"/>
            <a:ext cx="3771849" cy="238125"/>
          </a:xfrm>
          <a:prstGeom prst="rect">
            <a:avLst/>
          </a:prstGeom>
          <a:ln>
            <a:headEnd type="none"/>
            <a:tailEnd type="none"/>
          </a:ln>
        </p:spPr>
        <p:txBody>
          <a:bodyPr vert="horz" wrap="non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Technical Breakthroughs &amp; Benchmarks</a:t>
            </a:r>
            <a:endParaRPr lang="en-US" sz="1100"/>
          </a:p>
        </p:txBody>
      </p:sp>
      <p:sp>
        <p:nvSpPr>
          <p:cNvPr id="27" name="AutoShape 27"/>
          <p:cNvSpPr/>
          <p:nvPr/>
        </p:nvSpPr>
        <p:spPr>
          <a:xfrm>
            <a:off x="609448" y="5487888"/>
            <a:ext cx="10970057" cy="760810"/>
          </a:xfrm>
          <a:prstGeom prst="roundRect">
            <a:avLst>
              <a:gd name="adj" fmla="val 12038"/>
            </a:avLst>
          </a:prstGeom>
          <a:solidFill>
            <a:srgbClr val="0C232E">
              <a:alpha val="61960"/>
            </a:srgbClr>
          </a:solidFill>
          <a:ln w="9525">
            <a:solidFill>
              <a:srgbClr val="2DE7F0">
                <a:alpha val="21960"/>
              </a:srgbClr>
            </a:solidFill>
            <a:prstDash val="solid"/>
            <a:headEnd type="none"/>
            <a:tailEnd type="none"/>
          </a:ln>
        </p:spPr>
      </p:sp>
      <p:sp>
        <p:nvSpPr>
          <p:cNvPr id="28" name="TextBox 28"/>
          <p:cNvSpPr txBox="1"/>
          <p:nvPr/>
        </p:nvSpPr>
        <p:spPr>
          <a:xfrm>
            <a:off x="885604" y="5696843"/>
            <a:ext cx="533267" cy="342900"/>
          </a:xfrm>
          <a:prstGeom prst="rect">
            <a:avLst/>
          </a:prstGeom>
          <a:ln>
            <a:headEnd type="none"/>
            <a:tailEnd type="none"/>
          </a:ln>
        </p:spPr>
        <p:txBody>
          <a:bodyPr vert="horz" wrap="none" lIns="0" tIns="0" rIns="0" bIns="0" rtlCol="0" anchor="t" anchorCtr="0"/>
          <a:lstStyle/>
          <a:p>
            <a:pPr algn="l">
              <a:defRPr/>
            </a:pPr>
            <a:r>
              <a:rPr lang="en-US" sz="2400" b="1" i="0" strike="noStrike">
                <a:solidFill>
                  <a:srgbClr val="2DE7F0">
                    <a:alpha val="100000"/>
                  </a:srgbClr>
                </a:solidFill>
                <a:latin typeface="Inter" panose="02000503000000020004"/>
                <a:ea typeface="Inter" panose="02000503000000020004"/>
                <a:cs typeface="Inter" panose="02000503000000020004"/>
              </a:rPr>
              <a:t>05</a:t>
            </a:r>
            <a:endParaRPr lang="en-US" sz="1100"/>
          </a:p>
        </p:txBody>
      </p:sp>
      <p:sp>
        <p:nvSpPr>
          <p:cNvPr id="29" name="AutoShape 29"/>
          <p:cNvSpPr/>
          <p:nvPr/>
        </p:nvSpPr>
        <p:spPr>
          <a:xfrm>
            <a:off x="1647414" y="5839718"/>
            <a:ext cx="57136" cy="57150"/>
          </a:xfrm>
          <a:prstGeom prst="ellipse">
            <a:avLst/>
          </a:prstGeom>
          <a:solidFill>
            <a:srgbClr val="2DE7F0">
              <a:alpha val="60000"/>
            </a:srgbClr>
          </a:solidFill>
          <a:ln>
            <a:headEnd type="none"/>
            <a:tailEnd type="none"/>
          </a:ln>
        </p:spPr>
      </p:sp>
      <p:sp>
        <p:nvSpPr>
          <p:cNvPr id="30" name="TextBox 30"/>
          <p:cNvSpPr txBox="1"/>
          <p:nvPr/>
        </p:nvSpPr>
        <p:spPr>
          <a:xfrm>
            <a:off x="1933091" y="5740897"/>
            <a:ext cx="3608179" cy="238125"/>
          </a:xfrm>
          <a:prstGeom prst="rect">
            <a:avLst/>
          </a:prstGeom>
          <a:ln>
            <a:headEnd type="none"/>
            <a:tailEnd type="none"/>
          </a:ln>
        </p:spPr>
        <p:txBody>
          <a:bodyPr vert="horz" wrap="non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Deployment, Benchmarks &amp; Summary</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30A0F">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0" y="0"/>
            <a:ext cx="12188952" cy="6858000"/>
          </a:xfrm>
          <a:prstGeom prst="rect">
            <a:avLst/>
          </a:prstGeom>
          <a:blipFill rotWithShape="1">
            <a:blip r:embed="rId3">
              <a:alphaModFix amt="100000"/>
              <a:alphaModFix amt="100000"/>
            </a:blip>
            <a:stretch>
              <a:fillRect/>
            </a:stretch>
          </a:blipFill>
          <a:ln>
            <a:headEnd type="none"/>
            <a:tailEnd type="none"/>
          </a:ln>
        </p:spPr>
      </p:sp>
      <p:sp>
        <p:nvSpPr>
          <p:cNvPr id="7" name="AutoShape 7"/>
          <p:cNvSpPr/>
          <p:nvPr/>
        </p:nvSpPr>
        <p:spPr>
          <a:xfrm>
            <a:off x="1523619" y="762000"/>
            <a:ext cx="9522" cy="5334000"/>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AutoShape 8"/>
          <p:cNvSpPr/>
          <p:nvPr/>
        </p:nvSpPr>
        <p:spPr>
          <a:xfrm>
            <a:off x="10665333" y="571500"/>
            <a:ext cx="9522" cy="5715000"/>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1904524" y="1333500"/>
            <a:ext cx="8379904"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0" name="AutoShape 10"/>
          <p:cNvSpPr/>
          <p:nvPr/>
        </p:nvSpPr>
        <p:spPr>
          <a:xfrm>
            <a:off x="1714072" y="5324475"/>
            <a:ext cx="876080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1" name="AutoShape 11"/>
          <p:cNvSpPr/>
          <p:nvPr/>
        </p:nvSpPr>
        <p:spPr>
          <a:xfrm>
            <a:off x="1495052" y="1304925"/>
            <a:ext cx="57136" cy="57150"/>
          </a:xfrm>
          <a:prstGeom prst="ellipse">
            <a:avLst/>
          </a:prstGeom>
          <a:ln w="9525">
            <a:solidFill>
              <a:srgbClr val="2DE7F0">
                <a:alpha val="34901"/>
              </a:srgbClr>
            </a:solidFill>
            <a:prstDash val="solid"/>
            <a:headEnd type="none"/>
            <a:tailEnd type="none"/>
          </a:ln>
        </p:spPr>
      </p:sp>
      <p:sp>
        <p:nvSpPr>
          <p:cNvPr id="12" name="AutoShape 12"/>
          <p:cNvSpPr/>
          <p:nvPr/>
        </p:nvSpPr>
        <p:spPr>
          <a:xfrm>
            <a:off x="1495052" y="6067425"/>
            <a:ext cx="57136" cy="57150"/>
          </a:xfrm>
          <a:prstGeom prst="ellipse">
            <a:avLst/>
          </a:prstGeom>
          <a:ln w="9525">
            <a:solidFill>
              <a:srgbClr val="2DE7F0">
                <a:alpha val="34901"/>
              </a:srgbClr>
            </a:solidFill>
            <a:prstDash val="solid"/>
            <a:headEnd type="none"/>
            <a:tailEnd type="none"/>
          </a:ln>
        </p:spPr>
      </p:sp>
      <p:sp>
        <p:nvSpPr>
          <p:cNvPr id="13" name="AutoShape 13"/>
          <p:cNvSpPr/>
          <p:nvPr/>
        </p:nvSpPr>
        <p:spPr>
          <a:xfrm>
            <a:off x="10636766" y="1304925"/>
            <a:ext cx="57136" cy="57150"/>
          </a:xfrm>
          <a:prstGeom prst="ellipse">
            <a:avLst/>
          </a:prstGeom>
          <a:ln w="9525">
            <a:solidFill>
              <a:srgbClr val="2DE7F0">
                <a:alpha val="34901"/>
              </a:srgbClr>
            </a:solidFill>
            <a:prstDash val="solid"/>
            <a:headEnd type="none"/>
            <a:tailEnd type="none"/>
          </a:ln>
        </p:spPr>
      </p:sp>
      <p:sp>
        <p:nvSpPr>
          <p:cNvPr id="14" name="AutoShape 14"/>
          <p:cNvSpPr/>
          <p:nvPr/>
        </p:nvSpPr>
        <p:spPr>
          <a:xfrm>
            <a:off x="10636766" y="6257925"/>
            <a:ext cx="57136" cy="57150"/>
          </a:xfrm>
          <a:prstGeom prst="ellipse">
            <a:avLst/>
          </a:prstGeom>
          <a:ln w="9525">
            <a:solidFill>
              <a:srgbClr val="2DE7F0">
                <a:alpha val="34901"/>
              </a:srgbClr>
            </a:solidFill>
            <a:prstDash val="solid"/>
            <a:headEnd type="none"/>
            <a:tailEnd type="none"/>
          </a:ln>
        </p:spPr>
      </p:sp>
      <p:sp>
        <p:nvSpPr>
          <p:cNvPr id="15" name="AutoShape 15"/>
          <p:cNvSpPr/>
          <p:nvPr/>
        </p:nvSpPr>
        <p:spPr>
          <a:xfrm>
            <a:off x="952261" y="952500"/>
            <a:ext cx="266633" cy="9525"/>
          </a:xfrm>
          <a:prstGeom prst="line">
            <a:avLst/>
          </a:prstGeom>
          <a:ln w="9525">
            <a:solidFill>
              <a:srgbClr val="F4FAFF">
                <a:alpha val="20000"/>
              </a:srgbClr>
            </a:solidFill>
            <a:prstDash val="solid"/>
            <a:headEnd type="none"/>
            <a:tailEnd type="none"/>
          </a:ln>
        </p:spPr>
      </p:sp>
      <p:sp>
        <p:nvSpPr>
          <p:cNvPr id="16" name="AutoShape 16"/>
          <p:cNvSpPr/>
          <p:nvPr/>
        </p:nvSpPr>
        <p:spPr>
          <a:xfrm>
            <a:off x="952261" y="952500"/>
            <a:ext cx="9522" cy="266700"/>
          </a:xfrm>
          <a:prstGeom prst="line">
            <a:avLst/>
          </a:prstGeom>
          <a:ln w="9525">
            <a:solidFill>
              <a:srgbClr val="F4FAFF">
                <a:alpha val="20000"/>
              </a:srgbClr>
            </a:solidFill>
            <a:prstDash val="solid"/>
            <a:headEnd type="none"/>
            <a:tailEnd type="none"/>
          </a:ln>
        </p:spPr>
      </p:sp>
      <p:sp>
        <p:nvSpPr>
          <p:cNvPr id="17" name="AutoShape 17"/>
          <p:cNvSpPr/>
          <p:nvPr/>
        </p:nvSpPr>
        <p:spPr>
          <a:xfrm>
            <a:off x="10970057" y="952500"/>
            <a:ext cx="266633" cy="9525"/>
          </a:xfrm>
          <a:prstGeom prst="line">
            <a:avLst/>
          </a:prstGeom>
          <a:ln w="9525">
            <a:solidFill>
              <a:srgbClr val="F4FAFF">
                <a:alpha val="20000"/>
              </a:srgbClr>
            </a:solidFill>
            <a:prstDash val="solid"/>
            <a:headEnd type="none"/>
            <a:tailEnd type="none"/>
          </a:ln>
        </p:spPr>
      </p:sp>
      <p:sp>
        <p:nvSpPr>
          <p:cNvPr id="18" name="AutoShape 18"/>
          <p:cNvSpPr/>
          <p:nvPr/>
        </p:nvSpPr>
        <p:spPr>
          <a:xfrm>
            <a:off x="11227167" y="952500"/>
            <a:ext cx="9522" cy="266700"/>
          </a:xfrm>
          <a:prstGeom prst="line">
            <a:avLst/>
          </a:prstGeom>
          <a:ln w="9525">
            <a:solidFill>
              <a:srgbClr val="F4FAFF">
                <a:alpha val="20000"/>
              </a:srgbClr>
            </a:solidFill>
            <a:prstDash val="solid"/>
            <a:headEnd type="none"/>
            <a:tailEnd type="none"/>
          </a:ln>
        </p:spPr>
      </p:sp>
      <p:sp>
        <p:nvSpPr>
          <p:cNvPr id="19" name="AutoShape 19"/>
          <p:cNvSpPr/>
          <p:nvPr/>
        </p:nvSpPr>
        <p:spPr>
          <a:xfrm>
            <a:off x="952261" y="5895975"/>
            <a:ext cx="266633" cy="9525"/>
          </a:xfrm>
          <a:prstGeom prst="line">
            <a:avLst/>
          </a:prstGeom>
          <a:ln w="9525">
            <a:solidFill>
              <a:srgbClr val="F4FAFF">
                <a:alpha val="20000"/>
              </a:srgbClr>
            </a:solidFill>
            <a:prstDash val="solid"/>
            <a:headEnd type="none"/>
            <a:tailEnd type="none"/>
          </a:ln>
        </p:spPr>
      </p:sp>
      <p:sp>
        <p:nvSpPr>
          <p:cNvPr id="20" name="AutoShape 20"/>
          <p:cNvSpPr/>
          <p:nvPr/>
        </p:nvSpPr>
        <p:spPr>
          <a:xfrm>
            <a:off x="952261" y="5638800"/>
            <a:ext cx="9522" cy="266700"/>
          </a:xfrm>
          <a:prstGeom prst="line">
            <a:avLst/>
          </a:prstGeom>
          <a:ln w="9525">
            <a:solidFill>
              <a:srgbClr val="F4FAFF">
                <a:alpha val="20000"/>
              </a:srgbClr>
            </a:solidFill>
            <a:prstDash val="solid"/>
            <a:headEnd type="none"/>
            <a:tailEnd type="none"/>
          </a:ln>
        </p:spPr>
      </p:sp>
      <p:sp>
        <p:nvSpPr>
          <p:cNvPr id="21" name="AutoShape 21"/>
          <p:cNvSpPr/>
          <p:nvPr/>
        </p:nvSpPr>
        <p:spPr>
          <a:xfrm>
            <a:off x="11227167" y="5638800"/>
            <a:ext cx="9522" cy="266700"/>
          </a:xfrm>
          <a:prstGeom prst="line">
            <a:avLst/>
          </a:prstGeom>
          <a:ln w="9525">
            <a:solidFill>
              <a:srgbClr val="F4FAFF">
                <a:alpha val="20000"/>
              </a:srgbClr>
            </a:solidFill>
            <a:prstDash val="solid"/>
            <a:headEnd type="none"/>
            <a:tailEnd type="none"/>
          </a:ln>
        </p:spPr>
      </p:sp>
      <p:sp>
        <p:nvSpPr>
          <p:cNvPr id="22" name="AutoShape 22"/>
          <p:cNvSpPr/>
          <p:nvPr/>
        </p:nvSpPr>
        <p:spPr>
          <a:xfrm>
            <a:off x="10970057" y="5895975"/>
            <a:ext cx="266633" cy="9525"/>
          </a:xfrm>
          <a:prstGeom prst="line">
            <a:avLst/>
          </a:prstGeom>
          <a:ln w="9525">
            <a:solidFill>
              <a:srgbClr val="F4FAFF">
                <a:alpha val="20000"/>
              </a:srgbClr>
            </a:solidFill>
            <a:prstDash val="solid"/>
            <a:headEnd type="none"/>
            <a:tailEnd type="none"/>
          </a:ln>
        </p:spPr>
      </p:sp>
      <p:sp>
        <p:nvSpPr>
          <p:cNvPr id="23" name="AutoShape 23"/>
          <p:cNvSpPr/>
          <p:nvPr/>
        </p:nvSpPr>
        <p:spPr>
          <a:xfrm>
            <a:off x="4950125" y="2354759"/>
            <a:ext cx="457086" cy="9525"/>
          </a:xfrm>
          <a:prstGeom prst="rect">
            <a:avLst/>
          </a:prstGeom>
          <a:solidFill>
            <a:srgbClr val="2DE7F0">
              <a:alpha val="50196"/>
            </a:srgbClr>
          </a:solidFill>
          <a:ln>
            <a:headEnd type="none"/>
            <a:tailEnd type="none"/>
          </a:ln>
        </p:spPr>
      </p:sp>
      <p:sp>
        <p:nvSpPr>
          <p:cNvPr id="24" name="TextBox 24"/>
          <p:cNvSpPr txBox="1"/>
          <p:nvPr/>
        </p:nvSpPr>
        <p:spPr>
          <a:xfrm>
            <a:off x="5559572" y="2278559"/>
            <a:ext cx="1107897" cy="152400"/>
          </a:xfrm>
          <a:prstGeom prst="rect">
            <a:avLst/>
          </a:prstGeom>
          <a:ln>
            <a:headEnd type="none"/>
            <a:tailEnd type="none"/>
          </a:ln>
        </p:spPr>
        <p:txBody>
          <a:bodyPr vert="horz" wrap="none" lIns="0" tIns="0" rIns="0" bIns="0" rtlCol="0" anchor="t" anchorCtr="1"/>
          <a:lstStyle/>
          <a:p>
            <a:pPr algn="ctr">
              <a:defRPr/>
            </a:pPr>
            <a:r>
              <a:rPr lang="en-US" sz="1000" b="1" i="0" strike="noStrike">
                <a:solidFill>
                  <a:srgbClr val="2DE7F0">
                    <a:alpha val="100000"/>
                  </a:srgbClr>
                </a:solidFill>
                <a:latin typeface="Inter" panose="02000503000000020004"/>
                <a:ea typeface="Inter" panose="02000503000000020004"/>
                <a:cs typeface="Inter" panose="02000503000000020004"/>
              </a:rPr>
              <a:t>CHAPTER 01</a:t>
            </a:r>
            <a:endParaRPr lang="en-US" sz="1100"/>
          </a:p>
        </p:txBody>
      </p:sp>
      <p:sp>
        <p:nvSpPr>
          <p:cNvPr id="25" name="AutoShape 25"/>
          <p:cNvSpPr/>
          <p:nvPr/>
        </p:nvSpPr>
        <p:spPr>
          <a:xfrm>
            <a:off x="6781742" y="2354759"/>
            <a:ext cx="457086" cy="9525"/>
          </a:xfrm>
          <a:prstGeom prst="rect">
            <a:avLst/>
          </a:prstGeom>
          <a:solidFill>
            <a:srgbClr val="2DE7F0">
              <a:alpha val="50196"/>
            </a:srgbClr>
          </a:solidFill>
          <a:ln>
            <a:headEnd type="none"/>
            <a:tailEnd type="none"/>
          </a:ln>
        </p:spPr>
      </p:sp>
      <p:sp>
        <p:nvSpPr>
          <p:cNvPr id="26" name="TextBox 26"/>
          <p:cNvSpPr txBox="1"/>
          <p:nvPr/>
        </p:nvSpPr>
        <p:spPr>
          <a:xfrm>
            <a:off x="1207587" y="2840534"/>
            <a:ext cx="9773778" cy="544711"/>
          </a:xfrm>
          <a:prstGeom prst="rect">
            <a:avLst/>
          </a:prstGeom>
          <a:ln>
            <a:headEnd type="none"/>
            <a:tailEnd type="none"/>
          </a:ln>
        </p:spPr>
        <p:txBody>
          <a:bodyPr vert="horz" wrap="none" lIns="0" tIns="0" rIns="0" bIns="0" rtlCol="0" anchor="t" anchorCtr="1"/>
          <a:lstStyle/>
          <a:p>
            <a:pPr algn="ctr">
              <a:defRPr/>
            </a:pPr>
            <a:r>
              <a:rPr lang="en-US" sz="3900" b="1" i="0" strike="noStrike">
                <a:solidFill>
                  <a:srgbClr val="F4FAFF">
                    <a:alpha val="100000"/>
                  </a:srgbClr>
                </a:solidFill>
                <a:latin typeface="Inter" panose="02000503000000020004"/>
                <a:ea typeface="Inter" panose="02000503000000020004"/>
                <a:cs typeface="Inter" panose="02000503000000020004"/>
              </a:rPr>
              <a:t>Project Positioning </a:t>
            </a:r>
            <a:r>
              <a:rPr sz="3900" b="1" i="0" strike="noStrike">
                <a:solidFill>
                  <a:srgbClr val="2DE7F0">
                    <a:alpha val="100000"/>
                  </a:srgbClr>
                </a:solidFill>
                <a:latin typeface="Inter" panose="02000503000000020004"/>
                <a:ea typeface="Inter" panose="02000503000000020004"/>
                <a:cs typeface="Inter" panose="02000503000000020004"/>
              </a:rPr>
              <a:t>&amp;</a:t>
            </a:r>
            <a:r>
              <a:rPr sz="3900" b="1" i="0" strike="noStrike">
                <a:solidFill>
                  <a:srgbClr val="F4FAFF">
                    <a:alpha val="100000"/>
                  </a:srgbClr>
                </a:solidFill>
                <a:latin typeface="Inter" panose="02000503000000020004"/>
                <a:ea typeface="Inter" panose="02000503000000020004"/>
                <a:cs typeface="Inter" panose="02000503000000020004"/>
              </a:rPr>
              <a:t> Scenarios</a:t>
            </a:r>
            <a:endParaRPr lang="en-US" sz="1100"/>
          </a:p>
        </p:txBody>
      </p:sp>
      <p:sp>
        <p:nvSpPr>
          <p:cNvPr id="27" name="AutoShape 27"/>
          <p:cNvSpPr/>
          <p:nvPr/>
        </p:nvSpPr>
        <p:spPr>
          <a:xfrm>
            <a:off x="5332666" y="3685282"/>
            <a:ext cx="571358" cy="9525"/>
          </a:xfrm>
          <a:prstGeom prst="rect">
            <a:avLst/>
          </a:prstGeom>
          <a:gradFill>
            <a:gsLst>
              <a:gs pos="0">
                <a:srgbClr val="2DE7F0">
                  <a:alpha val="0"/>
                </a:srgbClr>
              </a:gs>
              <a:gs pos="100000">
                <a:srgbClr val="2DE7F0">
                  <a:alpha val="100000"/>
                </a:srgbClr>
              </a:gs>
            </a:gsLst>
            <a:lin ang="5400000"/>
          </a:gradFill>
          <a:ln>
            <a:headEnd type="none"/>
            <a:tailEnd type="none"/>
          </a:ln>
        </p:spPr>
      </p:sp>
      <p:sp>
        <p:nvSpPr>
          <p:cNvPr id="28" name="AutoShape 28"/>
          <p:cNvSpPr/>
          <p:nvPr/>
        </p:nvSpPr>
        <p:spPr>
          <a:xfrm rot="2700000">
            <a:off x="6056386" y="3651945"/>
            <a:ext cx="76181" cy="76200"/>
          </a:xfrm>
          <a:prstGeom prst="rect">
            <a:avLst/>
          </a:prstGeom>
          <a:ln w="9525">
            <a:solidFill>
              <a:srgbClr val="2DE7F0">
                <a:alpha val="70196"/>
              </a:srgbClr>
            </a:solidFill>
            <a:prstDash val="solid"/>
            <a:headEnd type="none"/>
            <a:tailEnd type="none"/>
          </a:ln>
        </p:spPr>
      </p:sp>
      <p:sp>
        <p:nvSpPr>
          <p:cNvPr id="29" name="AutoShape 29"/>
          <p:cNvSpPr/>
          <p:nvPr/>
        </p:nvSpPr>
        <p:spPr>
          <a:xfrm>
            <a:off x="6284928" y="3685282"/>
            <a:ext cx="571358" cy="9525"/>
          </a:xfrm>
          <a:prstGeom prst="rect">
            <a:avLst/>
          </a:prstGeom>
          <a:gradFill>
            <a:gsLst>
              <a:gs pos="0">
                <a:srgbClr val="2DE7F0">
                  <a:alpha val="100000"/>
                </a:srgbClr>
              </a:gs>
              <a:gs pos="100000">
                <a:srgbClr val="2DE7F0">
                  <a:alpha val="0"/>
                </a:srgbClr>
              </a:gs>
            </a:gsLst>
            <a:lin ang="5400000"/>
          </a:gradFill>
          <a:ln>
            <a:headEnd type="none"/>
            <a:tailEnd type="none"/>
          </a:ln>
        </p:spPr>
      </p:sp>
      <p:sp>
        <p:nvSpPr>
          <p:cNvPr id="30" name="TextBox 30"/>
          <p:cNvSpPr txBox="1"/>
          <p:nvPr/>
        </p:nvSpPr>
        <p:spPr>
          <a:xfrm>
            <a:off x="2751591" y="4032945"/>
            <a:ext cx="6685771" cy="565546"/>
          </a:xfrm>
          <a:prstGeom prst="rect">
            <a:avLst/>
          </a:prstGeom>
          <a:ln>
            <a:headEnd type="none"/>
            <a:tailEnd type="none"/>
          </a:ln>
        </p:spPr>
        <p:txBody>
          <a:bodyPr vert="horz" wrap="square" lIns="0" tIns="0" rIns="0" bIns="0" rtlCol="0" anchor="ctr" anchorCtr="1"/>
          <a:lstStyle/>
          <a:p>
            <a:pPr algn="ctr">
              <a:defRPr/>
            </a:pPr>
            <a:r>
              <a:rPr lang="en-US" sz="1300" b="0" i="0" strike="noStrike">
                <a:solidFill>
                  <a:srgbClr val="B9CED8">
                    <a:alpha val="100000"/>
                  </a:srgbClr>
                </a:solidFill>
                <a:latin typeface="Inter" panose="02000503000000020004"/>
                <a:ea typeface="Inter" panose="02000503000000020004"/>
                <a:cs typeface="Inter" panose="02000503000000020004"/>
              </a:rPr>
              <a:t>Redefining financial onboarding through AI-driven knowledge accumulation and</a:t>
            </a:r>
            <a:endParaRPr lang="en-US" sz="1100"/>
          </a:p>
          <a:p>
            <a:pPr algn="ctr"/>
            <a:r>
              <a:rPr sz="1300" b="0" i="0" strike="noStrike">
                <a:solidFill>
                  <a:srgbClr val="B9CED8">
                    <a:alpha val="100000"/>
                  </a:srgbClr>
                </a:solidFill>
                <a:latin typeface="Inter" panose="02000503000000020004"/>
                <a:ea typeface="Inter" panose="02000503000000020004"/>
                <a:cs typeface="Inter" panose="02000503000000020004"/>
              </a:rPr>
              <a:t>personalized empowerment</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171407" y="171450"/>
            <a:ext cx="266633" cy="9525"/>
          </a:xfrm>
          <a:prstGeom prst="line">
            <a:avLst/>
          </a:prstGeom>
          <a:ln w="9525">
            <a:solidFill>
              <a:srgbClr val="2DE7F0">
                <a:alpha val="34901"/>
              </a:srgbClr>
            </a:solidFill>
            <a:prstDash val="solid"/>
            <a:headEnd type="none"/>
            <a:tailEnd type="none"/>
          </a:ln>
        </p:spPr>
      </p:sp>
      <p:sp>
        <p:nvSpPr>
          <p:cNvPr id="6" name="AutoShape 6"/>
          <p:cNvSpPr/>
          <p:nvPr/>
        </p:nvSpPr>
        <p:spPr>
          <a:xfrm>
            <a:off x="171407" y="171450"/>
            <a:ext cx="9522" cy="266700"/>
          </a:xfrm>
          <a:prstGeom prst="line">
            <a:avLst/>
          </a:prstGeom>
          <a:ln w="9525">
            <a:solidFill>
              <a:srgbClr val="2DE7F0">
                <a:alpha val="34901"/>
              </a:srgbClr>
            </a:solidFill>
            <a:prstDash val="solid"/>
            <a:headEnd type="none"/>
            <a:tailEnd type="none"/>
          </a:ln>
        </p:spPr>
      </p:sp>
      <p:sp>
        <p:nvSpPr>
          <p:cNvPr id="7" name="AutoShape 7"/>
          <p:cNvSpPr/>
          <p:nvPr/>
        </p:nvSpPr>
        <p:spPr>
          <a:xfrm>
            <a:off x="11750911" y="171450"/>
            <a:ext cx="266633" cy="9525"/>
          </a:xfrm>
          <a:prstGeom prst="line">
            <a:avLst/>
          </a:prstGeom>
          <a:ln w="9525">
            <a:solidFill>
              <a:srgbClr val="2DE7F0">
                <a:alpha val="34901"/>
              </a:srgbClr>
            </a:solidFill>
            <a:prstDash val="solid"/>
            <a:headEnd type="none"/>
            <a:tailEnd type="none"/>
          </a:ln>
        </p:spPr>
      </p:sp>
      <p:sp>
        <p:nvSpPr>
          <p:cNvPr id="8" name="AutoShape 8"/>
          <p:cNvSpPr/>
          <p:nvPr/>
        </p:nvSpPr>
        <p:spPr>
          <a:xfrm>
            <a:off x="12008023" y="171450"/>
            <a:ext cx="9522" cy="266700"/>
          </a:xfrm>
          <a:prstGeom prst="line">
            <a:avLst/>
          </a:prstGeom>
          <a:ln w="9525">
            <a:solidFill>
              <a:srgbClr val="2DE7F0">
                <a:alpha val="34901"/>
              </a:srgbClr>
            </a:solidFill>
            <a:prstDash val="solid"/>
            <a:headEnd type="none"/>
            <a:tailEnd type="none"/>
          </a:ln>
        </p:spPr>
      </p:sp>
      <p:sp>
        <p:nvSpPr>
          <p:cNvPr id="9" name="AutoShape 9"/>
          <p:cNvSpPr/>
          <p:nvPr/>
        </p:nvSpPr>
        <p:spPr>
          <a:xfrm>
            <a:off x="171407" y="6677025"/>
            <a:ext cx="266633" cy="9525"/>
          </a:xfrm>
          <a:prstGeom prst="line">
            <a:avLst/>
          </a:prstGeom>
          <a:ln w="9525">
            <a:solidFill>
              <a:srgbClr val="2DE7F0">
                <a:alpha val="34901"/>
              </a:srgbClr>
            </a:solidFill>
            <a:prstDash val="solid"/>
            <a:headEnd type="none"/>
            <a:tailEnd type="none"/>
          </a:ln>
        </p:spPr>
      </p:sp>
      <p:sp>
        <p:nvSpPr>
          <p:cNvPr id="10" name="AutoShape 10"/>
          <p:cNvSpPr/>
          <p:nvPr/>
        </p:nvSpPr>
        <p:spPr>
          <a:xfrm>
            <a:off x="171407" y="6419850"/>
            <a:ext cx="9522" cy="266700"/>
          </a:xfrm>
          <a:prstGeom prst="line">
            <a:avLst/>
          </a:prstGeom>
          <a:ln w="9525">
            <a:solidFill>
              <a:srgbClr val="2DE7F0">
                <a:alpha val="34901"/>
              </a:srgbClr>
            </a:solidFill>
            <a:prstDash val="solid"/>
            <a:headEnd type="none"/>
            <a:tailEnd type="none"/>
          </a:ln>
        </p:spPr>
      </p:sp>
      <p:sp>
        <p:nvSpPr>
          <p:cNvPr id="11" name="AutoShape 11"/>
          <p:cNvSpPr/>
          <p:nvPr/>
        </p:nvSpPr>
        <p:spPr>
          <a:xfrm>
            <a:off x="12008023" y="6419850"/>
            <a:ext cx="9522" cy="266700"/>
          </a:xfrm>
          <a:prstGeom prst="line">
            <a:avLst/>
          </a:prstGeom>
          <a:ln w="9525">
            <a:solidFill>
              <a:srgbClr val="2DE7F0">
                <a:alpha val="34901"/>
              </a:srgbClr>
            </a:solidFill>
            <a:prstDash val="solid"/>
            <a:headEnd type="none"/>
            <a:tailEnd type="none"/>
          </a:ln>
        </p:spPr>
      </p:sp>
      <p:sp>
        <p:nvSpPr>
          <p:cNvPr id="12" name="AutoShape 12"/>
          <p:cNvSpPr/>
          <p:nvPr/>
        </p:nvSpPr>
        <p:spPr>
          <a:xfrm>
            <a:off x="11750911" y="6677025"/>
            <a:ext cx="266633" cy="9525"/>
          </a:xfrm>
          <a:prstGeom prst="line">
            <a:avLst/>
          </a:prstGeom>
          <a:ln w="9525">
            <a:solidFill>
              <a:srgbClr val="2DE7F0">
                <a:alpha val="34901"/>
              </a:srgbClr>
            </a:solidFill>
            <a:prstDash val="solid"/>
            <a:headEnd type="none"/>
            <a:tailEnd type="none"/>
          </a:ln>
        </p:spPr>
      </p:sp>
      <p:sp>
        <p:nvSpPr>
          <p:cNvPr id="13" name="AutoShape 13"/>
          <p:cNvSpPr/>
          <p:nvPr/>
        </p:nvSpPr>
        <p:spPr>
          <a:xfrm>
            <a:off x="533267" y="581025"/>
            <a:ext cx="76181" cy="76200"/>
          </a:xfrm>
          <a:prstGeom prst="ellipse">
            <a:avLst/>
          </a:prstGeom>
          <a:solidFill>
            <a:srgbClr val="2DE7F0">
              <a:alpha val="40000"/>
            </a:srgbClr>
          </a:solidFill>
          <a:ln>
            <a:headEnd type="none"/>
            <a:tailEnd type="none"/>
          </a:ln>
        </p:spPr>
      </p:sp>
      <p:sp>
        <p:nvSpPr>
          <p:cNvPr id="14" name="TextBox 14"/>
          <p:cNvSpPr txBox="1"/>
          <p:nvPr/>
        </p:nvSpPr>
        <p:spPr>
          <a:xfrm>
            <a:off x="723718" y="552450"/>
            <a:ext cx="1424822"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Project Overview</a:t>
            </a:r>
            <a:endParaRPr lang="en-US" sz="1100"/>
          </a:p>
        </p:txBody>
      </p:sp>
      <p:sp>
        <p:nvSpPr>
          <p:cNvPr id="15" name="TextBox 15"/>
          <p:cNvSpPr txBox="1"/>
          <p:nvPr/>
        </p:nvSpPr>
        <p:spPr>
          <a:xfrm>
            <a:off x="533267" y="828675"/>
            <a:ext cx="11122419" cy="447675"/>
          </a:xfrm>
          <a:prstGeom prst="rect">
            <a:avLst/>
          </a:prstGeom>
          <a:ln>
            <a:headEnd type="none"/>
            <a:tailEnd type="none"/>
          </a:ln>
        </p:spPr>
        <p:txBody>
          <a:bodyPr vert="horz" wrap="none" lIns="0" tIns="0" rIns="0" bIns="0" rtlCol="0" anchor="t" anchorCtr="0"/>
          <a:lstStyle/>
          <a:p>
            <a:pPr algn="l">
              <a:defRPr/>
            </a:pPr>
            <a:r>
              <a:rPr lang="en-US" sz="3100" b="1" i="0" strike="noStrike">
                <a:solidFill>
                  <a:srgbClr val="F4FAFF">
                    <a:alpha val="100000"/>
                  </a:srgbClr>
                </a:solidFill>
                <a:latin typeface="Inter" panose="02000503000000020004"/>
                <a:ea typeface="Inter" panose="02000503000000020004"/>
                <a:cs typeface="Inter" panose="02000503000000020004"/>
              </a:rPr>
              <a:t>Project Positioning &amp; </a:t>
            </a:r>
            <a:r>
              <a:rPr sz="3100" b="1" i="0" strike="noStrike">
                <a:solidFill>
                  <a:srgbClr val="2DE7F0">
                    <a:alpha val="100000"/>
                  </a:srgbClr>
                </a:solidFill>
                <a:latin typeface="Inter" panose="02000503000000020004"/>
                <a:ea typeface="Inter" panose="02000503000000020004"/>
                <a:cs typeface="Inter" panose="02000503000000020004"/>
              </a:rPr>
              <a:t>Core Value</a:t>
            </a:r>
            <a:endParaRPr lang="en-US" sz="1100"/>
          </a:p>
        </p:txBody>
      </p:sp>
      <p:sp>
        <p:nvSpPr>
          <p:cNvPr id="16" name="AutoShape 16"/>
          <p:cNvSpPr/>
          <p:nvPr/>
        </p:nvSpPr>
        <p:spPr>
          <a:xfrm>
            <a:off x="533267" y="1460748"/>
            <a:ext cx="1112241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7" name="AutoShape 17"/>
          <p:cNvSpPr/>
          <p:nvPr/>
        </p:nvSpPr>
        <p:spPr>
          <a:xfrm>
            <a:off x="533267" y="1679823"/>
            <a:ext cx="7580004" cy="1660923"/>
          </a:xfrm>
          <a:prstGeom prst="roundRect">
            <a:avLst>
              <a:gd name="adj" fmla="val 2526"/>
            </a:avLst>
          </a:prstGeom>
          <a:solidFill>
            <a:srgbClr val="0C232E">
              <a:alpha val="61960"/>
            </a:srgbClr>
          </a:solidFill>
          <a:ln w="9525">
            <a:solidFill>
              <a:srgbClr val="2DE7F0">
                <a:alpha val="21960"/>
              </a:srgbClr>
            </a:solidFill>
            <a:prstDash val="solid"/>
            <a:headEnd type="none"/>
            <a:tailEnd type="none"/>
          </a:ln>
        </p:spPr>
      </p:sp>
      <p:sp>
        <p:nvSpPr>
          <p:cNvPr id="18" name="AutoShape 18"/>
          <p:cNvSpPr/>
          <p:nvPr/>
        </p:nvSpPr>
        <p:spPr>
          <a:xfrm>
            <a:off x="752287" y="1860798"/>
            <a:ext cx="28567" cy="1298971"/>
          </a:xfrm>
          <a:prstGeom prst="roundRect">
            <a:avLst>
              <a:gd name="adj" fmla="val 50000"/>
            </a:avLst>
          </a:prstGeom>
          <a:solidFill>
            <a:srgbClr val="2DE7F0">
              <a:alpha val="100000"/>
            </a:srgbClr>
          </a:solidFill>
          <a:ln>
            <a:headEnd type="none"/>
            <a:tailEnd type="none"/>
          </a:ln>
        </p:spPr>
      </p:sp>
      <p:sp>
        <p:nvSpPr>
          <p:cNvPr id="19" name="TextBox 19"/>
          <p:cNvSpPr txBox="1"/>
          <p:nvPr/>
        </p:nvSpPr>
        <p:spPr>
          <a:xfrm>
            <a:off x="914171" y="1898898"/>
            <a:ext cx="6980080" cy="1212353"/>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The platform is an AI-driven training ecosystem tailored for the financial</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industry, integrating </a:t>
            </a:r>
            <a:r>
              <a:rPr sz="1600" b="0" i="0" strike="noStrike">
                <a:solidFill>
                  <a:srgbClr val="2DE7F0">
                    <a:alpha val="100000"/>
                  </a:srgbClr>
                </a:solidFill>
                <a:latin typeface="Inter" panose="02000503000000020004"/>
                <a:ea typeface="Inter" panose="02000503000000020004"/>
                <a:cs typeface="Inter" panose="02000503000000020004"/>
              </a:rPr>
              <a:t>knowledge accumulation</a:t>
            </a:r>
            <a:r>
              <a:rPr sz="1600" b="0" i="0" strike="noStrike">
                <a:solidFill>
                  <a:srgbClr val="B9CED8">
                    <a:alpha val="100000"/>
                  </a:srgbClr>
                </a:solidFill>
                <a:latin typeface="Inter" panose="02000503000000020004"/>
                <a:ea typeface="Inter" panose="02000503000000020004"/>
                <a:cs typeface="Inter" panose="02000503000000020004"/>
              </a:rPr>
              <a:t>, </a:t>
            </a:r>
            <a:r>
              <a:rPr sz="1600" b="0" i="0" strike="noStrike">
                <a:solidFill>
                  <a:srgbClr val="2DE7F0">
                    <a:alpha val="100000"/>
                  </a:srgbClr>
                </a:solidFill>
                <a:latin typeface="Inter" panose="02000503000000020004"/>
                <a:ea typeface="Inter" panose="02000503000000020004"/>
                <a:cs typeface="Inter" panose="02000503000000020004"/>
              </a:rPr>
              <a:t>intelligent Q&amp;A</a:t>
            </a:r>
            <a:r>
              <a:rPr sz="1600" b="0" i="0" strike="noStrike">
                <a:solidFill>
                  <a:srgbClr val="B9CED8">
                    <a:alpha val="100000"/>
                  </a:srgbClr>
                </a:solidFill>
                <a:latin typeface="Inter" panose="02000503000000020004"/>
                <a:ea typeface="Inter" panose="02000503000000020004"/>
                <a:cs typeface="Inter" panose="02000503000000020004"/>
              </a:rPr>
              <a:t>, and </a:t>
            </a:r>
            <a:r>
              <a:rPr sz="1600" b="0" i="0" strike="noStrike">
                <a:solidFill>
                  <a:srgbClr val="2DE7F0">
                    <a:alpha val="100000"/>
                  </a:srgbClr>
                </a:solidFill>
                <a:latin typeface="Inter" panose="02000503000000020004"/>
                <a:ea typeface="Inter" panose="02000503000000020004"/>
                <a:cs typeface="Inter" panose="02000503000000020004"/>
              </a:rPr>
              <a:t>mock</a:t>
            </a:r>
            <a:endParaRPr sz="1600" b="0" i="0" strike="noStrike">
              <a:solidFill>
                <a:srgbClr val="2DE7F0">
                  <a:alpha val="100000"/>
                </a:srgbClr>
              </a:solidFill>
              <a:latin typeface="Inter" panose="02000503000000020004"/>
              <a:ea typeface="Inter" panose="02000503000000020004"/>
              <a:cs typeface="Inter" panose="02000503000000020004"/>
            </a:endParaRPr>
          </a:p>
          <a:p>
            <a:pPr algn="l"/>
            <a:r>
              <a:rPr sz="1600" b="0" i="0" strike="noStrike">
                <a:solidFill>
                  <a:srgbClr val="2DE7F0">
                    <a:alpha val="100000"/>
                  </a:srgbClr>
                </a:solidFill>
                <a:latin typeface="Inter" panose="02000503000000020004"/>
                <a:ea typeface="Inter" panose="02000503000000020004"/>
                <a:cs typeface="Inter" panose="02000503000000020004"/>
              </a:rPr>
              <a:t>examinations</a:t>
            </a:r>
            <a:r>
              <a:rPr sz="1600" b="0" i="0" strike="noStrike">
                <a:solidFill>
                  <a:srgbClr val="B9CED8">
                    <a:alpha val="100000"/>
                  </a:srgbClr>
                </a:solidFill>
                <a:latin typeface="Inter" panose="02000503000000020004"/>
                <a:ea typeface="Inter" panose="02000503000000020004"/>
                <a:cs typeface="Inter" panose="02000503000000020004"/>
              </a:rPr>
              <a:t> to accelerate new hires' mastery of complex compliance and</a:t>
            </a:r>
            <a:endParaRPr sz="1600" b="0" i="0" strike="noStrike">
              <a:solidFill>
                <a:srgbClr val="B9CED8">
                  <a:alpha val="100000"/>
                </a:srgbClr>
              </a:solidFill>
              <a:latin typeface="Inter" panose="02000503000000020004"/>
              <a:ea typeface="Inter" panose="02000503000000020004"/>
              <a:cs typeface="Inter" panose="02000503000000020004"/>
            </a:endParaRPr>
          </a:p>
          <a:p>
            <a:pPr algn="l"/>
            <a:r>
              <a:rPr sz="1600" b="0" i="0" strike="noStrike">
                <a:solidFill>
                  <a:srgbClr val="B9CED8">
                    <a:alpha val="100000"/>
                  </a:srgbClr>
                </a:solidFill>
                <a:latin typeface="Inter" panose="02000503000000020004"/>
                <a:ea typeface="Inter" panose="02000503000000020004"/>
                <a:cs typeface="Inter" panose="02000503000000020004"/>
              </a:rPr>
              <a:t>business skills.</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
        <p:nvSpPr>
          <p:cNvPr id="20" name="AutoShape 20"/>
          <p:cNvSpPr/>
          <p:nvPr>
            <p:custDataLst>
              <p:tags r:id="rId2"/>
            </p:custDataLst>
          </p:nvPr>
        </p:nvSpPr>
        <p:spPr>
          <a:xfrm>
            <a:off x="533267" y="3656975"/>
            <a:ext cx="7580004" cy="873919"/>
          </a:xfrm>
          <a:prstGeom prst="roundRect">
            <a:avLst>
              <a:gd name="adj" fmla="val 9123"/>
            </a:avLst>
          </a:prstGeom>
          <a:solidFill>
            <a:srgbClr val="0C232E">
              <a:alpha val="61960"/>
            </a:srgbClr>
          </a:solidFill>
          <a:ln w="9525">
            <a:solidFill>
              <a:srgbClr val="2DE7F0">
                <a:alpha val="21960"/>
              </a:srgbClr>
            </a:solidFill>
            <a:prstDash val="solid"/>
            <a:headEnd type="none"/>
            <a:tailEnd type="none"/>
          </a:ln>
        </p:spPr>
      </p:sp>
      <p:sp>
        <p:nvSpPr>
          <p:cNvPr id="21" name="TextBox 21"/>
          <p:cNvSpPr txBox="1"/>
          <p:nvPr>
            <p:custDataLst>
              <p:tags r:id="rId3"/>
            </p:custDataLst>
          </p:nvPr>
        </p:nvSpPr>
        <p:spPr>
          <a:xfrm>
            <a:off x="714196" y="3655070"/>
            <a:ext cx="363347"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40000"/>
                  </a:srgbClr>
                </a:solidFill>
                <a:latin typeface="Inter" panose="02000503000000020004"/>
                <a:ea typeface="Inter" panose="02000503000000020004"/>
                <a:cs typeface="Inter" panose="02000503000000020004"/>
              </a:rPr>
              <a:t>01</a:t>
            </a:r>
            <a:endParaRPr lang="en-US" sz="1100"/>
          </a:p>
        </p:txBody>
      </p:sp>
      <p:sp>
        <p:nvSpPr>
          <p:cNvPr id="22" name="TextBox 22"/>
          <p:cNvSpPr txBox="1"/>
          <p:nvPr>
            <p:custDataLst>
              <p:tags r:id="rId4"/>
            </p:custDataLst>
          </p:nvPr>
        </p:nvSpPr>
        <p:spPr>
          <a:xfrm>
            <a:off x="1144203" y="3664595"/>
            <a:ext cx="6788140"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Full-Workflow Onboarding</a:t>
            </a:r>
            <a:endParaRPr lang="en-US" sz="1100"/>
          </a:p>
        </p:txBody>
      </p:sp>
      <p:sp>
        <p:nvSpPr>
          <p:cNvPr id="23" name="TextBox 23"/>
          <p:cNvSpPr txBox="1"/>
          <p:nvPr>
            <p:custDataLst>
              <p:tags r:id="rId5"/>
            </p:custDataLst>
          </p:nvPr>
        </p:nvSpPr>
        <p:spPr>
          <a:xfrm>
            <a:off x="1144203" y="3993208"/>
            <a:ext cx="6788140" cy="39811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Designed specifically for financial onboarding, covering knowledge accumulation to personalized</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learning path planning for rapid skill acquisition.</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4" name="AutoShape 24"/>
          <p:cNvSpPr/>
          <p:nvPr>
            <p:custDataLst>
              <p:tags r:id="rId6"/>
            </p:custDataLst>
          </p:nvPr>
        </p:nvSpPr>
        <p:spPr>
          <a:xfrm>
            <a:off x="533267" y="4567089"/>
            <a:ext cx="7580004" cy="873919"/>
          </a:xfrm>
          <a:prstGeom prst="roundRect">
            <a:avLst>
              <a:gd name="adj" fmla="val 9123"/>
            </a:avLst>
          </a:prstGeom>
          <a:solidFill>
            <a:srgbClr val="0C232E">
              <a:alpha val="61960"/>
            </a:srgbClr>
          </a:solidFill>
          <a:ln w="9525">
            <a:solidFill>
              <a:srgbClr val="2DE7F0">
                <a:alpha val="21960"/>
              </a:srgbClr>
            </a:solidFill>
            <a:prstDash val="solid"/>
            <a:headEnd type="none"/>
            <a:tailEnd type="none"/>
          </a:ln>
        </p:spPr>
      </p:sp>
      <p:sp>
        <p:nvSpPr>
          <p:cNvPr id="25" name="TextBox 25"/>
          <p:cNvSpPr txBox="1"/>
          <p:nvPr>
            <p:custDataLst>
              <p:tags r:id="rId7"/>
            </p:custDataLst>
          </p:nvPr>
        </p:nvSpPr>
        <p:spPr>
          <a:xfrm>
            <a:off x="714196" y="4624239"/>
            <a:ext cx="363347"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40000"/>
                  </a:srgbClr>
                </a:solidFill>
                <a:latin typeface="Inter" panose="02000503000000020004"/>
                <a:ea typeface="Inter" panose="02000503000000020004"/>
                <a:cs typeface="Inter" panose="02000503000000020004"/>
              </a:rPr>
              <a:t>02</a:t>
            </a:r>
            <a:endParaRPr lang="en-US" sz="1100"/>
          </a:p>
        </p:txBody>
      </p:sp>
      <p:sp>
        <p:nvSpPr>
          <p:cNvPr id="26" name="TextBox 26"/>
          <p:cNvSpPr txBox="1"/>
          <p:nvPr>
            <p:custDataLst>
              <p:tags r:id="rId8"/>
            </p:custDataLst>
          </p:nvPr>
        </p:nvSpPr>
        <p:spPr>
          <a:xfrm>
            <a:off x="1144203" y="4633764"/>
            <a:ext cx="6788140"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AI Technology Synergy</a:t>
            </a:r>
            <a:endParaRPr lang="en-US" sz="1100"/>
          </a:p>
        </p:txBody>
      </p:sp>
      <p:sp>
        <p:nvSpPr>
          <p:cNvPr id="27" name="TextBox 27"/>
          <p:cNvSpPr txBox="1"/>
          <p:nvPr>
            <p:custDataLst>
              <p:tags r:id="rId9"/>
            </p:custDataLst>
          </p:nvPr>
        </p:nvSpPr>
        <p:spPr>
          <a:xfrm>
            <a:off x="1144203" y="4962376"/>
            <a:ext cx="6788140" cy="39811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Powered by LLMs, Knowledge Graphs, and RAG to handle dense financial regulations with</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precision and depth.</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8" name="AutoShape 28"/>
          <p:cNvSpPr/>
          <p:nvPr>
            <p:custDataLst>
              <p:tags r:id="rId10"/>
            </p:custDataLst>
          </p:nvPr>
        </p:nvSpPr>
        <p:spPr>
          <a:xfrm>
            <a:off x="509137" y="5562293"/>
            <a:ext cx="7580004" cy="873919"/>
          </a:xfrm>
          <a:prstGeom prst="roundRect">
            <a:avLst>
              <a:gd name="adj" fmla="val 9123"/>
            </a:avLst>
          </a:prstGeom>
          <a:solidFill>
            <a:srgbClr val="0C232E">
              <a:alpha val="61960"/>
            </a:srgbClr>
          </a:solidFill>
          <a:ln w="9525">
            <a:solidFill>
              <a:srgbClr val="2DE7F0">
                <a:alpha val="21960"/>
              </a:srgbClr>
            </a:solidFill>
            <a:prstDash val="solid"/>
            <a:headEnd type="none"/>
            <a:tailEnd type="none"/>
          </a:ln>
        </p:spPr>
      </p:sp>
      <p:sp>
        <p:nvSpPr>
          <p:cNvPr id="29" name="TextBox 29"/>
          <p:cNvSpPr txBox="1"/>
          <p:nvPr>
            <p:custDataLst>
              <p:tags r:id="rId11"/>
            </p:custDataLst>
          </p:nvPr>
        </p:nvSpPr>
        <p:spPr>
          <a:xfrm>
            <a:off x="714196" y="5593408"/>
            <a:ext cx="363347"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40000"/>
                  </a:srgbClr>
                </a:solidFill>
                <a:latin typeface="Inter" panose="02000503000000020004"/>
                <a:ea typeface="Inter" panose="02000503000000020004"/>
                <a:cs typeface="Inter" panose="02000503000000020004"/>
              </a:rPr>
              <a:t>03</a:t>
            </a:r>
            <a:endParaRPr lang="en-US" sz="1100"/>
          </a:p>
        </p:txBody>
      </p:sp>
      <p:sp>
        <p:nvSpPr>
          <p:cNvPr id="30" name="TextBox 30"/>
          <p:cNvSpPr txBox="1"/>
          <p:nvPr>
            <p:custDataLst>
              <p:tags r:id="rId12"/>
            </p:custDataLst>
          </p:nvPr>
        </p:nvSpPr>
        <p:spPr>
          <a:xfrm>
            <a:off x="1144203" y="5602933"/>
            <a:ext cx="6788140"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Interactive Empowerment</a:t>
            </a:r>
            <a:endParaRPr lang="en-US" sz="1100"/>
          </a:p>
        </p:txBody>
      </p:sp>
      <p:sp>
        <p:nvSpPr>
          <p:cNvPr id="31" name="TextBox 31"/>
          <p:cNvSpPr txBox="1"/>
          <p:nvPr>
            <p:custDataLst>
              <p:tags r:id="rId13"/>
            </p:custDataLst>
          </p:nvPr>
        </p:nvSpPr>
        <p:spPr>
          <a:xfrm>
            <a:off x="1144203" y="5931545"/>
            <a:ext cx="6788140" cy="39811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Transforming passive document reading into an interactive, full-process experience that strictly</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adheres to compliance requirements.</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32" name="AutoShape 32"/>
          <p:cNvSpPr/>
          <p:nvPr/>
        </p:nvSpPr>
        <p:spPr>
          <a:xfrm>
            <a:off x="8417994" y="1679823"/>
            <a:ext cx="3237690" cy="4389537"/>
          </a:xfrm>
          <a:prstGeom prst="roundRect">
            <a:avLst>
              <a:gd name="adj" fmla="val 665"/>
            </a:avLst>
          </a:prstGeom>
          <a:ln w="9525">
            <a:solidFill>
              <a:srgbClr val="2DE7F0">
                <a:alpha val="21960"/>
              </a:srgbClr>
            </a:solidFill>
            <a:prstDash val="solid"/>
            <a:headEnd type="none"/>
            <a:tailEnd type="none"/>
          </a:ln>
        </p:spPr>
      </p:sp>
      <p:sp>
        <p:nvSpPr>
          <p:cNvPr id="34" name="TextBox 34"/>
          <p:cNvSpPr txBox="1"/>
          <p:nvPr/>
        </p:nvSpPr>
        <p:spPr>
          <a:xfrm>
            <a:off x="8417994" y="6174134"/>
            <a:ext cx="3237690"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54901"/>
                  </a:srgbClr>
                </a:solidFill>
                <a:latin typeface="Inter" panose="02000503000000020004"/>
                <a:ea typeface="Inter" panose="02000503000000020004"/>
                <a:cs typeface="Inter" panose="02000503000000020004"/>
              </a:rPr>
              <a:t>Modern Enterprise Training Center</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533267" y="597694"/>
            <a:ext cx="57136" cy="57150"/>
          </a:xfrm>
          <a:prstGeom prst="ellipse">
            <a:avLst/>
          </a:prstGeom>
          <a:solidFill>
            <a:srgbClr val="2DE7F0">
              <a:alpha val="54901"/>
            </a:srgbClr>
          </a:solidFill>
          <a:ln>
            <a:headEnd type="none"/>
            <a:tailEnd type="none"/>
          </a:ln>
        </p:spPr>
      </p:sp>
      <p:sp>
        <p:nvSpPr>
          <p:cNvPr id="6" name="TextBox 6"/>
          <p:cNvSpPr txBox="1"/>
          <p:nvPr/>
        </p:nvSpPr>
        <p:spPr>
          <a:xfrm>
            <a:off x="704673" y="552450"/>
            <a:ext cx="2171455"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Alibaba PuHuiTi 3.0 55 Regular"/>
                <a:ea typeface="Alibaba PuHuiTi 3.0 55 Regular"/>
                <a:cs typeface="Alibaba PuHuiTi 3.0 55 Regular"/>
              </a:rPr>
              <a:t>Implementation Scenarios</a:t>
            </a:r>
            <a:endParaRPr lang="en-US" sz="1100"/>
          </a:p>
        </p:txBody>
      </p:sp>
      <p:sp>
        <p:nvSpPr>
          <p:cNvPr id="7" name="TextBox 7"/>
          <p:cNvSpPr txBox="1"/>
          <p:nvPr/>
        </p:nvSpPr>
        <p:spPr>
          <a:xfrm>
            <a:off x="533267" y="814388"/>
            <a:ext cx="11122419"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Alibaba PuHuiTi 3.0 55 Regular"/>
                <a:ea typeface="Alibaba PuHuiTi 3.0 55 Regular"/>
                <a:cs typeface="Alibaba PuHuiTi 3.0 55 Regular"/>
              </a:rPr>
              <a:t>Typical </a:t>
            </a:r>
            <a:r>
              <a:rPr sz="3000" b="1" i="0" strike="noStrike">
                <a:solidFill>
                  <a:srgbClr val="2DE7F0">
                    <a:alpha val="100000"/>
                  </a:srgbClr>
                </a:solidFill>
                <a:latin typeface="Alibaba PuHuiTi 3.0 55 Regular"/>
                <a:ea typeface="Alibaba PuHuiTi 3.0 55 Regular"/>
                <a:cs typeface="Alibaba PuHuiTi 3.0 55 Regular"/>
              </a:rPr>
              <a:t>Implementation</a:t>
            </a:r>
            <a:r>
              <a:rPr sz="3000" b="1" i="0" strike="noStrike">
                <a:solidFill>
                  <a:srgbClr val="F4FAFF">
                    <a:alpha val="100000"/>
                  </a:srgbClr>
                </a:solidFill>
                <a:latin typeface="Alibaba PuHuiTi 3.0 55 Regular"/>
                <a:ea typeface="Alibaba PuHuiTi 3.0 55 Regular"/>
                <a:cs typeface="Alibaba PuHuiTi 3.0 55 Regular"/>
              </a:rPr>
              <a:t> Scenarios</a:t>
            </a:r>
            <a:endParaRPr lang="en-US" sz="1100"/>
          </a:p>
        </p:txBody>
      </p:sp>
      <p:sp>
        <p:nvSpPr>
          <p:cNvPr id="8" name="AutoShape 8"/>
          <p:cNvSpPr/>
          <p:nvPr/>
        </p:nvSpPr>
        <p:spPr>
          <a:xfrm>
            <a:off x="533267" y="1423988"/>
            <a:ext cx="1112241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533267" y="1662112"/>
            <a:ext cx="5446937" cy="3886200"/>
          </a:xfrm>
          <a:prstGeom prst="roundRect">
            <a:avLst>
              <a:gd name="adj" fmla="val 461"/>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0" name="AutoShape 10"/>
          <p:cNvSpPr/>
          <p:nvPr/>
        </p:nvSpPr>
        <p:spPr>
          <a:xfrm>
            <a:off x="809423" y="1938338"/>
            <a:ext cx="209498" cy="209550"/>
          </a:xfrm>
          <a:custGeom>
            <a:avLst/>
            <a:gdLst/>
            <a:ahLst/>
            <a:cxnLst/>
            <a:rect l="l" t="t" r="r" b="b"/>
            <a:pathLst>
              <a:path w="9998" h="10000">
                <a:moveTo>
                  <a:pt x="0" y="0"/>
                </a:moveTo>
                <a:lnTo>
                  <a:pt x="3749" y="0"/>
                </a:lnTo>
                <a:lnTo>
                  <a:pt x="3749" y="3750"/>
                </a:lnTo>
                <a:lnTo>
                  <a:pt x="0" y="3750"/>
                </a:lnTo>
                <a:lnTo>
                  <a:pt x="0" y="0"/>
                </a:lnTo>
                <a:close/>
                <a:moveTo>
                  <a:pt x="6249" y="0"/>
                </a:moveTo>
                <a:lnTo>
                  <a:pt x="9998" y="0"/>
                </a:lnTo>
                <a:lnTo>
                  <a:pt x="9998" y="3750"/>
                </a:lnTo>
                <a:lnTo>
                  <a:pt x="6249" y="3750"/>
                </a:lnTo>
                <a:lnTo>
                  <a:pt x="6249" y="0"/>
                </a:lnTo>
                <a:close/>
                <a:moveTo>
                  <a:pt x="0" y="6250"/>
                </a:moveTo>
                <a:lnTo>
                  <a:pt x="3749" y="6250"/>
                </a:lnTo>
                <a:lnTo>
                  <a:pt x="3749" y="10000"/>
                </a:lnTo>
                <a:lnTo>
                  <a:pt x="0" y="10000"/>
                </a:lnTo>
                <a:lnTo>
                  <a:pt x="0" y="6250"/>
                </a:lnTo>
                <a:close/>
                <a:moveTo>
                  <a:pt x="6249" y="6250"/>
                </a:moveTo>
                <a:lnTo>
                  <a:pt x="9998" y="6250"/>
                </a:lnTo>
                <a:lnTo>
                  <a:pt x="9998" y="10000"/>
                </a:lnTo>
                <a:lnTo>
                  <a:pt x="6249" y="10000"/>
                </a:lnTo>
                <a:lnTo>
                  <a:pt x="6249" y="6250"/>
                </a:lnTo>
                <a:close/>
              </a:path>
            </a:pathLst>
          </a:custGeom>
          <a:ln w="14288">
            <a:solidFill>
              <a:srgbClr val="2DE7F0">
                <a:alpha val="100000"/>
              </a:srgbClr>
            </a:solidFill>
            <a:prstDash val="solid"/>
            <a:headEnd type="none"/>
            <a:tailEnd type="none"/>
          </a:ln>
        </p:spPr>
      </p:sp>
      <p:sp>
        <p:nvSpPr>
          <p:cNvPr id="11" name="TextBox 11"/>
          <p:cNvSpPr txBox="1"/>
          <p:nvPr/>
        </p:nvSpPr>
        <p:spPr>
          <a:xfrm>
            <a:off x="1114147" y="1976438"/>
            <a:ext cx="786807"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Alibaba PuHuiTi 3.0 55 Regular"/>
                <a:ea typeface="Alibaba PuHuiTi 3.0 55 Regular"/>
                <a:cs typeface="Alibaba PuHuiTi 3.0 55 Regular"/>
              </a:rPr>
              <a:t>Section 01</a:t>
            </a:r>
            <a:endParaRPr lang="en-US" sz="1100"/>
          </a:p>
        </p:txBody>
      </p:sp>
      <p:sp>
        <p:nvSpPr>
          <p:cNvPr id="12" name="TextBox 12"/>
          <p:cNvSpPr txBox="1"/>
          <p:nvPr/>
        </p:nvSpPr>
        <p:spPr>
          <a:xfrm>
            <a:off x="809423" y="2214562"/>
            <a:ext cx="4894626" cy="285750"/>
          </a:xfrm>
          <a:prstGeom prst="rect">
            <a:avLst/>
          </a:prstGeom>
          <a:ln>
            <a:headEnd type="none"/>
            <a:tailEnd type="none"/>
          </a:ln>
        </p:spPr>
        <p:txBody>
          <a:bodyPr vert="horz" wrap="none" lIns="0" tIns="0" rIns="0" bIns="0" rtlCol="0" anchor="t" anchorCtr="0"/>
          <a:lstStyle/>
          <a:p>
            <a:pPr algn="l">
              <a:defRPr/>
            </a:pPr>
            <a:r>
              <a:rPr lang="en-US" sz="1900" b="1" i="0" strike="noStrike">
                <a:solidFill>
                  <a:srgbClr val="F4FAFF">
                    <a:alpha val="100000"/>
                  </a:srgbClr>
                </a:solidFill>
                <a:latin typeface="Alibaba PuHuiTi 3.0 55 Regular"/>
                <a:ea typeface="Alibaba PuHuiTi 3.0 55 Regular"/>
                <a:cs typeface="Alibaba PuHuiTi 3.0 55 Regular"/>
              </a:rPr>
              <a:t>Knowledge Base &amp; Intelligent Q&amp;A</a:t>
            </a:r>
            <a:endParaRPr lang="en-US" sz="1100"/>
          </a:p>
        </p:txBody>
      </p:sp>
      <p:sp>
        <p:nvSpPr>
          <p:cNvPr id="13" name="AutoShape 13"/>
          <p:cNvSpPr/>
          <p:nvPr/>
        </p:nvSpPr>
        <p:spPr>
          <a:xfrm>
            <a:off x="809423" y="2680246"/>
            <a:ext cx="489462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4" name="AutoShape 14"/>
          <p:cNvSpPr/>
          <p:nvPr/>
        </p:nvSpPr>
        <p:spPr>
          <a:xfrm>
            <a:off x="809423" y="2880271"/>
            <a:ext cx="266633" cy="266700"/>
          </a:xfrm>
          <a:prstGeom prst="roundRect">
            <a:avLst>
              <a:gd name="adj" fmla="val 50000"/>
            </a:avLst>
          </a:prstGeom>
          <a:ln w="9525">
            <a:solidFill>
              <a:srgbClr val="2DE7F0">
                <a:alpha val="21960"/>
              </a:srgbClr>
            </a:solidFill>
            <a:prstDash val="solid"/>
            <a:headEnd type="none"/>
            <a:tailEnd type="none"/>
          </a:ln>
        </p:spPr>
      </p:sp>
      <p:sp>
        <p:nvSpPr>
          <p:cNvPr id="15" name="TextBox 15"/>
          <p:cNvSpPr txBox="1"/>
          <p:nvPr/>
        </p:nvSpPr>
        <p:spPr>
          <a:xfrm>
            <a:off x="905542" y="2932659"/>
            <a:ext cx="170514"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2DE7F0">
                    <a:alpha val="100000"/>
                  </a:srgbClr>
                </a:solidFill>
                <a:latin typeface="Inter" panose="02000503000000020004"/>
                <a:ea typeface="Inter" panose="02000503000000020004"/>
                <a:cs typeface="Inter" panose="02000503000000020004"/>
              </a:rPr>
              <a:t>1</a:t>
            </a:r>
            <a:endParaRPr lang="en-US" sz="1100"/>
          </a:p>
        </p:txBody>
      </p:sp>
      <p:sp>
        <p:nvSpPr>
          <p:cNvPr id="16" name="TextBox 16"/>
          <p:cNvSpPr txBox="1"/>
          <p:nvPr/>
        </p:nvSpPr>
        <p:spPr>
          <a:xfrm>
            <a:off x="1190328" y="2899321"/>
            <a:ext cx="4513721" cy="66466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Automatically parses diverse formats </a:t>
            </a:r>
            <a:r>
              <a:rPr sz="1200" b="0" i="0" strike="noStrike">
                <a:solidFill>
                  <a:srgbClr val="F4FAFF">
                    <a:alpha val="100000"/>
                  </a:srgbClr>
                </a:solidFill>
                <a:latin typeface="FZYaYiHei GB18030L2 R" panose="02000500000000000000" charset="-122"/>
                <a:ea typeface="FZYaYiHei GB18030L2 R" panose="02000500000000000000" charset="-122"/>
                <a:cs typeface="FZYaYiHei GB18030L2 R" panose="02000500000000000000" charset="-122"/>
              </a:rPr>
              <a:t>(PDF / Word / PPT)</a:t>
            </a:r>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 to</a:t>
            </a:r>
            <a:endParaRPr lang="en-US" sz="1100"/>
          </a:p>
          <a:p>
            <a:pPr algn="l"/>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perform intelligent chunking, vectorization, and </a:t>
            </a:r>
            <a:r>
              <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rPr>
              <a:t>knowledge graph</a:t>
            </a:r>
            <a:endPar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rPr>
              <a:t>construction</a:t>
            </a:r>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 for structured data storage.</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7" name="AutoShape 17"/>
          <p:cNvSpPr/>
          <p:nvPr/>
        </p:nvSpPr>
        <p:spPr>
          <a:xfrm>
            <a:off x="809423" y="4161978"/>
            <a:ext cx="266633" cy="266700"/>
          </a:xfrm>
          <a:prstGeom prst="roundRect">
            <a:avLst>
              <a:gd name="adj" fmla="val 50000"/>
            </a:avLst>
          </a:prstGeom>
          <a:ln w="9525">
            <a:solidFill>
              <a:srgbClr val="2DE7F0">
                <a:alpha val="21960"/>
              </a:srgbClr>
            </a:solidFill>
            <a:prstDash val="solid"/>
            <a:headEnd type="none"/>
            <a:tailEnd type="none"/>
          </a:ln>
        </p:spPr>
      </p:sp>
      <p:sp>
        <p:nvSpPr>
          <p:cNvPr id="18" name="TextBox 18"/>
          <p:cNvSpPr txBox="1"/>
          <p:nvPr/>
        </p:nvSpPr>
        <p:spPr>
          <a:xfrm>
            <a:off x="905542" y="4214365"/>
            <a:ext cx="170514"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2DE7F0">
                    <a:alpha val="100000"/>
                  </a:srgbClr>
                </a:solidFill>
                <a:latin typeface="Inter" panose="02000503000000020004"/>
                <a:ea typeface="Inter" panose="02000503000000020004"/>
                <a:cs typeface="Inter" panose="02000503000000020004"/>
              </a:rPr>
              <a:t>2</a:t>
            </a:r>
            <a:endParaRPr lang="en-US" sz="1100"/>
          </a:p>
        </p:txBody>
      </p:sp>
      <p:sp>
        <p:nvSpPr>
          <p:cNvPr id="19" name="TextBox 19"/>
          <p:cNvSpPr txBox="1"/>
          <p:nvPr/>
        </p:nvSpPr>
        <p:spPr>
          <a:xfrm>
            <a:off x="1190328" y="4181028"/>
            <a:ext cx="4534999" cy="66466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Supports natural language inquiries with multi-path retrieval,</a:t>
            </a:r>
            <a:endParaRPr lang="en-US" sz="1100"/>
          </a:p>
          <a:p>
            <a:pPr algn="l"/>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delivering precise answers via streaming output while providing </a:t>
            </a:r>
            <a:r>
              <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rPr>
              <a:t>full</a:t>
            </a:r>
            <a:endPar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2DE7F0">
                    <a:alpha val="100000"/>
                  </a:srgbClr>
                </a:solidFill>
                <a:latin typeface="FZYaYiHei GB18030L2 R" panose="02000500000000000000" charset="-122"/>
                <a:ea typeface="FZYaYiHei GB18030L2 R" panose="02000500000000000000" charset="-122"/>
                <a:cs typeface="FZYaYiHei GB18030L2 R" panose="02000500000000000000" charset="-122"/>
              </a:rPr>
              <a:t>source tracing</a:t>
            </a:r>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 for compliance verification.</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0" name="AutoShape 20"/>
          <p:cNvSpPr/>
          <p:nvPr/>
        </p:nvSpPr>
        <p:spPr>
          <a:xfrm>
            <a:off x="6208747" y="1662112"/>
            <a:ext cx="5446937" cy="3886200"/>
          </a:xfrm>
          <a:prstGeom prst="roundRect">
            <a:avLst>
              <a:gd name="adj" fmla="val 461"/>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1" name="AutoShape 21"/>
          <p:cNvSpPr/>
          <p:nvPr/>
        </p:nvSpPr>
        <p:spPr>
          <a:xfrm>
            <a:off x="6484903" y="1938338"/>
            <a:ext cx="209498" cy="209550"/>
          </a:xfrm>
          <a:custGeom>
            <a:avLst/>
            <a:gdLst/>
            <a:ahLst/>
            <a:cxnLst/>
            <a:rect l="l" t="t" r="r" b="b"/>
            <a:pathLst>
              <a:path w="9998" h="10000">
                <a:moveTo>
                  <a:pt x="2857" y="1111"/>
                </a:moveTo>
                <a:lnTo>
                  <a:pt x="1428" y="1111"/>
                </a:lnTo>
                <a:cubicBezTo>
                  <a:pt x="640" y="1111"/>
                  <a:pt x="0" y="1609"/>
                  <a:pt x="0" y="2222"/>
                </a:cubicBezTo>
                <a:lnTo>
                  <a:pt x="0" y="8889"/>
                </a:lnTo>
                <a:cubicBezTo>
                  <a:pt x="0" y="9502"/>
                  <a:pt x="640" y="10000"/>
                  <a:pt x="1428" y="10000"/>
                </a:cubicBezTo>
                <a:lnTo>
                  <a:pt x="8570" y="10000"/>
                </a:lnTo>
                <a:cubicBezTo>
                  <a:pt x="9358" y="10000"/>
                  <a:pt x="9998" y="9502"/>
                  <a:pt x="9998" y="8889"/>
                </a:cubicBezTo>
                <a:lnTo>
                  <a:pt x="9998" y="2222"/>
                </a:lnTo>
                <a:cubicBezTo>
                  <a:pt x="9998" y="1609"/>
                  <a:pt x="9358" y="1111"/>
                  <a:pt x="8570" y="1111"/>
                </a:cubicBezTo>
                <a:lnTo>
                  <a:pt x="7141" y="1111"/>
                </a:lnTo>
                <a:moveTo>
                  <a:pt x="2857" y="1111"/>
                </a:moveTo>
                <a:cubicBezTo>
                  <a:pt x="2857" y="498"/>
                  <a:pt x="3497" y="0"/>
                  <a:pt x="4285" y="0"/>
                </a:cubicBezTo>
                <a:lnTo>
                  <a:pt x="5713" y="0"/>
                </a:lnTo>
                <a:cubicBezTo>
                  <a:pt x="6501" y="0"/>
                  <a:pt x="7141" y="498"/>
                  <a:pt x="7141" y="1111"/>
                </a:cubicBezTo>
                <a:moveTo>
                  <a:pt x="2857" y="1111"/>
                </a:moveTo>
                <a:cubicBezTo>
                  <a:pt x="2857" y="1724"/>
                  <a:pt x="3497" y="2222"/>
                  <a:pt x="4285" y="2222"/>
                </a:cubicBezTo>
                <a:lnTo>
                  <a:pt x="5713" y="2222"/>
                </a:lnTo>
                <a:cubicBezTo>
                  <a:pt x="6501" y="2222"/>
                  <a:pt x="7141" y="1724"/>
                  <a:pt x="7141" y="1111"/>
                </a:cubicBezTo>
                <a:moveTo>
                  <a:pt x="3571" y="5000"/>
                </a:moveTo>
                <a:lnTo>
                  <a:pt x="4999" y="6111"/>
                </a:lnTo>
                <a:lnTo>
                  <a:pt x="7856" y="3889"/>
                </a:lnTo>
              </a:path>
            </a:pathLst>
          </a:custGeom>
          <a:ln w="14288">
            <a:solidFill>
              <a:srgbClr val="7BB7FF">
                <a:alpha val="100000"/>
              </a:srgbClr>
            </a:solidFill>
            <a:prstDash val="solid"/>
            <a:headEnd type="none"/>
            <a:tailEnd type="none"/>
          </a:ln>
        </p:spPr>
      </p:sp>
      <p:sp>
        <p:nvSpPr>
          <p:cNvPr id="22" name="TextBox 22"/>
          <p:cNvSpPr txBox="1"/>
          <p:nvPr/>
        </p:nvSpPr>
        <p:spPr>
          <a:xfrm>
            <a:off x="6789627" y="1976438"/>
            <a:ext cx="786807"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7BB7FF">
                    <a:alpha val="100000"/>
                  </a:srgbClr>
                </a:solidFill>
                <a:latin typeface="Alibaba PuHuiTi 3.0 55 Regular"/>
                <a:ea typeface="Alibaba PuHuiTi 3.0 55 Regular"/>
                <a:cs typeface="Alibaba PuHuiTi 3.0 55 Regular"/>
              </a:rPr>
              <a:t>Section 02</a:t>
            </a:r>
            <a:endParaRPr lang="en-US" sz="1100"/>
          </a:p>
        </p:txBody>
      </p:sp>
      <p:sp>
        <p:nvSpPr>
          <p:cNvPr id="23" name="TextBox 23"/>
          <p:cNvSpPr txBox="1"/>
          <p:nvPr/>
        </p:nvSpPr>
        <p:spPr>
          <a:xfrm>
            <a:off x="6484903" y="2214562"/>
            <a:ext cx="4894626" cy="285750"/>
          </a:xfrm>
          <a:prstGeom prst="rect">
            <a:avLst/>
          </a:prstGeom>
          <a:ln>
            <a:headEnd type="none"/>
            <a:tailEnd type="none"/>
          </a:ln>
        </p:spPr>
        <p:txBody>
          <a:bodyPr vert="horz" wrap="none" lIns="0" tIns="0" rIns="0" bIns="0" rtlCol="0" anchor="t" anchorCtr="0"/>
          <a:lstStyle/>
          <a:p>
            <a:pPr algn="l">
              <a:defRPr/>
            </a:pPr>
            <a:r>
              <a:rPr lang="en-US" sz="1900" b="1" i="0" strike="noStrike">
                <a:solidFill>
                  <a:srgbClr val="F4FAFF">
                    <a:alpha val="100000"/>
                  </a:srgbClr>
                </a:solidFill>
                <a:latin typeface="Alibaba PuHuiTi 3.0 55 Regular"/>
                <a:ea typeface="Alibaba PuHuiTi 3.0 55 Regular"/>
                <a:cs typeface="Alibaba PuHuiTi 3.0 55 Regular"/>
              </a:rPr>
              <a:t>Mock Examination &amp; Course Learning</a:t>
            </a:r>
            <a:endParaRPr lang="en-US" sz="1100"/>
          </a:p>
        </p:txBody>
      </p:sp>
      <p:sp>
        <p:nvSpPr>
          <p:cNvPr id="24" name="AutoShape 24"/>
          <p:cNvSpPr/>
          <p:nvPr/>
        </p:nvSpPr>
        <p:spPr>
          <a:xfrm>
            <a:off x="6484903" y="2680246"/>
            <a:ext cx="4894626"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5" name="AutoShape 25"/>
          <p:cNvSpPr/>
          <p:nvPr/>
        </p:nvSpPr>
        <p:spPr>
          <a:xfrm>
            <a:off x="6484903" y="2880271"/>
            <a:ext cx="266633" cy="266700"/>
          </a:xfrm>
          <a:prstGeom prst="roundRect">
            <a:avLst>
              <a:gd name="adj" fmla="val 50000"/>
            </a:avLst>
          </a:prstGeom>
          <a:ln w="9525">
            <a:solidFill>
              <a:srgbClr val="2DE7F0">
                <a:alpha val="21960"/>
              </a:srgbClr>
            </a:solidFill>
            <a:prstDash val="solid"/>
            <a:headEnd type="none"/>
            <a:tailEnd type="none"/>
          </a:ln>
        </p:spPr>
      </p:sp>
      <p:sp>
        <p:nvSpPr>
          <p:cNvPr id="26" name="TextBox 26"/>
          <p:cNvSpPr txBox="1"/>
          <p:nvPr/>
        </p:nvSpPr>
        <p:spPr>
          <a:xfrm>
            <a:off x="6581022" y="2932659"/>
            <a:ext cx="170514"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7BB7FF">
                    <a:alpha val="100000"/>
                  </a:srgbClr>
                </a:solidFill>
                <a:latin typeface="Inter" panose="02000503000000020004"/>
                <a:ea typeface="Inter" panose="02000503000000020004"/>
                <a:cs typeface="Inter" panose="02000503000000020004"/>
              </a:rPr>
              <a:t>1</a:t>
            </a:r>
            <a:endParaRPr lang="en-US" sz="1100"/>
          </a:p>
        </p:txBody>
      </p:sp>
      <p:sp>
        <p:nvSpPr>
          <p:cNvPr id="27" name="TextBox 27"/>
          <p:cNvSpPr txBox="1"/>
          <p:nvPr/>
        </p:nvSpPr>
        <p:spPr>
          <a:xfrm>
            <a:off x="6865808" y="2899321"/>
            <a:ext cx="4513721" cy="66466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Dynamically generates scenario-based questions and utilizes </a:t>
            </a:r>
            <a:r>
              <a:rPr sz="1200" b="0" i="0" strike="noStrike">
                <a:solidFill>
                  <a:srgbClr val="7BB7FF">
                    <a:alpha val="100000"/>
                  </a:srgbClr>
                </a:solidFill>
                <a:latin typeface="FZYaYiHei GB18030L2 R" panose="02000500000000000000" charset="-122"/>
                <a:ea typeface="FZYaYiHei GB18030L2 R" panose="02000500000000000000" charset="-122"/>
                <a:cs typeface="FZYaYiHei GB18030L2 R" panose="02000500000000000000" charset="-122"/>
              </a:rPr>
              <a:t>LLM</a:t>
            </a:r>
            <a:endParaRPr lang="en-US" sz="1100"/>
          </a:p>
          <a:p>
            <a:pPr algn="l"/>
            <a:r>
              <a:rPr sz="1200" b="0" i="0" strike="noStrike">
                <a:solidFill>
                  <a:srgbClr val="7BB7FF">
                    <a:alpha val="100000"/>
                  </a:srgbClr>
                </a:solidFill>
                <a:latin typeface="FZYaYiHei GB18030L2 R" panose="02000500000000000000" charset="-122"/>
                <a:ea typeface="FZYaYiHei GB18030L2 R" panose="02000500000000000000" charset="-122"/>
                <a:cs typeface="FZYaYiHei GB18030L2 R" panose="02000500000000000000" charset="-122"/>
              </a:rPr>
              <a:t>semantic scoring</a:t>
            </a:r>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 to evaluate open-ended answers, automatically</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collecting wrong questions for targeted review.</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8" name="AutoShape 28"/>
          <p:cNvSpPr/>
          <p:nvPr/>
        </p:nvSpPr>
        <p:spPr>
          <a:xfrm>
            <a:off x="6484903" y="4161978"/>
            <a:ext cx="266633" cy="266700"/>
          </a:xfrm>
          <a:prstGeom prst="roundRect">
            <a:avLst>
              <a:gd name="adj" fmla="val 50000"/>
            </a:avLst>
          </a:prstGeom>
          <a:ln w="9525">
            <a:solidFill>
              <a:srgbClr val="2DE7F0">
                <a:alpha val="21960"/>
              </a:srgbClr>
            </a:solidFill>
            <a:prstDash val="solid"/>
            <a:headEnd type="none"/>
            <a:tailEnd type="none"/>
          </a:ln>
        </p:spPr>
      </p:sp>
      <p:sp>
        <p:nvSpPr>
          <p:cNvPr id="29" name="TextBox 29"/>
          <p:cNvSpPr txBox="1"/>
          <p:nvPr/>
        </p:nvSpPr>
        <p:spPr>
          <a:xfrm>
            <a:off x="6581022" y="4214365"/>
            <a:ext cx="170514"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7BB7FF">
                    <a:alpha val="100000"/>
                  </a:srgbClr>
                </a:solidFill>
                <a:latin typeface="Inter" panose="02000503000000020004"/>
                <a:ea typeface="Inter" panose="02000503000000020004"/>
                <a:cs typeface="Inter" panose="02000503000000020004"/>
              </a:rPr>
              <a:t>2</a:t>
            </a:r>
            <a:endParaRPr lang="en-US" sz="1100"/>
          </a:p>
        </p:txBody>
      </p:sp>
      <p:sp>
        <p:nvSpPr>
          <p:cNvPr id="30" name="TextBox 30"/>
          <p:cNvSpPr txBox="1"/>
          <p:nvPr/>
        </p:nvSpPr>
        <p:spPr>
          <a:xfrm>
            <a:off x="6865808" y="4181028"/>
            <a:ext cx="4513721" cy="66466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Tracks video course progress and leverages AI to recommend</a:t>
            </a:r>
            <a:endParaRPr lang="en-US" sz="1100"/>
          </a:p>
          <a:p>
            <a:pPr algn="l"/>
            <a:r>
              <a:rPr sz="1200" b="0" i="0" strike="noStrike">
                <a:solidFill>
                  <a:srgbClr val="7BB7FF">
                    <a:alpha val="100000"/>
                  </a:srgbClr>
                </a:solidFill>
                <a:latin typeface="FZYaYiHei GB18030L2 R" panose="02000500000000000000" charset="-122"/>
                <a:ea typeface="FZYaYiHei GB18030L2 R" panose="02000500000000000000" charset="-122"/>
                <a:cs typeface="FZYaYiHei GB18030L2 R" panose="02000500000000000000" charset="-122"/>
              </a:rPr>
              <a:t>personalized learning pathways</a:t>
            </a:r>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 adapting to each new hire's</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rPr>
              <a:t>unique pace and knowledge gaps.</a:t>
            </a:r>
            <a:endParaRPr sz="1200" b="0" i="0" strike="noStrike">
              <a:solidFill>
                <a:srgbClr val="B9CED8">
                  <a:alpha val="10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31" name="AutoShape 31"/>
          <p:cNvSpPr/>
          <p:nvPr/>
        </p:nvSpPr>
        <p:spPr>
          <a:xfrm>
            <a:off x="533267" y="5738812"/>
            <a:ext cx="1112241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32" name="AutoShape 32"/>
          <p:cNvSpPr/>
          <p:nvPr/>
        </p:nvSpPr>
        <p:spPr>
          <a:xfrm>
            <a:off x="533267" y="5900738"/>
            <a:ext cx="171407" cy="171450"/>
          </a:xfrm>
          <a:custGeom>
            <a:avLst/>
            <a:gdLst/>
            <a:ahLst/>
            <a:cxnLst/>
            <a:rect l="l" t="t" r="r" b="b"/>
            <a:pathLst>
              <a:path w="9998" h="10000">
                <a:moveTo>
                  <a:pt x="5554" y="0"/>
                </a:moveTo>
                <a:lnTo>
                  <a:pt x="0" y="6000"/>
                </a:lnTo>
                <a:lnTo>
                  <a:pt x="4999" y="6000"/>
                </a:lnTo>
                <a:lnTo>
                  <a:pt x="4444" y="10000"/>
                </a:lnTo>
                <a:lnTo>
                  <a:pt x="9998" y="4000"/>
                </a:lnTo>
                <a:lnTo>
                  <a:pt x="4999" y="4000"/>
                </a:lnTo>
                <a:lnTo>
                  <a:pt x="5554" y="0"/>
                </a:lnTo>
                <a:close/>
              </a:path>
            </a:pathLst>
          </a:custGeom>
          <a:ln w="14288">
            <a:solidFill>
              <a:srgbClr val="2DE7F0">
                <a:alpha val="100000"/>
              </a:srgbClr>
            </a:solidFill>
            <a:prstDash val="solid"/>
            <a:headEnd type="none"/>
            <a:tailEnd type="none"/>
          </a:ln>
        </p:spPr>
      </p:sp>
      <p:sp>
        <p:nvSpPr>
          <p:cNvPr id="33" name="TextBox 33"/>
          <p:cNvSpPr txBox="1"/>
          <p:nvPr/>
        </p:nvSpPr>
        <p:spPr>
          <a:xfrm>
            <a:off x="818946" y="5910262"/>
            <a:ext cx="10836740" cy="383381"/>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The platform addresses the full spectrum of financial onboarding needs by automating knowledge ingestion, enabling precise compliance Q&amp;A, and delivering adaptive</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examination and learning pathways driven by semantic AI evaluation.</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0" y="0"/>
            <a:ext cx="12188952" cy="6858000"/>
          </a:xfrm>
          <a:prstGeom prst="rect">
            <a:avLst/>
          </a:prstGeom>
          <a:blipFill rotWithShape="1">
            <a:blip r:embed="rId3">
              <a:alphaModFix amt="100000"/>
              <a:alphaModFix amt="100000"/>
            </a:blip>
            <a:stretch>
              <a:fillRect/>
            </a:stretch>
          </a:blipFill>
          <a:ln>
            <a:headEnd type="none"/>
            <a:tailEnd type="none"/>
          </a:ln>
        </p:spPr>
      </p:sp>
      <p:sp>
        <p:nvSpPr>
          <p:cNvPr id="7" name="AutoShape 7"/>
          <p:cNvSpPr/>
          <p:nvPr/>
        </p:nvSpPr>
        <p:spPr>
          <a:xfrm>
            <a:off x="457086" y="457200"/>
            <a:ext cx="380905" cy="9525"/>
          </a:xfrm>
          <a:prstGeom prst="line">
            <a:avLst/>
          </a:prstGeom>
          <a:ln w="9525">
            <a:solidFill>
              <a:srgbClr val="2DE7F0">
                <a:alpha val="100000"/>
              </a:srgbClr>
            </a:solidFill>
            <a:prstDash val="solid"/>
            <a:headEnd type="none"/>
            <a:tailEnd type="none"/>
          </a:ln>
        </p:spPr>
      </p:sp>
      <p:sp>
        <p:nvSpPr>
          <p:cNvPr id="8" name="AutoShape 8"/>
          <p:cNvSpPr/>
          <p:nvPr/>
        </p:nvSpPr>
        <p:spPr>
          <a:xfrm>
            <a:off x="457086" y="457200"/>
            <a:ext cx="9522" cy="381000"/>
          </a:xfrm>
          <a:prstGeom prst="line">
            <a:avLst/>
          </a:prstGeom>
          <a:ln w="9525">
            <a:solidFill>
              <a:srgbClr val="2DE7F0">
                <a:alpha val="100000"/>
              </a:srgbClr>
            </a:solidFill>
            <a:prstDash val="solid"/>
            <a:headEnd type="none"/>
            <a:tailEnd type="none"/>
          </a:ln>
        </p:spPr>
      </p:sp>
      <p:sp>
        <p:nvSpPr>
          <p:cNvPr id="9" name="AutoShape 9"/>
          <p:cNvSpPr/>
          <p:nvPr/>
        </p:nvSpPr>
        <p:spPr>
          <a:xfrm>
            <a:off x="11350962" y="457200"/>
            <a:ext cx="380905" cy="9525"/>
          </a:xfrm>
          <a:prstGeom prst="line">
            <a:avLst/>
          </a:prstGeom>
          <a:ln w="9525">
            <a:solidFill>
              <a:srgbClr val="2DE7F0">
                <a:alpha val="100000"/>
              </a:srgbClr>
            </a:solidFill>
            <a:prstDash val="solid"/>
            <a:headEnd type="none"/>
            <a:tailEnd type="none"/>
          </a:ln>
        </p:spPr>
      </p:sp>
      <p:sp>
        <p:nvSpPr>
          <p:cNvPr id="10" name="AutoShape 10"/>
          <p:cNvSpPr/>
          <p:nvPr/>
        </p:nvSpPr>
        <p:spPr>
          <a:xfrm>
            <a:off x="11722344" y="457200"/>
            <a:ext cx="9522" cy="381000"/>
          </a:xfrm>
          <a:prstGeom prst="line">
            <a:avLst/>
          </a:prstGeom>
          <a:ln w="9525">
            <a:solidFill>
              <a:srgbClr val="2DE7F0">
                <a:alpha val="100000"/>
              </a:srgbClr>
            </a:solidFill>
            <a:prstDash val="solid"/>
            <a:headEnd type="none"/>
            <a:tailEnd type="none"/>
          </a:ln>
        </p:spPr>
      </p:sp>
      <p:sp>
        <p:nvSpPr>
          <p:cNvPr id="11" name="AutoShape 11"/>
          <p:cNvSpPr/>
          <p:nvPr/>
        </p:nvSpPr>
        <p:spPr>
          <a:xfrm>
            <a:off x="457086" y="6391275"/>
            <a:ext cx="380905" cy="9525"/>
          </a:xfrm>
          <a:prstGeom prst="line">
            <a:avLst/>
          </a:prstGeom>
          <a:ln w="9525">
            <a:solidFill>
              <a:srgbClr val="2DE7F0">
                <a:alpha val="100000"/>
              </a:srgbClr>
            </a:solidFill>
            <a:prstDash val="solid"/>
            <a:headEnd type="none"/>
            <a:tailEnd type="none"/>
          </a:ln>
        </p:spPr>
      </p:sp>
      <p:sp>
        <p:nvSpPr>
          <p:cNvPr id="12" name="AutoShape 12"/>
          <p:cNvSpPr/>
          <p:nvPr/>
        </p:nvSpPr>
        <p:spPr>
          <a:xfrm>
            <a:off x="457086" y="6019800"/>
            <a:ext cx="9522" cy="381000"/>
          </a:xfrm>
          <a:prstGeom prst="line">
            <a:avLst/>
          </a:prstGeom>
          <a:ln w="9525">
            <a:solidFill>
              <a:srgbClr val="2DE7F0">
                <a:alpha val="100000"/>
              </a:srgbClr>
            </a:solidFill>
            <a:prstDash val="solid"/>
            <a:headEnd type="none"/>
            <a:tailEnd type="none"/>
          </a:ln>
        </p:spPr>
      </p:sp>
      <p:sp>
        <p:nvSpPr>
          <p:cNvPr id="13" name="AutoShape 13"/>
          <p:cNvSpPr/>
          <p:nvPr/>
        </p:nvSpPr>
        <p:spPr>
          <a:xfrm>
            <a:off x="11722344" y="6019800"/>
            <a:ext cx="9522" cy="381000"/>
          </a:xfrm>
          <a:prstGeom prst="line">
            <a:avLst/>
          </a:prstGeom>
          <a:ln w="9525">
            <a:solidFill>
              <a:srgbClr val="2DE7F0">
                <a:alpha val="100000"/>
              </a:srgbClr>
            </a:solidFill>
            <a:prstDash val="solid"/>
            <a:headEnd type="none"/>
            <a:tailEnd type="none"/>
          </a:ln>
        </p:spPr>
      </p:sp>
      <p:sp>
        <p:nvSpPr>
          <p:cNvPr id="14" name="AutoShape 14"/>
          <p:cNvSpPr/>
          <p:nvPr/>
        </p:nvSpPr>
        <p:spPr>
          <a:xfrm>
            <a:off x="11350962" y="6391275"/>
            <a:ext cx="380905" cy="9525"/>
          </a:xfrm>
          <a:prstGeom prst="line">
            <a:avLst/>
          </a:prstGeom>
          <a:ln w="9525">
            <a:solidFill>
              <a:srgbClr val="2DE7F0">
                <a:alpha val="100000"/>
              </a:srgbClr>
            </a:solidFill>
            <a:prstDash val="solid"/>
            <a:headEnd type="none"/>
            <a:tailEnd type="none"/>
          </a:ln>
        </p:spPr>
      </p:sp>
      <p:sp>
        <p:nvSpPr>
          <p:cNvPr id="15" name="AutoShape 15"/>
          <p:cNvSpPr/>
          <p:nvPr/>
        </p:nvSpPr>
        <p:spPr>
          <a:xfrm>
            <a:off x="5431761" y="1641128"/>
            <a:ext cx="57136" cy="57150"/>
          </a:xfrm>
          <a:prstGeom prst="ellipse">
            <a:avLst/>
          </a:prstGeom>
          <a:solidFill>
            <a:srgbClr val="2DE7F0">
              <a:alpha val="100000"/>
            </a:srgbClr>
          </a:solidFill>
          <a:ln>
            <a:headEnd type="none"/>
            <a:tailEnd type="none"/>
          </a:ln>
        </p:spPr>
      </p:sp>
      <p:sp>
        <p:nvSpPr>
          <p:cNvPr id="16" name="TextBox 16"/>
          <p:cNvSpPr txBox="1"/>
          <p:nvPr/>
        </p:nvSpPr>
        <p:spPr>
          <a:xfrm>
            <a:off x="5603169" y="1588741"/>
            <a:ext cx="1020557"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2DE7F0">
                    <a:alpha val="100000"/>
                  </a:srgbClr>
                </a:solidFill>
                <a:latin typeface="Inter" panose="02000503000000020004"/>
                <a:ea typeface="Inter" panose="02000503000000020004"/>
                <a:cs typeface="Inter" panose="02000503000000020004"/>
              </a:rPr>
              <a:t>CHAPTER 02</a:t>
            </a:r>
            <a:endParaRPr lang="en-US" sz="1100"/>
          </a:p>
        </p:txBody>
      </p:sp>
      <p:sp>
        <p:nvSpPr>
          <p:cNvPr id="17" name="AutoShape 17"/>
          <p:cNvSpPr/>
          <p:nvPr/>
        </p:nvSpPr>
        <p:spPr>
          <a:xfrm>
            <a:off x="6699907" y="1641128"/>
            <a:ext cx="57136" cy="57150"/>
          </a:xfrm>
          <a:prstGeom prst="ellipse">
            <a:avLst/>
          </a:prstGeom>
          <a:solidFill>
            <a:srgbClr val="2DE7F0">
              <a:alpha val="100000"/>
            </a:srgbClr>
          </a:solidFill>
          <a:ln>
            <a:headEnd type="none"/>
            <a:tailEnd type="none"/>
          </a:ln>
        </p:spPr>
      </p:sp>
      <p:sp>
        <p:nvSpPr>
          <p:cNvPr id="18" name="AutoShape 18"/>
          <p:cNvSpPr/>
          <p:nvPr/>
        </p:nvSpPr>
        <p:spPr>
          <a:xfrm>
            <a:off x="5789752" y="2036416"/>
            <a:ext cx="609448" cy="28575"/>
          </a:xfrm>
          <a:prstGeom prst="roundRect">
            <a:avLst>
              <a:gd name="adj" fmla="val 50000"/>
            </a:avLst>
          </a:prstGeom>
          <a:solidFill>
            <a:srgbClr val="2DE7F0">
              <a:alpha val="100000"/>
            </a:srgbClr>
          </a:solidFill>
          <a:ln>
            <a:headEnd type="none"/>
            <a:tailEnd type="none"/>
          </a:ln>
        </p:spPr>
      </p:sp>
      <p:sp>
        <p:nvSpPr>
          <p:cNvPr id="19" name="TextBox 19"/>
          <p:cNvSpPr txBox="1"/>
          <p:nvPr/>
        </p:nvSpPr>
        <p:spPr>
          <a:xfrm>
            <a:off x="2665664" y="2369791"/>
            <a:ext cx="6857624" cy="1316534"/>
          </a:xfrm>
          <a:prstGeom prst="rect">
            <a:avLst/>
          </a:prstGeom>
          <a:ln>
            <a:headEnd type="none"/>
            <a:tailEnd type="none"/>
          </a:ln>
        </p:spPr>
        <p:txBody>
          <a:bodyPr vert="horz" wrap="square" lIns="0" tIns="0" rIns="0" bIns="0" rtlCol="0" anchor="t" anchorCtr="1"/>
          <a:lstStyle/>
          <a:p>
            <a:pPr algn="ctr">
              <a:defRPr/>
            </a:pPr>
            <a:r>
              <a:rPr lang="en-US" sz="4800" b="1" i="0" strike="noStrike">
                <a:solidFill>
                  <a:srgbClr val="F4FAFF">
                    <a:alpha val="100000"/>
                  </a:srgbClr>
                </a:solidFill>
                <a:latin typeface="Inter" panose="02000503000000020004"/>
                <a:ea typeface="Inter" panose="02000503000000020004"/>
                <a:cs typeface="Inter" panose="02000503000000020004"/>
              </a:rPr>
              <a:t>Core Innovation </a:t>
            </a:r>
            <a:r>
              <a:rPr sz="4800" b="1" i="0" strike="noStrike">
                <a:solidFill>
                  <a:srgbClr val="2DE7F0">
                    <a:alpha val="100000"/>
                  </a:srgbClr>
                </a:solidFill>
                <a:latin typeface="Inter" panose="02000503000000020004"/>
                <a:ea typeface="Inter" panose="02000503000000020004"/>
                <a:cs typeface="Inter" panose="02000503000000020004"/>
              </a:rPr>
              <a:t>&amp;</a:t>
            </a:r>
            <a:endParaRPr lang="en-US" sz="1100"/>
          </a:p>
          <a:p>
            <a:pPr algn="ctr"/>
            <a:r>
              <a:rPr sz="4800" b="1" i="0" strike="noStrike">
                <a:solidFill>
                  <a:srgbClr val="F4FAFF">
                    <a:alpha val="100000"/>
                  </a:srgbClr>
                </a:solidFill>
                <a:latin typeface="Inter" panose="02000503000000020004"/>
                <a:ea typeface="Inter" panose="02000503000000020004"/>
                <a:cs typeface="Inter" panose="02000503000000020004"/>
              </a:rPr>
              <a:t>Architecture</a:t>
            </a:r>
            <a:endParaRPr sz="4800" b="1" i="0" strike="noStrike">
              <a:solidFill>
                <a:srgbClr val="F4FAFF">
                  <a:alpha val="100000"/>
                </a:srgbClr>
              </a:solidFill>
              <a:latin typeface="Inter" panose="02000503000000020004"/>
              <a:ea typeface="Inter" panose="02000503000000020004"/>
              <a:cs typeface="Inter" panose="02000503000000020004"/>
            </a:endParaRPr>
          </a:p>
        </p:txBody>
      </p:sp>
      <p:sp>
        <p:nvSpPr>
          <p:cNvPr id="20" name="AutoShape 20"/>
          <p:cNvSpPr/>
          <p:nvPr/>
        </p:nvSpPr>
        <p:spPr>
          <a:xfrm>
            <a:off x="3809048" y="3991124"/>
            <a:ext cx="4570857"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1" name="TextBox 21"/>
          <p:cNvSpPr txBox="1"/>
          <p:nvPr/>
        </p:nvSpPr>
        <p:spPr>
          <a:xfrm>
            <a:off x="1261003" y="4267349"/>
            <a:ext cx="9666945" cy="601861"/>
          </a:xfrm>
          <a:prstGeom prst="rect">
            <a:avLst/>
          </a:prstGeom>
          <a:ln>
            <a:headEnd type="none"/>
            <a:tailEnd type="none"/>
          </a:ln>
        </p:spPr>
        <p:txBody>
          <a:bodyPr vert="horz" wrap="square" lIns="0" tIns="0" rIns="0" bIns="0" rtlCol="0" anchor="ctr" anchorCtr="1"/>
          <a:lstStyle/>
          <a:p>
            <a:pPr algn="ctr">
              <a:defRPr/>
            </a:pPr>
            <a:r>
              <a:rPr lang="en-US" sz="1500" b="0" i="0" strike="noStrike">
                <a:solidFill>
                  <a:srgbClr val="B9CED8">
                    <a:alpha val="100000"/>
                  </a:srgbClr>
                </a:solidFill>
                <a:latin typeface="Inter" panose="02000503000000020004"/>
                <a:ea typeface="Inter" panose="02000503000000020004"/>
                <a:cs typeface="Inter" panose="02000503000000020004"/>
              </a:rPr>
              <a:t>Overcoming context limitations with dynamic memory compression and a robust five-</a:t>
            </a:r>
            <a:endParaRPr lang="en-US" sz="1100"/>
          </a:p>
          <a:p>
            <a:pPr algn="ctr"/>
            <a:r>
              <a:rPr sz="1500" b="0" i="0" strike="noStrike">
                <a:solidFill>
                  <a:srgbClr val="B9CED8">
                    <a:alpha val="100000"/>
                  </a:srgbClr>
                </a:solidFill>
                <a:latin typeface="Inter" panose="02000503000000020004"/>
                <a:ea typeface="Inter" panose="02000503000000020004"/>
                <a:cs typeface="Inter" panose="02000503000000020004"/>
              </a:rPr>
              <a:t>layer system design</a:t>
            </a:r>
            <a:endParaRPr sz="1500" b="0" i="0" strike="noStrike">
              <a:solidFill>
                <a:srgbClr val="B9CED8">
                  <a:alpha val="100000"/>
                </a:srgbClr>
              </a:solidFill>
              <a:latin typeface="Inter" panose="02000503000000020004"/>
              <a:ea typeface="Inter" panose="02000503000000020004"/>
              <a:cs typeface="Inter" panose="02000503000000020004"/>
            </a:endParaRPr>
          </a:p>
        </p:txBody>
      </p:sp>
      <p:sp>
        <p:nvSpPr>
          <p:cNvPr id="22" name="AutoShape 22"/>
          <p:cNvSpPr/>
          <p:nvPr/>
        </p:nvSpPr>
        <p:spPr>
          <a:xfrm>
            <a:off x="5542164" y="5264497"/>
            <a:ext cx="457086" cy="9525"/>
          </a:xfrm>
          <a:prstGeom prst="rect">
            <a:avLst/>
          </a:prstGeom>
          <a:solidFill>
            <a:srgbClr val="2DE7F0">
              <a:alpha val="34901"/>
            </a:srgbClr>
          </a:solidFill>
          <a:ln>
            <a:headEnd type="none"/>
            <a:tailEnd type="none"/>
          </a:ln>
        </p:spPr>
      </p:sp>
      <p:sp>
        <p:nvSpPr>
          <p:cNvPr id="23" name="AutoShape 23"/>
          <p:cNvSpPr/>
          <p:nvPr/>
        </p:nvSpPr>
        <p:spPr>
          <a:xfrm>
            <a:off x="6075431" y="5250209"/>
            <a:ext cx="38090" cy="38100"/>
          </a:xfrm>
          <a:prstGeom prst="ellipse">
            <a:avLst/>
          </a:prstGeom>
          <a:solidFill>
            <a:srgbClr val="2DE7F0">
              <a:alpha val="60000"/>
            </a:srgbClr>
          </a:solidFill>
          <a:ln>
            <a:headEnd type="none"/>
            <a:tailEnd type="none"/>
          </a:ln>
        </p:spPr>
      </p:sp>
      <p:sp>
        <p:nvSpPr>
          <p:cNvPr id="24" name="AutoShape 24"/>
          <p:cNvSpPr/>
          <p:nvPr/>
        </p:nvSpPr>
        <p:spPr>
          <a:xfrm>
            <a:off x="6189702" y="5264497"/>
            <a:ext cx="457086" cy="9525"/>
          </a:xfrm>
          <a:prstGeom prst="rect">
            <a:avLst/>
          </a:prstGeom>
          <a:solidFill>
            <a:srgbClr val="2DE7F0">
              <a:alpha val="34901"/>
            </a:srgbClr>
          </a:solidFill>
          <a:ln>
            <a:headEnd type="none"/>
            <a:tailEnd type="non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AutoShape 4"/>
          <p:cNvSpPr/>
          <p:nvPr/>
        </p:nvSpPr>
        <p:spPr>
          <a:xfrm>
            <a:off x="571358" y="592038"/>
            <a:ext cx="28567" cy="266700"/>
          </a:xfrm>
          <a:prstGeom prst="roundRect">
            <a:avLst>
              <a:gd name="adj" fmla="val 50000"/>
            </a:avLst>
          </a:prstGeom>
          <a:solidFill>
            <a:srgbClr val="2DE7F0">
              <a:alpha val="100000"/>
            </a:srgbClr>
          </a:solidFill>
          <a:ln>
            <a:headEnd type="none"/>
            <a:tailEnd type="none"/>
          </a:ln>
        </p:spPr>
      </p:sp>
      <p:sp>
        <p:nvSpPr>
          <p:cNvPr id="5" name="TextBox 5"/>
          <p:cNvSpPr txBox="1"/>
          <p:nvPr/>
        </p:nvSpPr>
        <p:spPr>
          <a:xfrm>
            <a:off x="733242" y="523875"/>
            <a:ext cx="10337844"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F4FAFF">
                    <a:alpha val="100000"/>
                  </a:srgbClr>
                </a:solidFill>
                <a:latin typeface="Inter" panose="02000503000000020004"/>
                <a:ea typeface="Inter" panose="02000503000000020004"/>
                <a:cs typeface="Inter" panose="02000503000000020004"/>
              </a:rPr>
              <a:t>Core Innovation: From </a:t>
            </a:r>
            <a:r>
              <a:rPr sz="2700" b="1" i="0" strike="noStrike">
                <a:solidFill>
                  <a:srgbClr val="2DE7F0">
                    <a:alpha val="100000"/>
                  </a:srgbClr>
                </a:solidFill>
                <a:latin typeface="Inter" panose="02000503000000020004"/>
                <a:ea typeface="Inter" panose="02000503000000020004"/>
                <a:cs typeface="Inter" panose="02000503000000020004"/>
              </a:rPr>
              <a:t>'Full-Text Infusion'</a:t>
            </a:r>
            <a:r>
              <a:rPr sz="2700" b="1" i="0" strike="noStrike">
                <a:solidFill>
                  <a:srgbClr val="F4FAFF">
                    <a:alpha val="100000"/>
                  </a:srgbClr>
                </a:solidFill>
                <a:latin typeface="Inter" panose="02000503000000020004"/>
                <a:ea typeface="Inter" panose="02000503000000020004"/>
                <a:cs typeface="Inter" panose="02000503000000020004"/>
              </a:rPr>
              <a:t> to </a:t>
            </a:r>
            <a:r>
              <a:rPr sz="2700" b="1" i="0" strike="noStrike">
                <a:solidFill>
                  <a:srgbClr val="2DE7F0">
                    <a:alpha val="100000"/>
                  </a:srgbClr>
                </a:solidFill>
                <a:latin typeface="Inter" panose="02000503000000020004"/>
                <a:ea typeface="Inter" panose="02000503000000020004"/>
                <a:cs typeface="Inter" panose="02000503000000020004"/>
              </a:rPr>
              <a:t>'Cognitive Drawer'</a:t>
            </a:r>
            <a:endParaRPr lang="en-US" sz="1100"/>
          </a:p>
        </p:txBody>
      </p:sp>
      <p:sp>
        <p:nvSpPr>
          <p:cNvPr id="6" name="AutoShape 6"/>
          <p:cNvSpPr/>
          <p:nvPr/>
        </p:nvSpPr>
        <p:spPr>
          <a:xfrm>
            <a:off x="571358" y="1165027"/>
            <a:ext cx="1104623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7" name="AutoShape 7"/>
          <p:cNvSpPr/>
          <p:nvPr/>
        </p:nvSpPr>
        <p:spPr>
          <a:xfrm>
            <a:off x="571358" y="1374577"/>
            <a:ext cx="1031865" cy="217141"/>
          </a:xfrm>
          <a:prstGeom prst="roundRect">
            <a:avLst>
              <a:gd name="adj" fmla="val 50000"/>
            </a:avLst>
          </a:prstGeom>
          <a:ln w="9525">
            <a:solidFill>
              <a:srgbClr val="2DE7F0">
                <a:alpha val="27843"/>
              </a:srgbClr>
            </a:solidFill>
            <a:prstDash val="solid"/>
            <a:headEnd type="none"/>
            <a:tailEnd type="none"/>
          </a:ln>
        </p:spPr>
      </p:sp>
      <p:sp>
        <p:nvSpPr>
          <p:cNvPr id="8" name="TextBox 8"/>
          <p:cNvSpPr txBox="1"/>
          <p:nvPr/>
        </p:nvSpPr>
        <p:spPr>
          <a:xfrm>
            <a:off x="676106" y="1412677"/>
            <a:ext cx="927117"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KEY INSIGHT</a:t>
            </a:r>
            <a:endParaRPr lang="en-US" sz="1100"/>
          </a:p>
        </p:txBody>
      </p:sp>
      <p:sp>
        <p:nvSpPr>
          <p:cNvPr id="9" name="AutoShape 9"/>
          <p:cNvSpPr/>
          <p:nvPr/>
        </p:nvSpPr>
        <p:spPr>
          <a:xfrm>
            <a:off x="571358" y="1727002"/>
            <a:ext cx="4197540" cy="3895874"/>
          </a:xfrm>
          <a:prstGeom prst="roundRect">
            <a:avLst>
              <a:gd name="adj" fmla="val 459"/>
            </a:avLst>
          </a:prstGeom>
          <a:solidFill>
            <a:srgbClr val="06121A">
              <a:alpha val="76078"/>
            </a:srgbClr>
          </a:solidFill>
          <a:ln w="9525">
            <a:solidFill>
              <a:srgbClr val="2DE7F0">
                <a:alpha val="21960"/>
              </a:srgbClr>
            </a:solidFill>
            <a:prstDash val="solid"/>
            <a:headEnd type="none"/>
            <a:tailEnd type="none"/>
          </a:ln>
        </p:spPr>
      </p:sp>
      <p:sp>
        <p:nvSpPr>
          <p:cNvPr id="10" name="AutoShape 10"/>
          <p:cNvSpPr/>
          <p:nvPr/>
        </p:nvSpPr>
        <p:spPr>
          <a:xfrm>
            <a:off x="571358" y="1727002"/>
            <a:ext cx="114271" cy="9525"/>
          </a:xfrm>
          <a:prstGeom prst="line">
            <a:avLst/>
          </a:prstGeom>
          <a:ln w="9525">
            <a:solidFill>
              <a:srgbClr val="2DE7F0">
                <a:alpha val="100000"/>
              </a:srgbClr>
            </a:solidFill>
            <a:prstDash val="solid"/>
            <a:headEnd type="none"/>
            <a:tailEnd type="none"/>
          </a:ln>
        </p:spPr>
      </p:sp>
      <p:sp>
        <p:nvSpPr>
          <p:cNvPr id="11" name="AutoShape 11"/>
          <p:cNvSpPr/>
          <p:nvPr/>
        </p:nvSpPr>
        <p:spPr>
          <a:xfrm>
            <a:off x="571358" y="1727002"/>
            <a:ext cx="9522" cy="114300"/>
          </a:xfrm>
          <a:prstGeom prst="line">
            <a:avLst/>
          </a:prstGeom>
          <a:ln w="9525">
            <a:solidFill>
              <a:srgbClr val="2DE7F0">
                <a:alpha val="100000"/>
              </a:srgbClr>
            </a:solidFill>
            <a:prstDash val="solid"/>
            <a:headEnd type="none"/>
            <a:tailEnd type="none"/>
          </a:ln>
        </p:spPr>
      </p:sp>
      <p:sp>
        <p:nvSpPr>
          <p:cNvPr id="12" name="AutoShape 12"/>
          <p:cNvSpPr/>
          <p:nvPr/>
        </p:nvSpPr>
        <p:spPr>
          <a:xfrm>
            <a:off x="4654626" y="1727002"/>
            <a:ext cx="114271" cy="9525"/>
          </a:xfrm>
          <a:prstGeom prst="line">
            <a:avLst/>
          </a:prstGeom>
          <a:ln w="9525">
            <a:solidFill>
              <a:srgbClr val="2DE7F0">
                <a:alpha val="100000"/>
              </a:srgbClr>
            </a:solidFill>
            <a:prstDash val="solid"/>
            <a:headEnd type="none"/>
            <a:tailEnd type="none"/>
          </a:ln>
        </p:spPr>
      </p:sp>
      <p:sp>
        <p:nvSpPr>
          <p:cNvPr id="13" name="AutoShape 13"/>
          <p:cNvSpPr/>
          <p:nvPr/>
        </p:nvSpPr>
        <p:spPr>
          <a:xfrm>
            <a:off x="4759375" y="1727002"/>
            <a:ext cx="9522" cy="114300"/>
          </a:xfrm>
          <a:prstGeom prst="line">
            <a:avLst/>
          </a:prstGeom>
          <a:ln w="9525">
            <a:solidFill>
              <a:srgbClr val="2DE7F0">
                <a:alpha val="100000"/>
              </a:srgbClr>
            </a:solidFill>
            <a:prstDash val="solid"/>
            <a:headEnd type="none"/>
            <a:tailEnd type="none"/>
          </a:ln>
        </p:spPr>
      </p:sp>
      <p:sp>
        <p:nvSpPr>
          <p:cNvPr id="14" name="AutoShape 14"/>
          <p:cNvSpPr/>
          <p:nvPr/>
        </p:nvSpPr>
        <p:spPr>
          <a:xfrm>
            <a:off x="571358" y="5613350"/>
            <a:ext cx="114271" cy="9525"/>
          </a:xfrm>
          <a:prstGeom prst="line">
            <a:avLst/>
          </a:prstGeom>
          <a:ln w="9525">
            <a:solidFill>
              <a:srgbClr val="2DE7F0">
                <a:alpha val="100000"/>
              </a:srgbClr>
            </a:solidFill>
            <a:prstDash val="solid"/>
            <a:headEnd type="none"/>
            <a:tailEnd type="none"/>
          </a:ln>
        </p:spPr>
      </p:sp>
      <p:sp>
        <p:nvSpPr>
          <p:cNvPr id="15" name="AutoShape 15"/>
          <p:cNvSpPr/>
          <p:nvPr/>
        </p:nvSpPr>
        <p:spPr>
          <a:xfrm>
            <a:off x="571358" y="5508575"/>
            <a:ext cx="9522" cy="114300"/>
          </a:xfrm>
          <a:prstGeom prst="line">
            <a:avLst/>
          </a:prstGeom>
          <a:ln w="9525">
            <a:solidFill>
              <a:srgbClr val="2DE7F0">
                <a:alpha val="100000"/>
              </a:srgbClr>
            </a:solidFill>
            <a:prstDash val="solid"/>
            <a:headEnd type="none"/>
            <a:tailEnd type="none"/>
          </a:ln>
        </p:spPr>
      </p:sp>
      <p:sp>
        <p:nvSpPr>
          <p:cNvPr id="16" name="AutoShape 16"/>
          <p:cNvSpPr/>
          <p:nvPr/>
        </p:nvSpPr>
        <p:spPr>
          <a:xfrm>
            <a:off x="4759375" y="5508575"/>
            <a:ext cx="9522" cy="114300"/>
          </a:xfrm>
          <a:prstGeom prst="line">
            <a:avLst/>
          </a:prstGeom>
          <a:ln w="9525">
            <a:solidFill>
              <a:srgbClr val="2DE7F0">
                <a:alpha val="100000"/>
              </a:srgbClr>
            </a:solidFill>
            <a:prstDash val="solid"/>
            <a:headEnd type="none"/>
            <a:tailEnd type="none"/>
          </a:ln>
        </p:spPr>
      </p:sp>
      <p:sp>
        <p:nvSpPr>
          <p:cNvPr id="17" name="AutoShape 17"/>
          <p:cNvSpPr/>
          <p:nvPr/>
        </p:nvSpPr>
        <p:spPr>
          <a:xfrm>
            <a:off x="4654626" y="5613350"/>
            <a:ext cx="114271" cy="9525"/>
          </a:xfrm>
          <a:prstGeom prst="line">
            <a:avLst/>
          </a:prstGeom>
          <a:ln w="9525">
            <a:solidFill>
              <a:srgbClr val="2DE7F0">
                <a:alpha val="100000"/>
              </a:srgbClr>
            </a:solidFill>
            <a:prstDash val="solid"/>
            <a:headEnd type="none"/>
            <a:tailEnd type="none"/>
          </a:ln>
        </p:spPr>
      </p:sp>
      <p:sp>
        <p:nvSpPr>
          <p:cNvPr id="18" name="TextBox 18"/>
          <p:cNvSpPr txBox="1"/>
          <p:nvPr/>
        </p:nvSpPr>
        <p:spPr>
          <a:xfrm>
            <a:off x="809423" y="2576364"/>
            <a:ext cx="3959475" cy="2186583"/>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F4FAFF">
                    <a:alpha val="100000"/>
                  </a:srgbClr>
                </a:solidFill>
                <a:latin typeface="Inter" panose="02000503000000020004"/>
                <a:ea typeface="Inter" panose="02000503000000020004"/>
                <a:cs typeface="Inter" panose="02000503000000020004"/>
              </a:rPr>
              <a:t>Transitioning from traditional </a:t>
            </a:r>
            <a:r>
              <a:rPr sz="1600" b="0" i="0" strike="noStrike">
                <a:solidFill>
                  <a:srgbClr val="2DE7F0">
                    <a:alpha val="100000"/>
                  </a:srgbClr>
                </a:solidFill>
                <a:latin typeface="Inter" panose="02000503000000020004"/>
                <a:ea typeface="Inter" panose="02000503000000020004"/>
                <a:cs typeface="Inter" panose="02000503000000020004"/>
              </a:rPr>
              <a:t>'full-text</a:t>
            </a:r>
            <a:endParaRPr lang="en-US" sz="1100"/>
          </a:p>
          <a:p>
            <a:pPr algn="l"/>
            <a:r>
              <a:rPr sz="1600" b="0" i="0" strike="noStrike">
                <a:solidFill>
                  <a:srgbClr val="2DE7F0">
                    <a:alpha val="100000"/>
                  </a:srgbClr>
                </a:solidFill>
                <a:latin typeface="Inter" panose="02000503000000020004"/>
                <a:ea typeface="Inter" panose="02000503000000020004"/>
                <a:cs typeface="Inter" panose="02000503000000020004"/>
              </a:rPr>
              <a:t>infusion'</a:t>
            </a:r>
            <a:r>
              <a:rPr sz="1600" b="0" i="0" strike="noStrike">
                <a:solidFill>
                  <a:srgbClr val="F4FAFF">
                    <a:alpha val="100000"/>
                  </a:srgbClr>
                </a:solidFill>
                <a:latin typeface="Inter" panose="02000503000000020004"/>
                <a:ea typeface="Inter" panose="02000503000000020004"/>
                <a:cs typeface="Inter" panose="02000503000000020004"/>
              </a:rPr>
              <a:t> to a </a:t>
            </a:r>
            <a:r>
              <a:rPr sz="1600" b="0" i="0" strike="noStrike">
                <a:solidFill>
                  <a:srgbClr val="2DE7F0">
                    <a:alpha val="100000"/>
                  </a:srgbClr>
                </a:solidFill>
                <a:latin typeface="Inter" panose="02000503000000020004"/>
                <a:ea typeface="Inter" panose="02000503000000020004"/>
                <a:cs typeface="Inter" panose="02000503000000020004"/>
              </a:rPr>
              <a:t>'cognitive drawer'</a:t>
            </a:r>
            <a:r>
              <a:rPr sz="1600" b="0" i="0" strike="noStrike">
                <a:solidFill>
                  <a:srgbClr val="F4FAFF">
                    <a:alpha val="100000"/>
                  </a:srgbClr>
                </a:solidFill>
                <a:latin typeface="Inter" panose="02000503000000020004"/>
                <a:ea typeface="Inter" panose="02000503000000020004"/>
                <a:cs typeface="Inter" panose="02000503000000020004"/>
              </a:rPr>
              <a:t> model,</a:t>
            </a:r>
            <a:endParaRPr sz="1600" b="0" i="0" strike="noStrike">
              <a:solidFill>
                <a:srgbClr val="F4FAFF">
                  <a:alpha val="100000"/>
                </a:srgbClr>
              </a:solidFill>
              <a:latin typeface="Inter" panose="02000503000000020004"/>
              <a:ea typeface="Inter" panose="02000503000000020004"/>
              <a:cs typeface="Inter" panose="02000503000000020004"/>
            </a:endParaRPr>
          </a:p>
          <a:p>
            <a:pPr algn="l"/>
            <a:r>
              <a:rPr sz="1600" b="0" i="0" strike="noStrike">
                <a:solidFill>
                  <a:srgbClr val="F4FAFF">
                    <a:alpha val="100000"/>
                  </a:srgbClr>
                </a:solidFill>
                <a:latin typeface="Inter" panose="02000503000000020004"/>
                <a:ea typeface="Inter" panose="02000503000000020004"/>
                <a:cs typeface="Inter" panose="02000503000000020004"/>
              </a:rPr>
              <a:t>the system utilizes a three-tier dynamic</a:t>
            </a:r>
            <a:endParaRPr sz="1600" b="0" i="0" strike="noStrike">
              <a:solidFill>
                <a:srgbClr val="F4FAFF">
                  <a:alpha val="100000"/>
                </a:srgbClr>
              </a:solidFill>
              <a:latin typeface="Inter" panose="02000503000000020004"/>
              <a:ea typeface="Inter" panose="02000503000000020004"/>
              <a:cs typeface="Inter" panose="02000503000000020004"/>
            </a:endParaRPr>
          </a:p>
          <a:p>
            <a:pPr algn="l"/>
            <a:r>
              <a:rPr sz="1600" b="0" i="0" strike="noStrike">
                <a:solidFill>
                  <a:srgbClr val="F4FAFF">
                    <a:alpha val="100000"/>
                  </a:srgbClr>
                </a:solidFill>
                <a:latin typeface="Inter" panose="02000503000000020004"/>
                <a:ea typeface="Inter" panose="02000503000000020004"/>
                <a:cs typeface="Inter" panose="02000503000000020004"/>
              </a:rPr>
              <a:t>memory compression architecture to</a:t>
            </a:r>
            <a:endParaRPr sz="1600" b="0" i="0" strike="noStrike">
              <a:solidFill>
                <a:srgbClr val="F4FAFF">
                  <a:alpha val="100000"/>
                </a:srgbClr>
              </a:solidFill>
              <a:latin typeface="Inter" panose="02000503000000020004"/>
              <a:ea typeface="Inter" panose="02000503000000020004"/>
              <a:cs typeface="Inter" panose="02000503000000020004"/>
            </a:endParaRPr>
          </a:p>
          <a:p>
            <a:pPr algn="l"/>
            <a:r>
              <a:rPr sz="1600" b="0" i="0" strike="noStrike">
                <a:solidFill>
                  <a:srgbClr val="F4FAFF">
                    <a:alpha val="100000"/>
                  </a:srgbClr>
                </a:solidFill>
                <a:latin typeface="Inter" panose="02000503000000020004"/>
                <a:ea typeface="Inter" panose="02000503000000020004"/>
                <a:cs typeface="Inter" panose="02000503000000020004"/>
              </a:rPr>
              <a:t>assemble precise micro-contexts,</a:t>
            </a:r>
            <a:endParaRPr sz="1600" b="0" i="0" strike="noStrike">
              <a:solidFill>
                <a:srgbClr val="F4FAFF">
                  <a:alpha val="100000"/>
                </a:srgbClr>
              </a:solidFill>
              <a:latin typeface="Inter" panose="02000503000000020004"/>
              <a:ea typeface="Inter" panose="02000503000000020004"/>
              <a:cs typeface="Inter" panose="02000503000000020004"/>
            </a:endParaRPr>
          </a:p>
          <a:p>
            <a:pPr algn="l"/>
            <a:r>
              <a:rPr sz="1600" b="0" i="0" strike="noStrike">
                <a:solidFill>
                  <a:srgbClr val="F4FAFF">
                    <a:alpha val="100000"/>
                  </a:srgbClr>
                </a:solidFill>
                <a:latin typeface="Inter" panose="02000503000000020004"/>
                <a:ea typeface="Inter" panose="02000503000000020004"/>
                <a:cs typeface="Inter" panose="02000503000000020004"/>
              </a:rPr>
              <a:t>enabling millisecond-level Q&amp;A over</a:t>
            </a:r>
            <a:endParaRPr sz="1600" b="0" i="0" strike="noStrike">
              <a:solidFill>
                <a:srgbClr val="F4FAFF">
                  <a:alpha val="100000"/>
                </a:srgbClr>
              </a:solidFill>
              <a:latin typeface="Inter" panose="02000503000000020004"/>
              <a:ea typeface="Inter" panose="02000503000000020004"/>
              <a:cs typeface="Inter" panose="02000503000000020004"/>
            </a:endParaRPr>
          </a:p>
          <a:p>
            <a:pPr algn="l"/>
            <a:r>
              <a:rPr sz="1600" b="0" i="0" strike="noStrike">
                <a:solidFill>
                  <a:srgbClr val="F4FAFF">
                    <a:alpha val="100000"/>
                  </a:srgbClr>
                </a:solidFill>
                <a:latin typeface="Inter" panose="02000503000000020004"/>
                <a:ea typeface="Inter" panose="02000503000000020004"/>
                <a:cs typeface="Inter" panose="02000503000000020004"/>
              </a:rPr>
              <a:t>thousands of pages.</a:t>
            </a:r>
            <a:endParaRPr sz="1600" b="0" i="0" strike="noStrike">
              <a:solidFill>
                <a:srgbClr val="F4FAFF">
                  <a:alpha val="100000"/>
                </a:srgbClr>
              </a:solidFill>
              <a:latin typeface="Inter" panose="02000503000000020004"/>
              <a:ea typeface="Inter" panose="02000503000000020004"/>
              <a:cs typeface="Inter" panose="02000503000000020004"/>
            </a:endParaRPr>
          </a:p>
        </p:txBody>
      </p:sp>
      <p:sp>
        <p:nvSpPr>
          <p:cNvPr id="19" name="TextBox 19"/>
          <p:cNvSpPr txBox="1"/>
          <p:nvPr/>
        </p:nvSpPr>
        <p:spPr>
          <a:xfrm>
            <a:off x="571358" y="5841653"/>
            <a:ext cx="762405"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2DE7F0">
                    <a:alpha val="100000"/>
                  </a:srgbClr>
                </a:solidFill>
                <a:latin typeface="Inter" panose="02000503000000020004"/>
                <a:ea typeface="Inter" panose="02000503000000020004"/>
                <a:cs typeface="Inter" panose="02000503000000020004"/>
              </a:rPr>
              <a:t>80%</a:t>
            </a:r>
            <a:endParaRPr lang="en-US" sz="1100"/>
          </a:p>
        </p:txBody>
      </p:sp>
      <p:sp>
        <p:nvSpPr>
          <p:cNvPr id="20" name="TextBox 20"/>
          <p:cNvSpPr txBox="1"/>
          <p:nvPr/>
        </p:nvSpPr>
        <p:spPr>
          <a:xfrm>
            <a:off x="1409943" y="5784800"/>
            <a:ext cx="1171580" cy="512266"/>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B9CED8">
                    <a:alpha val="100000"/>
                  </a:srgbClr>
                </a:solidFill>
                <a:latin typeface="Inter" panose="02000503000000020004"/>
                <a:ea typeface="Inter" panose="02000503000000020004"/>
                <a:cs typeface="Inter" panose="02000503000000020004"/>
              </a:rPr>
              <a:t>Token output</a:t>
            </a:r>
            <a:endParaRPr lang="en-US" sz="1100"/>
          </a:p>
          <a:p>
            <a:pPr algn="l"/>
            <a:r>
              <a:rPr sz="1000" b="0" i="0" strike="noStrike">
                <a:solidFill>
                  <a:srgbClr val="B9CED8">
                    <a:alpha val="100000"/>
                  </a:srgbClr>
                </a:solidFill>
                <a:latin typeface="Inter" panose="02000503000000020004"/>
                <a:ea typeface="Inter" panose="02000503000000020004"/>
                <a:cs typeface="Inter" panose="02000503000000020004"/>
              </a:rPr>
              <a:t>volume</a:t>
            </a:r>
            <a:endParaRPr sz="1000" b="0" i="0" strike="noStrike">
              <a:solidFill>
                <a:srgbClr val="B9CED8">
                  <a:alpha val="100000"/>
                </a:srgbClr>
              </a:solidFill>
              <a:latin typeface="Inter" panose="02000503000000020004"/>
              <a:ea typeface="Inter" panose="02000503000000020004"/>
              <a:cs typeface="Inter" panose="02000503000000020004"/>
            </a:endParaRPr>
          </a:p>
          <a:p>
            <a:pPr algn="l"/>
            <a:r>
              <a:rPr sz="1000" b="0" i="0" strike="noStrike">
                <a:solidFill>
                  <a:srgbClr val="B9CED8">
                    <a:alpha val="100000"/>
                  </a:srgbClr>
                </a:solidFill>
                <a:latin typeface="Inter" panose="02000503000000020004"/>
                <a:ea typeface="Inter" panose="02000503000000020004"/>
                <a:cs typeface="Inter" panose="02000503000000020004"/>
              </a:rPr>
              <a:t>reduction achieved</a:t>
            </a:r>
            <a:endParaRPr sz="1000" b="0" i="0" strike="noStrike">
              <a:solidFill>
                <a:srgbClr val="B9CED8">
                  <a:alpha val="100000"/>
                </a:srgbClr>
              </a:solidFill>
              <a:latin typeface="Inter" panose="02000503000000020004"/>
              <a:ea typeface="Inter" panose="02000503000000020004"/>
              <a:cs typeface="Inter" panose="02000503000000020004"/>
            </a:endParaRPr>
          </a:p>
        </p:txBody>
      </p:sp>
      <p:sp>
        <p:nvSpPr>
          <p:cNvPr id="21" name="AutoShape 21"/>
          <p:cNvSpPr/>
          <p:nvPr/>
        </p:nvSpPr>
        <p:spPr>
          <a:xfrm>
            <a:off x="2733885" y="5873651"/>
            <a:ext cx="9522" cy="342900"/>
          </a:xfrm>
          <a:prstGeom prst="rect">
            <a:avLst/>
          </a:prstGeom>
          <a:solidFill>
            <a:srgbClr val="2DE7F0">
              <a:alpha val="21960"/>
            </a:srgbClr>
          </a:solidFill>
          <a:ln>
            <a:headEnd type="none"/>
            <a:tailEnd type="none"/>
          </a:ln>
        </p:spPr>
      </p:sp>
      <p:sp>
        <p:nvSpPr>
          <p:cNvPr id="22" name="TextBox 22"/>
          <p:cNvSpPr txBox="1"/>
          <p:nvPr/>
        </p:nvSpPr>
        <p:spPr>
          <a:xfrm>
            <a:off x="2895769" y="5909518"/>
            <a:ext cx="387452"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7BB7FF">
                    <a:alpha val="100000"/>
                  </a:srgbClr>
                </a:solidFill>
                <a:latin typeface="Inter" panose="02000503000000020004"/>
                <a:ea typeface="Inter" panose="02000503000000020004"/>
                <a:cs typeface="Inter" panose="02000503000000020004"/>
              </a:rPr>
              <a:t>ms</a:t>
            </a:r>
            <a:endParaRPr lang="en-US" sz="1100"/>
          </a:p>
        </p:txBody>
      </p:sp>
      <p:sp>
        <p:nvSpPr>
          <p:cNvPr id="23" name="TextBox 23"/>
          <p:cNvSpPr txBox="1"/>
          <p:nvPr/>
        </p:nvSpPr>
        <p:spPr>
          <a:xfrm>
            <a:off x="3378446" y="5784800"/>
            <a:ext cx="1390451" cy="512266"/>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B9CED8">
                    <a:alpha val="100000"/>
                  </a:srgbClr>
                </a:solidFill>
                <a:latin typeface="Inter" panose="02000503000000020004"/>
                <a:ea typeface="Inter" panose="02000503000000020004"/>
                <a:cs typeface="Inter" panose="02000503000000020004"/>
              </a:rPr>
              <a:t>Response latency</a:t>
            </a:r>
            <a:endParaRPr lang="en-US" sz="1100"/>
          </a:p>
          <a:p>
            <a:pPr algn="l"/>
            <a:r>
              <a:rPr sz="1000" b="0" i="0" strike="noStrike">
                <a:solidFill>
                  <a:srgbClr val="B9CED8">
                    <a:alpha val="100000"/>
                  </a:srgbClr>
                </a:solidFill>
                <a:latin typeface="Inter" panose="02000503000000020004"/>
                <a:ea typeface="Inter" panose="02000503000000020004"/>
                <a:cs typeface="Inter" panose="02000503000000020004"/>
              </a:rPr>
              <a:t>over thousands of</a:t>
            </a:r>
            <a:endParaRPr sz="1000" b="0" i="0" strike="noStrike">
              <a:solidFill>
                <a:srgbClr val="B9CED8">
                  <a:alpha val="100000"/>
                </a:srgbClr>
              </a:solidFill>
              <a:latin typeface="Inter" panose="02000503000000020004"/>
              <a:ea typeface="Inter" panose="02000503000000020004"/>
              <a:cs typeface="Inter" panose="02000503000000020004"/>
            </a:endParaRPr>
          </a:p>
          <a:p>
            <a:pPr algn="l"/>
            <a:r>
              <a:rPr sz="1000" b="0" i="0" strike="noStrike">
                <a:solidFill>
                  <a:srgbClr val="B9CED8">
                    <a:alpha val="100000"/>
                  </a:srgbClr>
                </a:solidFill>
                <a:latin typeface="Inter" panose="02000503000000020004"/>
                <a:ea typeface="Inter" panose="02000503000000020004"/>
                <a:cs typeface="Inter" panose="02000503000000020004"/>
              </a:rPr>
              <a:t>pages</a:t>
            </a:r>
            <a:endParaRPr sz="1000" b="0" i="0" strike="noStrike">
              <a:solidFill>
                <a:srgbClr val="B9CED8">
                  <a:alpha val="100000"/>
                </a:srgbClr>
              </a:solidFill>
              <a:latin typeface="Inter" panose="02000503000000020004"/>
              <a:ea typeface="Inter" panose="02000503000000020004"/>
              <a:cs typeface="Inter" panose="02000503000000020004"/>
            </a:endParaRPr>
          </a:p>
        </p:txBody>
      </p:sp>
      <p:sp>
        <p:nvSpPr>
          <p:cNvPr id="24" name="AutoShape 24"/>
          <p:cNvSpPr/>
          <p:nvPr/>
        </p:nvSpPr>
        <p:spPr>
          <a:xfrm>
            <a:off x="4997441" y="1365052"/>
            <a:ext cx="6620154" cy="1573858"/>
          </a:xfrm>
          <a:prstGeom prst="roundRect">
            <a:avLst>
              <a:gd name="adj" fmla="val 2813"/>
            </a:avLst>
          </a:prstGeom>
          <a:solidFill>
            <a:srgbClr val="0C232E">
              <a:alpha val="61960"/>
            </a:srgbClr>
          </a:solidFill>
          <a:ln w="9525">
            <a:solidFill>
              <a:srgbClr val="2DE7F0">
                <a:alpha val="21960"/>
              </a:srgbClr>
            </a:solidFill>
            <a:prstDash val="solid"/>
            <a:headEnd type="none"/>
            <a:tailEnd type="none"/>
          </a:ln>
        </p:spPr>
      </p:sp>
      <p:sp>
        <p:nvSpPr>
          <p:cNvPr id="25" name="AutoShape 25"/>
          <p:cNvSpPr/>
          <p:nvPr/>
        </p:nvSpPr>
        <p:spPr>
          <a:xfrm>
            <a:off x="5235506" y="1552575"/>
            <a:ext cx="209498" cy="209550"/>
          </a:xfrm>
          <a:prstGeom prst="ellipse">
            <a:avLst/>
          </a:prstGeom>
          <a:ln w="9525">
            <a:solidFill>
              <a:srgbClr val="2DE7F0">
                <a:alpha val="21960"/>
              </a:srgbClr>
            </a:solidFill>
            <a:prstDash val="solid"/>
            <a:headEnd type="none"/>
            <a:tailEnd type="none"/>
          </a:ln>
        </p:spPr>
      </p:sp>
      <p:sp>
        <p:nvSpPr>
          <p:cNvPr id="26" name="AutoShape 26"/>
          <p:cNvSpPr/>
          <p:nvPr/>
        </p:nvSpPr>
        <p:spPr>
          <a:xfrm>
            <a:off x="5302165" y="1619250"/>
            <a:ext cx="76181" cy="76200"/>
          </a:xfrm>
          <a:prstGeom prst="ellipse">
            <a:avLst/>
          </a:prstGeom>
          <a:solidFill>
            <a:srgbClr val="2DE7F0">
              <a:alpha val="100000"/>
            </a:srgbClr>
          </a:solidFill>
          <a:ln>
            <a:headEnd type="none"/>
            <a:tailEnd type="none"/>
          </a:ln>
        </p:spPr>
      </p:sp>
      <p:sp>
        <p:nvSpPr>
          <p:cNvPr id="27" name="AutoShape 27"/>
          <p:cNvSpPr/>
          <p:nvPr/>
        </p:nvSpPr>
        <p:spPr>
          <a:xfrm>
            <a:off x="5335494" y="1819275"/>
            <a:ext cx="9522" cy="190500"/>
          </a:xfrm>
          <a:prstGeom prst="rect">
            <a:avLst/>
          </a:prstGeom>
          <a:solidFill>
            <a:srgbClr val="2DE7F0">
              <a:alpha val="21960"/>
            </a:srgbClr>
          </a:solidFill>
          <a:ln>
            <a:headEnd type="none"/>
            <a:tailEnd type="none"/>
          </a:ln>
        </p:spPr>
      </p:sp>
      <p:sp>
        <p:nvSpPr>
          <p:cNvPr id="28" name="TextBox 28"/>
          <p:cNvSpPr txBox="1"/>
          <p:nvPr/>
        </p:nvSpPr>
        <p:spPr>
          <a:xfrm>
            <a:off x="5597365" y="1533525"/>
            <a:ext cx="5782164"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01 · PROBLEM</a:t>
            </a:r>
            <a:endParaRPr lang="en-US" sz="1100"/>
          </a:p>
        </p:txBody>
      </p:sp>
      <p:sp>
        <p:nvSpPr>
          <p:cNvPr id="29" name="TextBox 29"/>
          <p:cNvSpPr txBox="1"/>
          <p:nvPr/>
        </p:nvSpPr>
        <p:spPr>
          <a:xfrm>
            <a:off x="5597365" y="1733550"/>
            <a:ext cx="5782164"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Context Window Overflow</a:t>
            </a:r>
            <a:endParaRPr lang="en-US" sz="1100"/>
          </a:p>
        </p:txBody>
      </p:sp>
      <p:sp>
        <p:nvSpPr>
          <p:cNvPr id="30" name="TextBox 30"/>
          <p:cNvSpPr txBox="1"/>
          <p:nvPr/>
        </p:nvSpPr>
        <p:spPr>
          <a:xfrm>
            <a:off x="5597365" y="2086719"/>
            <a:ext cx="5782164" cy="64323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Traditional RAG approaches suffer from context window overflow and broken multi-</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hop reasoning when processing massive financial documents, leading to severe</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information overload.</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31" name="AutoShape 31"/>
          <p:cNvSpPr/>
          <p:nvPr/>
        </p:nvSpPr>
        <p:spPr>
          <a:xfrm>
            <a:off x="4997441" y="3053210"/>
            <a:ext cx="6620154" cy="1573858"/>
          </a:xfrm>
          <a:prstGeom prst="roundRect">
            <a:avLst>
              <a:gd name="adj" fmla="val 2813"/>
            </a:avLst>
          </a:prstGeom>
          <a:solidFill>
            <a:srgbClr val="0C232E">
              <a:alpha val="61960"/>
            </a:srgbClr>
          </a:solidFill>
          <a:ln w="9525">
            <a:solidFill>
              <a:srgbClr val="2DE7F0">
                <a:alpha val="21960"/>
              </a:srgbClr>
            </a:solidFill>
            <a:prstDash val="solid"/>
            <a:headEnd type="none"/>
            <a:tailEnd type="none"/>
          </a:ln>
        </p:spPr>
      </p:sp>
      <p:sp>
        <p:nvSpPr>
          <p:cNvPr id="32" name="AutoShape 32"/>
          <p:cNvSpPr/>
          <p:nvPr/>
        </p:nvSpPr>
        <p:spPr>
          <a:xfrm>
            <a:off x="5235506" y="3360985"/>
            <a:ext cx="209498" cy="209550"/>
          </a:xfrm>
          <a:prstGeom prst="ellipse">
            <a:avLst/>
          </a:prstGeom>
          <a:ln w="9525">
            <a:solidFill>
              <a:srgbClr val="2DE7F0">
                <a:alpha val="21960"/>
              </a:srgbClr>
            </a:solidFill>
            <a:prstDash val="solid"/>
            <a:headEnd type="none"/>
            <a:tailEnd type="none"/>
          </a:ln>
        </p:spPr>
      </p:sp>
      <p:sp>
        <p:nvSpPr>
          <p:cNvPr id="33" name="AutoShape 33"/>
          <p:cNvSpPr/>
          <p:nvPr/>
        </p:nvSpPr>
        <p:spPr>
          <a:xfrm>
            <a:off x="5302165" y="3427660"/>
            <a:ext cx="76181" cy="76200"/>
          </a:xfrm>
          <a:prstGeom prst="ellipse">
            <a:avLst/>
          </a:prstGeom>
          <a:solidFill>
            <a:srgbClr val="2DE7F0">
              <a:alpha val="100000"/>
            </a:srgbClr>
          </a:solidFill>
          <a:ln>
            <a:headEnd type="none"/>
            <a:tailEnd type="none"/>
          </a:ln>
        </p:spPr>
      </p:sp>
      <p:sp>
        <p:nvSpPr>
          <p:cNvPr id="34" name="AutoShape 34"/>
          <p:cNvSpPr/>
          <p:nvPr/>
        </p:nvSpPr>
        <p:spPr>
          <a:xfrm>
            <a:off x="5335494" y="3627685"/>
            <a:ext cx="9522" cy="190500"/>
          </a:xfrm>
          <a:prstGeom prst="rect">
            <a:avLst/>
          </a:prstGeom>
          <a:solidFill>
            <a:srgbClr val="2DE7F0">
              <a:alpha val="21960"/>
            </a:srgbClr>
          </a:solidFill>
          <a:ln>
            <a:headEnd type="none"/>
            <a:tailEnd type="none"/>
          </a:ln>
        </p:spPr>
      </p:sp>
      <p:sp>
        <p:nvSpPr>
          <p:cNvPr id="35" name="TextBox 35"/>
          <p:cNvSpPr txBox="1"/>
          <p:nvPr/>
        </p:nvSpPr>
        <p:spPr>
          <a:xfrm>
            <a:off x="5597365" y="3341935"/>
            <a:ext cx="5782164"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02 · ARCHITECTURE</a:t>
            </a:r>
            <a:endParaRPr lang="en-US" sz="1100"/>
          </a:p>
        </p:txBody>
      </p:sp>
      <p:sp>
        <p:nvSpPr>
          <p:cNvPr id="36" name="TextBox 36"/>
          <p:cNvSpPr txBox="1"/>
          <p:nvPr/>
        </p:nvSpPr>
        <p:spPr>
          <a:xfrm>
            <a:off x="5597365" y="3541960"/>
            <a:ext cx="5782164"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Three-Tier Compression</a:t>
            </a:r>
            <a:endParaRPr lang="en-US" sz="1100"/>
          </a:p>
        </p:txBody>
      </p:sp>
      <p:sp>
        <p:nvSpPr>
          <p:cNvPr id="37" name="TextBox 37"/>
          <p:cNvSpPr txBox="1"/>
          <p:nvPr/>
        </p:nvSpPr>
        <p:spPr>
          <a:xfrm>
            <a:off x="5597365" y="3895129"/>
            <a:ext cx="5782164" cy="402580"/>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Integrates implicit semantic vectors, structured knowledge graph triples, and explicit</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dynamic scenario summaries to create a highly efficient </a:t>
            </a:r>
            <a:r>
              <a:rPr sz="1200" b="0" i="0" strike="noStrike">
                <a:solidFill>
                  <a:srgbClr val="F4FAFF">
                    <a:alpha val="100000"/>
                  </a:srgbClr>
                </a:solidFill>
                <a:latin typeface="Inter" panose="02000503000000020004"/>
                <a:ea typeface="Inter" panose="02000503000000020004"/>
                <a:cs typeface="Inter" panose="02000503000000020004"/>
              </a:rPr>
              <a:t>'cognitive drawer.'</a:t>
            </a:r>
            <a:endParaRPr sz="1200" b="0" i="0" strike="noStrike">
              <a:solidFill>
                <a:srgbClr val="F4FAFF">
                  <a:alpha val="100000"/>
                </a:srgbClr>
              </a:solidFill>
              <a:latin typeface="Inter" panose="02000503000000020004"/>
              <a:ea typeface="Inter" panose="02000503000000020004"/>
              <a:cs typeface="Inter" panose="02000503000000020004"/>
            </a:endParaRPr>
          </a:p>
        </p:txBody>
      </p:sp>
      <p:sp>
        <p:nvSpPr>
          <p:cNvPr id="38" name="AutoShape 38"/>
          <p:cNvSpPr/>
          <p:nvPr/>
        </p:nvSpPr>
        <p:spPr>
          <a:xfrm>
            <a:off x="4997441" y="4741366"/>
            <a:ext cx="6620154" cy="1573858"/>
          </a:xfrm>
          <a:prstGeom prst="roundRect">
            <a:avLst>
              <a:gd name="adj" fmla="val 2813"/>
            </a:avLst>
          </a:prstGeom>
          <a:solidFill>
            <a:srgbClr val="0C232E">
              <a:alpha val="61960"/>
            </a:srgbClr>
          </a:solidFill>
          <a:ln w="9525">
            <a:solidFill>
              <a:srgbClr val="2DE7F0">
                <a:alpha val="36078"/>
              </a:srgbClr>
            </a:solidFill>
            <a:prstDash val="solid"/>
            <a:headEnd type="none"/>
            <a:tailEnd type="none"/>
          </a:ln>
        </p:spPr>
      </p:sp>
      <p:sp>
        <p:nvSpPr>
          <p:cNvPr id="39" name="AutoShape 39"/>
          <p:cNvSpPr/>
          <p:nvPr/>
        </p:nvSpPr>
        <p:spPr>
          <a:xfrm>
            <a:off x="5235506" y="5049143"/>
            <a:ext cx="209498" cy="209550"/>
          </a:xfrm>
          <a:prstGeom prst="ellipse">
            <a:avLst/>
          </a:prstGeom>
          <a:ln w="9525">
            <a:solidFill>
              <a:srgbClr val="2DE7F0">
                <a:alpha val="45098"/>
              </a:srgbClr>
            </a:solidFill>
            <a:prstDash val="solid"/>
            <a:headEnd type="none"/>
            <a:tailEnd type="none"/>
          </a:ln>
        </p:spPr>
      </p:sp>
      <p:sp>
        <p:nvSpPr>
          <p:cNvPr id="40" name="AutoShape 40"/>
          <p:cNvSpPr/>
          <p:nvPr/>
        </p:nvSpPr>
        <p:spPr>
          <a:xfrm>
            <a:off x="5302165" y="5115818"/>
            <a:ext cx="76181" cy="76200"/>
          </a:xfrm>
          <a:prstGeom prst="ellipse">
            <a:avLst/>
          </a:prstGeom>
          <a:solidFill>
            <a:srgbClr val="2DE7F0">
              <a:alpha val="100000"/>
            </a:srgbClr>
          </a:solidFill>
          <a:ln>
            <a:headEnd type="none"/>
            <a:tailEnd type="none"/>
          </a:ln>
        </p:spPr>
      </p:sp>
      <p:sp>
        <p:nvSpPr>
          <p:cNvPr id="41" name="TextBox 41"/>
          <p:cNvSpPr txBox="1"/>
          <p:nvPr/>
        </p:nvSpPr>
        <p:spPr>
          <a:xfrm>
            <a:off x="5597365" y="5030093"/>
            <a:ext cx="5782164"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03 · RESULT</a:t>
            </a:r>
            <a:endParaRPr lang="en-US" sz="1100"/>
          </a:p>
        </p:txBody>
      </p:sp>
      <p:sp>
        <p:nvSpPr>
          <p:cNvPr id="42" name="TextBox 42"/>
          <p:cNvSpPr txBox="1"/>
          <p:nvPr/>
        </p:nvSpPr>
        <p:spPr>
          <a:xfrm>
            <a:off x="5597365" y="5230118"/>
            <a:ext cx="5782164"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Dynamic Micro-Context Assembly</a:t>
            </a:r>
            <a:endParaRPr lang="en-US" sz="1100"/>
          </a:p>
        </p:txBody>
      </p:sp>
      <p:sp>
        <p:nvSpPr>
          <p:cNvPr id="43" name="TextBox 43"/>
          <p:cNvSpPr txBox="1"/>
          <p:nvPr/>
        </p:nvSpPr>
        <p:spPr>
          <a:xfrm>
            <a:off x="5597365" y="5583287"/>
            <a:ext cx="5782164" cy="402580"/>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Dynamically assembles the most relevant micro-context based on real-time queries,</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reducing output token volume by </a:t>
            </a:r>
            <a:r>
              <a:rPr sz="1200" b="1" i="0" strike="noStrike">
                <a:solidFill>
                  <a:srgbClr val="2DE7F0">
                    <a:alpha val="100000"/>
                  </a:srgbClr>
                </a:solidFill>
                <a:latin typeface="Inter" panose="02000503000000020004"/>
                <a:ea typeface="Inter" panose="02000503000000020004"/>
                <a:cs typeface="Inter" panose="02000503000000020004"/>
              </a:rPr>
              <a:t>80%</a:t>
            </a:r>
            <a:r>
              <a:rPr sz="1200" b="0" i="0" strike="noStrike">
                <a:solidFill>
                  <a:srgbClr val="B9CED8">
                    <a:alpha val="100000"/>
                  </a:srgbClr>
                </a:solidFill>
                <a:latin typeface="Inter" panose="02000503000000020004"/>
                <a:ea typeface="Inter" panose="02000503000000020004"/>
                <a:cs typeface="Inter" panose="02000503000000020004"/>
              </a:rPr>
              <a:t> while maintaining strict factual accuracy.</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44" name="AutoShape 44"/>
          <p:cNvSpPr/>
          <p:nvPr/>
        </p:nvSpPr>
        <p:spPr>
          <a:xfrm>
            <a:off x="571358" y="6467475"/>
            <a:ext cx="1104623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21494"/>
            <a:ext cx="57136" cy="57150"/>
          </a:xfrm>
          <a:prstGeom prst="ellipse">
            <a:avLst/>
          </a:prstGeom>
          <a:solidFill>
            <a:srgbClr val="2DE7F0">
              <a:alpha val="60000"/>
            </a:srgbClr>
          </a:solidFill>
          <a:ln>
            <a:headEnd type="none"/>
            <a:tailEnd type="none"/>
          </a:ln>
        </p:spPr>
      </p:sp>
      <p:sp>
        <p:nvSpPr>
          <p:cNvPr id="6" name="TextBox 6"/>
          <p:cNvSpPr txBox="1"/>
          <p:nvPr/>
        </p:nvSpPr>
        <p:spPr>
          <a:xfrm>
            <a:off x="628493" y="476250"/>
            <a:ext cx="1175448"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100000"/>
                  </a:srgbClr>
                </a:solidFill>
                <a:latin typeface="Inter" panose="02000503000000020004"/>
                <a:ea typeface="Inter" panose="02000503000000020004"/>
                <a:cs typeface="Inter" panose="02000503000000020004"/>
              </a:rPr>
              <a:t>System Design</a:t>
            </a:r>
            <a:endParaRPr lang="en-US" sz="1100"/>
          </a:p>
        </p:txBody>
      </p:sp>
      <p:sp>
        <p:nvSpPr>
          <p:cNvPr id="7" name="TextBox 7"/>
          <p:cNvSpPr txBox="1"/>
          <p:nvPr/>
        </p:nvSpPr>
        <p:spPr>
          <a:xfrm>
            <a:off x="457086" y="709612"/>
            <a:ext cx="11274781"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Inter" panose="02000503000000020004"/>
                <a:ea typeface="Inter" panose="02000503000000020004"/>
                <a:cs typeface="Inter" panose="02000503000000020004"/>
              </a:rPr>
              <a:t>Overall System Architecture</a:t>
            </a:r>
            <a:endParaRPr lang="en-US" sz="1100"/>
          </a:p>
        </p:txBody>
      </p:sp>
      <p:sp>
        <p:nvSpPr>
          <p:cNvPr id="8" name="AutoShape 8"/>
          <p:cNvSpPr/>
          <p:nvPr/>
        </p:nvSpPr>
        <p:spPr>
          <a:xfrm>
            <a:off x="457086" y="1244798"/>
            <a:ext cx="266633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457086" y="1444823"/>
            <a:ext cx="11274781" cy="1273225"/>
          </a:xfrm>
          <a:prstGeom prst="roundRect">
            <a:avLst>
              <a:gd name="adj" fmla="val 429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0" name="AutoShape 10"/>
          <p:cNvSpPr/>
          <p:nvPr/>
        </p:nvSpPr>
        <p:spPr>
          <a:xfrm>
            <a:off x="466608" y="1454348"/>
            <a:ext cx="114271" cy="9525"/>
          </a:xfrm>
          <a:prstGeom prst="line">
            <a:avLst/>
          </a:prstGeom>
          <a:ln w="9525">
            <a:solidFill>
              <a:srgbClr val="F4FAFF">
                <a:alpha val="40000"/>
              </a:srgbClr>
            </a:solidFill>
            <a:prstDash val="solid"/>
            <a:headEnd type="none"/>
            <a:tailEnd type="none"/>
          </a:ln>
        </p:spPr>
      </p:sp>
      <p:sp>
        <p:nvSpPr>
          <p:cNvPr id="11" name="AutoShape 11"/>
          <p:cNvSpPr/>
          <p:nvPr/>
        </p:nvSpPr>
        <p:spPr>
          <a:xfrm>
            <a:off x="466608" y="1454348"/>
            <a:ext cx="9522" cy="114300"/>
          </a:xfrm>
          <a:prstGeom prst="line">
            <a:avLst/>
          </a:prstGeom>
          <a:ln w="9525">
            <a:solidFill>
              <a:srgbClr val="F4FAFF">
                <a:alpha val="40000"/>
              </a:srgbClr>
            </a:solidFill>
            <a:prstDash val="solid"/>
            <a:headEnd type="none"/>
            <a:tailEnd type="none"/>
          </a:ln>
        </p:spPr>
      </p:sp>
      <p:sp>
        <p:nvSpPr>
          <p:cNvPr id="12" name="AutoShape 12"/>
          <p:cNvSpPr/>
          <p:nvPr/>
        </p:nvSpPr>
        <p:spPr>
          <a:xfrm>
            <a:off x="11608072" y="1454348"/>
            <a:ext cx="114271" cy="9525"/>
          </a:xfrm>
          <a:prstGeom prst="line">
            <a:avLst/>
          </a:prstGeom>
          <a:ln w="9525">
            <a:solidFill>
              <a:srgbClr val="F4FAFF">
                <a:alpha val="40000"/>
              </a:srgbClr>
            </a:solidFill>
            <a:prstDash val="solid"/>
            <a:headEnd type="none"/>
            <a:tailEnd type="none"/>
          </a:ln>
        </p:spPr>
      </p:sp>
      <p:sp>
        <p:nvSpPr>
          <p:cNvPr id="13" name="AutoShape 13"/>
          <p:cNvSpPr/>
          <p:nvPr/>
        </p:nvSpPr>
        <p:spPr>
          <a:xfrm>
            <a:off x="11712821" y="1454348"/>
            <a:ext cx="9522" cy="114300"/>
          </a:xfrm>
          <a:prstGeom prst="line">
            <a:avLst/>
          </a:prstGeom>
          <a:ln w="9525">
            <a:solidFill>
              <a:srgbClr val="F4FAFF">
                <a:alpha val="40000"/>
              </a:srgbClr>
            </a:solidFill>
            <a:prstDash val="solid"/>
            <a:headEnd type="none"/>
            <a:tailEnd type="none"/>
          </a:ln>
        </p:spPr>
      </p:sp>
      <p:sp>
        <p:nvSpPr>
          <p:cNvPr id="14" name="AutoShape 14"/>
          <p:cNvSpPr/>
          <p:nvPr/>
        </p:nvSpPr>
        <p:spPr>
          <a:xfrm>
            <a:off x="466608" y="2698998"/>
            <a:ext cx="114271" cy="9525"/>
          </a:xfrm>
          <a:prstGeom prst="line">
            <a:avLst/>
          </a:prstGeom>
          <a:ln w="9525">
            <a:solidFill>
              <a:srgbClr val="F4FAFF">
                <a:alpha val="40000"/>
              </a:srgbClr>
            </a:solidFill>
            <a:prstDash val="solid"/>
            <a:headEnd type="none"/>
            <a:tailEnd type="none"/>
          </a:ln>
        </p:spPr>
      </p:sp>
      <p:sp>
        <p:nvSpPr>
          <p:cNvPr id="15" name="AutoShape 15"/>
          <p:cNvSpPr/>
          <p:nvPr/>
        </p:nvSpPr>
        <p:spPr>
          <a:xfrm>
            <a:off x="466608" y="2594223"/>
            <a:ext cx="9522" cy="114300"/>
          </a:xfrm>
          <a:prstGeom prst="line">
            <a:avLst/>
          </a:prstGeom>
          <a:ln w="9525">
            <a:solidFill>
              <a:srgbClr val="F4FAFF">
                <a:alpha val="40000"/>
              </a:srgbClr>
            </a:solidFill>
            <a:prstDash val="solid"/>
            <a:headEnd type="none"/>
            <a:tailEnd type="none"/>
          </a:ln>
        </p:spPr>
      </p:sp>
      <p:sp>
        <p:nvSpPr>
          <p:cNvPr id="16" name="AutoShape 16"/>
          <p:cNvSpPr/>
          <p:nvPr/>
        </p:nvSpPr>
        <p:spPr>
          <a:xfrm>
            <a:off x="11712821" y="2594223"/>
            <a:ext cx="9522" cy="114300"/>
          </a:xfrm>
          <a:prstGeom prst="line">
            <a:avLst/>
          </a:prstGeom>
          <a:ln w="9525">
            <a:solidFill>
              <a:srgbClr val="F4FAFF">
                <a:alpha val="40000"/>
              </a:srgbClr>
            </a:solidFill>
            <a:prstDash val="solid"/>
            <a:headEnd type="none"/>
            <a:tailEnd type="none"/>
          </a:ln>
        </p:spPr>
      </p:sp>
      <p:sp>
        <p:nvSpPr>
          <p:cNvPr id="17" name="AutoShape 17"/>
          <p:cNvSpPr/>
          <p:nvPr/>
        </p:nvSpPr>
        <p:spPr>
          <a:xfrm>
            <a:off x="11608072" y="2698998"/>
            <a:ext cx="114271" cy="9525"/>
          </a:xfrm>
          <a:prstGeom prst="line">
            <a:avLst/>
          </a:prstGeom>
          <a:ln w="9525">
            <a:solidFill>
              <a:srgbClr val="F4FAFF">
                <a:alpha val="40000"/>
              </a:srgbClr>
            </a:solidFill>
            <a:prstDash val="solid"/>
            <a:headEnd type="none"/>
            <a:tailEnd type="none"/>
          </a:ln>
        </p:spPr>
      </p:sp>
      <p:sp>
        <p:nvSpPr>
          <p:cNvPr id="18" name="AutoShape 18"/>
          <p:cNvSpPr/>
          <p:nvPr/>
        </p:nvSpPr>
        <p:spPr>
          <a:xfrm>
            <a:off x="709435" y="1678186"/>
            <a:ext cx="142839" cy="142875"/>
          </a:xfrm>
          <a:prstGeom prst="ellipse">
            <a:avLst/>
          </a:prstGeom>
          <a:ln w="19050">
            <a:solidFill>
              <a:srgbClr val="2DE7F0">
                <a:alpha val="100000"/>
              </a:srgbClr>
            </a:solidFill>
            <a:prstDash val="solid"/>
            <a:headEnd type="none"/>
            <a:tailEnd type="none"/>
          </a:ln>
        </p:spPr>
      </p:sp>
      <p:sp>
        <p:nvSpPr>
          <p:cNvPr id="19" name="AutoShape 19"/>
          <p:cNvSpPr/>
          <p:nvPr/>
        </p:nvSpPr>
        <p:spPr>
          <a:xfrm>
            <a:off x="771332" y="1749623"/>
            <a:ext cx="19045" cy="28575"/>
          </a:xfrm>
          <a:custGeom>
            <a:avLst/>
            <a:gdLst/>
            <a:ahLst/>
            <a:cxnLst/>
            <a:rect l="l" t="t" r="r" b="b"/>
            <a:pathLst>
              <a:path w="10000" h="10000">
                <a:moveTo>
                  <a:pt x="0" y="10000"/>
                </a:moveTo>
                <a:lnTo>
                  <a:pt x="0" y="0"/>
                </a:lnTo>
              </a:path>
            </a:pathLst>
          </a:custGeom>
          <a:ln w="19050">
            <a:solidFill>
              <a:srgbClr val="2DE7F0">
                <a:alpha val="100000"/>
              </a:srgbClr>
            </a:solidFill>
            <a:prstDash val="solid"/>
            <a:headEnd type="none"/>
            <a:tailEnd type="none"/>
          </a:ln>
        </p:spPr>
      </p:sp>
      <p:sp>
        <p:nvSpPr>
          <p:cNvPr id="20" name="AutoShape 20"/>
          <p:cNvSpPr/>
          <p:nvPr/>
        </p:nvSpPr>
        <p:spPr>
          <a:xfrm>
            <a:off x="771368" y="1711523"/>
            <a:ext cx="19045" cy="19050"/>
          </a:xfrm>
          <a:custGeom>
            <a:avLst/>
            <a:gdLst/>
            <a:ahLst/>
            <a:cxnLst/>
            <a:rect l="l" t="t" r="r" b="b"/>
            <a:pathLst>
              <a:path w="10000" h="10000">
                <a:moveTo>
                  <a:pt x="0" y="0"/>
                </a:moveTo>
                <a:lnTo>
                  <a:pt x="10000" y="0"/>
                </a:lnTo>
              </a:path>
            </a:pathLst>
          </a:custGeom>
          <a:ln w="19050">
            <a:solidFill>
              <a:srgbClr val="2DE7F0">
                <a:alpha val="100000"/>
              </a:srgbClr>
            </a:solidFill>
            <a:prstDash val="solid"/>
            <a:headEnd type="none"/>
            <a:tailEnd type="none"/>
          </a:ln>
        </p:spPr>
      </p:sp>
      <p:sp>
        <p:nvSpPr>
          <p:cNvPr id="21" name="TextBox 21"/>
          <p:cNvSpPr txBox="1"/>
          <p:nvPr/>
        </p:nvSpPr>
        <p:spPr>
          <a:xfrm>
            <a:off x="980830" y="1654373"/>
            <a:ext cx="10512971" cy="845641"/>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The platform adopts a robust five-layer architecture that seamlessly integrates responsive frontend interactions,</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domain-driven business services, and a hybrid storage infrastructure to support high-concurrency AI inference</a:t>
            </a:r>
            <a:endParaRPr sz="1600" b="0" i="0" strike="noStrike">
              <a:solidFill>
                <a:srgbClr val="B9CED8">
                  <a:alpha val="100000"/>
                </a:srgbClr>
              </a:solidFill>
              <a:latin typeface="Inter" panose="02000503000000020004"/>
              <a:ea typeface="Inter" panose="02000503000000020004"/>
              <a:cs typeface="Inter" panose="02000503000000020004"/>
            </a:endParaRPr>
          </a:p>
          <a:p>
            <a:pPr algn="l"/>
            <a:r>
              <a:rPr sz="1600" b="0" i="0" strike="noStrike">
                <a:solidFill>
                  <a:srgbClr val="B9CED8">
                    <a:alpha val="100000"/>
                  </a:srgbClr>
                </a:solidFill>
                <a:latin typeface="Inter" panose="02000503000000020004"/>
                <a:ea typeface="Inter" panose="02000503000000020004"/>
                <a:cs typeface="Inter" panose="02000503000000020004"/>
              </a:rPr>
              <a:t>and complex data retrieval.</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
        <p:nvSpPr>
          <p:cNvPr id="22" name="AutoShape 22"/>
          <p:cNvSpPr/>
          <p:nvPr/>
        </p:nvSpPr>
        <p:spPr>
          <a:xfrm>
            <a:off x="457086" y="2908548"/>
            <a:ext cx="3631242" cy="3330327"/>
          </a:xfrm>
          <a:prstGeom prst="roundRect">
            <a:avLst>
              <a:gd name="adj" fmla="val 6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3" name="AutoShape 23"/>
          <p:cNvSpPr/>
          <p:nvPr/>
        </p:nvSpPr>
        <p:spPr>
          <a:xfrm>
            <a:off x="695151" y="3127623"/>
            <a:ext cx="342814" cy="342900"/>
          </a:xfrm>
          <a:prstGeom prst="roundRect">
            <a:avLst>
              <a:gd name="adj" fmla="val 50000"/>
            </a:avLst>
          </a:prstGeom>
          <a:solidFill>
            <a:srgbClr val="2DE7F0">
              <a:alpha val="12156"/>
            </a:srgbClr>
          </a:solidFill>
          <a:ln>
            <a:headEnd type="none"/>
            <a:tailEnd type="none"/>
          </a:ln>
        </p:spPr>
      </p:sp>
      <p:sp>
        <p:nvSpPr>
          <p:cNvPr id="24" name="AutoShape 24"/>
          <p:cNvSpPr/>
          <p:nvPr/>
        </p:nvSpPr>
        <p:spPr>
          <a:xfrm>
            <a:off x="837990" y="3353841"/>
            <a:ext cx="57136" cy="19050"/>
          </a:xfrm>
          <a:custGeom>
            <a:avLst/>
            <a:gdLst/>
            <a:ahLst/>
            <a:cxnLst/>
            <a:rect l="l" t="t" r="r" b="b"/>
            <a:pathLst>
              <a:path w="10000" h="10000">
                <a:moveTo>
                  <a:pt x="0" y="0"/>
                </a:moveTo>
                <a:lnTo>
                  <a:pt x="10000" y="0"/>
                </a:lnTo>
              </a:path>
            </a:pathLst>
          </a:custGeom>
          <a:ln w="19050">
            <a:solidFill>
              <a:srgbClr val="2DE7F0">
                <a:alpha val="100000"/>
              </a:srgbClr>
            </a:solidFill>
            <a:prstDash val="solid"/>
            <a:headEnd type="none"/>
            <a:tailEnd type="none"/>
          </a:ln>
        </p:spPr>
      </p:sp>
      <p:sp>
        <p:nvSpPr>
          <p:cNvPr id="25" name="AutoShape 25"/>
          <p:cNvSpPr/>
          <p:nvPr/>
        </p:nvSpPr>
        <p:spPr>
          <a:xfrm>
            <a:off x="857035" y="3334791"/>
            <a:ext cx="19045" cy="28575"/>
          </a:xfrm>
          <a:custGeom>
            <a:avLst/>
            <a:gdLst/>
            <a:ahLst/>
            <a:cxnLst/>
            <a:rect l="l" t="t" r="r" b="b"/>
            <a:pathLst>
              <a:path w="10000" h="10000">
                <a:moveTo>
                  <a:pt x="0" y="0"/>
                </a:moveTo>
                <a:lnTo>
                  <a:pt x="0" y="10000"/>
                </a:lnTo>
              </a:path>
            </a:pathLst>
          </a:custGeom>
          <a:ln w="19050">
            <a:solidFill>
              <a:srgbClr val="2DE7F0">
                <a:alpha val="100000"/>
              </a:srgbClr>
            </a:solidFill>
            <a:prstDash val="solid"/>
            <a:headEnd type="none"/>
            <a:tailEnd type="none"/>
          </a:ln>
        </p:spPr>
      </p:sp>
      <p:sp>
        <p:nvSpPr>
          <p:cNvPr id="26" name="TextBox 26"/>
          <p:cNvSpPr txBox="1"/>
          <p:nvPr/>
        </p:nvSpPr>
        <p:spPr>
          <a:xfrm>
            <a:off x="1152237" y="3232398"/>
            <a:ext cx="60855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Layer 01</a:t>
            </a:r>
            <a:endParaRPr lang="en-US" sz="1100"/>
          </a:p>
        </p:txBody>
      </p:sp>
      <p:sp>
        <p:nvSpPr>
          <p:cNvPr id="27" name="TextBox 27"/>
          <p:cNvSpPr txBox="1"/>
          <p:nvPr/>
        </p:nvSpPr>
        <p:spPr>
          <a:xfrm>
            <a:off x="695151" y="3575298"/>
            <a:ext cx="3155112"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Frontend &amp; Gateway</a:t>
            </a:r>
            <a:endParaRPr lang="en-US" sz="1100"/>
          </a:p>
        </p:txBody>
      </p:sp>
      <p:sp>
        <p:nvSpPr>
          <p:cNvPr id="28" name="AutoShape 28"/>
          <p:cNvSpPr/>
          <p:nvPr/>
        </p:nvSpPr>
        <p:spPr>
          <a:xfrm>
            <a:off x="695151" y="3955108"/>
            <a:ext cx="304724" cy="28575"/>
          </a:xfrm>
          <a:prstGeom prst="roundRect">
            <a:avLst>
              <a:gd name="adj" fmla="val 50000"/>
            </a:avLst>
          </a:prstGeom>
          <a:solidFill>
            <a:srgbClr val="2DE7F0">
              <a:alpha val="100000"/>
            </a:srgbClr>
          </a:solidFill>
          <a:ln>
            <a:headEnd type="none"/>
            <a:tailEnd type="none"/>
          </a:ln>
        </p:spPr>
      </p:sp>
      <p:sp>
        <p:nvSpPr>
          <p:cNvPr id="29" name="TextBox 29"/>
          <p:cNvSpPr txBox="1"/>
          <p:nvPr/>
        </p:nvSpPr>
        <p:spPr>
          <a:xfrm>
            <a:off x="695151" y="4174183"/>
            <a:ext cx="3393177" cy="1003102"/>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Built with React/TypeScript and FastAPI,</a:t>
            </a:r>
            <a:endParaRPr lang="en-US" sz="1100"/>
          </a:p>
          <a:p>
            <a:pPr algn="l"/>
            <a:r>
              <a:rPr sz="1300" b="0" i="0" strike="noStrike">
                <a:solidFill>
                  <a:srgbClr val="B9CED8">
                    <a:alpha val="100000"/>
                  </a:srgbClr>
                </a:solidFill>
                <a:latin typeface="Inter" panose="02000503000000020004"/>
                <a:ea typeface="Inter" panose="02000503000000020004"/>
                <a:cs typeface="Inter" panose="02000503000000020004"/>
              </a:rPr>
              <a:t>supporting SSE streaming output and</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unified authentication to ensure a</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responsive, secure user experience.</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30" name="AutoShape 30"/>
          <p:cNvSpPr/>
          <p:nvPr/>
        </p:nvSpPr>
        <p:spPr>
          <a:xfrm>
            <a:off x="4278780" y="2908548"/>
            <a:ext cx="3631242" cy="3330327"/>
          </a:xfrm>
          <a:prstGeom prst="roundRect">
            <a:avLst>
              <a:gd name="adj" fmla="val 6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31" name="AutoShape 31"/>
          <p:cNvSpPr/>
          <p:nvPr/>
        </p:nvSpPr>
        <p:spPr>
          <a:xfrm>
            <a:off x="4516846" y="3127623"/>
            <a:ext cx="342814" cy="342900"/>
          </a:xfrm>
          <a:prstGeom prst="roundRect">
            <a:avLst>
              <a:gd name="adj" fmla="val 50000"/>
            </a:avLst>
          </a:prstGeom>
          <a:solidFill>
            <a:srgbClr val="2DE7F0">
              <a:alpha val="12156"/>
            </a:srgbClr>
          </a:solidFill>
          <a:ln>
            <a:headEnd type="none"/>
            <a:tailEnd type="none"/>
          </a:ln>
        </p:spPr>
      </p:sp>
      <p:sp>
        <p:nvSpPr>
          <p:cNvPr id="32" name="AutoShape 32"/>
          <p:cNvSpPr/>
          <p:nvPr/>
        </p:nvSpPr>
        <p:spPr>
          <a:xfrm>
            <a:off x="4602550" y="3213348"/>
            <a:ext cx="171407" cy="171450"/>
          </a:xfrm>
          <a:custGeom>
            <a:avLst/>
            <a:gdLst/>
            <a:ahLst/>
            <a:cxnLst/>
            <a:rect l="l" t="t" r="r" b="b"/>
            <a:pathLst>
              <a:path w="9998" h="10000">
                <a:moveTo>
                  <a:pt x="4999" y="0"/>
                </a:moveTo>
                <a:cubicBezTo>
                  <a:pt x="7758" y="0"/>
                  <a:pt x="9998" y="2413"/>
                  <a:pt x="9998" y="5385"/>
                </a:cubicBezTo>
                <a:cubicBezTo>
                  <a:pt x="9998" y="7308"/>
                  <a:pt x="8927" y="8846"/>
                  <a:pt x="7856" y="10000"/>
                </a:cubicBezTo>
                <a:lnTo>
                  <a:pt x="2142" y="10000"/>
                </a:lnTo>
                <a:cubicBezTo>
                  <a:pt x="1071" y="8846"/>
                  <a:pt x="0" y="7308"/>
                  <a:pt x="0" y="5385"/>
                </a:cubicBezTo>
                <a:cubicBezTo>
                  <a:pt x="0" y="2413"/>
                  <a:pt x="2240" y="0"/>
                  <a:pt x="4999" y="0"/>
                </a:cubicBezTo>
                <a:close/>
              </a:path>
            </a:pathLst>
          </a:custGeom>
          <a:ln w="19050">
            <a:solidFill>
              <a:srgbClr val="2DE7F0">
                <a:alpha val="100000"/>
              </a:srgbClr>
            </a:solidFill>
            <a:prstDash val="solid"/>
            <a:headEnd type="none"/>
            <a:tailEnd type="none"/>
          </a:ln>
        </p:spPr>
      </p:sp>
      <p:sp>
        <p:nvSpPr>
          <p:cNvPr id="33" name="AutoShape 33"/>
          <p:cNvSpPr/>
          <p:nvPr/>
        </p:nvSpPr>
        <p:spPr>
          <a:xfrm>
            <a:off x="4666827" y="3332410"/>
            <a:ext cx="42852" cy="19050"/>
          </a:xfrm>
          <a:custGeom>
            <a:avLst/>
            <a:gdLst/>
            <a:ahLst/>
            <a:cxnLst/>
            <a:rect l="l" t="t" r="r" b="b"/>
            <a:pathLst>
              <a:path w="10000" h="10000">
                <a:moveTo>
                  <a:pt x="0" y="0"/>
                </a:moveTo>
                <a:lnTo>
                  <a:pt x="10000" y="0"/>
                </a:lnTo>
              </a:path>
            </a:pathLst>
          </a:custGeom>
          <a:ln w="19050">
            <a:solidFill>
              <a:srgbClr val="2DE7F0">
                <a:alpha val="100000"/>
              </a:srgbClr>
            </a:solidFill>
            <a:prstDash val="solid"/>
            <a:headEnd type="none"/>
            <a:tailEnd type="none"/>
          </a:ln>
        </p:spPr>
      </p:sp>
      <p:sp>
        <p:nvSpPr>
          <p:cNvPr id="34" name="AutoShape 34"/>
          <p:cNvSpPr/>
          <p:nvPr/>
        </p:nvSpPr>
        <p:spPr>
          <a:xfrm>
            <a:off x="4673970" y="3353841"/>
            <a:ext cx="28567" cy="19050"/>
          </a:xfrm>
          <a:custGeom>
            <a:avLst/>
            <a:gdLst/>
            <a:ahLst/>
            <a:cxnLst/>
            <a:rect l="l" t="t" r="r" b="b"/>
            <a:pathLst>
              <a:path w="10000" h="10000">
                <a:moveTo>
                  <a:pt x="0" y="0"/>
                </a:moveTo>
                <a:lnTo>
                  <a:pt x="10000" y="0"/>
                </a:lnTo>
              </a:path>
            </a:pathLst>
          </a:custGeom>
          <a:ln w="19050">
            <a:solidFill>
              <a:srgbClr val="2DE7F0">
                <a:alpha val="100000"/>
              </a:srgbClr>
            </a:solidFill>
            <a:prstDash val="solid"/>
            <a:headEnd type="none"/>
            <a:tailEnd type="none"/>
          </a:ln>
        </p:spPr>
      </p:sp>
      <p:sp>
        <p:nvSpPr>
          <p:cNvPr id="35" name="TextBox 35"/>
          <p:cNvSpPr txBox="1"/>
          <p:nvPr/>
        </p:nvSpPr>
        <p:spPr>
          <a:xfrm>
            <a:off x="4973932" y="3232398"/>
            <a:ext cx="60855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Layer 02</a:t>
            </a:r>
            <a:endParaRPr lang="en-US" sz="1100"/>
          </a:p>
        </p:txBody>
      </p:sp>
      <p:sp>
        <p:nvSpPr>
          <p:cNvPr id="36" name="TextBox 36"/>
          <p:cNvSpPr txBox="1"/>
          <p:nvPr/>
        </p:nvSpPr>
        <p:spPr>
          <a:xfrm>
            <a:off x="4516846" y="3575298"/>
            <a:ext cx="3155112"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Business &amp; AI Layers</a:t>
            </a:r>
            <a:endParaRPr lang="en-US" sz="1100"/>
          </a:p>
        </p:txBody>
      </p:sp>
      <p:sp>
        <p:nvSpPr>
          <p:cNvPr id="37" name="AutoShape 37"/>
          <p:cNvSpPr/>
          <p:nvPr/>
        </p:nvSpPr>
        <p:spPr>
          <a:xfrm>
            <a:off x="4516846" y="3955108"/>
            <a:ext cx="304724" cy="28575"/>
          </a:xfrm>
          <a:prstGeom prst="roundRect">
            <a:avLst>
              <a:gd name="adj" fmla="val 50000"/>
            </a:avLst>
          </a:prstGeom>
          <a:solidFill>
            <a:srgbClr val="2DE7F0">
              <a:alpha val="100000"/>
            </a:srgbClr>
          </a:solidFill>
          <a:ln>
            <a:headEnd type="none"/>
            <a:tailEnd type="none"/>
          </a:ln>
        </p:spPr>
      </p:sp>
      <p:sp>
        <p:nvSpPr>
          <p:cNvPr id="38" name="TextBox 38"/>
          <p:cNvSpPr txBox="1"/>
          <p:nvPr/>
        </p:nvSpPr>
        <p:spPr>
          <a:xfrm>
            <a:off x="4516846" y="4174183"/>
            <a:ext cx="3393177" cy="1273969"/>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Domain-Driven Design (DDD) modules</a:t>
            </a:r>
            <a:endParaRPr lang="en-US" sz="1100"/>
          </a:p>
          <a:p>
            <a:pPr algn="l"/>
            <a:r>
              <a:rPr sz="1300" b="0" i="0" strike="noStrike">
                <a:solidFill>
                  <a:srgbClr val="B9CED8">
                    <a:alpha val="100000"/>
                  </a:srgbClr>
                </a:solidFill>
                <a:latin typeface="Inter" panose="02000503000000020004"/>
                <a:ea typeface="Inter" panose="02000503000000020004"/>
                <a:cs typeface="Inter" panose="02000503000000020004"/>
              </a:rPr>
              <a:t>handle core workflows, backed by a local</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vLLM (Qwen3-14B-AWQ) inference</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engine with cloud failover for high</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availability.</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39" name="AutoShape 39"/>
          <p:cNvSpPr/>
          <p:nvPr/>
        </p:nvSpPr>
        <p:spPr>
          <a:xfrm>
            <a:off x="8100475" y="2908548"/>
            <a:ext cx="3631242" cy="3330327"/>
          </a:xfrm>
          <a:prstGeom prst="roundRect">
            <a:avLst>
              <a:gd name="adj" fmla="val 6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40" name="AutoShape 40"/>
          <p:cNvSpPr/>
          <p:nvPr/>
        </p:nvSpPr>
        <p:spPr>
          <a:xfrm>
            <a:off x="8338541" y="3127623"/>
            <a:ext cx="342814" cy="342900"/>
          </a:xfrm>
          <a:prstGeom prst="roundRect">
            <a:avLst>
              <a:gd name="adj" fmla="val 50000"/>
            </a:avLst>
          </a:prstGeom>
          <a:solidFill>
            <a:srgbClr val="2DE7F0">
              <a:alpha val="12156"/>
            </a:srgbClr>
          </a:solidFill>
          <a:ln>
            <a:headEnd type="none"/>
            <a:tailEnd type="none"/>
          </a:ln>
        </p:spPr>
      </p:sp>
      <p:sp>
        <p:nvSpPr>
          <p:cNvPr id="41" name="AutoShape 41"/>
          <p:cNvSpPr/>
          <p:nvPr/>
        </p:nvSpPr>
        <p:spPr>
          <a:xfrm>
            <a:off x="8424244" y="3213348"/>
            <a:ext cx="171407" cy="171450"/>
          </a:xfrm>
          <a:custGeom>
            <a:avLst/>
            <a:gdLst/>
            <a:ahLst/>
            <a:cxnLst/>
            <a:rect l="l" t="t" r="r" b="b"/>
            <a:pathLst>
              <a:path w="9998" h="10000">
                <a:moveTo>
                  <a:pt x="9998" y="0"/>
                </a:moveTo>
                <a:cubicBezTo>
                  <a:pt x="9998" y="5533"/>
                  <a:pt x="7776" y="10000"/>
                  <a:pt x="4999" y="10000"/>
                </a:cubicBezTo>
                <a:cubicBezTo>
                  <a:pt x="2222" y="10000"/>
                  <a:pt x="0" y="5533"/>
                  <a:pt x="0" y="0"/>
                </a:cubicBezTo>
              </a:path>
            </a:pathLst>
          </a:custGeom>
          <a:ln w="19050">
            <a:solidFill>
              <a:srgbClr val="2DE7F0">
                <a:alpha val="100000"/>
              </a:srgbClr>
            </a:solidFill>
            <a:prstDash val="solid"/>
            <a:headEnd type="none"/>
            <a:tailEnd type="none"/>
          </a:ln>
        </p:spPr>
      </p:sp>
      <p:sp>
        <p:nvSpPr>
          <p:cNvPr id="42" name="AutoShape 42"/>
          <p:cNvSpPr/>
          <p:nvPr/>
        </p:nvSpPr>
        <p:spPr>
          <a:xfrm>
            <a:off x="8424244" y="3213348"/>
            <a:ext cx="171407" cy="171450"/>
          </a:xfrm>
          <a:custGeom>
            <a:avLst/>
            <a:gdLst/>
            <a:ahLst/>
            <a:cxnLst/>
            <a:rect l="l" t="t" r="r" b="b"/>
            <a:pathLst>
              <a:path w="9998" h="10000">
                <a:moveTo>
                  <a:pt x="0" y="0"/>
                </a:moveTo>
                <a:lnTo>
                  <a:pt x="0" y="8235"/>
                </a:lnTo>
                <a:cubicBezTo>
                  <a:pt x="0" y="9212"/>
                  <a:pt x="2222" y="10000"/>
                  <a:pt x="4999" y="10000"/>
                </a:cubicBezTo>
                <a:cubicBezTo>
                  <a:pt x="7776" y="10000"/>
                  <a:pt x="9998" y="9212"/>
                  <a:pt x="9998" y="8235"/>
                </a:cubicBezTo>
                <a:lnTo>
                  <a:pt x="9998" y="0"/>
                </a:lnTo>
              </a:path>
            </a:pathLst>
          </a:custGeom>
          <a:ln w="19050">
            <a:solidFill>
              <a:srgbClr val="2DE7F0">
                <a:alpha val="100000"/>
              </a:srgbClr>
            </a:solidFill>
            <a:prstDash val="solid"/>
            <a:headEnd type="none"/>
            <a:tailEnd type="none"/>
          </a:ln>
        </p:spPr>
      </p:sp>
      <p:sp>
        <p:nvSpPr>
          <p:cNvPr id="43" name="TextBox 43"/>
          <p:cNvSpPr txBox="1"/>
          <p:nvPr/>
        </p:nvSpPr>
        <p:spPr>
          <a:xfrm>
            <a:off x="8795626" y="3232398"/>
            <a:ext cx="60855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Layer 03</a:t>
            </a:r>
            <a:endParaRPr lang="en-US" sz="1100"/>
          </a:p>
        </p:txBody>
      </p:sp>
      <p:sp>
        <p:nvSpPr>
          <p:cNvPr id="44" name="TextBox 44"/>
          <p:cNvSpPr txBox="1"/>
          <p:nvPr/>
        </p:nvSpPr>
        <p:spPr>
          <a:xfrm>
            <a:off x="8338541" y="3575298"/>
            <a:ext cx="3155112"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Infrastructure Foundation</a:t>
            </a:r>
            <a:endParaRPr lang="en-US" sz="1100"/>
          </a:p>
        </p:txBody>
      </p:sp>
      <p:sp>
        <p:nvSpPr>
          <p:cNvPr id="45" name="AutoShape 45"/>
          <p:cNvSpPr/>
          <p:nvPr/>
        </p:nvSpPr>
        <p:spPr>
          <a:xfrm>
            <a:off x="8338541" y="3955108"/>
            <a:ext cx="304724" cy="28575"/>
          </a:xfrm>
          <a:prstGeom prst="roundRect">
            <a:avLst>
              <a:gd name="adj" fmla="val 50000"/>
            </a:avLst>
          </a:prstGeom>
          <a:solidFill>
            <a:srgbClr val="2DE7F0">
              <a:alpha val="100000"/>
            </a:srgbClr>
          </a:solidFill>
          <a:ln>
            <a:headEnd type="none"/>
            <a:tailEnd type="none"/>
          </a:ln>
        </p:spPr>
      </p:sp>
      <p:sp>
        <p:nvSpPr>
          <p:cNvPr id="46" name="TextBox 46"/>
          <p:cNvSpPr txBox="1"/>
          <p:nvPr/>
        </p:nvSpPr>
        <p:spPr>
          <a:xfrm>
            <a:off x="8338541" y="4174183"/>
            <a:ext cx="3393177" cy="1273969"/>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Utilizes a hybrid storage strategy</a:t>
            </a:r>
            <a:endParaRPr lang="en-US" sz="1100"/>
          </a:p>
          <a:p>
            <a:pPr algn="l"/>
            <a:r>
              <a:rPr sz="1300" b="0" i="0" strike="noStrike">
                <a:solidFill>
                  <a:srgbClr val="B9CED8">
                    <a:alpha val="100000"/>
                  </a:srgbClr>
                </a:solidFill>
                <a:latin typeface="Inter" panose="02000503000000020004"/>
                <a:ea typeface="Inter" panose="02000503000000020004"/>
                <a:cs typeface="Inter" panose="02000503000000020004"/>
              </a:rPr>
              <a:t>combining MySQL for relational data,</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zvec for high-dimensional vectors, Neo4j</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for graph triples, and DiskCache for rapid</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access.</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47" name="AutoShape 47"/>
          <p:cNvSpPr/>
          <p:nvPr/>
        </p:nvSpPr>
        <p:spPr>
          <a:xfrm>
            <a:off x="457086" y="6391275"/>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21494"/>
            <a:ext cx="57136" cy="57150"/>
          </a:xfrm>
          <a:prstGeom prst="ellipse">
            <a:avLst/>
          </a:prstGeom>
          <a:solidFill>
            <a:srgbClr val="2DE7F0">
              <a:alpha val="60000"/>
            </a:srgbClr>
          </a:solidFill>
          <a:ln>
            <a:headEnd type="none"/>
            <a:tailEnd type="none"/>
          </a:ln>
        </p:spPr>
      </p:sp>
      <p:sp>
        <p:nvSpPr>
          <p:cNvPr id="6" name="TextBox 6"/>
          <p:cNvSpPr txBox="1"/>
          <p:nvPr/>
        </p:nvSpPr>
        <p:spPr>
          <a:xfrm>
            <a:off x="628493" y="476250"/>
            <a:ext cx="1175448"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100000"/>
                  </a:srgbClr>
                </a:solidFill>
                <a:latin typeface="Inter" panose="02000503000000020004"/>
                <a:ea typeface="Inter" panose="02000503000000020004"/>
                <a:cs typeface="Inter" panose="02000503000000020004"/>
              </a:rPr>
              <a:t>System Design</a:t>
            </a:r>
            <a:endParaRPr lang="en-US" sz="1100"/>
          </a:p>
        </p:txBody>
      </p:sp>
      <p:sp>
        <p:nvSpPr>
          <p:cNvPr id="8" name="AutoShape 8"/>
          <p:cNvSpPr/>
          <p:nvPr/>
        </p:nvSpPr>
        <p:spPr>
          <a:xfrm>
            <a:off x="457086" y="1244798"/>
            <a:ext cx="266633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0" name="AutoShape 10"/>
          <p:cNvSpPr/>
          <p:nvPr/>
        </p:nvSpPr>
        <p:spPr>
          <a:xfrm>
            <a:off x="466608" y="1454348"/>
            <a:ext cx="114271" cy="9525"/>
          </a:xfrm>
          <a:prstGeom prst="line">
            <a:avLst/>
          </a:prstGeom>
          <a:ln w="9525">
            <a:solidFill>
              <a:srgbClr val="F4FAFF">
                <a:alpha val="40000"/>
              </a:srgbClr>
            </a:solidFill>
            <a:prstDash val="solid"/>
            <a:headEnd type="none"/>
            <a:tailEnd type="none"/>
          </a:ln>
        </p:spPr>
      </p:sp>
      <p:sp>
        <p:nvSpPr>
          <p:cNvPr id="11" name="AutoShape 11"/>
          <p:cNvSpPr/>
          <p:nvPr/>
        </p:nvSpPr>
        <p:spPr>
          <a:xfrm>
            <a:off x="466608" y="1454348"/>
            <a:ext cx="9522" cy="114300"/>
          </a:xfrm>
          <a:prstGeom prst="line">
            <a:avLst/>
          </a:prstGeom>
          <a:ln w="9525">
            <a:solidFill>
              <a:srgbClr val="F4FAFF">
                <a:alpha val="40000"/>
              </a:srgbClr>
            </a:solidFill>
            <a:prstDash val="solid"/>
            <a:headEnd type="none"/>
            <a:tailEnd type="none"/>
          </a:ln>
        </p:spPr>
      </p:sp>
      <p:sp>
        <p:nvSpPr>
          <p:cNvPr id="12" name="AutoShape 12"/>
          <p:cNvSpPr/>
          <p:nvPr/>
        </p:nvSpPr>
        <p:spPr>
          <a:xfrm>
            <a:off x="11608072" y="1454348"/>
            <a:ext cx="114271" cy="9525"/>
          </a:xfrm>
          <a:prstGeom prst="line">
            <a:avLst/>
          </a:prstGeom>
          <a:ln w="9525">
            <a:solidFill>
              <a:srgbClr val="F4FAFF">
                <a:alpha val="40000"/>
              </a:srgbClr>
            </a:solidFill>
            <a:prstDash val="solid"/>
            <a:headEnd type="none"/>
            <a:tailEnd type="none"/>
          </a:ln>
        </p:spPr>
      </p:sp>
      <p:sp>
        <p:nvSpPr>
          <p:cNvPr id="13" name="AutoShape 13"/>
          <p:cNvSpPr/>
          <p:nvPr/>
        </p:nvSpPr>
        <p:spPr>
          <a:xfrm>
            <a:off x="11712821" y="1454348"/>
            <a:ext cx="9522" cy="114300"/>
          </a:xfrm>
          <a:prstGeom prst="line">
            <a:avLst/>
          </a:prstGeom>
          <a:ln w="9525">
            <a:solidFill>
              <a:srgbClr val="F4FAFF">
                <a:alpha val="40000"/>
              </a:srgbClr>
            </a:solidFill>
            <a:prstDash val="solid"/>
            <a:headEnd type="none"/>
            <a:tailEnd type="none"/>
          </a:ln>
        </p:spPr>
      </p:sp>
      <p:sp>
        <p:nvSpPr>
          <p:cNvPr id="14" name="AutoShape 14"/>
          <p:cNvSpPr/>
          <p:nvPr/>
        </p:nvSpPr>
        <p:spPr>
          <a:xfrm>
            <a:off x="466608" y="2698998"/>
            <a:ext cx="114271" cy="9525"/>
          </a:xfrm>
          <a:prstGeom prst="line">
            <a:avLst/>
          </a:prstGeom>
          <a:ln w="9525">
            <a:solidFill>
              <a:srgbClr val="F4FAFF">
                <a:alpha val="40000"/>
              </a:srgbClr>
            </a:solidFill>
            <a:prstDash val="solid"/>
            <a:headEnd type="none"/>
            <a:tailEnd type="none"/>
          </a:ln>
        </p:spPr>
      </p:sp>
      <p:sp>
        <p:nvSpPr>
          <p:cNvPr id="15" name="AutoShape 15"/>
          <p:cNvSpPr/>
          <p:nvPr/>
        </p:nvSpPr>
        <p:spPr>
          <a:xfrm>
            <a:off x="466608" y="2594223"/>
            <a:ext cx="9522" cy="114300"/>
          </a:xfrm>
          <a:prstGeom prst="line">
            <a:avLst/>
          </a:prstGeom>
          <a:ln w="9525">
            <a:solidFill>
              <a:srgbClr val="F4FAFF">
                <a:alpha val="40000"/>
              </a:srgbClr>
            </a:solidFill>
            <a:prstDash val="solid"/>
            <a:headEnd type="none"/>
            <a:tailEnd type="none"/>
          </a:ln>
        </p:spPr>
      </p:sp>
      <p:sp>
        <p:nvSpPr>
          <p:cNvPr id="16" name="AutoShape 16"/>
          <p:cNvSpPr/>
          <p:nvPr/>
        </p:nvSpPr>
        <p:spPr>
          <a:xfrm>
            <a:off x="11712821" y="2594223"/>
            <a:ext cx="9522" cy="114300"/>
          </a:xfrm>
          <a:prstGeom prst="line">
            <a:avLst/>
          </a:prstGeom>
          <a:ln w="9525">
            <a:solidFill>
              <a:srgbClr val="F4FAFF">
                <a:alpha val="40000"/>
              </a:srgbClr>
            </a:solidFill>
            <a:prstDash val="solid"/>
            <a:headEnd type="none"/>
            <a:tailEnd type="none"/>
          </a:ln>
        </p:spPr>
      </p:sp>
      <p:sp>
        <p:nvSpPr>
          <p:cNvPr id="17" name="AutoShape 17"/>
          <p:cNvSpPr/>
          <p:nvPr/>
        </p:nvSpPr>
        <p:spPr>
          <a:xfrm>
            <a:off x="11608072" y="2698998"/>
            <a:ext cx="114271" cy="9525"/>
          </a:xfrm>
          <a:prstGeom prst="line">
            <a:avLst/>
          </a:prstGeom>
          <a:ln w="9525">
            <a:solidFill>
              <a:srgbClr val="F4FAFF">
                <a:alpha val="40000"/>
              </a:srgbClr>
            </a:solidFill>
            <a:prstDash val="solid"/>
            <a:headEnd type="none"/>
            <a:tailEnd type="none"/>
          </a:ln>
        </p:spPr>
      </p:sp>
      <p:sp>
        <p:nvSpPr>
          <p:cNvPr id="18" name="AutoShape 18"/>
          <p:cNvSpPr/>
          <p:nvPr/>
        </p:nvSpPr>
        <p:spPr>
          <a:xfrm>
            <a:off x="709435" y="1678186"/>
            <a:ext cx="142839" cy="142875"/>
          </a:xfrm>
          <a:prstGeom prst="ellipse">
            <a:avLst/>
          </a:prstGeom>
          <a:ln w="19050">
            <a:solidFill>
              <a:srgbClr val="2DE7F0">
                <a:alpha val="100000"/>
              </a:srgbClr>
            </a:solidFill>
            <a:prstDash val="solid"/>
            <a:headEnd type="none"/>
            <a:tailEnd type="none"/>
          </a:ln>
        </p:spPr>
      </p:sp>
      <p:sp>
        <p:nvSpPr>
          <p:cNvPr id="19" name="AutoShape 19"/>
          <p:cNvSpPr/>
          <p:nvPr/>
        </p:nvSpPr>
        <p:spPr>
          <a:xfrm>
            <a:off x="771332" y="1749623"/>
            <a:ext cx="19045" cy="28575"/>
          </a:xfrm>
          <a:custGeom>
            <a:avLst/>
            <a:gdLst/>
            <a:ahLst/>
            <a:cxnLst/>
            <a:rect l="l" t="t" r="r" b="b"/>
            <a:pathLst>
              <a:path w="10000" h="10000">
                <a:moveTo>
                  <a:pt x="0" y="10000"/>
                </a:moveTo>
                <a:lnTo>
                  <a:pt x="0" y="0"/>
                </a:lnTo>
              </a:path>
            </a:pathLst>
          </a:custGeom>
          <a:ln w="19050">
            <a:solidFill>
              <a:srgbClr val="2DE7F0">
                <a:alpha val="100000"/>
              </a:srgbClr>
            </a:solidFill>
            <a:prstDash val="solid"/>
            <a:headEnd type="none"/>
            <a:tailEnd type="none"/>
          </a:ln>
        </p:spPr>
      </p:sp>
      <p:sp>
        <p:nvSpPr>
          <p:cNvPr id="20" name="AutoShape 20"/>
          <p:cNvSpPr/>
          <p:nvPr/>
        </p:nvSpPr>
        <p:spPr>
          <a:xfrm>
            <a:off x="771368" y="1711523"/>
            <a:ext cx="19045" cy="19050"/>
          </a:xfrm>
          <a:custGeom>
            <a:avLst/>
            <a:gdLst/>
            <a:ahLst/>
            <a:cxnLst/>
            <a:rect l="l" t="t" r="r" b="b"/>
            <a:pathLst>
              <a:path w="10000" h="10000">
                <a:moveTo>
                  <a:pt x="0" y="0"/>
                </a:moveTo>
                <a:lnTo>
                  <a:pt x="10000" y="0"/>
                </a:lnTo>
              </a:path>
            </a:pathLst>
          </a:custGeom>
          <a:ln w="19050">
            <a:solidFill>
              <a:srgbClr val="2DE7F0">
                <a:alpha val="100000"/>
              </a:srgbClr>
            </a:solidFill>
            <a:prstDash val="solid"/>
            <a:headEnd type="none"/>
            <a:tailEnd type="none"/>
          </a:ln>
        </p:spPr>
      </p:sp>
      <p:sp>
        <p:nvSpPr>
          <p:cNvPr id="47" name="AutoShape 47"/>
          <p:cNvSpPr/>
          <p:nvPr/>
        </p:nvSpPr>
        <p:spPr>
          <a:xfrm>
            <a:off x="457086" y="6391275"/>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pic>
        <p:nvPicPr>
          <p:cNvPr id="49" name="图片 48"/>
          <p:cNvPicPr>
            <a:picLocks noChangeAspect="1"/>
          </p:cNvPicPr>
          <p:nvPr/>
        </p:nvPicPr>
        <p:blipFill>
          <a:blip r:embed="rId2"/>
          <a:stretch>
            <a:fillRect/>
          </a:stretch>
        </p:blipFill>
        <p:spPr>
          <a:xfrm>
            <a:off x="3429000" y="381000"/>
            <a:ext cx="4573270" cy="61728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pic>
        <p:nvPicPr>
          <p:cNvPr id="3" name="Picture 3"/>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4" name="AutoShape 4"/>
          <p:cNvSpPr/>
          <p:nvPr/>
        </p:nvSpPr>
        <p:spPr>
          <a:xfrm>
            <a:off x="0" y="0"/>
            <a:ext cx="12188952" cy="6858000"/>
          </a:xfrm>
          <a:prstGeom prst="rect">
            <a:avLst/>
          </a:prstGeom>
          <a:gradFill>
            <a:gsLst>
              <a:gs pos="0">
                <a:srgbClr val="07141B">
                  <a:alpha val="40000"/>
                </a:srgbClr>
              </a:gs>
              <a:gs pos="100000">
                <a:srgbClr val="07141B">
                  <a:alpha val="74901"/>
                </a:srgbClr>
              </a:gs>
            </a:gsLst>
            <a:lin ang="5400000"/>
          </a:gradFill>
          <a:ln>
            <a:headEnd type="none"/>
            <a:tailEnd type="none"/>
          </a:ln>
        </p:spPr>
      </p:sp>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304724" y="304800"/>
            <a:ext cx="228543" cy="9525"/>
          </a:xfrm>
          <a:prstGeom prst="line">
            <a:avLst/>
          </a:prstGeom>
          <a:ln w="9525">
            <a:solidFill>
              <a:srgbClr val="2DE7F0">
                <a:alpha val="30196"/>
              </a:srgbClr>
            </a:solidFill>
            <a:prstDash val="solid"/>
            <a:headEnd type="none"/>
            <a:tailEnd type="none"/>
          </a:ln>
        </p:spPr>
      </p:sp>
      <p:sp>
        <p:nvSpPr>
          <p:cNvPr id="7" name="AutoShape 7"/>
          <p:cNvSpPr/>
          <p:nvPr/>
        </p:nvSpPr>
        <p:spPr>
          <a:xfrm>
            <a:off x="304724" y="304800"/>
            <a:ext cx="9522" cy="228600"/>
          </a:xfrm>
          <a:prstGeom prst="line">
            <a:avLst/>
          </a:prstGeom>
          <a:ln w="9525">
            <a:solidFill>
              <a:srgbClr val="2DE7F0">
                <a:alpha val="30196"/>
              </a:srgbClr>
            </a:solidFill>
            <a:prstDash val="solid"/>
            <a:headEnd type="none"/>
            <a:tailEnd type="none"/>
          </a:ln>
        </p:spPr>
      </p:sp>
      <p:sp>
        <p:nvSpPr>
          <p:cNvPr id="8" name="AutoShape 8"/>
          <p:cNvSpPr/>
          <p:nvPr/>
        </p:nvSpPr>
        <p:spPr>
          <a:xfrm>
            <a:off x="11655685" y="304800"/>
            <a:ext cx="228543" cy="9525"/>
          </a:xfrm>
          <a:prstGeom prst="line">
            <a:avLst/>
          </a:prstGeom>
          <a:ln w="9525">
            <a:solidFill>
              <a:srgbClr val="2DE7F0">
                <a:alpha val="30196"/>
              </a:srgbClr>
            </a:solidFill>
            <a:prstDash val="solid"/>
            <a:headEnd type="none"/>
            <a:tailEnd type="none"/>
          </a:ln>
        </p:spPr>
      </p:sp>
      <p:sp>
        <p:nvSpPr>
          <p:cNvPr id="9" name="AutoShape 9"/>
          <p:cNvSpPr/>
          <p:nvPr/>
        </p:nvSpPr>
        <p:spPr>
          <a:xfrm>
            <a:off x="11874706" y="304800"/>
            <a:ext cx="9522" cy="228600"/>
          </a:xfrm>
          <a:prstGeom prst="line">
            <a:avLst/>
          </a:prstGeom>
          <a:ln w="9525">
            <a:solidFill>
              <a:srgbClr val="2DE7F0">
                <a:alpha val="30196"/>
              </a:srgbClr>
            </a:solidFill>
            <a:prstDash val="solid"/>
            <a:headEnd type="none"/>
            <a:tailEnd type="none"/>
          </a:ln>
        </p:spPr>
      </p:sp>
      <p:sp>
        <p:nvSpPr>
          <p:cNvPr id="10" name="AutoShape 10"/>
          <p:cNvSpPr/>
          <p:nvPr/>
        </p:nvSpPr>
        <p:spPr>
          <a:xfrm>
            <a:off x="304724" y="6543675"/>
            <a:ext cx="228543" cy="9525"/>
          </a:xfrm>
          <a:prstGeom prst="line">
            <a:avLst/>
          </a:prstGeom>
          <a:ln w="9525">
            <a:solidFill>
              <a:srgbClr val="2DE7F0">
                <a:alpha val="30196"/>
              </a:srgbClr>
            </a:solidFill>
            <a:prstDash val="solid"/>
            <a:headEnd type="none"/>
            <a:tailEnd type="none"/>
          </a:ln>
        </p:spPr>
      </p:sp>
      <p:sp>
        <p:nvSpPr>
          <p:cNvPr id="11" name="AutoShape 11"/>
          <p:cNvSpPr/>
          <p:nvPr/>
        </p:nvSpPr>
        <p:spPr>
          <a:xfrm>
            <a:off x="304724" y="6324600"/>
            <a:ext cx="9522" cy="228600"/>
          </a:xfrm>
          <a:prstGeom prst="line">
            <a:avLst/>
          </a:prstGeom>
          <a:ln w="9525">
            <a:solidFill>
              <a:srgbClr val="2DE7F0">
                <a:alpha val="30196"/>
              </a:srgbClr>
            </a:solidFill>
            <a:prstDash val="solid"/>
            <a:headEnd type="none"/>
            <a:tailEnd type="none"/>
          </a:ln>
        </p:spPr>
      </p:sp>
      <p:sp>
        <p:nvSpPr>
          <p:cNvPr id="12" name="AutoShape 12"/>
          <p:cNvSpPr/>
          <p:nvPr/>
        </p:nvSpPr>
        <p:spPr>
          <a:xfrm>
            <a:off x="11874706" y="6324600"/>
            <a:ext cx="9522" cy="228600"/>
          </a:xfrm>
          <a:prstGeom prst="line">
            <a:avLst/>
          </a:prstGeom>
          <a:ln w="9525">
            <a:solidFill>
              <a:srgbClr val="2DE7F0">
                <a:alpha val="30196"/>
              </a:srgbClr>
            </a:solidFill>
            <a:prstDash val="solid"/>
            <a:headEnd type="none"/>
            <a:tailEnd type="none"/>
          </a:ln>
        </p:spPr>
      </p:sp>
      <p:sp>
        <p:nvSpPr>
          <p:cNvPr id="13" name="AutoShape 13"/>
          <p:cNvSpPr/>
          <p:nvPr/>
        </p:nvSpPr>
        <p:spPr>
          <a:xfrm>
            <a:off x="11655685" y="6543675"/>
            <a:ext cx="228543" cy="9525"/>
          </a:xfrm>
          <a:prstGeom prst="line">
            <a:avLst/>
          </a:prstGeom>
          <a:ln w="9525">
            <a:solidFill>
              <a:srgbClr val="2DE7F0">
                <a:alpha val="30196"/>
              </a:srgbClr>
            </a:solidFill>
            <a:prstDash val="solid"/>
            <a:headEnd type="none"/>
            <a:tailEnd type="none"/>
          </a:ln>
        </p:spPr>
      </p:sp>
      <p:sp>
        <p:nvSpPr>
          <p:cNvPr id="14" name="AutoShape 14"/>
          <p:cNvSpPr/>
          <p:nvPr/>
        </p:nvSpPr>
        <p:spPr>
          <a:xfrm>
            <a:off x="761810" y="1143000"/>
            <a:ext cx="9522" cy="4572000"/>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5" name="AutoShape 15"/>
          <p:cNvSpPr/>
          <p:nvPr/>
        </p:nvSpPr>
        <p:spPr>
          <a:xfrm>
            <a:off x="733242" y="1143000"/>
            <a:ext cx="57136" cy="57150"/>
          </a:xfrm>
          <a:prstGeom prst="ellipse">
            <a:avLst/>
          </a:prstGeom>
          <a:ln w="9525">
            <a:solidFill>
              <a:srgbClr val="2DE7F0">
                <a:alpha val="50196"/>
              </a:srgbClr>
            </a:solidFill>
            <a:prstDash val="solid"/>
            <a:headEnd type="none"/>
            <a:tailEnd type="none"/>
          </a:ln>
        </p:spPr>
      </p:sp>
      <p:sp>
        <p:nvSpPr>
          <p:cNvPr id="16" name="AutoShape 16"/>
          <p:cNvSpPr/>
          <p:nvPr/>
        </p:nvSpPr>
        <p:spPr>
          <a:xfrm>
            <a:off x="733242" y="5657850"/>
            <a:ext cx="57136" cy="57150"/>
          </a:xfrm>
          <a:prstGeom prst="ellipse">
            <a:avLst/>
          </a:prstGeom>
          <a:ln w="9525">
            <a:solidFill>
              <a:srgbClr val="2DE7F0">
                <a:alpha val="50196"/>
              </a:srgbClr>
            </a:solidFill>
            <a:prstDash val="solid"/>
            <a:headEnd type="none"/>
            <a:tailEnd type="none"/>
          </a:ln>
        </p:spPr>
      </p:sp>
      <p:sp>
        <p:nvSpPr>
          <p:cNvPr id="17" name="AutoShape 17"/>
          <p:cNvSpPr/>
          <p:nvPr/>
        </p:nvSpPr>
        <p:spPr>
          <a:xfrm>
            <a:off x="11417620" y="1714500"/>
            <a:ext cx="9522" cy="3429000"/>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8" name="AutoShape 18"/>
          <p:cNvSpPr/>
          <p:nvPr/>
        </p:nvSpPr>
        <p:spPr>
          <a:xfrm>
            <a:off x="11389053" y="1714500"/>
            <a:ext cx="57136" cy="57150"/>
          </a:xfrm>
          <a:prstGeom prst="ellipse">
            <a:avLst/>
          </a:prstGeom>
          <a:ln w="9525">
            <a:solidFill>
              <a:srgbClr val="2DE7F0">
                <a:alpha val="50196"/>
              </a:srgbClr>
            </a:solidFill>
            <a:prstDash val="solid"/>
            <a:headEnd type="none"/>
            <a:tailEnd type="none"/>
          </a:ln>
        </p:spPr>
      </p:sp>
      <p:sp>
        <p:nvSpPr>
          <p:cNvPr id="19" name="AutoShape 19"/>
          <p:cNvSpPr/>
          <p:nvPr/>
        </p:nvSpPr>
        <p:spPr>
          <a:xfrm>
            <a:off x="11389053" y="5086350"/>
            <a:ext cx="57136" cy="57150"/>
          </a:xfrm>
          <a:prstGeom prst="ellipse">
            <a:avLst/>
          </a:prstGeom>
          <a:ln w="9525">
            <a:solidFill>
              <a:srgbClr val="2DE7F0">
                <a:alpha val="50196"/>
              </a:srgbClr>
            </a:solidFill>
            <a:prstDash val="solid"/>
            <a:headEnd type="none"/>
            <a:tailEnd type="none"/>
          </a:ln>
        </p:spPr>
      </p:sp>
      <p:sp>
        <p:nvSpPr>
          <p:cNvPr id="20" name="TextBox 20"/>
          <p:cNvSpPr txBox="1"/>
          <p:nvPr/>
        </p:nvSpPr>
        <p:spPr>
          <a:xfrm>
            <a:off x="3876747" y="1957536"/>
            <a:ext cx="4435457" cy="200025"/>
          </a:xfrm>
          <a:prstGeom prst="rect">
            <a:avLst/>
          </a:prstGeom>
          <a:ln>
            <a:headEnd type="none"/>
            <a:tailEnd type="none"/>
          </a:ln>
        </p:spPr>
        <p:txBody>
          <a:bodyPr vert="horz" wrap="none" lIns="0" tIns="0" rIns="0" bIns="0" rtlCol="0" anchor="ctr" anchorCtr="1"/>
          <a:lstStyle/>
          <a:p>
            <a:pPr algn="ctr">
              <a:defRPr/>
            </a:pPr>
            <a:r>
              <a:rPr lang="en-US" sz="1000" b="0" i="0" strike="noStrike">
                <a:solidFill>
                  <a:srgbClr val="2DE7F0">
                    <a:alpha val="100000"/>
                  </a:srgbClr>
                </a:solidFill>
                <a:latin typeface="Inter" panose="02000503000000020004"/>
                <a:ea typeface="Inter" panose="02000503000000020004"/>
                <a:cs typeface="Inter" panose="02000503000000020004"/>
              </a:rPr>
              <a:t>CHAPTER 03</a:t>
            </a:r>
            <a:endParaRPr lang="en-US" sz="1100"/>
          </a:p>
        </p:txBody>
      </p:sp>
      <p:sp>
        <p:nvSpPr>
          <p:cNvPr id="21" name="AutoShape 21"/>
          <p:cNvSpPr/>
          <p:nvPr/>
        </p:nvSpPr>
        <p:spPr>
          <a:xfrm>
            <a:off x="5827842" y="2386161"/>
            <a:ext cx="533267" cy="28575"/>
          </a:xfrm>
          <a:prstGeom prst="roundRect">
            <a:avLst>
              <a:gd name="adj" fmla="val 50000"/>
            </a:avLst>
          </a:prstGeom>
          <a:solidFill>
            <a:srgbClr val="2DE7F0">
              <a:alpha val="100000"/>
            </a:srgbClr>
          </a:solidFill>
          <a:ln>
            <a:headEnd type="none"/>
            <a:tailEnd type="none"/>
          </a:ln>
        </p:spPr>
      </p:sp>
      <p:sp>
        <p:nvSpPr>
          <p:cNvPr id="22" name="TextBox 22"/>
          <p:cNvSpPr txBox="1"/>
          <p:nvPr/>
        </p:nvSpPr>
        <p:spPr>
          <a:xfrm>
            <a:off x="2381622" y="2719536"/>
            <a:ext cx="7425708" cy="1089423"/>
          </a:xfrm>
          <a:prstGeom prst="rect">
            <a:avLst/>
          </a:prstGeom>
          <a:ln>
            <a:headEnd type="none"/>
            <a:tailEnd type="none"/>
          </a:ln>
        </p:spPr>
        <p:txBody>
          <a:bodyPr vert="horz" wrap="square" lIns="0" tIns="0" rIns="0" bIns="0" rtlCol="0" anchor="t" anchorCtr="1"/>
          <a:lstStyle/>
          <a:p>
            <a:pPr algn="ctr">
              <a:defRPr/>
            </a:pPr>
            <a:r>
              <a:rPr lang="en-US" sz="3900" b="1" i="0" strike="noStrike">
                <a:solidFill>
                  <a:srgbClr val="F4FAFF">
                    <a:alpha val="100000"/>
                  </a:srgbClr>
                </a:solidFill>
                <a:latin typeface="Inter" panose="02000503000000020004"/>
                <a:ea typeface="Inter" panose="02000503000000020004"/>
                <a:cs typeface="Inter" panose="02000503000000020004"/>
              </a:rPr>
              <a:t>Knowledge Forge &amp; Cognitive</a:t>
            </a:r>
            <a:endParaRPr lang="en-US" sz="1100"/>
          </a:p>
          <a:p>
            <a:pPr algn="ctr"/>
            <a:r>
              <a:rPr sz="3900" b="1" i="0" strike="noStrike">
                <a:solidFill>
                  <a:srgbClr val="F4FAFF">
                    <a:alpha val="100000"/>
                  </a:srgbClr>
                </a:solidFill>
                <a:latin typeface="Inter" panose="02000503000000020004"/>
                <a:ea typeface="Inter" panose="02000503000000020004"/>
                <a:cs typeface="Inter" panose="02000503000000020004"/>
              </a:rPr>
              <a:t>Retrieval</a:t>
            </a:r>
            <a:endParaRPr sz="3900" b="1" i="0" strike="noStrike">
              <a:solidFill>
                <a:srgbClr val="F4FAFF">
                  <a:alpha val="100000"/>
                </a:srgbClr>
              </a:solidFill>
              <a:latin typeface="Inter" panose="02000503000000020004"/>
              <a:ea typeface="Inter" panose="02000503000000020004"/>
              <a:cs typeface="Inter" panose="02000503000000020004"/>
            </a:endParaRPr>
          </a:p>
        </p:txBody>
      </p:sp>
      <p:sp>
        <p:nvSpPr>
          <p:cNvPr id="23" name="AutoShape 23"/>
          <p:cNvSpPr/>
          <p:nvPr/>
        </p:nvSpPr>
        <p:spPr>
          <a:xfrm>
            <a:off x="4570857" y="4037559"/>
            <a:ext cx="3047238"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4" name="TextBox 24"/>
          <p:cNvSpPr txBox="1"/>
          <p:nvPr/>
        </p:nvSpPr>
        <p:spPr>
          <a:xfrm>
            <a:off x="2979687" y="4351884"/>
            <a:ext cx="6229579" cy="548580"/>
          </a:xfrm>
          <a:prstGeom prst="rect">
            <a:avLst/>
          </a:prstGeom>
          <a:ln>
            <a:headEnd type="none"/>
            <a:tailEnd type="none"/>
          </a:ln>
        </p:spPr>
        <p:txBody>
          <a:bodyPr vert="horz" wrap="square" lIns="0" tIns="0" rIns="0" bIns="0" rtlCol="0" anchor="ctr" anchorCtr="1"/>
          <a:lstStyle/>
          <a:p>
            <a:pPr algn="ctr">
              <a:defRPr/>
            </a:pPr>
            <a:r>
              <a:rPr lang="en-US" sz="1300" b="0" i="0" strike="noStrike">
                <a:solidFill>
                  <a:srgbClr val="B9CED8">
                    <a:alpha val="100000"/>
                  </a:srgbClr>
                </a:solidFill>
                <a:latin typeface="Inter" panose="02000503000000020004"/>
                <a:ea typeface="Inter" panose="02000503000000020004"/>
                <a:cs typeface="Inter" panose="02000503000000020004"/>
              </a:rPr>
              <a:t>Industrial-grade document parsing, graph construction, and adaptive multi-path</a:t>
            </a:r>
            <a:endParaRPr lang="en-US" sz="1100"/>
          </a:p>
          <a:p>
            <a:pPr algn="ctr"/>
            <a:r>
              <a:rPr sz="1300" b="0" i="0" strike="noStrike">
                <a:solidFill>
                  <a:srgbClr val="B9CED8">
                    <a:alpha val="100000"/>
                  </a:srgbClr>
                </a:solidFill>
                <a:latin typeface="Inter" panose="02000503000000020004"/>
                <a:ea typeface="Inter" panose="02000503000000020004"/>
                <a:cs typeface="Inter" panose="02000503000000020004"/>
              </a:rPr>
              <a:t>retrieval mechanisms</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25" name="AutoShape 25"/>
          <p:cNvSpPr/>
          <p:nvPr/>
        </p:nvSpPr>
        <p:spPr>
          <a:xfrm>
            <a:off x="1523619" y="6162675"/>
            <a:ext cx="9141714"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3" name="AutoShape 3"/>
          <p:cNvSpPr/>
          <p:nvPr/>
        </p:nvSpPr>
        <p:spPr>
          <a:xfrm>
            <a:off x="9713070" y="0"/>
            <a:ext cx="2475880" cy="2476500"/>
          </a:xfrm>
          <a:prstGeom prst="rect">
            <a:avLst/>
          </a:prstGeom>
          <a:blipFill rotWithShape="1">
            <a:blip r:embed="rId2">
              <a:alphaModFix amt="100000"/>
              <a:alphaModFix amt="100000"/>
            </a:blip>
            <a:stretch>
              <a:fillRect/>
            </a:stretch>
          </a:blipFill>
          <a:ln>
            <a:headEnd type="none"/>
            <a:tailEnd type="none"/>
          </a:ln>
        </p:spPr>
      </p:sp>
      <p:sp>
        <p:nvSpPr>
          <p:cNvPr id="4" name="AutoShape 4"/>
          <p:cNvSpPr/>
          <p:nvPr/>
        </p:nvSpPr>
        <p:spPr>
          <a:xfrm>
            <a:off x="228543" y="228600"/>
            <a:ext cx="171407" cy="9525"/>
          </a:xfrm>
          <a:prstGeom prst="line">
            <a:avLst/>
          </a:prstGeom>
          <a:ln w="9525">
            <a:solidFill>
              <a:srgbClr val="2DE7F0">
                <a:alpha val="25098"/>
              </a:srgbClr>
            </a:solidFill>
            <a:prstDash val="solid"/>
            <a:headEnd type="none"/>
            <a:tailEnd type="none"/>
          </a:ln>
        </p:spPr>
      </p:sp>
      <p:sp>
        <p:nvSpPr>
          <p:cNvPr id="5" name="AutoShape 5"/>
          <p:cNvSpPr/>
          <p:nvPr/>
        </p:nvSpPr>
        <p:spPr>
          <a:xfrm>
            <a:off x="228543" y="228600"/>
            <a:ext cx="9522" cy="171450"/>
          </a:xfrm>
          <a:prstGeom prst="line">
            <a:avLst/>
          </a:prstGeom>
          <a:ln w="9525">
            <a:solidFill>
              <a:srgbClr val="2DE7F0">
                <a:alpha val="25098"/>
              </a:srgbClr>
            </a:solidFill>
            <a:prstDash val="solid"/>
            <a:headEnd type="none"/>
            <a:tailEnd type="none"/>
          </a:ln>
        </p:spPr>
      </p:sp>
      <p:sp>
        <p:nvSpPr>
          <p:cNvPr id="6" name="AutoShape 6"/>
          <p:cNvSpPr/>
          <p:nvPr/>
        </p:nvSpPr>
        <p:spPr>
          <a:xfrm>
            <a:off x="11950887" y="6457950"/>
            <a:ext cx="9522" cy="171450"/>
          </a:xfrm>
          <a:prstGeom prst="line">
            <a:avLst/>
          </a:prstGeom>
          <a:ln w="9525">
            <a:solidFill>
              <a:srgbClr val="2DE7F0">
                <a:alpha val="25098"/>
              </a:srgbClr>
            </a:solidFill>
            <a:prstDash val="solid"/>
            <a:headEnd type="none"/>
            <a:tailEnd type="none"/>
          </a:ln>
        </p:spPr>
      </p:sp>
      <p:sp>
        <p:nvSpPr>
          <p:cNvPr id="7" name="AutoShape 7"/>
          <p:cNvSpPr/>
          <p:nvPr/>
        </p:nvSpPr>
        <p:spPr>
          <a:xfrm>
            <a:off x="11789002" y="6619875"/>
            <a:ext cx="171407" cy="9525"/>
          </a:xfrm>
          <a:prstGeom prst="line">
            <a:avLst/>
          </a:prstGeom>
          <a:ln w="9525">
            <a:solidFill>
              <a:srgbClr val="2DE7F0">
                <a:alpha val="25098"/>
              </a:srgbClr>
            </a:solidFill>
            <a:prstDash val="solid"/>
            <a:headEnd type="none"/>
            <a:tailEnd type="none"/>
          </a:ln>
        </p:spPr>
      </p:sp>
      <p:sp>
        <p:nvSpPr>
          <p:cNvPr id="8" name="AutoShape 8"/>
          <p:cNvSpPr/>
          <p:nvPr/>
        </p:nvSpPr>
        <p:spPr>
          <a:xfrm>
            <a:off x="380905" y="0"/>
            <a:ext cx="28567" cy="6858000"/>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752287" y="347662"/>
            <a:ext cx="342814" cy="9525"/>
          </a:xfrm>
          <a:prstGeom prst="rect">
            <a:avLst/>
          </a:prstGeom>
          <a:solidFill>
            <a:srgbClr val="2DE7F0">
              <a:alpha val="70196"/>
            </a:srgbClr>
          </a:solidFill>
          <a:ln>
            <a:headEnd type="none"/>
            <a:tailEnd type="none"/>
          </a:ln>
        </p:spPr>
      </p:sp>
      <p:sp>
        <p:nvSpPr>
          <p:cNvPr id="10" name="TextBox 10"/>
          <p:cNvSpPr txBox="1"/>
          <p:nvPr/>
        </p:nvSpPr>
        <p:spPr>
          <a:xfrm>
            <a:off x="1190328" y="285750"/>
            <a:ext cx="226742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Module 03 · Knowledge Forge</a:t>
            </a:r>
            <a:endParaRPr lang="en-US" sz="1100"/>
          </a:p>
        </p:txBody>
      </p:sp>
      <p:sp>
        <p:nvSpPr>
          <p:cNvPr id="11" name="TextBox 11"/>
          <p:cNvSpPr txBox="1"/>
          <p:nvPr/>
        </p:nvSpPr>
        <p:spPr>
          <a:xfrm>
            <a:off x="752287" y="523875"/>
            <a:ext cx="10979579" cy="361950"/>
          </a:xfrm>
          <a:prstGeom prst="rect">
            <a:avLst/>
          </a:prstGeom>
          <a:ln>
            <a:headEnd type="none"/>
            <a:tailEnd type="none"/>
          </a:ln>
        </p:spPr>
        <p:txBody>
          <a:bodyPr vert="horz" wrap="none" lIns="0" tIns="0" rIns="0" bIns="0" rtlCol="0" anchor="t" anchorCtr="0"/>
          <a:lstStyle/>
          <a:p>
            <a:pPr algn="l">
              <a:defRPr/>
            </a:pPr>
            <a:r>
              <a:rPr lang="en-US" sz="2500" b="1" i="0" strike="noStrike">
                <a:solidFill>
                  <a:srgbClr val="F4FAFF">
                    <a:alpha val="100000"/>
                  </a:srgbClr>
                </a:solidFill>
                <a:latin typeface="Alibaba PuHuiTi 3.0 55 Regular"/>
                <a:ea typeface="Alibaba PuHuiTi 3.0 55 Regular"/>
                <a:cs typeface="Alibaba PuHuiTi 3.0 55 Regular"/>
              </a:rPr>
              <a:t>Deep Dive into </a:t>
            </a:r>
            <a:r>
              <a:rPr sz="2500" b="1" i="0" strike="noStrike">
                <a:solidFill>
                  <a:srgbClr val="2DE7F0">
                    <a:alpha val="100000"/>
                  </a:srgbClr>
                </a:solidFill>
                <a:latin typeface="Alibaba PuHuiTi 3.0 55 Regular"/>
                <a:ea typeface="Alibaba PuHuiTi 3.0 55 Regular"/>
                <a:cs typeface="Alibaba PuHuiTi 3.0 55 Regular"/>
              </a:rPr>
              <a:t>Knowledge Forge</a:t>
            </a:r>
            <a:r>
              <a:rPr sz="2500" b="1" i="0" strike="noStrike">
                <a:solidFill>
                  <a:srgbClr val="F4FAFF">
                    <a:alpha val="100000"/>
                  </a:srgbClr>
                </a:solidFill>
                <a:latin typeface="Alibaba PuHuiTi 3.0 55 Regular"/>
                <a:ea typeface="Alibaba PuHuiTi 3.0 55 Regular"/>
                <a:cs typeface="Alibaba PuHuiTi 3.0 55 Regular"/>
              </a:rPr>
              <a:t> Workflow</a:t>
            </a:r>
            <a:endParaRPr lang="en-US" sz="1100"/>
          </a:p>
        </p:txBody>
      </p:sp>
      <p:sp>
        <p:nvSpPr>
          <p:cNvPr id="12" name="AutoShape 12"/>
          <p:cNvSpPr/>
          <p:nvPr/>
        </p:nvSpPr>
        <p:spPr>
          <a:xfrm>
            <a:off x="752287" y="997447"/>
            <a:ext cx="1097957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3" name="TextBox 13"/>
          <p:cNvSpPr txBox="1"/>
          <p:nvPr/>
        </p:nvSpPr>
        <p:spPr>
          <a:xfrm>
            <a:off x="752287" y="1168897"/>
            <a:ext cx="10979579" cy="372368"/>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B9CED8">
                    <a:alpha val="100000"/>
                  </a:srgbClr>
                </a:solidFill>
                <a:latin typeface="Inter" panose="02000503000000020004"/>
                <a:ea typeface="Inter" panose="02000503000000020004"/>
                <a:cs typeface="Inter" panose="02000503000000020004"/>
              </a:rPr>
              <a:t>The Knowledge Forge module transforms unstructured financial documents into a highly structured, query-ready hybrid database through industrial-grade parsing, semantic-</a:t>
            </a:r>
            <a:endParaRPr lang="en-US" sz="1100"/>
          </a:p>
          <a:p>
            <a:pPr algn="l"/>
            <a:r>
              <a:rPr sz="1000" b="0" i="0" strike="noStrike">
                <a:solidFill>
                  <a:srgbClr val="B9CED8">
                    <a:alpha val="100000"/>
                  </a:srgbClr>
                </a:solidFill>
                <a:latin typeface="Inter" panose="02000503000000020004"/>
                <a:ea typeface="Inter" panose="02000503000000020004"/>
                <a:cs typeface="Inter" panose="02000503000000020004"/>
              </a:rPr>
              <a:t>preserving chunking, and automated knowledge graph construction.</a:t>
            </a:r>
            <a:endParaRPr sz="1000" b="0" i="0" strike="noStrike">
              <a:solidFill>
                <a:srgbClr val="B9CED8">
                  <a:alpha val="100000"/>
                </a:srgbClr>
              </a:solidFill>
              <a:latin typeface="Inter" panose="02000503000000020004"/>
              <a:ea typeface="Inter" panose="02000503000000020004"/>
              <a:cs typeface="Inter" panose="02000503000000020004"/>
            </a:endParaRPr>
          </a:p>
        </p:txBody>
      </p:sp>
      <p:sp>
        <p:nvSpPr>
          <p:cNvPr id="14" name="AutoShape 14"/>
          <p:cNvSpPr/>
          <p:nvPr/>
        </p:nvSpPr>
        <p:spPr>
          <a:xfrm>
            <a:off x="752287" y="1770757"/>
            <a:ext cx="10979579" cy="1441698"/>
          </a:xfrm>
          <a:prstGeom prst="roundRect">
            <a:avLst>
              <a:gd name="adj" fmla="val 335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5" name="TextBox 15"/>
          <p:cNvSpPr txBox="1"/>
          <p:nvPr/>
        </p:nvSpPr>
        <p:spPr>
          <a:xfrm>
            <a:off x="971307" y="2050553"/>
            <a:ext cx="1809298"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100000"/>
                  </a:srgbClr>
                </a:solidFill>
                <a:latin typeface="Inter" panose="02000503000000020004"/>
                <a:ea typeface="Inter" panose="02000503000000020004"/>
                <a:cs typeface="Inter" panose="02000503000000020004"/>
              </a:rPr>
              <a:t>01</a:t>
            </a:r>
            <a:endParaRPr lang="en-US" sz="1100"/>
          </a:p>
        </p:txBody>
      </p:sp>
      <p:sp>
        <p:nvSpPr>
          <p:cNvPr id="16" name="TextBox 16"/>
          <p:cNvSpPr txBox="1"/>
          <p:nvPr/>
        </p:nvSpPr>
        <p:spPr>
          <a:xfrm>
            <a:off x="971307" y="2431553"/>
            <a:ext cx="1809298" cy="479078"/>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Alibaba PuHuiTi 3.0 55 Regular"/>
                <a:ea typeface="Alibaba PuHuiTi 3.0 55 Regular"/>
                <a:cs typeface="Alibaba PuHuiTi 3.0 55 Regular"/>
              </a:rPr>
              <a:t>Industrial-Grade</a:t>
            </a:r>
            <a:endParaRPr lang="en-US" sz="1100"/>
          </a:p>
          <a:p>
            <a:pPr algn="l"/>
            <a:r>
              <a:rPr sz="1600" b="1" i="0" strike="noStrike">
                <a:solidFill>
                  <a:srgbClr val="F4FAFF">
                    <a:alpha val="100000"/>
                  </a:srgbClr>
                </a:solidFill>
                <a:latin typeface="Alibaba PuHuiTi 3.0 55 Regular"/>
                <a:ea typeface="Alibaba PuHuiTi 3.0 55 Regular"/>
                <a:cs typeface="Alibaba PuHuiTi 3.0 55 Regular"/>
              </a:rPr>
              <a:t>Parsing</a:t>
            </a:r>
            <a:endParaRPr sz="1600" b="1" i="0" strike="noStrike">
              <a:solidFill>
                <a:srgbClr val="F4FAFF">
                  <a:alpha val="100000"/>
                </a:srgbClr>
              </a:solidFill>
              <a:latin typeface="Alibaba PuHuiTi 3.0 55 Regular"/>
              <a:ea typeface="Alibaba PuHuiTi 3.0 55 Regular"/>
              <a:cs typeface="Alibaba PuHuiTi 3.0 55 Regular"/>
            </a:endParaRPr>
          </a:p>
        </p:txBody>
      </p:sp>
      <p:sp>
        <p:nvSpPr>
          <p:cNvPr id="17" name="AutoShape 17"/>
          <p:cNvSpPr/>
          <p:nvPr/>
        </p:nvSpPr>
        <p:spPr>
          <a:xfrm>
            <a:off x="2952012" y="1951732"/>
            <a:ext cx="9522" cy="1079748"/>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8" name="TextBox 18"/>
          <p:cNvSpPr txBox="1"/>
          <p:nvPr/>
        </p:nvSpPr>
        <p:spPr>
          <a:xfrm>
            <a:off x="3132941" y="2286744"/>
            <a:ext cx="8379904"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Leverages </a:t>
            </a:r>
            <a:r>
              <a:rPr sz="1100" b="0" i="0" strike="noStrike">
                <a:solidFill>
                  <a:srgbClr val="F4FAFF">
                    <a:alpha val="100000"/>
                  </a:srgbClr>
                </a:solidFill>
                <a:latin typeface="Inter" panose="02000503000000020004"/>
                <a:ea typeface="Inter" panose="02000503000000020004"/>
                <a:cs typeface="Inter" panose="02000503000000020004"/>
              </a:rPr>
              <a:t>MinerU SDK</a:t>
            </a:r>
            <a:r>
              <a:rPr sz="1100" b="0" i="0" strike="noStrike">
                <a:solidFill>
                  <a:srgbClr val="B9CED8">
                    <a:alpha val="100000"/>
                  </a:srgbClr>
                </a:solidFill>
                <a:latin typeface="Inter" panose="02000503000000020004"/>
                <a:ea typeface="Inter" panose="02000503000000020004"/>
                <a:cs typeface="Inter" panose="02000503000000020004"/>
              </a:rPr>
              <a:t> to extract text, tables, and formulas from complex PDFs and images, ensuring no critical financial data is</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lost during ingestion.</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19" name="AutoShape 19"/>
          <p:cNvSpPr/>
          <p:nvPr/>
        </p:nvSpPr>
        <p:spPr>
          <a:xfrm>
            <a:off x="752287" y="3326755"/>
            <a:ext cx="10979579" cy="1441698"/>
          </a:xfrm>
          <a:prstGeom prst="roundRect">
            <a:avLst>
              <a:gd name="adj" fmla="val 335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0" name="TextBox 20"/>
          <p:cNvSpPr txBox="1"/>
          <p:nvPr/>
        </p:nvSpPr>
        <p:spPr>
          <a:xfrm>
            <a:off x="971307" y="3486150"/>
            <a:ext cx="1809298"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100000"/>
                  </a:srgbClr>
                </a:solidFill>
                <a:latin typeface="Inter" panose="02000503000000020004"/>
                <a:ea typeface="Inter" panose="02000503000000020004"/>
                <a:cs typeface="Inter" panose="02000503000000020004"/>
              </a:rPr>
              <a:t>02</a:t>
            </a:r>
            <a:endParaRPr lang="en-US" sz="1100"/>
          </a:p>
        </p:txBody>
      </p:sp>
      <p:sp>
        <p:nvSpPr>
          <p:cNvPr id="21" name="TextBox 21"/>
          <p:cNvSpPr txBox="1"/>
          <p:nvPr/>
        </p:nvSpPr>
        <p:spPr>
          <a:xfrm>
            <a:off x="971307" y="3867150"/>
            <a:ext cx="1809298" cy="720030"/>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F4FAFF">
                    <a:alpha val="100000"/>
                  </a:srgbClr>
                </a:solidFill>
                <a:latin typeface="Alibaba PuHuiTi 3.0 55 Regular"/>
                <a:ea typeface="Alibaba PuHuiTi 3.0 55 Regular"/>
                <a:cs typeface="Alibaba PuHuiTi 3.0 55 Regular"/>
              </a:rPr>
              <a:t>Intelligent</a:t>
            </a:r>
            <a:endParaRPr lang="en-US" sz="1100"/>
          </a:p>
          <a:p>
            <a:pPr algn="l"/>
            <a:r>
              <a:rPr sz="1600" b="1" i="0" strike="noStrike">
                <a:solidFill>
                  <a:srgbClr val="F4FAFF">
                    <a:alpha val="100000"/>
                  </a:srgbClr>
                </a:solidFill>
                <a:latin typeface="Alibaba PuHuiTi 3.0 55 Regular"/>
                <a:ea typeface="Alibaba PuHuiTi 3.0 55 Regular"/>
                <a:cs typeface="Alibaba PuHuiTi 3.0 55 Regular"/>
              </a:rPr>
              <a:t>Chunking &amp;</a:t>
            </a:r>
            <a:endParaRPr sz="1600" b="1" i="0" strike="noStrike">
              <a:solidFill>
                <a:srgbClr val="F4FAFF">
                  <a:alpha val="100000"/>
                </a:srgbClr>
              </a:solidFill>
              <a:latin typeface="Alibaba PuHuiTi 3.0 55 Regular"/>
              <a:ea typeface="Alibaba PuHuiTi 3.0 55 Regular"/>
              <a:cs typeface="Alibaba PuHuiTi 3.0 55 Regular"/>
            </a:endParaRPr>
          </a:p>
          <a:p>
            <a:pPr algn="l"/>
            <a:r>
              <a:rPr sz="1600" b="1" i="0" strike="noStrike">
                <a:solidFill>
                  <a:srgbClr val="F4FAFF">
                    <a:alpha val="100000"/>
                  </a:srgbClr>
                </a:solidFill>
                <a:latin typeface="Alibaba PuHuiTi 3.0 55 Regular"/>
                <a:ea typeface="Alibaba PuHuiTi 3.0 55 Regular"/>
                <a:cs typeface="Alibaba PuHuiTi 3.0 55 Regular"/>
              </a:rPr>
              <a:t>Vectorization</a:t>
            </a:r>
            <a:endParaRPr sz="1600" b="1" i="0" strike="noStrike">
              <a:solidFill>
                <a:srgbClr val="F4FAFF">
                  <a:alpha val="100000"/>
                </a:srgbClr>
              </a:solidFill>
              <a:latin typeface="Alibaba PuHuiTi 3.0 55 Regular"/>
              <a:ea typeface="Alibaba PuHuiTi 3.0 55 Regular"/>
              <a:cs typeface="Alibaba PuHuiTi 3.0 55 Regular"/>
            </a:endParaRPr>
          </a:p>
        </p:txBody>
      </p:sp>
      <p:sp>
        <p:nvSpPr>
          <p:cNvPr id="22" name="AutoShape 22"/>
          <p:cNvSpPr/>
          <p:nvPr/>
        </p:nvSpPr>
        <p:spPr>
          <a:xfrm>
            <a:off x="2952012" y="3507730"/>
            <a:ext cx="9522" cy="1079748"/>
          </a:xfrm>
          <a:prstGeom prst="rect">
            <a:avLst/>
          </a:prstGeom>
          <a:gradFill>
            <a:gsLst>
              <a:gs pos="0">
                <a:srgbClr val="7BB7FF">
                  <a:alpha val="0"/>
                </a:srgbClr>
              </a:gs>
              <a:gs pos="50000">
                <a:srgbClr val="7BB7FF">
                  <a:alpha val="100000"/>
                </a:srgbClr>
              </a:gs>
              <a:gs pos="100000">
                <a:srgbClr val="7BB7FF">
                  <a:alpha val="0"/>
                </a:srgbClr>
              </a:gs>
            </a:gsLst>
            <a:lin ang="5400000"/>
          </a:gradFill>
          <a:ln>
            <a:headEnd type="none"/>
            <a:tailEnd type="none"/>
          </a:ln>
        </p:spPr>
      </p:sp>
      <p:sp>
        <p:nvSpPr>
          <p:cNvPr id="23" name="TextBox 23"/>
          <p:cNvSpPr txBox="1"/>
          <p:nvPr/>
        </p:nvSpPr>
        <p:spPr>
          <a:xfrm>
            <a:off x="3132941" y="3842742"/>
            <a:ext cx="8379904"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Recursively splits documents based on Markdown headings (</a:t>
            </a:r>
            <a:r>
              <a:rPr sz="1100" b="0" i="0" strike="noStrike">
                <a:solidFill>
                  <a:srgbClr val="F4FAFF">
                    <a:alpha val="100000"/>
                  </a:srgbClr>
                </a:solidFill>
                <a:latin typeface="Inter" panose="02000503000000020004"/>
                <a:ea typeface="Inter" panose="02000503000000020004"/>
                <a:cs typeface="Inter" panose="02000503000000020004"/>
              </a:rPr>
              <a:t>512 Tokens per chunk</a:t>
            </a:r>
            <a:r>
              <a:rPr sz="1100" b="0" i="0" strike="noStrike">
                <a:solidFill>
                  <a:srgbClr val="B9CED8">
                    <a:alpha val="100000"/>
                  </a:srgbClr>
                </a:solidFill>
                <a:latin typeface="Inter" panose="02000503000000020004"/>
                <a:ea typeface="Inter" panose="02000503000000020004"/>
                <a:cs typeface="Inter" panose="02000503000000020004"/>
              </a:rPr>
              <a:t>) to preserve semantic integrity, then generates</a:t>
            </a:r>
            <a:endParaRPr lang="en-US" sz="1100"/>
          </a:p>
          <a:p>
            <a:pPr algn="l"/>
            <a:r>
              <a:rPr sz="1100" b="0" i="0" strike="noStrike">
                <a:solidFill>
                  <a:srgbClr val="F4FAFF">
                    <a:alpha val="100000"/>
                  </a:srgbClr>
                </a:solidFill>
                <a:latin typeface="Inter" panose="02000503000000020004"/>
                <a:ea typeface="Inter" panose="02000503000000020004"/>
                <a:cs typeface="Inter" panose="02000503000000020004"/>
              </a:rPr>
              <a:t>1024-dimensional vectors</a:t>
            </a:r>
            <a:r>
              <a:rPr sz="1100" b="0" i="0" strike="noStrike">
                <a:solidFill>
                  <a:srgbClr val="B9CED8">
                    <a:alpha val="100000"/>
                  </a:srgbClr>
                </a:solidFill>
                <a:latin typeface="Inter" panose="02000503000000020004"/>
                <a:ea typeface="Inter" panose="02000503000000020004"/>
                <a:cs typeface="Inter" panose="02000503000000020004"/>
              </a:rPr>
              <a:t> via BGE-large-zh.</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24" name="AutoShape 24"/>
          <p:cNvSpPr/>
          <p:nvPr/>
        </p:nvSpPr>
        <p:spPr>
          <a:xfrm>
            <a:off x="752287" y="4882754"/>
            <a:ext cx="10979579" cy="1441698"/>
          </a:xfrm>
          <a:prstGeom prst="roundRect">
            <a:avLst>
              <a:gd name="adj" fmla="val 335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5" name="TextBox 25"/>
          <p:cNvSpPr txBox="1"/>
          <p:nvPr/>
        </p:nvSpPr>
        <p:spPr>
          <a:xfrm>
            <a:off x="971307" y="4921747"/>
            <a:ext cx="1809298"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2DE7F0">
                    <a:alpha val="100000"/>
                  </a:srgbClr>
                </a:solidFill>
                <a:latin typeface="Inter" panose="02000503000000020004"/>
                <a:ea typeface="Inter" panose="02000503000000020004"/>
                <a:cs typeface="Inter" panose="02000503000000020004"/>
              </a:rPr>
              <a:t>03</a:t>
            </a:r>
            <a:endParaRPr lang="en-US" sz="1100"/>
          </a:p>
        </p:txBody>
      </p:sp>
      <p:sp>
        <p:nvSpPr>
          <p:cNvPr id="26" name="TextBox 26"/>
          <p:cNvSpPr txBox="1"/>
          <p:nvPr/>
        </p:nvSpPr>
        <p:spPr>
          <a:xfrm>
            <a:off x="971307" y="5302747"/>
            <a:ext cx="1809298" cy="960984"/>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F4FAFF">
                    <a:alpha val="100000"/>
                  </a:srgbClr>
                </a:solidFill>
                <a:latin typeface="Alibaba PuHuiTi 3.0 55 Regular"/>
                <a:ea typeface="Alibaba PuHuiTi 3.0 55 Regular"/>
                <a:cs typeface="Alibaba PuHuiTi 3.0 55 Regular"/>
              </a:rPr>
              <a:t>Graph</a:t>
            </a:r>
            <a:endParaRPr lang="en-US" sz="1100"/>
          </a:p>
          <a:p>
            <a:pPr algn="l"/>
            <a:r>
              <a:rPr sz="1600" b="1" i="0" strike="noStrike">
                <a:solidFill>
                  <a:srgbClr val="F4FAFF">
                    <a:alpha val="100000"/>
                  </a:srgbClr>
                </a:solidFill>
                <a:latin typeface="Alibaba PuHuiTi 3.0 55 Regular"/>
                <a:ea typeface="Alibaba PuHuiTi 3.0 55 Regular"/>
                <a:cs typeface="Alibaba PuHuiTi 3.0 55 Regular"/>
              </a:rPr>
              <a:t>Construction &amp;</a:t>
            </a:r>
            <a:endParaRPr sz="1600" b="1" i="0" strike="noStrike">
              <a:solidFill>
                <a:srgbClr val="F4FAFF">
                  <a:alpha val="100000"/>
                </a:srgbClr>
              </a:solidFill>
              <a:latin typeface="Alibaba PuHuiTi 3.0 55 Regular"/>
              <a:ea typeface="Alibaba PuHuiTi 3.0 55 Regular"/>
              <a:cs typeface="Alibaba PuHuiTi 3.0 55 Regular"/>
            </a:endParaRPr>
          </a:p>
          <a:p>
            <a:pPr algn="l"/>
            <a:r>
              <a:rPr sz="1600" b="1" i="0" strike="noStrike">
                <a:solidFill>
                  <a:srgbClr val="F4FAFF">
                    <a:alpha val="100000"/>
                  </a:srgbClr>
                </a:solidFill>
                <a:latin typeface="Alibaba PuHuiTi 3.0 55 Regular"/>
                <a:ea typeface="Alibaba PuHuiTi 3.0 55 Regular"/>
                <a:cs typeface="Alibaba PuHuiTi 3.0 55 Regular"/>
              </a:rPr>
              <a:t>Async</a:t>
            </a:r>
            <a:endParaRPr sz="1600" b="1" i="0" strike="noStrike">
              <a:solidFill>
                <a:srgbClr val="F4FAFF">
                  <a:alpha val="100000"/>
                </a:srgbClr>
              </a:solidFill>
              <a:latin typeface="Alibaba PuHuiTi 3.0 55 Regular"/>
              <a:ea typeface="Alibaba PuHuiTi 3.0 55 Regular"/>
              <a:cs typeface="Alibaba PuHuiTi 3.0 55 Regular"/>
            </a:endParaRPr>
          </a:p>
          <a:p>
            <a:pPr algn="l"/>
            <a:r>
              <a:rPr sz="1600" b="1" i="0" strike="noStrike">
                <a:solidFill>
                  <a:srgbClr val="F4FAFF">
                    <a:alpha val="100000"/>
                  </a:srgbClr>
                </a:solidFill>
                <a:latin typeface="Alibaba PuHuiTi 3.0 55 Regular"/>
                <a:ea typeface="Alibaba PuHuiTi 3.0 55 Regular"/>
                <a:cs typeface="Alibaba PuHuiTi 3.0 55 Regular"/>
              </a:rPr>
              <a:t>Processing</a:t>
            </a:r>
            <a:endParaRPr sz="1600" b="1" i="0" strike="noStrike">
              <a:solidFill>
                <a:srgbClr val="F4FAFF">
                  <a:alpha val="100000"/>
                </a:srgbClr>
              </a:solidFill>
              <a:latin typeface="Alibaba PuHuiTi 3.0 55 Regular"/>
              <a:ea typeface="Alibaba PuHuiTi 3.0 55 Regular"/>
              <a:cs typeface="Alibaba PuHuiTi 3.0 55 Regular"/>
            </a:endParaRPr>
          </a:p>
        </p:txBody>
      </p:sp>
      <p:sp>
        <p:nvSpPr>
          <p:cNvPr id="27" name="AutoShape 27"/>
          <p:cNvSpPr/>
          <p:nvPr/>
        </p:nvSpPr>
        <p:spPr>
          <a:xfrm>
            <a:off x="2952012" y="5063727"/>
            <a:ext cx="9522" cy="1079748"/>
          </a:xfrm>
          <a:prstGeom prst="rect">
            <a:avLst/>
          </a:prstGeom>
          <a:gradFill>
            <a:gsLst>
              <a:gs pos="0">
                <a:srgbClr val="86F7C8">
                  <a:alpha val="0"/>
                </a:srgbClr>
              </a:gs>
              <a:gs pos="50000">
                <a:srgbClr val="86F7C8">
                  <a:alpha val="100000"/>
                </a:srgbClr>
              </a:gs>
              <a:gs pos="100000">
                <a:srgbClr val="86F7C8">
                  <a:alpha val="0"/>
                </a:srgbClr>
              </a:gs>
            </a:gsLst>
            <a:lin ang="5400000"/>
          </a:gradFill>
          <a:ln>
            <a:headEnd type="none"/>
            <a:tailEnd type="none"/>
          </a:ln>
        </p:spPr>
      </p:sp>
      <p:sp>
        <p:nvSpPr>
          <p:cNvPr id="28" name="TextBox 28"/>
          <p:cNvSpPr txBox="1"/>
          <p:nvPr/>
        </p:nvSpPr>
        <p:spPr>
          <a:xfrm>
            <a:off x="3132941" y="5398741"/>
            <a:ext cx="8379904"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LLM extracts complex entity-relation triples (e.g., compensation rules impacting bancassurance) into </a:t>
            </a:r>
            <a:r>
              <a:rPr sz="1100" b="0" i="0" strike="noStrike">
                <a:solidFill>
                  <a:srgbClr val="F4FAFF">
                    <a:alpha val="100000"/>
                  </a:srgbClr>
                </a:solidFill>
                <a:latin typeface="Inter" panose="02000503000000020004"/>
                <a:ea typeface="Inter" panose="02000503000000020004"/>
                <a:cs typeface="Inter" panose="02000503000000020004"/>
              </a:rPr>
              <a:t>Neo4j</a:t>
            </a:r>
            <a:r>
              <a:rPr sz="1100" b="0" i="0" strike="noStrike">
                <a:solidFill>
                  <a:srgbClr val="B9CED8">
                    <a:alpha val="100000"/>
                  </a:srgbClr>
                </a:solidFill>
                <a:latin typeface="Inter" panose="02000503000000020004"/>
                <a:ea typeface="Inter" panose="02000503000000020004"/>
                <a:cs typeface="Inter" panose="02000503000000020004"/>
              </a:rPr>
              <a:t>, while background</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queues handle heavy tasks without blocking the UI.</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29" name="AutoShape 29"/>
          <p:cNvSpPr/>
          <p:nvPr/>
        </p:nvSpPr>
        <p:spPr>
          <a:xfrm>
            <a:off x="4668316" y="6515100"/>
            <a:ext cx="57136" cy="57150"/>
          </a:xfrm>
          <a:prstGeom prst="ellipse">
            <a:avLst/>
          </a:prstGeom>
          <a:solidFill>
            <a:srgbClr val="2DE7F0">
              <a:alpha val="80000"/>
            </a:srgbClr>
          </a:solidFill>
          <a:ln>
            <a:headEnd type="none"/>
            <a:tailEnd type="none"/>
          </a:ln>
        </p:spPr>
      </p:sp>
      <p:sp>
        <p:nvSpPr>
          <p:cNvPr id="30" name="AutoShape 30"/>
          <p:cNvSpPr/>
          <p:nvPr/>
        </p:nvSpPr>
        <p:spPr>
          <a:xfrm>
            <a:off x="4801631" y="6538912"/>
            <a:ext cx="761810" cy="9525"/>
          </a:xfrm>
          <a:prstGeom prst="rect">
            <a:avLst/>
          </a:prstGeom>
          <a:solidFill>
            <a:srgbClr val="2DE7F0">
              <a:alpha val="21960"/>
            </a:srgbClr>
          </a:solidFill>
          <a:ln>
            <a:headEnd type="none"/>
            <a:tailEnd type="none"/>
          </a:ln>
        </p:spPr>
      </p:sp>
      <p:sp>
        <p:nvSpPr>
          <p:cNvPr id="31" name="AutoShape 31"/>
          <p:cNvSpPr/>
          <p:nvPr/>
        </p:nvSpPr>
        <p:spPr>
          <a:xfrm>
            <a:off x="5639622" y="6515100"/>
            <a:ext cx="57136" cy="57150"/>
          </a:xfrm>
          <a:prstGeom prst="ellipse">
            <a:avLst/>
          </a:prstGeom>
          <a:solidFill>
            <a:srgbClr val="7BB7FF">
              <a:alpha val="60000"/>
            </a:srgbClr>
          </a:solidFill>
          <a:ln>
            <a:headEnd type="none"/>
            <a:tailEnd type="none"/>
          </a:ln>
        </p:spPr>
      </p:sp>
      <p:sp>
        <p:nvSpPr>
          <p:cNvPr id="32" name="AutoShape 32"/>
          <p:cNvSpPr/>
          <p:nvPr/>
        </p:nvSpPr>
        <p:spPr>
          <a:xfrm>
            <a:off x="5772939" y="6538912"/>
            <a:ext cx="761810" cy="9525"/>
          </a:xfrm>
          <a:prstGeom prst="rect">
            <a:avLst/>
          </a:prstGeom>
          <a:solidFill>
            <a:srgbClr val="2DE7F0">
              <a:alpha val="21960"/>
            </a:srgbClr>
          </a:solidFill>
          <a:ln>
            <a:headEnd type="none"/>
            <a:tailEnd type="none"/>
          </a:ln>
        </p:spPr>
      </p:sp>
      <p:sp>
        <p:nvSpPr>
          <p:cNvPr id="33" name="AutoShape 33"/>
          <p:cNvSpPr/>
          <p:nvPr/>
        </p:nvSpPr>
        <p:spPr>
          <a:xfrm>
            <a:off x="6610929" y="6515100"/>
            <a:ext cx="57136" cy="57150"/>
          </a:xfrm>
          <a:prstGeom prst="ellipse">
            <a:avLst/>
          </a:prstGeom>
          <a:solidFill>
            <a:srgbClr val="86F7C8">
              <a:alpha val="60000"/>
            </a:srgbClr>
          </a:solidFill>
          <a:ln>
            <a:headEnd type="none"/>
            <a:tailEnd type="none"/>
          </a:ln>
        </p:spPr>
      </p:sp>
      <p:sp>
        <p:nvSpPr>
          <p:cNvPr id="34" name="TextBox 34"/>
          <p:cNvSpPr txBox="1"/>
          <p:nvPr/>
        </p:nvSpPr>
        <p:spPr>
          <a:xfrm>
            <a:off x="6820427" y="6477000"/>
            <a:ext cx="1023831"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100000"/>
                  </a:srgbClr>
                </a:solidFill>
                <a:latin typeface="Inter" panose="02000503000000020004"/>
                <a:ea typeface="Inter" panose="02000503000000020004"/>
                <a:cs typeface="Inter" panose="02000503000000020004"/>
              </a:rPr>
              <a:t>Pipeline Flow</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33400"/>
            <a:ext cx="304724" cy="19050"/>
          </a:xfrm>
          <a:prstGeom prst="rect">
            <a:avLst/>
          </a:prstGeom>
          <a:solidFill>
            <a:srgbClr val="2DE7F0">
              <a:alpha val="70196"/>
            </a:srgbClr>
          </a:solidFill>
          <a:ln>
            <a:headEnd type="none"/>
            <a:tailEnd type="none"/>
          </a:ln>
        </p:spPr>
      </p:sp>
      <p:sp>
        <p:nvSpPr>
          <p:cNvPr id="6" name="TextBox 6"/>
          <p:cNvSpPr txBox="1"/>
          <p:nvPr/>
        </p:nvSpPr>
        <p:spPr>
          <a:xfrm>
            <a:off x="876080" y="476250"/>
            <a:ext cx="1619440"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100000"/>
                  </a:srgbClr>
                </a:solidFill>
                <a:latin typeface="Inter" panose="02000503000000020004"/>
                <a:ea typeface="Inter" panose="02000503000000020004"/>
                <a:cs typeface="Inter" panose="02000503000000020004"/>
              </a:rPr>
              <a:t>Mechanism Overview</a:t>
            </a:r>
            <a:endParaRPr lang="en-US" sz="1100"/>
          </a:p>
        </p:txBody>
      </p:sp>
      <p:sp>
        <p:nvSpPr>
          <p:cNvPr id="7" name="TextBox 7"/>
          <p:cNvSpPr txBox="1"/>
          <p:nvPr/>
        </p:nvSpPr>
        <p:spPr>
          <a:xfrm>
            <a:off x="457086" y="704850"/>
            <a:ext cx="11274781"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Alibaba PuHuiTi 3.0 55 Regular"/>
                <a:ea typeface="Alibaba PuHuiTi 3.0 55 Regular"/>
                <a:cs typeface="Alibaba PuHuiTi 3.0 55 Regular"/>
              </a:rPr>
              <a:t>Cognitive </a:t>
            </a:r>
            <a:r>
              <a:rPr sz="3000" b="1" i="0" strike="noStrike">
                <a:solidFill>
                  <a:srgbClr val="2DE7F0">
                    <a:alpha val="100000"/>
                  </a:srgbClr>
                </a:solidFill>
                <a:latin typeface="Alibaba PuHuiTi 3.0 55 Regular"/>
                <a:ea typeface="Alibaba PuHuiTi 3.0 55 Regular"/>
                <a:cs typeface="Alibaba PuHuiTi 3.0 55 Regular"/>
              </a:rPr>
              <a:t>Retrieval</a:t>
            </a:r>
            <a:r>
              <a:rPr sz="3000" b="1" i="0" strike="noStrike">
                <a:solidFill>
                  <a:srgbClr val="F4FAFF">
                    <a:alpha val="100000"/>
                  </a:srgbClr>
                </a:solidFill>
                <a:latin typeface="Alibaba PuHuiTi 3.0 55 Regular"/>
                <a:ea typeface="Alibaba PuHuiTi 3.0 55 Regular"/>
                <a:cs typeface="Alibaba PuHuiTi 3.0 55 Regular"/>
              </a:rPr>
              <a:t> Mechanism</a:t>
            </a:r>
            <a:endParaRPr lang="en-US" sz="1100"/>
          </a:p>
        </p:txBody>
      </p:sp>
      <p:sp>
        <p:nvSpPr>
          <p:cNvPr id="8" name="AutoShape 8"/>
          <p:cNvSpPr/>
          <p:nvPr/>
        </p:nvSpPr>
        <p:spPr>
          <a:xfrm>
            <a:off x="457086" y="1238250"/>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457086" y="1400175"/>
            <a:ext cx="11274781" cy="1303288"/>
          </a:xfrm>
          <a:prstGeom prst="roundRect">
            <a:avLst>
              <a:gd name="adj" fmla="val 410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0" name="AutoShape 10"/>
          <p:cNvSpPr/>
          <p:nvPr/>
        </p:nvSpPr>
        <p:spPr>
          <a:xfrm>
            <a:off x="466608" y="1409700"/>
            <a:ext cx="28567" cy="1284238"/>
          </a:xfrm>
          <a:prstGeom prst="roundRect">
            <a:avLst>
              <a:gd name="adj" fmla="val 50000"/>
            </a:avLst>
          </a:prstGeom>
          <a:solidFill>
            <a:srgbClr val="2DE7F0">
              <a:alpha val="70196"/>
            </a:srgbClr>
          </a:solidFill>
          <a:ln>
            <a:headEnd type="none"/>
            <a:tailEnd type="none"/>
          </a:ln>
        </p:spPr>
      </p:sp>
      <p:sp>
        <p:nvSpPr>
          <p:cNvPr id="11" name="TextBox 11"/>
          <p:cNvSpPr txBox="1"/>
          <p:nvPr/>
        </p:nvSpPr>
        <p:spPr>
          <a:xfrm>
            <a:off x="676106" y="1851720"/>
            <a:ext cx="485059"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2DE7F0">
                    <a:alpha val="30196"/>
                  </a:srgbClr>
                </a:solidFill>
                <a:latin typeface="Inter" panose="02000503000000020004"/>
                <a:ea typeface="Inter" panose="02000503000000020004"/>
                <a:cs typeface="Inter" panose="02000503000000020004"/>
              </a:rPr>
              <a:t>01</a:t>
            </a:r>
            <a:endParaRPr lang="en-US" sz="1100"/>
          </a:p>
        </p:txBody>
      </p:sp>
      <p:sp>
        <p:nvSpPr>
          <p:cNvPr id="12" name="TextBox 12"/>
          <p:cNvSpPr txBox="1"/>
          <p:nvPr/>
        </p:nvSpPr>
        <p:spPr>
          <a:xfrm>
            <a:off x="1304599" y="1784598"/>
            <a:ext cx="9354932"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Alibaba PuHuiTi 3.0 55 Regular"/>
                <a:ea typeface="Alibaba PuHuiTi 3.0 55 Regular"/>
                <a:cs typeface="Alibaba PuHuiTi 3.0 55 Regular"/>
              </a:rPr>
              <a:t>Adaptive Routing &amp; </a:t>
            </a:r>
            <a:r>
              <a:rPr sz="1600" b="1" i="0" strike="noStrike">
                <a:solidFill>
                  <a:srgbClr val="2DE7F0">
                    <a:alpha val="100000"/>
                  </a:srgbClr>
                </a:solidFill>
                <a:latin typeface="Alibaba PuHuiTi 3.0 55 Regular"/>
                <a:ea typeface="Alibaba PuHuiTi 3.0 55 Regular"/>
                <a:cs typeface="Alibaba PuHuiTi 3.0 55 Regular"/>
              </a:rPr>
              <a:t>Parallel Search</a:t>
            </a:r>
            <a:endParaRPr lang="en-US" sz="1100"/>
          </a:p>
        </p:txBody>
      </p:sp>
      <p:sp>
        <p:nvSpPr>
          <p:cNvPr id="13" name="TextBox 13"/>
          <p:cNvSpPr txBox="1"/>
          <p:nvPr/>
        </p:nvSpPr>
        <p:spPr>
          <a:xfrm>
            <a:off x="1304599" y="2111276"/>
            <a:ext cx="9393022" cy="161925"/>
          </a:xfrm>
          <a:prstGeom prst="rect">
            <a:avLst/>
          </a:prstGeom>
          <a:ln>
            <a:headEnd type="none"/>
            <a:tailEnd type="none"/>
          </a:ln>
        </p:spPr>
        <p:txBody>
          <a:bodyPr vert="horz" wrap="non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Dynamically selects vector, graph, or hybrid retrieval based on query intent, executing concurrent searches via asyncio to minimize latency.</a:t>
            </a:r>
            <a:endParaRPr lang="en-US" sz="1100"/>
          </a:p>
        </p:txBody>
      </p:sp>
      <p:sp>
        <p:nvSpPr>
          <p:cNvPr id="14" name="AutoShape 14"/>
          <p:cNvSpPr/>
          <p:nvPr/>
        </p:nvSpPr>
        <p:spPr>
          <a:xfrm>
            <a:off x="11059480" y="2013645"/>
            <a:ext cx="76181" cy="76200"/>
          </a:xfrm>
          <a:prstGeom prst="ellipse">
            <a:avLst/>
          </a:prstGeom>
          <a:solidFill>
            <a:srgbClr val="2DE7F0">
              <a:alpha val="100000"/>
            </a:srgbClr>
          </a:solidFill>
          <a:ln>
            <a:headEnd type="none"/>
            <a:tailEnd type="none"/>
          </a:ln>
          <a:effectLst>
            <a:outerShdw blurRad="57150" rotWithShape="0">
              <a:srgbClr val="2DE7F0">
                <a:alpha val="50196"/>
              </a:srgbClr>
            </a:outerShdw>
          </a:effectLst>
        </p:spPr>
      </p:sp>
      <p:sp>
        <p:nvSpPr>
          <p:cNvPr id="15" name="AutoShape 15"/>
          <p:cNvSpPr/>
          <p:nvPr/>
        </p:nvSpPr>
        <p:spPr>
          <a:xfrm>
            <a:off x="457086" y="2817763"/>
            <a:ext cx="11274781" cy="1303288"/>
          </a:xfrm>
          <a:prstGeom prst="roundRect">
            <a:avLst>
              <a:gd name="adj" fmla="val 410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6" name="AutoShape 16"/>
          <p:cNvSpPr/>
          <p:nvPr/>
        </p:nvSpPr>
        <p:spPr>
          <a:xfrm>
            <a:off x="466608" y="2827288"/>
            <a:ext cx="28567" cy="1284238"/>
          </a:xfrm>
          <a:prstGeom prst="roundRect">
            <a:avLst>
              <a:gd name="adj" fmla="val 50000"/>
            </a:avLst>
          </a:prstGeom>
          <a:solidFill>
            <a:srgbClr val="2DE7F0">
              <a:alpha val="70196"/>
            </a:srgbClr>
          </a:solidFill>
          <a:ln>
            <a:headEnd type="none"/>
            <a:tailEnd type="none"/>
          </a:ln>
        </p:spPr>
      </p:sp>
      <p:sp>
        <p:nvSpPr>
          <p:cNvPr id="17" name="TextBox 17"/>
          <p:cNvSpPr txBox="1"/>
          <p:nvPr/>
        </p:nvSpPr>
        <p:spPr>
          <a:xfrm>
            <a:off x="676106" y="3269308"/>
            <a:ext cx="485059"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2DE7F0">
                    <a:alpha val="30196"/>
                  </a:srgbClr>
                </a:solidFill>
                <a:latin typeface="Inter" panose="02000503000000020004"/>
                <a:ea typeface="Inter" panose="02000503000000020004"/>
                <a:cs typeface="Inter" panose="02000503000000020004"/>
              </a:rPr>
              <a:t>02</a:t>
            </a:r>
            <a:endParaRPr lang="en-US" sz="1100"/>
          </a:p>
        </p:txBody>
      </p:sp>
      <p:sp>
        <p:nvSpPr>
          <p:cNvPr id="18" name="TextBox 18"/>
          <p:cNvSpPr txBox="1"/>
          <p:nvPr/>
        </p:nvSpPr>
        <p:spPr>
          <a:xfrm>
            <a:off x="1304599" y="3084166"/>
            <a:ext cx="9503574"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Alibaba PuHuiTi 3.0 55 Regular"/>
                <a:ea typeface="Alibaba PuHuiTi 3.0 55 Regular"/>
                <a:cs typeface="Alibaba PuHuiTi 3.0 55 Regular"/>
              </a:rPr>
              <a:t>Re-ranking &amp; </a:t>
            </a:r>
            <a:r>
              <a:rPr sz="1600" b="1" i="0" strike="noStrike">
                <a:solidFill>
                  <a:srgbClr val="2DE7F0">
                    <a:alpha val="100000"/>
                  </a:srgbClr>
                </a:solidFill>
                <a:latin typeface="Alibaba PuHuiTi 3.0 55 Regular"/>
                <a:ea typeface="Alibaba PuHuiTi 3.0 55 Regular"/>
                <a:cs typeface="Alibaba PuHuiTi 3.0 55 Regular"/>
              </a:rPr>
              <a:t>Compression</a:t>
            </a:r>
            <a:endParaRPr lang="en-US" sz="1100"/>
          </a:p>
        </p:txBody>
      </p:sp>
      <p:sp>
        <p:nvSpPr>
          <p:cNvPr id="19" name="TextBox 19"/>
          <p:cNvSpPr txBox="1"/>
          <p:nvPr/>
        </p:nvSpPr>
        <p:spPr>
          <a:xfrm>
            <a:off x="1304599" y="3410843"/>
            <a:ext cx="9503574" cy="39811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Employs BGE-reranker to filter Top-5 candidates, followed by LLM semantic distillation that truncates context and achieves a compression</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ratio of up to 1/5.</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0" name="AutoShape 20"/>
          <p:cNvSpPr/>
          <p:nvPr/>
        </p:nvSpPr>
        <p:spPr>
          <a:xfrm>
            <a:off x="11208122" y="3431233"/>
            <a:ext cx="76181" cy="76200"/>
          </a:xfrm>
          <a:prstGeom prst="ellipse">
            <a:avLst/>
          </a:prstGeom>
          <a:solidFill>
            <a:srgbClr val="2DE7F0">
              <a:alpha val="100000"/>
            </a:srgbClr>
          </a:solidFill>
          <a:ln>
            <a:headEnd type="none"/>
            <a:tailEnd type="none"/>
          </a:ln>
          <a:effectLst>
            <a:outerShdw blurRad="57150" rotWithShape="0">
              <a:srgbClr val="2DE7F0">
                <a:alpha val="50196"/>
              </a:srgbClr>
            </a:outerShdw>
          </a:effectLst>
        </p:spPr>
      </p:sp>
      <p:sp>
        <p:nvSpPr>
          <p:cNvPr id="21" name="AutoShape 21"/>
          <p:cNvSpPr/>
          <p:nvPr/>
        </p:nvSpPr>
        <p:spPr>
          <a:xfrm>
            <a:off x="457086" y="4235351"/>
            <a:ext cx="11274781" cy="1303288"/>
          </a:xfrm>
          <a:prstGeom prst="roundRect">
            <a:avLst>
              <a:gd name="adj" fmla="val 410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2" name="AutoShape 22"/>
          <p:cNvSpPr/>
          <p:nvPr/>
        </p:nvSpPr>
        <p:spPr>
          <a:xfrm>
            <a:off x="466608" y="4244876"/>
            <a:ext cx="28567" cy="1284238"/>
          </a:xfrm>
          <a:prstGeom prst="roundRect">
            <a:avLst>
              <a:gd name="adj" fmla="val 50000"/>
            </a:avLst>
          </a:prstGeom>
          <a:solidFill>
            <a:srgbClr val="2DE7F0">
              <a:alpha val="70196"/>
            </a:srgbClr>
          </a:solidFill>
          <a:ln>
            <a:headEnd type="none"/>
            <a:tailEnd type="none"/>
          </a:ln>
        </p:spPr>
      </p:sp>
      <p:sp>
        <p:nvSpPr>
          <p:cNvPr id="23" name="TextBox 23"/>
          <p:cNvSpPr txBox="1"/>
          <p:nvPr/>
        </p:nvSpPr>
        <p:spPr>
          <a:xfrm>
            <a:off x="676106" y="4686896"/>
            <a:ext cx="485059"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2DE7F0">
                    <a:alpha val="30196"/>
                  </a:srgbClr>
                </a:solidFill>
                <a:latin typeface="Inter" panose="02000503000000020004"/>
                <a:ea typeface="Inter" panose="02000503000000020004"/>
                <a:cs typeface="Inter" panose="02000503000000020004"/>
              </a:rPr>
              <a:t>03</a:t>
            </a:r>
            <a:endParaRPr lang="en-US" sz="1100"/>
          </a:p>
        </p:txBody>
      </p:sp>
      <p:sp>
        <p:nvSpPr>
          <p:cNvPr id="24" name="TextBox 24"/>
          <p:cNvSpPr txBox="1"/>
          <p:nvPr/>
        </p:nvSpPr>
        <p:spPr>
          <a:xfrm>
            <a:off x="1304599" y="4501754"/>
            <a:ext cx="9503574"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2DE7F0">
                    <a:alpha val="100000"/>
                  </a:srgbClr>
                </a:solidFill>
                <a:latin typeface="Alibaba PuHuiTi 3.0 55 Regular"/>
                <a:ea typeface="Alibaba PuHuiTi 3.0 55 Regular"/>
                <a:cs typeface="Alibaba PuHuiTi 3.0 55 Regular"/>
              </a:rPr>
              <a:t>Semantic</a:t>
            </a:r>
            <a:r>
              <a:rPr sz="1600" b="1" i="0" strike="noStrike">
                <a:solidFill>
                  <a:srgbClr val="F4FAFF">
                    <a:alpha val="100000"/>
                  </a:srgbClr>
                </a:solidFill>
                <a:latin typeface="Alibaba PuHuiTi 3.0 55 Regular"/>
                <a:ea typeface="Alibaba PuHuiTi 3.0 55 Regular"/>
                <a:cs typeface="Alibaba PuHuiTi 3.0 55 Regular"/>
              </a:rPr>
              <a:t> Caching</a:t>
            </a:r>
            <a:endParaRPr lang="en-US" sz="1100"/>
          </a:p>
        </p:txBody>
      </p:sp>
      <p:sp>
        <p:nvSpPr>
          <p:cNvPr id="25" name="TextBox 25"/>
          <p:cNvSpPr txBox="1"/>
          <p:nvPr/>
        </p:nvSpPr>
        <p:spPr>
          <a:xfrm>
            <a:off x="1304599" y="4828431"/>
            <a:ext cx="9503574" cy="39811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Instantly returns cached responses for queries with a similarity score above 0.92, dropping latency to under 50ms for frequently asked</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compliance questions.</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6" name="AutoShape 26"/>
          <p:cNvSpPr/>
          <p:nvPr/>
        </p:nvSpPr>
        <p:spPr>
          <a:xfrm>
            <a:off x="11208122" y="4848821"/>
            <a:ext cx="76181" cy="76200"/>
          </a:xfrm>
          <a:prstGeom prst="ellipse">
            <a:avLst/>
          </a:prstGeom>
          <a:solidFill>
            <a:srgbClr val="2DE7F0">
              <a:alpha val="100000"/>
            </a:srgbClr>
          </a:solidFill>
          <a:ln>
            <a:headEnd type="none"/>
            <a:tailEnd type="none"/>
          </a:ln>
          <a:effectLst>
            <a:outerShdw blurRad="57150" rotWithShape="0">
              <a:srgbClr val="2DE7F0">
                <a:alpha val="50196"/>
              </a:srgbClr>
            </a:outerShdw>
          </a:effectLst>
        </p:spPr>
      </p:sp>
      <p:sp>
        <p:nvSpPr>
          <p:cNvPr id="27" name="AutoShape 27"/>
          <p:cNvSpPr/>
          <p:nvPr/>
        </p:nvSpPr>
        <p:spPr>
          <a:xfrm>
            <a:off x="457086" y="5672138"/>
            <a:ext cx="11274781" cy="728662"/>
          </a:xfrm>
          <a:prstGeom prst="roundRect">
            <a:avLst>
              <a:gd name="adj" fmla="val 13123"/>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8" name="AutoShape 28"/>
          <p:cNvSpPr/>
          <p:nvPr/>
        </p:nvSpPr>
        <p:spPr>
          <a:xfrm>
            <a:off x="457086" y="5672138"/>
            <a:ext cx="9522" cy="728662"/>
          </a:xfrm>
          <a:prstGeom prst="line">
            <a:avLst/>
          </a:prstGeom>
          <a:ln w="28575">
            <a:solidFill>
              <a:srgbClr val="2DE7F0">
                <a:alpha val="100000"/>
              </a:srgbClr>
            </a:solidFill>
            <a:prstDash val="solid"/>
            <a:headEnd type="none"/>
            <a:tailEnd type="none"/>
          </a:ln>
        </p:spPr>
      </p:sp>
      <p:sp>
        <p:nvSpPr>
          <p:cNvPr id="29" name="TextBox 29"/>
          <p:cNvSpPr txBox="1"/>
          <p:nvPr/>
        </p:nvSpPr>
        <p:spPr>
          <a:xfrm>
            <a:off x="695151" y="5853112"/>
            <a:ext cx="876080"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Key Insight</a:t>
            </a:r>
            <a:endParaRPr lang="en-US" sz="1100"/>
          </a:p>
        </p:txBody>
      </p:sp>
      <p:sp>
        <p:nvSpPr>
          <p:cNvPr id="30" name="TextBox 30"/>
          <p:cNvSpPr txBox="1"/>
          <p:nvPr/>
        </p:nvSpPr>
        <p:spPr>
          <a:xfrm>
            <a:off x="1637890" y="5843588"/>
            <a:ext cx="9874956" cy="383381"/>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By combining adaptive routing, parallel multi-path retrieval, and aggressive semantic distillation, the cognitive retrieval engine guarantees high-precision</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answers with </a:t>
            </a:r>
            <a:r>
              <a:rPr sz="1100" b="0" i="0" strike="noStrike">
                <a:solidFill>
                  <a:srgbClr val="2DE7F0">
                    <a:alpha val="100000"/>
                  </a:srgbClr>
                </a:solidFill>
                <a:latin typeface="Inter" panose="02000503000000020004"/>
                <a:ea typeface="Inter" panose="02000503000000020004"/>
                <a:cs typeface="Inter" panose="02000503000000020004"/>
              </a:rPr>
              <a:t>sub-50ms latency</a:t>
            </a:r>
            <a:r>
              <a:rPr sz="1100" b="0" i="0" strike="noStrike">
                <a:solidFill>
                  <a:srgbClr val="B9CED8">
                    <a:alpha val="100000"/>
                  </a:srgbClr>
                </a:solidFill>
                <a:latin typeface="Inter" panose="02000503000000020004"/>
                <a:ea typeface="Inter" panose="02000503000000020004"/>
                <a:cs typeface="Inter" panose="02000503000000020004"/>
              </a:rPr>
              <a:t> for frequent financial compliance queries.</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05718"/>
            <a:ext cx="57136" cy="57150"/>
          </a:xfrm>
          <a:prstGeom prst="ellipse">
            <a:avLst/>
          </a:prstGeom>
          <a:solidFill>
            <a:srgbClr val="2DE7F0">
              <a:alpha val="70196"/>
            </a:srgbClr>
          </a:solidFill>
          <a:ln>
            <a:headEnd type="none"/>
            <a:tailEnd type="none"/>
          </a:ln>
        </p:spPr>
      </p:sp>
      <p:sp>
        <p:nvSpPr>
          <p:cNvPr id="6" name="TextBox 6"/>
          <p:cNvSpPr txBox="1"/>
          <p:nvPr/>
        </p:nvSpPr>
        <p:spPr>
          <a:xfrm>
            <a:off x="628493" y="466725"/>
            <a:ext cx="1841139"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Core Platform Modules</a:t>
            </a:r>
            <a:endParaRPr lang="en-US" sz="1100"/>
          </a:p>
        </p:txBody>
      </p:sp>
      <p:sp>
        <p:nvSpPr>
          <p:cNvPr id="7" name="TextBox 7"/>
          <p:cNvSpPr txBox="1"/>
          <p:nvPr/>
        </p:nvSpPr>
        <p:spPr>
          <a:xfrm>
            <a:off x="457086" y="678061"/>
            <a:ext cx="11274781"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Inter" panose="02000503000000020004"/>
                <a:ea typeface="Inter" panose="02000503000000020004"/>
                <a:cs typeface="Inter" panose="02000503000000020004"/>
              </a:rPr>
              <a:t>Intelligent Practice </a:t>
            </a:r>
            <a:r>
              <a:rPr sz="3000" b="1" i="0" strike="noStrike">
                <a:solidFill>
                  <a:srgbClr val="2DE7F0">
                    <a:alpha val="100000"/>
                  </a:srgbClr>
                </a:solidFill>
                <a:latin typeface="Inter" panose="02000503000000020004"/>
                <a:ea typeface="Inter" panose="02000503000000020004"/>
                <a:cs typeface="Inter" panose="02000503000000020004"/>
              </a:rPr>
              <a:t>&amp;</a:t>
            </a:r>
            <a:r>
              <a:rPr sz="3000" b="1" i="0" strike="noStrike">
                <a:solidFill>
                  <a:srgbClr val="F4FAFF">
                    <a:alpha val="100000"/>
                  </a:srgbClr>
                </a:solidFill>
                <a:latin typeface="Inter" panose="02000503000000020004"/>
                <a:ea typeface="Inter" panose="02000503000000020004"/>
                <a:cs typeface="Inter" panose="02000503000000020004"/>
              </a:rPr>
              <a:t> Learning Center</a:t>
            </a:r>
            <a:endParaRPr lang="en-US" sz="1100"/>
          </a:p>
        </p:txBody>
      </p:sp>
      <p:sp>
        <p:nvSpPr>
          <p:cNvPr id="8" name="AutoShape 8"/>
          <p:cNvSpPr/>
          <p:nvPr/>
        </p:nvSpPr>
        <p:spPr>
          <a:xfrm>
            <a:off x="457086" y="1251348"/>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457086" y="1413271"/>
            <a:ext cx="11274781" cy="790575"/>
          </a:xfrm>
          <a:prstGeom prst="rect">
            <a:avLst/>
          </a:prstGeom>
          <a:blipFill rotWithShape="1">
            <a:blip r:embed="rId2">
              <a:alphaModFix amt="100000"/>
              <a:alphaModFix amt="100000"/>
            </a:blip>
            <a:stretch>
              <a:fillRect/>
            </a:stretch>
          </a:blipFill>
          <a:ln>
            <a:headEnd type="none"/>
            <a:tailEnd type="none"/>
          </a:ln>
        </p:spPr>
      </p:sp>
      <p:sp>
        <p:nvSpPr>
          <p:cNvPr id="10" name="TextBox 10"/>
          <p:cNvSpPr txBox="1"/>
          <p:nvPr/>
        </p:nvSpPr>
        <p:spPr>
          <a:xfrm>
            <a:off x="695151" y="1603773"/>
            <a:ext cx="11493801" cy="402580"/>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The platform closes the training loop by combining </a:t>
            </a:r>
            <a:r>
              <a:rPr sz="1200" b="0" i="0" strike="noStrike">
                <a:solidFill>
                  <a:srgbClr val="2DE7F0">
                    <a:alpha val="100000"/>
                  </a:srgbClr>
                </a:solidFill>
                <a:latin typeface="Inter" panose="02000503000000020004"/>
                <a:ea typeface="Inter" panose="02000503000000020004"/>
                <a:cs typeface="Inter" panose="02000503000000020004"/>
              </a:rPr>
              <a:t>LLM-driven semantic grading</a:t>
            </a:r>
            <a:r>
              <a:rPr sz="1200" b="0" i="0" strike="noStrike">
                <a:solidFill>
                  <a:srgbClr val="B9CED8">
                    <a:alpha val="100000"/>
                  </a:srgbClr>
                </a:solidFill>
                <a:latin typeface="Inter" panose="02000503000000020004"/>
                <a:ea typeface="Inter" panose="02000503000000020004"/>
                <a:cs typeface="Inter" panose="02000503000000020004"/>
              </a:rPr>
              <a:t> with </a:t>
            </a:r>
            <a:r>
              <a:rPr sz="1200" b="0" i="0" strike="noStrike">
                <a:solidFill>
                  <a:srgbClr val="2DE7F0">
                    <a:alpha val="100000"/>
                  </a:srgbClr>
                </a:solidFill>
                <a:latin typeface="Inter" panose="02000503000000020004"/>
                <a:ea typeface="Inter" panose="02000503000000020004"/>
                <a:cs typeface="Inter" panose="02000503000000020004"/>
              </a:rPr>
              <a:t>spaced repetition algorithms</a:t>
            </a:r>
            <a:r>
              <a:rPr sz="1200" b="0" i="0" strike="noStrike">
                <a:solidFill>
                  <a:srgbClr val="B9CED8">
                    <a:alpha val="100000"/>
                  </a:srgbClr>
                </a:solidFill>
                <a:latin typeface="Inter" panose="02000503000000020004"/>
                <a:ea typeface="Inter" panose="02000503000000020004"/>
                <a:cs typeface="Inter" panose="02000503000000020004"/>
              </a:rPr>
              <a:t>, while dynamically adapting learning</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pathways based on individual performance and knowledge retention metrics.</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1" name="AutoShape 11"/>
          <p:cNvSpPr/>
          <p:nvPr/>
        </p:nvSpPr>
        <p:spPr>
          <a:xfrm>
            <a:off x="457086" y="2389882"/>
            <a:ext cx="5404086" cy="4010918"/>
          </a:xfrm>
          <a:prstGeom prst="roundRect">
            <a:avLst>
              <a:gd name="adj" fmla="val 433"/>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2" name="AutoShape 12"/>
          <p:cNvSpPr/>
          <p:nvPr/>
        </p:nvSpPr>
        <p:spPr>
          <a:xfrm>
            <a:off x="695151" y="2628007"/>
            <a:ext cx="1139590" cy="266700"/>
          </a:xfrm>
          <a:prstGeom prst="roundRect">
            <a:avLst>
              <a:gd name="adj" fmla="val 48980"/>
            </a:avLst>
          </a:prstGeom>
          <a:solidFill>
            <a:srgbClr val="2DE7F0">
              <a:alpha val="5882"/>
            </a:srgbClr>
          </a:solidFill>
          <a:ln w="9525">
            <a:solidFill>
              <a:srgbClr val="2DE7F0">
                <a:alpha val="30196"/>
              </a:srgbClr>
            </a:solidFill>
            <a:prstDash val="solid"/>
            <a:headEnd type="none"/>
            <a:tailEnd type="none"/>
          </a:ln>
        </p:spPr>
      </p:sp>
      <p:sp>
        <p:nvSpPr>
          <p:cNvPr id="13" name="AutoShape 13"/>
          <p:cNvSpPr/>
          <p:nvPr/>
        </p:nvSpPr>
        <p:spPr>
          <a:xfrm>
            <a:off x="837990" y="2737545"/>
            <a:ext cx="47614" cy="47625"/>
          </a:xfrm>
          <a:prstGeom prst="ellipse">
            <a:avLst/>
          </a:prstGeom>
          <a:solidFill>
            <a:srgbClr val="2DE7F0">
              <a:alpha val="70196"/>
            </a:srgbClr>
          </a:solidFill>
          <a:ln>
            <a:headEnd type="none"/>
            <a:tailEnd type="none"/>
          </a:ln>
        </p:spPr>
      </p:sp>
      <p:sp>
        <p:nvSpPr>
          <p:cNvPr id="14" name="TextBox 14"/>
          <p:cNvSpPr txBox="1"/>
          <p:nvPr/>
        </p:nvSpPr>
        <p:spPr>
          <a:xfrm>
            <a:off x="961785" y="2694682"/>
            <a:ext cx="75868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Module 01</a:t>
            </a:r>
            <a:endParaRPr lang="en-US" sz="1100"/>
          </a:p>
        </p:txBody>
      </p:sp>
      <p:sp>
        <p:nvSpPr>
          <p:cNvPr id="15" name="TextBox 15"/>
          <p:cNvSpPr txBox="1"/>
          <p:nvPr/>
        </p:nvSpPr>
        <p:spPr>
          <a:xfrm>
            <a:off x="695151" y="3009007"/>
            <a:ext cx="4927956"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F4FAFF">
                    <a:alpha val="100000"/>
                  </a:srgbClr>
                </a:solidFill>
                <a:latin typeface="Inter" panose="02000503000000020004"/>
                <a:ea typeface="Inter" panose="02000503000000020004"/>
                <a:cs typeface="Inter" panose="02000503000000020004"/>
              </a:rPr>
              <a:t>Intelligent Practice Engine</a:t>
            </a:r>
            <a:endParaRPr lang="en-US" sz="1100"/>
          </a:p>
        </p:txBody>
      </p:sp>
      <p:sp>
        <p:nvSpPr>
          <p:cNvPr id="16" name="AutoShape 16"/>
          <p:cNvSpPr/>
          <p:nvPr/>
        </p:nvSpPr>
        <p:spPr>
          <a:xfrm>
            <a:off x="695151" y="3479155"/>
            <a:ext cx="4927956" cy="9525"/>
          </a:xfrm>
          <a:prstGeom prst="rect">
            <a:avLst/>
          </a:prstGeom>
          <a:solidFill>
            <a:srgbClr val="B9CED8">
              <a:alpha val="14117"/>
            </a:srgbClr>
          </a:solidFill>
          <a:ln>
            <a:headEnd type="none"/>
            <a:tailEnd type="none"/>
          </a:ln>
        </p:spPr>
      </p:sp>
      <p:sp>
        <p:nvSpPr>
          <p:cNvPr id="17" name="AutoShape 17"/>
          <p:cNvSpPr/>
          <p:nvPr/>
        </p:nvSpPr>
        <p:spPr>
          <a:xfrm>
            <a:off x="695151" y="3679180"/>
            <a:ext cx="266633" cy="266700"/>
          </a:xfrm>
          <a:prstGeom prst="roundRect">
            <a:avLst>
              <a:gd name="adj" fmla="val 48992"/>
            </a:avLst>
          </a:prstGeom>
          <a:solidFill>
            <a:srgbClr val="2DE7F0">
              <a:alpha val="5882"/>
            </a:srgbClr>
          </a:solidFill>
          <a:ln w="9525">
            <a:solidFill>
              <a:srgbClr val="2DE7F0">
                <a:alpha val="45098"/>
              </a:srgbClr>
            </a:solidFill>
            <a:prstDash val="solid"/>
            <a:headEnd type="none"/>
            <a:tailEnd type="none"/>
          </a:ln>
        </p:spPr>
      </p:sp>
      <p:sp>
        <p:nvSpPr>
          <p:cNvPr id="18" name="TextBox 18"/>
          <p:cNvSpPr txBox="1"/>
          <p:nvPr/>
        </p:nvSpPr>
        <p:spPr>
          <a:xfrm>
            <a:off x="764785" y="3745855"/>
            <a:ext cx="196999" cy="133350"/>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2DE7F0">
                    <a:alpha val="100000"/>
                  </a:srgbClr>
                </a:solidFill>
                <a:latin typeface="Inter" panose="02000503000000020004"/>
                <a:ea typeface="Inter" panose="02000503000000020004"/>
                <a:cs typeface="Inter" panose="02000503000000020004"/>
              </a:rPr>
              <a:t>01</a:t>
            </a:r>
            <a:endParaRPr lang="en-US" sz="1100"/>
          </a:p>
        </p:txBody>
      </p:sp>
      <p:sp>
        <p:nvSpPr>
          <p:cNvPr id="19" name="TextBox 19"/>
          <p:cNvSpPr txBox="1"/>
          <p:nvPr/>
        </p:nvSpPr>
        <p:spPr>
          <a:xfrm>
            <a:off x="1114147" y="3698230"/>
            <a:ext cx="4528749" cy="7054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F4FAFF">
                    <a:alpha val="100000"/>
                  </a:srgbClr>
                </a:solidFill>
                <a:latin typeface="Inter" panose="02000503000000020004"/>
                <a:ea typeface="Inter" panose="02000503000000020004"/>
                <a:cs typeface="Inter" panose="02000503000000020004"/>
              </a:rPr>
              <a:t>Generates scenario-based and step-by-step questions from</a:t>
            </a:r>
            <a:endParaRPr lang="en-US" sz="1100"/>
          </a:p>
          <a:p>
            <a:pPr algn="l"/>
            <a:r>
              <a:rPr sz="1200" b="0" i="0" strike="noStrike">
                <a:solidFill>
                  <a:srgbClr val="F4FAFF">
                    <a:alpha val="100000"/>
                  </a:srgbClr>
                </a:solidFill>
                <a:latin typeface="Inter" panose="02000503000000020004"/>
                <a:ea typeface="Inter" panose="02000503000000020004"/>
                <a:cs typeface="Inter" panose="02000503000000020004"/>
              </a:rPr>
              <a:t>knowledge fragments, using </a:t>
            </a:r>
            <a:r>
              <a:rPr sz="1200" b="0" i="0" strike="noStrike">
                <a:solidFill>
                  <a:srgbClr val="2DE7F0">
                    <a:alpha val="100000"/>
                  </a:srgbClr>
                </a:solidFill>
                <a:latin typeface="Inter" panose="02000503000000020004"/>
                <a:ea typeface="Inter" panose="02000503000000020004"/>
                <a:cs typeface="Inter" panose="02000503000000020004"/>
              </a:rPr>
              <a:t>LLM semantic grading</a:t>
            </a:r>
            <a:r>
              <a:rPr sz="1200" b="0" i="0" strike="noStrike">
                <a:solidFill>
                  <a:srgbClr val="F4FAFF">
                    <a:alpha val="100000"/>
                  </a:srgbClr>
                </a:solidFill>
                <a:latin typeface="Inter" panose="02000503000000020004"/>
                <a:ea typeface="Inter" panose="02000503000000020004"/>
                <a:cs typeface="Inter" panose="02000503000000020004"/>
              </a:rPr>
              <a:t> to evaluate</a:t>
            </a:r>
            <a:endParaRPr sz="1200" b="0" i="0" strike="noStrike">
              <a:solidFill>
                <a:srgbClr val="F4FAFF">
                  <a:alpha val="100000"/>
                </a:srgbClr>
              </a:solidFill>
              <a:latin typeface="Inter" panose="02000503000000020004"/>
              <a:ea typeface="Inter" panose="02000503000000020004"/>
              <a:cs typeface="Inter" panose="02000503000000020004"/>
            </a:endParaRPr>
          </a:p>
          <a:p>
            <a:pPr algn="l"/>
            <a:r>
              <a:rPr sz="1200" b="0" i="0" strike="noStrike">
                <a:solidFill>
                  <a:srgbClr val="F4FAFF">
                    <a:alpha val="100000"/>
                  </a:srgbClr>
                </a:solidFill>
                <a:latin typeface="Inter" panose="02000503000000020004"/>
                <a:ea typeface="Inter" panose="02000503000000020004"/>
                <a:cs typeface="Inter" panose="02000503000000020004"/>
              </a:rPr>
              <a:t>correctness against reference answers.</a:t>
            </a:r>
            <a:endParaRPr sz="1200" b="0" i="0" strike="noStrike">
              <a:solidFill>
                <a:srgbClr val="F4FAFF">
                  <a:alpha val="100000"/>
                </a:srgbClr>
              </a:solidFill>
              <a:latin typeface="Inter" panose="02000503000000020004"/>
              <a:ea typeface="Inter" panose="02000503000000020004"/>
              <a:cs typeface="Inter" panose="02000503000000020004"/>
            </a:endParaRPr>
          </a:p>
        </p:txBody>
      </p:sp>
      <p:sp>
        <p:nvSpPr>
          <p:cNvPr id="20" name="AutoShape 20"/>
          <p:cNvSpPr/>
          <p:nvPr/>
        </p:nvSpPr>
        <p:spPr>
          <a:xfrm>
            <a:off x="695151" y="4656385"/>
            <a:ext cx="266633" cy="266700"/>
          </a:xfrm>
          <a:prstGeom prst="roundRect">
            <a:avLst>
              <a:gd name="adj" fmla="val 48992"/>
            </a:avLst>
          </a:prstGeom>
          <a:solidFill>
            <a:srgbClr val="2DE7F0">
              <a:alpha val="5882"/>
            </a:srgbClr>
          </a:solidFill>
          <a:ln w="9525">
            <a:solidFill>
              <a:srgbClr val="2DE7F0">
                <a:alpha val="45098"/>
              </a:srgbClr>
            </a:solidFill>
            <a:prstDash val="solid"/>
            <a:headEnd type="none"/>
            <a:tailEnd type="none"/>
          </a:ln>
        </p:spPr>
      </p:sp>
      <p:sp>
        <p:nvSpPr>
          <p:cNvPr id="21" name="TextBox 21"/>
          <p:cNvSpPr txBox="1"/>
          <p:nvPr/>
        </p:nvSpPr>
        <p:spPr>
          <a:xfrm>
            <a:off x="764785" y="4723060"/>
            <a:ext cx="196999" cy="133350"/>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2DE7F0">
                    <a:alpha val="100000"/>
                  </a:srgbClr>
                </a:solidFill>
                <a:latin typeface="Inter" panose="02000503000000020004"/>
                <a:ea typeface="Inter" panose="02000503000000020004"/>
                <a:cs typeface="Inter" panose="02000503000000020004"/>
              </a:rPr>
              <a:t>02</a:t>
            </a:r>
            <a:endParaRPr lang="en-US" sz="1100"/>
          </a:p>
        </p:txBody>
      </p:sp>
      <p:sp>
        <p:nvSpPr>
          <p:cNvPr id="22" name="TextBox 22"/>
          <p:cNvSpPr txBox="1"/>
          <p:nvPr/>
        </p:nvSpPr>
        <p:spPr>
          <a:xfrm>
            <a:off x="1114147" y="4675435"/>
            <a:ext cx="4546158" cy="7054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F4FAFF">
                    <a:alpha val="100000"/>
                  </a:srgbClr>
                </a:solidFill>
                <a:latin typeface="Inter" panose="02000503000000020004"/>
                <a:ea typeface="Inter" panose="02000503000000020004"/>
                <a:cs typeface="Inter" panose="02000503000000020004"/>
              </a:rPr>
              <a:t>Implements the </a:t>
            </a:r>
            <a:r>
              <a:rPr sz="1200" b="0" i="0" strike="noStrike">
                <a:solidFill>
                  <a:srgbClr val="7BB7FF">
                    <a:alpha val="100000"/>
                  </a:srgbClr>
                </a:solidFill>
                <a:latin typeface="Inter" panose="02000503000000020004"/>
                <a:ea typeface="Inter" panose="02000503000000020004"/>
                <a:cs typeface="Inter" panose="02000503000000020004"/>
              </a:rPr>
              <a:t>SM-2 spaced repetition algorithm</a:t>
            </a:r>
            <a:r>
              <a:rPr sz="1200" b="0" i="0" strike="noStrike">
                <a:solidFill>
                  <a:srgbClr val="F4FAFF">
                    <a:alpha val="100000"/>
                  </a:srgbClr>
                </a:solidFill>
                <a:latin typeface="Inter" panose="02000503000000020004"/>
                <a:ea typeface="Inter" panose="02000503000000020004"/>
                <a:cs typeface="Inter" panose="02000503000000020004"/>
              </a:rPr>
              <a:t> to</a:t>
            </a:r>
            <a:endParaRPr lang="en-US" sz="1100"/>
          </a:p>
          <a:p>
            <a:pPr algn="l"/>
            <a:r>
              <a:rPr sz="1200" b="0" i="0" strike="noStrike">
                <a:solidFill>
                  <a:srgbClr val="F4FAFF">
                    <a:alpha val="100000"/>
                  </a:srgbClr>
                </a:solidFill>
                <a:latin typeface="Inter" panose="02000503000000020004"/>
                <a:ea typeface="Inter" panose="02000503000000020004"/>
                <a:cs typeface="Inter" panose="02000503000000020004"/>
              </a:rPr>
              <a:t>dynamically schedule wrong-question reviews, optimizing long-</a:t>
            </a:r>
            <a:endParaRPr sz="1200" b="0" i="0" strike="noStrike">
              <a:solidFill>
                <a:srgbClr val="F4FAFF">
                  <a:alpha val="100000"/>
                </a:srgbClr>
              </a:solidFill>
              <a:latin typeface="Inter" panose="02000503000000020004"/>
              <a:ea typeface="Inter" panose="02000503000000020004"/>
              <a:cs typeface="Inter" panose="02000503000000020004"/>
            </a:endParaRPr>
          </a:p>
          <a:p>
            <a:pPr algn="l"/>
            <a:r>
              <a:rPr sz="1200" b="0" i="0" strike="noStrike">
                <a:solidFill>
                  <a:srgbClr val="F4FAFF">
                    <a:alpha val="100000"/>
                  </a:srgbClr>
                </a:solidFill>
                <a:latin typeface="Inter" panose="02000503000000020004"/>
                <a:ea typeface="Inter" panose="02000503000000020004"/>
                <a:cs typeface="Inter" panose="02000503000000020004"/>
              </a:rPr>
              <a:t>term memory retention for critical financial protocols.</a:t>
            </a:r>
            <a:endParaRPr sz="1200" b="0" i="0" strike="noStrike">
              <a:solidFill>
                <a:srgbClr val="F4FAFF">
                  <a:alpha val="100000"/>
                </a:srgbClr>
              </a:solidFill>
              <a:latin typeface="Inter" panose="02000503000000020004"/>
              <a:ea typeface="Inter" panose="02000503000000020004"/>
              <a:cs typeface="Inter" panose="02000503000000020004"/>
            </a:endParaRPr>
          </a:p>
        </p:txBody>
      </p:sp>
      <p:sp>
        <p:nvSpPr>
          <p:cNvPr id="23" name="AutoShape 23"/>
          <p:cNvSpPr/>
          <p:nvPr/>
        </p:nvSpPr>
        <p:spPr>
          <a:xfrm>
            <a:off x="695151" y="6143625"/>
            <a:ext cx="4927956" cy="19050"/>
          </a:xfrm>
          <a:prstGeom prst="roundRect">
            <a:avLst>
              <a:gd name="adj" fmla="val 50000"/>
            </a:avLst>
          </a:prstGeom>
          <a:gradFill>
            <a:gsLst>
              <a:gs pos="0">
                <a:srgbClr val="2DE7F0">
                  <a:alpha val="100000"/>
                </a:srgbClr>
              </a:gs>
              <a:gs pos="100000">
                <a:srgbClr val="2DE7F0">
                  <a:alpha val="0"/>
                </a:srgbClr>
              </a:gs>
            </a:gsLst>
            <a:lin ang="5400000"/>
          </a:gradFill>
          <a:ln>
            <a:headEnd type="none"/>
            <a:tailEnd type="none"/>
          </a:ln>
        </p:spPr>
      </p:sp>
      <p:sp>
        <p:nvSpPr>
          <p:cNvPr id="24" name="AutoShape 24"/>
          <p:cNvSpPr/>
          <p:nvPr/>
        </p:nvSpPr>
        <p:spPr>
          <a:xfrm>
            <a:off x="6089715" y="2389882"/>
            <a:ext cx="9522" cy="4010918"/>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5" name="AutoShape 25"/>
          <p:cNvSpPr/>
          <p:nvPr/>
        </p:nvSpPr>
        <p:spPr>
          <a:xfrm>
            <a:off x="6327780" y="2389882"/>
            <a:ext cx="5404086" cy="4010918"/>
          </a:xfrm>
          <a:prstGeom prst="roundRect">
            <a:avLst>
              <a:gd name="adj" fmla="val 433"/>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6" name="AutoShape 26"/>
          <p:cNvSpPr/>
          <p:nvPr/>
        </p:nvSpPr>
        <p:spPr>
          <a:xfrm>
            <a:off x="6565845" y="2628007"/>
            <a:ext cx="1139590" cy="266700"/>
          </a:xfrm>
          <a:prstGeom prst="roundRect">
            <a:avLst>
              <a:gd name="adj" fmla="val 48980"/>
            </a:avLst>
          </a:prstGeom>
          <a:solidFill>
            <a:srgbClr val="2DE7F0">
              <a:alpha val="5882"/>
            </a:srgbClr>
          </a:solidFill>
          <a:ln w="9525">
            <a:solidFill>
              <a:srgbClr val="2DE7F0">
                <a:alpha val="30196"/>
              </a:srgbClr>
            </a:solidFill>
            <a:prstDash val="solid"/>
            <a:headEnd type="none"/>
            <a:tailEnd type="none"/>
          </a:ln>
        </p:spPr>
      </p:sp>
      <p:sp>
        <p:nvSpPr>
          <p:cNvPr id="27" name="AutoShape 27"/>
          <p:cNvSpPr/>
          <p:nvPr/>
        </p:nvSpPr>
        <p:spPr>
          <a:xfrm>
            <a:off x="6708685" y="2737545"/>
            <a:ext cx="47614" cy="47625"/>
          </a:xfrm>
          <a:prstGeom prst="ellipse">
            <a:avLst/>
          </a:prstGeom>
          <a:solidFill>
            <a:srgbClr val="2DE7F0">
              <a:alpha val="70196"/>
            </a:srgbClr>
          </a:solidFill>
          <a:ln>
            <a:headEnd type="none"/>
            <a:tailEnd type="none"/>
          </a:ln>
        </p:spPr>
      </p:sp>
      <p:sp>
        <p:nvSpPr>
          <p:cNvPr id="28" name="TextBox 28"/>
          <p:cNvSpPr txBox="1"/>
          <p:nvPr/>
        </p:nvSpPr>
        <p:spPr>
          <a:xfrm>
            <a:off x="6832479" y="2694682"/>
            <a:ext cx="75868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Module 02</a:t>
            </a:r>
            <a:endParaRPr lang="en-US" sz="1100"/>
          </a:p>
        </p:txBody>
      </p:sp>
      <p:sp>
        <p:nvSpPr>
          <p:cNvPr id="29" name="TextBox 29"/>
          <p:cNvSpPr txBox="1"/>
          <p:nvPr/>
        </p:nvSpPr>
        <p:spPr>
          <a:xfrm>
            <a:off x="6565845" y="3009007"/>
            <a:ext cx="4927956" cy="295275"/>
          </a:xfrm>
          <a:prstGeom prst="rect">
            <a:avLst/>
          </a:prstGeom>
          <a:ln>
            <a:headEnd type="none"/>
            <a:tailEnd type="none"/>
          </a:ln>
        </p:spPr>
        <p:txBody>
          <a:bodyPr vert="horz" wrap="none" lIns="0" tIns="0" rIns="0" bIns="0" rtlCol="0" anchor="t" anchorCtr="0"/>
          <a:lstStyle/>
          <a:p>
            <a:pPr algn="l">
              <a:defRPr/>
            </a:pPr>
            <a:r>
              <a:rPr lang="en-US" sz="2100" b="1" i="0" strike="noStrike">
                <a:solidFill>
                  <a:srgbClr val="F4FAFF">
                    <a:alpha val="100000"/>
                  </a:srgbClr>
                </a:solidFill>
                <a:latin typeface="Inter" panose="02000503000000020004"/>
                <a:ea typeface="Inter" panose="02000503000000020004"/>
                <a:cs typeface="Inter" panose="02000503000000020004"/>
              </a:rPr>
              <a:t>Personalized Learning Center</a:t>
            </a:r>
            <a:endParaRPr lang="en-US" sz="1100"/>
          </a:p>
        </p:txBody>
      </p:sp>
      <p:sp>
        <p:nvSpPr>
          <p:cNvPr id="30" name="AutoShape 30"/>
          <p:cNvSpPr/>
          <p:nvPr/>
        </p:nvSpPr>
        <p:spPr>
          <a:xfrm>
            <a:off x="6565845" y="3479155"/>
            <a:ext cx="4927956" cy="9525"/>
          </a:xfrm>
          <a:prstGeom prst="rect">
            <a:avLst/>
          </a:prstGeom>
          <a:solidFill>
            <a:srgbClr val="B9CED8">
              <a:alpha val="14117"/>
            </a:srgbClr>
          </a:solidFill>
          <a:ln>
            <a:headEnd type="none"/>
            <a:tailEnd type="none"/>
          </a:ln>
        </p:spPr>
      </p:sp>
      <p:sp>
        <p:nvSpPr>
          <p:cNvPr id="31" name="AutoShape 31"/>
          <p:cNvSpPr/>
          <p:nvPr/>
        </p:nvSpPr>
        <p:spPr>
          <a:xfrm>
            <a:off x="6565845" y="3679180"/>
            <a:ext cx="266633" cy="266700"/>
          </a:xfrm>
          <a:prstGeom prst="roundRect">
            <a:avLst>
              <a:gd name="adj" fmla="val 48992"/>
            </a:avLst>
          </a:prstGeom>
          <a:solidFill>
            <a:srgbClr val="2DE7F0">
              <a:alpha val="5882"/>
            </a:srgbClr>
          </a:solidFill>
          <a:ln w="9525">
            <a:solidFill>
              <a:srgbClr val="2DE7F0">
                <a:alpha val="45098"/>
              </a:srgbClr>
            </a:solidFill>
            <a:prstDash val="solid"/>
            <a:headEnd type="none"/>
            <a:tailEnd type="none"/>
          </a:ln>
        </p:spPr>
      </p:sp>
      <p:sp>
        <p:nvSpPr>
          <p:cNvPr id="32" name="TextBox 32"/>
          <p:cNvSpPr txBox="1"/>
          <p:nvPr/>
        </p:nvSpPr>
        <p:spPr>
          <a:xfrm>
            <a:off x="6635479" y="3745855"/>
            <a:ext cx="196999" cy="133350"/>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2DE7F0">
                    <a:alpha val="100000"/>
                  </a:srgbClr>
                </a:solidFill>
                <a:latin typeface="Inter" panose="02000503000000020004"/>
                <a:ea typeface="Inter" panose="02000503000000020004"/>
                <a:cs typeface="Inter" panose="02000503000000020004"/>
              </a:rPr>
              <a:t>01</a:t>
            </a:r>
            <a:endParaRPr lang="en-US" sz="1100"/>
          </a:p>
        </p:txBody>
      </p:sp>
      <p:sp>
        <p:nvSpPr>
          <p:cNvPr id="33" name="TextBox 33"/>
          <p:cNvSpPr txBox="1"/>
          <p:nvPr/>
        </p:nvSpPr>
        <p:spPr>
          <a:xfrm>
            <a:off x="6984841" y="3698230"/>
            <a:ext cx="4508960" cy="7054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F4FAFF">
                    <a:alpha val="100000"/>
                  </a:srgbClr>
                </a:solidFill>
                <a:latin typeface="Inter" panose="02000503000000020004"/>
                <a:ea typeface="Inter" panose="02000503000000020004"/>
                <a:cs typeface="Inter" panose="02000503000000020004"/>
              </a:rPr>
              <a:t>Manages video course uploads and tracks granular progress</a:t>
            </a:r>
            <a:endParaRPr lang="en-US" sz="1100"/>
          </a:p>
          <a:p>
            <a:pPr algn="l"/>
            <a:r>
              <a:rPr sz="1200" b="0" i="0" strike="noStrike">
                <a:solidFill>
                  <a:srgbClr val="F4FAFF">
                    <a:alpha val="100000"/>
                  </a:srgbClr>
                </a:solidFill>
                <a:latin typeface="Inter" panose="02000503000000020004"/>
                <a:ea typeface="Inter" panose="02000503000000020004"/>
                <a:cs typeface="Inter" panose="02000503000000020004"/>
              </a:rPr>
              <a:t>metrics, including </a:t>
            </a:r>
            <a:r>
              <a:rPr sz="1200" b="0" i="0" strike="noStrike">
                <a:solidFill>
                  <a:srgbClr val="2DE7F0">
                    <a:alpha val="100000"/>
                  </a:srgbClr>
                </a:solidFill>
                <a:latin typeface="Inter" panose="02000503000000020004"/>
                <a:ea typeface="Inter" panose="02000503000000020004"/>
                <a:cs typeface="Inter" panose="02000503000000020004"/>
              </a:rPr>
              <a:t>playback percentage</a:t>
            </a:r>
            <a:r>
              <a:rPr sz="1200" b="0" i="0" strike="noStrike">
                <a:solidFill>
                  <a:srgbClr val="F4FAFF">
                    <a:alpha val="100000"/>
                  </a:srgbClr>
                </a:solidFill>
                <a:latin typeface="Inter" panose="02000503000000020004"/>
                <a:ea typeface="Inter" panose="02000503000000020004"/>
                <a:cs typeface="Inter" panose="02000503000000020004"/>
              </a:rPr>
              <a:t> and last-watched</a:t>
            </a:r>
            <a:endParaRPr sz="1200" b="0" i="0" strike="noStrike">
              <a:solidFill>
                <a:srgbClr val="F4FAFF">
                  <a:alpha val="100000"/>
                </a:srgbClr>
              </a:solidFill>
              <a:latin typeface="Inter" panose="02000503000000020004"/>
              <a:ea typeface="Inter" panose="02000503000000020004"/>
              <a:cs typeface="Inter" panose="02000503000000020004"/>
            </a:endParaRPr>
          </a:p>
          <a:p>
            <a:pPr algn="l"/>
            <a:r>
              <a:rPr sz="1200" b="0" i="0" strike="noStrike">
                <a:solidFill>
                  <a:srgbClr val="F4FAFF">
                    <a:alpha val="100000"/>
                  </a:srgbClr>
                </a:solidFill>
                <a:latin typeface="Inter" panose="02000503000000020004"/>
                <a:ea typeface="Inter" panose="02000503000000020004"/>
                <a:cs typeface="Inter" panose="02000503000000020004"/>
              </a:rPr>
              <a:t>position, to maintain learning continuity.</a:t>
            </a:r>
            <a:endParaRPr sz="1200" b="0" i="0" strike="noStrike">
              <a:solidFill>
                <a:srgbClr val="F4FAFF">
                  <a:alpha val="100000"/>
                </a:srgbClr>
              </a:solidFill>
              <a:latin typeface="Inter" panose="02000503000000020004"/>
              <a:ea typeface="Inter" panose="02000503000000020004"/>
              <a:cs typeface="Inter" panose="02000503000000020004"/>
            </a:endParaRPr>
          </a:p>
        </p:txBody>
      </p:sp>
      <p:sp>
        <p:nvSpPr>
          <p:cNvPr id="34" name="AutoShape 34"/>
          <p:cNvSpPr/>
          <p:nvPr/>
        </p:nvSpPr>
        <p:spPr>
          <a:xfrm>
            <a:off x="6565845" y="4656385"/>
            <a:ext cx="266633" cy="266700"/>
          </a:xfrm>
          <a:prstGeom prst="roundRect">
            <a:avLst>
              <a:gd name="adj" fmla="val 48992"/>
            </a:avLst>
          </a:prstGeom>
          <a:solidFill>
            <a:srgbClr val="2DE7F0">
              <a:alpha val="5882"/>
            </a:srgbClr>
          </a:solidFill>
          <a:ln w="9525">
            <a:solidFill>
              <a:srgbClr val="2DE7F0">
                <a:alpha val="45098"/>
              </a:srgbClr>
            </a:solidFill>
            <a:prstDash val="solid"/>
            <a:headEnd type="none"/>
            <a:tailEnd type="none"/>
          </a:ln>
        </p:spPr>
      </p:sp>
      <p:sp>
        <p:nvSpPr>
          <p:cNvPr id="35" name="TextBox 35"/>
          <p:cNvSpPr txBox="1"/>
          <p:nvPr/>
        </p:nvSpPr>
        <p:spPr>
          <a:xfrm>
            <a:off x="6635479" y="4723060"/>
            <a:ext cx="196999" cy="133350"/>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2DE7F0">
                    <a:alpha val="100000"/>
                  </a:srgbClr>
                </a:solidFill>
                <a:latin typeface="Inter" panose="02000503000000020004"/>
                <a:ea typeface="Inter" panose="02000503000000020004"/>
                <a:cs typeface="Inter" panose="02000503000000020004"/>
              </a:rPr>
              <a:t>02</a:t>
            </a:r>
            <a:endParaRPr lang="en-US" sz="1100"/>
          </a:p>
        </p:txBody>
      </p:sp>
      <p:sp>
        <p:nvSpPr>
          <p:cNvPr id="36" name="TextBox 36"/>
          <p:cNvSpPr txBox="1"/>
          <p:nvPr/>
        </p:nvSpPr>
        <p:spPr>
          <a:xfrm>
            <a:off x="6984841" y="4675435"/>
            <a:ext cx="4508960" cy="7054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F4FAFF">
                    <a:alpha val="100000"/>
                  </a:srgbClr>
                </a:solidFill>
                <a:latin typeface="Inter" panose="02000503000000020004"/>
                <a:ea typeface="Inter" panose="02000503000000020004"/>
                <a:cs typeface="Inter" panose="02000503000000020004"/>
              </a:rPr>
              <a:t>Analyzes individual completion status and examination</a:t>
            </a:r>
            <a:endParaRPr lang="en-US" sz="1100"/>
          </a:p>
          <a:p>
            <a:pPr algn="l"/>
            <a:r>
              <a:rPr sz="1200" b="0" i="0" strike="noStrike">
                <a:solidFill>
                  <a:srgbClr val="F4FAFF">
                    <a:alpha val="100000"/>
                  </a:srgbClr>
                </a:solidFill>
                <a:latin typeface="Inter" panose="02000503000000020004"/>
                <a:ea typeface="Inter" panose="02000503000000020004"/>
                <a:cs typeface="Inter" panose="02000503000000020004"/>
              </a:rPr>
              <a:t>performance to recommend subsequent courses, providing</a:t>
            </a:r>
            <a:endParaRPr sz="1200" b="0" i="0" strike="noStrike">
              <a:solidFill>
                <a:srgbClr val="F4FAFF">
                  <a:alpha val="100000"/>
                </a:srgbClr>
              </a:solidFill>
              <a:latin typeface="Inter" panose="02000503000000020004"/>
              <a:ea typeface="Inter" panose="02000503000000020004"/>
              <a:cs typeface="Inter" panose="02000503000000020004"/>
            </a:endParaRPr>
          </a:p>
          <a:p>
            <a:pPr algn="l"/>
            <a:r>
              <a:rPr sz="1200" b="0" i="0" strike="noStrike">
                <a:solidFill>
                  <a:srgbClr val="7BB7FF">
                    <a:alpha val="100000"/>
                  </a:srgbClr>
                </a:solidFill>
                <a:latin typeface="Inter" panose="02000503000000020004"/>
                <a:ea typeface="Inter" panose="02000503000000020004"/>
                <a:cs typeface="Inter" panose="02000503000000020004"/>
              </a:rPr>
              <a:t>clear rationales</a:t>
            </a:r>
            <a:r>
              <a:rPr sz="1200" b="0" i="0" strike="noStrike">
                <a:solidFill>
                  <a:srgbClr val="F4FAFF">
                    <a:alpha val="100000"/>
                  </a:srgbClr>
                </a:solidFill>
                <a:latin typeface="Inter" panose="02000503000000020004"/>
                <a:ea typeface="Inter" panose="02000503000000020004"/>
                <a:cs typeface="Inter" panose="02000503000000020004"/>
              </a:rPr>
              <a:t> for each personalized pathway adjustment.</a:t>
            </a:r>
            <a:endParaRPr sz="1200" b="0" i="0" strike="noStrike">
              <a:solidFill>
                <a:srgbClr val="F4FAFF">
                  <a:alpha val="100000"/>
                </a:srgbClr>
              </a:solidFill>
              <a:latin typeface="Inter" panose="02000503000000020004"/>
              <a:ea typeface="Inter" panose="02000503000000020004"/>
              <a:cs typeface="Inter" panose="02000503000000020004"/>
            </a:endParaRPr>
          </a:p>
        </p:txBody>
      </p:sp>
      <p:sp>
        <p:nvSpPr>
          <p:cNvPr id="37" name="AutoShape 37"/>
          <p:cNvSpPr/>
          <p:nvPr/>
        </p:nvSpPr>
        <p:spPr>
          <a:xfrm>
            <a:off x="6565845" y="6143625"/>
            <a:ext cx="4927956" cy="19050"/>
          </a:xfrm>
          <a:prstGeom prst="roundRect">
            <a:avLst>
              <a:gd name="adj" fmla="val 50000"/>
            </a:avLst>
          </a:prstGeom>
          <a:gradFill>
            <a:gsLst>
              <a:gs pos="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AutoShape 6"/>
          <p:cNvSpPr/>
          <p:nvPr/>
        </p:nvSpPr>
        <p:spPr>
          <a:xfrm>
            <a:off x="0" y="0"/>
            <a:ext cx="12188952" cy="6858000"/>
          </a:xfrm>
          <a:prstGeom prst="rect">
            <a:avLst/>
          </a:prstGeom>
          <a:blipFill rotWithShape="1">
            <a:blip r:embed="rId3">
              <a:alphaModFix amt="100000"/>
              <a:alphaModFix amt="100000"/>
            </a:blip>
            <a:stretch>
              <a:fillRect/>
            </a:stretch>
          </a:blipFill>
          <a:ln>
            <a:headEnd type="none"/>
            <a:tailEnd type="none"/>
          </a:ln>
        </p:spPr>
      </p:sp>
      <p:sp>
        <p:nvSpPr>
          <p:cNvPr id="7" name="AutoShape 7"/>
          <p:cNvSpPr/>
          <p:nvPr/>
        </p:nvSpPr>
        <p:spPr>
          <a:xfrm>
            <a:off x="5107992" y="2091929"/>
            <a:ext cx="380905" cy="9525"/>
          </a:xfrm>
          <a:prstGeom prst="rect">
            <a:avLst/>
          </a:prstGeom>
          <a:gradFill>
            <a:gsLst>
              <a:gs pos="0">
                <a:srgbClr val="2DE7F0">
                  <a:alpha val="0"/>
                </a:srgbClr>
              </a:gs>
              <a:gs pos="100000">
                <a:srgbClr val="2DE7F0">
                  <a:alpha val="100000"/>
                </a:srgbClr>
              </a:gs>
            </a:gsLst>
            <a:lin ang="5400000"/>
          </a:gradFill>
          <a:ln>
            <a:headEnd type="none"/>
            <a:tailEnd type="none"/>
          </a:ln>
        </p:spPr>
      </p:sp>
      <p:sp>
        <p:nvSpPr>
          <p:cNvPr id="8" name="TextBox 8"/>
          <p:cNvSpPr txBox="1"/>
          <p:nvPr/>
        </p:nvSpPr>
        <p:spPr>
          <a:xfrm>
            <a:off x="5603169" y="2015727"/>
            <a:ext cx="1020557"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2DE7F0">
                    <a:alpha val="100000"/>
                  </a:srgbClr>
                </a:solidFill>
                <a:latin typeface="Inter" panose="02000503000000020004"/>
                <a:ea typeface="Inter" panose="02000503000000020004"/>
                <a:cs typeface="Inter" panose="02000503000000020004"/>
              </a:rPr>
              <a:t>Chapter 04</a:t>
            </a:r>
            <a:endParaRPr lang="en-US" sz="1100"/>
          </a:p>
        </p:txBody>
      </p:sp>
      <p:sp>
        <p:nvSpPr>
          <p:cNvPr id="9" name="AutoShape 9"/>
          <p:cNvSpPr/>
          <p:nvPr/>
        </p:nvSpPr>
        <p:spPr>
          <a:xfrm>
            <a:off x="6699907" y="2091929"/>
            <a:ext cx="380905" cy="9525"/>
          </a:xfrm>
          <a:prstGeom prst="rect">
            <a:avLst/>
          </a:prstGeom>
          <a:gradFill>
            <a:gsLst>
              <a:gs pos="0">
                <a:srgbClr val="2DE7F0">
                  <a:alpha val="100000"/>
                </a:srgbClr>
              </a:gs>
              <a:gs pos="100000">
                <a:srgbClr val="2DE7F0">
                  <a:alpha val="0"/>
                </a:srgbClr>
              </a:gs>
            </a:gsLst>
            <a:lin ang="5400000"/>
          </a:gradFill>
          <a:ln>
            <a:headEnd type="none"/>
            <a:tailEnd type="none"/>
          </a:ln>
        </p:spPr>
      </p:sp>
      <p:sp>
        <p:nvSpPr>
          <p:cNvPr id="10" name="TextBox 10"/>
          <p:cNvSpPr txBox="1"/>
          <p:nvPr/>
        </p:nvSpPr>
        <p:spPr>
          <a:xfrm>
            <a:off x="2418671" y="2425304"/>
            <a:ext cx="7351611" cy="1151929"/>
          </a:xfrm>
          <a:prstGeom prst="rect">
            <a:avLst/>
          </a:prstGeom>
          <a:ln>
            <a:headEnd type="none"/>
            <a:tailEnd type="none"/>
          </a:ln>
        </p:spPr>
        <p:txBody>
          <a:bodyPr vert="horz" wrap="square" lIns="0" tIns="0" rIns="0" bIns="0" rtlCol="0" anchor="t" anchorCtr="1"/>
          <a:lstStyle/>
          <a:p>
            <a:pPr algn="ctr">
              <a:defRPr/>
            </a:pPr>
            <a:r>
              <a:rPr lang="en-US" sz="4200" b="1" i="0" strike="noStrike">
                <a:solidFill>
                  <a:srgbClr val="F4FAFF">
                    <a:alpha val="100000"/>
                  </a:srgbClr>
                </a:solidFill>
                <a:latin typeface="Inter" panose="02000503000000020004"/>
                <a:ea typeface="Inter" panose="02000503000000020004"/>
                <a:cs typeface="Inter" panose="02000503000000020004"/>
              </a:rPr>
              <a:t>Technical Breakthroughs </a:t>
            </a:r>
            <a:r>
              <a:rPr sz="4200" b="1" i="0" strike="noStrike">
                <a:solidFill>
                  <a:srgbClr val="2DE7F0">
                    <a:alpha val="100000"/>
                  </a:srgbClr>
                </a:solidFill>
                <a:latin typeface="Inter" panose="02000503000000020004"/>
                <a:ea typeface="Inter" panose="02000503000000020004"/>
                <a:cs typeface="Inter" panose="02000503000000020004"/>
              </a:rPr>
              <a:t>&amp;</a:t>
            </a:r>
            <a:endParaRPr lang="en-US" sz="1100"/>
          </a:p>
          <a:p>
            <a:pPr algn="ctr"/>
            <a:r>
              <a:rPr sz="4200" b="1" i="0" strike="noStrike">
                <a:solidFill>
                  <a:srgbClr val="F4FAFF">
                    <a:alpha val="100000"/>
                  </a:srgbClr>
                </a:solidFill>
                <a:latin typeface="Inter" panose="02000503000000020004"/>
                <a:ea typeface="Inter" panose="02000503000000020004"/>
                <a:cs typeface="Inter" panose="02000503000000020004"/>
              </a:rPr>
              <a:t>Optimization</a:t>
            </a:r>
            <a:endParaRPr sz="4200" b="1" i="0" strike="noStrike">
              <a:solidFill>
                <a:srgbClr val="F4FAFF">
                  <a:alpha val="100000"/>
                </a:srgbClr>
              </a:solidFill>
              <a:latin typeface="Inter" panose="02000503000000020004"/>
              <a:ea typeface="Inter" panose="02000503000000020004"/>
              <a:cs typeface="Inter" panose="02000503000000020004"/>
            </a:endParaRPr>
          </a:p>
        </p:txBody>
      </p:sp>
      <p:sp>
        <p:nvSpPr>
          <p:cNvPr id="11" name="AutoShape 11"/>
          <p:cNvSpPr/>
          <p:nvPr/>
        </p:nvSpPr>
        <p:spPr>
          <a:xfrm>
            <a:off x="5523120" y="3843933"/>
            <a:ext cx="1142714" cy="19050"/>
          </a:xfrm>
          <a:prstGeom prst="rect">
            <a:avLst/>
          </a:prstGeom>
          <a:gradFill>
            <a:gsLst>
              <a:gs pos="0">
                <a:srgbClr val="2DE7F0">
                  <a:alpha val="0"/>
                </a:srgbClr>
              </a:gs>
              <a:gs pos="33329">
                <a:srgbClr val="2DE7F0">
                  <a:alpha val="100000"/>
                </a:srgbClr>
              </a:gs>
              <a:gs pos="66670">
                <a:srgbClr val="7BB7FF">
                  <a:alpha val="100000"/>
                </a:srgbClr>
              </a:gs>
              <a:gs pos="100000">
                <a:srgbClr val="7BB7FF">
                  <a:alpha val="0"/>
                </a:srgbClr>
              </a:gs>
            </a:gsLst>
            <a:lin ang="5400000"/>
          </a:gradFill>
          <a:ln>
            <a:headEnd type="none"/>
            <a:tailEnd type="none"/>
          </a:ln>
        </p:spPr>
      </p:sp>
      <p:sp>
        <p:nvSpPr>
          <p:cNvPr id="12" name="TextBox 12"/>
          <p:cNvSpPr txBox="1"/>
          <p:nvPr/>
        </p:nvSpPr>
        <p:spPr>
          <a:xfrm>
            <a:off x="1251257" y="4129683"/>
            <a:ext cx="9686437" cy="274291"/>
          </a:xfrm>
          <a:prstGeom prst="rect">
            <a:avLst/>
          </a:prstGeom>
          <a:ln>
            <a:headEnd type="none"/>
            <a:tailEnd type="none"/>
          </a:ln>
        </p:spPr>
        <p:txBody>
          <a:bodyPr vert="horz" wrap="none" lIns="0" tIns="0" rIns="0" bIns="0" rtlCol="0" anchor="ctr" anchorCtr="1"/>
          <a:lstStyle/>
          <a:p>
            <a:pPr algn="ctr">
              <a:defRPr/>
            </a:pPr>
            <a:r>
              <a:rPr lang="en-US" sz="1300" b="0" i="0" strike="noStrike">
                <a:solidFill>
                  <a:srgbClr val="B9CED8">
                    <a:alpha val="100000"/>
                  </a:srgbClr>
                </a:solidFill>
                <a:latin typeface="Inter" panose="02000503000000020004"/>
                <a:ea typeface="Inter" panose="02000503000000020004"/>
                <a:cs typeface="Inter" panose="02000503000000020004"/>
              </a:rPr>
              <a:t>Code-level memory compression, multi-level acceleration, and deep hardware inference tuning</a:t>
            </a:r>
            <a:endParaRPr lang="en-US" sz="1100"/>
          </a:p>
        </p:txBody>
      </p:sp>
      <p:sp>
        <p:nvSpPr>
          <p:cNvPr id="13" name="AutoShape 13"/>
          <p:cNvSpPr/>
          <p:nvPr/>
        </p:nvSpPr>
        <p:spPr>
          <a:xfrm>
            <a:off x="5113646" y="4784973"/>
            <a:ext cx="76181" cy="76200"/>
          </a:xfrm>
          <a:prstGeom prst="ellipse">
            <a:avLst/>
          </a:prstGeom>
          <a:ln w="9525">
            <a:solidFill>
              <a:srgbClr val="2DE7F0">
                <a:alpha val="50196"/>
              </a:srgbClr>
            </a:solidFill>
            <a:prstDash val="solid"/>
            <a:headEnd type="none"/>
            <a:tailEnd type="none"/>
          </a:ln>
        </p:spPr>
      </p:sp>
      <p:sp>
        <p:nvSpPr>
          <p:cNvPr id="14" name="AutoShape 14"/>
          <p:cNvSpPr/>
          <p:nvPr/>
        </p:nvSpPr>
        <p:spPr>
          <a:xfrm>
            <a:off x="5342189" y="4818310"/>
            <a:ext cx="571358" cy="9525"/>
          </a:xfrm>
          <a:prstGeom prst="rect">
            <a:avLst/>
          </a:prstGeom>
          <a:solidFill>
            <a:srgbClr val="B9CED8">
              <a:alpha val="14117"/>
            </a:srgbClr>
          </a:solidFill>
          <a:ln>
            <a:headEnd type="none"/>
            <a:tailEnd type="none"/>
          </a:ln>
        </p:spPr>
      </p:sp>
      <p:sp>
        <p:nvSpPr>
          <p:cNvPr id="15" name="AutoShape 15"/>
          <p:cNvSpPr/>
          <p:nvPr/>
        </p:nvSpPr>
        <p:spPr>
          <a:xfrm rot="2700000">
            <a:off x="6065909" y="4794498"/>
            <a:ext cx="57136" cy="57150"/>
          </a:xfrm>
          <a:prstGeom prst="rect">
            <a:avLst/>
          </a:prstGeom>
          <a:ln w="9525">
            <a:solidFill>
              <a:srgbClr val="7BB7FF">
                <a:alpha val="40000"/>
              </a:srgbClr>
            </a:solidFill>
            <a:prstDash val="solid"/>
            <a:headEnd type="none"/>
            <a:tailEnd type="none"/>
          </a:ln>
        </p:spPr>
      </p:sp>
      <p:sp>
        <p:nvSpPr>
          <p:cNvPr id="16" name="AutoShape 16"/>
          <p:cNvSpPr/>
          <p:nvPr/>
        </p:nvSpPr>
        <p:spPr>
          <a:xfrm>
            <a:off x="6275405" y="4818310"/>
            <a:ext cx="571358" cy="9525"/>
          </a:xfrm>
          <a:prstGeom prst="rect">
            <a:avLst/>
          </a:prstGeom>
          <a:solidFill>
            <a:srgbClr val="B9CED8">
              <a:alpha val="14117"/>
            </a:srgbClr>
          </a:solidFill>
          <a:ln>
            <a:headEnd type="none"/>
            <a:tailEnd type="none"/>
          </a:ln>
        </p:spPr>
      </p:sp>
      <p:sp>
        <p:nvSpPr>
          <p:cNvPr id="17" name="AutoShape 17"/>
          <p:cNvSpPr/>
          <p:nvPr/>
        </p:nvSpPr>
        <p:spPr>
          <a:xfrm>
            <a:off x="6999125" y="4784973"/>
            <a:ext cx="76181" cy="76200"/>
          </a:xfrm>
          <a:prstGeom prst="ellipse">
            <a:avLst/>
          </a:prstGeom>
          <a:ln w="9525">
            <a:solidFill>
              <a:srgbClr val="2DE7F0">
                <a:alpha val="50196"/>
              </a:srgbClr>
            </a:solidFill>
            <a:prstDash val="solid"/>
            <a:headEnd type="none"/>
            <a:tailEnd type="none"/>
          </a:ln>
        </p:spPr>
      </p:sp>
      <p:sp>
        <p:nvSpPr>
          <p:cNvPr id="18" name="AutoShape 18"/>
          <p:cNvSpPr/>
          <p:nvPr/>
        </p:nvSpPr>
        <p:spPr>
          <a:xfrm>
            <a:off x="0" y="6848475"/>
            <a:ext cx="12188952" cy="9525"/>
          </a:xfrm>
          <a:prstGeom prst="rect">
            <a:avLst/>
          </a:prstGeom>
          <a:gradFill>
            <a:gsLst>
              <a:gs pos="0">
                <a:srgbClr val="2DE7F0">
                  <a:alpha val="0"/>
                </a:srgbClr>
              </a:gs>
              <a:gs pos="50000">
                <a:srgbClr val="2DE7F0">
                  <a:alpha val="21960"/>
                </a:srgbClr>
              </a:gs>
              <a:gs pos="100000">
                <a:srgbClr val="2DE7F0">
                  <a:alpha val="0"/>
                </a:srgbClr>
              </a:gs>
            </a:gsLst>
            <a:lin ang="5400000"/>
          </a:gradFill>
          <a:ln>
            <a:headEnd type="none"/>
            <a:tailEnd type="none"/>
          </a:ln>
        </p:spPr>
      </p:sp>
      <p:sp>
        <p:nvSpPr>
          <p:cNvPr id="19" name="AutoShape 19"/>
          <p:cNvSpPr/>
          <p:nvPr/>
        </p:nvSpPr>
        <p:spPr>
          <a:xfrm>
            <a:off x="0" y="0"/>
            <a:ext cx="12188952" cy="9525"/>
          </a:xfrm>
          <a:prstGeom prst="rect">
            <a:avLst/>
          </a:prstGeom>
          <a:gradFill>
            <a:gsLst>
              <a:gs pos="0">
                <a:srgbClr val="2DE7F0">
                  <a:alpha val="0"/>
                </a:srgbClr>
              </a:gs>
              <a:gs pos="50000">
                <a:srgbClr val="2DE7F0">
                  <a:alpha val="21960"/>
                </a:srgbClr>
              </a:gs>
              <a:gs pos="100000">
                <a:srgbClr val="2DE7F0">
                  <a:alpha val="0"/>
                </a:srgbClr>
              </a:gs>
            </a:gsLst>
            <a:lin ang="5400000"/>
          </a:gradFill>
          <a:ln>
            <a:headEnd type="none"/>
            <a:tailEnd type="none"/>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4" name="AutoShape 4"/>
          <p:cNvSpPr/>
          <p:nvPr/>
        </p:nvSpPr>
        <p:spPr>
          <a:xfrm>
            <a:off x="7999000" y="0"/>
            <a:ext cx="4189952" cy="4953000"/>
          </a:xfrm>
          <a:prstGeom prst="rect">
            <a:avLst/>
          </a:prstGeom>
          <a:blipFill rotWithShape="1">
            <a:blip r:embed="rId2">
              <a:alphaModFix amt="100000"/>
              <a:alphaModFix amt="100000"/>
            </a:blip>
            <a:stretch>
              <a:fillRect/>
            </a:stretch>
          </a:blipFill>
          <a:ln>
            <a:headEnd type="none"/>
            <a:tailEnd type="none"/>
          </a:ln>
        </p:spPr>
      </p:sp>
      <p:sp>
        <p:nvSpPr>
          <p:cNvPr id="5" name="AutoShape 5"/>
          <p:cNvSpPr/>
          <p:nvPr/>
        </p:nvSpPr>
        <p:spPr>
          <a:xfrm>
            <a:off x="1142714" y="4572000"/>
            <a:ext cx="3809048" cy="2286000"/>
          </a:xfrm>
          <a:prstGeom prst="rect">
            <a:avLst/>
          </a:prstGeom>
          <a:blipFill rotWithShape="1">
            <a:blip r:embed="rId3">
              <a:alphaModFix amt="100000"/>
              <a:alphaModFix amt="100000"/>
            </a:blip>
            <a:stretch>
              <a:fillRect/>
            </a:stretch>
          </a:blipFill>
          <a:ln>
            <a:headEnd type="none"/>
            <a:tailEnd type="none"/>
          </a:ln>
        </p:spPr>
      </p:sp>
      <p:sp>
        <p:nvSpPr>
          <p:cNvPr id="6" name="TextBox 6"/>
          <p:cNvSpPr txBox="1"/>
          <p:nvPr/>
        </p:nvSpPr>
        <p:spPr>
          <a:xfrm>
            <a:off x="533267" y="447675"/>
            <a:ext cx="11122419" cy="400050"/>
          </a:xfrm>
          <a:prstGeom prst="rect">
            <a:avLst/>
          </a:prstGeom>
          <a:ln>
            <a:headEnd type="none"/>
            <a:tailEnd type="none"/>
          </a:ln>
        </p:spPr>
        <p:txBody>
          <a:bodyPr vert="horz" wrap="none" lIns="0" tIns="0" rIns="0" bIns="0" rtlCol="0" anchor="t" anchorCtr="0"/>
          <a:lstStyle/>
          <a:p>
            <a:pPr algn="l">
              <a:defRPr/>
            </a:pPr>
            <a:r>
              <a:rPr lang="en-US" sz="2800" b="1" i="0" strike="noStrike">
                <a:solidFill>
                  <a:srgbClr val="F4FAFF">
                    <a:alpha val="100000"/>
                  </a:srgbClr>
                </a:solidFill>
                <a:latin typeface="Inter" panose="02000503000000020004"/>
                <a:ea typeface="Inter" panose="02000503000000020004"/>
                <a:cs typeface="Inter" panose="02000503000000020004"/>
              </a:rPr>
              <a:t>Three-Tier </a:t>
            </a:r>
            <a:r>
              <a:rPr sz="2800" b="1" i="0" strike="noStrike">
                <a:solidFill>
                  <a:srgbClr val="2DE7F0">
                    <a:alpha val="100000"/>
                  </a:srgbClr>
                </a:solidFill>
                <a:latin typeface="Inter" panose="02000503000000020004"/>
                <a:ea typeface="Inter" panose="02000503000000020004"/>
                <a:cs typeface="Inter" panose="02000503000000020004"/>
              </a:rPr>
              <a:t>Dynamic Memory Compression</a:t>
            </a:r>
            <a:r>
              <a:rPr sz="2800" b="1" i="0" strike="noStrike">
                <a:solidFill>
                  <a:srgbClr val="F4FAFF">
                    <a:alpha val="100000"/>
                  </a:srgbClr>
                </a:solidFill>
                <a:latin typeface="Inter" panose="02000503000000020004"/>
                <a:ea typeface="Inter" panose="02000503000000020004"/>
                <a:cs typeface="Inter" panose="02000503000000020004"/>
              </a:rPr>
              <a:t> Architecture</a:t>
            </a:r>
            <a:endParaRPr lang="en-US" sz="1100"/>
          </a:p>
        </p:txBody>
      </p:sp>
      <p:sp>
        <p:nvSpPr>
          <p:cNvPr id="7" name="AutoShape 7"/>
          <p:cNvSpPr/>
          <p:nvPr/>
        </p:nvSpPr>
        <p:spPr>
          <a:xfrm>
            <a:off x="533267" y="1114722"/>
            <a:ext cx="11122419" cy="1282005"/>
          </a:xfrm>
          <a:prstGeom prst="roundRect">
            <a:avLst>
              <a:gd name="adj" fmla="val 423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8" name="AutoShape 8"/>
          <p:cNvSpPr/>
          <p:nvPr/>
        </p:nvSpPr>
        <p:spPr>
          <a:xfrm>
            <a:off x="542789" y="1124247"/>
            <a:ext cx="876080" cy="1266825"/>
          </a:xfrm>
          <a:prstGeom prst="roundRect">
            <a:avLst>
              <a:gd name="adj" fmla="val 9076"/>
            </a:avLst>
          </a:prstGeom>
          <a:blipFill rotWithShape="1">
            <a:blip r:embed="rId4">
              <a:alphaModFix amt="100000"/>
              <a:alphaModFix amt="100000"/>
            </a:blip>
            <a:stretch>
              <a:fillRect/>
            </a:stretch>
          </a:blipFill>
          <a:ln>
            <a:headEnd type="none"/>
            <a:tailEnd type="none"/>
          </a:ln>
        </p:spPr>
      </p:sp>
      <p:sp>
        <p:nvSpPr>
          <p:cNvPr id="9" name="TextBox 9"/>
          <p:cNvSpPr txBox="1"/>
          <p:nvPr/>
        </p:nvSpPr>
        <p:spPr>
          <a:xfrm>
            <a:off x="831592" y="1467594"/>
            <a:ext cx="587277" cy="114300"/>
          </a:xfrm>
          <a:prstGeom prst="rect">
            <a:avLst/>
          </a:prstGeom>
          <a:ln>
            <a:headEnd type="none"/>
            <a:tailEnd type="none"/>
          </a:ln>
        </p:spPr>
        <p:txBody>
          <a:bodyPr vert="horz" wrap="none" lIns="0" tIns="0" rIns="0" bIns="0" rtlCol="0" anchor="t" anchorCtr="0"/>
          <a:lstStyle/>
          <a:p>
            <a:pPr algn="l">
              <a:defRPr/>
            </a:pPr>
            <a:r>
              <a:rPr lang="en-US" sz="800" b="1" i="0" strike="noStrike">
                <a:solidFill>
                  <a:srgbClr val="2DE7F0">
                    <a:alpha val="100000"/>
                  </a:srgbClr>
                </a:solidFill>
                <a:latin typeface="Inter" panose="02000503000000020004"/>
                <a:ea typeface="Inter" panose="02000503000000020004"/>
                <a:cs typeface="Inter" panose="02000503000000020004"/>
              </a:rPr>
              <a:t>TIER</a:t>
            </a:r>
            <a:endParaRPr lang="en-US" sz="1100"/>
          </a:p>
        </p:txBody>
      </p:sp>
      <p:sp>
        <p:nvSpPr>
          <p:cNvPr id="10" name="TextBox 10"/>
          <p:cNvSpPr txBox="1"/>
          <p:nvPr/>
        </p:nvSpPr>
        <p:spPr>
          <a:xfrm>
            <a:off x="753626" y="1634282"/>
            <a:ext cx="665244" cy="447675"/>
          </a:xfrm>
          <a:prstGeom prst="rect">
            <a:avLst/>
          </a:prstGeom>
          <a:ln>
            <a:headEnd type="none"/>
            <a:tailEnd type="none"/>
          </a:ln>
        </p:spPr>
        <p:txBody>
          <a:bodyPr vert="horz" wrap="none" lIns="0" tIns="0" rIns="0" bIns="0" rtlCol="0" anchor="t" anchorCtr="0"/>
          <a:lstStyle/>
          <a:p>
            <a:pPr algn="l">
              <a:defRPr/>
            </a:pPr>
            <a:r>
              <a:rPr lang="en-US" sz="3100" b="1" i="0" strike="noStrike">
                <a:solidFill>
                  <a:srgbClr val="2DE7F0">
                    <a:alpha val="100000"/>
                  </a:srgbClr>
                </a:solidFill>
                <a:latin typeface="Inter" panose="02000503000000020004"/>
                <a:ea typeface="Inter" panose="02000503000000020004"/>
                <a:cs typeface="Inter" panose="02000503000000020004"/>
              </a:rPr>
              <a:t>01</a:t>
            </a:r>
            <a:endParaRPr lang="en-US" sz="1100"/>
          </a:p>
        </p:txBody>
      </p:sp>
      <p:sp>
        <p:nvSpPr>
          <p:cNvPr id="11" name="TextBox 11"/>
          <p:cNvSpPr txBox="1"/>
          <p:nvPr/>
        </p:nvSpPr>
        <p:spPr>
          <a:xfrm>
            <a:off x="1685503" y="1334840"/>
            <a:ext cx="9694026"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Atomized Chunks</a:t>
            </a:r>
            <a:endParaRPr lang="en-US" sz="1100"/>
          </a:p>
        </p:txBody>
      </p:sp>
      <p:sp>
        <p:nvSpPr>
          <p:cNvPr id="12" name="TextBox 12"/>
          <p:cNvSpPr txBox="1"/>
          <p:nvPr/>
        </p:nvSpPr>
        <p:spPr>
          <a:xfrm>
            <a:off x="1685503" y="1711970"/>
            <a:ext cx="9960660" cy="41329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Preserves heading hierarchies with 512-token chunks and 64-token overlaps, retaining crucial metadata like page numbers and source</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documents for auditability.</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3" name="AutoShape 13"/>
          <p:cNvSpPr/>
          <p:nvPr/>
        </p:nvSpPr>
        <p:spPr>
          <a:xfrm>
            <a:off x="533267" y="2587227"/>
            <a:ext cx="11122419" cy="1282005"/>
          </a:xfrm>
          <a:prstGeom prst="roundRect">
            <a:avLst>
              <a:gd name="adj" fmla="val 423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4" name="AutoShape 14"/>
          <p:cNvSpPr/>
          <p:nvPr/>
        </p:nvSpPr>
        <p:spPr>
          <a:xfrm>
            <a:off x="542789" y="2596754"/>
            <a:ext cx="876080" cy="1266825"/>
          </a:xfrm>
          <a:prstGeom prst="roundRect">
            <a:avLst>
              <a:gd name="adj" fmla="val 9076"/>
            </a:avLst>
          </a:prstGeom>
          <a:blipFill rotWithShape="1">
            <a:blip r:embed="rId4">
              <a:alphaModFix amt="100000"/>
              <a:alphaModFix amt="100000"/>
            </a:blip>
            <a:stretch>
              <a:fillRect/>
            </a:stretch>
          </a:blipFill>
          <a:ln>
            <a:headEnd type="none"/>
            <a:tailEnd type="none"/>
          </a:ln>
        </p:spPr>
      </p:sp>
      <p:sp>
        <p:nvSpPr>
          <p:cNvPr id="15" name="TextBox 15"/>
          <p:cNvSpPr txBox="1"/>
          <p:nvPr/>
        </p:nvSpPr>
        <p:spPr>
          <a:xfrm>
            <a:off x="831592" y="2940100"/>
            <a:ext cx="587277" cy="114300"/>
          </a:xfrm>
          <a:prstGeom prst="rect">
            <a:avLst/>
          </a:prstGeom>
          <a:ln>
            <a:headEnd type="none"/>
            <a:tailEnd type="none"/>
          </a:ln>
        </p:spPr>
        <p:txBody>
          <a:bodyPr vert="horz" wrap="none" lIns="0" tIns="0" rIns="0" bIns="0" rtlCol="0" anchor="t" anchorCtr="0"/>
          <a:lstStyle/>
          <a:p>
            <a:pPr algn="l">
              <a:defRPr/>
            </a:pPr>
            <a:r>
              <a:rPr lang="en-US" sz="800" b="1" i="0" strike="noStrike">
                <a:solidFill>
                  <a:srgbClr val="2DE7F0">
                    <a:alpha val="100000"/>
                  </a:srgbClr>
                </a:solidFill>
                <a:latin typeface="Inter" panose="02000503000000020004"/>
                <a:ea typeface="Inter" panose="02000503000000020004"/>
                <a:cs typeface="Inter" panose="02000503000000020004"/>
              </a:rPr>
              <a:t>TIER</a:t>
            </a:r>
            <a:endParaRPr lang="en-US" sz="1100"/>
          </a:p>
        </p:txBody>
      </p:sp>
      <p:sp>
        <p:nvSpPr>
          <p:cNvPr id="16" name="TextBox 16"/>
          <p:cNvSpPr txBox="1"/>
          <p:nvPr/>
        </p:nvSpPr>
        <p:spPr>
          <a:xfrm>
            <a:off x="753626" y="3106787"/>
            <a:ext cx="665244" cy="447675"/>
          </a:xfrm>
          <a:prstGeom prst="rect">
            <a:avLst/>
          </a:prstGeom>
          <a:ln>
            <a:headEnd type="none"/>
            <a:tailEnd type="none"/>
          </a:ln>
        </p:spPr>
        <p:txBody>
          <a:bodyPr vert="horz" wrap="none" lIns="0" tIns="0" rIns="0" bIns="0" rtlCol="0" anchor="t" anchorCtr="0"/>
          <a:lstStyle/>
          <a:p>
            <a:pPr algn="l">
              <a:defRPr/>
            </a:pPr>
            <a:r>
              <a:rPr lang="en-US" sz="3100" b="1" i="0" strike="noStrike">
                <a:solidFill>
                  <a:srgbClr val="2DE7F0">
                    <a:alpha val="100000"/>
                  </a:srgbClr>
                </a:solidFill>
                <a:latin typeface="Inter" panose="02000503000000020004"/>
                <a:ea typeface="Inter" panose="02000503000000020004"/>
                <a:cs typeface="Inter" panose="02000503000000020004"/>
              </a:rPr>
              <a:t>02</a:t>
            </a:r>
            <a:endParaRPr lang="en-US" sz="1100"/>
          </a:p>
        </p:txBody>
      </p:sp>
      <p:sp>
        <p:nvSpPr>
          <p:cNvPr id="17" name="TextBox 17"/>
          <p:cNvSpPr txBox="1"/>
          <p:nvPr/>
        </p:nvSpPr>
        <p:spPr>
          <a:xfrm>
            <a:off x="1685503" y="2807345"/>
            <a:ext cx="9694026"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Implicit &amp; Structured Memory</a:t>
            </a:r>
            <a:endParaRPr lang="en-US" sz="1100"/>
          </a:p>
        </p:txBody>
      </p:sp>
      <p:sp>
        <p:nvSpPr>
          <p:cNvPr id="18" name="TextBox 18"/>
          <p:cNvSpPr txBox="1"/>
          <p:nvPr/>
        </p:nvSpPr>
        <p:spPr>
          <a:xfrm>
            <a:off x="1685503" y="3184475"/>
            <a:ext cx="9960660" cy="41329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Dual-database approach where zvec stores semantic vectors for broad similarity matching, while Neo4j maps precise entity-relation triples for</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multi-hop reasoning.</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9" name="AutoShape 19"/>
          <p:cNvSpPr/>
          <p:nvPr/>
        </p:nvSpPr>
        <p:spPr>
          <a:xfrm>
            <a:off x="533267" y="4059734"/>
            <a:ext cx="11122419" cy="1282005"/>
          </a:xfrm>
          <a:prstGeom prst="roundRect">
            <a:avLst>
              <a:gd name="adj" fmla="val 423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0" name="AutoShape 20"/>
          <p:cNvSpPr/>
          <p:nvPr/>
        </p:nvSpPr>
        <p:spPr>
          <a:xfrm>
            <a:off x="542789" y="4069259"/>
            <a:ext cx="876080" cy="1266825"/>
          </a:xfrm>
          <a:prstGeom prst="roundRect">
            <a:avLst>
              <a:gd name="adj" fmla="val 9076"/>
            </a:avLst>
          </a:prstGeom>
          <a:blipFill rotWithShape="1">
            <a:blip r:embed="rId4">
              <a:alphaModFix amt="100000"/>
              <a:alphaModFix amt="100000"/>
            </a:blip>
            <a:stretch>
              <a:fillRect/>
            </a:stretch>
          </a:blipFill>
          <a:ln>
            <a:headEnd type="none"/>
            <a:tailEnd type="none"/>
          </a:ln>
        </p:spPr>
      </p:sp>
      <p:sp>
        <p:nvSpPr>
          <p:cNvPr id="21" name="TextBox 21"/>
          <p:cNvSpPr txBox="1"/>
          <p:nvPr/>
        </p:nvSpPr>
        <p:spPr>
          <a:xfrm>
            <a:off x="831592" y="4412605"/>
            <a:ext cx="587277" cy="114300"/>
          </a:xfrm>
          <a:prstGeom prst="rect">
            <a:avLst/>
          </a:prstGeom>
          <a:ln>
            <a:headEnd type="none"/>
            <a:tailEnd type="none"/>
          </a:ln>
        </p:spPr>
        <p:txBody>
          <a:bodyPr vert="horz" wrap="none" lIns="0" tIns="0" rIns="0" bIns="0" rtlCol="0" anchor="t" anchorCtr="0"/>
          <a:lstStyle/>
          <a:p>
            <a:pPr algn="l">
              <a:defRPr/>
            </a:pPr>
            <a:r>
              <a:rPr lang="en-US" sz="800" b="1" i="0" strike="noStrike">
                <a:solidFill>
                  <a:srgbClr val="2DE7F0">
                    <a:alpha val="100000"/>
                  </a:srgbClr>
                </a:solidFill>
                <a:latin typeface="Inter" panose="02000503000000020004"/>
                <a:ea typeface="Inter" panose="02000503000000020004"/>
                <a:cs typeface="Inter" panose="02000503000000020004"/>
              </a:rPr>
              <a:t>TIER</a:t>
            </a:r>
            <a:endParaRPr lang="en-US" sz="1100"/>
          </a:p>
        </p:txBody>
      </p:sp>
      <p:sp>
        <p:nvSpPr>
          <p:cNvPr id="22" name="TextBox 22"/>
          <p:cNvSpPr txBox="1"/>
          <p:nvPr/>
        </p:nvSpPr>
        <p:spPr>
          <a:xfrm>
            <a:off x="753626" y="4579292"/>
            <a:ext cx="665244" cy="447675"/>
          </a:xfrm>
          <a:prstGeom prst="rect">
            <a:avLst/>
          </a:prstGeom>
          <a:ln>
            <a:headEnd type="none"/>
            <a:tailEnd type="none"/>
          </a:ln>
        </p:spPr>
        <p:txBody>
          <a:bodyPr vert="horz" wrap="none" lIns="0" tIns="0" rIns="0" bIns="0" rtlCol="0" anchor="t" anchorCtr="0"/>
          <a:lstStyle/>
          <a:p>
            <a:pPr algn="l">
              <a:defRPr/>
            </a:pPr>
            <a:r>
              <a:rPr lang="en-US" sz="3100" b="1" i="0" strike="noStrike">
                <a:solidFill>
                  <a:srgbClr val="2DE7F0">
                    <a:alpha val="100000"/>
                  </a:srgbClr>
                </a:solidFill>
                <a:latin typeface="Inter" panose="02000503000000020004"/>
                <a:ea typeface="Inter" panose="02000503000000020004"/>
                <a:cs typeface="Inter" panose="02000503000000020004"/>
              </a:rPr>
              <a:t>03</a:t>
            </a:r>
            <a:endParaRPr lang="en-US" sz="1100"/>
          </a:p>
        </p:txBody>
      </p:sp>
      <p:sp>
        <p:nvSpPr>
          <p:cNvPr id="23" name="TextBox 23"/>
          <p:cNvSpPr txBox="1"/>
          <p:nvPr/>
        </p:nvSpPr>
        <p:spPr>
          <a:xfrm>
            <a:off x="1685503" y="4279850"/>
            <a:ext cx="9694026"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Working Memory Compressor</a:t>
            </a:r>
            <a:endParaRPr lang="en-US" sz="1100"/>
          </a:p>
        </p:txBody>
      </p:sp>
      <p:sp>
        <p:nvSpPr>
          <p:cNvPr id="24" name="TextBox 24"/>
          <p:cNvSpPr txBox="1"/>
          <p:nvPr/>
        </p:nvSpPr>
        <p:spPr>
          <a:xfrm>
            <a:off x="1685503" y="4656981"/>
            <a:ext cx="9960660" cy="41329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Dynamically truncates context (max 1500 chars, top 20 nodes) and distills multiple segments into core knowledge points, reducing payload size</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by 80%.</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5" name="AutoShape 25"/>
          <p:cNvSpPr/>
          <p:nvPr/>
        </p:nvSpPr>
        <p:spPr>
          <a:xfrm>
            <a:off x="533267" y="5570339"/>
            <a:ext cx="11122419"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6" name="TextBox 26"/>
          <p:cNvSpPr txBox="1"/>
          <p:nvPr/>
        </p:nvSpPr>
        <p:spPr>
          <a:xfrm>
            <a:off x="533267" y="5789414"/>
            <a:ext cx="11655685" cy="562868"/>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The three-tier architecture systematically reduces context volume by combining atomized semantic chunks, dual-</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database structural mapping, and real-time LLM distillation, ensuring high-fidelity reasoning within strict token limits.</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4" name="AutoShape 4"/>
          <p:cNvSpPr/>
          <p:nvPr/>
        </p:nvSpPr>
        <p:spPr>
          <a:xfrm>
            <a:off x="7999000" y="0"/>
            <a:ext cx="4189952" cy="4953000"/>
          </a:xfrm>
          <a:prstGeom prst="rect">
            <a:avLst/>
          </a:prstGeom>
          <a:blipFill rotWithShape="1">
            <a:blip r:embed="rId2">
              <a:alphaModFix amt="100000"/>
              <a:alphaModFix amt="100000"/>
            </a:blip>
            <a:stretch>
              <a:fillRect/>
            </a:stretch>
          </a:blipFill>
          <a:ln>
            <a:headEnd type="none"/>
            <a:tailEnd type="none"/>
          </a:ln>
        </p:spPr>
      </p:sp>
      <p:sp>
        <p:nvSpPr>
          <p:cNvPr id="5" name="AutoShape 5"/>
          <p:cNvSpPr/>
          <p:nvPr/>
        </p:nvSpPr>
        <p:spPr>
          <a:xfrm>
            <a:off x="1142714" y="4572000"/>
            <a:ext cx="3809048" cy="2286000"/>
          </a:xfrm>
          <a:prstGeom prst="rect">
            <a:avLst/>
          </a:prstGeom>
          <a:blipFill rotWithShape="1">
            <a:blip r:embed="rId3">
              <a:alphaModFix amt="100000"/>
              <a:alphaModFix amt="100000"/>
            </a:blip>
            <a:stretch>
              <a:fillRect/>
            </a:stretch>
          </a:blipFill>
          <a:ln>
            <a:headEnd type="none"/>
            <a:tailEnd type="none"/>
          </a:ln>
        </p:spPr>
      </p:sp>
      <p:sp>
        <p:nvSpPr>
          <p:cNvPr id="6" name="TextBox 6"/>
          <p:cNvSpPr txBox="1"/>
          <p:nvPr/>
        </p:nvSpPr>
        <p:spPr>
          <a:xfrm>
            <a:off x="533267" y="447675"/>
            <a:ext cx="11122419" cy="400050"/>
          </a:xfrm>
          <a:prstGeom prst="rect">
            <a:avLst/>
          </a:prstGeom>
          <a:ln>
            <a:headEnd type="none"/>
            <a:tailEnd type="none"/>
          </a:ln>
        </p:spPr>
        <p:txBody>
          <a:bodyPr vert="horz" wrap="none" lIns="0" tIns="0" rIns="0" bIns="0" rtlCol="0" anchor="t" anchorCtr="0"/>
          <a:lstStyle/>
          <a:p>
            <a:pPr algn="l">
              <a:defRPr/>
            </a:pPr>
            <a:r>
              <a:rPr lang="en-US" sz="2800" b="1" i="0" strike="noStrike">
                <a:solidFill>
                  <a:srgbClr val="F4FAFF">
                    <a:alpha val="100000"/>
                  </a:srgbClr>
                </a:solidFill>
                <a:latin typeface="Inter" panose="02000503000000020004"/>
                <a:ea typeface="Inter" panose="02000503000000020004"/>
                <a:cs typeface="Inter" panose="02000503000000020004"/>
              </a:rPr>
              <a:t>Three-Tier </a:t>
            </a:r>
            <a:r>
              <a:rPr sz="2800" b="1" i="0" strike="noStrike">
                <a:solidFill>
                  <a:srgbClr val="2DE7F0">
                    <a:alpha val="100000"/>
                  </a:srgbClr>
                </a:solidFill>
                <a:latin typeface="Inter" panose="02000503000000020004"/>
                <a:ea typeface="Inter" panose="02000503000000020004"/>
                <a:cs typeface="Inter" panose="02000503000000020004"/>
              </a:rPr>
              <a:t>Dynamic Memory Compression</a:t>
            </a:r>
            <a:r>
              <a:rPr sz="2800" b="1" i="0" strike="noStrike">
                <a:solidFill>
                  <a:srgbClr val="F4FAFF">
                    <a:alpha val="100000"/>
                  </a:srgbClr>
                </a:solidFill>
                <a:latin typeface="Inter" panose="02000503000000020004"/>
                <a:ea typeface="Inter" panose="02000503000000020004"/>
                <a:cs typeface="Inter" panose="02000503000000020004"/>
              </a:rPr>
              <a:t> Architecture</a:t>
            </a:r>
            <a:endParaRPr lang="en-US" sz="1100"/>
          </a:p>
        </p:txBody>
      </p:sp>
      <p:pic>
        <p:nvPicPr>
          <p:cNvPr id="27" name="图片 26"/>
          <p:cNvPicPr>
            <a:picLocks noChangeAspect="1"/>
          </p:cNvPicPr>
          <p:nvPr/>
        </p:nvPicPr>
        <p:blipFill>
          <a:blip r:embed="rId4"/>
          <a:stretch>
            <a:fillRect/>
          </a:stretch>
        </p:blipFill>
        <p:spPr>
          <a:xfrm>
            <a:off x="2763520" y="914400"/>
            <a:ext cx="5151755" cy="59112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00211"/>
            <a:ext cx="38090" cy="304800"/>
          </a:xfrm>
          <a:prstGeom prst="roundRect">
            <a:avLst>
              <a:gd name="adj" fmla="val 50000"/>
            </a:avLst>
          </a:prstGeom>
          <a:solidFill>
            <a:srgbClr val="2DE7F0">
              <a:alpha val="100000"/>
            </a:srgbClr>
          </a:solidFill>
          <a:ln>
            <a:headEnd type="none"/>
            <a:tailEnd type="none"/>
          </a:ln>
        </p:spPr>
      </p:sp>
      <p:sp>
        <p:nvSpPr>
          <p:cNvPr id="6" name="TextBox 6"/>
          <p:cNvSpPr txBox="1"/>
          <p:nvPr/>
        </p:nvSpPr>
        <p:spPr>
          <a:xfrm>
            <a:off x="609448" y="447675"/>
            <a:ext cx="8528547" cy="400050"/>
          </a:xfrm>
          <a:prstGeom prst="rect">
            <a:avLst/>
          </a:prstGeom>
          <a:ln>
            <a:headEnd type="none"/>
            <a:tailEnd type="none"/>
          </a:ln>
        </p:spPr>
        <p:txBody>
          <a:bodyPr vert="horz" wrap="none" lIns="0" tIns="0" rIns="0" bIns="0" rtlCol="0" anchor="t" anchorCtr="0"/>
          <a:lstStyle/>
          <a:p>
            <a:pPr algn="l">
              <a:defRPr/>
            </a:pPr>
            <a:r>
              <a:rPr lang="en-US" sz="2800" b="1" i="0" strike="noStrike">
                <a:solidFill>
                  <a:srgbClr val="F4FAFF">
                    <a:alpha val="100000"/>
                  </a:srgbClr>
                </a:solidFill>
                <a:latin typeface="Inter" panose="02000503000000020004"/>
                <a:ea typeface="Inter" panose="02000503000000020004"/>
                <a:cs typeface="Inter" panose="02000503000000020004"/>
              </a:rPr>
              <a:t>Code-Level Analysis of Compression Mechanism</a:t>
            </a:r>
            <a:endParaRPr lang="en-US" sz="1100"/>
          </a:p>
        </p:txBody>
      </p:sp>
      <p:sp>
        <p:nvSpPr>
          <p:cNvPr id="7" name="AutoShape 7"/>
          <p:cNvSpPr/>
          <p:nvPr/>
        </p:nvSpPr>
        <p:spPr>
          <a:xfrm>
            <a:off x="457086" y="962322"/>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AutoShape 8"/>
          <p:cNvSpPr/>
          <p:nvPr/>
        </p:nvSpPr>
        <p:spPr>
          <a:xfrm>
            <a:off x="457086" y="1124247"/>
            <a:ext cx="11274781" cy="826591"/>
          </a:xfrm>
          <a:prstGeom prst="roundRect">
            <a:avLst>
              <a:gd name="adj" fmla="val 1019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9" name="AutoShape 9"/>
          <p:cNvSpPr/>
          <p:nvPr/>
        </p:nvSpPr>
        <p:spPr>
          <a:xfrm>
            <a:off x="657061" y="1324272"/>
            <a:ext cx="57136" cy="57150"/>
          </a:xfrm>
          <a:prstGeom prst="ellipse">
            <a:avLst/>
          </a:prstGeom>
          <a:solidFill>
            <a:srgbClr val="2DE7F0">
              <a:alpha val="100000"/>
            </a:srgbClr>
          </a:solidFill>
          <a:ln>
            <a:headEnd type="none"/>
            <a:tailEnd type="none"/>
          </a:ln>
        </p:spPr>
      </p:sp>
      <p:sp>
        <p:nvSpPr>
          <p:cNvPr id="10" name="TextBox 10"/>
          <p:cNvSpPr txBox="1"/>
          <p:nvPr/>
        </p:nvSpPr>
        <p:spPr>
          <a:xfrm>
            <a:off x="828468" y="1324272"/>
            <a:ext cx="10703423" cy="41329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By implementing dual-phase compression strategies at both the data ingestion (write-time) and inference (read-time) stages, the system eliminates context-</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window bottlenecks and maintains lean database structures for peak concurrency.</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1" name="AutoShape 11"/>
          <p:cNvSpPr/>
          <p:nvPr/>
        </p:nvSpPr>
        <p:spPr>
          <a:xfrm>
            <a:off x="457086" y="2141339"/>
            <a:ext cx="3631242" cy="4259461"/>
          </a:xfrm>
          <a:prstGeom prst="roundRect">
            <a:avLst>
              <a:gd name="adj" fmla="val 5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2" name="TextBox 12"/>
          <p:cNvSpPr txBox="1"/>
          <p:nvPr/>
        </p:nvSpPr>
        <p:spPr>
          <a:xfrm>
            <a:off x="657061" y="2360414"/>
            <a:ext cx="3231293"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Phase 01</a:t>
            </a:r>
            <a:endParaRPr lang="en-US" sz="1100"/>
          </a:p>
        </p:txBody>
      </p:sp>
      <p:sp>
        <p:nvSpPr>
          <p:cNvPr id="13" name="TextBox 13"/>
          <p:cNvSpPr txBox="1"/>
          <p:nvPr/>
        </p:nvSpPr>
        <p:spPr>
          <a:xfrm>
            <a:off x="657061" y="2627114"/>
            <a:ext cx="3231293"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Read-Time Compression</a:t>
            </a:r>
            <a:endParaRPr lang="en-US" sz="1100"/>
          </a:p>
        </p:txBody>
      </p:sp>
      <p:sp>
        <p:nvSpPr>
          <p:cNvPr id="14" name="TextBox 14"/>
          <p:cNvSpPr txBox="1"/>
          <p:nvPr/>
        </p:nvSpPr>
        <p:spPr>
          <a:xfrm>
            <a:off x="657061" y="2947095"/>
            <a:ext cx="323129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7BB7FF">
                    <a:alpha val="100000"/>
                  </a:srgbClr>
                </a:solidFill>
                <a:latin typeface="Inter" panose="02000503000000020004"/>
                <a:ea typeface="Inter" panose="02000503000000020004"/>
                <a:cs typeface="Inter" panose="02000503000000020004"/>
              </a:rPr>
              <a:t>On-the-Fly</a:t>
            </a:r>
            <a:endParaRPr lang="en-US" sz="1100"/>
          </a:p>
        </p:txBody>
      </p:sp>
      <p:sp>
        <p:nvSpPr>
          <p:cNvPr id="15" name="AutoShape 15"/>
          <p:cNvSpPr/>
          <p:nvPr/>
        </p:nvSpPr>
        <p:spPr>
          <a:xfrm>
            <a:off x="657061" y="3280470"/>
            <a:ext cx="323129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16" name="TextBox 16"/>
          <p:cNvSpPr txBox="1"/>
          <p:nvPr/>
        </p:nvSpPr>
        <p:spPr>
          <a:xfrm>
            <a:off x="657061" y="3490020"/>
            <a:ext cx="3431267" cy="938808"/>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Enforces hard truncation limits (1500 chars per</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fragment, 20 graph nodes, 3 community</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summaries) and invokes LLM distillation only</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when text exceeds 800 characters.</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7" name="AutoShape 17"/>
          <p:cNvSpPr/>
          <p:nvPr/>
        </p:nvSpPr>
        <p:spPr>
          <a:xfrm>
            <a:off x="657061" y="6076950"/>
            <a:ext cx="76181" cy="76200"/>
          </a:xfrm>
          <a:prstGeom prst="ellipse">
            <a:avLst/>
          </a:prstGeom>
          <a:ln w="9525">
            <a:solidFill>
              <a:srgbClr val="2DE7F0">
                <a:alpha val="100000"/>
              </a:srgbClr>
            </a:solidFill>
            <a:prstDash val="solid"/>
            <a:headEnd type="none"/>
            <a:tailEnd type="none"/>
          </a:ln>
        </p:spPr>
      </p:sp>
      <p:sp>
        <p:nvSpPr>
          <p:cNvPr id="18" name="AutoShape 18"/>
          <p:cNvSpPr/>
          <p:nvPr/>
        </p:nvSpPr>
        <p:spPr>
          <a:xfrm>
            <a:off x="809423" y="6110288"/>
            <a:ext cx="228543" cy="9525"/>
          </a:xfrm>
          <a:prstGeom prst="rect">
            <a:avLst/>
          </a:prstGeom>
          <a:solidFill>
            <a:srgbClr val="2DE7F0">
              <a:alpha val="21960"/>
            </a:srgbClr>
          </a:solidFill>
          <a:ln>
            <a:headEnd type="none"/>
            <a:tailEnd type="none"/>
          </a:ln>
        </p:spPr>
      </p:sp>
      <p:sp>
        <p:nvSpPr>
          <p:cNvPr id="19" name="TextBox 19"/>
          <p:cNvSpPr txBox="1"/>
          <p:nvPr/>
        </p:nvSpPr>
        <p:spPr>
          <a:xfrm>
            <a:off x="1114147" y="6048375"/>
            <a:ext cx="835461"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60000"/>
                  </a:srgbClr>
                </a:solidFill>
                <a:latin typeface="Inter" panose="02000503000000020004"/>
                <a:ea typeface="Inter" panose="02000503000000020004"/>
                <a:cs typeface="Inter" panose="02000503000000020004"/>
              </a:rPr>
              <a:t>Inference Stage</a:t>
            </a:r>
            <a:endParaRPr lang="en-US" sz="1100"/>
          </a:p>
        </p:txBody>
      </p:sp>
      <p:sp>
        <p:nvSpPr>
          <p:cNvPr id="20" name="AutoShape 20"/>
          <p:cNvSpPr/>
          <p:nvPr/>
        </p:nvSpPr>
        <p:spPr>
          <a:xfrm>
            <a:off x="4278780" y="2141339"/>
            <a:ext cx="3631242" cy="4259461"/>
          </a:xfrm>
          <a:prstGeom prst="roundRect">
            <a:avLst>
              <a:gd name="adj" fmla="val 5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1" name="TextBox 21"/>
          <p:cNvSpPr txBox="1"/>
          <p:nvPr/>
        </p:nvSpPr>
        <p:spPr>
          <a:xfrm>
            <a:off x="4478755" y="2360414"/>
            <a:ext cx="3231293"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Phase 02</a:t>
            </a:r>
            <a:endParaRPr lang="en-US" sz="1100"/>
          </a:p>
        </p:txBody>
      </p:sp>
      <p:sp>
        <p:nvSpPr>
          <p:cNvPr id="22" name="TextBox 22"/>
          <p:cNvSpPr txBox="1"/>
          <p:nvPr/>
        </p:nvSpPr>
        <p:spPr>
          <a:xfrm>
            <a:off x="4478755" y="2627114"/>
            <a:ext cx="3231293"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Write-Time Compression</a:t>
            </a:r>
            <a:endParaRPr lang="en-US" sz="1100"/>
          </a:p>
        </p:txBody>
      </p:sp>
      <p:sp>
        <p:nvSpPr>
          <p:cNvPr id="23" name="TextBox 23"/>
          <p:cNvSpPr txBox="1"/>
          <p:nvPr/>
        </p:nvSpPr>
        <p:spPr>
          <a:xfrm>
            <a:off x="4478755" y="2947095"/>
            <a:ext cx="323129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7BB7FF">
                    <a:alpha val="100000"/>
                  </a:srgbClr>
                </a:solidFill>
                <a:latin typeface="Inter" panose="02000503000000020004"/>
                <a:ea typeface="Inter" panose="02000503000000020004"/>
                <a:cs typeface="Inter" panose="02000503000000020004"/>
              </a:rPr>
              <a:t>Compress-on-Write</a:t>
            </a:r>
            <a:endParaRPr lang="en-US" sz="1100"/>
          </a:p>
        </p:txBody>
      </p:sp>
      <p:sp>
        <p:nvSpPr>
          <p:cNvPr id="24" name="AutoShape 24"/>
          <p:cNvSpPr/>
          <p:nvPr/>
        </p:nvSpPr>
        <p:spPr>
          <a:xfrm>
            <a:off x="4478755" y="3280470"/>
            <a:ext cx="323129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5" name="TextBox 25"/>
          <p:cNvSpPr txBox="1"/>
          <p:nvPr/>
        </p:nvSpPr>
        <p:spPr>
          <a:xfrm>
            <a:off x="4478755" y="3490020"/>
            <a:ext cx="3431267" cy="938808"/>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Applies fine-grained 512-token chunking during</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ingestion and compresses full-length</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documents into highly structured entity-relation-</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entity triples for the graph database.</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6" name="AutoShape 26"/>
          <p:cNvSpPr/>
          <p:nvPr/>
        </p:nvSpPr>
        <p:spPr>
          <a:xfrm>
            <a:off x="4478755" y="6076950"/>
            <a:ext cx="76181" cy="76200"/>
          </a:xfrm>
          <a:prstGeom prst="ellipse">
            <a:avLst/>
          </a:prstGeom>
          <a:ln w="9525">
            <a:solidFill>
              <a:srgbClr val="2DE7F0">
                <a:alpha val="100000"/>
              </a:srgbClr>
            </a:solidFill>
            <a:prstDash val="solid"/>
            <a:headEnd type="none"/>
            <a:tailEnd type="none"/>
          </a:ln>
        </p:spPr>
      </p:sp>
      <p:sp>
        <p:nvSpPr>
          <p:cNvPr id="27" name="AutoShape 27"/>
          <p:cNvSpPr/>
          <p:nvPr/>
        </p:nvSpPr>
        <p:spPr>
          <a:xfrm>
            <a:off x="4631117" y="6110288"/>
            <a:ext cx="228543" cy="9525"/>
          </a:xfrm>
          <a:prstGeom prst="rect">
            <a:avLst/>
          </a:prstGeom>
          <a:solidFill>
            <a:srgbClr val="2DE7F0">
              <a:alpha val="21960"/>
            </a:srgbClr>
          </a:solidFill>
          <a:ln>
            <a:headEnd type="none"/>
            <a:tailEnd type="none"/>
          </a:ln>
        </p:spPr>
      </p:sp>
      <p:sp>
        <p:nvSpPr>
          <p:cNvPr id="28" name="TextBox 28"/>
          <p:cNvSpPr txBox="1"/>
          <p:nvPr/>
        </p:nvSpPr>
        <p:spPr>
          <a:xfrm>
            <a:off x="4935841" y="6048375"/>
            <a:ext cx="822814"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60000"/>
                  </a:srgbClr>
                </a:solidFill>
                <a:latin typeface="Inter" panose="02000503000000020004"/>
                <a:ea typeface="Inter" panose="02000503000000020004"/>
                <a:cs typeface="Inter" panose="02000503000000020004"/>
              </a:rPr>
              <a:t>Ingestion Stage</a:t>
            </a:r>
            <a:endParaRPr lang="en-US" sz="1100"/>
          </a:p>
        </p:txBody>
      </p:sp>
      <p:sp>
        <p:nvSpPr>
          <p:cNvPr id="29" name="AutoShape 29"/>
          <p:cNvSpPr/>
          <p:nvPr/>
        </p:nvSpPr>
        <p:spPr>
          <a:xfrm>
            <a:off x="8100475" y="2141339"/>
            <a:ext cx="3631242" cy="4259461"/>
          </a:xfrm>
          <a:prstGeom prst="roundRect">
            <a:avLst>
              <a:gd name="adj" fmla="val 528"/>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30" name="TextBox 30"/>
          <p:cNvSpPr txBox="1"/>
          <p:nvPr/>
        </p:nvSpPr>
        <p:spPr>
          <a:xfrm>
            <a:off x="8300451" y="2360414"/>
            <a:ext cx="3231293"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Result</a:t>
            </a:r>
            <a:endParaRPr lang="en-US" sz="1100"/>
          </a:p>
        </p:txBody>
      </p:sp>
      <p:sp>
        <p:nvSpPr>
          <p:cNvPr id="31" name="TextBox 31"/>
          <p:cNvSpPr txBox="1"/>
          <p:nvPr/>
        </p:nvSpPr>
        <p:spPr>
          <a:xfrm>
            <a:off x="8300451" y="2627114"/>
            <a:ext cx="3231293"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Synergistic Effect</a:t>
            </a:r>
            <a:endParaRPr lang="en-US" sz="1100"/>
          </a:p>
        </p:txBody>
      </p:sp>
      <p:sp>
        <p:nvSpPr>
          <p:cNvPr id="32" name="TextBox 32"/>
          <p:cNvSpPr txBox="1"/>
          <p:nvPr/>
        </p:nvSpPr>
        <p:spPr>
          <a:xfrm>
            <a:off x="8300451" y="2947095"/>
            <a:ext cx="323129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7BB7FF">
                    <a:alpha val="100000"/>
                  </a:srgbClr>
                </a:solidFill>
                <a:latin typeface="Inter" panose="02000503000000020004"/>
                <a:ea typeface="Inter" panose="02000503000000020004"/>
                <a:cs typeface="Inter" panose="02000503000000020004"/>
              </a:rPr>
              <a:t>Dual-Phase Synergy</a:t>
            </a:r>
            <a:endParaRPr lang="en-US" sz="1100"/>
          </a:p>
        </p:txBody>
      </p:sp>
      <p:sp>
        <p:nvSpPr>
          <p:cNvPr id="33" name="AutoShape 33"/>
          <p:cNvSpPr/>
          <p:nvPr/>
        </p:nvSpPr>
        <p:spPr>
          <a:xfrm>
            <a:off x="8300451" y="3280470"/>
            <a:ext cx="323129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34" name="TextBox 34"/>
          <p:cNvSpPr txBox="1"/>
          <p:nvPr/>
        </p:nvSpPr>
        <p:spPr>
          <a:xfrm>
            <a:off x="8300451" y="3490020"/>
            <a:ext cx="3431267" cy="938808"/>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This dual-phase approach ensures that the</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database remains lean and highly structured,</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while real-time inference avoids context-window</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bottlenecks during peak concurrent usage.</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35" name="AutoShape 35"/>
          <p:cNvSpPr/>
          <p:nvPr/>
        </p:nvSpPr>
        <p:spPr>
          <a:xfrm>
            <a:off x="8300451" y="6076950"/>
            <a:ext cx="76181" cy="76200"/>
          </a:xfrm>
          <a:prstGeom prst="ellipse">
            <a:avLst/>
          </a:prstGeom>
          <a:ln w="9525">
            <a:solidFill>
              <a:srgbClr val="2DE7F0">
                <a:alpha val="100000"/>
              </a:srgbClr>
            </a:solidFill>
            <a:prstDash val="solid"/>
            <a:headEnd type="none"/>
            <a:tailEnd type="none"/>
          </a:ln>
        </p:spPr>
      </p:sp>
      <p:sp>
        <p:nvSpPr>
          <p:cNvPr id="36" name="AutoShape 36"/>
          <p:cNvSpPr/>
          <p:nvPr/>
        </p:nvSpPr>
        <p:spPr>
          <a:xfrm>
            <a:off x="8452813" y="6110288"/>
            <a:ext cx="228543" cy="9525"/>
          </a:xfrm>
          <a:prstGeom prst="rect">
            <a:avLst/>
          </a:prstGeom>
          <a:solidFill>
            <a:srgbClr val="2DE7F0">
              <a:alpha val="21960"/>
            </a:srgbClr>
          </a:solidFill>
          <a:ln>
            <a:headEnd type="none"/>
            <a:tailEnd type="none"/>
          </a:ln>
        </p:spPr>
      </p:sp>
      <p:sp>
        <p:nvSpPr>
          <p:cNvPr id="37" name="TextBox 37"/>
          <p:cNvSpPr txBox="1"/>
          <p:nvPr/>
        </p:nvSpPr>
        <p:spPr>
          <a:xfrm>
            <a:off x="8757536" y="6048375"/>
            <a:ext cx="784426"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60000"/>
                  </a:srgbClr>
                </a:solidFill>
                <a:latin typeface="Inter" panose="02000503000000020004"/>
                <a:ea typeface="Inter" panose="02000503000000020004"/>
                <a:cs typeface="Inter" panose="02000503000000020004"/>
              </a:rPr>
              <a:t>System Output</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495300"/>
            <a:ext cx="38090" cy="342900"/>
          </a:xfrm>
          <a:prstGeom prst="roundRect">
            <a:avLst>
              <a:gd name="adj" fmla="val 50000"/>
            </a:avLst>
          </a:prstGeom>
          <a:solidFill>
            <a:srgbClr val="2DE7F0">
              <a:alpha val="100000"/>
            </a:srgbClr>
          </a:solidFill>
          <a:ln>
            <a:headEnd type="none"/>
            <a:tailEnd type="none"/>
          </a:ln>
        </p:spPr>
      </p:sp>
      <p:sp>
        <p:nvSpPr>
          <p:cNvPr id="6" name="TextBox 6"/>
          <p:cNvSpPr txBox="1"/>
          <p:nvPr/>
        </p:nvSpPr>
        <p:spPr>
          <a:xfrm>
            <a:off x="628493" y="457200"/>
            <a:ext cx="7562150"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Inter" panose="02000503000000020004"/>
                <a:ea typeface="Inter" panose="02000503000000020004"/>
                <a:cs typeface="Inter" panose="02000503000000020004"/>
              </a:rPr>
              <a:t>Multi-Level Q&amp;A Acceleration Mechanism</a:t>
            </a:r>
            <a:endParaRPr lang="en-US" sz="1100"/>
          </a:p>
        </p:txBody>
      </p:sp>
      <p:sp>
        <p:nvSpPr>
          <p:cNvPr id="7" name="AutoShape 7"/>
          <p:cNvSpPr/>
          <p:nvPr/>
        </p:nvSpPr>
        <p:spPr>
          <a:xfrm>
            <a:off x="628493" y="971550"/>
            <a:ext cx="5904023"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AutoShape 8"/>
          <p:cNvSpPr/>
          <p:nvPr/>
        </p:nvSpPr>
        <p:spPr>
          <a:xfrm>
            <a:off x="457086" y="1171575"/>
            <a:ext cx="11274781" cy="1011436"/>
          </a:xfrm>
          <a:prstGeom prst="roundRect">
            <a:avLst>
              <a:gd name="adj" fmla="val 6811"/>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9" name="AutoShape 9"/>
          <p:cNvSpPr/>
          <p:nvPr/>
        </p:nvSpPr>
        <p:spPr>
          <a:xfrm>
            <a:off x="457086" y="1171575"/>
            <a:ext cx="9522" cy="1011436"/>
          </a:xfrm>
          <a:prstGeom prst="line">
            <a:avLst/>
          </a:prstGeom>
          <a:ln w="28575">
            <a:solidFill>
              <a:srgbClr val="2DE7F0">
                <a:alpha val="100000"/>
              </a:srgbClr>
            </a:solidFill>
            <a:prstDash val="solid"/>
            <a:headEnd type="none"/>
            <a:tailEnd type="none"/>
          </a:ln>
        </p:spPr>
      </p:sp>
      <p:sp>
        <p:nvSpPr>
          <p:cNvPr id="10" name="TextBox 10"/>
          <p:cNvSpPr txBox="1"/>
          <p:nvPr/>
        </p:nvSpPr>
        <p:spPr>
          <a:xfrm>
            <a:off x="752287" y="1390650"/>
            <a:ext cx="10979579" cy="562868"/>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Ultimate performance optimization is achieved through </a:t>
            </a:r>
            <a:r>
              <a:rPr sz="1600" b="1" i="0" strike="noStrike">
                <a:solidFill>
                  <a:srgbClr val="2DE7F0">
                    <a:alpha val="100000"/>
                  </a:srgbClr>
                </a:solidFill>
                <a:latin typeface="Inter" panose="02000503000000020004"/>
                <a:ea typeface="Inter" panose="02000503000000020004"/>
                <a:cs typeface="Inter" panose="02000503000000020004"/>
              </a:rPr>
              <a:t>concurrent hybrid retrieval</a:t>
            </a:r>
            <a:r>
              <a:rPr sz="1600" b="0" i="0" strike="noStrike">
                <a:solidFill>
                  <a:srgbClr val="B9CED8">
                    <a:alpha val="100000"/>
                  </a:srgbClr>
                </a:solidFill>
                <a:latin typeface="Inter" panose="02000503000000020004"/>
                <a:ea typeface="Inter" panose="02000503000000020004"/>
                <a:cs typeface="Inter" panose="02000503000000020004"/>
              </a:rPr>
              <a:t>, aggressive context filtering</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that </a:t>
            </a:r>
            <a:r>
              <a:rPr sz="1600" b="1" i="0" strike="noStrike">
                <a:solidFill>
                  <a:srgbClr val="2DE7F0">
                    <a:alpha val="100000"/>
                  </a:srgbClr>
                </a:solidFill>
                <a:latin typeface="Inter" panose="02000503000000020004"/>
                <a:ea typeface="Inter" panose="02000503000000020004"/>
                <a:cs typeface="Inter" panose="02000503000000020004"/>
              </a:rPr>
              <a:t>reduces token volume by 99.9%</a:t>
            </a:r>
            <a:r>
              <a:rPr sz="1600" b="0" i="0" strike="noStrike">
                <a:solidFill>
                  <a:srgbClr val="B9CED8">
                    <a:alpha val="100000"/>
                  </a:srgbClr>
                </a:solidFill>
                <a:latin typeface="Inter" panose="02000503000000020004"/>
                <a:ea typeface="Inter" panose="02000503000000020004"/>
                <a:cs typeface="Inter" panose="02000503000000020004"/>
              </a:rPr>
              <a:t>, and streaming architectures that guarantee </a:t>
            </a:r>
            <a:r>
              <a:rPr sz="1600" b="1" i="0" strike="noStrike">
                <a:solidFill>
                  <a:srgbClr val="2DE7F0">
                    <a:alpha val="100000"/>
                  </a:srgbClr>
                </a:solidFill>
                <a:latin typeface="Inter" panose="02000503000000020004"/>
                <a:ea typeface="Inter" panose="02000503000000020004"/>
                <a:cs typeface="Inter" panose="02000503000000020004"/>
              </a:rPr>
              <a:t>minimal time-to-first-token</a:t>
            </a:r>
            <a:r>
              <a:rPr sz="1600" b="0" i="0" strike="noStrike">
                <a:solidFill>
                  <a:srgbClr val="B9CED8">
                    <a:alpha val="100000"/>
                  </a:srgbClr>
                </a:solidFill>
                <a:latin typeface="Inter" panose="02000503000000020004"/>
                <a:ea typeface="Inter" panose="02000503000000020004"/>
                <a:cs typeface="Inter" panose="02000503000000020004"/>
              </a:rPr>
              <a:t>.</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
        <p:nvSpPr>
          <p:cNvPr id="11" name="AutoShape 11"/>
          <p:cNvSpPr/>
          <p:nvPr/>
        </p:nvSpPr>
        <p:spPr>
          <a:xfrm>
            <a:off x="457086" y="2411611"/>
            <a:ext cx="3618594" cy="3989189"/>
          </a:xfrm>
          <a:prstGeom prst="roundRect">
            <a:avLst>
              <a:gd name="adj" fmla="val 53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2" name="AutoShape 12"/>
          <p:cNvSpPr/>
          <p:nvPr/>
        </p:nvSpPr>
        <p:spPr>
          <a:xfrm>
            <a:off x="695151" y="2815382"/>
            <a:ext cx="416317" cy="419100"/>
          </a:xfrm>
          <a:prstGeom prst="roundRect">
            <a:avLst>
              <a:gd name="adj" fmla="val 40192"/>
            </a:avLst>
          </a:prstGeom>
          <a:solidFill>
            <a:srgbClr val="2DE7F0">
              <a:alpha val="7843"/>
            </a:srgbClr>
          </a:solidFill>
          <a:ln w="9525">
            <a:solidFill>
              <a:srgbClr val="2DE7F0">
                <a:alpha val="21960"/>
              </a:srgbClr>
            </a:solidFill>
            <a:prstDash val="solid"/>
            <a:headEnd type="none"/>
            <a:tailEnd type="none"/>
          </a:ln>
        </p:spPr>
      </p:sp>
      <p:sp>
        <p:nvSpPr>
          <p:cNvPr id="13" name="AutoShape 13"/>
          <p:cNvSpPr/>
          <p:nvPr/>
        </p:nvSpPr>
        <p:spPr>
          <a:xfrm>
            <a:off x="798561" y="2920157"/>
            <a:ext cx="209498" cy="209550"/>
          </a:xfrm>
          <a:custGeom>
            <a:avLst/>
            <a:gdLst/>
            <a:ahLst/>
            <a:cxnLst/>
            <a:rect l="l" t="t" r="r" b="b"/>
            <a:pathLst>
              <a:path w="9998" h="10000">
                <a:moveTo>
                  <a:pt x="5554" y="0"/>
                </a:moveTo>
                <a:lnTo>
                  <a:pt x="0" y="6000"/>
                </a:lnTo>
                <a:lnTo>
                  <a:pt x="4999" y="6000"/>
                </a:lnTo>
                <a:lnTo>
                  <a:pt x="4444" y="10000"/>
                </a:lnTo>
                <a:lnTo>
                  <a:pt x="9998" y="4000"/>
                </a:lnTo>
                <a:lnTo>
                  <a:pt x="4999" y="4000"/>
                </a:lnTo>
                <a:lnTo>
                  <a:pt x="5554" y="0"/>
                </a:lnTo>
                <a:close/>
              </a:path>
            </a:pathLst>
          </a:custGeom>
          <a:ln w="19050">
            <a:solidFill>
              <a:srgbClr val="2DE7F0">
                <a:alpha val="100000"/>
              </a:srgbClr>
            </a:solidFill>
            <a:prstDash val="solid"/>
            <a:headEnd type="none"/>
            <a:tailEnd type="none"/>
          </a:ln>
        </p:spPr>
      </p:sp>
      <p:sp>
        <p:nvSpPr>
          <p:cNvPr id="14" name="TextBox 14"/>
          <p:cNvSpPr txBox="1"/>
          <p:nvPr/>
        </p:nvSpPr>
        <p:spPr>
          <a:xfrm>
            <a:off x="1225739" y="2687836"/>
            <a:ext cx="2611876"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Phase 01</a:t>
            </a:r>
            <a:endParaRPr lang="en-US" sz="1100"/>
          </a:p>
        </p:txBody>
      </p:sp>
      <p:sp>
        <p:nvSpPr>
          <p:cNvPr id="15" name="TextBox 15"/>
          <p:cNvSpPr txBox="1"/>
          <p:nvPr/>
        </p:nvSpPr>
        <p:spPr>
          <a:xfrm>
            <a:off x="1225739" y="2836366"/>
            <a:ext cx="2611876" cy="520005"/>
          </a:xfrm>
          <a:prstGeom prst="rect">
            <a:avLst/>
          </a:prstGeom>
          <a:ln>
            <a:headEnd type="none"/>
            <a:tailEnd type="none"/>
          </a:ln>
        </p:spPr>
        <p:txBody>
          <a:bodyPr vert="horz" wrap="squar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Parallel Hybrid</a:t>
            </a:r>
            <a:endParaRPr lang="en-US" sz="1100"/>
          </a:p>
          <a:p>
            <a:pPr algn="l"/>
            <a:r>
              <a:rPr sz="1800" b="1" i="0" strike="noStrike">
                <a:solidFill>
                  <a:srgbClr val="F4FAFF">
                    <a:alpha val="100000"/>
                  </a:srgbClr>
                </a:solidFill>
                <a:latin typeface="Inter" panose="02000503000000020004"/>
                <a:ea typeface="Inter" panose="02000503000000020004"/>
                <a:cs typeface="Inter" panose="02000503000000020004"/>
              </a:rPr>
              <a:t>Retrieval</a:t>
            </a:r>
            <a:endParaRPr sz="1800" b="1" i="0" strike="noStrike">
              <a:solidFill>
                <a:srgbClr val="F4FAFF">
                  <a:alpha val="100000"/>
                </a:srgbClr>
              </a:solidFill>
              <a:latin typeface="Inter" panose="02000503000000020004"/>
              <a:ea typeface="Inter" panose="02000503000000020004"/>
              <a:cs typeface="Inter" panose="02000503000000020004"/>
            </a:endParaRPr>
          </a:p>
        </p:txBody>
      </p:sp>
      <p:sp>
        <p:nvSpPr>
          <p:cNvPr id="16" name="TextBox 16"/>
          <p:cNvSpPr txBox="1"/>
          <p:nvPr/>
        </p:nvSpPr>
        <p:spPr>
          <a:xfrm>
            <a:off x="695151" y="3571578"/>
            <a:ext cx="3142464" cy="1038821"/>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Leverages high GPU parallelism to</a:t>
            </a:r>
            <a:endParaRPr lang="en-US" sz="1100"/>
          </a:p>
          <a:p>
            <a:pPr algn="l"/>
            <a:r>
              <a:rPr sz="1300" b="0" i="0" strike="noStrike">
                <a:solidFill>
                  <a:srgbClr val="B9CED8">
                    <a:alpha val="100000"/>
                  </a:srgbClr>
                </a:solidFill>
                <a:latin typeface="Inter" panose="02000503000000020004"/>
                <a:ea typeface="Inter" panose="02000503000000020004"/>
                <a:cs typeface="Inter" panose="02000503000000020004"/>
              </a:rPr>
              <a:t>execute </a:t>
            </a:r>
            <a:r>
              <a:rPr sz="1300" b="0" i="0" strike="noStrike">
                <a:solidFill>
                  <a:srgbClr val="F4FAFF">
                    <a:alpha val="100000"/>
                  </a:srgbClr>
                </a:solidFill>
                <a:latin typeface="Inter" panose="02000503000000020004"/>
                <a:ea typeface="Inter" panose="02000503000000020004"/>
                <a:cs typeface="Inter" panose="02000503000000020004"/>
              </a:rPr>
              <a:t>vector and graph searches</a:t>
            </a:r>
            <a:endParaRPr sz="1300" b="0" i="0" strike="noStrike">
              <a:solidFill>
                <a:srgbClr val="F4FAFF">
                  <a:alpha val="100000"/>
                </a:srgbClr>
              </a:solidFill>
              <a:latin typeface="Inter" panose="02000503000000020004"/>
              <a:ea typeface="Inter" panose="02000503000000020004"/>
              <a:cs typeface="Inter" panose="02000503000000020004"/>
            </a:endParaRPr>
          </a:p>
          <a:p>
            <a:pPr algn="l"/>
            <a:r>
              <a:rPr sz="1300" b="0" i="0" strike="noStrike">
                <a:solidFill>
                  <a:srgbClr val="F4FAFF">
                    <a:alpha val="100000"/>
                  </a:srgbClr>
                </a:solidFill>
                <a:latin typeface="Inter" panose="02000503000000020004"/>
                <a:ea typeface="Inter" panose="02000503000000020004"/>
                <a:cs typeface="Inter" panose="02000503000000020004"/>
              </a:rPr>
              <a:t>concurrently</a:t>
            </a:r>
            <a:r>
              <a:rPr sz="1300" b="0" i="0" strike="noStrike">
                <a:solidFill>
                  <a:srgbClr val="B9CED8">
                    <a:alpha val="100000"/>
                  </a:srgbClr>
                </a:solidFill>
                <a:latin typeface="Inter" panose="02000503000000020004"/>
                <a:ea typeface="Inter" panose="02000503000000020004"/>
                <a:cs typeface="Inter" panose="02000503000000020004"/>
              </a:rPr>
              <a:t>, drastically reducing the</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initial data gathering phase.</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17" name="AutoShape 17"/>
          <p:cNvSpPr/>
          <p:nvPr/>
        </p:nvSpPr>
        <p:spPr>
          <a:xfrm>
            <a:off x="695151" y="5795962"/>
            <a:ext cx="3142464" cy="9525"/>
          </a:xfrm>
          <a:prstGeom prst="line">
            <a:avLst/>
          </a:prstGeom>
          <a:ln w="9525">
            <a:solidFill>
              <a:srgbClr val="2DE7F0">
                <a:alpha val="21960"/>
              </a:srgbClr>
            </a:solidFill>
            <a:prstDash val="solid"/>
            <a:headEnd type="none"/>
            <a:tailEnd type="none"/>
          </a:ln>
        </p:spPr>
      </p:sp>
      <p:sp>
        <p:nvSpPr>
          <p:cNvPr id="18" name="AutoShape 18"/>
          <p:cNvSpPr/>
          <p:nvPr/>
        </p:nvSpPr>
        <p:spPr>
          <a:xfrm>
            <a:off x="695151" y="5993606"/>
            <a:ext cx="76181" cy="76200"/>
          </a:xfrm>
          <a:prstGeom prst="ellipse">
            <a:avLst/>
          </a:prstGeom>
          <a:solidFill>
            <a:srgbClr val="2DE7F0">
              <a:alpha val="100000"/>
            </a:srgbClr>
          </a:solidFill>
          <a:ln>
            <a:headEnd type="none"/>
            <a:tailEnd type="none"/>
          </a:ln>
        </p:spPr>
      </p:sp>
      <p:sp>
        <p:nvSpPr>
          <p:cNvPr id="19" name="TextBox 19"/>
          <p:cNvSpPr txBox="1"/>
          <p:nvPr/>
        </p:nvSpPr>
        <p:spPr>
          <a:xfrm>
            <a:off x="847513" y="5957888"/>
            <a:ext cx="1437916"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GPU-Parallel Execution</a:t>
            </a:r>
            <a:endParaRPr lang="en-US" sz="1100"/>
          </a:p>
        </p:txBody>
      </p:sp>
      <p:sp>
        <p:nvSpPr>
          <p:cNvPr id="20" name="AutoShape 20"/>
          <p:cNvSpPr/>
          <p:nvPr/>
        </p:nvSpPr>
        <p:spPr>
          <a:xfrm>
            <a:off x="4285178" y="2411611"/>
            <a:ext cx="3618594" cy="3989189"/>
          </a:xfrm>
          <a:prstGeom prst="roundRect">
            <a:avLst>
              <a:gd name="adj" fmla="val 53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1" name="AutoShape 21"/>
          <p:cNvSpPr/>
          <p:nvPr/>
        </p:nvSpPr>
        <p:spPr>
          <a:xfrm>
            <a:off x="4523243" y="2687836"/>
            <a:ext cx="418996" cy="419100"/>
          </a:xfrm>
          <a:prstGeom prst="roundRect">
            <a:avLst>
              <a:gd name="adj" fmla="val 39679"/>
            </a:avLst>
          </a:prstGeom>
          <a:solidFill>
            <a:srgbClr val="2DE7F0">
              <a:alpha val="7843"/>
            </a:srgbClr>
          </a:solidFill>
          <a:ln w="9525">
            <a:solidFill>
              <a:srgbClr val="2DE7F0">
                <a:alpha val="21960"/>
              </a:srgbClr>
            </a:solidFill>
            <a:prstDash val="solid"/>
            <a:headEnd type="none"/>
            <a:tailEnd type="none"/>
          </a:ln>
        </p:spPr>
      </p:sp>
      <p:sp>
        <p:nvSpPr>
          <p:cNvPr id="22" name="TextBox 22"/>
          <p:cNvSpPr txBox="1"/>
          <p:nvPr/>
        </p:nvSpPr>
        <p:spPr>
          <a:xfrm>
            <a:off x="5056510" y="2691705"/>
            <a:ext cx="2197195"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Phase 02</a:t>
            </a:r>
            <a:endParaRPr lang="en-US" sz="1100"/>
          </a:p>
        </p:txBody>
      </p:sp>
      <p:sp>
        <p:nvSpPr>
          <p:cNvPr id="23" name="TextBox 23"/>
          <p:cNvSpPr txBox="1"/>
          <p:nvPr/>
        </p:nvSpPr>
        <p:spPr>
          <a:xfrm>
            <a:off x="5056510" y="2840236"/>
            <a:ext cx="2254331"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Aggressive Filtering</a:t>
            </a:r>
            <a:endParaRPr lang="en-US" sz="1100"/>
          </a:p>
        </p:txBody>
      </p:sp>
      <p:sp>
        <p:nvSpPr>
          <p:cNvPr id="24" name="TextBox 24"/>
          <p:cNvSpPr txBox="1"/>
          <p:nvPr/>
        </p:nvSpPr>
        <p:spPr>
          <a:xfrm>
            <a:off x="4523243" y="3316486"/>
            <a:ext cx="3380529" cy="1038821"/>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BGE-Reranker strictly limits context to</a:t>
            </a:r>
            <a:endParaRPr lang="en-US" sz="1100"/>
          </a:p>
          <a:p>
            <a:pPr algn="l"/>
            <a:r>
              <a:rPr sz="1300" b="0" i="0" strike="noStrike">
                <a:solidFill>
                  <a:srgbClr val="F4FAFF">
                    <a:alpha val="100000"/>
                  </a:srgbClr>
                </a:solidFill>
                <a:latin typeface="Inter" panose="02000503000000020004"/>
                <a:ea typeface="Inter" panose="02000503000000020004"/>
                <a:cs typeface="Inter" panose="02000503000000020004"/>
              </a:rPr>
              <a:t>Top-5 candidates</a:t>
            </a:r>
            <a:r>
              <a:rPr sz="1300" b="0" i="0" strike="noStrike">
                <a:solidFill>
                  <a:srgbClr val="B9CED8">
                    <a:alpha val="100000"/>
                  </a:srgbClr>
                </a:solidFill>
                <a:latin typeface="Inter" panose="02000503000000020004"/>
                <a:ea typeface="Inter" panose="02000503000000020004"/>
                <a:cs typeface="Inter" panose="02000503000000020004"/>
              </a:rPr>
              <a:t>, reducing input token</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volume by </a:t>
            </a:r>
            <a:r>
              <a:rPr sz="1300" b="1" i="0" strike="noStrike">
                <a:solidFill>
                  <a:srgbClr val="7BB7FF">
                    <a:alpha val="100000"/>
                  </a:srgbClr>
                </a:solidFill>
                <a:latin typeface="Inter" panose="02000503000000020004"/>
                <a:ea typeface="Inter" panose="02000503000000020004"/>
                <a:cs typeface="Inter" panose="02000503000000020004"/>
              </a:rPr>
              <a:t>99.9%</a:t>
            </a:r>
            <a:r>
              <a:rPr sz="1300" b="0" i="0" strike="noStrike">
                <a:solidFill>
                  <a:srgbClr val="B9CED8">
                    <a:alpha val="100000"/>
                  </a:srgbClr>
                </a:solidFill>
                <a:latin typeface="Inter" panose="02000503000000020004"/>
                <a:ea typeface="Inter" panose="02000503000000020004"/>
                <a:cs typeface="Inter" panose="02000503000000020004"/>
              </a:rPr>
              <a:t> and preventing LLM</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hallucination from irrelevant noise.</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25" name="AutoShape 25"/>
          <p:cNvSpPr/>
          <p:nvPr/>
        </p:nvSpPr>
        <p:spPr>
          <a:xfrm>
            <a:off x="4523243" y="5795962"/>
            <a:ext cx="3142464" cy="9525"/>
          </a:xfrm>
          <a:prstGeom prst="line">
            <a:avLst/>
          </a:prstGeom>
          <a:ln w="9525">
            <a:solidFill>
              <a:srgbClr val="2DE7F0">
                <a:alpha val="21960"/>
              </a:srgbClr>
            </a:solidFill>
            <a:prstDash val="solid"/>
            <a:headEnd type="none"/>
            <a:tailEnd type="none"/>
          </a:ln>
        </p:spPr>
      </p:sp>
      <p:sp>
        <p:nvSpPr>
          <p:cNvPr id="26" name="AutoShape 26"/>
          <p:cNvSpPr/>
          <p:nvPr/>
        </p:nvSpPr>
        <p:spPr>
          <a:xfrm>
            <a:off x="4523243" y="5993606"/>
            <a:ext cx="76181" cy="76200"/>
          </a:xfrm>
          <a:prstGeom prst="ellipse">
            <a:avLst/>
          </a:prstGeom>
          <a:solidFill>
            <a:srgbClr val="7BB7FF">
              <a:alpha val="100000"/>
            </a:srgbClr>
          </a:solidFill>
          <a:ln>
            <a:headEnd type="none"/>
            <a:tailEnd type="none"/>
          </a:ln>
        </p:spPr>
      </p:sp>
      <p:sp>
        <p:nvSpPr>
          <p:cNvPr id="27" name="TextBox 27"/>
          <p:cNvSpPr txBox="1"/>
          <p:nvPr/>
        </p:nvSpPr>
        <p:spPr>
          <a:xfrm>
            <a:off x="4675605" y="5957888"/>
            <a:ext cx="1437916"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7BB7FF">
                    <a:alpha val="100000"/>
                  </a:srgbClr>
                </a:solidFill>
                <a:latin typeface="Inter" panose="02000503000000020004"/>
                <a:ea typeface="Inter" panose="02000503000000020004"/>
                <a:cs typeface="Inter" panose="02000503000000020004"/>
              </a:rPr>
              <a:t>99.9% Token Reduction</a:t>
            </a:r>
            <a:endParaRPr lang="en-US" sz="1100"/>
          </a:p>
        </p:txBody>
      </p:sp>
      <p:sp>
        <p:nvSpPr>
          <p:cNvPr id="28" name="AutoShape 28"/>
          <p:cNvSpPr/>
          <p:nvPr/>
        </p:nvSpPr>
        <p:spPr>
          <a:xfrm>
            <a:off x="8113271" y="2411611"/>
            <a:ext cx="3618594" cy="3989189"/>
          </a:xfrm>
          <a:prstGeom prst="roundRect">
            <a:avLst>
              <a:gd name="adj" fmla="val 532"/>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9" name="AutoShape 29"/>
          <p:cNvSpPr/>
          <p:nvPr/>
        </p:nvSpPr>
        <p:spPr>
          <a:xfrm>
            <a:off x="8351337" y="2687836"/>
            <a:ext cx="418996" cy="419100"/>
          </a:xfrm>
          <a:prstGeom prst="roundRect">
            <a:avLst>
              <a:gd name="adj" fmla="val 39679"/>
            </a:avLst>
          </a:prstGeom>
          <a:solidFill>
            <a:srgbClr val="2DE7F0">
              <a:alpha val="7843"/>
            </a:srgbClr>
          </a:solidFill>
          <a:ln w="9525">
            <a:solidFill>
              <a:srgbClr val="2DE7F0">
                <a:alpha val="21960"/>
              </a:srgbClr>
            </a:solidFill>
            <a:prstDash val="solid"/>
            <a:headEnd type="none"/>
            <a:tailEnd type="none"/>
          </a:ln>
        </p:spPr>
      </p:sp>
      <p:sp>
        <p:nvSpPr>
          <p:cNvPr id="30" name="AutoShape 30"/>
          <p:cNvSpPr/>
          <p:nvPr/>
        </p:nvSpPr>
        <p:spPr>
          <a:xfrm>
            <a:off x="8473544" y="2818804"/>
            <a:ext cx="174582" cy="157162"/>
          </a:xfrm>
          <a:custGeom>
            <a:avLst/>
            <a:gdLst/>
            <a:ahLst/>
            <a:cxnLst/>
            <a:rect l="l" t="t" r="r" b="b"/>
            <a:pathLst>
              <a:path w="11108" h="10000">
                <a:moveTo>
                  <a:pt x="11108" y="5000"/>
                </a:moveTo>
                <a:lnTo>
                  <a:pt x="8886" y="5000"/>
                </a:lnTo>
                <a:lnTo>
                  <a:pt x="7220" y="10000"/>
                </a:lnTo>
                <a:lnTo>
                  <a:pt x="3888" y="0"/>
                </a:lnTo>
                <a:lnTo>
                  <a:pt x="2222" y="5000"/>
                </a:lnTo>
                <a:lnTo>
                  <a:pt x="0" y="5000"/>
                </a:lnTo>
              </a:path>
            </a:pathLst>
          </a:custGeom>
          <a:ln w="19050">
            <a:solidFill>
              <a:srgbClr val="2DE7F0">
                <a:alpha val="100000"/>
              </a:srgbClr>
            </a:solidFill>
            <a:prstDash val="solid"/>
            <a:headEnd type="none"/>
            <a:tailEnd type="none"/>
          </a:ln>
        </p:spPr>
      </p:sp>
      <p:sp>
        <p:nvSpPr>
          <p:cNvPr id="31" name="TextBox 31"/>
          <p:cNvSpPr txBox="1"/>
          <p:nvPr/>
        </p:nvSpPr>
        <p:spPr>
          <a:xfrm>
            <a:off x="8884604" y="2691705"/>
            <a:ext cx="2311319"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Phase 03</a:t>
            </a:r>
            <a:endParaRPr lang="en-US" sz="1100"/>
          </a:p>
        </p:txBody>
      </p:sp>
      <p:sp>
        <p:nvSpPr>
          <p:cNvPr id="32" name="TextBox 32"/>
          <p:cNvSpPr txBox="1"/>
          <p:nvPr/>
        </p:nvSpPr>
        <p:spPr>
          <a:xfrm>
            <a:off x="8884604" y="2840236"/>
            <a:ext cx="2368453" cy="257175"/>
          </a:xfrm>
          <a:prstGeom prst="rect">
            <a:avLst/>
          </a:prstGeom>
          <a:ln>
            <a:headEnd type="none"/>
            <a:tailEnd type="none"/>
          </a:ln>
        </p:spPr>
        <p:txBody>
          <a:bodyPr vert="horz" wrap="none" lIns="0" tIns="0" rIns="0" bIns="0" rtlCol="0" anchor="t" anchorCtr="0"/>
          <a:lstStyle/>
          <a:p>
            <a:pPr algn="l">
              <a:defRPr/>
            </a:pPr>
            <a:r>
              <a:rPr lang="en-US" sz="1800" b="1" i="0" strike="noStrike">
                <a:solidFill>
                  <a:srgbClr val="F4FAFF">
                    <a:alpha val="100000"/>
                  </a:srgbClr>
                </a:solidFill>
                <a:latin typeface="Inter" panose="02000503000000020004"/>
                <a:ea typeface="Inter" panose="02000503000000020004"/>
                <a:cs typeface="Inter" panose="02000503000000020004"/>
              </a:rPr>
              <a:t>Streaming &amp; Caching</a:t>
            </a:r>
            <a:endParaRPr lang="en-US" sz="1100"/>
          </a:p>
        </p:txBody>
      </p:sp>
      <p:sp>
        <p:nvSpPr>
          <p:cNvPr id="33" name="TextBox 33"/>
          <p:cNvSpPr txBox="1"/>
          <p:nvPr/>
        </p:nvSpPr>
        <p:spPr>
          <a:xfrm>
            <a:off x="8351337" y="3316486"/>
            <a:ext cx="3380529" cy="1321594"/>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B9CED8">
                    <a:alpha val="100000"/>
                  </a:srgbClr>
                </a:solidFill>
                <a:latin typeface="Inter" panose="02000503000000020004"/>
                <a:ea typeface="Inter" panose="02000503000000020004"/>
                <a:cs typeface="Inter" panose="02000503000000020004"/>
              </a:rPr>
              <a:t>Server-Sent Events (SSE) enable</a:t>
            </a:r>
            <a:endParaRPr lang="en-US" sz="1100"/>
          </a:p>
          <a:p>
            <a:pPr algn="l"/>
            <a:r>
              <a:rPr sz="1300" b="0" i="0" strike="noStrike">
                <a:solidFill>
                  <a:srgbClr val="F4FAFF">
                    <a:alpha val="100000"/>
                  </a:srgbClr>
                </a:solidFill>
                <a:latin typeface="Inter" panose="02000503000000020004"/>
                <a:ea typeface="Inter" panose="02000503000000020004"/>
                <a:cs typeface="Inter" panose="02000503000000020004"/>
              </a:rPr>
              <a:t>incremental token display</a:t>
            </a:r>
            <a:r>
              <a:rPr sz="1300" b="0" i="0" strike="noStrike">
                <a:solidFill>
                  <a:srgbClr val="B9CED8">
                    <a:alpha val="100000"/>
                  </a:srgbClr>
                </a:solidFill>
                <a:latin typeface="Inter" panose="02000503000000020004"/>
                <a:ea typeface="Inter" panose="02000503000000020004"/>
                <a:cs typeface="Inter" panose="02000503000000020004"/>
              </a:rPr>
              <a:t> for low time-to-</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first-token, while semantic caching</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guarantees </a:t>
            </a:r>
            <a:r>
              <a:rPr sz="1300" b="1" i="0" strike="noStrike">
                <a:solidFill>
                  <a:srgbClr val="7BB7FF">
                    <a:alpha val="100000"/>
                  </a:srgbClr>
                </a:solidFill>
                <a:latin typeface="Inter" panose="02000503000000020004"/>
                <a:ea typeface="Inter" panose="02000503000000020004"/>
                <a:cs typeface="Inter" panose="02000503000000020004"/>
              </a:rPr>
              <a:t>sub-50ms responses</a:t>
            </a:r>
            <a:r>
              <a:rPr sz="1300" b="0" i="0" strike="noStrike">
                <a:solidFill>
                  <a:srgbClr val="B9CED8">
                    <a:alpha val="100000"/>
                  </a:srgbClr>
                </a:solidFill>
                <a:latin typeface="Inter" panose="02000503000000020004"/>
                <a:ea typeface="Inter" panose="02000503000000020004"/>
                <a:cs typeface="Inter" panose="02000503000000020004"/>
              </a:rPr>
              <a:t> for</a:t>
            </a:r>
            <a:endParaRPr sz="1300" b="0" i="0" strike="noStrike">
              <a:solidFill>
                <a:srgbClr val="B9CED8">
                  <a:alpha val="100000"/>
                </a:srgbClr>
              </a:solidFill>
              <a:latin typeface="Inter" panose="02000503000000020004"/>
              <a:ea typeface="Inter" panose="02000503000000020004"/>
              <a:cs typeface="Inter" panose="02000503000000020004"/>
            </a:endParaRPr>
          </a:p>
          <a:p>
            <a:pPr algn="l"/>
            <a:r>
              <a:rPr sz="1300" b="0" i="0" strike="noStrike">
                <a:solidFill>
                  <a:srgbClr val="B9CED8">
                    <a:alpha val="100000"/>
                  </a:srgbClr>
                </a:solidFill>
                <a:latin typeface="Inter" panose="02000503000000020004"/>
                <a:ea typeface="Inter" panose="02000503000000020004"/>
                <a:cs typeface="Inter" panose="02000503000000020004"/>
              </a:rPr>
              <a:t>repeated queries.</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34" name="AutoShape 34"/>
          <p:cNvSpPr/>
          <p:nvPr/>
        </p:nvSpPr>
        <p:spPr>
          <a:xfrm>
            <a:off x="8351337" y="5795962"/>
            <a:ext cx="3142464" cy="9525"/>
          </a:xfrm>
          <a:prstGeom prst="line">
            <a:avLst/>
          </a:prstGeom>
          <a:ln w="9525">
            <a:solidFill>
              <a:srgbClr val="2DE7F0">
                <a:alpha val="21960"/>
              </a:srgbClr>
            </a:solidFill>
            <a:prstDash val="solid"/>
            <a:headEnd type="none"/>
            <a:tailEnd type="none"/>
          </a:ln>
        </p:spPr>
      </p:sp>
      <p:sp>
        <p:nvSpPr>
          <p:cNvPr id="35" name="AutoShape 35"/>
          <p:cNvSpPr/>
          <p:nvPr/>
        </p:nvSpPr>
        <p:spPr>
          <a:xfrm>
            <a:off x="8351337" y="5993606"/>
            <a:ext cx="76181" cy="76200"/>
          </a:xfrm>
          <a:prstGeom prst="ellipse">
            <a:avLst/>
          </a:prstGeom>
          <a:solidFill>
            <a:srgbClr val="2DE7F0">
              <a:alpha val="100000"/>
            </a:srgbClr>
          </a:solidFill>
          <a:ln>
            <a:headEnd type="none"/>
            <a:tailEnd type="none"/>
          </a:ln>
        </p:spPr>
      </p:sp>
      <p:sp>
        <p:nvSpPr>
          <p:cNvPr id="36" name="TextBox 36"/>
          <p:cNvSpPr txBox="1"/>
          <p:nvPr/>
        </p:nvSpPr>
        <p:spPr>
          <a:xfrm>
            <a:off x="8503699" y="5957888"/>
            <a:ext cx="1424673"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SSE + Semantic Cache</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6" name="TextBox 6"/>
          <p:cNvSpPr txBox="1"/>
          <p:nvPr/>
        </p:nvSpPr>
        <p:spPr>
          <a:xfrm>
            <a:off x="5603169" y="1904107"/>
            <a:ext cx="658578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2DE7F0">
                    <a:alpha val="100000"/>
                  </a:srgbClr>
                </a:solidFill>
                <a:latin typeface="Inter" panose="02000503000000020004"/>
                <a:ea typeface="Inter" panose="02000503000000020004"/>
                <a:cs typeface="Inter" panose="02000503000000020004"/>
              </a:rPr>
              <a:t>CHAPTER 05</a:t>
            </a:r>
            <a:endParaRPr lang="en-US" sz="1100"/>
          </a:p>
        </p:txBody>
      </p:sp>
      <p:sp>
        <p:nvSpPr>
          <p:cNvPr id="7" name="AutoShape 7"/>
          <p:cNvSpPr/>
          <p:nvPr/>
        </p:nvSpPr>
        <p:spPr>
          <a:xfrm>
            <a:off x="5523120" y="2389882"/>
            <a:ext cx="1142714"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8" name="TextBox 8"/>
          <p:cNvSpPr txBox="1"/>
          <p:nvPr/>
        </p:nvSpPr>
        <p:spPr>
          <a:xfrm>
            <a:off x="2545738" y="2742307"/>
            <a:ext cx="7097475" cy="1069777"/>
          </a:xfrm>
          <a:prstGeom prst="rect">
            <a:avLst/>
          </a:prstGeom>
          <a:ln>
            <a:headEnd type="none"/>
            <a:tailEnd type="none"/>
          </a:ln>
        </p:spPr>
        <p:txBody>
          <a:bodyPr vert="horz" wrap="square" lIns="0" tIns="0" rIns="0" bIns="0" rtlCol="0" anchor="t" anchorCtr="1"/>
          <a:lstStyle/>
          <a:p>
            <a:pPr algn="ctr">
              <a:defRPr/>
            </a:pPr>
            <a:r>
              <a:rPr lang="en-US" sz="3900" b="1" i="0" strike="noStrike">
                <a:solidFill>
                  <a:srgbClr val="F4FAFF">
                    <a:alpha val="100000"/>
                  </a:srgbClr>
                </a:solidFill>
                <a:latin typeface="Inter" panose="02000503000000020004"/>
                <a:ea typeface="Inter" panose="02000503000000020004"/>
                <a:cs typeface="Inter" panose="02000503000000020004"/>
              </a:rPr>
              <a:t>Deployment, Benchmarks &amp;</a:t>
            </a:r>
            <a:endParaRPr lang="en-US" sz="1100"/>
          </a:p>
          <a:p>
            <a:pPr algn="ctr"/>
            <a:r>
              <a:rPr sz="3900" b="1" i="0" strike="noStrike">
                <a:solidFill>
                  <a:srgbClr val="F4FAFF">
                    <a:alpha val="100000"/>
                  </a:srgbClr>
                </a:solidFill>
                <a:latin typeface="Inter" panose="02000503000000020004"/>
                <a:ea typeface="Inter" panose="02000503000000020004"/>
                <a:cs typeface="Inter" panose="02000503000000020004"/>
              </a:rPr>
              <a:t>Summary</a:t>
            </a:r>
            <a:endParaRPr sz="3900" b="1" i="0" strike="noStrike">
              <a:solidFill>
                <a:srgbClr val="F4FAFF">
                  <a:alpha val="100000"/>
                </a:srgbClr>
              </a:solidFill>
              <a:latin typeface="Inter" panose="02000503000000020004"/>
              <a:ea typeface="Inter" panose="02000503000000020004"/>
              <a:cs typeface="Inter" panose="02000503000000020004"/>
            </a:endParaRPr>
          </a:p>
        </p:txBody>
      </p:sp>
      <p:sp>
        <p:nvSpPr>
          <p:cNvPr id="9" name="TextBox 9"/>
          <p:cNvSpPr txBox="1"/>
          <p:nvPr/>
        </p:nvSpPr>
        <p:spPr>
          <a:xfrm>
            <a:off x="1484636" y="4078784"/>
            <a:ext cx="9219681" cy="541735"/>
          </a:xfrm>
          <a:prstGeom prst="rect">
            <a:avLst/>
          </a:prstGeom>
          <a:ln>
            <a:headEnd type="none"/>
            <a:tailEnd type="none"/>
          </a:ln>
        </p:spPr>
        <p:txBody>
          <a:bodyPr vert="horz" wrap="square" lIns="0" tIns="0" rIns="0" bIns="0" rtlCol="0" anchor="ctr" anchorCtr="1"/>
          <a:lstStyle/>
          <a:p>
            <a:pPr algn="ctr">
              <a:defRPr/>
            </a:pPr>
            <a:r>
              <a:rPr lang="en-US" sz="1300" b="0" i="0" strike="noStrike">
                <a:solidFill>
                  <a:srgbClr val="B9CED8">
                    <a:alpha val="100000"/>
                  </a:srgbClr>
                </a:solidFill>
                <a:latin typeface="Inter" panose="02000503000000020004"/>
                <a:ea typeface="Inter" panose="02000503000000020004"/>
                <a:cs typeface="Inter" panose="02000503000000020004"/>
              </a:rPr>
              <a:t>Hardware-level inference tuning, quantitative performance validation, and strategic</a:t>
            </a:r>
            <a:endParaRPr lang="en-US" sz="1100"/>
          </a:p>
          <a:p>
            <a:pPr algn="ctr"/>
            <a:r>
              <a:rPr sz="1300" b="0" i="0" strike="noStrike">
                <a:solidFill>
                  <a:srgbClr val="B9CED8">
                    <a:alpha val="100000"/>
                  </a:srgbClr>
                </a:solidFill>
                <a:latin typeface="Inter" panose="02000503000000020004"/>
                <a:ea typeface="Inter" panose="02000503000000020004"/>
                <a:cs typeface="Inter" panose="02000503000000020004"/>
              </a:rPr>
              <a:t>project outlook</a:t>
            </a:r>
            <a:endParaRPr sz="1300" b="0" i="0" strike="noStrike">
              <a:solidFill>
                <a:srgbClr val="B9CED8">
                  <a:alpha val="100000"/>
                </a:srgbClr>
              </a:solidFill>
              <a:latin typeface="Inter" panose="02000503000000020004"/>
              <a:ea typeface="Inter" panose="02000503000000020004"/>
              <a:cs typeface="Inter" panose="02000503000000020004"/>
            </a:endParaRPr>
          </a:p>
        </p:txBody>
      </p:sp>
      <p:sp>
        <p:nvSpPr>
          <p:cNvPr id="10" name="AutoShape 10"/>
          <p:cNvSpPr/>
          <p:nvPr/>
        </p:nvSpPr>
        <p:spPr>
          <a:xfrm>
            <a:off x="5713571" y="4963418"/>
            <a:ext cx="761810"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7141B">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TextBox 5"/>
          <p:cNvSpPr txBox="1"/>
          <p:nvPr/>
        </p:nvSpPr>
        <p:spPr>
          <a:xfrm>
            <a:off x="457086" y="476250"/>
            <a:ext cx="1843966"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2DE7F0">
                    <a:alpha val="100000"/>
                  </a:srgbClr>
                </a:solidFill>
                <a:latin typeface="Inter" panose="02000503000000020004"/>
                <a:ea typeface="Inter" panose="02000503000000020004"/>
                <a:cs typeface="Inter" panose="02000503000000020004"/>
              </a:rPr>
              <a:t>Technical Architecture</a:t>
            </a:r>
            <a:endParaRPr lang="en-US" sz="1100"/>
          </a:p>
        </p:txBody>
      </p:sp>
      <p:sp>
        <p:nvSpPr>
          <p:cNvPr id="6" name="AutoShape 6"/>
          <p:cNvSpPr/>
          <p:nvPr/>
        </p:nvSpPr>
        <p:spPr>
          <a:xfrm>
            <a:off x="2386755" y="538162"/>
            <a:ext cx="304724" cy="9525"/>
          </a:xfrm>
          <a:prstGeom prst="rect">
            <a:avLst/>
          </a:prstGeom>
          <a:solidFill>
            <a:srgbClr val="2DE7F0">
              <a:alpha val="50196"/>
            </a:srgbClr>
          </a:solidFill>
          <a:ln>
            <a:headEnd type="none"/>
            <a:tailEnd type="none"/>
          </a:ln>
        </p:spPr>
      </p:sp>
      <p:sp>
        <p:nvSpPr>
          <p:cNvPr id="7" name="TextBox 7"/>
          <p:cNvSpPr txBox="1"/>
          <p:nvPr/>
        </p:nvSpPr>
        <p:spPr>
          <a:xfrm>
            <a:off x="457086" y="695325"/>
            <a:ext cx="11274781" cy="774502"/>
          </a:xfrm>
          <a:prstGeom prst="rect">
            <a:avLst/>
          </a:prstGeom>
          <a:ln>
            <a:headEnd type="none"/>
            <a:tailEnd type="none"/>
          </a:ln>
        </p:spPr>
        <p:txBody>
          <a:bodyPr vert="horz" wrap="square" lIns="0" tIns="0" rIns="0" bIns="0" rtlCol="0" anchor="t" anchorCtr="0"/>
          <a:lstStyle/>
          <a:p>
            <a:pPr algn="l">
              <a:defRPr/>
            </a:pPr>
            <a:r>
              <a:rPr lang="en-US" sz="2700" b="1" i="0" strike="noStrike">
                <a:solidFill>
                  <a:srgbClr val="F4FAFF">
                    <a:alpha val="100000"/>
                  </a:srgbClr>
                </a:solidFill>
                <a:latin typeface="Inter" panose="02000503000000020004"/>
                <a:ea typeface="Inter" panose="02000503000000020004"/>
                <a:cs typeface="Inter" panose="02000503000000020004"/>
              </a:rPr>
              <a:t>Model Selection </a:t>
            </a:r>
            <a:r>
              <a:rPr sz="2700" b="1" i="0" strike="noStrike">
                <a:solidFill>
                  <a:srgbClr val="2DE7F0">
                    <a:alpha val="100000"/>
                  </a:srgbClr>
                </a:solidFill>
                <a:latin typeface="Inter" panose="02000503000000020004"/>
                <a:ea typeface="Inter" panose="02000503000000020004"/>
                <a:cs typeface="Inter" panose="02000503000000020004"/>
              </a:rPr>
              <a:t>&amp;</a:t>
            </a:r>
            <a:r>
              <a:rPr sz="2700" b="1" i="0" strike="noStrike">
                <a:solidFill>
                  <a:srgbClr val="F4FAFF">
                    <a:alpha val="100000"/>
                  </a:srgbClr>
                </a:solidFill>
                <a:latin typeface="Inter" panose="02000503000000020004"/>
                <a:ea typeface="Inter" panose="02000503000000020004"/>
                <a:cs typeface="Inter" panose="02000503000000020004"/>
              </a:rPr>
              <a:t> AMD ROCm</a:t>
            </a:r>
            <a:endParaRPr lang="en-US" sz="1100"/>
          </a:p>
          <a:p>
            <a:pPr algn="l"/>
            <a:r>
              <a:rPr sz="2700" b="1" i="0" strike="noStrike">
                <a:solidFill>
                  <a:srgbClr val="F4FAFF">
                    <a:alpha val="100000"/>
                  </a:srgbClr>
                </a:solidFill>
                <a:latin typeface="Inter" panose="02000503000000020004"/>
                <a:ea typeface="Inter" panose="02000503000000020004"/>
                <a:cs typeface="Inter" panose="02000503000000020004"/>
              </a:rPr>
              <a:t>Inference Optimization</a:t>
            </a:r>
            <a:endParaRPr sz="2700" b="1" i="0" strike="noStrike">
              <a:solidFill>
                <a:srgbClr val="F4FAFF">
                  <a:alpha val="100000"/>
                </a:srgbClr>
              </a:solidFill>
              <a:latin typeface="Inter" panose="02000503000000020004"/>
              <a:ea typeface="Inter" panose="02000503000000020004"/>
              <a:cs typeface="Inter" panose="02000503000000020004"/>
            </a:endParaRPr>
          </a:p>
        </p:txBody>
      </p:sp>
      <p:sp>
        <p:nvSpPr>
          <p:cNvPr id="8" name="AutoShape 8"/>
          <p:cNvSpPr/>
          <p:nvPr/>
        </p:nvSpPr>
        <p:spPr>
          <a:xfrm>
            <a:off x="457086" y="1606152"/>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custDataLst>
              <p:tags r:id="rId2"/>
            </p:custDataLst>
          </p:nvPr>
        </p:nvSpPr>
        <p:spPr>
          <a:xfrm>
            <a:off x="457086" y="1863329"/>
            <a:ext cx="11274781" cy="1172766"/>
          </a:xfrm>
          <a:prstGeom prst="roundRect">
            <a:avLst>
              <a:gd name="adj" fmla="val 5066"/>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0" name="AutoShape 10"/>
          <p:cNvSpPr/>
          <p:nvPr>
            <p:custDataLst>
              <p:tags r:id="rId3"/>
            </p:custDataLst>
          </p:nvPr>
        </p:nvSpPr>
        <p:spPr>
          <a:xfrm>
            <a:off x="657061" y="2082404"/>
            <a:ext cx="418996" cy="419100"/>
          </a:xfrm>
          <a:prstGeom prst="roundRect">
            <a:avLst>
              <a:gd name="adj" fmla="val 39679"/>
            </a:avLst>
          </a:prstGeom>
          <a:ln w="9525">
            <a:solidFill>
              <a:srgbClr val="2DE7F0">
                <a:alpha val="21960"/>
              </a:srgbClr>
            </a:solidFill>
            <a:prstDash val="solid"/>
            <a:headEnd type="none"/>
            <a:tailEnd type="none"/>
          </a:ln>
        </p:spPr>
      </p:sp>
      <p:sp>
        <p:nvSpPr>
          <p:cNvPr id="11" name="AutoShape 11"/>
          <p:cNvSpPr/>
          <p:nvPr>
            <p:custDataLst>
              <p:tags r:id="rId4"/>
            </p:custDataLst>
          </p:nvPr>
        </p:nvSpPr>
        <p:spPr>
          <a:xfrm>
            <a:off x="761810" y="2187177"/>
            <a:ext cx="209498" cy="209550"/>
          </a:xfrm>
          <a:custGeom>
            <a:avLst/>
            <a:gdLst/>
            <a:ahLst/>
            <a:cxnLst/>
            <a:rect l="l" t="t" r="r" b="b"/>
            <a:pathLst>
              <a:path w="9998" h="10000">
                <a:moveTo>
                  <a:pt x="4999" y="0"/>
                </a:moveTo>
                <a:lnTo>
                  <a:pt x="0" y="5000"/>
                </a:lnTo>
                <a:lnTo>
                  <a:pt x="4999" y="10000"/>
                </a:lnTo>
                <a:lnTo>
                  <a:pt x="9998" y="5000"/>
                </a:lnTo>
                <a:lnTo>
                  <a:pt x="4999" y="0"/>
                </a:lnTo>
                <a:close/>
              </a:path>
            </a:pathLst>
          </a:custGeom>
          <a:ln w="14288">
            <a:solidFill>
              <a:srgbClr val="2DE7F0">
                <a:alpha val="100000"/>
              </a:srgbClr>
            </a:solidFill>
            <a:prstDash val="solid"/>
            <a:headEnd type="none"/>
            <a:tailEnd type="none"/>
          </a:ln>
        </p:spPr>
      </p:sp>
      <p:sp>
        <p:nvSpPr>
          <p:cNvPr id="12" name="AutoShape 12"/>
          <p:cNvSpPr/>
          <p:nvPr>
            <p:custDataLst>
              <p:tags r:id="rId5"/>
            </p:custDataLst>
          </p:nvPr>
        </p:nvSpPr>
        <p:spPr>
          <a:xfrm>
            <a:off x="761810" y="2187177"/>
            <a:ext cx="209498" cy="209550"/>
          </a:xfrm>
          <a:custGeom>
            <a:avLst/>
            <a:gdLst/>
            <a:ahLst/>
            <a:cxnLst/>
            <a:rect l="l" t="t" r="r" b="b"/>
            <a:pathLst>
              <a:path w="9998" h="10000">
                <a:moveTo>
                  <a:pt x="0" y="0"/>
                </a:moveTo>
                <a:lnTo>
                  <a:pt x="4999" y="10000"/>
                </a:lnTo>
                <a:lnTo>
                  <a:pt x="9998" y="0"/>
                </a:lnTo>
              </a:path>
            </a:pathLst>
          </a:custGeom>
          <a:ln w="14288">
            <a:solidFill>
              <a:srgbClr val="2DE7F0">
                <a:alpha val="100000"/>
              </a:srgbClr>
            </a:solidFill>
            <a:prstDash val="solid"/>
            <a:headEnd type="none"/>
            <a:tailEnd type="none"/>
          </a:ln>
        </p:spPr>
      </p:sp>
      <p:sp>
        <p:nvSpPr>
          <p:cNvPr id="13" name="AutoShape 13"/>
          <p:cNvSpPr/>
          <p:nvPr>
            <p:custDataLst>
              <p:tags r:id="rId6"/>
            </p:custDataLst>
          </p:nvPr>
        </p:nvSpPr>
        <p:spPr>
          <a:xfrm>
            <a:off x="761810" y="2187177"/>
            <a:ext cx="209498" cy="209550"/>
          </a:xfrm>
          <a:custGeom>
            <a:avLst/>
            <a:gdLst/>
            <a:ahLst/>
            <a:cxnLst/>
            <a:rect l="l" t="t" r="r" b="b"/>
            <a:pathLst>
              <a:path w="9998" h="10000">
                <a:moveTo>
                  <a:pt x="0" y="0"/>
                </a:moveTo>
                <a:lnTo>
                  <a:pt x="4999" y="10000"/>
                </a:lnTo>
                <a:lnTo>
                  <a:pt x="9998" y="0"/>
                </a:lnTo>
              </a:path>
            </a:pathLst>
          </a:custGeom>
          <a:ln w="14288">
            <a:solidFill>
              <a:srgbClr val="2DE7F0">
                <a:alpha val="100000"/>
              </a:srgbClr>
            </a:solidFill>
            <a:prstDash val="solid"/>
            <a:headEnd type="none"/>
            <a:tailEnd type="none"/>
          </a:ln>
        </p:spPr>
      </p:sp>
      <p:sp>
        <p:nvSpPr>
          <p:cNvPr id="14" name="TextBox 14"/>
          <p:cNvSpPr txBox="1"/>
          <p:nvPr>
            <p:custDataLst>
              <p:tags r:id="rId7"/>
            </p:custDataLst>
          </p:nvPr>
        </p:nvSpPr>
        <p:spPr>
          <a:xfrm>
            <a:off x="1266509" y="2063354"/>
            <a:ext cx="10265383"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2DE7F0">
                    <a:alpha val="100000"/>
                  </a:srgbClr>
                </a:solidFill>
                <a:latin typeface="Inter" panose="02000503000000020004"/>
                <a:ea typeface="Inter" panose="02000503000000020004"/>
                <a:cs typeface="Inter" panose="02000503000000020004"/>
              </a:rPr>
              <a:t>Model Selection</a:t>
            </a:r>
            <a:endParaRPr lang="en-US" sz="1100"/>
          </a:p>
        </p:txBody>
      </p:sp>
      <p:sp>
        <p:nvSpPr>
          <p:cNvPr id="15" name="TextBox 15"/>
          <p:cNvSpPr txBox="1"/>
          <p:nvPr>
            <p:custDataLst>
              <p:tags r:id="rId8"/>
            </p:custDataLst>
          </p:nvPr>
        </p:nvSpPr>
        <p:spPr>
          <a:xfrm>
            <a:off x="1266825" y="2390140"/>
            <a:ext cx="10265410" cy="55689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F4FAFF">
                    <a:alpha val="100000"/>
                  </a:srgbClr>
                </a:solidFill>
                <a:latin typeface="Inter" panose="02000503000000020004"/>
                <a:ea typeface="Inter" panose="02000503000000020004"/>
                <a:cs typeface="Inter" panose="02000503000000020004"/>
              </a:rPr>
              <a:t>Qwen3-14B-AWQ</a:t>
            </a:r>
            <a:r>
              <a:rPr sz="1100" b="0" i="0" strike="noStrike">
                <a:solidFill>
                  <a:srgbClr val="B9CED8">
                    <a:alpha val="100000"/>
                  </a:srgbClr>
                </a:solidFill>
                <a:latin typeface="Inter" panose="02000503000000020004"/>
                <a:ea typeface="Inter" panose="02000503000000020004"/>
                <a:cs typeface="Inter" panose="02000503000000020004"/>
              </a:rPr>
              <a:t> (4-bit quantization) requires only ~10GB VRAM for 16k context windows, supported by </a:t>
            </a:r>
            <a:r>
              <a:rPr sz="1100" b="0" i="0" strike="noStrike">
                <a:solidFill>
                  <a:srgbClr val="F4FAFF">
                    <a:alpha val="100000"/>
                  </a:srgbClr>
                </a:solidFill>
                <a:latin typeface="Inter" panose="02000503000000020004"/>
                <a:ea typeface="Inter" panose="02000503000000020004"/>
                <a:cs typeface="Inter" panose="02000503000000020004"/>
              </a:rPr>
              <a:t>BGE-large-zh</a:t>
            </a:r>
            <a:r>
              <a:rPr sz="1100" b="0" i="0" strike="noStrike">
                <a:solidFill>
                  <a:srgbClr val="B9CED8">
                    <a:alpha val="100000"/>
                  </a:srgbClr>
                </a:solidFill>
                <a:latin typeface="Inter" panose="02000503000000020004"/>
                <a:ea typeface="Inter" panose="02000503000000020004"/>
                <a:cs typeface="Inter" panose="02000503000000020004"/>
              </a:rPr>
              <a:t> for SOTA Chinese embedding and </a:t>
            </a:r>
            <a:r>
              <a:rPr sz="1100" b="0" i="0" strike="noStrike">
                <a:solidFill>
                  <a:srgbClr val="F4FAFF">
                    <a:alpha val="100000"/>
                  </a:srgbClr>
                </a:solidFill>
                <a:latin typeface="Inter" panose="02000503000000020004"/>
                <a:ea typeface="Inter" panose="02000503000000020004"/>
                <a:cs typeface="Inter" panose="02000503000000020004"/>
              </a:rPr>
              <a:t>AMD</a:t>
            </a:r>
            <a:r>
              <a:rPr lang="en-US" sz="1100" b="0" i="0" strike="noStrike">
                <a:solidFill>
                  <a:srgbClr val="F4FAFF">
                    <a:alpha val="100000"/>
                  </a:srgbClr>
                </a:solidFill>
                <a:latin typeface="Inter" panose="02000503000000020004"/>
                <a:ea typeface="Inter" panose="02000503000000020004"/>
                <a:cs typeface="Inter" panose="02000503000000020004"/>
              </a:rPr>
              <a:t> </a:t>
            </a:r>
            <a:r>
              <a:rPr sz="1100" b="0" i="0" strike="noStrike">
                <a:solidFill>
                  <a:srgbClr val="F4FAFF">
                    <a:alpha val="100000"/>
                  </a:srgbClr>
                </a:solidFill>
                <a:latin typeface="Inter" panose="02000503000000020004"/>
                <a:ea typeface="Inter" panose="02000503000000020004"/>
                <a:cs typeface="Inter" panose="02000503000000020004"/>
              </a:rPr>
              <a:t>Cloud API</a:t>
            </a:r>
            <a:r>
              <a:rPr sz="1100" b="0" i="0" strike="noStrike">
                <a:solidFill>
                  <a:srgbClr val="B9CED8">
                    <a:alpha val="100000"/>
                  </a:srgbClr>
                </a:solidFill>
                <a:latin typeface="Inter" panose="02000503000000020004"/>
                <a:ea typeface="Inter" panose="02000503000000020004"/>
                <a:cs typeface="Inter" panose="02000503000000020004"/>
              </a:rPr>
              <a:t> for failover.</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16" name="AutoShape 16"/>
          <p:cNvSpPr/>
          <p:nvPr>
            <p:custDataLst>
              <p:tags r:id="rId9"/>
            </p:custDataLst>
          </p:nvPr>
        </p:nvSpPr>
        <p:spPr>
          <a:xfrm>
            <a:off x="457086" y="3188494"/>
            <a:ext cx="11274781" cy="1172766"/>
          </a:xfrm>
          <a:prstGeom prst="roundRect">
            <a:avLst>
              <a:gd name="adj" fmla="val 5066"/>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7" name="AutoShape 17"/>
          <p:cNvSpPr/>
          <p:nvPr>
            <p:custDataLst>
              <p:tags r:id="rId10"/>
            </p:custDataLst>
          </p:nvPr>
        </p:nvSpPr>
        <p:spPr>
          <a:xfrm>
            <a:off x="657061" y="3407569"/>
            <a:ext cx="418996" cy="419100"/>
          </a:xfrm>
          <a:prstGeom prst="roundRect">
            <a:avLst>
              <a:gd name="adj" fmla="val 39679"/>
            </a:avLst>
          </a:prstGeom>
          <a:ln w="9525">
            <a:solidFill>
              <a:srgbClr val="2DE7F0">
                <a:alpha val="21960"/>
              </a:srgbClr>
            </a:solidFill>
            <a:prstDash val="solid"/>
            <a:headEnd type="none"/>
            <a:tailEnd type="none"/>
          </a:ln>
        </p:spPr>
      </p:sp>
      <p:sp>
        <p:nvSpPr>
          <p:cNvPr id="18" name="AutoShape 18"/>
          <p:cNvSpPr/>
          <p:nvPr>
            <p:custDataLst>
              <p:tags r:id="rId11"/>
            </p:custDataLst>
          </p:nvPr>
        </p:nvSpPr>
        <p:spPr>
          <a:xfrm>
            <a:off x="761810" y="3512344"/>
            <a:ext cx="209498" cy="209550"/>
          </a:xfrm>
          <a:custGeom>
            <a:avLst/>
            <a:gdLst/>
            <a:ahLst/>
            <a:cxnLst/>
            <a:rect l="l" t="t" r="r" b="b"/>
            <a:pathLst>
              <a:path w="9998" h="10000">
                <a:moveTo>
                  <a:pt x="8362" y="6364"/>
                </a:moveTo>
                <a:cubicBezTo>
                  <a:pt x="8238" y="6644"/>
                  <a:pt x="8298" y="6972"/>
                  <a:pt x="8512" y="7191"/>
                </a:cubicBezTo>
                <a:lnTo>
                  <a:pt x="8539" y="7218"/>
                </a:lnTo>
                <a:cubicBezTo>
                  <a:pt x="8710" y="7389"/>
                  <a:pt x="8806" y="7620"/>
                  <a:pt x="8806" y="7861"/>
                </a:cubicBezTo>
                <a:cubicBezTo>
                  <a:pt x="8806" y="8103"/>
                  <a:pt x="8710" y="8334"/>
                  <a:pt x="8539" y="8505"/>
                </a:cubicBezTo>
                <a:cubicBezTo>
                  <a:pt x="8369" y="8675"/>
                  <a:pt x="8137" y="8771"/>
                  <a:pt x="7896" y="8771"/>
                </a:cubicBezTo>
                <a:cubicBezTo>
                  <a:pt x="7655" y="8771"/>
                  <a:pt x="7424" y="8675"/>
                  <a:pt x="7253" y="8505"/>
                </a:cubicBezTo>
                <a:lnTo>
                  <a:pt x="7226" y="8477"/>
                </a:lnTo>
                <a:cubicBezTo>
                  <a:pt x="7007" y="8263"/>
                  <a:pt x="6679" y="8203"/>
                  <a:pt x="6399" y="8327"/>
                </a:cubicBezTo>
                <a:cubicBezTo>
                  <a:pt x="6124" y="8445"/>
                  <a:pt x="5945" y="8715"/>
                  <a:pt x="5944" y="9014"/>
                </a:cubicBezTo>
                <a:lnTo>
                  <a:pt x="5944" y="9091"/>
                </a:lnTo>
                <a:cubicBezTo>
                  <a:pt x="5944" y="9593"/>
                  <a:pt x="5537" y="10000"/>
                  <a:pt x="5035" y="10000"/>
                </a:cubicBezTo>
                <a:cubicBezTo>
                  <a:pt x="4534" y="10000"/>
                  <a:pt x="4126" y="9593"/>
                  <a:pt x="4126" y="9091"/>
                </a:cubicBezTo>
                <a:lnTo>
                  <a:pt x="4126" y="9050"/>
                </a:lnTo>
                <a:cubicBezTo>
                  <a:pt x="4119" y="8742"/>
                  <a:pt x="3925" y="8470"/>
                  <a:pt x="3636" y="8364"/>
                </a:cubicBezTo>
                <a:cubicBezTo>
                  <a:pt x="3355" y="8240"/>
                  <a:pt x="3028" y="8299"/>
                  <a:pt x="2809" y="8514"/>
                </a:cubicBezTo>
                <a:lnTo>
                  <a:pt x="2781" y="8541"/>
                </a:lnTo>
                <a:cubicBezTo>
                  <a:pt x="2611" y="8712"/>
                  <a:pt x="2379" y="8808"/>
                  <a:pt x="2138" y="8808"/>
                </a:cubicBezTo>
                <a:cubicBezTo>
                  <a:pt x="1897" y="8808"/>
                  <a:pt x="1666" y="8712"/>
                  <a:pt x="1495" y="8541"/>
                </a:cubicBezTo>
                <a:cubicBezTo>
                  <a:pt x="1324" y="8370"/>
                  <a:pt x="1229" y="8139"/>
                  <a:pt x="1229" y="7898"/>
                </a:cubicBezTo>
                <a:cubicBezTo>
                  <a:pt x="1229" y="7656"/>
                  <a:pt x="1324" y="7425"/>
                  <a:pt x="1495" y="7255"/>
                </a:cubicBezTo>
                <a:lnTo>
                  <a:pt x="1522" y="7227"/>
                </a:lnTo>
                <a:cubicBezTo>
                  <a:pt x="1753" y="7002"/>
                  <a:pt x="1813" y="6654"/>
                  <a:pt x="1672" y="6364"/>
                </a:cubicBezTo>
                <a:cubicBezTo>
                  <a:pt x="1555" y="6089"/>
                  <a:pt x="1285" y="5910"/>
                  <a:pt x="986" y="5909"/>
                </a:cubicBezTo>
                <a:lnTo>
                  <a:pt x="909" y="5909"/>
                </a:lnTo>
                <a:cubicBezTo>
                  <a:pt x="407" y="5909"/>
                  <a:pt x="0" y="5502"/>
                  <a:pt x="0" y="5000"/>
                </a:cubicBezTo>
                <a:cubicBezTo>
                  <a:pt x="0" y="4498"/>
                  <a:pt x="407" y="4091"/>
                  <a:pt x="909" y="4091"/>
                </a:cubicBezTo>
                <a:lnTo>
                  <a:pt x="950" y="4091"/>
                </a:lnTo>
                <a:cubicBezTo>
                  <a:pt x="1249" y="4090"/>
                  <a:pt x="1518" y="3911"/>
                  <a:pt x="1636" y="3636"/>
                </a:cubicBezTo>
                <a:cubicBezTo>
                  <a:pt x="1760" y="3356"/>
                  <a:pt x="1700" y="3028"/>
                  <a:pt x="1486" y="2809"/>
                </a:cubicBezTo>
                <a:lnTo>
                  <a:pt x="1459" y="2782"/>
                </a:lnTo>
                <a:cubicBezTo>
                  <a:pt x="1288" y="2611"/>
                  <a:pt x="1192" y="2380"/>
                  <a:pt x="1192" y="2139"/>
                </a:cubicBezTo>
                <a:cubicBezTo>
                  <a:pt x="1192" y="1897"/>
                  <a:pt x="1288" y="1666"/>
                  <a:pt x="1459" y="1495"/>
                </a:cubicBezTo>
                <a:cubicBezTo>
                  <a:pt x="1629" y="1325"/>
                  <a:pt x="1861" y="1229"/>
                  <a:pt x="2102" y="1229"/>
                </a:cubicBezTo>
                <a:cubicBezTo>
                  <a:pt x="2343" y="1229"/>
                  <a:pt x="2574" y="1325"/>
                  <a:pt x="2745" y="1495"/>
                </a:cubicBezTo>
                <a:lnTo>
                  <a:pt x="2772" y="1523"/>
                </a:lnTo>
                <a:cubicBezTo>
                  <a:pt x="2998" y="1753"/>
                  <a:pt x="3346" y="1814"/>
                  <a:pt x="3636" y="1673"/>
                </a:cubicBezTo>
                <a:cubicBezTo>
                  <a:pt x="3910" y="1555"/>
                  <a:pt x="4089" y="1285"/>
                  <a:pt x="4090" y="986"/>
                </a:cubicBezTo>
                <a:lnTo>
                  <a:pt x="4090" y="909"/>
                </a:lnTo>
                <a:cubicBezTo>
                  <a:pt x="4090" y="407"/>
                  <a:pt x="4497" y="0"/>
                  <a:pt x="4999" y="0"/>
                </a:cubicBezTo>
                <a:cubicBezTo>
                  <a:pt x="5501" y="0"/>
                  <a:pt x="5908" y="407"/>
                  <a:pt x="5908" y="909"/>
                </a:cubicBezTo>
                <a:lnTo>
                  <a:pt x="5908" y="950"/>
                </a:lnTo>
                <a:cubicBezTo>
                  <a:pt x="5909" y="1249"/>
                  <a:pt x="6088" y="1519"/>
                  <a:pt x="6362" y="1636"/>
                </a:cubicBezTo>
                <a:cubicBezTo>
                  <a:pt x="6643" y="1760"/>
                  <a:pt x="6970" y="1701"/>
                  <a:pt x="7189" y="1486"/>
                </a:cubicBezTo>
                <a:lnTo>
                  <a:pt x="7217" y="1459"/>
                </a:lnTo>
                <a:cubicBezTo>
                  <a:pt x="7387" y="1288"/>
                  <a:pt x="7619" y="1192"/>
                  <a:pt x="7860" y="1192"/>
                </a:cubicBezTo>
                <a:cubicBezTo>
                  <a:pt x="8101" y="1192"/>
                  <a:pt x="8332" y="1288"/>
                  <a:pt x="8503" y="1459"/>
                </a:cubicBezTo>
                <a:cubicBezTo>
                  <a:pt x="8674" y="1630"/>
                  <a:pt x="8769" y="1861"/>
                  <a:pt x="8769" y="2102"/>
                </a:cubicBezTo>
                <a:cubicBezTo>
                  <a:pt x="8769" y="2344"/>
                  <a:pt x="8674" y="2575"/>
                  <a:pt x="8503" y="2745"/>
                </a:cubicBezTo>
                <a:lnTo>
                  <a:pt x="8476" y="2773"/>
                </a:lnTo>
                <a:cubicBezTo>
                  <a:pt x="8257" y="3007"/>
                  <a:pt x="8212" y="3354"/>
                  <a:pt x="8362" y="3636"/>
                </a:cubicBezTo>
                <a:cubicBezTo>
                  <a:pt x="8480" y="3911"/>
                  <a:pt x="8749" y="4090"/>
                  <a:pt x="9048" y="4091"/>
                </a:cubicBezTo>
                <a:lnTo>
                  <a:pt x="9089" y="4091"/>
                </a:lnTo>
                <a:cubicBezTo>
                  <a:pt x="9591" y="4091"/>
                  <a:pt x="9998" y="4498"/>
                  <a:pt x="9998" y="5000"/>
                </a:cubicBezTo>
                <a:cubicBezTo>
                  <a:pt x="9998" y="5502"/>
                  <a:pt x="9591" y="5909"/>
                  <a:pt x="9089" y="5909"/>
                </a:cubicBezTo>
                <a:lnTo>
                  <a:pt x="9048" y="5909"/>
                </a:lnTo>
                <a:cubicBezTo>
                  <a:pt x="8749" y="5910"/>
                  <a:pt x="8480" y="6089"/>
                  <a:pt x="8362" y="6364"/>
                </a:cubicBezTo>
                <a:close/>
              </a:path>
            </a:pathLst>
          </a:custGeom>
          <a:ln w="14288">
            <a:solidFill>
              <a:srgbClr val="2DE7F0">
                <a:alpha val="100000"/>
              </a:srgbClr>
            </a:solidFill>
            <a:prstDash val="solid"/>
            <a:headEnd type="none"/>
            <a:tailEnd type="none"/>
          </a:ln>
        </p:spPr>
      </p:sp>
      <p:sp>
        <p:nvSpPr>
          <p:cNvPr id="19" name="AutoShape 19"/>
          <p:cNvSpPr/>
          <p:nvPr>
            <p:custDataLst>
              <p:tags r:id="rId12"/>
            </p:custDataLst>
          </p:nvPr>
        </p:nvSpPr>
        <p:spPr>
          <a:xfrm>
            <a:off x="840372" y="3590925"/>
            <a:ext cx="52375" cy="52388"/>
          </a:xfrm>
          <a:prstGeom prst="ellipse">
            <a:avLst/>
          </a:prstGeom>
          <a:ln w="14288">
            <a:solidFill>
              <a:srgbClr val="2DE7F0">
                <a:alpha val="100000"/>
              </a:srgbClr>
            </a:solidFill>
            <a:prstDash val="solid"/>
            <a:headEnd type="none"/>
            <a:tailEnd type="none"/>
          </a:ln>
        </p:spPr>
      </p:sp>
      <p:sp>
        <p:nvSpPr>
          <p:cNvPr id="20" name="TextBox 20"/>
          <p:cNvSpPr txBox="1"/>
          <p:nvPr>
            <p:custDataLst>
              <p:tags r:id="rId13"/>
            </p:custDataLst>
          </p:nvPr>
        </p:nvSpPr>
        <p:spPr>
          <a:xfrm>
            <a:off x="1266509" y="3388519"/>
            <a:ext cx="10265383"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2DE7F0">
                    <a:alpha val="100000"/>
                  </a:srgbClr>
                </a:solidFill>
                <a:latin typeface="Inter" panose="02000503000000020004"/>
                <a:ea typeface="Inter" panose="02000503000000020004"/>
                <a:cs typeface="Inter" panose="02000503000000020004"/>
              </a:rPr>
              <a:t>ROCm Deep Optimization</a:t>
            </a:r>
            <a:endParaRPr lang="en-US" sz="1100"/>
          </a:p>
        </p:txBody>
      </p:sp>
      <p:sp>
        <p:nvSpPr>
          <p:cNvPr id="21" name="TextBox 21"/>
          <p:cNvSpPr txBox="1"/>
          <p:nvPr>
            <p:custDataLst>
              <p:tags r:id="rId14"/>
            </p:custDataLst>
          </p:nvPr>
        </p:nvSpPr>
        <p:spPr>
          <a:xfrm>
            <a:off x="1266509" y="3715197"/>
            <a:ext cx="10265383" cy="397669"/>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Tunes environment variables (e.g., </a:t>
            </a:r>
            <a:r>
              <a:rPr sz="1100" b="0" i="0" strike="noStrike">
                <a:solidFill>
                  <a:srgbClr val="F4FAFF">
                    <a:alpha val="100000"/>
                  </a:srgbClr>
                </a:solidFill>
                <a:latin typeface="Inter" panose="02000503000000020004"/>
                <a:ea typeface="Inter" panose="02000503000000020004"/>
                <a:cs typeface="Inter" panose="02000503000000020004"/>
              </a:rPr>
              <a:t>HIP_FORCE_DEV_KERNARG</a:t>
            </a:r>
            <a:r>
              <a:rPr sz="1100" b="0" i="0" strike="noStrike">
                <a:solidFill>
                  <a:srgbClr val="B9CED8">
                    <a:alpha val="100000"/>
                  </a:srgbClr>
                </a:solidFill>
                <a:latin typeface="Inter" panose="02000503000000020004"/>
                <a:ea typeface="Inter" panose="02000503000000020004"/>
                <a:cs typeface="Inter" panose="02000503000000020004"/>
              </a:rPr>
              <a:t>) and vLLM parameters (AWQ, prefix caching, </a:t>
            </a:r>
            <a:r>
              <a:rPr sz="1100" b="0" i="0" strike="noStrike">
                <a:solidFill>
                  <a:srgbClr val="F4FAFF">
                    <a:alpha val="100000"/>
                  </a:srgbClr>
                </a:solidFill>
                <a:latin typeface="Inter" panose="02000503000000020004"/>
                <a:ea typeface="Inter" panose="02000503000000020004"/>
                <a:cs typeface="Inter" panose="02000503000000020004"/>
              </a:rPr>
              <a:t>0.85 memory utilization</a:t>
            </a:r>
            <a:r>
              <a:rPr sz="1100" b="0" i="0" strike="noStrike">
                <a:solidFill>
                  <a:srgbClr val="B9CED8">
                    <a:alpha val="100000"/>
                  </a:srgbClr>
                </a:solidFill>
                <a:latin typeface="Inter" panose="02000503000000020004"/>
                <a:ea typeface="Inter" panose="02000503000000020004"/>
                <a:cs typeface="Inter" panose="02000503000000020004"/>
              </a:rPr>
              <a:t>) to maximize AMD</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Radeon GPU throughput.</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22" name="AutoShape 22"/>
          <p:cNvSpPr/>
          <p:nvPr>
            <p:custDataLst>
              <p:tags r:id="rId15"/>
            </p:custDataLst>
          </p:nvPr>
        </p:nvSpPr>
        <p:spPr>
          <a:xfrm>
            <a:off x="457086" y="4513659"/>
            <a:ext cx="11274781" cy="1172766"/>
          </a:xfrm>
          <a:prstGeom prst="roundRect">
            <a:avLst>
              <a:gd name="adj" fmla="val 5066"/>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3" name="AutoShape 23"/>
          <p:cNvSpPr/>
          <p:nvPr>
            <p:custDataLst>
              <p:tags r:id="rId16"/>
            </p:custDataLst>
          </p:nvPr>
        </p:nvSpPr>
        <p:spPr>
          <a:xfrm>
            <a:off x="657061" y="4732735"/>
            <a:ext cx="418996" cy="419100"/>
          </a:xfrm>
          <a:prstGeom prst="roundRect">
            <a:avLst>
              <a:gd name="adj" fmla="val 39679"/>
            </a:avLst>
          </a:prstGeom>
          <a:ln w="9525">
            <a:solidFill>
              <a:srgbClr val="2DE7F0">
                <a:alpha val="21960"/>
              </a:srgbClr>
            </a:solidFill>
            <a:prstDash val="solid"/>
            <a:headEnd type="none"/>
            <a:tailEnd type="none"/>
          </a:ln>
        </p:spPr>
      </p:sp>
      <p:sp>
        <p:nvSpPr>
          <p:cNvPr id="24" name="AutoShape 24"/>
          <p:cNvSpPr/>
          <p:nvPr>
            <p:custDataLst>
              <p:tags r:id="rId17"/>
            </p:custDataLst>
          </p:nvPr>
        </p:nvSpPr>
        <p:spPr>
          <a:xfrm>
            <a:off x="779268" y="4863702"/>
            <a:ext cx="174582" cy="157162"/>
          </a:xfrm>
          <a:custGeom>
            <a:avLst/>
            <a:gdLst/>
            <a:ahLst/>
            <a:cxnLst/>
            <a:rect l="l" t="t" r="r" b="b"/>
            <a:pathLst>
              <a:path w="11108" h="10000">
                <a:moveTo>
                  <a:pt x="11108" y="5000"/>
                </a:moveTo>
                <a:lnTo>
                  <a:pt x="8886" y="5000"/>
                </a:lnTo>
                <a:lnTo>
                  <a:pt x="7220" y="10000"/>
                </a:lnTo>
                <a:lnTo>
                  <a:pt x="3888" y="0"/>
                </a:lnTo>
                <a:lnTo>
                  <a:pt x="2222" y="5000"/>
                </a:lnTo>
                <a:lnTo>
                  <a:pt x="0" y="5000"/>
                </a:lnTo>
              </a:path>
            </a:pathLst>
          </a:custGeom>
          <a:ln w="14288">
            <a:solidFill>
              <a:srgbClr val="2DE7F0">
                <a:alpha val="100000"/>
              </a:srgbClr>
            </a:solidFill>
            <a:prstDash val="solid"/>
            <a:headEnd type="none"/>
            <a:tailEnd type="none"/>
          </a:ln>
        </p:spPr>
      </p:sp>
      <p:sp>
        <p:nvSpPr>
          <p:cNvPr id="25" name="TextBox 25"/>
          <p:cNvSpPr txBox="1"/>
          <p:nvPr>
            <p:custDataLst>
              <p:tags r:id="rId18"/>
            </p:custDataLst>
          </p:nvPr>
        </p:nvSpPr>
        <p:spPr>
          <a:xfrm>
            <a:off x="1266509" y="4713684"/>
            <a:ext cx="10265383"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2DE7F0">
                    <a:alpha val="100000"/>
                  </a:srgbClr>
                </a:solidFill>
                <a:latin typeface="Inter" panose="02000503000000020004"/>
                <a:ea typeface="Inter" panose="02000503000000020004"/>
                <a:cs typeface="Inter" panose="02000503000000020004"/>
              </a:rPr>
              <a:t>Performance Metrics</a:t>
            </a:r>
            <a:endParaRPr lang="en-US" sz="1100"/>
          </a:p>
        </p:txBody>
      </p:sp>
      <p:sp>
        <p:nvSpPr>
          <p:cNvPr id="26" name="TextBox 26"/>
          <p:cNvSpPr txBox="1"/>
          <p:nvPr>
            <p:custDataLst>
              <p:tags r:id="rId19"/>
            </p:custDataLst>
          </p:nvPr>
        </p:nvSpPr>
        <p:spPr>
          <a:xfrm>
            <a:off x="1266509" y="5040362"/>
            <a:ext cx="10265383" cy="397669"/>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B9CED8">
                    <a:alpha val="100000"/>
                  </a:srgbClr>
                </a:solidFill>
                <a:latin typeface="Inter" panose="02000503000000020004"/>
                <a:ea typeface="Inter" panose="02000503000000020004"/>
                <a:cs typeface="Inter" panose="02000503000000020004"/>
              </a:rPr>
              <a:t>Achieves a </a:t>
            </a:r>
            <a:r>
              <a:rPr sz="1100" b="0" i="0" strike="noStrike">
                <a:solidFill>
                  <a:srgbClr val="F4FAFF">
                    <a:alpha val="100000"/>
                  </a:srgbClr>
                </a:solidFill>
                <a:latin typeface="Inter" panose="02000503000000020004"/>
                <a:ea typeface="Inter" panose="02000503000000020004"/>
                <a:cs typeface="Inter" panose="02000503000000020004"/>
              </a:rPr>
              <a:t>time-to-first-token of ~200ms</a:t>
            </a:r>
            <a:r>
              <a:rPr sz="1100" b="0" i="0" strike="noStrike">
                <a:solidFill>
                  <a:srgbClr val="B9CED8">
                    <a:alpha val="100000"/>
                  </a:srgbClr>
                </a:solidFill>
                <a:latin typeface="Inter" panose="02000503000000020004"/>
                <a:ea typeface="Inter" panose="02000503000000020004"/>
                <a:cs typeface="Inter" panose="02000503000000020004"/>
              </a:rPr>
              <a:t> and generation speeds of </a:t>
            </a:r>
            <a:r>
              <a:rPr sz="1100" b="0" i="0" strike="noStrike">
                <a:solidFill>
                  <a:srgbClr val="F4FAFF">
                    <a:alpha val="100000"/>
                  </a:srgbClr>
                </a:solidFill>
                <a:latin typeface="Inter" panose="02000503000000020004"/>
                <a:ea typeface="Inter" panose="02000503000000020004"/>
                <a:cs typeface="Inter" panose="02000503000000020004"/>
              </a:rPr>
              <a:t>30–40 tokens/s</a:t>
            </a:r>
            <a:r>
              <a:rPr sz="1100" b="0" i="0" strike="noStrike">
                <a:solidFill>
                  <a:srgbClr val="B9CED8">
                    <a:alpha val="100000"/>
                  </a:srgbClr>
                </a:solidFill>
                <a:latin typeface="Inter" panose="02000503000000020004"/>
                <a:ea typeface="Inter" panose="02000503000000020004"/>
                <a:cs typeface="Inter" panose="02000503000000020004"/>
              </a:rPr>
              <a:t>, ensuring end-to-end latency remains between 3–5 seconds for complex</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financial reasoning.</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
        <p:nvSpPr>
          <p:cNvPr id="27" name="AutoShape 27"/>
          <p:cNvSpPr/>
          <p:nvPr/>
        </p:nvSpPr>
        <p:spPr>
          <a:xfrm>
            <a:off x="457086" y="5819775"/>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28" name="AutoShape 28"/>
          <p:cNvSpPr/>
          <p:nvPr/>
        </p:nvSpPr>
        <p:spPr>
          <a:xfrm>
            <a:off x="457086" y="5972175"/>
            <a:ext cx="28567" cy="171450"/>
          </a:xfrm>
          <a:prstGeom prst="roundRect">
            <a:avLst>
              <a:gd name="adj" fmla="val 50000"/>
            </a:avLst>
          </a:prstGeom>
          <a:solidFill>
            <a:srgbClr val="2DE7F0">
              <a:alpha val="100000"/>
            </a:srgbClr>
          </a:solidFill>
          <a:ln>
            <a:headEnd type="none"/>
            <a:tailEnd type="none"/>
          </a:ln>
        </p:spPr>
      </p:sp>
      <p:sp>
        <p:nvSpPr>
          <p:cNvPr id="29" name="TextBox 29"/>
          <p:cNvSpPr txBox="1"/>
          <p:nvPr/>
        </p:nvSpPr>
        <p:spPr>
          <a:xfrm>
            <a:off x="599925" y="5972175"/>
            <a:ext cx="11131941" cy="3905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F4FAFF">
                    <a:alpha val="100000"/>
                  </a:srgbClr>
                </a:solidFill>
                <a:latin typeface="Inter" panose="02000503000000020004"/>
                <a:ea typeface="Inter" panose="02000503000000020004"/>
                <a:cs typeface="Inter" panose="02000503000000020004"/>
              </a:rPr>
              <a:t>Key Insight —</a:t>
            </a:r>
            <a:r>
              <a:rPr sz="1100" b="0" i="0" strike="noStrike">
                <a:solidFill>
                  <a:srgbClr val="B9CED8">
                    <a:alpha val="100000"/>
                  </a:srgbClr>
                </a:solidFill>
                <a:latin typeface="Inter" panose="02000503000000020004"/>
                <a:ea typeface="Inter" panose="02000503000000020004"/>
                <a:cs typeface="Inter" panose="02000503000000020004"/>
              </a:rPr>
              <a:t> By strategically selecting the Qwen3-14B-AWQ model and deeply optimizing it for AMD Radeon GPUs via ROCm, the system achieves high-performance local</a:t>
            </a:r>
            <a:endParaRPr lang="en-US" sz="1100"/>
          </a:p>
          <a:p>
            <a:pPr algn="l"/>
            <a:r>
              <a:rPr sz="1100" b="0" i="0" strike="noStrike">
                <a:solidFill>
                  <a:srgbClr val="B9CED8">
                    <a:alpha val="100000"/>
                  </a:srgbClr>
                </a:solidFill>
                <a:latin typeface="Inter" panose="02000503000000020004"/>
                <a:ea typeface="Inter" panose="02000503000000020004"/>
                <a:cs typeface="Inter" panose="02000503000000020004"/>
              </a:rPr>
              <a:t>inference with minimal VRAM consumption and robust failover mechanisms.</a:t>
            </a:r>
            <a:endParaRPr sz="11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B1E27">
              <a:alpha val="100000"/>
            </a:srgbClr>
          </a:solidFill>
          <a:ln>
            <a:headEnd type="none"/>
            <a:tailEnd type="none"/>
          </a:ln>
        </p:spPr>
      </p:sp>
      <p:sp>
        <p:nvSpPr>
          <p:cNvPr id="4" name="TextBox 4"/>
          <p:cNvSpPr txBox="1"/>
          <p:nvPr/>
        </p:nvSpPr>
        <p:spPr>
          <a:xfrm>
            <a:off x="457086" y="447675"/>
            <a:ext cx="11274781" cy="390525"/>
          </a:xfrm>
          <a:prstGeom prst="rect">
            <a:avLst/>
          </a:prstGeom>
          <a:ln>
            <a:headEnd type="none"/>
            <a:tailEnd type="none"/>
          </a:ln>
        </p:spPr>
        <p:txBody>
          <a:bodyPr vert="horz" wrap="none" lIns="0" tIns="0" rIns="0" bIns="0" rtlCol="0" anchor="t" anchorCtr="0"/>
          <a:lstStyle/>
          <a:p>
            <a:pPr algn="l">
              <a:defRPr/>
            </a:pPr>
            <a:r>
              <a:rPr lang="en-US" sz="2700" b="1" i="0" strike="noStrike">
                <a:solidFill>
                  <a:srgbClr val="F4FAFF">
                    <a:alpha val="100000"/>
                  </a:srgbClr>
                </a:solidFill>
                <a:latin typeface="Inter" panose="02000503000000020004"/>
                <a:ea typeface="Inter" panose="02000503000000020004"/>
                <a:cs typeface="Inter" panose="02000503000000020004"/>
              </a:rPr>
              <a:t>Quantitative Value &amp; </a:t>
            </a:r>
            <a:r>
              <a:rPr sz="2700" b="1" i="0" strike="noStrike">
                <a:solidFill>
                  <a:srgbClr val="2DE7F0">
                    <a:alpha val="100000"/>
                  </a:srgbClr>
                </a:solidFill>
                <a:latin typeface="Inter" panose="02000503000000020004"/>
                <a:ea typeface="Inter" panose="02000503000000020004"/>
                <a:cs typeface="Inter" panose="02000503000000020004"/>
              </a:rPr>
              <a:t>Performance Benchmark</a:t>
            </a:r>
            <a:r>
              <a:rPr sz="2700" b="1" i="0" strike="noStrike">
                <a:solidFill>
                  <a:srgbClr val="F4FAFF">
                    <a:alpha val="100000"/>
                  </a:srgbClr>
                </a:solidFill>
                <a:latin typeface="Inter" panose="02000503000000020004"/>
                <a:ea typeface="Inter" panose="02000503000000020004"/>
                <a:cs typeface="Inter" panose="02000503000000020004"/>
              </a:rPr>
              <a:t> Comparison</a:t>
            </a:r>
            <a:endParaRPr lang="en-US" sz="1100"/>
          </a:p>
        </p:txBody>
      </p:sp>
      <p:sp>
        <p:nvSpPr>
          <p:cNvPr id="5" name="TextBox 5"/>
          <p:cNvSpPr txBox="1"/>
          <p:nvPr/>
        </p:nvSpPr>
        <p:spPr>
          <a:xfrm>
            <a:off x="457086" y="1062930"/>
            <a:ext cx="11731866" cy="866775"/>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Benchmark tests demonstrate that the proposed dynamic compression and RAG architecture drastically</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outperforms traditional brute-force truncation methods across all critical metrics, including processing limits,</a:t>
            </a:r>
            <a:endParaRPr sz="1600" b="0" i="0" strike="noStrike">
              <a:solidFill>
                <a:srgbClr val="B9CED8">
                  <a:alpha val="100000"/>
                </a:srgbClr>
              </a:solidFill>
              <a:latin typeface="Inter" panose="02000503000000020004"/>
              <a:ea typeface="Inter" panose="02000503000000020004"/>
              <a:cs typeface="Inter" panose="02000503000000020004"/>
            </a:endParaRPr>
          </a:p>
          <a:p>
            <a:pPr algn="l"/>
            <a:r>
              <a:rPr sz="1600" b="0" i="0" strike="noStrike">
                <a:solidFill>
                  <a:srgbClr val="B9CED8">
                    <a:alpha val="100000"/>
                  </a:srgbClr>
                </a:solidFill>
                <a:latin typeface="Inter" panose="02000503000000020004"/>
                <a:ea typeface="Inter" panose="02000503000000020004"/>
                <a:cs typeface="Inter" panose="02000503000000020004"/>
              </a:rPr>
              <a:t>reasoning accuracy, and response latency.</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
        <p:nvSpPr>
          <p:cNvPr id="6" name="AutoShape 6"/>
          <p:cNvSpPr/>
          <p:nvPr/>
        </p:nvSpPr>
        <p:spPr>
          <a:xfrm>
            <a:off x="457086" y="2274391"/>
            <a:ext cx="171407" cy="19050"/>
          </a:xfrm>
          <a:prstGeom prst="rect">
            <a:avLst/>
          </a:prstGeom>
          <a:solidFill>
            <a:srgbClr val="2DE7F0">
              <a:alpha val="70196"/>
            </a:srgbClr>
          </a:solidFill>
          <a:ln>
            <a:headEnd type="none"/>
            <a:tailEnd type="none"/>
          </a:ln>
        </p:spPr>
      </p:sp>
      <p:sp>
        <p:nvSpPr>
          <p:cNvPr id="7" name="TextBox 7"/>
          <p:cNvSpPr txBox="1"/>
          <p:nvPr/>
        </p:nvSpPr>
        <p:spPr>
          <a:xfrm>
            <a:off x="723718" y="2158305"/>
            <a:ext cx="5983032"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System Performance vs. Traditional Brute-Force Truncation</a:t>
            </a:r>
            <a:endParaRPr lang="en-US" sz="1100"/>
          </a:p>
        </p:txBody>
      </p:sp>
      <p:sp>
        <p:nvSpPr>
          <p:cNvPr id="8" name="AutoShape 8"/>
          <p:cNvSpPr/>
          <p:nvPr/>
        </p:nvSpPr>
        <p:spPr>
          <a:xfrm>
            <a:off x="457086" y="2523976"/>
            <a:ext cx="11274781" cy="3876824"/>
          </a:xfrm>
          <a:prstGeom prst="roundRect">
            <a:avLst>
              <a:gd name="adj" fmla="val 464"/>
            </a:avLst>
          </a:prstGeom>
          <a:solidFill>
            <a:srgbClr val="06121A">
              <a:alpha val="100000"/>
            </a:srgbClr>
          </a:solidFill>
          <a:ln w="9525">
            <a:solidFill>
              <a:srgbClr val="B9CED8">
                <a:alpha val="18039"/>
              </a:srgbClr>
            </a:solidFill>
            <a:prstDash val="solid"/>
            <a:headEnd type="none"/>
            <a:tailEnd type="none"/>
          </a:ln>
        </p:spPr>
      </p:sp>
      <p:graphicFrame>
        <p:nvGraphicFramePr>
          <p:cNvPr id="9" name="Table 9"/>
          <p:cNvGraphicFramePr>
            <a:graphicFrameLocks noGrp="1"/>
          </p:cNvGraphicFramePr>
          <p:nvPr/>
        </p:nvGraphicFramePr>
        <p:xfrm>
          <a:off x="657061" y="2724001"/>
          <a:ext cx="10874831" cy="2984302"/>
        </p:xfrm>
        <a:graphic>
          <a:graphicData uri="http://schemas.openxmlformats.org/drawingml/2006/table">
            <a:tbl>
              <a:tblPr/>
              <a:tblGrid>
                <a:gridCol w="3619500"/>
                <a:gridCol w="3619500"/>
                <a:gridCol w="3619500"/>
              </a:tblGrid>
              <a:tr h="457200">
                <a:tc>
                  <a:txBody>
                    <a:bodyPr rot="0" wrap="square"/>
                    <a:p>
                      <a:pPr algn="l">
                        <a:defRPr sz="1200" b="1" i="0" strike="noStrike">
                          <a:solidFill>
                            <a:srgbClr val="2DE7F0">
                              <a:alpha val="100000"/>
                            </a:srgbClr>
                          </a:solidFill>
                          <a:latin typeface="Inter, sans-serif"/>
                          <a:ea typeface="Inter, sans-serif"/>
                          <a:cs typeface="Inter, sans-serif"/>
                        </a:defRPr>
                      </a:pPr>
                      <a:r>
                        <a:rPr sz="1200" b="1" i="0" strike="noStrike">
                          <a:solidFill>
                            <a:srgbClr val="2DE7F0">
                              <a:alpha val="100000"/>
                            </a:srgbClr>
                          </a:solidFill>
                          <a:latin typeface="Inter, sans-serif"/>
                          <a:ea typeface="Inter, sans-serif"/>
                          <a:cs typeface="Inter, sans-serif"/>
                        </a:rPr>
                        <a:t>Evaluation Metric</a:t>
                      </a:r>
                      <a:endParaRPr sz="1200" b="1" i="0" strike="noStrike">
                        <a:solidFill>
                          <a:srgbClr val="2DE7F0">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A2233">
                        <a:alpha val="100000"/>
                      </a:srgbClr>
                    </a:solidFill>
                  </a:tcPr>
                </a:tc>
                <a:tc>
                  <a:txBody>
                    <a:bodyPr rot="0" wrap="square"/>
                    <a:p>
                      <a:pPr algn="l">
                        <a:defRPr sz="1200" b="1" i="0" strike="noStrike">
                          <a:solidFill>
                            <a:srgbClr val="2DE7F0">
                              <a:alpha val="100000"/>
                            </a:srgbClr>
                          </a:solidFill>
                          <a:latin typeface="Inter, sans-serif"/>
                          <a:ea typeface="Inter, sans-serif"/>
                          <a:cs typeface="Inter, sans-serif"/>
                        </a:defRPr>
                      </a:pPr>
                      <a:r>
                        <a:rPr sz="1200" b="1" i="0" strike="noStrike">
                          <a:solidFill>
                            <a:srgbClr val="2DE7F0">
                              <a:alpha val="100000"/>
                            </a:srgbClr>
                          </a:solidFill>
                          <a:latin typeface="Inter, sans-serif"/>
                          <a:ea typeface="Inter, sans-serif"/>
                          <a:cs typeface="Inter, sans-serif"/>
                        </a:rPr>
                        <a:t>Traditional Scheme</a:t>
                      </a:r>
                      <a:endParaRPr sz="1200" b="1" i="0" strike="noStrike">
                        <a:solidFill>
                          <a:srgbClr val="2DE7F0">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A2233">
                        <a:alpha val="100000"/>
                      </a:srgbClr>
                    </a:solidFill>
                  </a:tcPr>
                </a:tc>
                <a:tc>
                  <a:txBody>
                    <a:bodyPr rot="0" wrap="square"/>
                    <a:p>
                      <a:pPr algn="l">
                        <a:defRPr sz="1200" b="1" i="0" strike="noStrike">
                          <a:solidFill>
                            <a:srgbClr val="2DE7F0">
                              <a:alpha val="100000"/>
                            </a:srgbClr>
                          </a:solidFill>
                          <a:latin typeface="Inter, sans-serif"/>
                          <a:ea typeface="Inter, sans-serif"/>
                          <a:cs typeface="Inter, sans-serif"/>
                        </a:defRPr>
                      </a:pPr>
                      <a:r>
                        <a:rPr sz="1200" b="1" i="0" strike="noStrike">
                          <a:solidFill>
                            <a:srgbClr val="2DE7F0">
                              <a:alpha val="100000"/>
                            </a:srgbClr>
                          </a:solidFill>
                          <a:latin typeface="Inter, sans-serif"/>
                          <a:ea typeface="Inter, sans-serif"/>
                          <a:cs typeface="Inter, sans-serif"/>
                        </a:rPr>
                        <a:t>Proposed System (Dynamic Compression)</a:t>
                      </a:r>
                      <a:endParaRPr sz="1200" b="1" i="0" strike="noStrike">
                        <a:solidFill>
                          <a:srgbClr val="2DE7F0">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A2233">
                        <a:alpha val="100000"/>
                      </a:srgbClr>
                    </a:solidFill>
                  </a:tcPr>
                </a:tc>
              </a:tr>
              <a:tr h="673100">
                <a:tc>
                  <a:txBody>
                    <a:bodyPr rot="0" wrap="square"/>
                    <a:p>
                      <a:pPr algn="l">
                        <a:defRPr sz="1200" b="0" i="0" strike="noStrike">
                          <a:solidFill>
                            <a:srgbClr val="B9CED8">
                              <a:alpha val="100000"/>
                            </a:srgbClr>
                          </a:solidFill>
                          <a:latin typeface="Inter, sans-serif"/>
                          <a:ea typeface="Inter, sans-serif"/>
                          <a:cs typeface="Inter, sans-serif"/>
                        </a:defRPr>
                      </a:pPr>
                      <a:r>
                        <a:rPr sz="1200" b="0" i="0" strike="noStrike">
                          <a:solidFill>
                            <a:srgbClr val="B9CED8">
                              <a:alpha val="100000"/>
                            </a:srgbClr>
                          </a:solidFill>
                          <a:latin typeface="Inter, sans-serif"/>
                          <a:ea typeface="Inter, sans-serif"/>
                          <a:cs typeface="Inter, sans-serif"/>
                        </a:rPr>
                        <a:t>Maximum Single Document Processing Limit</a:t>
                      </a:r>
                      <a:endParaRPr sz="1200" b="0" i="0" strike="noStrike">
                        <a:solidFill>
                          <a:srgbClr val="B9CED8">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&lt;8k tokens (~10 pages)</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Unbounded (Dynamic Chunking + Knowledge Graph)</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r>
              <a:tr h="457200">
                <a:tc>
                  <a:txBody>
                    <a:bodyPr rot="0" wrap="square"/>
                    <a:p>
                      <a:pPr algn="l">
                        <a:defRPr sz="1200" b="0" i="0" strike="noStrike">
                          <a:solidFill>
                            <a:srgbClr val="B9CED8">
                              <a:alpha val="100000"/>
                            </a:srgbClr>
                          </a:solidFill>
                          <a:latin typeface="Inter, sans-serif"/>
                          <a:ea typeface="Inter, sans-serif"/>
                          <a:cs typeface="Inter, sans-serif"/>
                        </a:defRPr>
                      </a:pPr>
                      <a:r>
                        <a:rPr sz="1200" b="0" i="0" strike="noStrike">
                          <a:solidFill>
                            <a:srgbClr val="B9CED8">
                              <a:alpha val="100000"/>
                            </a:srgbClr>
                          </a:solidFill>
                          <a:latin typeface="Inter, sans-serif"/>
                          <a:ea typeface="Inter, sans-serif"/>
                          <a:cs typeface="Inter, sans-serif"/>
                        </a:rPr>
                        <a:t>Context Redundancy Rate</a:t>
                      </a:r>
                      <a:endParaRPr sz="1200" b="0" i="0" strike="noStrike">
                        <a:solidFill>
                          <a:srgbClr val="B9CED8">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Extremely High (Massive Irrelevant Content)</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&lt;5% (Only Relevant Chunks Retrieved)</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r>
              <a:tr h="457200">
                <a:tc>
                  <a:txBody>
                    <a:bodyPr rot="0" wrap="square"/>
                    <a:p>
                      <a:pPr algn="l">
                        <a:defRPr sz="1200" b="0" i="0" strike="noStrike">
                          <a:solidFill>
                            <a:srgbClr val="B9CED8">
                              <a:alpha val="100000"/>
                            </a:srgbClr>
                          </a:solidFill>
                          <a:latin typeface="Inter, sans-serif"/>
                          <a:ea typeface="Inter, sans-serif"/>
                          <a:cs typeface="Inter, sans-serif"/>
                        </a:defRPr>
                      </a:pPr>
                      <a:r>
                        <a:rPr sz="1200" b="0" i="0" strike="noStrike">
                          <a:solidFill>
                            <a:srgbClr val="B9CED8">
                              <a:alpha val="100000"/>
                            </a:srgbClr>
                          </a:solidFill>
                          <a:latin typeface="Inter, sans-serif"/>
                          <a:ea typeface="Inter, sans-serif"/>
                          <a:cs typeface="Inter, sans-serif"/>
                        </a:rPr>
                        <a:t>Multi-Hop Reasoning Accuracy</a:t>
                      </a:r>
                      <a:endParaRPr sz="1200" b="0" i="0" strike="noStrike">
                        <a:solidFill>
                          <a:srgbClr val="B9CED8">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Low (Broken Logical Chains)</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+40% Improvement (Graph Complementation)</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r>
              <a:tr h="457200">
                <a:tc>
                  <a:txBody>
                    <a:bodyPr rot="0" wrap="square"/>
                    <a:p>
                      <a:pPr algn="l">
                        <a:defRPr sz="1200" b="0" i="0" strike="noStrike">
                          <a:solidFill>
                            <a:srgbClr val="B9CED8">
                              <a:alpha val="100000"/>
                            </a:srgbClr>
                          </a:solidFill>
                          <a:latin typeface="Inter, sans-serif"/>
                          <a:ea typeface="Inter, sans-serif"/>
                          <a:cs typeface="Inter, sans-serif"/>
                        </a:defRPr>
                      </a:pPr>
                      <a:r>
                        <a:rPr sz="1200" b="0" i="0" strike="noStrike">
                          <a:solidFill>
                            <a:srgbClr val="B9CED8">
                              <a:alpha val="100000"/>
                            </a:srgbClr>
                          </a:solidFill>
                          <a:latin typeface="Inter, sans-serif"/>
                          <a:ea typeface="Inter, sans-serif"/>
                          <a:cs typeface="Inter, sans-serif"/>
                        </a:rPr>
                        <a:t>Average Output Token Count</a:t>
                      </a:r>
                      <a:endParaRPr sz="1200" b="0" i="0" strike="noStrike">
                        <a:solidFill>
                          <a:srgbClr val="B9CED8">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4000+ Tokens</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&lt;1500 Tokens (After Compression)</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B1E27">
                        <a:alpha val="100000"/>
                      </a:srgbClr>
                    </a:solidFill>
                  </a:tcPr>
                </a:tc>
              </a:tr>
              <a:tr h="457200">
                <a:tc>
                  <a:txBody>
                    <a:bodyPr rot="0" wrap="square"/>
                    <a:p>
                      <a:pPr algn="l">
                        <a:defRPr sz="1200" b="0" i="0" strike="noStrike">
                          <a:solidFill>
                            <a:srgbClr val="B9CED8">
                              <a:alpha val="100000"/>
                            </a:srgbClr>
                          </a:solidFill>
                          <a:latin typeface="Inter, sans-serif"/>
                          <a:ea typeface="Inter, sans-serif"/>
                          <a:cs typeface="Inter, sans-serif"/>
                        </a:defRPr>
                      </a:pPr>
                      <a:r>
                        <a:rPr sz="1200" b="0" i="0" strike="noStrike">
                          <a:solidFill>
                            <a:srgbClr val="B9CED8">
                              <a:alpha val="100000"/>
                            </a:srgbClr>
                          </a:solidFill>
                          <a:latin typeface="Inter, sans-serif"/>
                          <a:ea typeface="Inter, sans-serif"/>
                          <a:cs typeface="Inter, sans-serif"/>
                        </a:rPr>
                        <a:t>Latency for Frequent Queries</a:t>
                      </a:r>
                      <a:endParaRPr sz="1200" b="0" i="0" strike="noStrike">
                        <a:solidFill>
                          <a:srgbClr val="B9CED8">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3~5 Seconds</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c>
                  <a:txBody>
                    <a:bodyPr rot="0" wrap="square"/>
                    <a:p>
                      <a:pPr algn="l">
                        <a:defRPr sz="1200" b="0" i="0" strike="noStrike">
                          <a:solidFill>
                            <a:srgbClr val="F4FAFF">
                              <a:alpha val="100000"/>
                            </a:srgbClr>
                          </a:solidFill>
                          <a:latin typeface="Inter, sans-serif"/>
                          <a:ea typeface="Inter, sans-serif"/>
                          <a:cs typeface="Inter, sans-serif"/>
                        </a:defRPr>
                      </a:pPr>
                      <a:r>
                        <a:rPr sz="1200" b="0" i="0" strike="noStrike">
                          <a:solidFill>
                            <a:srgbClr val="F4FAFF">
                              <a:alpha val="100000"/>
                            </a:srgbClr>
                          </a:solidFill>
                          <a:latin typeface="Inter, sans-serif"/>
                          <a:ea typeface="Inter, sans-serif"/>
                          <a:cs typeface="Inter, sans-serif"/>
                        </a:rPr>
                        <a:t>&lt;50ms (Semantic Cache Hit)</a:t>
                      </a:r>
                      <a:endParaRPr sz="1200" b="0" i="0" strike="noStrike">
                        <a:solidFill>
                          <a:srgbClr val="F4FAFF">
                            <a:alpha val="100000"/>
                          </a:srgbClr>
                        </a:solidFill>
                        <a:latin typeface="Inter, sans-serif"/>
                        <a:ea typeface="Inter, sans-serif"/>
                        <a:cs typeface="Inter, sans-serif"/>
                      </a:endParaRPr>
                    </a:p>
                  </a:txBody>
                  <a:tcPr marL="152400" marR="152400" marT="114300" marB="114300" vert="horz" anchor="ctr" anchorCtr="0">
                    <a:lnL w="25400">
                      <a:solidFill>
                        <a:srgbClr val="2DE7F0">
                          <a:alpha val="100000"/>
                        </a:srgbClr>
                      </a:solidFill>
                    </a:lnL>
                    <a:lnR w="25400">
                      <a:solidFill>
                        <a:srgbClr val="2DE7F0">
                          <a:alpha val="100000"/>
                        </a:srgbClr>
                      </a:solidFill>
                    </a:lnR>
                    <a:lnT w="25400">
                      <a:solidFill>
                        <a:srgbClr val="2DE7F0">
                          <a:alpha val="100000"/>
                        </a:srgbClr>
                      </a:solidFill>
                    </a:lnT>
                    <a:lnB w="25400">
                      <a:solidFill>
                        <a:srgbClr val="2DE7F0">
                          <a:alpha val="100000"/>
                        </a:srgbClr>
                      </a:solidFill>
                    </a:lnB>
                    <a:solidFill>
                      <a:srgbClr val="081C28">
                        <a:alpha val="100000"/>
                      </a:srgb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sp>
        <p:nvSpPr>
          <p:cNvPr id="4" name="AutoShape 4"/>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5" name="AutoShape 5"/>
          <p:cNvSpPr/>
          <p:nvPr/>
        </p:nvSpPr>
        <p:spPr>
          <a:xfrm>
            <a:off x="457086" y="511969"/>
            <a:ext cx="76181" cy="76200"/>
          </a:xfrm>
          <a:prstGeom prst="ellipse">
            <a:avLst/>
          </a:prstGeom>
          <a:solidFill>
            <a:srgbClr val="2DE7F0">
              <a:alpha val="100000"/>
            </a:srgbClr>
          </a:solidFill>
          <a:ln>
            <a:headEnd type="none"/>
            <a:tailEnd type="none"/>
          </a:ln>
        </p:spPr>
      </p:sp>
      <p:sp>
        <p:nvSpPr>
          <p:cNvPr id="6" name="TextBox 6"/>
          <p:cNvSpPr txBox="1"/>
          <p:nvPr/>
        </p:nvSpPr>
        <p:spPr>
          <a:xfrm>
            <a:off x="609448" y="476250"/>
            <a:ext cx="1561114"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B9CED8">
                    <a:alpha val="100000"/>
                  </a:srgbClr>
                </a:solidFill>
                <a:latin typeface="Inter" panose="02000503000000020004"/>
                <a:ea typeface="Inter" panose="02000503000000020004"/>
                <a:cs typeface="Inter" panose="02000503000000020004"/>
              </a:rPr>
              <a:t>Strategic Summary</a:t>
            </a:r>
            <a:endParaRPr lang="en-US" sz="1100"/>
          </a:p>
        </p:txBody>
      </p:sp>
      <p:sp>
        <p:nvSpPr>
          <p:cNvPr id="7" name="TextBox 7"/>
          <p:cNvSpPr txBox="1"/>
          <p:nvPr/>
        </p:nvSpPr>
        <p:spPr>
          <a:xfrm>
            <a:off x="457086" y="709612"/>
            <a:ext cx="11274781" cy="419100"/>
          </a:xfrm>
          <a:prstGeom prst="rect">
            <a:avLst/>
          </a:prstGeom>
          <a:ln>
            <a:headEnd type="none"/>
            <a:tailEnd type="none"/>
          </a:ln>
        </p:spPr>
        <p:txBody>
          <a:bodyPr vert="horz" wrap="none" lIns="0" tIns="0" rIns="0" bIns="0" rtlCol="0" anchor="t" anchorCtr="0"/>
          <a:lstStyle/>
          <a:p>
            <a:pPr algn="l">
              <a:defRPr/>
            </a:pPr>
            <a:r>
              <a:rPr lang="en-US" sz="3000" b="1" i="0" strike="noStrike">
                <a:solidFill>
                  <a:srgbClr val="F4FAFF">
                    <a:alpha val="100000"/>
                  </a:srgbClr>
                </a:solidFill>
                <a:latin typeface="Inter" panose="02000503000000020004"/>
                <a:ea typeface="Inter" panose="02000503000000020004"/>
                <a:cs typeface="Inter" panose="02000503000000020004"/>
              </a:rPr>
              <a:t>Project Summary &amp; </a:t>
            </a:r>
            <a:r>
              <a:rPr sz="3000" b="1" i="0" strike="noStrike">
                <a:solidFill>
                  <a:srgbClr val="2DE7F0">
                    <a:alpha val="100000"/>
                  </a:srgbClr>
                </a:solidFill>
                <a:latin typeface="Inter" panose="02000503000000020004"/>
                <a:ea typeface="Inter" panose="02000503000000020004"/>
                <a:cs typeface="Inter" panose="02000503000000020004"/>
              </a:rPr>
              <a:t>Strategic Outlook</a:t>
            </a:r>
            <a:endParaRPr lang="en-US" sz="1100"/>
          </a:p>
        </p:txBody>
      </p:sp>
      <p:sp>
        <p:nvSpPr>
          <p:cNvPr id="8" name="AutoShape 8"/>
          <p:cNvSpPr/>
          <p:nvPr/>
        </p:nvSpPr>
        <p:spPr>
          <a:xfrm>
            <a:off x="457086" y="1320998"/>
            <a:ext cx="11274781" cy="9525"/>
          </a:xfrm>
          <a:prstGeom prst="rect">
            <a:avLst/>
          </a:prstGeom>
          <a:gradFill>
            <a:gsLst>
              <a:gs pos="0">
                <a:srgbClr val="2DE7F0">
                  <a:alpha val="0"/>
                </a:srgbClr>
              </a:gs>
              <a:gs pos="50000">
                <a:srgbClr val="2DE7F0">
                  <a:alpha val="100000"/>
                </a:srgbClr>
              </a:gs>
              <a:gs pos="100000">
                <a:srgbClr val="2DE7F0">
                  <a:alpha val="0"/>
                </a:srgbClr>
              </a:gs>
            </a:gsLst>
            <a:lin ang="5400000"/>
          </a:gradFill>
          <a:ln>
            <a:headEnd type="none"/>
            <a:tailEnd type="none"/>
          </a:ln>
        </p:spPr>
      </p:sp>
      <p:sp>
        <p:nvSpPr>
          <p:cNvPr id="9" name="AutoShape 9"/>
          <p:cNvSpPr/>
          <p:nvPr/>
        </p:nvSpPr>
        <p:spPr>
          <a:xfrm>
            <a:off x="457086" y="1521023"/>
            <a:ext cx="11274781" cy="1374278"/>
          </a:xfrm>
          <a:prstGeom prst="roundRect">
            <a:avLst>
              <a:gd name="adj" fmla="val 368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0" name="AutoShape 10"/>
          <p:cNvSpPr/>
          <p:nvPr/>
        </p:nvSpPr>
        <p:spPr>
          <a:xfrm>
            <a:off x="733242" y="1759148"/>
            <a:ext cx="190452" cy="190500"/>
          </a:xfrm>
          <a:custGeom>
            <a:avLst/>
            <a:gdLst/>
            <a:ahLst/>
            <a:cxnLst/>
            <a:rect l="l" t="t" r="r" b="b"/>
            <a:pathLst>
              <a:path w="9998" h="10000">
                <a:moveTo>
                  <a:pt x="4999" y="0"/>
                </a:moveTo>
                <a:lnTo>
                  <a:pt x="6305" y="3283"/>
                </a:lnTo>
                <a:lnTo>
                  <a:pt x="9998" y="3914"/>
                </a:lnTo>
                <a:lnTo>
                  <a:pt x="7499" y="6330"/>
                </a:lnTo>
                <a:lnTo>
                  <a:pt x="7611" y="10000"/>
                </a:lnTo>
                <a:lnTo>
                  <a:pt x="4999" y="8596"/>
                </a:lnTo>
                <a:lnTo>
                  <a:pt x="2387" y="10000"/>
                </a:lnTo>
                <a:lnTo>
                  <a:pt x="2499" y="6330"/>
                </a:lnTo>
                <a:lnTo>
                  <a:pt x="0" y="3914"/>
                </a:lnTo>
                <a:lnTo>
                  <a:pt x="3693" y="3283"/>
                </a:lnTo>
                <a:lnTo>
                  <a:pt x="4999" y="0"/>
                </a:lnTo>
                <a:close/>
              </a:path>
            </a:pathLst>
          </a:custGeom>
          <a:solidFill>
            <a:srgbClr val="2DE7F0">
              <a:alpha val="90196"/>
            </a:srgbClr>
          </a:solidFill>
          <a:ln>
            <a:headEnd type="none"/>
            <a:tailEnd type="none"/>
          </a:ln>
        </p:spPr>
      </p:sp>
      <p:sp>
        <p:nvSpPr>
          <p:cNvPr id="11" name="TextBox 11"/>
          <p:cNvSpPr txBox="1"/>
          <p:nvPr/>
        </p:nvSpPr>
        <p:spPr>
          <a:xfrm>
            <a:off x="1076056" y="1759148"/>
            <a:ext cx="10379654" cy="887611"/>
          </a:xfrm>
          <a:prstGeom prst="rect">
            <a:avLst/>
          </a:prstGeom>
          <a:ln>
            <a:headEnd type="none"/>
            <a:tailEnd type="none"/>
          </a:ln>
        </p:spPr>
        <p:txBody>
          <a:bodyPr vert="horz" wrap="square" lIns="0" tIns="0" rIns="0" bIns="0" rtlCol="0" anchor="t" anchorCtr="0"/>
          <a:lstStyle/>
          <a:p>
            <a:pPr algn="l">
              <a:defRPr/>
            </a:pPr>
            <a:r>
              <a:rPr lang="en-US" sz="1600" b="0" i="0" strike="noStrike">
                <a:solidFill>
                  <a:srgbClr val="B9CED8">
                    <a:alpha val="100000"/>
                  </a:srgbClr>
                </a:solidFill>
                <a:latin typeface="Inter" panose="02000503000000020004"/>
                <a:ea typeface="Inter" panose="02000503000000020004"/>
                <a:cs typeface="Inter" panose="02000503000000020004"/>
              </a:rPr>
              <a:t>The project transcends basic document search by delivering an end-to-end, cost-effective, and highly scalable</a:t>
            </a:r>
            <a:endParaRPr lang="en-US" sz="1100"/>
          </a:p>
          <a:p>
            <a:pPr algn="l"/>
            <a:r>
              <a:rPr sz="1600" b="0" i="0" strike="noStrike">
                <a:solidFill>
                  <a:srgbClr val="B9CED8">
                    <a:alpha val="100000"/>
                  </a:srgbClr>
                </a:solidFill>
                <a:latin typeface="Inter" panose="02000503000000020004"/>
                <a:ea typeface="Inter" panose="02000503000000020004"/>
                <a:cs typeface="Inter" panose="02000503000000020004"/>
              </a:rPr>
              <a:t>AI training ecosystem, specifically engineered to handle the extreme complexity and compliance requirements</a:t>
            </a:r>
            <a:endParaRPr sz="1600" b="0" i="0" strike="noStrike">
              <a:solidFill>
                <a:srgbClr val="B9CED8">
                  <a:alpha val="100000"/>
                </a:srgbClr>
              </a:solidFill>
              <a:latin typeface="Inter" panose="02000503000000020004"/>
              <a:ea typeface="Inter" panose="02000503000000020004"/>
              <a:cs typeface="Inter" panose="02000503000000020004"/>
            </a:endParaRPr>
          </a:p>
          <a:p>
            <a:pPr algn="l"/>
            <a:r>
              <a:rPr sz="1600" b="0" i="0" strike="noStrike">
                <a:solidFill>
                  <a:srgbClr val="B9CED8">
                    <a:alpha val="100000"/>
                  </a:srgbClr>
                </a:solidFill>
                <a:latin typeface="Inter" panose="02000503000000020004"/>
                <a:ea typeface="Inter" panose="02000503000000020004"/>
                <a:cs typeface="Inter" panose="02000503000000020004"/>
              </a:rPr>
              <a:t>of the financial industry.</a:t>
            </a:r>
            <a:endParaRPr sz="1600" b="0" i="0" strike="noStrike">
              <a:solidFill>
                <a:srgbClr val="B9CED8">
                  <a:alpha val="100000"/>
                </a:srgbClr>
              </a:solidFill>
              <a:latin typeface="Inter" panose="02000503000000020004"/>
              <a:ea typeface="Inter" panose="02000503000000020004"/>
              <a:cs typeface="Inter" panose="02000503000000020004"/>
            </a:endParaRPr>
          </a:p>
        </p:txBody>
      </p:sp>
      <p:sp>
        <p:nvSpPr>
          <p:cNvPr id="12" name="AutoShape 12"/>
          <p:cNvSpPr/>
          <p:nvPr>
            <p:custDataLst>
              <p:tags r:id="rId2"/>
            </p:custDataLst>
          </p:nvPr>
        </p:nvSpPr>
        <p:spPr>
          <a:xfrm>
            <a:off x="457086" y="3123903"/>
            <a:ext cx="3631242" cy="3276897"/>
          </a:xfrm>
          <a:prstGeom prst="roundRect">
            <a:avLst>
              <a:gd name="adj" fmla="val 64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13" name="AutoShape 13"/>
          <p:cNvSpPr/>
          <p:nvPr>
            <p:custDataLst>
              <p:tags r:id="rId3"/>
            </p:custDataLst>
          </p:nvPr>
        </p:nvSpPr>
        <p:spPr>
          <a:xfrm>
            <a:off x="695151" y="3362028"/>
            <a:ext cx="342814" cy="342900"/>
          </a:xfrm>
          <a:prstGeom prst="roundRect">
            <a:avLst>
              <a:gd name="adj" fmla="val 44456"/>
            </a:avLst>
          </a:prstGeom>
          <a:solidFill>
            <a:srgbClr val="2DE7F0">
              <a:alpha val="5882"/>
            </a:srgbClr>
          </a:solidFill>
          <a:ln w="9525">
            <a:solidFill>
              <a:srgbClr val="2DE7F0">
                <a:alpha val="21960"/>
              </a:srgbClr>
            </a:solidFill>
            <a:prstDash val="solid"/>
            <a:headEnd type="none"/>
            <a:tailEnd type="none"/>
          </a:ln>
        </p:spPr>
      </p:sp>
      <p:sp>
        <p:nvSpPr>
          <p:cNvPr id="14" name="AutoShape 14"/>
          <p:cNvSpPr/>
          <p:nvPr>
            <p:custDataLst>
              <p:tags r:id="rId4"/>
            </p:custDataLst>
          </p:nvPr>
        </p:nvSpPr>
        <p:spPr>
          <a:xfrm>
            <a:off x="780854" y="3447753"/>
            <a:ext cx="171407" cy="171450"/>
          </a:xfrm>
          <a:custGeom>
            <a:avLst/>
            <a:gdLst/>
            <a:ahLst/>
            <a:cxnLst/>
            <a:rect l="l" t="t" r="r" b="b"/>
            <a:pathLst>
              <a:path w="9998" h="10000">
                <a:moveTo>
                  <a:pt x="9998" y="10000"/>
                </a:moveTo>
                <a:lnTo>
                  <a:pt x="7582" y="7583"/>
                </a:lnTo>
                <a:moveTo>
                  <a:pt x="8887" y="4444"/>
                </a:moveTo>
                <a:cubicBezTo>
                  <a:pt x="8887" y="6899"/>
                  <a:pt x="6898" y="8889"/>
                  <a:pt x="4444" y="8889"/>
                </a:cubicBezTo>
                <a:cubicBezTo>
                  <a:pt x="1989" y="8889"/>
                  <a:pt x="0" y="6899"/>
                  <a:pt x="0" y="4444"/>
                </a:cubicBezTo>
                <a:cubicBezTo>
                  <a:pt x="0" y="1990"/>
                  <a:pt x="1989" y="0"/>
                  <a:pt x="4444" y="0"/>
                </a:cubicBezTo>
                <a:cubicBezTo>
                  <a:pt x="6898" y="0"/>
                  <a:pt x="8887" y="1990"/>
                  <a:pt x="8887" y="4444"/>
                </a:cubicBezTo>
                <a:close/>
              </a:path>
            </a:pathLst>
          </a:custGeom>
          <a:ln w="19050">
            <a:solidFill>
              <a:srgbClr val="2DE7F0">
                <a:alpha val="100000"/>
              </a:srgbClr>
            </a:solidFill>
            <a:prstDash val="solid"/>
            <a:headEnd type="none"/>
            <a:tailEnd type="none"/>
          </a:ln>
        </p:spPr>
      </p:sp>
      <p:sp>
        <p:nvSpPr>
          <p:cNvPr id="15" name="AutoShape 15"/>
          <p:cNvSpPr/>
          <p:nvPr>
            <p:custDataLst>
              <p:tags r:id="rId5"/>
            </p:custDataLst>
          </p:nvPr>
        </p:nvSpPr>
        <p:spPr>
          <a:xfrm>
            <a:off x="780854" y="3447753"/>
            <a:ext cx="171407" cy="171450"/>
          </a:xfrm>
          <a:custGeom>
            <a:avLst/>
            <a:gdLst/>
            <a:ahLst/>
            <a:cxnLst/>
            <a:rect l="l" t="t" r="r" b="b"/>
            <a:pathLst>
              <a:path w="9998" h="10000">
                <a:moveTo>
                  <a:pt x="4999" y="0"/>
                </a:moveTo>
                <a:lnTo>
                  <a:pt x="4999" y="10000"/>
                </a:lnTo>
                <a:moveTo>
                  <a:pt x="0" y="5000"/>
                </a:moveTo>
                <a:lnTo>
                  <a:pt x="9998" y="5000"/>
                </a:lnTo>
              </a:path>
            </a:pathLst>
          </a:custGeom>
          <a:ln w="19050">
            <a:solidFill>
              <a:srgbClr val="2DE7F0">
                <a:alpha val="100000"/>
              </a:srgbClr>
            </a:solidFill>
            <a:prstDash val="solid"/>
            <a:headEnd type="none"/>
            <a:tailEnd type="none"/>
          </a:ln>
        </p:spPr>
      </p:sp>
      <p:sp>
        <p:nvSpPr>
          <p:cNvPr id="16" name="TextBox 16"/>
          <p:cNvSpPr txBox="1"/>
          <p:nvPr>
            <p:custDataLst>
              <p:tags r:id="rId6"/>
            </p:custDataLst>
          </p:nvPr>
        </p:nvSpPr>
        <p:spPr>
          <a:xfrm>
            <a:off x="1152237" y="3407717"/>
            <a:ext cx="2327537"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Beyond Simple Search</a:t>
            </a:r>
            <a:endParaRPr lang="en-US" sz="1100"/>
          </a:p>
        </p:txBody>
      </p:sp>
      <p:sp>
        <p:nvSpPr>
          <p:cNvPr id="17" name="AutoShape 17"/>
          <p:cNvSpPr/>
          <p:nvPr>
            <p:custDataLst>
              <p:tags r:id="rId7"/>
            </p:custDataLst>
          </p:nvPr>
        </p:nvSpPr>
        <p:spPr>
          <a:xfrm>
            <a:off x="695151" y="3857328"/>
            <a:ext cx="304724" cy="19050"/>
          </a:xfrm>
          <a:prstGeom prst="rect">
            <a:avLst/>
          </a:prstGeom>
          <a:solidFill>
            <a:srgbClr val="2DE7F0">
              <a:alpha val="60000"/>
            </a:srgbClr>
          </a:solidFill>
          <a:ln>
            <a:headEnd type="none"/>
            <a:tailEnd type="none"/>
          </a:ln>
        </p:spPr>
      </p:sp>
      <p:sp>
        <p:nvSpPr>
          <p:cNvPr id="18" name="TextBox 18"/>
          <p:cNvSpPr txBox="1"/>
          <p:nvPr>
            <p:custDataLst>
              <p:tags r:id="rId8"/>
            </p:custDataLst>
          </p:nvPr>
        </p:nvSpPr>
        <p:spPr>
          <a:xfrm>
            <a:off x="695151" y="4066878"/>
            <a:ext cx="3393177" cy="916037"/>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Evolves past basic 'document search + LLM'</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into a dynamic memory compression system</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specifically engineered for ultra-long,</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knowledge-intensive financial texts.</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19" name="AutoShape 19"/>
          <p:cNvSpPr/>
          <p:nvPr>
            <p:custDataLst>
              <p:tags r:id="rId9"/>
            </p:custDataLst>
          </p:nvPr>
        </p:nvSpPr>
        <p:spPr>
          <a:xfrm>
            <a:off x="4278780" y="3123903"/>
            <a:ext cx="3631242" cy="3276897"/>
          </a:xfrm>
          <a:prstGeom prst="roundRect">
            <a:avLst>
              <a:gd name="adj" fmla="val 64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0" name="AutoShape 20"/>
          <p:cNvSpPr/>
          <p:nvPr>
            <p:custDataLst>
              <p:tags r:id="rId10"/>
            </p:custDataLst>
          </p:nvPr>
        </p:nvSpPr>
        <p:spPr>
          <a:xfrm>
            <a:off x="4516846" y="3362028"/>
            <a:ext cx="342814" cy="342900"/>
          </a:xfrm>
          <a:prstGeom prst="roundRect">
            <a:avLst>
              <a:gd name="adj" fmla="val 44456"/>
            </a:avLst>
          </a:prstGeom>
          <a:solidFill>
            <a:srgbClr val="2DE7F0">
              <a:alpha val="5882"/>
            </a:srgbClr>
          </a:solidFill>
          <a:ln w="9525">
            <a:solidFill>
              <a:srgbClr val="2DE7F0">
                <a:alpha val="21960"/>
              </a:srgbClr>
            </a:solidFill>
            <a:prstDash val="solid"/>
            <a:headEnd type="none"/>
            <a:tailEnd type="none"/>
          </a:ln>
        </p:spPr>
      </p:sp>
      <p:sp>
        <p:nvSpPr>
          <p:cNvPr id="21" name="AutoShape 21"/>
          <p:cNvSpPr/>
          <p:nvPr>
            <p:custDataLst>
              <p:tags r:id="rId11"/>
            </p:custDataLst>
          </p:nvPr>
        </p:nvSpPr>
        <p:spPr>
          <a:xfrm>
            <a:off x="4602550" y="3447753"/>
            <a:ext cx="171407" cy="171450"/>
          </a:xfrm>
          <a:custGeom>
            <a:avLst/>
            <a:gdLst/>
            <a:ahLst/>
            <a:cxnLst/>
            <a:rect l="l" t="t" r="r" b="b"/>
            <a:pathLst>
              <a:path w="9998" h="10000">
                <a:moveTo>
                  <a:pt x="3333" y="5000"/>
                </a:moveTo>
                <a:lnTo>
                  <a:pt x="4444" y="6111"/>
                </a:lnTo>
                <a:lnTo>
                  <a:pt x="6665" y="3889"/>
                </a:lnTo>
                <a:moveTo>
                  <a:pt x="9998" y="5000"/>
                </a:moveTo>
                <a:cubicBezTo>
                  <a:pt x="9998" y="7761"/>
                  <a:pt x="7760" y="10000"/>
                  <a:pt x="4999" y="10000"/>
                </a:cubicBezTo>
                <a:cubicBezTo>
                  <a:pt x="2238" y="10000"/>
                  <a:pt x="0" y="7761"/>
                  <a:pt x="0" y="5000"/>
                </a:cubicBezTo>
                <a:cubicBezTo>
                  <a:pt x="0" y="2239"/>
                  <a:pt x="2238" y="0"/>
                  <a:pt x="4999" y="0"/>
                </a:cubicBezTo>
                <a:cubicBezTo>
                  <a:pt x="7760" y="0"/>
                  <a:pt x="9998" y="2239"/>
                  <a:pt x="9998" y="5000"/>
                </a:cubicBezTo>
                <a:close/>
              </a:path>
            </a:pathLst>
          </a:custGeom>
          <a:ln w="19050">
            <a:solidFill>
              <a:srgbClr val="2DE7F0">
                <a:alpha val="100000"/>
              </a:srgbClr>
            </a:solidFill>
            <a:prstDash val="solid"/>
            <a:headEnd type="none"/>
            <a:tailEnd type="none"/>
          </a:ln>
        </p:spPr>
      </p:sp>
      <p:sp>
        <p:nvSpPr>
          <p:cNvPr id="22" name="TextBox 22"/>
          <p:cNvSpPr txBox="1"/>
          <p:nvPr>
            <p:custDataLst>
              <p:tags r:id="rId12"/>
            </p:custDataLst>
          </p:nvPr>
        </p:nvSpPr>
        <p:spPr>
          <a:xfrm>
            <a:off x="4973932" y="3407717"/>
            <a:ext cx="2687461"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End-to-End Empowerment</a:t>
            </a:r>
            <a:endParaRPr lang="en-US" sz="1100"/>
          </a:p>
        </p:txBody>
      </p:sp>
      <p:sp>
        <p:nvSpPr>
          <p:cNvPr id="23" name="AutoShape 23"/>
          <p:cNvSpPr/>
          <p:nvPr>
            <p:custDataLst>
              <p:tags r:id="rId13"/>
            </p:custDataLst>
          </p:nvPr>
        </p:nvSpPr>
        <p:spPr>
          <a:xfrm>
            <a:off x="4516846" y="3857328"/>
            <a:ext cx="304724" cy="19050"/>
          </a:xfrm>
          <a:prstGeom prst="rect">
            <a:avLst/>
          </a:prstGeom>
          <a:solidFill>
            <a:srgbClr val="2DE7F0">
              <a:alpha val="60000"/>
            </a:srgbClr>
          </a:solidFill>
          <a:ln>
            <a:headEnd type="none"/>
            <a:tailEnd type="none"/>
          </a:ln>
        </p:spPr>
      </p:sp>
      <p:sp>
        <p:nvSpPr>
          <p:cNvPr id="24" name="TextBox 24"/>
          <p:cNvSpPr txBox="1"/>
          <p:nvPr>
            <p:custDataLst>
              <p:tags r:id="rId14"/>
            </p:custDataLst>
          </p:nvPr>
        </p:nvSpPr>
        <p:spPr>
          <a:xfrm>
            <a:off x="4516846" y="4066878"/>
            <a:ext cx="3393177" cy="916037"/>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Seamlessly integrates knowledge</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management, cognitive Q&amp;A, semantic</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examination, and personalized learning into a</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single, cohesive onboarding ecosystem.</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
        <p:nvSpPr>
          <p:cNvPr id="25" name="AutoShape 25"/>
          <p:cNvSpPr/>
          <p:nvPr>
            <p:custDataLst>
              <p:tags r:id="rId15"/>
            </p:custDataLst>
          </p:nvPr>
        </p:nvSpPr>
        <p:spPr>
          <a:xfrm>
            <a:off x="8100475" y="3123903"/>
            <a:ext cx="3631242" cy="3276897"/>
          </a:xfrm>
          <a:prstGeom prst="roundRect">
            <a:avLst>
              <a:gd name="adj" fmla="val 649"/>
            </a:avLst>
          </a:prstGeom>
          <a:solidFill>
            <a:srgbClr val="0C232E">
              <a:alpha val="61960"/>
            </a:srgbClr>
          </a:solidFill>
          <a:ln w="9525">
            <a:solidFill>
              <a:srgbClr val="2DE7F0">
                <a:alpha val="21960"/>
              </a:srgbClr>
            </a:solidFill>
            <a:prstDash val="solid"/>
            <a:headEnd type="none"/>
            <a:tailEnd type="none"/>
          </a:ln>
          <a:effectLst>
            <a:outerShdw blurRad="438150" dist="171450" dir="5400000" rotWithShape="0">
              <a:srgbClr val="000000">
                <a:alpha val="23921"/>
              </a:srgbClr>
            </a:outerShdw>
          </a:effectLst>
        </p:spPr>
      </p:sp>
      <p:sp>
        <p:nvSpPr>
          <p:cNvPr id="26" name="AutoShape 26"/>
          <p:cNvSpPr/>
          <p:nvPr>
            <p:custDataLst>
              <p:tags r:id="rId16"/>
            </p:custDataLst>
          </p:nvPr>
        </p:nvSpPr>
        <p:spPr>
          <a:xfrm>
            <a:off x="8338541" y="3362028"/>
            <a:ext cx="342814" cy="342900"/>
          </a:xfrm>
          <a:prstGeom prst="roundRect">
            <a:avLst>
              <a:gd name="adj" fmla="val 44456"/>
            </a:avLst>
          </a:prstGeom>
          <a:solidFill>
            <a:srgbClr val="2DE7F0">
              <a:alpha val="5882"/>
            </a:srgbClr>
          </a:solidFill>
          <a:ln w="9525">
            <a:solidFill>
              <a:srgbClr val="2DE7F0">
                <a:alpha val="21960"/>
              </a:srgbClr>
            </a:solidFill>
            <a:prstDash val="solid"/>
            <a:headEnd type="none"/>
            <a:tailEnd type="none"/>
          </a:ln>
        </p:spPr>
      </p:sp>
      <p:sp>
        <p:nvSpPr>
          <p:cNvPr id="27" name="AutoShape 27"/>
          <p:cNvSpPr/>
          <p:nvPr>
            <p:custDataLst>
              <p:tags r:id="rId17"/>
            </p:custDataLst>
          </p:nvPr>
        </p:nvSpPr>
        <p:spPr>
          <a:xfrm>
            <a:off x="8424244" y="3447753"/>
            <a:ext cx="171407" cy="171450"/>
          </a:xfrm>
          <a:custGeom>
            <a:avLst/>
            <a:gdLst/>
            <a:ahLst/>
            <a:cxnLst/>
            <a:rect l="l" t="t" r="r" b="b"/>
            <a:pathLst>
              <a:path w="9998" h="10000">
                <a:moveTo>
                  <a:pt x="5624" y="3889"/>
                </a:moveTo>
                <a:lnTo>
                  <a:pt x="5624" y="0"/>
                </a:lnTo>
                <a:lnTo>
                  <a:pt x="0" y="6111"/>
                </a:lnTo>
                <a:lnTo>
                  <a:pt x="4374" y="6111"/>
                </a:lnTo>
                <a:lnTo>
                  <a:pt x="4374" y="10000"/>
                </a:lnTo>
                <a:lnTo>
                  <a:pt x="9998" y="3889"/>
                </a:lnTo>
                <a:lnTo>
                  <a:pt x="5624" y="3889"/>
                </a:lnTo>
                <a:close/>
              </a:path>
            </a:pathLst>
          </a:custGeom>
          <a:ln w="19050">
            <a:solidFill>
              <a:srgbClr val="2DE7F0">
                <a:alpha val="100000"/>
              </a:srgbClr>
            </a:solidFill>
            <a:prstDash val="solid"/>
            <a:headEnd type="none"/>
            <a:tailEnd type="none"/>
          </a:ln>
        </p:spPr>
      </p:sp>
      <p:sp>
        <p:nvSpPr>
          <p:cNvPr id="28" name="TextBox 28"/>
          <p:cNvSpPr txBox="1"/>
          <p:nvPr>
            <p:custDataLst>
              <p:tags r:id="rId18"/>
            </p:custDataLst>
          </p:nvPr>
        </p:nvSpPr>
        <p:spPr>
          <a:xfrm>
            <a:off x="8795626" y="3407717"/>
            <a:ext cx="2583605" cy="238125"/>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F4FAFF">
                    <a:alpha val="100000"/>
                  </a:srgbClr>
                </a:solidFill>
                <a:latin typeface="Inter" panose="02000503000000020004"/>
                <a:ea typeface="Inter" panose="02000503000000020004"/>
                <a:cs typeface="Inter" panose="02000503000000020004"/>
              </a:rPr>
              <a:t>Scalable &amp; Cost-Effective</a:t>
            </a:r>
            <a:endParaRPr lang="en-US" sz="1100"/>
          </a:p>
        </p:txBody>
      </p:sp>
      <p:sp>
        <p:nvSpPr>
          <p:cNvPr id="29" name="AutoShape 29"/>
          <p:cNvSpPr/>
          <p:nvPr>
            <p:custDataLst>
              <p:tags r:id="rId19"/>
            </p:custDataLst>
          </p:nvPr>
        </p:nvSpPr>
        <p:spPr>
          <a:xfrm>
            <a:off x="8338541" y="3857328"/>
            <a:ext cx="304724" cy="19050"/>
          </a:xfrm>
          <a:prstGeom prst="rect">
            <a:avLst/>
          </a:prstGeom>
          <a:solidFill>
            <a:srgbClr val="2DE7F0">
              <a:alpha val="60000"/>
            </a:srgbClr>
          </a:solidFill>
          <a:ln>
            <a:headEnd type="none"/>
            <a:tailEnd type="none"/>
          </a:ln>
        </p:spPr>
      </p:sp>
      <p:sp>
        <p:nvSpPr>
          <p:cNvPr id="30" name="TextBox 30"/>
          <p:cNvSpPr txBox="1"/>
          <p:nvPr>
            <p:custDataLst>
              <p:tags r:id="rId20"/>
            </p:custDataLst>
          </p:nvPr>
        </p:nvSpPr>
        <p:spPr>
          <a:xfrm>
            <a:off x="8338541" y="4066878"/>
            <a:ext cx="3393177" cy="1167408"/>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B9CED8">
                    <a:alpha val="100000"/>
                  </a:srgbClr>
                </a:solidFill>
                <a:latin typeface="Inter" panose="02000503000000020004"/>
                <a:ea typeface="Inter" panose="02000503000000020004"/>
                <a:cs typeface="Inter" panose="02000503000000020004"/>
              </a:rPr>
              <a:t>The modular DDD architecture and efficient</a:t>
            </a:r>
            <a:endParaRPr lang="en-US" sz="1100"/>
          </a:p>
          <a:p>
            <a:pPr algn="l"/>
            <a:r>
              <a:rPr sz="1200" b="0" i="0" strike="noStrike">
                <a:solidFill>
                  <a:srgbClr val="B9CED8">
                    <a:alpha val="100000"/>
                  </a:srgbClr>
                </a:solidFill>
                <a:latin typeface="Inter" panose="02000503000000020004"/>
                <a:ea typeface="Inter" panose="02000503000000020004"/>
                <a:cs typeface="Inter" panose="02000503000000020004"/>
              </a:rPr>
              <a:t>single-GPU local inference (with cloud</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backup) provide a highly scalable, cost-</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effective blueprint for enterprise AI</a:t>
            </a:r>
            <a:endParaRPr sz="1200" b="0" i="0" strike="noStrike">
              <a:solidFill>
                <a:srgbClr val="B9CED8">
                  <a:alpha val="100000"/>
                </a:srgbClr>
              </a:solidFill>
              <a:latin typeface="Inter" panose="02000503000000020004"/>
              <a:ea typeface="Inter" panose="02000503000000020004"/>
              <a:cs typeface="Inter" panose="02000503000000020004"/>
            </a:endParaRPr>
          </a:p>
          <a:p>
            <a:pPr algn="l"/>
            <a:r>
              <a:rPr sz="1200" b="0" i="0" strike="noStrike">
                <a:solidFill>
                  <a:srgbClr val="B9CED8">
                    <a:alpha val="100000"/>
                  </a:srgbClr>
                </a:solidFill>
                <a:latin typeface="Inter" panose="02000503000000020004"/>
                <a:ea typeface="Inter" panose="02000503000000020004"/>
                <a:cs typeface="Inter" panose="02000503000000020004"/>
              </a:rPr>
              <a:t>deployment.</a:t>
            </a:r>
            <a:endParaRPr sz="1200" b="0" i="0" strike="noStrike">
              <a:solidFill>
                <a:srgbClr val="B9CED8">
                  <a:alpha val="100000"/>
                </a:srgbClr>
              </a:solidFill>
              <a:latin typeface="Inter" panose="02000503000000020004"/>
              <a:ea typeface="Inter" panose="02000503000000020004"/>
              <a:cs typeface="Inter" panose="020005030000000200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000000">
              <a:alpha val="100000"/>
            </a:srgbClr>
          </a:solidFill>
          <a:ln>
            <a:headEnd type="none"/>
            <a:tailEnd type="none"/>
          </a:ln>
        </p:spPr>
      </p:sp>
      <p:sp>
        <p:nvSpPr>
          <p:cNvPr id="3" name="AutoShape 3"/>
          <p:cNvSpPr/>
          <p:nvPr/>
        </p:nvSpPr>
        <p:spPr>
          <a:xfrm>
            <a:off x="0" y="0"/>
            <a:ext cx="12188952" cy="6858000"/>
          </a:xfrm>
          <a:prstGeom prst="rect">
            <a:avLst/>
          </a:prstGeom>
          <a:solidFill>
            <a:srgbClr val="07141B">
              <a:alpha val="100000"/>
            </a:srgbClr>
          </a:solidFill>
          <a:ln>
            <a:headEnd type="none"/>
            <a:tailEnd type="none"/>
          </a:ln>
        </p:spPr>
      </p:sp>
      <p:pic>
        <p:nvPicPr>
          <p:cNvPr id="4" name="Picture 4"/>
          <p:cNvPicPr>
            <a:picLocks noChangeAspect="1"/>
          </p:cNvPicPr>
          <p:nvPr/>
        </p:nvPicPr>
        <p:blipFill>
          <a:blip r:embed="rId1">
            <a:alphaModFix amt="100000"/>
          </a:blip>
          <a:srcRect l="427" r="427"/>
          <a:stretch>
            <a:fillRect/>
          </a:stretch>
        </p:blipFill>
        <p:spPr>
          <a:xfrm>
            <a:off x="0" y="0"/>
            <a:ext cx="12188952" cy="6858000"/>
          </a:xfrm>
          <a:prstGeom prst="rect">
            <a:avLst/>
          </a:prstGeom>
          <a:ln>
            <a:headEnd type="none"/>
            <a:tailEnd type="none"/>
          </a:ln>
        </p:spPr>
      </p:pic>
      <p:sp>
        <p:nvSpPr>
          <p:cNvPr id="5" name="AutoShape 5"/>
          <p:cNvSpPr/>
          <p:nvPr/>
        </p:nvSpPr>
        <p:spPr>
          <a:xfrm>
            <a:off x="0" y="0"/>
            <a:ext cx="12188952" cy="6858000"/>
          </a:xfrm>
          <a:prstGeom prst="rect">
            <a:avLst/>
          </a:prstGeom>
          <a:gradFill>
            <a:gsLst>
              <a:gs pos="0">
                <a:srgbClr val="07141B">
                  <a:alpha val="40000"/>
                </a:srgbClr>
              </a:gs>
              <a:gs pos="50000">
                <a:srgbClr val="07141B">
                  <a:alpha val="70196"/>
                </a:srgbClr>
              </a:gs>
              <a:gs pos="100000">
                <a:srgbClr val="07141B">
                  <a:alpha val="92156"/>
                </a:srgbClr>
              </a:gs>
            </a:gsLst>
            <a:lin ang="5400000"/>
          </a:gradFill>
          <a:ln>
            <a:headEnd type="none"/>
            <a:tailEnd type="none"/>
          </a:ln>
        </p:spPr>
      </p:sp>
      <p:sp>
        <p:nvSpPr>
          <p:cNvPr id="6" name="AutoShape 6"/>
          <p:cNvSpPr/>
          <p:nvPr/>
        </p:nvSpPr>
        <p:spPr>
          <a:xfrm>
            <a:off x="0" y="0"/>
            <a:ext cx="12188952" cy="6858000"/>
          </a:xfrm>
          <a:prstGeom prst="rect">
            <a:avLst/>
          </a:prstGeom>
          <a:blipFill rotWithShape="1">
            <a:blip r:embed="rId2">
              <a:alphaModFix amt="100000"/>
              <a:alphaModFix amt="100000"/>
            </a:blip>
            <a:stretch>
              <a:fillRect/>
            </a:stretch>
          </a:blipFill>
          <a:ln>
            <a:headEnd type="none"/>
            <a:tailEnd type="none"/>
          </a:ln>
        </p:spPr>
      </p:sp>
      <p:sp>
        <p:nvSpPr>
          <p:cNvPr id="7" name="AutoShape 7"/>
          <p:cNvSpPr/>
          <p:nvPr/>
        </p:nvSpPr>
        <p:spPr>
          <a:xfrm>
            <a:off x="5075556" y="2096691"/>
            <a:ext cx="47614" cy="47625"/>
          </a:xfrm>
          <a:prstGeom prst="ellipse">
            <a:avLst/>
          </a:prstGeom>
          <a:solidFill>
            <a:srgbClr val="2DE7F0">
              <a:alpha val="60000"/>
            </a:srgbClr>
          </a:solidFill>
          <a:ln>
            <a:headEnd type="none"/>
            <a:tailEnd type="none"/>
          </a:ln>
        </p:spPr>
      </p:sp>
      <p:sp>
        <p:nvSpPr>
          <p:cNvPr id="8" name="AutoShape 8"/>
          <p:cNvSpPr/>
          <p:nvPr/>
        </p:nvSpPr>
        <p:spPr>
          <a:xfrm>
            <a:off x="5237441" y="2115740"/>
            <a:ext cx="1714072" cy="9525"/>
          </a:xfrm>
          <a:prstGeom prst="rect">
            <a:avLst/>
          </a:prstGeom>
          <a:gradFill>
            <a:gsLst>
              <a:gs pos="0">
                <a:srgbClr val="2DE7F0">
                  <a:alpha val="0"/>
                </a:srgbClr>
              </a:gs>
              <a:gs pos="30000">
                <a:srgbClr val="2DE7F0">
                  <a:alpha val="100000"/>
                </a:srgbClr>
              </a:gs>
              <a:gs pos="69999">
                <a:srgbClr val="2DE7F0">
                  <a:alpha val="100000"/>
                </a:srgbClr>
              </a:gs>
              <a:gs pos="100000">
                <a:srgbClr val="2DE7F0">
                  <a:alpha val="0"/>
                </a:srgbClr>
              </a:gs>
            </a:gsLst>
            <a:lin ang="5400000"/>
          </a:gradFill>
          <a:ln>
            <a:headEnd type="none"/>
            <a:tailEnd type="none"/>
          </a:ln>
        </p:spPr>
      </p:sp>
      <p:sp>
        <p:nvSpPr>
          <p:cNvPr id="9" name="AutoShape 9"/>
          <p:cNvSpPr/>
          <p:nvPr/>
        </p:nvSpPr>
        <p:spPr>
          <a:xfrm>
            <a:off x="7065783" y="2096691"/>
            <a:ext cx="47614" cy="47625"/>
          </a:xfrm>
          <a:prstGeom prst="ellipse">
            <a:avLst/>
          </a:prstGeom>
          <a:solidFill>
            <a:srgbClr val="2DE7F0">
              <a:alpha val="60000"/>
            </a:srgbClr>
          </a:solidFill>
          <a:ln>
            <a:headEnd type="none"/>
            <a:tailEnd type="none"/>
          </a:ln>
        </p:spPr>
      </p:sp>
      <p:sp>
        <p:nvSpPr>
          <p:cNvPr id="10" name="TextBox 10"/>
          <p:cNvSpPr txBox="1"/>
          <p:nvPr/>
        </p:nvSpPr>
        <p:spPr>
          <a:xfrm>
            <a:off x="3436624" y="2601515"/>
            <a:ext cx="5315704" cy="740569"/>
          </a:xfrm>
          <a:prstGeom prst="rect">
            <a:avLst/>
          </a:prstGeom>
          <a:ln>
            <a:headEnd type="none"/>
            <a:tailEnd type="none"/>
          </a:ln>
        </p:spPr>
        <p:txBody>
          <a:bodyPr vert="horz" wrap="none" lIns="0" tIns="0" rIns="0" bIns="0" rtlCol="0" anchor="t" anchorCtr="1"/>
          <a:lstStyle/>
          <a:p>
            <a:pPr algn="ctr">
              <a:defRPr/>
            </a:pPr>
            <a:r>
              <a:rPr lang="en-US" sz="5400" b="1" i="0" strike="noStrike">
                <a:solidFill>
                  <a:srgbClr val="F4FAFF">
                    <a:alpha val="100000"/>
                  </a:srgbClr>
                </a:solidFill>
                <a:latin typeface="Inter" panose="02000503000000020004"/>
                <a:ea typeface="Inter" panose="02000503000000020004"/>
                <a:cs typeface="Inter" panose="02000503000000020004"/>
              </a:rPr>
              <a:t>Thank You</a:t>
            </a:r>
            <a:endParaRPr lang="en-US" sz="1100"/>
          </a:p>
        </p:txBody>
      </p:sp>
      <p:sp>
        <p:nvSpPr>
          <p:cNvPr id="11" name="AutoShape 11"/>
          <p:cNvSpPr/>
          <p:nvPr/>
        </p:nvSpPr>
        <p:spPr>
          <a:xfrm>
            <a:off x="4637515" y="3608785"/>
            <a:ext cx="28567" cy="28575"/>
          </a:xfrm>
          <a:prstGeom prst="ellipse">
            <a:avLst/>
          </a:prstGeom>
          <a:solidFill>
            <a:srgbClr val="2DE7F0">
              <a:alpha val="50196"/>
            </a:srgbClr>
          </a:solidFill>
          <a:ln>
            <a:headEnd type="none"/>
            <a:tailEnd type="none"/>
          </a:ln>
        </p:spPr>
      </p:sp>
      <p:sp>
        <p:nvSpPr>
          <p:cNvPr id="12" name="AutoShape 12"/>
          <p:cNvSpPr/>
          <p:nvPr/>
        </p:nvSpPr>
        <p:spPr>
          <a:xfrm>
            <a:off x="4761310" y="3618310"/>
            <a:ext cx="2666333" cy="9525"/>
          </a:xfrm>
          <a:prstGeom prst="rect">
            <a:avLst/>
          </a:prstGeom>
          <a:gradFill>
            <a:gsLst>
              <a:gs pos="0">
                <a:srgbClr val="2DE7F0">
                  <a:alpha val="0"/>
                </a:srgbClr>
              </a:gs>
              <a:gs pos="30000">
                <a:srgbClr val="2DE7F0">
                  <a:alpha val="100000"/>
                </a:srgbClr>
              </a:gs>
              <a:gs pos="69999">
                <a:srgbClr val="2DE7F0">
                  <a:alpha val="100000"/>
                </a:srgbClr>
              </a:gs>
              <a:gs pos="100000">
                <a:srgbClr val="2DE7F0">
                  <a:alpha val="0"/>
                </a:srgbClr>
              </a:gs>
            </a:gsLst>
            <a:lin ang="5400000"/>
          </a:gradFill>
          <a:ln>
            <a:headEnd type="none"/>
            <a:tailEnd type="none"/>
          </a:ln>
        </p:spPr>
      </p:sp>
      <p:sp>
        <p:nvSpPr>
          <p:cNvPr id="13" name="AutoShape 13"/>
          <p:cNvSpPr/>
          <p:nvPr/>
        </p:nvSpPr>
        <p:spPr>
          <a:xfrm>
            <a:off x="7522869" y="3608785"/>
            <a:ext cx="28567" cy="28575"/>
          </a:xfrm>
          <a:prstGeom prst="ellipse">
            <a:avLst/>
          </a:prstGeom>
          <a:solidFill>
            <a:srgbClr val="2DE7F0">
              <a:alpha val="50196"/>
            </a:srgbClr>
          </a:solidFill>
          <a:ln>
            <a:headEnd type="none"/>
            <a:tailEnd type="none"/>
          </a:ln>
        </p:spPr>
      </p:sp>
      <p:sp>
        <p:nvSpPr>
          <p:cNvPr id="14" name="TextBox 14"/>
          <p:cNvSpPr txBox="1"/>
          <p:nvPr/>
        </p:nvSpPr>
        <p:spPr>
          <a:xfrm>
            <a:off x="3414156" y="3904060"/>
            <a:ext cx="5360640" cy="314325"/>
          </a:xfrm>
          <a:prstGeom prst="rect">
            <a:avLst/>
          </a:prstGeom>
          <a:ln>
            <a:headEnd type="none"/>
            <a:tailEnd type="none"/>
          </a:ln>
        </p:spPr>
        <p:txBody>
          <a:bodyPr vert="horz" wrap="none" lIns="0" tIns="0" rIns="0" bIns="0" rtlCol="0" anchor="ctr" anchorCtr="1"/>
          <a:lstStyle/>
          <a:p>
            <a:pPr algn="ctr">
              <a:defRPr/>
            </a:pPr>
            <a:r>
              <a:rPr lang="en-US" sz="1600" b="0" i="0" strike="noStrike">
                <a:solidFill>
                  <a:srgbClr val="B9CED8">
                    <a:alpha val="100000"/>
                  </a:srgbClr>
                </a:solidFill>
                <a:latin typeface="Inter" panose="02000503000000020004"/>
                <a:ea typeface="Inter" panose="02000503000000020004"/>
                <a:cs typeface="Inter" panose="02000503000000020004"/>
              </a:rPr>
              <a:t>We Welcome Communication &amp; Cooperation</a:t>
            </a:r>
            <a:endParaRPr lang="en-US" sz="1100"/>
          </a:p>
        </p:txBody>
      </p:sp>
      <p:sp>
        <p:nvSpPr>
          <p:cNvPr id="15" name="AutoShape 15"/>
          <p:cNvSpPr/>
          <p:nvPr/>
        </p:nvSpPr>
        <p:spPr>
          <a:xfrm>
            <a:off x="5361234" y="4713684"/>
            <a:ext cx="47614" cy="47625"/>
          </a:xfrm>
          <a:prstGeom prst="ellipse">
            <a:avLst/>
          </a:prstGeom>
          <a:solidFill>
            <a:srgbClr val="2DE7F0">
              <a:alpha val="60000"/>
            </a:srgbClr>
          </a:solidFill>
          <a:ln>
            <a:headEnd type="none"/>
            <a:tailEnd type="none"/>
          </a:ln>
        </p:spPr>
      </p:sp>
      <p:sp>
        <p:nvSpPr>
          <p:cNvPr id="16" name="AutoShape 16"/>
          <p:cNvSpPr/>
          <p:nvPr/>
        </p:nvSpPr>
        <p:spPr>
          <a:xfrm>
            <a:off x="5523120" y="4732735"/>
            <a:ext cx="1142714" cy="9525"/>
          </a:xfrm>
          <a:prstGeom prst="rect">
            <a:avLst/>
          </a:prstGeom>
          <a:gradFill>
            <a:gsLst>
              <a:gs pos="0">
                <a:srgbClr val="2DE7F0">
                  <a:alpha val="0"/>
                </a:srgbClr>
              </a:gs>
              <a:gs pos="20000">
                <a:srgbClr val="2DE7F0">
                  <a:alpha val="100000"/>
                </a:srgbClr>
              </a:gs>
              <a:gs pos="80000">
                <a:srgbClr val="2DE7F0">
                  <a:alpha val="100000"/>
                </a:srgbClr>
              </a:gs>
              <a:gs pos="100000">
                <a:srgbClr val="2DE7F0">
                  <a:alpha val="0"/>
                </a:srgbClr>
              </a:gs>
            </a:gsLst>
            <a:lin ang="5400000"/>
          </a:gradFill>
          <a:ln>
            <a:headEnd type="none"/>
            <a:tailEnd type="none"/>
          </a:ln>
        </p:spPr>
      </p:sp>
      <p:sp>
        <p:nvSpPr>
          <p:cNvPr id="17" name="AutoShape 17"/>
          <p:cNvSpPr/>
          <p:nvPr/>
        </p:nvSpPr>
        <p:spPr>
          <a:xfrm>
            <a:off x="6780105" y="4713684"/>
            <a:ext cx="47614" cy="47625"/>
          </a:xfrm>
          <a:prstGeom prst="ellipse">
            <a:avLst/>
          </a:prstGeom>
          <a:solidFill>
            <a:srgbClr val="2DE7F0">
              <a:alpha val="60000"/>
            </a:srgbClr>
          </a:solidFill>
          <a:ln>
            <a:headEnd type="none"/>
            <a:tailEnd type="none"/>
          </a:ln>
        </p:spPr>
      </p:sp>
      <p:sp>
        <p:nvSpPr>
          <p:cNvPr id="18" name="AutoShape 18"/>
          <p:cNvSpPr/>
          <p:nvPr/>
        </p:nvSpPr>
        <p:spPr>
          <a:xfrm>
            <a:off x="304724" y="304800"/>
            <a:ext cx="266633" cy="9525"/>
          </a:xfrm>
          <a:prstGeom prst="rect">
            <a:avLst/>
          </a:prstGeom>
          <a:solidFill>
            <a:srgbClr val="2DE7F0">
              <a:alpha val="30196"/>
            </a:srgbClr>
          </a:solidFill>
          <a:ln>
            <a:headEnd type="none"/>
            <a:tailEnd type="none"/>
          </a:ln>
        </p:spPr>
      </p:sp>
      <p:sp>
        <p:nvSpPr>
          <p:cNvPr id="19" name="AutoShape 19"/>
          <p:cNvSpPr/>
          <p:nvPr/>
        </p:nvSpPr>
        <p:spPr>
          <a:xfrm>
            <a:off x="304724" y="304800"/>
            <a:ext cx="9522" cy="266700"/>
          </a:xfrm>
          <a:prstGeom prst="rect">
            <a:avLst/>
          </a:prstGeom>
          <a:solidFill>
            <a:srgbClr val="2DE7F0">
              <a:alpha val="30196"/>
            </a:srgbClr>
          </a:solidFill>
          <a:ln>
            <a:headEnd type="none"/>
            <a:tailEnd type="none"/>
          </a:ln>
        </p:spPr>
      </p:sp>
      <p:sp>
        <p:nvSpPr>
          <p:cNvPr id="20" name="AutoShape 20"/>
          <p:cNvSpPr/>
          <p:nvPr/>
        </p:nvSpPr>
        <p:spPr>
          <a:xfrm>
            <a:off x="11617596" y="304800"/>
            <a:ext cx="266633" cy="9525"/>
          </a:xfrm>
          <a:prstGeom prst="rect">
            <a:avLst/>
          </a:prstGeom>
          <a:solidFill>
            <a:srgbClr val="2DE7F0">
              <a:alpha val="30196"/>
            </a:srgbClr>
          </a:solidFill>
          <a:ln>
            <a:headEnd type="none"/>
            <a:tailEnd type="none"/>
          </a:ln>
        </p:spPr>
      </p:sp>
      <p:sp>
        <p:nvSpPr>
          <p:cNvPr id="21" name="AutoShape 21"/>
          <p:cNvSpPr/>
          <p:nvPr/>
        </p:nvSpPr>
        <p:spPr>
          <a:xfrm>
            <a:off x="11874706" y="304800"/>
            <a:ext cx="9522" cy="266700"/>
          </a:xfrm>
          <a:prstGeom prst="rect">
            <a:avLst/>
          </a:prstGeom>
          <a:solidFill>
            <a:srgbClr val="2DE7F0">
              <a:alpha val="30196"/>
            </a:srgbClr>
          </a:solidFill>
          <a:ln>
            <a:headEnd type="none"/>
            <a:tailEnd type="none"/>
          </a:ln>
        </p:spPr>
      </p:sp>
      <p:sp>
        <p:nvSpPr>
          <p:cNvPr id="22" name="AutoShape 22"/>
          <p:cNvSpPr/>
          <p:nvPr/>
        </p:nvSpPr>
        <p:spPr>
          <a:xfrm>
            <a:off x="304724" y="6286500"/>
            <a:ext cx="9522" cy="266700"/>
          </a:xfrm>
          <a:prstGeom prst="rect">
            <a:avLst/>
          </a:prstGeom>
          <a:solidFill>
            <a:srgbClr val="2DE7F0">
              <a:alpha val="30196"/>
            </a:srgbClr>
          </a:solidFill>
          <a:ln>
            <a:headEnd type="none"/>
            <a:tailEnd type="none"/>
          </a:ln>
        </p:spPr>
      </p:sp>
      <p:sp>
        <p:nvSpPr>
          <p:cNvPr id="23" name="AutoShape 23"/>
          <p:cNvSpPr/>
          <p:nvPr/>
        </p:nvSpPr>
        <p:spPr>
          <a:xfrm>
            <a:off x="304724" y="6543675"/>
            <a:ext cx="266633" cy="9525"/>
          </a:xfrm>
          <a:prstGeom prst="rect">
            <a:avLst/>
          </a:prstGeom>
          <a:solidFill>
            <a:srgbClr val="2DE7F0">
              <a:alpha val="30196"/>
            </a:srgbClr>
          </a:solidFill>
          <a:ln>
            <a:headEnd type="none"/>
            <a:tailEnd type="none"/>
          </a:ln>
        </p:spPr>
      </p:sp>
      <p:sp>
        <p:nvSpPr>
          <p:cNvPr id="24" name="AutoShape 24"/>
          <p:cNvSpPr/>
          <p:nvPr/>
        </p:nvSpPr>
        <p:spPr>
          <a:xfrm>
            <a:off x="11874706" y="6286500"/>
            <a:ext cx="9522" cy="266700"/>
          </a:xfrm>
          <a:prstGeom prst="rect">
            <a:avLst/>
          </a:prstGeom>
          <a:solidFill>
            <a:srgbClr val="2DE7F0">
              <a:alpha val="30196"/>
            </a:srgbClr>
          </a:solidFill>
          <a:ln>
            <a:headEnd type="none"/>
            <a:tailEnd type="none"/>
          </a:ln>
        </p:spPr>
      </p:sp>
      <p:sp>
        <p:nvSpPr>
          <p:cNvPr id="25" name="AutoShape 25"/>
          <p:cNvSpPr/>
          <p:nvPr/>
        </p:nvSpPr>
        <p:spPr>
          <a:xfrm>
            <a:off x="11617596" y="6543675"/>
            <a:ext cx="266633" cy="9525"/>
          </a:xfrm>
          <a:prstGeom prst="rect">
            <a:avLst/>
          </a:prstGeom>
          <a:solidFill>
            <a:srgbClr val="2DE7F0">
              <a:alpha val="30196"/>
            </a:srgbClr>
          </a:solidFill>
          <a:ln>
            <a:headEnd type="none"/>
            <a:tailEnd type="none"/>
          </a:ln>
        </p:spPr>
      </p:sp>
    </p:spTree>
  </p:cSld>
  <p:clrMapOvr>
    <a:masterClrMapping/>
  </p:clrMapOvr>
</p:sld>
</file>

<file path=ppt/tags/tag1.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2.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3.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4.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5.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6.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7.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8.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9.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10.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11.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12.xml><?xml version="1.0" encoding="utf-8"?>
<p:tagLst xmlns:p="http://schemas.openxmlformats.org/presentationml/2006/main">
  <p:tag name="KSO_WM_DIAGRAM_VIRTUALLY_FRAME" val="{&quot;height&quot;:230.23755905511817,&quot;left&quot;:35.98952755905511,&quot;top&quot;:276.5507874015748,&quot;width&quot;:602.8507086614173}"/>
</p:tagLst>
</file>

<file path=ppt/tags/tag13.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4.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5.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6.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7.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8.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19.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0.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1.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2.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3.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4.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5.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6.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7.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8.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29.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30.xml><?xml version="1.0" encoding="utf-8"?>
<p:tagLst xmlns:p="http://schemas.openxmlformats.org/presentationml/2006/main">
  <p:tag name="KSO_WM_DIAGRAM_VIRTUALLY_FRAME" val="{&quot;height&quot;:301.0311811023622,&quot;left&quot;:35.991023622047244,&quot;top&quot;:146.7188188976378,&quot;width&quot;:887.778031496063}"/>
</p:tagLst>
</file>

<file path=ppt/tags/tag31.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2.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3.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4.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5.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6.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7.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8.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39.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0.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1.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2.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3.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4.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5.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6.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7.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8.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ags/tag49.xml><?xml version="1.0" encoding="utf-8"?>
<p:tagLst xmlns:p="http://schemas.openxmlformats.org/presentationml/2006/main">
  <p:tag name="KSO_WM_DIAGRAM_VIRTUALLY_FRAME" val="{&quot;height&quot;:258.0233858267717,&quot;left&quot;:35.991023622047244,&quot;top&quot;:245.97661417322834,&quot;width&quot;:887.76629921259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12679</Words>
  <Application>WPS 演示</Application>
  <PresentationFormat>On-screen Show (4:3)</PresentationFormat>
  <Paragraphs>545</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Inter</vt:lpstr>
      <vt:lpstr>Alibaba PuHuiTi 3.0 55 Regular</vt:lpstr>
      <vt:lpstr>Segoe Print</vt:lpstr>
      <vt:lpstr>FZYaYiHei GB18030L2 R</vt:lpstr>
      <vt:lpstr>Calibri</vt:lpstr>
      <vt:lpstr>微软雅黑</vt:lpstr>
      <vt:lpstr>Arial Unicode MS</vt:lpstr>
      <vt:lpstr>Inter, sans-serif</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晓爷</cp:lastModifiedBy>
  <cp:revision>9</cp:revision>
  <dcterms:created xsi:type="dcterms:W3CDTF">2006-08-16T00:00:00Z</dcterms:created>
  <dcterms:modified xsi:type="dcterms:W3CDTF">2026-08-05T01:50:59Z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A6F35D4D114F41B3879AF0E206156E28_12</vt:lpwstr>
  </property>
</Properties>
</file>