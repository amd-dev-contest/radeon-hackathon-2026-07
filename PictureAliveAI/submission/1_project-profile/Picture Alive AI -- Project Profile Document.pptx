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7556500" cy="10693400"/>
  <p:notesSz cx="6858000" cy="9144000"/>
  <p:embeddedFontLst>
    <p:embeddedFont>
      <p:font typeface="Bebas Neue" charset="1" panose="00000500000000000000"/>
      <p:regular r:id="rId12"/>
    </p:embeddedFont>
    <p:embeddedFont>
      <p:font typeface="Montserrat Bold" charset="1" panose="00000800000000000000"/>
      <p:regular r:id="rId13"/>
    </p:embeddedFont>
    <p:embeddedFont>
      <p:font typeface="Helvetica World" charset="1" panose="020B0500040000020004"/>
      <p:regular r:id="rId14"/>
    </p:embeddedFont>
    <p:embeddedFont>
      <p:font typeface="Helvetica World Bold" charset="1" panose="020B0800040000020004"/>
      <p:regular r:id="rId15"/>
    </p:embeddedFont>
    <p:embeddedFont>
      <p:font typeface="IBM Plex Sans" charset="1" panose="020B05030502030002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00784" y="8265635"/>
            <a:ext cx="5842654" cy="19050"/>
            <a:chOff x="0" y="0"/>
            <a:chExt cx="5842648" cy="19050"/>
          </a:xfrm>
        </p:grpSpPr>
        <p:sp>
          <p:nvSpPr>
            <p:cNvPr name="Freeform 3" id="3"/>
            <p:cNvSpPr/>
            <p:nvPr/>
          </p:nvSpPr>
          <p:spPr>
            <a:xfrm flipH="false" flipV="false" rot="0">
              <a:off x="0" y="0"/>
              <a:ext cx="5842633" cy="19050"/>
            </a:xfrm>
            <a:custGeom>
              <a:avLst/>
              <a:gdLst/>
              <a:ahLst/>
              <a:cxnLst/>
              <a:rect r="r" b="b" t="t" l="l"/>
              <a:pathLst>
                <a:path h="19050" w="5842633">
                  <a:moveTo>
                    <a:pt x="9525" y="0"/>
                  </a:moveTo>
                  <a:lnTo>
                    <a:pt x="5833108" y="0"/>
                  </a:lnTo>
                  <a:cubicBezTo>
                    <a:pt x="5838315" y="0"/>
                    <a:pt x="5842633" y="4318"/>
                    <a:pt x="5842633" y="9525"/>
                  </a:cubicBezTo>
                  <a:cubicBezTo>
                    <a:pt x="5842633" y="14732"/>
                    <a:pt x="5838315" y="19050"/>
                    <a:pt x="5833108" y="19050"/>
                  </a:cubicBezTo>
                  <a:lnTo>
                    <a:pt x="9525" y="19050"/>
                  </a:lnTo>
                  <a:cubicBezTo>
                    <a:pt x="4318" y="19050"/>
                    <a:pt x="0" y="14732"/>
                    <a:pt x="0" y="9525"/>
                  </a:cubicBezTo>
                  <a:cubicBezTo>
                    <a:pt x="0" y="4318"/>
                    <a:pt x="4318" y="0"/>
                    <a:pt x="9525" y="0"/>
                  </a:cubicBezTo>
                  <a:close/>
                </a:path>
              </a:pathLst>
            </a:custGeom>
            <a:solidFill>
              <a:srgbClr val="B71C1C"/>
            </a:solidFill>
          </p:spPr>
        </p:sp>
      </p:grpSp>
      <p:graphicFrame>
        <p:nvGraphicFramePr>
          <p:cNvPr name="Table 4" id="4"/>
          <p:cNvGraphicFramePr>
            <a:graphicFrameLocks noGrp="true"/>
          </p:cNvGraphicFramePr>
          <p:nvPr/>
        </p:nvGraphicFramePr>
        <p:xfrm>
          <a:off x="791905" y="6428764"/>
          <a:ext cx="6060411" cy="1548768"/>
        </p:xfrm>
        <a:graphic>
          <a:graphicData uri="http://schemas.openxmlformats.org/drawingml/2006/table">
            <a:tbl>
              <a:tblPr/>
              <a:tblGrid>
                <a:gridCol w="1562995"/>
                <a:gridCol w="4497416"/>
              </a:tblGrid>
              <a:tr h="1548768">
                <a:tc>
                  <a:txBody>
                    <a:bodyPr anchor="t" rtlCol="false"/>
                    <a:lstStyle/>
                    <a:p>
                      <a:pPr algn="just">
                        <a:lnSpc>
                          <a:spcPts val="4274"/>
                        </a:lnSpc>
                        <a:defRPr/>
                      </a:pPr>
                      <a:r>
                        <a:rPr lang="en-US" sz="4499">
                          <a:solidFill>
                            <a:srgbClr val="F8F8F8"/>
                          </a:solidFill>
                          <a:latin typeface="Bebas Neue"/>
                          <a:ea typeface="Bebas Neue"/>
                          <a:cs typeface="Bebas Neue"/>
                          <a:sym typeface="Bebas Neue"/>
                        </a:rPr>
                        <a:t>WHAT'S INSIDE</a:t>
                      </a:r>
                      <a:endParaRPr lang="en-US" sz="1100"/>
                    </a:p>
                  </a:txBody>
                  <a:tcPr marL="114300" marR="114300" marT="114300" marB="1143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gradFill rotWithShape="true">
                      <a:gsLst>
                        <a:gs pos="0">
                          <a:srgbClr val="8C52FF">
                            <a:alpha val="100000"/>
                          </a:srgbClr>
                        </a:gs>
                        <a:gs pos="100000">
                          <a:srgbClr val="FF914D">
                            <a:alpha val="100000"/>
                          </a:srgbClr>
                        </a:gs>
                      </a:gsLst>
                      <a:lin ang="0"/>
                    </a:gradFill>
                  </a:tcPr>
                </a:tc>
                <a:tc>
                  <a:txBody>
                    <a:bodyPr anchor="t" rtlCol="false"/>
                    <a:lstStyle/>
                    <a:p>
                      <a:pPr algn="l" marL="259080" indent="-129540" lvl="1">
                        <a:lnSpc>
                          <a:spcPts val="1679"/>
                        </a:lnSpc>
                        <a:buFont typeface="Arial"/>
                        <a:buChar char="•"/>
                        <a:defRPr/>
                      </a:pPr>
                      <a:r>
                        <a:rPr lang="en-US" b="true" sz="1200">
                          <a:solidFill>
                            <a:srgbClr val="1800AD"/>
                          </a:solidFill>
                          <a:latin typeface="Montserrat Bold"/>
                          <a:ea typeface="Montserrat Bold"/>
                          <a:cs typeface="Montserrat Bold"/>
                          <a:sym typeface="Montserrat Bold"/>
                        </a:rPr>
                        <a:t>Project Background, Description &amp;</a:t>
                      </a:r>
                      <a:endParaRPr lang="en-US" sz="1100"/>
                    </a:p>
                    <a:p>
                      <a:pPr algn="l" marL="259080" indent="-129540" lvl="1">
                        <a:lnSpc>
                          <a:spcPts val="1679"/>
                        </a:lnSpc>
                        <a:buFont typeface="Arial"/>
                        <a:buChar char="•"/>
                      </a:pPr>
                      <a:r>
                        <a:rPr lang="en-US" b="true" sz="1200">
                          <a:solidFill>
                            <a:srgbClr val="1800AD"/>
                          </a:solidFill>
                          <a:latin typeface="Montserrat Bold"/>
                          <a:ea typeface="Montserrat Bold"/>
                          <a:cs typeface="Montserrat Bold"/>
                          <a:sym typeface="Montserrat Bold"/>
                        </a:rPr>
                        <a:t>Inspiration</a:t>
                      </a:r>
                    </a:p>
                    <a:p>
                      <a:pPr algn="l" marL="259080" indent="-129540" lvl="1">
                        <a:lnSpc>
                          <a:spcPts val="1679"/>
                        </a:lnSpc>
                        <a:buFont typeface="Arial"/>
                        <a:buChar char="•"/>
                      </a:pPr>
                      <a:r>
                        <a:rPr lang="en-US" b="true" sz="1200">
                          <a:solidFill>
                            <a:srgbClr val="1800AD"/>
                          </a:solidFill>
                          <a:latin typeface="Montserrat Bold"/>
                          <a:ea typeface="Montserrat Bold"/>
                          <a:cs typeface="Montserrat Bold"/>
                          <a:sym typeface="Montserrat Bold"/>
                        </a:rPr>
                        <a:t>Target Users &amp; Application Scenarios</a:t>
                      </a:r>
                    </a:p>
                    <a:p>
                      <a:pPr algn="l" marL="259080" indent="-129540" lvl="1">
                        <a:lnSpc>
                          <a:spcPts val="1679"/>
                        </a:lnSpc>
                        <a:buFont typeface="Arial"/>
                        <a:buChar char="•"/>
                      </a:pPr>
                      <a:r>
                        <a:rPr lang="en-US" b="true" sz="1200">
                          <a:solidFill>
                            <a:srgbClr val="1800AD"/>
                          </a:solidFill>
                          <a:latin typeface="Montserrat Bold"/>
                          <a:ea typeface="Montserrat Bold"/>
                          <a:cs typeface="Montserrat Bold"/>
                          <a:sym typeface="Montserrat Bold"/>
                        </a:rPr>
                        <a:t>System Architecture</a:t>
                      </a:r>
                    </a:p>
                    <a:p>
                      <a:pPr algn="l" marL="259080" indent="-129540" lvl="1">
                        <a:lnSpc>
                          <a:spcPts val="1679"/>
                        </a:lnSpc>
                        <a:buFont typeface="Arial"/>
                        <a:buChar char="•"/>
                      </a:pPr>
                      <a:r>
                        <a:rPr lang="en-US" b="true" sz="1200">
                          <a:solidFill>
                            <a:srgbClr val="1800AD"/>
                          </a:solidFill>
                          <a:latin typeface="Montserrat Bold"/>
                          <a:ea typeface="Montserrat Bold"/>
                          <a:cs typeface="Montserrat Bold"/>
                          <a:sym typeface="Montserrat Bold"/>
                        </a:rPr>
                        <a:t>Model &amp; Algorithm Introduction</a:t>
                      </a:r>
                    </a:p>
                    <a:p>
                      <a:pPr algn="l" marL="259080" indent="-129540" lvl="1">
                        <a:lnSpc>
                          <a:spcPts val="1679"/>
                        </a:lnSpc>
                        <a:buFont typeface="Arial"/>
                        <a:buChar char="•"/>
                      </a:pPr>
                      <a:r>
                        <a:rPr lang="en-US" b="true" sz="1200">
                          <a:solidFill>
                            <a:srgbClr val="1800AD"/>
                          </a:solidFill>
                          <a:latin typeface="Montserrat Bold"/>
                          <a:ea typeface="Montserrat Bold"/>
                          <a:cs typeface="Montserrat Bold"/>
                          <a:sym typeface="Montserrat Bold"/>
                        </a:rPr>
                        <a:t>Adaptation for AMD Radeon GPU / ROCm</a:t>
                      </a:r>
                    </a:p>
                  </a:txBody>
                  <a:tcPr marL="114300" marR="114300" marT="114300" marB="1143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gradFill rotWithShape="true">
                      <a:gsLst>
                        <a:gs pos="0">
                          <a:srgbClr val="A6A6A6">
                            <a:alpha val="100000"/>
                          </a:srgbClr>
                        </a:gs>
                        <a:gs pos="100000">
                          <a:srgbClr val="FFFFFF">
                            <a:alpha val="100000"/>
                          </a:srgbClr>
                        </a:gs>
                      </a:gsLst>
                      <a:lin ang="0"/>
                    </a:gradFill>
                  </a:tcPr>
                </a:tc>
              </a:tr>
            </a:tbl>
          </a:graphicData>
        </a:graphic>
      </p:graphicFrame>
      <p:sp>
        <p:nvSpPr>
          <p:cNvPr name="Freeform 5" id="5"/>
          <p:cNvSpPr/>
          <p:nvPr/>
        </p:nvSpPr>
        <p:spPr>
          <a:xfrm flipH="false" flipV="false" rot="0">
            <a:off x="2535334" y="4020575"/>
            <a:ext cx="2304173" cy="1599908"/>
          </a:xfrm>
          <a:custGeom>
            <a:avLst/>
            <a:gdLst/>
            <a:ahLst/>
            <a:cxnLst/>
            <a:rect r="r" b="b" t="t" l="l"/>
            <a:pathLst>
              <a:path h="1599908" w="2304173">
                <a:moveTo>
                  <a:pt x="0" y="0"/>
                </a:moveTo>
                <a:lnTo>
                  <a:pt x="2304173" y="0"/>
                </a:lnTo>
                <a:lnTo>
                  <a:pt x="2304173" y="1599908"/>
                </a:lnTo>
                <a:lnTo>
                  <a:pt x="0" y="1599908"/>
                </a:lnTo>
                <a:lnTo>
                  <a:pt x="0" y="0"/>
                </a:lnTo>
                <a:close/>
              </a:path>
            </a:pathLst>
          </a:custGeom>
          <a:blipFill>
            <a:blip r:embed="rId2"/>
            <a:stretch>
              <a:fillRect l="0" t="0" r="0" b="0"/>
            </a:stretch>
          </a:blipFill>
        </p:spPr>
      </p:sp>
      <p:sp>
        <p:nvSpPr>
          <p:cNvPr name="Freeform 6" id="6"/>
          <p:cNvSpPr/>
          <p:nvPr/>
        </p:nvSpPr>
        <p:spPr>
          <a:xfrm flipH="false" flipV="false" rot="0">
            <a:off x="0" y="0"/>
            <a:ext cx="7560000" cy="2798777"/>
          </a:xfrm>
          <a:custGeom>
            <a:avLst/>
            <a:gdLst/>
            <a:ahLst/>
            <a:cxnLst/>
            <a:rect r="r" b="b" t="t" l="l"/>
            <a:pathLst>
              <a:path h="2798777" w="7560000">
                <a:moveTo>
                  <a:pt x="0" y="0"/>
                </a:moveTo>
                <a:lnTo>
                  <a:pt x="7560000" y="0"/>
                </a:lnTo>
                <a:lnTo>
                  <a:pt x="7560000" y="2798777"/>
                </a:lnTo>
                <a:lnTo>
                  <a:pt x="0" y="2798777"/>
                </a:lnTo>
                <a:lnTo>
                  <a:pt x="0" y="0"/>
                </a:lnTo>
                <a:close/>
              </a:path>
            </a:pathLst>
          </a:custGeom>
          <a:blipFill>
            <a:blip r:embed="rId3"/>
            <a:stretch>
              <a:fillRect l="0" t="0" r="0" b="0"/>
            </a:stretch>
          </a:blipFill>
        </p:spPr>
      </p:sp>
      <p:sp>
        <p:nvSpPr>
          <p:cNvPr name="TextBox 7" id="7"/>
          <p:cNvSpPr txBox="true"/>
          <p:nvPr/>
        </p:nvSpPr>
        <p:spPr>
          <a:xfrm rot="0">
            <a:off x="2531391" y="10360866"/>
            <a:ext cx="2581440" cy="165174"/>
          </a:xfrm>
          <a:prstGeom prst="rect">
            <a:avLst/>
          </a:prstGeom>
        </p:spPr>
        <p:txBody>
          <a:bodyPr anchor="t" rtlCol="false" tIns="0" lIns="0" bIns="0" rIns="0">
            <a:spAutoFit/>
          </a:bodyPr>
          <a:lstStyle/>
          <a:p>
            <a:pPr algn="l">
              <a:lnSpc>
                <a:spcPts val="1399"/>
              </a:lnSpc>
            </a:pPr>
            <a:r>
              <a:rPr lang="en-US" sz="999">
                <a:solidFill>
                  <a:srgbClr val="B71C1C"/>
                </a:solidFill>
                <a:latin typeface="Helvetica World"/>
                <a:ea typeface="Helvetica World"/>
                <a:cs typeface="Helvetica World"/>
                <a:sym typeface="Helvetica World"/>
              </a:rPr>
              <a:t>Picture Alive AI -- Project Profile Document</a:t>
            </a:r>
          </a:p>
        </p:txBody>
      </p:sp>
      <p:sp>
        <p:nvSpPr>
          <p:cNvPr name="TextBox 8" id="8"/>
          <p:cNvSpPr txBox="true"/>
          <p:nvPr/>
        </p:nvSpPr>
        <p:spPr>
          <a:xfrm rot="0">
            <a:off x="1614523" y="3317677"/>
            <a:ext cx="4145794" cy="532606"/>
          </a:xfrm>
          <a:prstGeom prst="rect">
            <a:avLst/>
          </a:prstGeom>
        </p:spPr>
        <p:txBody>
          <a:bodyPr anchor="t" rtlCol="false" tIns="0" lIns="0" bIns="0" rIns="0">
            <a:spAutoFit/>
          </a:bodyPr>
          <a:lstStyle/>
          <a:p>
            <a:pPr algn="ctr">
              <a:lnSpc>
                <a:spcPts val="1800"/>
              </a:lnSpc>
            </a:pPr>
            <a:r>
              <a:rPr lang="en-US" b="true" sz="3600">
                <a:solidFill>
                  <a:srgbClr val="B71C1C"/>
                </a:solidFill>
                <a:latin typeface="Helvetica World Bold"/>
                <a:ea typeface="Helvetica World Bold"/>
                <a:cs typeface="Helvetica World Bold"/>
                <a:sym typeface="Helvetica World Bold"/>
              </a:rPr>
              <a:t>PICTURE ALIVE AI</a:t>
            </a:r>
          </a:p>
          <a:p>
            <a:pPr algn="ctr">
              <a:lnSpc>
                <a:spcPts val="3500"/>
              </a:lnSpc>
            </a:pPr>
            <a:r>
              <a:rPr lang="en-US" sz="1400">
                <a:solidFill>
                  <a:srgbClr val="FF66C4"/>
                </a:solidFill>
                <a:latin typeface="Helvetica World"/>
                <a:ea typeface="Helvetica World"/>
                <a:cs typeface="Helvetica World"/>
                <a:sym typeface="Helvetica World"/>
              </a:rPr>
              <a:t>Beyond Imagination</a:t>
            </a:r>
          </a:p>
        </p:txBody>
      </p:sp>
      <p:sp>
        <p:nvSpPr>
          <p:cNvPr name="TextBox 9" id="9"/>
          <p:cNvSpPr txBox="true"/>
          <p:nvPr/>
        </p:nvSpPr>
        <p:spPr>
          <a:xfrm rot="0">
            <a:off x="2174186" y="5772883"/>
            <a:ext cx="3586131" cy="396278"/>
          </a:xfrm>
          <a:prstGeom prst="rect">
            <a:avLst/>
          </a:prstGeom>
        </p:spPr>
        <p:txBody>
          <a:bodyPr anchor="t" rtlCol="false" tIns="0" lIns="0" bIns="0" rIns="0">
            <a:spAutoFit/>
          </a:bodyPr>
          <a:lstStyle/>
          <a:p>
            <a:pPr algn="l">
              <a:lnSpc>
                <a:spcPts val="3359"/>
              </a:lnSpc>
            </a:pPr>
            <a:r>
              <a:rPr lang="en-US" sz="2399">
                <a:gradFill>
                  <a:gsLst>
                    <a:gs pos="0">
                      <a:srgbClr val="A6A6A6">
                        <a:alpha val="100000"/>
                      </a:srgbClr>
                    </a:gs>
                    <a:gs pos="100000">
                      <a:srgbClr val="FFFFFF">
                        <a:alpha val="100000"/>
                      </a:srgbClr>
                    </a:gs>
                  </a:gsLst>
                  <a:lin ang="0"/>
                </a:gradFill>
                <a:latin typeface="Helvetica World"/>
                <a:ea typeface="Helvetica World"/>
                <a:cs typeface="Helvetica World"/>
                <a:sym typeface="Helvetica World"/>
              </a:rPr>
              <a:t>Project Profile Document</a:t>
            </a:r>
          </a:p>
        </p:txBody>
      </p:sp>
      <p:sp>
        <p:nvSpPr>
          <p:cNvPr name="TextBox 10" id="10"/>
          <p:cNvSpPr txBox="true"/>
          <p:nvPr/>
        </p:nvSpPr>
        <p:spPr>
          <a:xfrm rot="0">
            <a:off x="900784" y="8418035"/>
            <a:ext cx="5842654" cy="1776003"/>
          </a:xfrm>
          <a:prstGeom prst="rect">
            <a:avLst/>
          </a:prstGeom>
        </p:spPr>
        <p:txBody>
          <a:bodyPr anchor="t" rtlCol="false" tIns="0" lIns="0" bIns="0" rIns="0">
            <a:spAutoFit/>
          </a:bodyPr>
          <a:lstStyle/>
          <a:p>
            <a:pPr algn="ctr">
              <a:lnSpc>
                <a:spcPts val="2299"/>
              </a:lnSpc>
            </a:pPr>
            <a:r>
              <a:rPr lang="en-US" sz="1299">
                <a:solidFill>
                  <a:srgbClr val="FF66C4"/>
                </a:solidFill>
                <a:latin typeface="Helvetica World"/>
                <a:ea typeface="Helvetica World"/>
                <a:cs typeface="Helvetica World"/>
                <a:sym typeface="Helvetica World"/>
              </a:rPr>
              <a:t>2026 AMD </a:t>
            </a:r>
            <a:r>
              <a:rPr lang="en-US" sz="1299">
                <a:solidFill>
                  <a:srgbClr val="FF66C4"/>
                </a:solidFill>
                <a:latin typeface="Helvetica World"/>
                <a:ea typeface="Helvetica World"/>
                <a:cs typeface="Helvetica World"/>
                <a:sym typeface="Helvetica World"/>
              </a:rPr>
              <a:t>AI DevMaster Radeon GPU Hackathon</a:t>
            </a:r>
          </a:p>
          <a:p>
            <a:pPr algn="ctr">
              <a:lnSpc>
                <a:spcPts val="2299"/>
              </a:lnSpc>
            </a:pPr>
            <a:r>
              <a:rPr lang="en-US" sz="1300">
                <a:solidFill>
                  <a:srgbClr val="FF66C4"/>
                </a:solidFill>
                <a:latin typeface="Helvetica World"/>
                <a:ea typeface="Helvetica World"/>
                <a:cs typeface="Helvetica World"/>
                <a:sym typeface="Helvetica World"/>
              </a:rPr>
              <a:t> July 14 - August 6, 2026 -- Track 1:  Development of Multimodal Content Creation Tools </a:t>
            </a:r>
          </a:p>
          <a:p>
            <a:pPr algn="ctr">
              <a:lnSpc>
                <a:spcPts val="3250"/>
              </a:lnSpc>
            </a:pPr>
            <a:r>
              <a:rPr lang="en-US" sz="1300">
                <a:solidFill>
                  <a:srgbClr val="FF66C4"/>
                </a:solidFill>
                <a:latin typeface="Helvetica World"/>
                <a:ea typeface="Helvetica World"/>
                <a:cs typeface="Helvetica World"/>
                <a:sym typeface="Helvetica World"/>
              </a:rPr>
              <a:t>Team: Poppenspel Advies AI</a:t>
            </a:r>
          </a:p>
          <a:p>
            <a:pPr algn="ctr">
              <a:lnSpc>
                <a:spcPts val="1349"/>
              </a:lnSpc>
            </a:pPr>
            <a:r>
              <a:rPr lang="en-US" sz="1299">
                <a:solidFill>
                  <a:srgbClr val="FF66C4"/>
                </a:solidFill>
                <a:latin typeface="Helvetica World"/>
                <a:ea typeface="Helvetica World"/>
                <a:cs typeface="Helvetica World"/>
                <a:sym typeface="Helvetica World"/>
              </a:rPr>
              <a:t>GITHUB - </a:t>
            </a:r>
            <a:r>
              <a:rPr lang="en-US" sz="1299" u="sng">
                <a:solidFill>
                  <a:srgbClr val="FF66C4"/>
                </a:solidFill>
                <a:latin typeface="Helvetica World"/>
                <a:ea typeface="Helvetica World"/>
                <a:cs typeface="Helvetica World"/>
                <a:sym typeface="Helvetica World"/>
              </a:rPr>
              <a:t>https://</a:t>
            </a:r>
            <a:r>
              <a:rPr lang="en-US" sz="1299" u="sng">
                <a:solidFill>
                  <a:srgbClr val="FF66C4"/>
                </a:solidFill>
                <a:latin typeface="Helvetica World"/>
                <a:ea typeface="Helvetica World"/>
                <a:cs typeface="Helvetica World"/>
                <a:sym typeface="Helvetica World"/>
              </a:rPr>
              <a:t>github.com/Poppenspel-Advies/picture-alive-ai</a:t>
            </a:r>
          </a:p>
          <a:p>
            <a:pPr algn="ctr">
              <a:lnSpc>
                <a:spcPts val="1349"/>
              </a:lnSpc>
            </a:pPr>
          </a:p>
          <a:p>
            <a:pPr algn="ctr">
              <a:lnSpc>
                <a:spcPts val="1349"/>
              </a:lnSpc>
            </a:pPr>
            <a:r>
              <a:rPr lang="en-US" sz="1300">
                <a:solidFill>
                  <a:srgbClr val="FF66C4"/>
                </a:solidFill>
                <a:latin typeface="Helvetica World"/>
                <a:ea typeface="Helvetica World"/>
                <a:cs typeface="Helvetica World"/>
                <a:sym typeface="Helvetica World"/>
              </a:rPr>
              <a:t>WIKI - </a:t>
            </a:r>
            <a:r>
              <a:rPr lang="en-US" sz="1300" u="sng">
                <a:solidFill>
                  <a:srgbClr val="FF66C4"/>
                </a:solidFill>
                <a:latin typeface="Helvetica World"/>
                <a:ea typeface="Helvetica World"/>
                <a:cs typeface="Helvetica World"/>
                <a:sym typeface="Helvetica World"/>
              </a:rPr>
              <a:t>https://github.com/Poppenspel-Advies/picture-alive-ai/wiki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3499815" cy="10619973"/>
          </a:xfrm>
          <a:custGeom>
            <a:avLst/>
            <a:gdLst/>
            <a:ahLst/>
            <a:cxnLst/>
            <a:rect r="r" b="b" t="t" l="l"/>
            <a:pathLst>
              <a:path h="10619973" w="3499815">
                <a:moveTo>
                  <a:pt x="0" y="0"/>
                </a:moveTo>
                <a:lnTo>
                  <a:pt x="3499815" y="0"/>
                </a:lnTo>
                <a:lnTo>
                  <a:pt x="3499815" y="10619973"/>
                </a:lnTo>
                <a:lnTo>
                  <a:pt x="0" y="10619973"/>
                </a:lnTo>
                <a:lnTo>
                  <a:pt x="0" y="0"/>
                </a:lnTo>
                <a:close/>
              </a:path>
            </a:pathLst>
          </a:custGeom>
          <a:blipFill>
            <a:blip r:embed="rId2"/>
            <a:stretch>
              <a:fillRect l="-8595" t="0" r="-16068" b="0"/>
            </a:stretch>
          </a:blipFill>
        </p:spPr>
      </p:sp>
      <p:sp>
        <p:nvSpPr>
          <p:cNvPr name="TextBox 3" id="3"/>
          <p:cNvSpPr txBox="true"/>
          <p:nvPr/>
        </p:nvSpPr>
        <p:spPr>
          <a:xfrm rot="0">
            <a:off x="3692230" y="114347"/>
            <a:ext cx="3602231" cy="10058132"/>
          </a:xfrm>
          <a:prstGeom prst="rect">
            <a:avLst/>
          </a:prstGeom>
        </p:spPr>
        <p:txBody>
          <a:bodyPr anchor="t" rtlCol="false" tIns="0" lIns="0" bIns="0" rIns="0">
            <a:spAutoFit/>
          </a:bodyPr>
          <a:lstStyle/>
          <a:p>
            <a:pPr algn="l" marL="431801" indent="-215900" lvl="1">
              <a:lnSpc>
                <a:spcPts val="3000"/>
              </a:lnSpc>
              <a:buAutoNum type="arabicPeriod" startAt="1"/>
            </a:pPr>
            <a:r>
              <a:rPr lang="en-US" b="true" sz="2000">
                <a:solidFill>
                  <a:srgbClr val="B71C1C"/>
                </a:solidFill>
                <a:latin typeface="Helvetica World Bold"/>
                <a:ea typeface="Helvetica World Bold"/>
                <a:cs typeface="Helvetica World Bold"/>
                <a:sym typeface="Helvetica World Bold"/>
              </a:rPr>
              <a:t>Project Background,  Description &amp; Inspiration</a:t>
            </a:r>
          </a:p>
          <a:p>
            <a:pPr algn="just">
              <a:lnSpc>
                <a:spcPts val="3000"/>
              </a:lnSpc>
            </a:pPr>
          </a:p>
          <a:p>
            <a:pPr algn="just">
              <a:lnSpc>
                <a:spcPts val="1650"/>
              </a:lnSpc>
            </a:pPr>
            <a:r>
              <a:rPr lang="en-US" sz="1100" spc="25">
                <a:solidFill>
                  <a:srgbClr val="FF66C4"/>
                </a:solidFill>
                <a:latin typeface="Helvetica World"/>
                <a:ea typeface="Helvetica World"/>
                <a:cs typeface="Helvetica World"/>
                <a:sym typeface="Helvetica World"/>
              </a:rPr>
              <a:t>Picture Alive AI was inspired by a simple but powerful vision: every image has a story waiting to be discovered, understood, and shared. Across education, accessibility, cultural heritage, business, and digital media, billions of images remain static, limiting their ability to educate, inspire, and communicate. While advances in artificial intelligence have transformed text, speech, and visual understanding, these capabilities are often fragmented across multiple tools. </a:t>
            </a:r>
            <a:r>
              <a:rPr lang="en-US" b="true" sz="1100" spc="25">
                <a:solidFill>
                  <a:srgbClr val="FF66C4"/>
                </a:solidFill>
                <a:latin typeface="Helvetica World Bold"/>
                <a:ea typeface="Helvetica World Bold"/>
                <a:cs typeface="Helvetica World Bold"/>
                <a:sym typeface="Helvetica World Bold"/>
              </a:rPr>
              <a:t>Picture Alive AI addresses this challenge by unifying multimodal AI into a single intelligent platform</a:t>
            </a:r>
            <a:r>
              <a:rPr lang="en-US" sz="1100" spc="25">
                <a:solidFill>
                  <a:srgbClr val="FF66C4"/>
                </a:solidFill>
                <a:latin typeface="Helvetica World"/>
                <a:ea typeface="Helvetica World"/>
                <a:cs typeface="Helvetica World"/>
                <a:sym typeface="Helvetica World"/>
              </a:rPr>
              <a:t> that transforms visual content into immersive, meaningful experiences.</a:t>
            </a:r>
          </a:p>
          <a:p>
            <a:pPr algn="just" rtl="true">
              <a:lnSpc>
                <a:spcPts val="1650"/>
              </a:lnSpc>
            </a:pPr>
          </a:p>
          <a:p>
            <a:pPr algn="just">
              <a:lnSpc>
                <a:spcPts val="1650"/>
              </a:lnSpc>
            </a:pPr>
            <a:r>
              <a:rPr lang="en-US" sz="1100">
                <a:solidFill>
                  <a:srgbClr val="FF66C4"/>
                </a:solidFill>
                <a:latin typeface="Helvetica World"/>
                <a:ea typeface="Helvetica World"/>
                <a:cs typeface="Helvetica World"/>
                <a:sym typeface="Helvetica World"/>
              </a:rPr>
              <a:t>Picture Alive AI enables users to upload photographs, paintings, historical artifacts, educational diagrams, scientific illustrations, and everyday images, then automatically generates contextual explanations, natural voice narration, educational insights, AI-powered storytelling, artistic style transformations, and short AI-generated videos. By integrating advanced vision-language models, text-to-speech synthesis, and image-to-video generation, the platform makes visual information more accessible, engaging, and impactful for diverse audiences.</a:t>
            </a:r>
          </a:p>
          <a:p>
            <a:pPr algn="just" rtl="true">
              <a:lnSpc>
                <a:spcPts val="1650"/>
              </a:lnSpc>
            </a:pPr>
          </a:p>
          <a:p>
            <a:pPr algn="just">
              <a:lnSpc>
                <a:spcPts val="1650"/>
              </a:lnSpc>
            </a:pPr>
            <a:r>
              <a:rPr lang="en-US" sz="1100">
                <a:solidFill>
                  <a:srgbClr val="FF66C4"/>
                </a:solidFill>
                <a:latin typeface="Helvetica World"/>
                <a:ea typeface="Helvetica World"/>
                <a:cs typeface="Helvetica World"/>
                <a:sym typeface="Helvetica World"/>
              </a:rPr>
              <a:t>Accelerated by AMD Radeon GPUs and the ROCm software stack, Picture Alive AI delivers high-performance multimodal inference capable of supporting real-time, scalable AI experiences. The platform is designed to empower educators, students, museums, tourism organizations, content creators, marketers, businesses, and visually impaired communities through a single, intuitive solution.</a:t>
            </a:r>
          </a:p>
          <a:p>
            <a:pPr algn="just" rtl="true">
              <a:lnSpc>
                <a:spcPts val="1650"/>
              </a:lnSpc>
            </a:pPr>
          </a:p>
          <a:p>
            <a:pPr algn="just">
              <a:lnSpc>
                <a:spcPts val="1650"/>
              </a:lnSpc>
            </a:pPr>
            <a:r>
              <a:rPr lang="en-US" sz="1100" spc="19">
                <a:solidFill>
                  <a:srgbClr val="FF66C4"/>
                </a:solidFill>
                <a:latin typeface="Helvetica World"/>
                <a:ea typeface="Helvetica World"/>
                <a:cs typeface="Helvetica World"/>
                <a:sym typeface="Helvetica World"/>
              </a:rPr>
              <a:t>Our inspiration extends beyond technology -- we envision a future where every picture can educate, every historical artifact can tell its story, every creative idea can become multimedia content, and every individual, regardless of ability, can access visual information in meaningful ways. Picture Alive AI represents a new generation of multimodal AI innovation.</a:t>
            </a:r>
          </a:p>
        </p:txBody>
      </p:sp>
      <p:sp>
        <p:nvSpPr>
          <p:cNvPr name="AutoShape 4" id="4"/>
          <p:cNvSpPr/>
          <p:nvPr/>
        </p:nvSpPr>
        <p:spPr>
          <a:xfrm flipV="true">
            <a:off x="3780000" y="1093624"/>
            <a:ext cx="3545038" cy="0"/>
          </a:xfrm>
          <a:prstGeom prst="line">
            <a:avLst/>
          </a:prstGeom>
          <a:ln cap="flat" w="38100">
            <a:solidFill>
              <a:srgbClr val="B71C1C"/>
            </a:solidFill>
            <a:prstDash val="solid"/>
            <a:headEnd type="none" len="sm" w="sm"/>
            <a:tailEnd type="none" len="sm" w="sm"/>
          </a:ln>
        </p:spPr>
      </p:sp>
      <p:sp>
        <p:nvSpPr>
          <p:cNvPr name="TextBox 5" id="5"/>
          <p:cNvSpPr txBox="true"/>
          <p:nvPr/>
        </p:nvSpPr>
        <p:spPr>
          <a:xfrm rot="0">
            <a:off x="4032229" y="10360866"/>
            <a:ext cx="2581440" cy="165174"/>
          </a:xfrm>
          <a:prstGeom prst="rect">
            <a:avLst/>
          </a:prstGeom>
        </p:spPr>
        <p:txBody>
          <a:bodyPr anchor="t" rtlCol="false" tIns="0" lIns="0" bIns="0" rIns="0">
            <a:spAutoFit/>
          </a:bodyPr>
          <a:lstStyle/>
          <a:p>
            <a:pPr algn="l">
              <a:lnSpc>
                <a:spcPts val="1399"/>
              </a:lnSpc>
            </a:pPr>
            <a:r>
              <a:rPr lang="en-US" sz="999">
                <a:solidFill>
                  <a:srgbClr val="B71C1C"/>
                </a:solidFill>
                <a:latin typeface="Helvetica World"/>
                <a:ea typeface="Helvetica World"/>
                <a:cs typeface="Helvetica World"/>
                <a:sym typeface="Helvetica World"/>
              </a:rPr>
              <a:t>Picture Alive AI -- Project Profile Document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696312" y="105826"/>
            <a:ext cx="3524147" cy="1949656"/>
          </a:xfrm>
          <a:prstGeom prst="rect">
            <a:avLst/>
          </a:prstGeom>
        </p:spPr>
        <p:txBody>
          <a:bodyPr anchor="t" rtlCol="false" tIns="0" lIns="0" bIns="0" rIns="0">
            <a:spAutoFit/>
          </a:bodyPr>
          <a:lstStyle/>
          <a:p>
            <a:pPr algn="l">
              <a:lnSpc>
                <a:spcPts val="2800"/>
              </a:lnSpc>
            </a:pPr>
            <a:r>
              <a:rPr lang="en-US" b="true" sz="2000">
                <a:solidFill>
                  <a:srgbClr val="B71C1C"/>
                </a:solidFill>
                <a:latin typeface="Helvetica World Bold"/>
                <a:ea typeface="Helvetica World Bold"/>
                <a:cs typeface="Helvetica World Bold"/>
                <a:sym typeface="Helvetica World Bold"/>
              </a:rPr>
              <a:t>2. Target Users &amp; Application Scenarios</a:t>
            </a:r>
          </a:p>
          <a:p>
            <a:pPr algn="l">
              <a:lnSpc>
                <a:spcPts val="2800"/>
              </a:lnSpc>
            </a:pPr>
          </a:p>
          <a:p>
            <a:pPr algn="l">
              <a:lnSpc>
                <a:spcPts val="2239"/>
              </a:lnSpc>
            </a:pPr>
            <a:r>
              <a:rPr lang="en-US" b="true" sz="1599">
                <a:solidFill>
                  <a:srgbClr val="FF66C4"/>
                </a:solidFill>
                <a:latin typeface="Helvetica World Bold"/>
                <a:ea typeface="Helvetica World Bold"/>
                <a:cs typeface="Helvetica World Bold"/>
                <a:sym typeface="Helvetica World Bold"/>
              </a:rPr>
              <a:t>Target Users</a:t>
            </a:r>
          </a:p>
          <a:p>
            <a:pPr algn="l">
              <a:lnSpc>
                <a:spcPts val="2239"/>
              </a:lnSpc>
            </a:pPr>
          </a:p>
          <a:p>
            <a:pPr algn="l">
              <a:lnSpc>
                <a:spcPts val="2239"/>
              </a:lnSpc>
            </a:pPr>
          </a:p>
        </p:txBody>
      </p:sp>
      <p:sp>
        <p:nvSpPr>
          <p:cNvPr name="TextBox 3" id="3"/>
          <p:cNvSpPr txBox="true"/>
          <p:nvPr/>
        </p:nvSpPr>
        <p:spPr>
          <a:xfrm rot="0">
            <a:off x="3696312" y="6007529"/>
            <a:ext cx="1904781" cy="264440"/>
          </a:xfrm>
          <a:prstGeom prst="rect">
            <a:avLst/>
          </a:prstGeom>
        </p:spPr>
        <p:txBody>
          <a:bodyPr anchor="t" rtlCol="false" tIns="0" lIns="0" bIns="0" rIns="0">
            <a:spAutoFit/>
          </a:bodyPr>
          <a:lstStyle/>
          <a:p>
            <a:pPr algn="l">
              <a:lnSpc>
                <a:spcPts val="1959"/>
              </a:lnSpc>
            </a:pPr>
            <a:r>
              <a:rPr lang="en-US" b="true" sz="1399">
                <a:solidFill>
                  <a:srgbClr val="FF66C4"/>
                </a:solidFill>
                <a:latin typeface="Helvetica World Bold"/>
                <a:ea typeface="Helvetica World Bold"/>
                <a:cs typeface="Helvetica World Bold"/>
                <a:sym typeface="Helvetica World Bold"/>
              </a:rPr>
              <a:t>Application Scenarios</a:t>
            </a:r>
          </a:p>
        </p:txBody>
      </p:sp>
      <p:sp>
        <p:nvSpPr>
          <p:cNvPr name="TextBox 4" id="4"/>
          <p:cNvSpPr txBox="true"/>
          <p:nvPr/>
        </p:nvSpPr>
        <p:spPr>
          <a:xfrm rot="0">
            <a:off x="1592228" y="4004396"/>
            <a:ext cx="36014" cy="238611"/>
          </a:xfrm>
          <a:prstGeom prst="rect">
            <a:avLst/>
          </a:prstGeom>
        </p:spPr>
        <p:txBody>
          <a:bodyPr anchor="t" rtlCol="false" tIns="0" lIns="0" bIns="0" rIns="0">
            <a:spAutoFit/>
          </a:bodyPr>
          <a:lstStyle/>
          <a:p>
            <a:pPr algn="l">
              <a:lnSpc>
                <a:spcPts val="1400"/>
              </a:lnSpc>
            </a:pPr>
            <a:r>
              <a:rPr lang="en-US" sz="1000" spc="800">
                <a:solidFill>
                  <a:srgbClr val="1A1A1A"/>
                </a:solidFill>
                <a:latin typeface="Helvetica World"/>
                <a:ea typeface="Helvetica World"/>
                <a:cs typeface="Helvetica World"/>
                <a:sym typeface="Helvetica World"/>
              </a:rPr>
              <a:t> </a:t>
            </a:r>
          </a:p>
        </p:txBody>
      </p:sp>
      <p:sp>
        <p:nvSpPr>
          <p:cNvPr name="TextBox 5" id="5"/>
          <p:cNvSpPr txBox="true"/>
          <p:nvPr/>
        </p:nvSpPr>
        <p:spPr>
          <a:xfrm rot="0">
            <a:off x="3687086" y="1740887"/>
            <a:ext cx="3736459" cy="4057512"/>
          </a:xfrm>
          <a:prstGeom prst="rect">
            <a:avLst/>
          </a:prstGeom>
        </p:spPr>
        <p:txBody>
          <a:bodyPr anchor="t" rtlCol="false" tIns="0" lIns="0" bIns="0" rIns="0">
            <a:spAutoFit/>
          </a:bodyPr>
          <a:lstStyle/>
          <a:p>
            <a:pPr algn="l" marL="251141" indent="-125570" lvl="1">
              <a:lnSpc>
                <a:spcPts val="2326"/>
              </a:lnSpc>
              <a:buFont typeface="Arial"/>
              <a:buChar char="•"/>
            </a:pPr>
            <a:r>
              <a:rPr lang="en-US" sz="1163">
                <a:solidFill>
                  <a:srgbClr val="FF66C4"/>
                </a:solidFill>
                <a:latin typeface="Helvetica World"/>
                <a:ea typeface="Helvetica World"/>
                <a:cs typeface="Helvetica World"/>
                <a:sym typeface="Helvetica World"/>
              </a:rPr>
              <a:t>Educational institutions, teachers, students, and e-learning platforms.</a:t>
            </a:r>
          </a:p>
          <a:p>
            <a:pPr algn="l" marL="251141" indent="-125570" lvl="1">
              <a:lnSpc>
                <a:spcPts val="2326"/>
              </a:lnSpc>
              <a:buFont typeface="Arial"/>
              <a:buChar char="•"/>
            </a:pPr>
            <a:r>
              <a:rPr lang="en-US" sz="1163">
                <a:solidFill>
                  <a:srgbClr val="FF66C4"/>
                </a:solidFill>
                <a:latin typeface="Helvetica World"/>
                <a:ea typeface="Helvetica World"/>
                <a:cs typeface="Helvetica World"/>
                <a:sym typeface="Helvetica World"/>
              </a:rPr>
              <a:t> Museums, libraries, cultural heritage organizations, and tourism boards.</a:t>
            </a:r>
          </a:p>
          <a:p>
            <a:pPr algn="l" marL="251141" indent="-125570" lvl="1">
              <a:lnSpc>
                <a:spcPts val="2326"/>
              </a:lnSpc>
              <a:buFont typeface="Arial"/>
              <a:buChar char="•"/>
            </a:pPr>
            <a:r>
              <a:rPr lang="en-US" sz="1163">
                <a:solidFill>
                  <a:srgbClr val="FF66C4"/>
                </a:solidFill>
                <a:latin typeface="Helvetica World"/>
                <a:ea typeface="Helvetica World"/>
                <a:cs typeface="Helvetica World"/>
                <a:sym typeface="Helvetica World"/>
              </a:rPr>
              <a:t> Accessibility organizations and visually impaired communities</a:t>
            </a:r>
          </a:p>
          <a:p>
            <a:pPr algn="l" marL="251141" indent="-125570" lvl="1">
              <a:lnSpc>
                <a:spcPts val="2326"/>
              </a:lnSpc>
              <a:buFont typeface="Arial"/>
              <a:buChar char="•"/>
            </a:pPr>
            <a:r>
              <a:rPr lang="en-US" sz="1163">
                <a:solidFill>
                  <a:srgbClr val="FF66C4"/>
                </a:solidFill>
                <a:latin typeface="Helvetica World"/>
                <a:ea typeface="Helvetica World"/>
                <a:cs typeface="Helvetica World"/>
                <a:sym typeface="Helvetica World"/>
              </a:rPr>
              <a:t>Digital creators, photographers, filmmakers, designers, and influencers.</a:t>
            </a:r>
          </a:p>
          <a:p>
            <a:pPr algn="l" marL="251141" indent="-125570" lvl="1">
              <a:lnSpc>
                <a:spcPts val="2326"/>
              </a:lnSpc>
              <a:buFont typeface="Arial"/>
              <a:buChar char="•"/>
            </a:pPr>
            <a:r>
              <a:rPr lang="en-US" sz="1163">
                <a:solidFill>
                  <a:srgbClr val="FF66C4"/>
                </a:solidFill>
                <a:latin typeface="Helvetica World"/>
                <a:ea typeface="Helvetica World"/>
                <a:cs typeface="Helvetica World"/>
                <a:sym typeface="Helvetica World"/>
              </a:rPr>
              <a:t> Marketing agencies, advertising firms, and enterprise businesses</a:t>
            </a:r>
          </a:p>
          <a:p>
            <a:pPr algn="l" marL="251141" indent="-125570" lvl="1">
              <a:lnSpc>
                <a:spcPts val="2326"/>
              </a:lnSpc>
              <a:buFont typeface="Arial"/>
              <a:buChar char="•"/>
            </a:pPr>
            <a:r>
              <a:rPr lang="en-US" sz="1163">
                <a:solidFill>
                  <a:srgbClr val="FF66C4"/>
                </a:solidFill>
                <a:latin typeface="Helvetica World"/>
                <a:ea typeface="Helvetica World"/>
                <a:cs typeface="Helvetica World"/>
                <a:sym typeface="Helvetica World"/>
              </a:rPr>
              <a:t>Wildlife researchers, conservation groups, parks, and zoological institutions.</a:t>
            </a:r>
          </a:p>
          <a:p>
            <a:pPr algn="l" marL="251141" indent="-125570" lvl="1">
              <a:lnSpc>
                <a:spcPts val="2326"/>
              </a:lnSpc>
              <a:buFont typeface="Arial"/>
              <a:buChar char="•"/>
            </a:pPr>
            <a:r>
              <a:rPr lang="en-US" sz="1163">
                <a:solidFill>
                  <a:srgbClr val="FF66C4"/>
                </a:solidFill>
                <a:latin typeface="Helvetica World"/>
                <a:ea typeface="Helvetica World"/>
                <a:cs typeface="Helvetica World"/>
                <a:sym typeface="Helvetica World"/>
              </a:rPr>
              <a:t> Healthcare, scientific research, engineering, manufacturing, and government</a:t>
            </a:r>
          </a:p>
        </p:txBody>
      </p:sp>
      <p:sp>
        <p:nvSpPr>
          <p:cNvPr name="TextBox 6" id="6"/>
          <p:cNvSpPr txBox="true"/>
          <p:nvPr/>
        </p:nvSpPr>
        <p:spPr>
          <a:xfrm rot="0">
            <a:off x="3696312" y="6490624"/>
            <a:ext cx="3736459" cy="3767187"/>
          </a:xfrm>
          <a:prstGeom prst="rect">
            <a:avLst/>
          </a:prstGeom>
        </p:spPr>
        <p:txBody>
          <a:bodyPr anchor="t" rtlCol="false" tIns="0" lIns="0" bIns="0" rIns="0">
            <a:spAutoFit/>
          </a:bodyPr>
          <a:lstStyle/>
          <a:p>
            <a:pPr algn="l">
              <a:lnSpc>
                <a:spcPts val="1399"/>
              </a:lnSpc>
            </a:pPr>
            <a:r>
              <a:rPr lang="en-US" sz="999">
                <a:solidFill>
                  <a:srgbClr val="FF66C4"/>
                </a:solidFill>
                <a:latin typeface="Helvetica World"/>
                <a:ea typeface="Helvetica World"/>
                <a:cs typeface="Helvetica World"/>
                <a:sym typeface="Helvetica World"/>
              </a:rPr>
              <a:t>Convert educational images, scientific diagrams, and historical artifacts into narrated lessons and immersive learning experiences.</a:t>
            </a:r>
          </a:p>
          <a:p>
            <a:pPr algn="l">
              <a:lnSpc>
                <a:spcPts val="1399"/>
              </a:lnSpc>
            </a:pPr>
            <a:r>
              <a:rPr lang="en-US" sz="999">
                <a:solidFill>
                  <a:srgbClr val="FF66C4"/>
                </a:solidFill>
                <a:latin typeface="Helvetica World"/>
                <a:ea typeface="Helvetica World"/>
                <a:cs typeface="Helvetica World"/>
                <a:sym typeface="Helvetica World"/>
              </a:rPr>
              <a:t>Enhance accessibility by generating intelligent image descriptions and natural voice guidance for visually impaired users.</a:t>
            </a:r>
          </a:p>
          <a:p>
            <a:pPr algn="l">
              <a:lnSpc>
                <a:spcPts val="1399"/>
              </a:lnSpc>
            </a:pPr>
            <a:r>
              <a:rPr lang="en-US" sz="999">
                <a:solidFill>
                  <a:srgbClr val="FF66C4"/>
                </a:solidFill>
                <a:latin typeface="Helvetica World"/>
                <a:ea typeface="Helvetica World"/>
                <a:cs typeface="Helvetica World"/>
                <a:sym typeface="Helvetica World"/>
              </a:rPr>
              <a:t>Bring museums, monuments, and cultural heritage sites to life through AI-powered storytelling and multilingual digital tours.</a:t>
            </a:r>
          </a:p>
          <a:p>
            <a:pPr algn="l">
              <a:lnSpc>
                <a:spcPts val="1399"/>
              </a:lnSpc>
            </a:pPr>
            <a:r>
              <a:rPr lang="en-US" sz="999">
                <a:solidFill>
                  <a:srgbClr val="FF66C4"/>
                </a:solidFill>
                <a:latin typeface="Helvetica World"/>
                <a:ea typeface="Helvetica World"/>
                <a:cs typeface="Helvetica World"/>
                <a:sym typeface="Helvetica World"/>
              </a:rPr>
              <a:t>Transform product images, advertisements, and creative assets into engaging multimedia content for the Digital World.</a:t>
            </a:r>
          </a:p>
          <a:p>
            <a:pPr algn="l">
              <a:lnSpc>
                <a:spcPts val="1399"/>
              </a:lnSpc>
            </a:pPr>
            <a:r>
              <a:rPr lang="en-US" sz="999">
                <a:solidFill>
                  <a:srgbClr val="FF66C4"/>
                </a:solidFill>
                <a:latin typeface="Helvetica World"/>
                <a:ea typeface="Helvetica World"/>
                <a:cs typeface="Helvetica World"/>
                <a:sym typeface="Helvetica World"/>
              </a:rPr>
              <a:t>Support wildlife conservation by identifying species, narrating ecological insights, monitoring habitats, documenting endangered animals such as kangaroos, white tigers, leopards, and birds, and generating educational awareness content.</a:t>
            </a:r>
          </a:p>
          <a:p>
            <a:pPr algn="l">
              <a:lnSpc>
                <a:spcPts val="1399"/>
              </a:lnSpc>
            </a:pPr>
            <a:r>
              <a:rPr lang="en-US" sz="999">
                <a:solidFill>
                  <a:srgbClr val="FF66C4"/>
                </a:solidFill>
                <a:latin typeface="Helvetica World"/>
                <a:ea typeface="Helvetica World"/>
                <a:cs typeface="Helvetica World"/>
                <a:sym typeface="Helvetica World"/>
              </a:rPr>
              <a:t>Enable enterprises and content creators to rapidly produce AI-generated videos, voiceovers, marketing campaigns, and digital experiences from a single image.</a:t>
            </a:r>
          </a:p>
          <a:p>
            <a:pPr algn="l">
              <a:lnSpc>
                <a:spcPts val="1399"/>
              </a:lnSpc>
            </a:pPr>
          </a:p>
          <a:p>
            <a:pPr algn="l">
              <a:lnSpc>
                <a:spcPts val="1399"/>
              </a:lnSpc>
            </a:pPr>
            <a:r>
              <a:rPr lang="en-US" sz="999">
                <a:solidFill>
                  <a:srgbClr val="FF66C4"/>
                </a:solidFill>
                <a:latin typeface="Helvetica World"/>
                <a:ea typeface="Helvetica World"/>
                <a:cs typeface="Helvetica World"/>
                <a:sym typeface="Helvetica World"/>
              </a:rPr>
              <a:t>By combining vision, language, speech, and creative AI into one unified platform, Picture Alive AI delivers measurable value across education, accessibility, conservation, business, and digital transformation while advancing the future of multimodal artificial intelligence.</a:t>
            </a:r>
          </a:p>
          <a:p>
            <a:pPr algn="l">
              <a:lnSpc>
                <a:spcPts val="1400"/>
              </a:lnSpc>
            </a:pPr>
          </a:p>
        </p:txBody>
      </p:sp>
      <p:sp>
        <p:nvSpPr>
          <p:cNvPr name="Freeform 7" id="7"/>
          <p:cNvSpPr/>
          <p:nvPr/>
        </p:nvSpPr>
        <p:spPr>
          <a:xfrm flipH="false" flipV="false" rot="0">
            <a:off x="0" y="0"/>
            <a:ext cx="3499815" cy="10619973"/>
          </a:xfrm>
          <a:custGeom>
            <a:avLst/>
            <a:gdLst/>
            <a:ahLst/>
            <a:cxnLst/>
            <a:rect r="r" b="b" t="t" l="l"/>
            <a:pathLst>
              <a:path h="10619973" w="3499815">
                <a:moveTo>
                  <a:pt x="0" y="0"/>
                </a:moveTo>
                <a:lnTo>
                  <a:pt x="3499815" y="0"/>
                </a:lnTo>
                <a:lnTo>
                  <a:pt x="3499815" y="10619973"/>
                </a:lnTo>
                <a:lnTo>
                  <a:pt x="0" y="10619973"/>
                </a:lnTo>
                <a:lnTo>
                  <a:pt x="0" y="0"/>
                </a:lnTo>
                <a:close/>
              </a:path>
            </a:pathLst>
          </a:custGeom>
          <a:blipFill>
            <a:blip r:embed="rId2"/>
            <a:stretch>
              <a:fillRect l="-8595" t="0" r="-16068" b="0"/>
            </a:stretch>
          </a:blipFill>
        </p:spPr>
      </p:sp>
      <p:sp>
        <p:nvSpPr>
          <p:cNvPr name="AutoShape 8" id="8"/>
          <p:cNvSpPr/>
          <p:nvPr/>
        </p:nvSpPr>
        <p:spPr>
          <a:xfrm flipV="true">
            <a:off x="3675421" y="1080654"/>
            <a:ext cx="3545038" cy="0"/>
          </a:xfrm>
          <a:prstGeom prst="line">
            <a:avLst/>
          </a:prstGeom>
          <a:ln cap="flat" w="38100">
            <a:solidFill>
              <a:srgbClr val="B71C1C"/>
            </a:solidFill>
            <a:prstDash val="solid"/>
            <a:headEnd type="none" len="sm" w="sm"/>
            <a:tailEnd type="none" len="sm" w="sm"/>
          </a:ln>
        </p:spPr>
      </p:sp>
      <p:sp>
        <p:nvSpPr>
          <p:cNvPr name="TextBox 9" id="9"/>
          <p:cNvSpPr txBox="true"/>
          <p:nvPr/>
        </p:nvSpPr>
        <p:spPr>
          <a:xfrm rot="0">
            <a:off x="4032229" y="10360866"/>
            <a:ext cx="2581440" cy="165174"/>
          </a:xfrm>
          <a:prstGeom prst="rect">
            <a:avLst/>
          </a:prstGeom>
        </p:spPr>
        <p:txBody>
          <a:bodyPr anchor="t" rtlCol="false" tIns="0" lIns="0" bIns="0" rIns="0">
            <a:spAutoFit/>
          </a:bodyPr>
          <a:lstStyle/>
          <a:p>
            <a:pPr algn="l">
              <a:lnSpc>
                <a:spcPts val="1399"/>
              </a:lnSpc>
            </a:pPr>
            <a:r>
              <a:rPr lang="en-US" sz="999">
                <a:solidFill>
                  <a:srgbClr val="B71C1C"/>
                </a:solidFill>
                <a:latin typeface="Helvetica World"/>
                <a:ea typeface="Helvetica World"/>
                <a:cs typeface="Helvetica World"/>
                <a:sym typeface="Helvetica World"/>
              </a:rPr>
              <a:t>Picture Alive AI -- Project Profile Document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24074" y="1895780"/>
            <a:ext cx="5911853" cy="1657350"/>
          </a:xfrm>
          <a:custGeom>
            <a:avLst/>
            <a:gdLst/>
            <a:ahLst/>
            <a:cxnLst/>
            <a:rect r="r" b="b" t="t" l="l"/>
            <a:pathLst>
              <a:path h="1657350" w="5911853">
                <a:moveTo>
                  <a:pt x="0" y="0"/>
                </a:moveTo>
                <a:lnTo>
                  <a:pt x="5911854" y="0"/>
                </a:lnTo>
                <a:lnTo>
                  <a:pt x="5911854" y="1657350"/>
                </a:lnTo>
                <a:lnTo>
                  <a:pt x="0" y="1657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4074" y="4550073"/>
            <a:ext cx="5911853" cy="1352550"/>
          </a:xfrm>
          <a:custGeom>
            <a:avLst/>
            <a:gdLst/>
            <a:ahLst/>
            <a:cxnLst/>
            <a:rect r="r" b="b" t="t" l="l"/>
            <a:pathLst>
              <a:path h="1352550" w="5911853">
                <a:moveTo>
                  <a:pt x="0" y="0"/>
                </a:moveTo>
                <a:lnTo>
                  <a:pt x="5911854" y="0"/>
                </a:lnTo>
                <a:lnTo>
                  <a:pt x="5911854" y="1352550"/>
                </a:lnTo>
                <a:lnTo>
                  <a:pt x="0" y="1352550"/>
                </a:lnTo>
                <a:lnTo>
                  <a:pt x="0" y="0"/>
                </a:lnTo>
                <a:close/>
              </a:path>
            </a:pathLst>
          </a:custGeom>
          <a:blipFill>
            <a:blip r:embed="rId4"/>
            <a:stretch>
              <a:fillRect l="0" t="0" r="0" b="0"/>
            </a:stretch>
          </a:blipFill>
        </p:spPr>
      </p:sp>
      <p:sp>
        <p:nvSpPr>
          <p:cNvPr name="Freeform 4" id="4"/>
          <p:cNvSpPr/>
          <p:nvPr/>
        </p:nvSpPr>
        <p:spPr>
          <a:xfrm flipH="false" flipV="false" rot="0">
            <a:off x="824074" y="7448055"/>
            <a:ext cx="5523740" cy="2614914"/>
          </a:xfrm>
          <a:custGeom>
            <a:avLst/>
            <a:gdLst/>
            <a:ahLst/>
            <a:cxnLst/>
            <a:rect r="r" b="b" t="t" l="l"/>
            <a:pathLst>
              <a:path h="2614914" w="5523740">
                <a:moveTo>
                  <a:pt x="0" y="0"/>
                </a:moveTo>
                <a:lnTo>
                  <a:pt x="5523740" y="0"/>
                </a:lnTo>
                <a:lnTo>
                  <a:pt x="5523740" y="2614913"/>
                </a:lnTo>
                <a:lnTo>
                  <a:pt x="0" y="2614913"/>
                </a:lnTo>
                <a:lnTo>
                  <a:pt x="0" y="0"/>
                </a:lnTo>
                <a:close/>
              </a:path>
            </a:pathLst>
          </a:custGeom>
          <a:blipFill>
            <a:blip r:embed="rId5"/>
            <a:stretch>
              <a:fillRect l="0" t="0" r="0" b="0"/>
            </a:stretch>
          </a:blipFill>
        </p:spPr>
      </p:sp>
      <p:sp>
        <p:nvSpPr>
          <p:cNvPr name="TextBox 5" id="5"/>
          <p:cNvSpPr txBox="true"/>
          <p:nvPr/>
        </p:nvSpPr>
        <p:spPr>
          <a:xfrm rot="0">
            <a:off x="830904" y="338442"/>
            <a:ext cx="5940066" cy="1357312"/>
          </a:xfrm>
          <a:prstGeom prst="rect">
            <a:avLst/>
          </a:prstGeom>
        </p:spPr>
        <p:txBody>
          <a:bodyPr anchor="t" rtlCol="false" tIns="0" lIns="0" bIns="0" rIns="0">
            <a:spAutoFit/>
          </a:bodyPr>
          <a:lstStyle/>
          <a:p>
            <a:pPr algn="just">
              <a:lnSpc>
                <a:spcPts val="3000"/>
              </a:lnSpc>
            </a:pPr>
            <a:r>
              <a:rPr lang="en-US" b="true" sz="2000">
                <a:solidFill>
                  <a:srgbClr val="B71C1C"/>
                </a:solidFill>
                <a:latin typeface="Helvetica World Bold"/>
                <a:ea typeface="Helvetica World Bold"/>
                <a:cs typeface="Helvetica World Bold"/>
                <a:sym typeface="Helvetica World Bold"/>
              </a:rPr>
              <a:t>3. System Architecture</a:t>
            </a:r>
          </a:p>
          <a:p>
            <a:pPr algn="just">
              <a:lnSpc>
                <a:spcPts val="3000"/>
              </a:lnSpc>
            </a:pPr>
          </a:p>
          <a:p>
            <a:pPr algn="just">
              <a:lnSpc>
                <a:spcPts val="1500"/>
              </a:lnSpc>
            </a:pPr>
            <a:r>
              <a:rPr lang="en-US" sz="1000">
                <a:solidFill>
                  <a:srgbClr val="FF66C4"/>
                </a:solidFill>
                <a:latin typeface="Helvetica World"/>
                <a:ea typeface="Helvetica World"/>
                <a:cs typeface="Helvetica World"/>
                <a:sym typeface="Helvetica World"/>
              </a:rPr>
              <a:t>Picture Alive AI implements a modular, cloud-native architecture deployed on AMD Radeon GPU environment driven by the ROCm software stack. The system processes user image uploads through a defined pipeline spanning four layers:</a:t>
            </a:r>
          </a:p>
        </p:txBody>
      </p:sp>
      <p:sp>
        <p:nvSpPr>
          <p:cNvPr name="TextBox 6" id="6"/>
          <p:cNvSpPr txBox="true"/>
          <p:nvPr/>
        </p:nvSpPr>
        <p:spPr>
          <a:xfrm rot="0">
            <a:off x="868204" y="3509858"/>
            <a:ext cx="1819475" cy="258032"/>
          </a:xfrm>
          <a:prstGeom prst="rect">
            <a:avLst/>
          </a:prstGeom>
        </p:spPr>
        <p:txBody>
          <a:bodyPr anchor="t" rtlCol="false" tIns="0" lIns="0" bIns="0" rIns="0">
            <a:spAutoFit/>
          </a:bodyPr>
          <a:lstStyle/>
          <a:p>
            <a:pPr algn="l">
              <a:lnSpc>
                <a:spcPts val="1400"/>
              </a:lnSpc>
            </a:pPr>
            <a:r>
              <a:rPr lang="en-US" b="true" sz="1000" spc="1">
                <a:solidFill>
                  <a:srgbClr val="FF66C4"/>
                </a:solidFill>
                <a:latin typeface="Helvetica World Bold"/>
                <a:ea typeface="Helvetica World Bold"/>
                <a:cs typeface="Helvetica World Bold"/>
                <a:sym typeface="Helvetica World Bold"/>
              </a:rPr>
              <a:t>Data Flow:</a:t>
            </a:r>
            <a:r>
              <a:rPr lang="en-US" sz="1000" spc="1">
                <a:solidFill>
                  <a:srgbClr val="FF66C4"/>
                </a:solidFill>
                <a:latin typeface="Helvetica World"/>
                <a:ea typeface="Helvetica World"/>
                <a:cs typeface="Helvetica World"/>
                <a:sym typeface="Helvetica World"/>
              </a:rPr>
              <a:t> User upload image </a:t>
            </a:r>
          </a:p>
        </p:txBody>
      </p:sp>
      <p:sp>
        <p:nvSpPr>
          <p:cNvPr name="TextBox 7" id="7"/>
          <p:cNvSpPr txBox="true"/>
          <p:nvPr/>
        </p:nvSpPr>
        <p:spPr>
          <a:xfrm rot="0">
            <a:off x="2733256" y="3519192"/>
            <a:ext cx="4037714" cy="453057"/>
          </a:xfrm>
          <a:prstGeom prst="rect">
            <a:avLst/>
          </a:prstGeom>
        </p:spPr>
        <p:txBody>
          <a:bodyPr anchor="t" rtlCol="false" tIns="0" lIns="0" bIns="0" rIns="0">
            <a:spAutoFit/>
          </a:bodyPr>
          <a:lstStyle/>
          <a:p>
            <a:pPr algn="r">
              <a:lnSpc>
                <a:spcPts val="1500"/>
              </a:lnSpc>
            </a:pPr>
            <a:r>
              <a:rPr lang="en-US" sz="1000" spc="1">
                <a:solidFill>
                  <a:srgbClr val="FF66C4"/>
                </a:solidFill>
                <a:latin typeface="Helvetica World"/>
                <a:ea typeface="Helvetica World"/>
                <a:cs typeface="Helvetica World"/>
                <a:sym typeface="Helvetica World"/>
              </a:rPr>
              <a:t>Frontend validation → Backend FastAPI → Gemma 4 vision analysis SSE stream to frontend. Optional (Audio Guide): text → Kokoro-82M</a:t>
            </a:r>
          </a:p>
        </p:txBody>
      </p:sp>
      <p:sp>
        <p:nvSpPr>
          <p:cNvPr name="TextBox 8" id="8"/>
          <p:cNvSpPr txBox="true"/>
          <p:nvPr/>
        </p:nvSpPr>
        <p:spPr>
          <a:xfrm rot="0">
            <a:off x="1068353" y="3714646"/>
            <a:ext cx="1584960" cy="238611"/>
          </a:xfrm>
          <a:prstGeom prst="rect">
            <a:avLst/>
          </a:prstGeom>
        </p:spPr>
        <p:txBody>
          <a:bodyPr anchor="t" rtlCol="false" tIns="0" lIns="0" bIns="0" rIns="0">
            <a:spAutoFit/>
          </a:bodyPr>
          <a:lstStyle/>
          <a:p>
            <a:pPr algn="l">
              <a:lnSpc>
                <a:spcPts val="1400"/>
              </a:lnSpc>
            </a:pPr>
            <a:r>
              <a:rPr lang="en-US" sz="1000" spc="14">
                <a:solidFill>
                  <a:srgbClr val="FF66C4"/>
                </a:solidFill>
                <a:latin typeface="Helvetica World"/>
                <a:ea typeface="Helvetica World"/>
                <a:cs typeface="Helvetica World"/>
                <a:sym typeface="Helvetica World"/>
              </a:rPr>
              <a:t> Gemma 4 text generation </a:t>
            </a:r>
          </a:p>
        </p:txBody>
      </p:sp>
      <p:sp>
        <p:nvSpPr>
          <p:cNvPr name="TextBox 9" id="9"/>
          <p:cNvSpPr txBox="true"/>
          <p:nvPr/>
        </p:nvSpPr>
        <p:spPr>
          <a:xfrm rot="0">
            <a:off x="868204" y="3915499"/>
            <a:ext cx="280711" cy="238611"/>
          </a:xfrm>
          <a:prstGeom prst="rect">
            <a:avLst/>
          </a:prstGeom>
        </p:spPr>
        <p:txBody>
          <a:bodyPr anchor="t" rtlCol="false" tIns="0" lIns="0" bIns="0" rIns="0">
            <a:spAutoFit/>
          </a:bodyPr>
          <a:lstStyle/>
          <a:p>
            <a:pPr algn="l">
              <a:lnSpc>
                <a:spcPts val="1400"/>
              </a:lnSpc>
            </a:pPr>
            <a:r>
              <a:rPr lang="en-US" sz="1000">
                <a:solidFill>
                  <a:srgbClr val="FF66C4"/>
                </a:solidFill>
                <a:latin typeface="Helvetica World"/>
                <a:ea typeface="Helvetica World"/>
                <a:cs typeface="Helvetica World"/>
                <a:sym typeface="Helvetica World"/>
              </a:rPr>
              <a:t>TTS </a:t>
            </a:r>
          </a:p>
        </p:txBody>
      </p:sp>
      <p:sp>
        <p:nvSpPr>
          <p:cNvPr name="TextBox 10" id="10"/>
          <p:cNvSpPr txBox="true"/>
          <p:nvPr/>
        </p:nvSpPr>
        <p:spPr>
          <a:xfrm rot="0">
            <a:off x="1400061" y="3891622"/>
            <a:ext cx="921544" cy="238611"/>
          </a:xfrm>
          <a:prstGeom prst="rect">
            <a:avLst/>
          </a:prstGeom>
        </p:spPr>
        <p:txBody>
          <a:bodyPr anchor="t" rtlCol="false" tIns="0" lIns="0" bIns="0" rIns="0">
            <a:spAutoFit/>
          </a:bodyPr>
          <a:lstStyle/>
          <a:p>
            <a:pPr algn="l">
              <a:lnSpc>
                <a:spcPts val="1400"/>
              </a:lnSpc>
            </a:pPr>
            <a:r>
              <a:rPr lang="en-US" sz="1000">
                <a:solidFill>
                  <a:srgbClr val="FF66C4"/>
                </a:solidFill>
                <a:latin typeface="Helvetica World"/>
                <a:ea typeface="Helvetica World"/>
                <a:cs typeface="Helvetica World"/>
                <a:sym typeface="Helvetica World"/>
              </a:rPr>
              <a:t>WAV download.</a:t>
            </a:r>
          </a:p>
        </p:txBody>
      </p:sp>
      <p:sp>
        <p:nvSpPr>
          <p:cNvPr name="TextBox 11" id="11"/>
          <p:cNvSpPr txBox="true"/>
          <p:nvPr/>
        </p:nvSpPr>
        <p:spPr>
          <a:xfrm rot="0">
            <a:off x="868204" y="6131223"/>
            <a:ext cx="5940066" cy="583406"/>
          </a:xfrm>
          <a:prstGeom prst="rect">
            <a:avLst/>
          </a:prstGeom>
        </p:spPr>
        <p:txBody>
          <a:bodyPr anchor="t" rtlCol="false" tIns="0" lIns="0" bIns="0" rIns="0">
            <a:spAutoFit/>
          </a:bodyPr>
          <a:lstStyle/>
          <a:p>
            <a:pPr algn="just">
              <a:lnSpc>
                <a:spcPts val="1500"/>
              </a:lnSpc>
            </a:pPr>
            <a:r>
              <a:rPr lang="en-US" sz="1000" spc="24">
                <a:solidFill>
                  <a:srgbClr val="FF66C4"/>
                </a:solidFill>
                <a:latin typeface="Helvetica World"/>
                <a:ea typeface="Helvetica World"/>
                <a:cs typeface="Helvetica World"/>
                <a:sym typeface="Helvetica World"/>
              </a:rPr>
              <a:t>The architecture is intentionally </a:t>
            </a:r>
            <a:r>
              <a:rPr lang="en-US" b="true" sz="1000" spc="24">
                <a:solidFill>
                  <a:srgbClr val="FF66C4"/>
                </a:solidFill>
                <a:latin typeface="Helvetica World Bold"/>
                <a:ea typeface="Helvetica World Bold"/>
                <a:cs typeface="Helvetica World Bold"/>
                <a:sym typeface="Helvetica World Bold"/>
              </a:rPr>
              <a:t>stateless</a:t>
            </a:r>
            <a:r>
              <a:rPr lang="en-US" sz="1000" spc="24">
                <a:solidFill>
                  <a:srgbClr val="FF66C4"/>
                </a:solidFill>
                <a:latin typeface="Helvetica World"/>
                <a:ea typeface="Helvetica World"/>
                <a:cs typeface="Helvetica World"/>
                <a:sym typeface="Helvetica World"/>
              </a:rPr>
              <a:t> -- image bytes are validated and processed inline, never persisted to disk. Requests validated for size, MIME type (JPEG/PNG), and mode name. Errors return appropriate HTTP status codes.</a:t>
            </a:r>
          </a:p>
        </p:txBody>
      </p:sp>
      <p:sp>
        <p:nvSpPr>
          <p:cNvPr name="TextBox 12" id="12"/>
          <p:cNvSpPr txBox="true"/>
          <p:nvPr/>
        </p:nvSpPr>
        <p:spPr>
          <a:xfrm rot="0">
            <a:off x="966949" y="1974942"/>
            <a:ext cx="395107" cy="225562"/>
          </a:xfrm>
          <a:prstGeom prst="rect">
            <a:avLst/>
          </a:prstGeom>
        </p:spPr>
        <p:txBody>
          <a:bodyPr anchor="t" rtlCol="false" tIns="0" lIns="0" bIns="0" rIns="0">
            <a:spAutoFit/>
          </a:bodyPr>
          <a:lstStyle/>
          <a:p>
            <a:pPr algn="l">
              <a:lnSpc>
                <a:spcPts val="1260"/>
              </a:lnSpc>
            </a:pPr>
            <a:r>
              <a:rPr lang="en-US" b="true" sz="900">
                <a:solidFill>
                  <a:srgbClr val="FFFFFF"/>
                </a:solidFill>
                <a:latin typeface="Helvetica World Bold"/>
                <a:ea typeface="Helvetica World Bold"/>
                <a:cs typeface="Helvetica World Bold"/>
                <a:sym typeface="Helvetica World Bold"/>
              </a:rPr>
              <a:t>LAYER</a:t>
            </a:r>
          </a:p>
        </p:txBody>
      </p:sp>
      <p:sp>
        <p:nvSpPr>
          <p:cNvPr name="TextBox 13" id="13"/>
          <p:cNvSpPr txBox="true"/>
          <p:nvPr/>
        </p:nvSpPr>
        <p:spPr>
          <a:xfrm rot="0">
            <a:off x="966949" y="2301926"/>
            <a:ext cx="596217"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1. Frontend</a:t>
            </a:r>
          </a:p>
        </p:txBody>
      </p:sp>
      <p:sp>
        <p:nvSpPr>
          <p:cNvPr name="TextBox 14" id="14"/>
          <p:cNvSpPr txBox="true"/>
          <p:nvPr/>
        </p:nvSpPr>
        <p:spPr>
          <a:xfrm rot="0">
            <a:off x="966949" y="2606726"/>
            <a:ext cx="583282"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2. Backend</a:t>
            </a:r>
          </a:p>
        </p:txBody>
      </p:sp>
      <p:sp>
        <p:nvSpPr>
          <p:cNvPr name="TextBox 15" id="15"/>
          <p:cNvSpPr txBox="true"/>
          <p:nvPr/>
        </p:nvSpPr>
        <p:spPr>
          <a:xfrm rot="0">
            <a:off x="966949" y="2911526"/>
            <a:ext cx="647986"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3. AI Models</a:t>
            </a:r>
          </a:p>
        </p:txBody>
      </p:sp>
      <p:sp>
        <p:nvSpPr>
          <p:cNvPr name="TextBox 16" id="16"/>
          <p:cNvSpPr txBox="true"/>
          <p:nvPr/>
        </p:nvSpPr>
        <p:spPr>
          <a:xfrm rot="0">
            <a:off x="966949" y="3216326"/>
            <a:ext cx="362931"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4. Infra</a:t>
            </a:r>
          </a:p>
        </p:txBody>
      </p:sp>
      <p:sp>
        <p:nvSpPr>
          <p:cNvPr name="TextBox 17" id="17"/>
          <p:cNvSpPr txBox="true"/>
          <p:nvPr/>
        </p:nvSpPr>
        <p:spPr>
          <a:xfrm rot="0">
            <a:off x="966949" y="4629245"/>
            <a:ext cx="958558" cy="148553"/>
          </a:xfrm>
          <a:prstGeom prst="rect">
            <a:avLst/>
          </a:prstGeom>
        </p:spPr>
        <p:txBody>
          <a:bodyPr anchor="t" rtlCol="false" tIns="0" lIns="0" bIns="0" rIns="0">
            <a:spAutoFit/>
          </a:bodyPr>
          <a:lstStyle/>
          <a:p>
            <a:pPr algn="l">
              <a:lnSpc>
                <a:spcPts val="1260"/>
              </a:lnSpc>
            </a:pPr>
            <a:r>
              <a:rPr lang="en-US" sz="900">
                <a:solidFill>
                  <a:srgbClr val="F8F8F8"/>
                </a:solidFill>
                <a:latin typeface="Helvetica World"/>
                <a:ea typeface="Helvetica World"/>
                <a:cs typeface="Helvetica World"/>
                <a:sym typeface="Helvetica World"/>
              </a:rPr>
              <a:t>Method Endpoint</a:t>
            </a:r>
          </a:p>
        </p:txBody>
      </p:sp>
      <p:sp>
        <p:nvSpPr>
          <p:cNvPr name="TextBox 18" id="18"/>
          <p:cNvSpPr txBox="true"/>
          <p:nvPr/>
        </p:nvSpPr>
        <p:spPr>
          <a:xfrm rot="0">
            <a:off x="966949" y="4956219"/>
            <a:ext cx="349872"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POST </a:t>
            </a:r>
          </a:p>
        </p:txBody>
      </p:sp>
      <p:sp>
        <p:nvSpPr>
          <p:cNvPr name="TextBox 19" id="19"/>
          <p:cNvSpPr txBox="true"/>
          <p:nvPr/>
        </p:nvSpPr>
        <p:spPr>
          <a:xfrm rot="0">
            <a:off x="1411453" y="4956219"/>
            <a:ext cx="1406261"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/api/modes/{mode}/analyze</a:t>
            </a:r>
          </a:p>
        </p:txBody>
      </p:sp>
      <p:sp>
        <p:nvSpPr>
          <p:cNvPr name="TextBox 20" id="20"/>
          <p:cNvSpPr txBox="true"/>
          <p:nvPr/>
        </p:nvSpPr>
        <p:spPr>
          <a:xfrm rot="0">
            <a:off x="966949" y="5261019"/>
            <a:ext cx="349872"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POST </a:t>
            </a:r>
          </a:p>
        </p:txBody>
      </p:sp>
      <p:sp>
        <p:nvSpPr>
          <p:cNvPr name="TextBox 21" id="21"/>
          <p:cNvSpPr txBox="true"/>
          <p:nvPr/>
        </p:nvSpPr>
        <p:spPr>
          <a:xfrm rot="0">
            <a:off x="1411453" y="5261019"/>
            <a:ext cx="1318936"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/api/audio/generate?text=</a:t>
            </a:r>
          </a:p>
        </p:txBody>
      </p:sp>
      <p:sp>
        <p:nvSpPr>
          <p:cNvPr name="TextBox 22" id="22"/>
          <p:cNvSpPr txBox="true"/>
          <p:nvPr/>
        </p:nvSpPr>
        <p:spPr>
          <a:xfrm rot="0">
            <a:off x="966949" y="5565819"/>
            <a:ext cx="272110"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GET </a:t>
            </a:r>
          </a:p>
        </p:txBody>
      </p:sp>
      <p:sp>
        <p:nvSpPr>
          <p:cNvPr name="TextBox 23" id="23"/>
          <p:cNvSpPr txBox="true"/>
          <p:nvPr/>
        </p:nvSpPr>
        <p:spPr>
          <a:xfrm rot="0">
            <a:off x="1411453" y="5565819"/>
            <a:ext cx="349987"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/health</a:t>
            </a:r>
          </a:p>
        </p:txBody>
      </p:sp>
      <p:sp>
        <p:nvSpPr>
          <p:cNvPr name="TextBox 24" id="24"/>
          <p:cNvSpPr txBox="true"/>
          <p:nvPr/>
        </p:nvSpPr>
        <p:spPr>
          <a:xfrm rot="0">
            <a:off x="1728949" y="1974942"/>
            <a:ext cx="757809" cy="225562"/>
          </a:xfrm>
          <a:prstGeom prst="rect">
            <a:avLst/>
          </a:prstGeom>
        </p:spPr>
        <p:txBody>
          <a:bodyPr anchor="t" rtlCol="false" tIns="0" lIns="0" bIns="0" rIns="0">
            <a:spAutoFit/>
          </a:bodyPr>
          <a:lstStyle/>
          <a:p>
            <a:pPr algn="l">
              <a:lnSpc>
                <a:spcPts val="1260"/>
              </a:lnSpc>
            </a:pPr>
            <a:r>
              <a:rPr lang="en-US" b="true" sz="900">
                <a:solidFill>
                  <a:srgbClr val="FFFFFF"/>
                </a:solidFill>
                <a:latin typeface="Helvetica World Bold"/>
                <a:ea typeface="Helvetica World Bold"/>
                <a:cs typeface="Helvetica World Bold"/>
                <a:sym typeface="Helvetica World Bold"/>
              </a:rPr>
              <a:t>COMPONENT</a:t>
            </a:r>
          </a:p>
        </p:txBody>
      </p:sp>
      <p:sp>
        <p:nvSpPr>
          <p:cNvPr name="TextBox 25" id="25"/>
          <p:cNvSpPr txBox="true"/>
          <p:nvPr/>
        </p:nvSpPr>
        <p:spPr>
          <a:xfrm rot="0">
            <a:off x="1728949" y="2301926"/>
            <a:ext cx="693334"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Web Design</a:t>
            </a:r>
          </a:p>
        </p:txBody>
      </p:sp>
      <p:sp>
        <p:nvSpPr>
          <p:cNvPr name="TextBox 26" id="26"/>
          <p:cNvSpPr txBox="true"/>
          <p:nvPr/>
        </p:nvSpPr>
        <p:spPr>
          <a:xfrm rot="0">
            <a:off x="1728949" y="2606726"/>
            <a:ext cx="770982"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FastAPI server</a:t>
            </a:r>
          </a:p>
        </p:txBody>
      </p:sp>
      <p:sp>
        <p:nvSpPr>
          <p:cNvPr name="TextBox 27" id="27"/>
          <p:cNvSpPr txBox="true"/>
          <p:nvPr/>
        </p:nvSpPr>
        <p:spPr>
          <a:xfrm rot="0">
            <a:off x="1728949" y="2911526"/>
            <a:ext cx="1279646"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Gemma 4 + Kokoro-82M</a:t>
            </a:r>
          </a:p>
        </p:txBody>
      </p:sp>
      <p:sp>
        <p:nvSpPr>
          <p:cNvPr name="TextBox 28" id="28"/>
          <p:cNvSpPr txBox="true"/>
          <p:nvPr/>
        </p:nvSpPr>
        <p:spPr>
          <a:xfrm rot="0">
            <a:off x="1728949" y="3216326"/>
            <a:ext cx="1039835"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Cloud GPU + CI/CD</a:t>
            </a:r>
          </a:p>
        </p:txBody>
      </p:sp>
      <p:sp>
        <p:nvSpPr>
          <p:cNvPr name="TextBox 29" id="29"/>
          <p:cNvSpPr txBox="true"/>
          <p:nvPr/>
        </p:nvSpPr>
        <p:spPr>
          <a:xfrm rot="0">
            <a:off x="3379946" y="1974942"/>
            <a:ext cx="822627" cy="225562"/>
          </a:xfrm>
          <a:prstGeom prst="rect">
            <a:avLst/>
          </a:prstGeom>
        </p:spPr>
        <p:txBody>
          <a:bodyPr anchor="t" rtlCol="false" tIns="0" lIns="0" bIns="0" rIns="0">
            <a:spAutoFit/>
          </a:bodyPr>
          <a:lstStyle/>
          <a:p>
            <a:pPr algn="l">
              <a:lnSpc>
                <a:spcPts val="1260"/>
              </a:lnSpc>
            </a:pPr>
            <a:r>
              <a:rPr lang="en-US" b="true" sz="900">
                <a:solidFill>
                  <a:srgbClr val="FFFFFF"/>
                </a:solidFill>
                <a:latin typeface="Helvetica World Bold"/>
                <a:ea typeface="Helvetica World Bold"/>
                <a:cs typeface="Helvetica World Bold"/>
                <a:sym typeface="Helvetica World Bold"/>
              </a:rPr>
              <a:t>TECHNOLOGY</a:t>
            </a:r>
          </a:p>
        </p:txBody>
      </p:sp>
      <p:sp>
        <p:nvSpPr>
          <p:cNvPr name="TextBox 30" id="30"/>
          <p:cNvSpPr txBox="true"/>
          <p:nvPr/>
        </p:nvSpPr>
        <p:spPr>
          <a:xfrm rot="0">
            <a:off x="3379946" y="2301926"/>
            <a:ext cx="2144304"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ComfyUI, </a:t>
            </a:r>
            <a:r>
              <a:rPr lang="en-US" sz="900">
                <a:solidFill>
                  <a:srgbClr val="FF66C4"/>
                </a:solidFill>
                <a:latin typeface="Helvetica World"/>
                <a:ea typeface="Helvetica World"/>
                <a:cs typeface="Helvetica World"/>
                <a:sym typeface="Helvetica World"/>
              </a:rPr>
              <a:t>React + Vite + Tailwind CSS</a:t>
            </a:r>
          </a:p>
        </p:txBody>
      </p:sp>
      <p:sp>
        <p:nvSpPr>
          <p:cNvPr name="TextBox 31" id="31"/>
          <p:cNvSpPr txBox="true"/>
          <p:nvPr/>
        </p:nvSpPr>
        <p:spPr>
          <a:xfrm rot="0">
            <a:off x="3379946" y="2606726"/>
            <a:ext cx="1380382"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Python 3.11, uvicorn, httpx</a:t>
            </a:r>
          </a:p>
        </p:txBody>
      </p:sp>
      <p:sp>
        <p:nvSpPr>
          <p:cNvPr name="TextBox 32" id="32"/>
          <p:cNvSpPr txBox="true"/>
          <p:nvPr/>
        </p:nvSpPr>
        <p:spPr>
          <a:xfrm rot="0">
            <a:off x="3379946" y="2911526"/>
            <a:ext cx="1694231"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Multimodal LLM + TTS synthesis</a:t>
            </a:r>
          </a:p>
        </p:txBody>
      </p:sp>
      <p:sp>
        <p:nvSpPr>
          <p:cNvPr name="TextBox 33" id="33"/>
          <p:cNvSpPr txBox="true"/>
          <p:nvPr/>
        </p:nvSpPr>
        <p:spPr>
          <a:xfrm rot="0">
            <a:off x="3379946" y="3216326"/>
            <a:ext cx="1976133"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AMD Radeon, Docker, GitHub Actions</a:t>
            </a:r>
          </a:p>
        </p:txBody>
      </p:sp>
      <p:sp>
        <p:nvSpPr>
          <p:cNvPr name="TextBox 34" id="34"/>
          <p:cNvSpPr txBox="true"/>
          <p:nvPr/>
        </p:nvSpPr>
        <p:spPr>
          <a:xfrm rot="0">
            <a:off x="3760946" y="4629245"/>
            <a:ext cx="641337" cy="148553"/>
          </a:xfrm>
          <a:prstGeom prst="rect">
            <a:avLst/>
          </a:prstGeom>
        </p:spPr>
        <p:txBody>
          <a:bodyPr anchor="t" rtlCol="false" tIns="0" lIns="0" bIns="0" rIns="0">
            <a:spAutoFit/>
          </a:bodyPr>
          <a:lstStyle/>
          <a:p>
            <a:pPr algn="l">
              <a:lnSpc>
                <a:spcPts val="1260"/>
              </a:lnSpc>
            </a:pPr>
            <a:r>
              <a:rPr lang="en-US" sz="900">
                <a:solidFill>
                  <a:srgbClr val="F8F8F8"/>
                </a:solidFill>
                <a:latin typeface="Helvetica World"/>
                <a:ea typeface="Helvetica World"/>
                <a:cs typeface="Helvetica World"/>
                <a:sym typeface="Helvetica World"/>
              </a:rPr>
              <a:t>Description</a:t>
            </a:r>
          </a:p>
        </p:txBody>
      </p:sp>
      <p:sp>
        <p:nvSpPr>
          <p:cNvPr name="TextBox 35" id="35"/>
          <p:cNvSpPr txBox="true"/>
          <p:nvPr/>
        </p:nvSpPr>
        <p:spPr>
          <a:xfrm rot="0">
            <a:off x="3760946" y="4956219"/>
            <a:ext cx="2724617"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Upload image (max 10 MB) -&gt; Gemma 4 SSE output</a:t>
            </a:r>
          </a:p>
        </p:txBody>
      </p:sp>
      <p:sp>
        <p:nvSpPr>
          <p:cNvPr name="TextBox 36" id="36"/>
          <p:cNvSpPr txBox="true"/>
          <p:nvPr/>
        </p:nvSpPr>
        <p:spPr>
          <a:xfrm rot="0">
            <a:off x="3760946" y="5261019"/>
            <a:ext cx="2335682"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Text -&gt; Kokoro-82M WAV (24 kHz) download</a:t>
            </a:r>
          </a:p>
        </p:txBody>
      </p:sp>
      <p:sp>
        <p:nvSpPr>
          <p:cNvPr name="TextBox 37" id="37"/>
          <p:cNvSpPr txBox="true"/>
          <p:nvPr/>
        </p:nvSpPr>
        <p:spPr>
          <a:xfrm rot="0">
            <a:off x="3760946" y="5565819"/>
            <a:ext cx="1004392" cy="148553"/>
          </a:xfrm>
          <a:prstGeom prst="rect">
            <a:avLst/>
          </a:prstGeom>
        </p:spPr>
        <p:txBody>
          <a:bodyPr anchor="t" rtlCol="false" tIns="0" lIns="0" bIns="0" rIns="0">
            <a:spAutoFit/>
          </a:bodyPr>
          <a:lstStyle/>
          <a:p>
            <a:pPr algn="l">
              <a:lnSpc>
                <a:spcPts val="1260"/>
              </a:lnSpc>
            </a:pPr>
            <a:r>
              <a:rPr lang="en-US" sz="900">
                <a:solidFill>
                  <a:srgbClr val="FF66C4"/>
                </a:solidFill>
                <a:latin typeface="Helvetica World"/>
                <a:ea typeface="Helvetica World"/>
                <a:cs typeface="Helvetica World"/>
                <a:sym typeface="Helvetica World"/>
              </a:rPr>
              <a:t>JSON health status</a:t>
            </a:r>
          </a:p>
        </p:txBody>
      </p:sp>
      <p:sp>
        <p:nvSpPr>
          <p:cNvPr name="TextBox 38" id="38"/>
          <p:cNvSpPr txBox="true"/>
          <p:nvPr/>
        </p:nvSpPr>
        <p:spPr>
          <a:xfrm rot="0">
            <a:off x="880705" y="3696005"/>
            <a:ext cx="127854" cy="224192"/>
          </a:xfrm>
          <a:prstGeom prst="rect">
            <a:avLst/>
          </a:prstGeom>
        </p:spPr>
        <p:txBody>
          <a:bodyPr anchor="t" rtlCol="false" tIns="0" lIns="0" bIns="0" rIns="0">
            <a:spAutoFit/>
          </a:bodyPr>
          <a:lstStyle/>
          <a:p>
            <a:pPr algn="l">
              <a:lnSpc>
                <a:spcPts val="1819"/>
              </a:lnSpc>
            </a:pPr>
            <a:r>
              <a:rPr lang="en-US" sz="1299" spc="233">
                <a:solidFill>
                  <a:srgbClr val="FF66C4"/>
                </a:solidFill>
                <a:latin typeface="IBM Plex Sans"/>
                <a:ea typeface="IBM Plex Sans"/>
                <a:cs typeface="IBM Plex Sans"/>
                <a:sym typeface="IBM Plex Sans"/>
              </a:rPr>
              <a:t>→</a:t>
            </a:r>
          </a:p>
        </p:txBody>
      </p:sp>
      <p:sp>
        <p:nvSpPr>
          <p:cNvPr name="TextBox 39" id="39"/>
          <p:cNvSpPr txBox="true"/>
          <p:nvPr/>
        </p:nvSpPr>
        <p:spPr>
          <a:xfrm rot="0">
            <a:off x="1181619" y="3863140"/>
            <a:ext cx="218646" cy="224192"/>
          </a:xfrm>
          <a:prstGeom prst="rect">
            <a:avLst/>
          </a:prstGeom>
        </p:spPr>
        <p:txBody>
          <a:bodyPr anchor="t" rtlCol="false" tIns="0" lIns="0" bIns="0" rIns="0">
            <a:spAutoFit/>
          </a:bodyPr>
          <a:lstStyle/>
          <a:p>
            <a:pPr algn="l">
              <a:lnSpc>
                <a:spcPts val="1819"/>
              </a:lnSpc>
            </a:pPr>
            <a:r>
              <a:rPr lang="en-US" sz="1299" spc="233">
                <a:solidFill>
                  <a:srgbClr val="FF66C4"/>
                </a:solidFill>
                <a:latin typeface="IBM Plex Sans"/>
                <a:ea typeface="IBM Plex Sans"/>
                <a:cs typeface="IBM Plex Sans"/>
                <a:sym typeface="IBM Plex Sans"/>
              </a:rPr>
              <a:t>→</a:t>
            </a:r>
          </a:p>
        </p:txBody>
      </p:sp>
      <p:sp>
        <p:nvSpPr>
          <p:cNvPr name="TextBox 40" id="40"/>
          <p:cNvSpPr txBox="true"/>
          <p:nvPr/>
        </p:nvSpPr>
        <p:spPr>
          <a:xfrm rot="0">
            <a:off x="2653313" y="3531356"/>
            <a:ext cx="275076" cy="224192"/>
          </a:xfrm>
          <a:prstGeom prst="rect">
            <a:avLst/>
          </a:prstGeom>
        </p:spPr>
        <p:txBody>
          <a:bodyPr anchor="t" rtlCol="false" tIns="0" lIns="0" bIns="0" rIns="0">
            <a:spAutoFit/>
          </a:bodyPr>
          <a:lstStyle/>
          <a:p>
            <a:pPr algn="l">
              <a:lnSpc>
                <a:spcPts val="1819"/>
              </a:lnSpc>
            </a:pPr>
            <a:r>
              <a:rPr lang="en-US" sz="1299" spc="233">
                <a:solidFill>
                  <a:srgbClr val="FF66C4"/>
                </a:solidFill>
                <a:latin typeface="IBM Plex Sans"/>
                <a:ea typeface="IBM Plex Sans"/>
                <a:cs typeface="IBM Plex Sans"/>
                <a:sym typeface="IBM Plex Sans"/>
              </a:rPr>
              <a:t>→</a:t>
            </a:r>
          </a:p>
        </p:txBody>
      </p:sp>
      <p:sp>
        <p:nvSpPr>
          <p:cNvPr name="TextBox 41" id="41"/>
          <p:cNvSpPr txBox="true"/>
          <p:nvPr/>
        </p:nvSpPr>
        <p:spPr>
          <a:xfrm rot="0">
            <a:off x="2606664" y="3708458"/>
            <a:ext cx="368373" cy="224192"/>
          </a:xfrm>
          <a:prstGeom prst="rect">
            <a:avLst/>
          </a:prstGeom>
        </p:spPr>
        <p:txBody>
          <a:bodyPr anchor="t" rtlCol="false" tIns="0" lIns="0" bIns="0" rIns="0">
            <a:spAutoFit/>
          </a:bodyPr>
          <a:lstStyle/>
          <a:p>
            <a:pPr algn="l">
              <a:lnSpc>
                <a:spcPts val="1819"/>
              </a:lnSpc>
            </a:pPr>
            <a:r>
              <a:rPr lang="en-US" sz="1299" spc="233">
                <a:solidFill>
                  <a:srgbClr val="FF66C4"/>
                </a:solidFill>
                <a:latin typeface="IBM Plex Sans"/>
                <a:ea typeface="IBM Plex Sans"/>
                <a:cs typeface="IBM Plex Sans"/>
                <a:sym typeface="IBM Plex Sans"/>
              </a:rPr>
              <a:t>→</a:t>
            </a:r>
          </a:p>
        </p:txBody>
      </p:sp>
      <p:sp>
        <p:nvSpPr>
          <p:cNvPr name="TextBox 42" id="42"/>
          <p:cNvSpPr txBox="true"/>
          <p:nvPr/>
        </p:nvSpPr>
        <p:spPr>
          <a:xfrm rot="0">
            <a:off x="868204" y="4213908"/>
            <a:ext cx="1239383" cy="264440"/>
          </a:xfrm>
          <a:prstGeom prst="rect">
            <a:avLst/>
          </a:prstGeom>
        </p:spPr>
        <p:txBody>
          <a:bodyPr anchor="t" rtlCol="false" tIns="0" lIns="0" bIns="0" rIns="0">
            <a:spAutoFit/>
          </a:bodyPr>
          <a:lstStyle/>
          <a:p>
            <a:pPr algn="l">
              <a:lnSpc>
                <a:spcPts val="1959"/>
              </a:lnSpc>
            </a:pPr>
            <a:r>
              <a:rPr lang="en-US" b="true" sz="1399">
                <a:solidFill>
                  <a:srgbClr val="FF66C4"/>
                </a:solidFill>
                <a:latin typeface="Helvetica World Bold"/>
                <a:ea typeface="Helvetica World Bold"/>
                <a:cs typeface="Helvetica World Bold"/>
                <a:sym typeface="Helvetica World Bold"/>
              </a:rPr>
              <a:t>API Endpoints</a:t>
            </a:r>
          </a:p>
        </p:txBody>
      </p:sp>
      <p:sp>
        <p:nvSpPr>
          <p:cNvPr name="TextBox 43" id="43"/>
          <p:cNvSpPr txBox="true"/>
          <p:nvPr/>
        </p:nvSpPr>
        <p:spPr>
          <a:xfrm rot="0">
            <a:off x="2183898" y="10370487"/>
            <a:ext cx="2581440" cy="165174"/>
          </a:xfrm>
          <a:prstGeom prst="rect">
            <a:avLst/>
          </a:prstGeom>
        </p:spPr>
        <p:txBody>
          <a:bodyPr anchor="t" rtlCol="false" tIns="0" lIns="0" bIns="0" rIns="0">
            <a:spAutoFit/>
          </a:bodyPr>
          <a:lstStyle/>
          <a:p>
            <a:pPr algn="l">
              <a:lnSpc>
                <a:spcPts val="1399"/>
              </a:lnSpc>
            </a:pPr>
            <a:r>
              <a:rPr lang="en-US" sz="999">
                <a:solidFill>
                  <a:srgbClr val="B71C1C"/>
                </a:solidFill>
                <a:latin typeface="Helvetica World"/>
                <a:ea typeface="Helvetica World"/>
                <a:cs typeface="Helvetica World"/>
                <a:sym typeface="Helvetica World"/>
              </a:rPr>
              <a:t>Picture Alive AI -- Project Profile Document</a:t>
            </a:r>
          </a:p>
        </p:txBody>
      </p:sp>
      <p:sp>
        <p:nvSpPr>
          <p:cNvPr name="AutoShape 44" id="44"/>
          <p:cNvSpPr/>
          <p:nvPr/>
        </p:nvSpPr>
        <p:spPr>
          <a:xfrm>
            <a:off x="830904" y="895655"/>
            <a:ext cx="5873293" cy="0"/>
          </a:xfrm>
          <a:prstGeom prst="line">
            <a:avLst/>
          </a:prstGeom>
          <a:ln cap="flat" w="38100">
            <a:solidFill>
              <a:srgbClr val="B71C1C"/>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58679" y="1165527"/>
            <a:ext cx="5842654" cy="19050"/>
            <a:chOff x="0" y="0"/>
            <a:chExt cx="5842648" cy="19050"/>
          </a:xfrm>
        </p:grpSpPr>
        <p:sp>
          <p:nvSpPr>
            <p:cNvPr name="Freeform 3" id="3"/>
            <p:cNvSpPr/>
            <p:nvPr/>
          </p:nvSpPr>
          <p:spPr>
            <a:xfrm flipH="false" flipV="false" rot="0">
              <a:off x="0" y="0"/>
              <a:ext cx="5842633" cy="19050"/>
            </a:xfrm>
            <a:custGeom>
              <a:avLst/>
              <a:gdLst/>
              <a:ahLst/>
              <a:cxnLst/>
              <a:rect r="r" b="b" t="t" l="l"/>
              <a:pathLst>
                <a:path h="19050" w="5842633">
                  <a:moveTo>
                    <a:pt x="9525" y="0"/>
                  </a:moveTo>
                  <a:lnTo>
                    <a:pt x="5833108" y="0"/>
                  </a:lnTo>
                  <a:cubicBezTo>
                    <a:pt x="5838315" y="0"/>
                    <a:pt x="5842633" y="4318"/>
                    <a:pt x="5842633" y="9525"/>
                  </a:cubicBezTo>
                  <a:cubicBezTo>
                    <a:pt x="5842633" y="14732"/>
                    <a:pt x="5838315" y="19050"/>
                    <a:pt x="5833108" y="19050"/>
                  </a:cubicBezTo>
                  <a:lnTo>
                    <a:pt x="9525" y="19050"/>
                  </a:lnTo>
                  <a:cubicBezTo>
                    <a:pt x="4318" y="19050"/>
                    <a:pt x="0" y="14732"/>
                    <a:pt x="0" y="9525"/>
                  </a:cubicBezTo>
                  <a:cubicBezTo>
                    <a:pt x="0" y="4318"/>
                    <a:pt x="4318" y="0"/>
                    <a:pt x="9525" y="0"/>
                  </a:cubicBezTo>
                  <a:close/>
                </a:path>
              </a:pathLst>
            </a:custGeom>
            <a:solidFill>
              <a:srgbClr val="B71C1C"/>
            </a:solidFill>
          </p:spPr>
        </p:sp>
      </p:grpSp>
      <p:sp>
        <p:nvSpPr>
          <p:cNvPr name="Freeform 4" id="4"/>
          <p:cNvSpPr/>
          <p:nvPr/>
        </p:nvSpPr>
        <p:spPr>
          <a:xfrm flipH="false" flipV="false" rot="0">
            <a:off x="824074" y="1654473"/>
            <a:ext cx="5911853" cy="2266950"/>
          </a:xfrm>
          <a:custGeom>
            <a:avLst/>
            <a:gdLst/>
            <a:ahLst/>
            <a:cxnLst/>
            <a:rect r="r" b="b" t="t" l="l"/>
            <a:pathLst>
              <a:path h="2266950" w="5911853">
                <a:moveTo>
                  <a:pt x="0" y="0"/>
                </a:moveTo>
                <a:lnTo>
                  <a:pt x="5911854" y="0"/>
                </a:lnTo>
                <a:lnTo>
                  <a:pt x="5911854" y="2266950"/>
                </a:lnTo>
                <a:lnTo>
                  <a:pt x="0" y="2266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24074" y="4892973"/>
            <a:ext cx="5911853" cy="2571750"/>
          </a:xfrm>
          <a:custGeom>
            <a:avLst/>
            <a:gdLst/>
            <a:ahLst/>
            <a:cxnLst/>
            <a:rect r="r" b="b" t="t" l="l"/>
            <a:pathLst>
              <a:path h="2571750" w="5911853">
                <a:moveTo>
                  <a:pt x="0" y="0"/>
                </a:moveTo>
                <a:lnTo>
                  <a:pt x="5911854" y="0"/>
                </a:lnTo>
                <a:lnTo>
                  <a:pt x="5911854" y="2571750"/>
                </a:lnTo>
                <a:lnTo>
                  <a:pt x="0" y="25717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2516" y="8198148"/>
            <a:ext cx="4431451" cy="2097829"/>
          </a:xfrm>
          <a:custGeom>
            <a:avLst/>
            <a:gdLst/>
            <a:ahLst/>
            <a:cxnLst/>
            <a:rect r="r" b="b" t="t" l="l"/>
            <a:pathLst>
              <a:path h="2097829" w="4431451">
                <a:moveTo>
                  <a:pt x="0" y="0"/>
                </a:moveTo>
                <a:lnTo>
                  <a:pt x="4431451" y="0"/>
                </a:lnTo>
                <a:lnTo>
                  <a:pt x="4431451" y="2097829"/>
                </a:lnTo>
                <a:lnTo>
                  <a:pt x="0" y="2097829"/>
                </a:lnTo>
                <a:lnTo>
                  <a:pt x="0" y="0"/>
                </a:lnTo>
                <a:close/>
              </a:path>
            </a:pathLst>
          </a:custGeom>
          <a:blipFill>
            <a:blip r:embed="rId6"/>
            <a:stretch>
              <a:fillRect l="0" t="0" r="0" b="0"/>
            </a:stretch>
          </a:blipFill>
        </p:spPr>
      </p:sp>
      <p:sp>
        <p:nvSpPr>
          <p:cNvPr name="TextBox 7" id="7"/>
          <p:cNvSpPr txBox="true"/>
          <p:nvPr/>
        </p:nvSpPr>
        <p:spPr>
          <a:xfrm rot="0">
            <a:off x="868204" y="586864"/>
            <a:ext cx="4174293" cy="994859"/>
          </a:xfrm>
          <a:prstGeom prst="rect">
            <a:avLst/>
          </a:prstGeom>
        </p:spPr>
        <p:txBody>
          <a:bodyPr anchor="t" rtlCol="false" tIns="0" lIns="0" bIns="0" rIns="0">
            <a:spAutoFit/>
          </a:bodyPr>
          <a:lstStyle/>
          <a:p>
            <a:pPr algn="l">
              <a:lnSpc>
                <a:spcPts val="2800"/>
              </a:lnSpc>
            </a:pPr>
            <a:r>
              <a:rPr lang="en-US" b="true" sz="2000">
                <a:solidFill>
                  <a:srgbClr val="B71C1C"/>
                </a:solidFill>
                <a:latin typeface="Helvetica World Bold"/>
                <a:ea typeface="Helvetica World Bold"/>
                <a:cs typeface="Helvetica World Bold"/>
                <a:sym typeface="Helvetica World Bold"/>
              </a:rPr>
              <a:t>4. Model &amp; Algorithm Introduction</a:t>
            </a:r>
          </a:p>
          <a:p>
            <a:pPr algn="l">
              <a:lnSpc>
                <a:spcPts val="2800"/>
              </a:lnSpc>
            </a:pPr>
          </a:p>
          <a:p>
            <a:pPr algn="l">
              <a:lnSpc>
                <a:spcPts val="1959"/>
              </a:lnSpc>
            </a:pPr>
            <a:r>
              <a:rPr lang="en-US" b="true" sz="1399">
                <a:solidFill>
                  <a:srgbClr val="FF66C4"/>
                </a:solidFill>
                <a:latin typeface="Helvetica World Bold"/>
                <a:ea typeface="Helvetica World Bold"/>
                <a:cs typeface="Helvetica World Bold"/>
                <a:sym typeface="Helvetica World Bold"/>
              </a:rPr>
              <a:t>Gemma 4 -- Vision + Text (Multimodal LLM)</a:t>
            </a:r>
          </a:p>
        </p:txBody>
      </p:sp>
      <p:sp>
        <p:nvSpPr>
          <p:cNvPr name="TextBox 8" id="8"/>
          <p:cNvSpPr txBox="true"/>
          <p:nvPr/>
        </p:nvSpPr>
        <p:spPr>
          <a:xfrm rot="0">
            <a:off x="868204" y="4556808"/>
            <a:ext cx="3486569" cy="264440"/>
          </a:xfrm>
          <a:prstGeom prst="rect">
            <a:avLst/>
          </a:prstGeom>
        </p:spPr>
        <p:txBody>
          <a:bodyPr anchor="t" rtlCol="false" tIns="0" lIns="0" bIns="0" rIns="0">
            <a:spAutoFit/>
          </a:bodyPr>
          <a:lstStyle/>
          <a:p>
            <a:pPr algn="l">
              <a:lnSpc>
                <a:spcPts val="1959"/>
              </a:lnSpc>
            </a:pPr>
            <a:r>
              <a:rPr lang="en-US" b="true" sz="1399">
                <a:solidFill>
                  <a:srgbClr val="FF66C4"/>
                </a:solidFill>
                <a:latin typeface="Helvetica World Bold"/>
                <a:ea typeface="Helvetica World Bold"/>
                <a:cs typeface="Helvetica World Bold"/>
                <a:sym typeface="Helvetica World Bold"/>
              </a:rPr>
              <a:t>Kokoro-82M -- Text-to-Speech Synthesis</a:t>
            </a:r>
          </a:p>
        </p:txBody>
      </p:sp>
      <p:sp>
        <p:nvSpPr>
          <p:cNvPr name="TextBox 9" id="9"/>
          <p:cNvSpPr txBox="true"/>
          <p:nvPr/>
        </p:nvSpPr>
        <p:spPr>
          <a:xfrm rot="0">
            <a:off x="966949" y="4898408"/>
            <a:ext cx="729592" cy="2157289"/>
          </a:xfrm>
          <a:prstGeom prst="rect">
            <a:avLst/>
          </a:prstGeom>
        </p:spPr>
        <p:txBody>
          <a:bodyPr anchor="t" rtlCol="false" tIns="0" lIns="0" bIns="0" rIns="0">
            <a:spAutoFit/>
          </a:bodyPr>
          <a:lstStyle/>
          <a:p>
            <a:pPr algn="l">
              <a:lnSpc>
                <a:spcPts val="2533"/>
              </a:lnSpc>
            </a:pPr>
            <a:r>
              <a:rPr lang="en-US" b="true" sz="1055">
                <a:solidFill>
                  <a:srgbClr val="FFFFFF"/>
                </a:solidFill>
                <a:latin typeface="Helvetica World Bold"/>
                <a:ea typeface="Helvetica World Bold"/>
                <a:cs typeface="Helvetica World Bold"/>
                <a:sym typeface="Helvetica World Bold"/>
              </a:rPr>
              <a:t>Property </a:t>
            </a:r>
            <a:r>
              <a:rPr lang="en-US" sz="1055">
                <a:solidFill>
                  <a:srgbClr val="FF66C4"/>
                </a:solidFill>
                <a:latin typeface="Helvetica World"/>
                <a:ea typeface="Helvetica World"/>
                <a:cs typeface="Helvetica World"/>
                <a:sym typeface="Helvetica World"/>
              </a:rPr>
              <a:t>Model Parameters License Input Output Architecture Inference</a:t>
            </a:r>
          </a:p>
        </p:txBody>
      </p:sp>
      <p:sp>
        <p:nvSpPr>
          <p:cNvPr name="TextBox 10" id="10"/>
          <p:cNvSpPr txBox="true"/>
          <p:nvPr/>
        </p:nvSpPr>
        <p:spPr>
          <a:xfrm rot="0">
            <a:off x="2490949" y="4862408"/>
            <a:ext cx="3955189" cy="2486501"/>
          </a:xfrm>
          <a:prstGeom prst="rect">
            <a:avLst/>
          </a:prstGeom>
        </p:spPr>
        <p:txBody>
          <a:bodyPr anchor="t" rtlCol="false" tIns="0" lIns="0" bIns="0" rIns="0">
            <a:spAutoFit/>
          </a:bodyPr>
          <a:lstStyle/>
          <a:p>
            <a:pPr algn="l">
              <a:lnSpc>
                <a:spcPts val="2552"/>
              </a:lnSpc>
            </a:pPr>
            <a:r>
              <a:rPr lang="en-US" b="true" sz="1063">
                <a:solidFill>
                  <a:srgbClr val="FFFFFF"/>
                </a:solidFill>
                <a:latin typeface="Helvetica World Bold"/>
                <a:ea typeface="Helvetica World Bold"/>
                <a:cs typeface="Helvetica World Bold"/>
                <a:sym typeface="Helvetica World Bold"/>
              </a:rPr>
              <a:t>Value</a:t>
            </a:r>
          </a:p>
          <a:p>
            <a:pPr algn="l">
              <a:lnSpc>
                <a:spcPts val="2552"/>
              </a:lnSpc>
            </a:pPr>
            <a:r>
              <a:rPr lang="en-US" sz="1063">
                <a:solidFill>
                  <a:srgbClr val="FF66C4"/>
                </a:solidFill>
                <a:latin typeface="Helvetica World"/>
                <a:ea typeface="Helvetica World"/>
                <a:cs typeface="Helvetica World"/>
                <a:sym typeface="Helvetica World"/>
              </a:rPr>
              <a:t>Kokoro-82M</a:t>
            </a:r>
          </a:p>
          <a:p>
            <a:pPr algn="l">
              <a:lnSpc>
                <a:spcPts val="2552"/>
              </a:lnSpc>
            </a:pPr>
            <a:r>
              <a:rPr lang="en-US" sz="1063">
                <a:solidFill>
                  <a:srgbClr val="FF66C4"/>
                </a:solidFill>
                <a:latin typeface="Helvetica World"/>
                <a:ea typeface="Helvetica World"/>
                <a:cs typeface="Helvetica World"/>
                <a:sym typeface="Helvetica World"/>
              </a:rPr>
              <a:t>82 million</a:t>
            </a:r>
          </a:p>
          <a:p>
            <a:pPr algn="l">
              <a:lnSpc>
                <a:spcPts val="2552"/>
              </a:lnSpc>
            </a:pPr>
            <a:r>
              <a:rPr lang="en-US" sz="1063">
                <a:solidFill>
                  <a:srgbClr val="FF66C4"/>
                </a:solidFill>
                <a:latin typeface="Helvetica World"/>
                <a:ea typeface="Helvetica World"/>
                <a:cs typeface="Helvetica World"/>
                <a:sym typeface="Helvetica World"/>
              </a:rPr>
              <a:t>Apache 2.0 -- free, open source, no usage limits</a:t>
            </a:r>
          </a:p>
          <a:p>
            <a:pPr algn="l">
              <a:lnSpc>
                <a:spcPts val="2552"/>
              </a:lnSpc>
            </a:pPr>
            <a:r>
              <a:rPr lang="en-US" sz="1063">
                <a:solidFill>
                  <a:srgbClr val="FF66C4"/>
                </a:solidFill>
                <a:latin typeface="Helvetica World"/>
                <a:ea typeface="Helvetica World"/>
                <a:cs typeface="Helvetica World"/>
                <a:sym typeface="Helvetica World"/>
              </a:rPr>
              <a:t>Plain text</a:t>
            </a:r>
          </a:p>
          <a:p>
            <a:pPr algn="l">
              <a:lnSpc>
                <a:spcPts val="2552"/>
              </a:lnSpc>
            </a:pPr>
            <a:r>
              <a:rPr lang="en-US" sz="1063">
                <a:solidFill>
                  <a:srgbClr val="FF66C4"/>
                </a:solidFill>
                <a:latin typeface="Helvetica World"/>
                <a:ea typeface="Helvetica World"/>
                <a:cs typeface="Helvetica World"/>
                <a:sym typeface="Helvetica World"/>
              </a:rPr>
              <a:t>24 kHz WAV waveform</a:t>
            </a:r>
          </a:p>
          <a:p>
            <a:pPr algn="l">
              <a:lnSpc>
                <a:spcPts val="2552"/>
              </a:lnSpc>
            </a:pPr>
            <a:r>
              <a:rPr lang="en-US" sz="1063">
                <a:solidFill>
                  <a:srgbClr val="FF66C4"/>
                </a:solidFill>
                <a:latin typeface="Helvetica World"/>
                <a:ea typeface="Helvetica World"/>
                <a:cs typeface="Helvetica World"/>
                <a:sym typeface="Helvetica World"/>
              </a:rPr>
              <a:t>Curated phoneme transformer: text -&gt; phonemes -&gt; mel -&gt; audio Local GPU/CPU, PyPI package: kokoro 0.9.4+</a:t>
            </a:r>
          </a:p>
        </p:txBody>
      </p:sp>
      <p:sp>
        <p:nvSpPr>
          <p:cNvPr name="TextBox 11" id="11"/>
          <p:cNvSpPr txBox="true"/>
          <p:nvPr/>
        </p:nvSpPr>
        <p:spPr>
          <a:xfrm rot="0">
            <a:off x="868204" y="7550448"/>
            <a:ext cx="5940066" cy="571500"/>
          </a:xfrm>
          <a:prstGeom prst="rect">
            <a:avLst/>
          </a:prstGeom>
        </p:spPr>
        <p:txBody>
          <a:bodyPr anchor="t" rtlCol="false" tIns="0" lIns="0" bIns="0" rIns="0">
            <a:spAutoFit/>
          </a:bodyPr>
          <a:lstStyle/>
          <a:p>
            <a:pPr algn="just">
              <a:lnSpc>
                <a:spcPts val="1500"/>
              </a:lnSpc>
            </a:pPr>
            <a:r>
              <a:rPr lang="en-US" sz="1000" spc="11">
                <a:solidFill>
                  <a:srgbClr val="FF66C4"/>
                </a:solidFill>
                <a:latin typeface="Helvetica World"/>
                <a:ea typeface="Helvetica World"/>
                <a:cs typeface="Helvetica World"/>
                <a:sym typeface="Helvetica World"/>
              </a:rPr>
              <a:t>Kokoro-82M is a compact self-contained TTS model built around a curated phoneme transformer. For Picture Alive AI, it generates accessible audio narrations and spoken story scenes -- entirely free and with zero usage limits.</a:t>
            </a:r>
          </a:p>
        </p:txBody>
      </p:sp>
      <p:sp>
        <p:nvSpPr>
          <p:cNvPr name="TextBox 12" id="12"/>
          <p:cNvSpPr txBox="true"/>
          <p:nvPr/>
        </p:nvSpPr>
        <p:spPr>
          <a:xfrm rot="0">
            <a:off x="966949" y="1623908"/>
            <a:ext cx="703193" cy="2176449"/>
          </a:xfrm>
          <a:prstGeom prst="rect">
            <a:avLst/>
          </a:prstGeom>
        </p:spPr>
        <p:txBody>
          <a:bodyPr anchor="t" rtlCol="false" tIns="0" lIns="0" bIns="0" rIns="0">
            <a:spAutoFit/>
          </a:bodyPr>
          <a:lstStyle/>
          <a:p>
            <a:pPr algn="l">
              <a:lnSpc>
                <a:spcPts val="2520"/>
              </a:lnSpc>
            </a:pPr>
            <a:r>
              <a:rPr lang="en-US" b="true" sz="1050">
                <a:solidFill>
                  <a:srgbClr val="F8F8F8"/>
                </a:solidFill>
                <a:latin typeface="Helvetica World Bold"/>
                <a:ea typeface="Helvetica World Bold"/>
                <a:cs typeface="Helvetica World Bold"/>
                <a:sym typeface="Helvetica World Bold"/>
              </a:rPr>
              <a:t>Property</a:t>
            </a:r>
            <a:r>
              <a:rPr lang="en-US" b="true" sz="1050">
                <a:solidFill>
                  <a:srgbClr val="FF66C4"/>
                </a:solidFill>
                <a:latin typeface="Helvetica World Bold"/>
                <a:ea typeface="Helvetica World Bold"/>
                <a:cs typeface="Helvetica World Bold"/>
                <a:sym typeface="Helvetica World Bold"/>
              </a:rPr>
              <a:t> </a:t>
            </a:r>
            <a:r>
              <a:rPr lang="en-US" sz="1050">
                <a:solidFill>
                  <a:srgbClr val="FF66C4"/>
                </a:solidFill>
                <a:latin typeface="Helvetica World"/>
                <a:ea typeface="Helvetica World"/>
                <a:cs typeface="Helvetica World"/>
                <a:sym typeface="Helvetica World"/>
              </a:rPr>
              <a:t>Model Developer Parameters Input Output License</a:t>
            </a:r>
          </a:p>
        </p:txBody>
      </p:sp>
      <p:sp>
        <p:nvSpPr>
          <p:cNvPr name="TextBox 13" id="13"/>
          <p:cNvSpPr txBox="true"/>
          <p:nvPr/>
        </p:nvSpPr>
        <p:spPr>
          <a:xfrm rot="0">
            <a:off x="2490949" y="1623908"/>
            <a:ext cx="3003651" cy="2174941"/>
          </a:xfrm>
          <a:prstGeom prst="rect">
            <a:avLst/>
          </a:prstGeom>
        </p:spPr>
        <p:txBody>
          <a:bodyPr anchor="t" rtlCol="false" tIns="0" lIns="0" bIns="0" rIns="0">
            <a:spAutoFit/>
          </a:bodyPr>
          <a:lstStyle/>
          <a:p>
            <a:pPr algn="l">
              <a:lnSpc>
                <a:spcPts val="2544"/>
              </a:lnSpc>
            </a:pPr>
            <a:r>
              <a:rPr lang="en-US" b="true" sz="1060">
                <a:solidFill>
                  <a:srgbClr val="FFFFFF"/>
                </a:solidFill>
                <a:latin typeface="Helvetica World Bold"/>
                <a:ea typeface="Helvetica World Bold"/>
                <a:cs typeface="Helvetica World Bold"/>
                <a:sym typeface="Helvetica World Bold"/>
              </a:rPr>
              <a:t>Value</a:t>
            </a:r>
          </a:p>
          <a:p>
            <a:pPr algn="l">
              <a:lnSpc>
                <a:spcPts val="2544"/>
              </a:lnSpc>
            </a:pPr>
            <a:r>
              <a:rPr lang="en-US" sz="1060">
                <a:solidFill>
                  <a:srgbClr val="FF66C4"/>
                </a:solidFill>
                <a:latin typeface="Helvetica World"/>
                <a:ea typeface="Helvetica World"/>
                <a:cs typeface="Helvetica World"/>
                <a:sym typeface="Helvetica World"/>
              </a:rPr>
              <a:t>gemma-4-26b-a4b-it</a:t>
            </a:r>
          </a:p>
          <a:p>
            <a:pPr algn="l">
              <a:lnSpc>
                <a:spcPts val="2544"/>
              </a:lnSpc>
            </a:pPr>
            <a:r>
              <a:rPr lang="en-US" sz="1060">
                <a:solidFill>
                  <a:srgbClr val="FF66C4"/>
                </a:solidFill>
                <a:latin typeface="Helvetica World"/>
                <a:ea typeface="Helvetica World"/>
                <a:cs typeface="Helvetica World"/>
                <a:sym typeface="Helvetica World"/>
              </a:rPr>
              <a:t>Google DeepMind (Google AI Studio API)</a:t>
            </a:r>
          </a:p>
          <a:p>
            <a:pPr algn="l">
              <a:lnSpc>
                <a:spcPts val="2544"/>
              </a:lnSpc>
            </a:pPr>
            <a:r>
              <a:rPr lang="en-US" sz="1060">
                <a:solidFill>
                  <a:srgbClr val="FF66C4"/>
                </a:solidFill>
                <a:latin typeface="Helvetica World"/>
                <a:ea typeface="Helvetica World"/>
                <a:cs typeface="Helvetica World"/>
                <a:sym typeface="Helvetica World"/>
              </a:rPr>
              <a:t>26B total / ~4B active (Mixture-of-Experts sparse) JPEG/PNG base64 + natural-language prompt Natural language text</a:t>
            </a:r>
          </a:p>
          <a:p>
            <a:pPr algn="l">
              <a:lnSpc>
                <a:spcPts val="2544"/>
              </a:lnSpc>
            </a:pPr>
            <a:r>
              <a:rPr lang="en-US" sz="1060">
                <a:solidFill>
                  <a:srgbClr val="FF66C4"/>
                </a:solidFill>
                <a:latin typeface="Helvetica World"/>
                <a:ea typeface="Helvetica World"/>
                <a:cs typeface="Helvetica World"/>
                <a:sym typeface="Helvetica World"/>
              </a:rPr>
              <a:t>Free tier for hackathon use</a:t>
            </a:r>
          </a:p>
        </p:txBody>
      </p:sp>
      <p:sp>
        <p:nvSpPr>
          <p:cNvPr name="TextBox 14" id="14"/>
          <p:cNvSpPr txBox="true"/>
          <p:nvPr/>
        </p:nvSpPr>
        <p:spPr>
          <a:xfrm rot="0">
            <a:off x="868204" y="3837622"/>
            <a:ext cx="5940076" cy="595312"/>
          </a:xfrm>
          <a:prstGeom prst="rect">
            <a:avLst/>
          </a:prstGeom>
        </p:spPr>
        <p:txBody>
          <a:bodyPr anchor="t" rtlCol="false" tIns="0" lIns="0" bIns="0" rIns="0">
            <a:spAutoFit/>
          </a:bodyPr>
          <a:lstStyle/>
          <a:p>
            <a:pPr algn="just">
              <a:lnSpc>
                <a:spcPts val="1500"/>
              </a:lnSpc>
            </a:pPr>
            <a:r>
              <a:rPr lang="en-US" sz="1000" spc="10">
                <a:solidFill>
                  <a:srgbClr val="FF66C4"/>
                </a:solidFill>
                <a:latin typeface="Helvetica World"/>
                <a:ea typeface="Helvetica World"/>
                <a:cs typeface="Helvetica World"/>
                <a:sym typeface="Helvetica World"/>
              </a:rPr>
              <a:t>Gemma 4 is employed via a </a:t>
            </a:r>
            <a:r>
              <a:rPr lang="en-US" b="true" sz="1000" spc="10">
                <a:solidFill>
                  <a:srgbClr val="FF66C4"/>
                </a:solidFill>
                <a:latin typeface="Helvetica World Bold"/>
                <a:ea typeface="Helvetica World Bold"/>
                <a:cs typeface="Helvetica World Bold"/>
                <a:sym typeface="Helvetica World Bold"/>
              </a:rPr>
              <a:t>two-stage pipeline:</a:t>
            </a:r>
            <a:r>
              <a:rPr lang="en-US" sz="1000" spc="10">
                <a:solidFill>
                  <a:srgbClr val="FF66C4"/>
                </a:solidFill>
                <a:latin typeface="Helvetica World"/>
                <a:ea typeface="Helvetica World"/>
                <a:cs typeface="Helvetica World"/>
                <a:sym typeface="Helvetica World"/>
              </a:rPr>
              <a:t> </a:t>
            </a:r>
            <a:r>
              <a:rPr lang="en-US" b="true" sz="1000" spc="10">
                <a:solidFill>
                  <a:srgbClr val="FF66C4"/>
                </a:solidFill>
                <a:latin typeface="Helvetica World Bold"/>
                <a:ea typeface="Helvetica World Bold"/>
                <a:cs typeface="Helvetica World Bold"/>
                <a:sym typeface="Helvetica World Bold"/>
              </a:rPr>
              <a:t>Stage 1</a:t>
            </a:r>
            <a:r>
              <a:rPr lang="en-US" sz="1000" spc="10">
                <a:solidFill>
                  <a:srgbClr val="FF66C4"/>
                </a:solidFill>
                <a:latin typeface="Helvetica World"/>
                <a:ea typeface="Helvetica World"/>
                <a:cs typeface="Helvetica World"/>
                <a:sym typeface="Helvetica World"/>
              </a:rPr>
              <a:t> -- image + domain prompt (e.g. descriptive, story) -&gt; Gemma returns visual analysis. </a:t>
            </a:r>
            <a:r>
              <a:rPr lang="en-US" b="true" sz="1000" spc="10">
                <a:solidFill>
                  <a:srgbClr val="FF66C4"/>
                </a:solidFill>
                <a:latin typeface="Helvetica World Bold"/>
                <a:ea typeface="Helvetica World Bold"/>
                <a:cs typeface="Helvetica World Bold"/>
                <a:sym typeface="Helvetica World Bold"/>
              </a:rPr>
              <a:t>Stage 2</a:t>
            </a:r>
            <a:r>
              <a:rPr lang="en-US" sz="1000" spc="10">
                <a:solidFill>
                  <a:srgbClr val="FF66C4"/>
                </a:solidFill>
                <a:latin typeface="Helvetica World"/>
                <a:ea typeface="Helvetica World"/>
                <a:cs typeface="Helvetica World"/>
                <a:sym typeface="Helvetica World"/>
              </a:rPr>
              <a:t> -- analysis + text generation prompt -&gt; Gemma produces the final text which streams to frontend via SSE.</a:t>
            </a:r>
          </a:p>
        </p:txBody>
      </p:sp>
      <p:sp>
        <p:nvSpPr>
          <p:cNvPr name="TextBox 15" id="15"/>
          <p:cNvSpPr txBox="true"/>
          <p:nvPr/>
        </p:nvSpPr>
        <p:spPr>
          <a:xfrm rot="0">
            <a:off x="966949" y="7051905"/>
            <a:ext cx="729592" cy="277336"/>
          </a:xfrm>
          <a:prstGeom prst="rect">
            <a:avLst/>
          </a:prstGeom>
        </p:spPr>
        <p:txBody>
          <a:bodyPr anchor="t" rtlCol="false" tIns="0" lIns="0" bIns="0" rIns="0">
            <a:spAutoFit/>
          </a:bodyPr>
          <a:lstStyle/>
          <a:p>
            <a:pPr algn="l">
              <a:lnSpc>
                <a:spcPts val="2533"/>
              </a:lnSpc>
            </a:pPr>
            <a:r>
              <a:rPr lang="en-US" sz="1055">
                <a:solidFill>
                  <a:srgbClr val="FF66C4"/>
                </a:solidFill>
                <a:latin typeface="Helvetica World"/>
                <a:ea typeface="Helvetica World"/>
                <a:cs typeface="Helvetica World"/>
                <a:sym typeface="Helvetica World"/>
              </a:rPr>
              <a:t>License</a:t>
            </a:r>
          </a:p>
        </p:txBody>
      </p:sp>
      <p:sp>
        <p:nvSpPr>
          <p:cNvPr name="TextBox 16" id="16"/>
          <p:cNvSpPr txBox="true"/>
          <p:nvPr/>
        </p:nvSpPr>
        <p:spPr>
          <a:xfrm rot="0">
            <a:off x="2183898" y="10370487"/>
            <a:ext cx="2581440" cy="165174"/>
          </a:xfrm>
          <a:prstGeom prst="rect">
            <a:avLst/>
          </a:prstGeom>
        </p:spPr>
        <p:txBody>
          <a:bodyPr anchor="t" rtlCol="false" tIns="0" lIns="0" bIns="0" rIns="0">
            <a:spAutoFit/>
          </a:bodyPr>
          <a:lstStyle/>
          <a:p>
            <a:pPr algn="l">
              <a:lnSpc>
                <a:spcPts val="1399"/>
              </a:lnSpc>
            </a:pPr>
            <a:r>
              <a:rPr lang="en-US" sz="999">
                <a:solidFill>
                  <a:srgbClr val="B71C1C"/>
                </a:solidFill>
                <a:latin typeface="Helvetica World"/>
                <a:ea typeface="Helvetica World"/>
                <a:cs typeface="Helvetica World"/>
                <a:sym typeface="Helvetica World"/>
              </a:rPr>
              <a:t>Picture Alive AI -- Project Profile Document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58679" y="1165527"/>
            <a:ext cx="5842654" cy="19050"/>
            <a:chOff x="0" y="0"/>
            <a:chExt cx="5842648" cy="19050"/>
          </a:xfrm>
        </p:grpSpPr>
        <p:sp>
          <p:nvSpPr>
            <p:cNvPr name="Freeform 3" id="3"/>
            <p:cNvSpPr/>
            <p:nvPr/>
          </p:nvSpPr>
          <p:spPr>
            <a:xfrm flipH="false" flipV="false" rot="0">
              <a:off x="0" y="0"/>
              <a:ext cx="5842633" cy="19050"/>
            </a:xfrm>
            <a:custGeom>
              <a:avLst/>
              <a:gdLst/>
              <a:ahLst/>
              <a:cxnLst/>
              <a:rect r="r" b="b" t="t" l="l"/>
              <a:pathLst>
                <a:path h="19050" w="5842633">
                  <a:moveTo>
                    <a:pt x="9525" y="0"/>
                  </a:moveTo>
                  <a:lnTo>
                    <a:pt x="5833108" y="0"/>
                  </a:lnTo>
                  <a:cubicBezTo>
                    <a:pt x="5838315" y="0"/>
                    <a:pt x="5842633" y="4318"/>
                    <a:pt x="5842633" y="9525"/>
                  </a:cubicBezTo>
                  <a:cubicBezTo>
                    <a:pt x="5842633" y="14732"/>
                    <a:pt x="5838315" y="19050"/>
                    <a:pt x="5833108" y="19050"/>
                  </a:cubicBezTo>
                  <a:lnTo>
                    <a:pt x="9525" y="19050"/>
                  </a:lnTo>
                  <a:cubicBezTo>
                    <a:pt x="4318" y="19050"/>
                    <a:pt x="0" y="14732"/>
                    <a:pt x="0" y="9525"/>
                  </a:cubicBezTo>
                  <a:cubicBezTo>
                    <a:pt x="0" y="4318"/>
                    <a:pt x="4318" y="0"/>
                    <a:pt x="9525" y="0"/>
                  </a:cubicBezTo>
                  <a:close/>
                </a:path>
              </a:pathLst>
            </a:custGeom>
            <a:solidFill>
              <a:srgbClr val="B71C1C"/>
            </a:solidFill>
          </p:spPr>
        </p:sp>
      </p:grpSp>
      <p:grpSp>
        <p:nvGrpSpPr>
          <p:cNvPr name="Group 4" id="4"/>
          <p:cNvGrpSpPr/>
          <p:nvPr/>
        </p:nvGrpSpPr>
        <p:grpSpPr>
          <a:xfrm rot="0">
            <a:off x="858679" y="7897435"/>
            <a:ext cx="5842654" cy="19050"/>
            <a:chOff x="0" y="0"/>
            <a:chExt cx="5842648" cy="19050"/>
          </a:xfrm>
        </p:grpSpPr>
        <p:sp>
          <p:nvSpPr>
            <p:cNvPr name="Freeform 5" id="5"/>
            <p:cNvSpPr/>
            <p:nvPr/>
          </p:nvSpPr>
          <p:spPr>
            <a:xfrm flipH="false" flipV="false" rot="0">
              <a:off x="0" y="0"/>
              <a:ext cx="5842633" cy="19050"/>
            </a:xfrm>
            <a:custGeom>
              <a:avLst/>
              <a:gdLst/>
              <a:ahLst/>
              <a:cxnLst/>
              <a:rect r="r" b="b" t="t" l="l"/>
              <a:pathLst>
                <a:path h="19050" w="5842633">
                  <a:moveTo>
                    <a:pt x="9525" y="0"/>
                  </a:moveTo>
                  <a:lnTo>
                    <a:pt x="5833108" y="0"/>
                  </a:lnTo>
                  <a:cubicBezTo>
                    <a:pt x="5838315" y="0"/>
                    <a:pt x="5842633" y="4318"/>
                    <a:pt x="5842633" y="9525"/>
                  </a:cubicBezTo>
                  <a:cubicBezTo>
                    <a:pt x="5842633" y="14732"/>
                    <a:pt x="5838315" y="19050"/>
                    <a:pt x="5833108" y="19050"/>
                  </a:cubicBezTo>
                  <a:lnTo>
                    <a:pt x="9525" y="19050"/>
                  </a:lnTo>
                  <a:cubicBezTo>
                    <a:pt x="4318" y="19050"/>
                    <a:pt x="0" y="14732"/>
                    <a:pt x="0" y="9525"/>
                  </a:cubicBezTo>
                  <a:cubicBezTo>
                    <a:pt x="0" y="4318"/>
                    <a:pt x="4318" y="0"/>
                    <a:pt x="9525" y="0"/>
                  </a:cubicBezTo>
                  <a:close/>
                </a:path>
              </a:pathLst>
            </a:custGeom>
            <a:solidFill>
              <a:srgbClr val="B71C1C"/>
            </a:solidFill>
          </p:spPr>
        </p:sp>
      </p:grpSp>
      <p:sp>
        <p:nvSpPr>
          <p:cNvPr name="Freeform 6" id="6"/>
          <p:cNvSpPr/>
          <p:nvPr/>
        </p:nvSpPr>
        <p:spPr>
          <a:xfrm flipH="false" flipV="false" rot="0">
            <a:off x="1465005" y="8397403"/>
            <a:ext cx="4310570" cy="2040605"/>
          </a:xfrm>
          <a:custGeom>
            <a:avLst/>
            <a:gdLst/>
            <a:ahLst/>
            <a:cxnLst/>
            <a:rect r="r" b="b" t="t" l="l"/>
            <a:pathLst>
              <a:path h="2040605" w="4310570">
                <a:moveTo>
                  <a:pt x="0" y="0"/>
                </a:moveTo>
                <a:lnTo>
                  <a:pt x="4310570" y="0"/>
                </a:lnTo>
                <a:lnTo>
                  <a:pt x="4310570" y="2040605"/>
                </a:lnTo>
                <a:lnTo>
                  <a:pt x="0" y="2040605"/>
                </a:lnTo>
                <a:lnTo>
                  <a:pt x="0" y="0"/>
                </a:lnTo>
                <a:close/>
              </a:path>
            </a:pathLst>
          </a:custGeom>
          <a:blipFill>
            <a:blip r:embed="rId2"/>
            <a:stretch>
              <a:fillRect l="0" t="0" r="0" b="0"/>
            </a:stretch>
          </a:blipFill>
        </p:spPr>
      </p:sp>
      <p:sp>
        <p:nvSpPr>
          <p:cNvPr name="TextBox 7" id="7"/>
          <p:cNvSpPr txBox="true"/>
          <p:nvPr/>
        </p:nvSpPr>
        <p:spPr>
          <a:xfrm rot="0">
            <a:off x="2193445" y="7945060"/>
            <a:ext cx="3327043" cy="366618"/>
          </a:xfrm>
          <a:prstGeom prst="rect">
            <a:avLst/>
          </a:prstGeom>
        </p:spPr>
        <p:txBody>
          <a:bodyPr anchor="t" rtlCol="false" tIns="0" lIns="0" bIns="0" rIns="0">
            <a:spAutoFit/>
          </a:bodyPr>
          <a:lstStyle/>
          <a:p>
            <a:pPr algn="ctr">
              <a:lnSpc>
                <a:spcPts val="1000"/>
              </a:lnSpc>
            </a:pPr>
            <a:r>
              <a:rPr lang="en-US" sz="800">
                <a:solidFill>
                  <a:srgbClr val="999999"/>
                </a:solidFill>
                <a:latin typeface="Helvetica World"/>
                <a:ea typeface="Helvetica World"/>
                <a:cs typeface="Helvetica World"/>
                <a:sym typeface="Helvetica World"/>
              </a:rPr>
              <a:t>Picture Alive AI • 2026 AMD AI DevMaster Radeon GPU Hackathon • Track 1 •July 14 - August 6, 2026  </a:t>
            </a:r>
          </a:p>
          <a:p>
            <a:pPr algn="ctr">
              <a:lnSpc>
                <a:spcPts val="1000"/>
              </a:lnSpc>
            </a:pPr>
            <a:r>
              <a:rPr lang="en-US" sz="800">
                <a:solidFill>
                  <a:srgbClr val="999999"/>
                </a:solidFill>
                <a:latin typeface="Helvetica World"/>
                <a:ea typeface="Helvetica World"/>
                <a:cs typeface="Helvetica World"/>
                <a:sym typeface="Helvetica World"/>
              </a:rPr>
              <a:t>github.com/Poppenspel-Advies/picture-alive-ai</a:t>
            </a:r>
          </a:p>
        </p:txBody>
      </p:sp>
      <p:sp>
        <p:nvSpPr>
          <p:cNvPr name="TextBox 8" id="8"/>
          <p:cNvSpPr txBox="true"/>
          <p:nvPr/>
        </p:nvSpPr>
        <p:spPr>
          <a:xfrm rot="0">
            <a:off x="868204" y="567814"/>
            <a:ext cx="5940076" cy="1630606"/>
          </a:xfrm>
          <a:prstGeom prst="rect">
            <a:avLst/>
          </a:prstGeom>
        </p:spPr>
        <p:txBody>
          <a:bodyPr anchor="t" rtlCol="false" tIns="0" lIns="0" bIns="0" rIns="0">
            <a:spAutoFit/>
          </a:bodyPr>
          <a:lstStyle/>
          <a:p>
            <a:pPr algn="just">
              <a:lnSpc>
                <a:spcPts val="3000"/>
              </a:lnSpc>
            </a:pPr>
            <a:r>
              <a:rPr lang="en-US" b="true" sz="2000">
                <a:solidFill>
                  <a:srgbClr val="B71C1C"/>
                </a:solidFill>
                <a:latin typeface="Helvetica World Bold"/>
                <a:ea typeface="Helvetica World Bold"/>
                <a:cs typeface="Helvetica World Bold"/>
                <a:sym typeface="Helvetica World Bold"/>
              </a:rPr>
              <a:t>5. Adaptation for AMD Radeon GPU / ROCm</a:t>
            </a:r>
          </a:p>
          <a:p>
            <a:pPr algn="just">
              <a:lnSpc>
                <a:spcPts val="3000"/>
              </a:lnSpc>
            </a:pPr>
          </a:p>
          <a:p>
            <a:pPr algn="just">
              <a:lnSpc>
                <a:spcPts val="1500"/>
              </a:lnSpc>
            </a:pPr>
            <a:r>
              <a:rPr lang="en-US" sz="1000" spc="8">
                <a:solidFill>
                  <a:srgbClr val="FF66C4"/>
                </a:solidFill>
                <a:latin typeface="Helvetica World"/>
                <a:ea typeface="Helvetica World"/>
                <a:cs typeface="Helvetica World"/>
                <a:sym typeface="Helvetica World"/>
              </a:rPr>
              <a:t>Picture Alive AI is built for AMD Radeon hardware and accelerated through the ROCm software stack. The entire backend inference path takes advantage of GPU acceleration for compute-intensive audio synthesis.</a:t>
            </a:r>
          </a:p>
          <a:p>
            <a:pPr algn="just">
              <a:lnSpc>
                <a:spcPts val="2099"/>
              </a:lnSpc>
            </a:pPr>
            <a:r>
              <a:rPr lang="en-US" b="true" sz="1399">
                <a:solidFill>
                  <a:srgbClr val="FF66C4"/>
                </a:solidFill>
                <a:latin typeface="Helvetica World Bold"/>
                <a:ea typeface="Helvetica World Bold"/>
                <a:cs typeface="Helvetica World Bold"/>
                <a:sym typeface="Helvetica World Bold"/>
              </a:rPr>
              <a:t>Kokoro-82M on AMD Radeon GPU</a:t>
            </a:r>
          </a:p>
        </p:txBody>
      </p:sp>
      <p:sp>
        <p:nvSpPr>
          <p:cNvPr name="TextBox 9" id="9"/>
          <p:cNvSpPr txBox="true"/>
          <p:nvPr/>
        </p:nvSpPr>
        <p:spPr>
          <a:xfrm rot="0">
            <a:off x="969797" y="2181949"/>
            <a:ext cx="45339" cy="1311764"/>
          </a:xfrm>
          <a:prstGeom prst="rect">
            <a:avLst/>
          </a:prstGeom>
        </p:spPr>
        <p:txBody>
          <a:bodyPr anchor="t" rtlCol="false" tIns="0" lIns="0" bIns="0" rIns="0">
            <a:spAutoFit/>
          </a:bodyPr>
          <a:lstStyle/>
          <a:p>
            <a:pPr algn="just">
              <a:lnSpc>
                <a:spcPts val="2000"/>
              </a:lnSpc>
            </a:pPr>
            <a:r>
              <a:rPr lang="en-US" sz="1000">
                <a:solidFill>
                  <a:srgbClr val="FF66C4"/>
                </a:solidFill>
                <a:latin typeface="Helvetica World"/>
                <a:ea typeface="Helvetica World"/>
                <a:cs typeface="Helvetica World"/>
                <a:sym typeface="Helvetica World"/>
              </a:rPr>
              <a:t>• • • • •</a:t>
            </a:r>
          </a:p>
        </p:txBody>
      </p:sp>
      <p:sp>
        <p:nvSpPr>
          <p:cNvPr name="TextBox 10" id="10"/>
          <p:cNvSpPr txBox="true"/>
          <p:nvPr/>
        </p:nvSpPr>
        <p:spPr>
          <a:xfrm rot="0">
            <a:off x="969797" y="4290146"/>
            <a:ext cx="45339" cy="549764"/>
          </a:xfrm>
          <a:prstGeom prst="rect">
            <a:avLst/>
          </a:prstGeom>
        </p:spPr>
        <p:txBody>
          <a:bodyPr anchor="t" rtlCol="false" tIns="0" lIns="0" bIns="0" rIns="0">
            <a:spAutoFit/>
          </a:bodyPr>
          <a:lstStyle/>
          <a:p>
            <a:pPr algn="just">
              <a:lnSpc>
                <a:spcPts val="2000"/>
              </a:lnSpc>
            </a:pPr>
            <a:r>
              <a:rPr lang="en-US" sz="1000">
                <a:solidFill>
                  <a:srgbClr val="FF66C4"/>
                </a:solidFill>
                <a:latin typeface="Helvetica World"/>
                <a:ea typeface="Helvetica World"/>
                <a:cs typeface="Helvetica World"/>
                <a:sym typeface="Helvetica World"/>
              </a:rPr>
              <a:t>• •</a:t>
            </a:r>
          </a:p>
        </p:txBody>
      </p:sp>
      <p:sp>
        <p:nvSpPr>
          <p:cNvPr name="TextBox 11" id="11"/>
          <p:cNvSpPr txBox="true"/>
          <p:nvPr/>
        </p:nvSpPr>
        <p:spPr>
          <a:xfrm rot="0">
            <a:off x="969797" y="5191849"/>
            <a:ext cx="45339" cy="803767"/>
          </a:xfrm>
          <a:prstGeom prst="rect">
            <a:avLst/>
          </a:prstGeom>
        </p:spPr>
        <p:txBody>
          <a:bodyPr anchor="t" rtlCol="false" tIns="0" lIns="0" bIns="0" rIns="0">
            <a:spAutoFit/>
          </a:bodyPr>
          <a:lstStyle/>
          <a:p>
            <a:pPr algn="just">
              <a:lnSpc>
                <a:spcPts val="2000"/>
              </a:lnSpc>
            </a:pPr>
            <a:r>
              <a:rPr lang="en-US" sz="1000">
                <a:solidFill>
                  <a:srgbClr val="FF66C4"/>
                </a:solidFill>
                <a:latin typeface="Helvetica World"/>
                <a:ea typeface="Helvetica World"/>
                <a:cs typeface="Helvetica World"/>
                <a:sym typeface="Helvetica World"/>
              </a:rPr>
              <a:t>• • •</a:t>
            </a:r>
          </a:p>
        </p:txBody>
      </p:sp>
      <p:sp>
        <p:nvSpPr>
          <p:cNvPr name="TextBox 12" id="12"/>
          <p:cNvSpPr txBox="true"/>
          <p:nvPr/>
        </p:nvSpPr>
        <p:spPr>
          <a:xfrm rot="0">
            <a:off x="969797" y="6347546"/>
            <a:ext cx="45339" cy="1311764"/>
          </a:xfrm>
          <a:prstGeom prst="rect">
            <a:avLst/>
          </a:prstGeom>
        </p:spPr>
        <p:txBody>
          <a:bodyPr anchor="t" rtlCol="false" tIns="0" lIns="0" bIns="0" rIns="0">
            <a:spAutoFit/>
          </a:bodyPr>
          <a:lstStyle/>
          <a:p>
            <a:pPr algn="just">
              <a:lnSpc>
                <a:spcPts val="2000"/>
              </a:lnSpc>
            </a:pPr>
            <a:r>
              <a:rPr lang="en-US" sz="1000">
                <a:solidFill>
                  <a:srgbClr val="FF66C4"/>
                </a:solidFill>
                <a:latin typeface="Helvetica World"/>
                <a:ea typeface="Helvetica World"/>
                <a:cs typeface="Helvetica World"/>
                <a:sym typeface="Helvetica World"/>
              </a:rPr>
              <a:t>• • • • •</a:t>
            </a:r>
          </a:p>
        </p:txBody>
      </p:sp>
      <p:sp>
        <p:nvSpPr>
          <p:cNvPr name="TextBox 13" id="13"/>
          <p:cNvSpPr txBox="true"/>
          <p:nvPr/>
        </p:nvSpPr>
        <p:spPr>
          <a:xfrm rot="0">
            <a:off x="1147601" y="6322905"/>
            <a:ext cx="6412399" cy="1529333"/>
          </a:xfrm>
          <a:prstGeom prst="rect">
            <a:avLst/>
          </a:prstGeom>
        </p:spPr>
        <p:txBody>
          <a:bodyPr anchor="t" rtlCol="false" tIns="0" lIns="0" bIns="0" rIns="0">
            <a:spAutoFit/>
          </a:bodyPr>
          <a:lstStyle/>
          <a:p>
            <a:pPr algn="l">
              <a:lnSpc>
                <a:spcPts val="2000"/>
              </a:lnSpc>
            </a:pPr>
            <a:r>
              <a:rPr lang="en-US" b="true" sz="1000">
                <a:solidFill>
                  <a:srgbClr val="FF66C4"/>
                </a:solidFill>
                <a:latin typeface="Helvetica World Bold"/>
                <a:ea typeface="Helvetica World Bold"/>
                <a:cs typeface="Helvetica World Bold"/>
                <a:sym typeface="Helvetica World Bold"/>
              </a:rPr>
              <a:t>Zero cost</a:t>
            </a:r>
            <a:r>
              <a:rPr lang="en-US" sz="1000">
                <a:solidFill>
                  <a:srgbClr val="FF66C4"/>
                </a:solidFill>
                <a:latin typeface="Helvetica World"/>
                <a:ea typeface="Helvetica World"/>
                <a:cs typeface="Helvetica World"/>
                <a:sym typeface="Helvetica World"/>
              </a:rPr>
              <a:t> after free credits: Gemma free tier, Kokoro open source.</a:t>
            </a:r>
          </a:p>
          <a:p>
            <a:pPr algn="l">
              <a:lnSpc>
                <a:spcPts val="2000"/>
              </a:lnSpc>
            </a:pPr>
            <a:r>
              <a:rPr lang="en-US" b="true" sz="1000">
                <a:solidFill>
                  <a:srgbClr val="FF66C4"/>
                </a:solidFill>
                <a:latin typeface="Helvetica World Bold"/>
                <a:ea typeface="Helvetica World Bold"/>
                <a:cs typeface="Helvetica World Bold"/>
                <a:sym typeface="Helvetica World Bold"/>
              </a:rPr>
              <a:t>Low latency</a:t>
            </a:r>
            <a:r>
              <a:rPr lang="en-US" sz="1000">
                <a:solidFill>
                  <a:srgbClr val="FF66C4"/>
                </a:solidFill>
                <a:latin typeface="Helvetica World"/>
                <a:ea typeface="Helvetica World"/>
                <a:cs typeface="Helvetica World"/>
                <a:sym typeface="Helvetica World"/>
              </a:rPr>
              <a:t>: &lt; 1s TTS per sentence on GPU.</a:t>
            </a:r>
          </a:p>
          <a:p>
            <a:pPr algn="l">
              <a:lnSpc>
                <a:spcPts val="2000"/>
              </a:lnSpc>
            </a:pPr>
            <a:r>
              <a:rPr lang="en-US" b="true" sz="1000">
                <a:solidFill>
                  <a:srgbClr val="FF66C4"/>
                </a:solidFill>
                <a:latin typeface="Helvetica World Bold"/>
                <a:ea typeface="Helvetica World Bold"/>
                <a:cs typeface="Helvetica World Bold"/>
                <a:sym typeface="Helvetica World Bold"/>
              </a:rPr>
              <a:t>Unlimited usage</a:t>
            </a:r>
            <a:r>
              <a:rPr lang="en-US" sz="1000">
                <a:solidFill>
                  <a:srgbClr val="FF66C4"/>
                </a:solidFill>
                <a:latin typeface="Helvetica World"/>
                <a:ea typeface="Helvetica World"/>
                <a:cs typeface="Helvetica World"/>
                <a:sym typeface="Helvetica World"/>
              </a:rPr>
              <a:t>: Kokoro runs offline, no API billing.</a:t>
            </a:r>
          </a:p>
          <a:p>
            <a:pPr algn="l">
              <a:lnSpc>
                <a:spcPts val="2000"/>
              </a:lnSpc>
            </a:pPr>
            <a:r>
              <a:rPr lang="en-US" b="true" sz="1000">
                <a:solidFill>
                  <a:srgbClr val="FF66C4"/>
                </a:solidFill>
                <a:latin typeface="Helvetica World Bold"/>
                <a:ea typeface="Helvetica World Bold"/>
                <a:cs typeface="Helvetica World Bold"/>
                <a:sym typeface="Helvetica World Bold"/>
              </a:rPr>
              <a:t>AMD-native</a:t>
            </a:r>
            <a:r>
              <a:rPr lang="en-US" sz="1000">
                <a:solidFill>
                  <a:srgbClr val="FF66C4"/>
                </a:solidFill>
                <a:latin typeface="Helvetica World"/>
                <a:ea typeface="Helvetica World"/>
                <a:cs typeface="Helvetica World"/>
                <a:sym typeface="Helvetica World"/>
              </a:rPr>
              <a:t>: no NVIDIA lock-in, full GPU-acceleration via ROCm.</a:t>
            </a:r>
          </a:p>
          <a:p>
            <a:pPr algn="l">
              <a:lnSpc>
                <a:spcPts val="1999"/>
              </a:lnSpc>
            </a:pPr>
            <a:r>
              <a:rPr lang="en-US" b="true" sz="999">
                <a:solidFill>
                  <a:srgbClr val="FF66C4"/>
                </a:solidFill>
                <a:latin typeface="Helvetica World Bold"/>
                <a:ea typeface="Helvetica World Bold"/>
                <a:cs typeface="Helvetica World Bold"/>
                <a:sym typeface="Helvetica World Bold"/>
              </a:rPr>
              <a:t>Future roadmap</a:t>
            </a:r>
            <a:r>
              <a:rPr lang="en-US" sz="999">
                <a:solidFill>
                  <a:srgbClr val="FF66C4"/>
                </a:solidFill>
                <a:latin typeface="Helvetica World"/>
                <a:ea typeface="Helvetica World"/>
                <a:cs typeface="Helvetica World"/>
                <a:sym typeface="Helvetica World"/>
              </a:rPr>
              <a:t>: image-to-video (Wan 2.2/LTX) on AMD GPU for Creative Studio.</a:t>
            </a:r>
          </a:p>
          <a:p>
            <a:pPr algn="l">
              <a:lnSpc>
                <a:spcPts val="2000"/>
              </a:lnSpc>
            </a:pPr>
            <a:r>
              <a:rPr lang="en-US" sz="1000">
                <a:solidFill>
                  <a:srgbClr val="FF66C4"/>
                </a:solidFill>
                <a:latin typeface="Helvetica World"/>
                <a:ea typeface="Helvetica World"/>
                <a:cs typeface="Helvetica World"/>
                <a:sym typeface="Helvetica World"/>
              </a:rPr>
              <a:t>Google Login and Logout , Sample Response , Download, Share features are additional integration in application.</a:t>
            </a:r>
          </a:p>
        </p:txBody>
      </p:sp>
      <p:sp>
        <p:nvSpPr>
          <p:cNvPr name="TextBox 14" id="14"/>
          <p:cNvSpPr txBox="true"/>
          <p:nvPr/>
        </p:nvSpPr>
        <p:spPr>
          <a:xfrm rot="0">
            <a:off x="1147601" y="3893277"/>
            <a:ext cx="5270078" cy="946642"/>
          </a:xfrm>
          <a:prstGeom prst="rect">
            <a:avLst/>
          </a:prstGeom>
        </p:spPr>
        <p:txBody>
          <a:bodyPr anchor="t" rtlCol="false" tIns="0" lIns="0" bIns="0" rIns="0">
            <a:spAutoFit/>
          </a:bodyPr>
          <a:lstStyle/>
          <a:p>
            <a:pPr algn="l">
              <a:lnSpc>
                <a:spcPts val="1500"/>
              </a:lnSpc>
            </a:pPr>
            <a:r>
              <a:rPr lang="en-US" sz="1000">
                <a:solidFill>
                  <a:srgbClr val="FF66C4"/>
                </a:solidFill>
                <a:latin typeface="Helvetica World"/>
                <a:ea typeface="Helvetica World"/>
                <a:cs typeface="Helvetica World"/>
                <a:sym typeface="Helvetica World"/>
              </a:rPr>
              <a:t>Gemma accesses Google AI Studio API on cloud infrastructure; optionally AMD-accelerated nodes.</a:t>
            </a:r>
          </a:p>
          <a:p>
            <a:pPr algn="l">
              <a:lnSpc>
                <a:spcPts val="2500"/>
              </a:lnSpc>
            </a:pPr>
            <a:r>
              <a:rPr lang="en-US" sz="1000">
                <a:solidFill>
                  <a:srgbClr val="FF66C4"/>
                </a:solidFill>
                <a:latin typeface="Helvetica World"/>
                <a:ea typeface="Helvetica World"/>
                <a:cs typeface="Helvetica World"/>
                <a:sym typeface="Helvetica World"/>
              </a:rPr>
              <a:t>4B active per forward pass -- suitable for both cloud and local ROCm deployment.</a:t>
            </a:r>
          </a:p>
          <a:p>
            <a:pPr algn="l">
              <a:lnSpc>
                <a:spcPts val="1500"/>
              </a:lnSpc>
            </a:pPr>
            <a:r>
              <a:rPr lang="en-US" sz="1000">
                <a:solidFill>
                  <a:srgbClr val="FF66C4"/>
                </a:solidFill>
                <a:latin typeface="Helvetica World"/>
                <a:ea typeface="Helvetica World"/>
                <a:cs typeface="Helvetica World"/>
                <a:sym typeface="Helvetica World"/>
              </a:rPr>
              <a:t>Backend calls inference.googleapis.com/v1/models/gemma-4 with API key.</a:t>
            </a:r>
          </a:p>
        </p:txBody>
      </p:sp>
      <p:sp>
        <p:nvSpPr>
          <p:cNvPr name="TextBox 15" id="15"/>
          <p:cNvSpPr txBox="true"/>
          <p:nvPr/>
        </p:nvSpPr>
        <p:spPr>
          <a:xfrm rot="0">
            <a:off x="1147601" y="5201374"/>
            <a:ext cx="6412399" cy="729345"/>
          </a:xfrm>
          <a:prstGeom prst="rect">
            <a:avLst/>
          </a:prstGeom>
        </p:spPr>
        <p:txBody>
          <a:bodyPr anchor="t" rtlCol="false" tIns="0" lIns="0" bIns="0" rIns="0">
            <a:spAutoFit/>
          </a:bodyPr>
          <a:lstStyle/>
          <a:p>
            <a:pPr algn="l">
              <a:lnSpc>
                <a:spcPts val="1999"/>
              </a:lnSpc>
            </a:pPr>
            <a:r>
              <a:rPr lang="en-US" sz="999">
                <a:solidFill>
                  <a:srgbClr val="FF66C4"/>
                </a:solidFill>
                <a:latin typeface="Helvetica World"/>
                <a:ea typeface="Helvetica World"/>
                <a:cs typeface="Helvetica World"/>
                <a:sym typeface="Helvetica World"/>
              </a:rPr>
              <a:t>Deployed in </a:t>
            </a:r>
            <a:r>
              <a:rPr lang="en-US" b="true" sz="999">
                <a:solidFill>
                  <a:srgbClr val="FF66C4"/>
                </a:solidFill>
                <a:latin typeface="Helvetica World Bold"/>
                <a:ea typeface="Helvetica World Bold"/>
                <a:cs typeface="Helvetica World Bold"/>
                <a:sym typeface="Helvetica World Bold"/>
              </a:rPr>
              <a:t>Radeon Cloud  GPU via Public URL Deployment for Public Web URL. </a:t>
            </a:r>
          </a:p>
          <a:p>
            <a:pPr algn="l">
              <a:lnSpc>
                <a:spcPts val="2000"/>
              </a:lnSpc>
            </a:pPr>
            <a:r>
              <a:rPr lang="en-US" sz="1000">
                <a:solidFill>
                  <a:srgbClr val="FF66C4"/>
                </a:solidFill>
                <a:latin typeface="Helvetica World"/>
                <a:ea typeface="Helvetica World"/>
                <a:cs typeface="Helvetica World"/>
                <a:sym typeface="Helvetica World"/>
              </a:rPr>
              <a:t>Command: python -m uvicorn main:app --host 0.0.0.0 --port 8000 (0=t bound to all interfaces), for Backend server. Graceful CPU fallback when no GPU detected.</a:t>
            </a:r>
          </a:p>
        </p:txBody>
      </p:sp>
      <p:sp>
        <p:nvSpPr>
          <p:cNvPr name="TextBox 16" id="16"/>
          <p:cNvSpPr txBox="true"/>
          <p:nvPr/>
        </p:nvSpPr>
        <p:spPr>
          <a:xfrm rot="0">
            <a:off x="1147601" y="2181949"/>
            <a:ext cx="5568667" cy="1222189"/>
          </a:xfrm>
          <a:prstGeom prst="rect">
            <a:avLst/>
          </a:prstGeom>
        </p:spPr>
        <p:txBody>
          <a:bodyPr anchor="t" rtlCol="false" tIns="0" lIns="0" bIns="0" rIns="0">
            <a:spAutoFit/>
          </a:bodyPr>
          <a:lstStyle/>
          <a:p>
            <a:pPr algn="l">
              <a:lnSpc>
                <a:spcPts val="2000"/>
              </a:lnSpc>
            </a:pPr>
            <a:r>
              <a:rPr lang="en-US" sz="1000">
                <a:solidFill>
                  <a:srgbClr val="FF66C4"/>
                </a:solidFill>
                <a:latin typeface="Helvetica World"/>
                <a:ea typeface="Helvetica World"/>
                <a:cs typeface="Helvetica World"/>
                <a:sym typeface="Helvetica World"/>
              </a:rPr>
              <a:t>Audio pipeline runs on-device on AMD Radeon GPU via ROCm 6.0+ &amp; PyTorch ROCm backend. Curated-transformers architecture works natively on AMD CDNA/RDNA GPUs.</a:t>
            </a:r>
          </a:p>
          <a:p>
            <a:pPr algn="l">
              <a:lnSpc>
                <a:spcPts val="2000"/>
              </a:lnSpc>
            </a:pPr>
            <a:r>
              <a:rPr lang="en-US" sz="1000">
                <a:solidFill>
                  <a:srgbClr val="FF66C4"/>
                </a:solidFill>
                <a:latin typeface="Helvetica World"/>
                <a:ea typeface="Helvetica World"/>
                <a:cs typeface="Helvetica World"/>
                <a:sym typeface="Helvetica World"/>
              </a:rPr>
              <a:t>Install ROCm, then: pip install torch --index-url https://download.pytorch.org/whl/rocm6.0</a:t>
            </a:r>
          </a:p>
          <a:p>
            <a:pPr algn="l">
              <a:lnSpc>
                <a:spcPts val="2000"/>
              </a:lnSpc>
            </a:pPr>
            <a:r>
              <a:rPr lang="en-US" sz="1000">
                <a:solidFill>
                  <a:srgbClr val="FF66C4"/>
                </a:solidFill>
                <a:latin typeface="Helvetica World"/>
                <a:ea typeface="Helvetica World"/>
                <a:cs typeface="Helvetica World"/>
                <a:sym typeface="Helvetica World"/>
              </a:rPr>
              <a:t>Runtime: torch.cuda.is_available() returns True, KPipeline auto-routes to GPU.</a:t>
            </a:r>
          </a:p>
          <a:p>
            <a:pPr algn="l">
              <a:lnSpc>
                <a:spcPts val="2000"/>
              </a:lnSpc>
            </a:pPr>
            <a:r>
              <a:rPr lang="en-US" sz="1000">
                <a:solidFill>
                  <a:srgbClr val="FF66C4"/>
                </a:solidFill>
                <a:latin typeface="Helvetica World"/>
                <a:ea typeface="Helvetica World"/>
                <a:cs typeface="Helvetica World"/>
                <a:sym typeface="Helvetica World"/>
              </a:rPr>
              <a:t>Less than 1s per sentence; zero NVIDIA or CUDA dependency.</a:t>
            </a:r>
          </a:p>
        </p:txBody>
      </p:sp>
      <p:sp>
        <p:nvSpPr>
          <p:cNvPr name="TextBox 17" id="17"/>
          <p:cNvSpPr txBox="true"/>
          <p:nvPr/>
        </p:nvSpPr>
        <p:spPr>
          <a:xfrm rot="0">
            <a:off x="868204" y="3553511"/>
            <a:ext cx="1471708" cy="349815"/>
          </a:xfrm>
          <a:prstGeom prst="rect">
            <a:avLst/>
          </a:prstGeom>
        </p:spPr>
        <p:txBody>
          <a:bodyPr anchor="t" rtlCol="false" tIns="0" lIns="0" bIns="0" rIns="0">
            <a:spAutoFit/>
          </a:bodyPr>
          <a:lstStyle/>
          <a:p>
            <a:pPr algn="l">
              <a:lnSpc>
                <a:spcPts val="1959"/>
              </a:lnSpc>
            </a:pPr>
            <a:r>
              <a:rPr lang="en-US" b="true" sz="1399">
                <a:solidFill>
                  <a:srgbClr val="FF66C4"/>
                </a:solidFill>
                <a:latin typeface="Helvetica World Bold"/>
                <a:ea typeface="Helvetica World Bold"/>
                <a:cs typeface="Helvetica World Bold"/>
                <a:sym typeface="Helvetica World Bold"/>
              </a:rPr>
              <a:t>Gemma 4 via API</a:t>
            </a:r>
          </a:p>
        </p:txBody>
      </p:sp>
      <p:sp>
        <p:nvSpPr>
          <p:cNvPr name="TextBox 18" id="18"/>
          <p:cNvSpPr txBox="true"/>
          <p:nvPr/>
        </p:nvSpPr>
        <p:spPr>
          <a:xfrm rot="0">
            <a:off x="969797" y="3902802"/>
            <a:ext cx="45339" cy="238611"/>
          </a:xfrm>
          <a:prstGeom prst="rect">
            <a:avLst/>
          </a:prstGeom>
        </p:spPr>
        <p:txBody>
          <a:bodyPr anchor="t" rtlCol="false" tIns="0" lIns="0" bIns="0" rIns="0">
            <a:spAutoFit/>
          </a:bodyPr>
          <a:lstStyle/>
          <a:p>
            <a:pPr algn="l">
              <a:lnSpc>
                <a:spcPts val="1400"/>
              </a:lnSpc>
            </a:pPr>
            <a:r>
              <a:rPr lang="en-US" sz="1000">
                <a:solidFill>
                  <a:srgbClr val="FF66C4"/>
                </a:solidFill>
                <a:latin typeface="Helvetica World"/>
                <a:ea typeface="Helvetica World"/>
                <a:cs typeface="Helvetica World"/>
                <a:sym typeface="Helvetica World"/>
              </a:rPr>
              <a:t>•</a:t>
            </a:r>
          </a:p>
        </p:txBody>
      </p:sp>
      <p:sp>
        <p:nvSpPr>
          <p:cNvPr name="TextBox 19" id="19"/>
          <p:cNvSpPr txBox="true"/>
          <p:nvPr/>
        </p:nvSpPr>
        <p:spPr>
          <a:xfrm rot="0">
            <a:off x="868204" y="6055404"/>
            <a:ext cx="1531734" cy="349815"/>
          </a:xfrm>
          <a:prstGeom prst="rect">
            <a:avLst/>
          </a:prstGeom>
        </p:spPr>
        <p:txBody>
          <a:bodyPr anchor="t" rtlCol="false" tIns="0" lIns="0" bIns="0" rIns="0">
            <a:spAutoFit/>
          </a:bodyPr>
          <a:lstStyle/>
          <a:p>
            <a:pPr algn="l">
              <a:lnSpc>
                <a:spcPts val="1959"/>
              </a:lnSpc>
            </a:pPr>
            <a:r>
              <a:rPr lang="en-US" b="true" sz="1399">
                <a:solidFill>
                  <a:srgbClr val="FF66C4"/>
                </a:solidFill>
                <a:latin typeface="Helvetica World Bold"/>
                <a:ea typeface="Helvetica World Bold"/>
                <a:cs typeface="Helvetica World Bold"/>
                <a:sym typeface="Helvetica World Bold"/>
              </a:rPr>
              <a:t>Impact &amp; Benefits</a:t>
            </a:r>
          </a:p>
        </p:txBody>
      </p:sp>
      <p:sp>
        <p:nvSpPr>
          <p:cNvPr name="TextBox 20" id="20"/>
          <p:cNvSpPr txBox="true"/>
          <p:nvPr/>
        </p:nvSpPr>
        <p:spPr>
          <a:xfrm rot="0">
            <a:off x="868204" y="4899708"/>
            <a:ext cx="3516859" cy="349815"/>
          </a:xfrm>
          <a:prstGeom prst="rect">
            <a:avLst/>
          </a:prstGeom>
        </p:spPr>
        <p:txBody>
          <a:bodyPr anchor="t" rtlCol="false" tIns="0" lIns="0" bIns="0" rIns="0">
            <a:spAutoFit/>
          </a:bodyPr>
          <a:lstStyle/>
          <a:p>
            <a:pPr algn="l">
              <a:lnSpc>
                <a:spcPts val="1959"/>
              </a:lnSpc>
            </a:pPr>
            <a:r>
              <a:rPr lang="en-US" b="true" sz="1399">
                <a:solidFill>
                  <a:srgbClr val="FF66C4"/>
                </a:solidFill>
                <a:latin typeface="Helvetica World Bold"/>
                <a:ea typeface="Helvetica World Bold"/>
                <a:cs typeface="Helvetica World Bold"/>
                <a:sym typeface="Helvetica World Bold"/>
              </a:rPr>
              <a:t>Deployment on GPU-Enabled Containers</a:t>
            </a:r>
          </a:p>
        </p:txBody>
      </p:sp>
      <p:sp>
        <p:nvSpPr>
          <p:cNvPr name="TextBox 21" id="21"/>
          <p:cNvSpPr txBox="true"/>
          <p:nvPr/>
        </p:nvSpPr>
        <p:spPr>
          <a:xfrm rot="0">
            <a:off x="2193445" y="10428483"/>
            <a:ext cx="2581440" cy="165174"/>
          </a:xfrm>
          <a:prstGeom prst="rect">
            <a:avLst/>
          </a:prstGeom>
        </p:spPr>
        <p:txBody>
          <a:bodyPr anchor="t" rtlCol="false" tIns="0" lIns="0" bIns="0" rIns="0">
            <a:spAutoFit/>
          </a:bodyPr>
          <a:lstStyle/>
          <a:p>
            <a:pPr algn="l">
              <a:lnSpc>
                <a:spcPts val="1399"/>
              </a:lnSpc>
            </a:pPr>
            <a:r>
              <a:rPr lang="en-US" sz="999">
                <a:solidFill>
                  <a:srgbClr val="B71C1C"/>
                </a:solidFill>
                <a:latin typeface="Helvetica World"/>
                <a:ea typeface="Helvetica World"/>
                <a:cs typeface="Helvetica World"/>
                <a:sym typeface="Helvetica World"/>
              </a:rPr>
              <a:t>Picture Alive AI -- Project Profile Document</a:t>
            </a:r>
          </a:p>
        </p:txBody>
      </p:sp>
      <p:sp>
        <p:nvSpPr>
          <p:cNvPr name="TextBox 22" id="22"/>
          <p:cNvSpPr txBox="true"/>
          <p:nvPr/>
        </p:nvSpPr>
        <p:spPr>
          <a:xfrm rot="0">
            <a:off x="922172" y="7567270"/>
            <a:ext cx="47625" cy="231738"/>
          </a:xfrm>
          <a:prstGeom prst="rect">
            <a:avLst/>
          </a:prstGeom>
        </p:spPr>
        <p:txBody>
          <a:bodyPr anchor="t" rtlCol="false" tIns="0" lIns="0" bIns="0" rIns="0">
            <a:spAutoFit/>
          </a:bodyPr>
          <a:lstStyle/>
          <a:p>
            <a:pPr algn="l" marL="215900" indent="-107950" lvl="1">
              <a:lnSpc>
                <a:spcPts val="2000"/>
              </a:lnSpc>
              <a:buFont typeface="Arial"/>
              <a:buChar char="•"/>
            </a:pPr>
            <a:r>
              <a:rPr lang="en-US" sz="1000">
                <a:solidFill>
                  <a:srgbClr val="FF66C4"/>
                </a:solidFill>
                <a:latin typeface="Helvetica World"/>
                <a:ea typeface="Helvetica World"/>
                <a:cs typeface="Helvetica World"/>
                <a:sym typeface="Helvetica World"/>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DAHQoSVOG7s</dc:identifier>
  <dcterms:modified xsi:type="dcterms:W3CDTF">2011-08-01T06:04:30Z</dcterms:modified>
  <cp:revision>1</cp:revision>
  <dc:title>Picture Alive AI -- Project Profile Document</dc:title>
</cp:coreProperties>
</file>