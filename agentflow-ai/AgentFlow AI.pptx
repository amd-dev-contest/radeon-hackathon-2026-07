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9" r:id="rId14"/>
  </p:sldIdLst>
  <p:sldSz cx="9144000" cy="51435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s://bit.ly/3A1uf1Q"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rgbClr val="000000"/>
        </a:solidFill>
        <a:effectLst/>
      </p:bgPr>
    </p:bg>
    <p:spTree>
      <p:nvGrpSpPr>
        <p:cNvPr id="1" name=""/>
        <p:cNvGrpSpPr/>
        <p:nvPr/>
      </p:nvGrpSpPr>
      <p:grpSpPr>
        <a:xfrm>
          <a:off x="0" y="0"/>
          <a:ext cx="0" cy="0"/>
          <a:chOff x="0" y="0"/>
          <a:chExt cx="0" cy="0"/>
        </a:xfrm>
      </p:grpSpPr>
      <p:pic>
        <p:nvPicPr>
          <p:cNvPr id="2" name="Google Shape;9;p2"/>
          <p:cNvPicPr/>
          <p:nvPr/>
        </p:nvPicPr>
        <p:blipFill>
          <a:blip r:embed="rId2"/>
          <a:srcRect l="3724"/>
          <a:stretch>
            <a:fillRect/>
          </a:stretch>
        </p:blipFill>
        <p:spPr>
          <a:xfrm>
            <a:off x="0" y="0"/>
            <a:ext cx="9143640" cy="5143320"/>
          </a:xfrm>
          <a:prstGeom prst="rect">
            <a:avLst/>
          </a:prstGeom>
          <a:noFill/>
          <a:ln w="0">
            <a:noFill/>
          </a:ln>
        </p:spPr>
      </p:pic>
      <p:sp>
        <p:nvSpPr>
          <p:cNvPr id="3" name="PlaceHolder 1"/>
          <p:cNvSpPr>
            <a:spLocks noGrp="1"/>
          </p:cNvSpPr>
          <p:nvPr>
            <p:ph type="title" hasCustomPrompt="1"/>
          </p:nvPr>
        </p:nvSpPr>
        <p:spPr>
          <a:xfrm>
            <a:off x="511920" y="490680"/>
            <a:ext cx="5024520" cy="1759320"/>
          </a:xfrm>
          <a:prstGeom prst="rect">
            <a:avLst/>
          </a:prstGeom>
          <a:noFill/>
          <a:ln w="0">
            <a:noFill/>
          </a:ln>
        </p:spPr>
        <p:txBody>
          <a:bodyPr lIns="91440" tIns="91440" rIns="91440" bIns="91440" anchor="b">
            <a:noAutofit/>
          </a:bodyPr>
          <a:p>
            <a:pPr indent="0">
              <a:buNone/>
            </a:pPr>
            <a:r>
              <a:rPr lang="fr-FR" sz="4800" b="0" u="none" strike="noStrike">
                <a:solidFill>
                  <a:schemeClr val="dk1"/>
                </a:solidFill>
                <a:effectLst/>
                <a:uFillTx/>
                <a:latin typeface="Arial" panose="020B0604020202020204"/>
              </a:rPr>
              <a:t>Click to edit the title text format</a:t>
            </a:r>
            <a:endParaRPr lang="fr-FR" sz="4800" b="0" u="none" strike="noStrike">
              <a:solidFill>
                <a:schemeClr val="dk1"/>
              </a:solidFill>
              <a:effectLst/>
              <a:uFillTx/>
              <a:latin typeface="Arial" panose="020B0604020202020204"/>
            </a:endParaRPr>
          </a:p>
        </p:txBody>
      </p:sp>
      <p:sp>
        <p:nvSpPr>
          <p:cNvPr id="4" name="PlaceHolder 2"/>
          <p:cNvSpPr>
            <a:spLocks noGrp="1"/>
          </p:cNvSpPr>
          <p:nvPr>
            <p:ph type="body" hasCustomPrompt="1"/>
          </p:nvPr>
        </p:nvSpPr>
        <p:spPr>
          <a:xfrm>
            <a:off x="5585760" y="691200"/>
            <a:ext cx="3469320" cy="4452120"/>
          </a:xfrm>
          <a:prstGeom prst="rect">
            <a:avLst/>
          </a:prstGeom>
          <a:noFill/>
          <a:ln w="0">
            <a:noFill/>
          </a:ln>
        </p:spPr>
        <p:txBody>
          <a:bodyPr lIns="90000" tIns="45000" rIns="90000" bIns="45000" anchor="t">
            <a:normAutofit lnSpcReduction="9999"/>
          </a:bodyPr>
          <a:p>
            <a:pPr marL="431800" indent="-323850">
              <a:spcBef>
                <a:spcPts val="141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
    <p:bg>
      <p:bgPr>
        <a:solidFill>
          <a:srgbClr val="000000"/>
        </a:solidFill>
        <a:effectLst/>
      </p:bgPr>
    </p:bg>
    <p:spTree>
      <p:nvGrpSpPr>
        <p:cNvPr id="1" name=""/>
        <p:cNvGrpSpPr/>
        <p:nvPr/>
      </p:nvGrpSpPr>
      <p:grpSpPr>
        <a:xfrm>
          <a:off x="0" y="0"/>
          <a:ext cx="0" cy="0"/>
          <a:chOff x="0" y="0"/>
          <a:chExt cx="0" cy="0"/>
        </a:xfrm>
      </p:grpSpPr>
      <p:pic>
        <p:nvPicPr>
          <p:cNvPr id="5" name="Google Shape;67;p14"/>
          <p:cNvPicPr/>
          <p:nvPr/>
        </p:nvPicPr>
        <p:blipFill>
          <a:blip r:embed="rId2"/>
          <a:srcRect l="616"/>
          <a:stretch>
            <a:fillRect/>
          </a:stretch>
        </p:blipFill>
        <p:spPr>
          <a:xfrm>
            <a:off x="0" y="0"/>
            <a:ext cx="9087120" cy="5143320"/>
          </a:xfrm>
          <a:prstGeom prst="rect">
            <a:avLst/>
          </a:prstGeom>
          <a:noFill/>
          <a:ln w="0">
            <a:noFill/>
          </a:ln>
        </p:spPr>
      </p:pic>
      <p:sp>
        <p:nvSpPr>
          <p:cNvPr id="6" name="PlaceHolder 1"/>
          <p:cNvSpPr>
            <a:spLocks noGrp="1"/>
          </p:cNvSpPr>
          <p:nvPr>
            <p:ph type="title" hasCustomPrompt="1"/>
          </p:nvPr>
        </p:nvSpPr>
        <p:spPr>
          <a:xfrm>
            <a:off x="1677600" y="485640"/>
            <a:ext cx="7175520" cy="1355400"/>
          </a:xfrm>
          <a:prstGeom prst="rect">
            <a:avLst/>
          </a:prstGeom>
          <a:noFill/>
          <a:ln w="0">
            <a:noFill/>
          </a:ln>
        </p:spPr>
        <p:txBody>
          <a:bodyPr lIns="91440" tIns="91440" rIns="91440" bIns="91440" anchor="t">
            <a:noAutofit/>
          </a:bodyPr>
          <a:p>
            <a:pPr indent="0">
              <a:buNone/>
            </a:pPr>
            <a:r>
              <a:rPr lang="fr-FR" sz="4000" b="0" u="none" strike="noStrike">
                <a:solidFill>
                  <a:schemeClr val="dk1"/>
                </a:solidFill>
                <a:effectLst/>
                <a:uFillTx/>
                <a:latin typeface="Arial" panose="020B0604020202020204"/>
              </a:rPr>
              <a:t>Click to edit the title text format</a:t>
            </a:r>
            <a:endParaRPr lang="fr-FR" sz="4000" b="0" u="none" strike="noStrike">
              <a:solidFill>
                <a:schemeClr val="dk1"/>
              </a:solidFill>
              <a:effectLst/>
              <a:uFillTx/>
              <a:latin typeface="Arial" panose="020B0604020202020204"/>
            </a:endParaRPr>
          </a:p>
        </p:txBody>
      </p:sp>
      <p:sp>
        <p:nvSpPr>
          <p:cNvPr id="7"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rgbClr val="000000"/>
        </a:solidFill>
        <a:effectLst/>
      </p:bgPr>
    </p:bg>
    <p:spTree>
      <p:nvGrpSpPr>
        <p:cNvPr id="1" name=""/>
        <p:cNvGrpSpPr/>
        <p:nvPr/>
      </p:nvGrpSpPr>
      <p:grpSpPr>
        <a:xfrm>
          <a:off x="0" y="0"/>
          <a:ext cx="0" cy="0"/>
          <a:chOff x="0" y="0"/>
          <a:chExt cx="0" cy="0"/>
        </a:xfrm>
      </p:grpSpPr>
      <p:pic>
        <p:nvPicPr>
          <p:cNvPr id="8" name="Google Shape;115;p21"/>
          <p:cNvPicPr/>
          <p:nvPr/>
        </p:nvPicPr>
        <p:blipFill>
          <a:blip r:embed="rId2"/>
          <a:srcRect l="-8567" r="12300"/>
          <a:stretch>
            <a:fillRect/>
          </a:stretch>
        </p:blipFill>
        <p:spPr>
          <a:xfrm rot="10800000">
            <a:off x="360" y="0"/>
            <a:ext cx="9143640" cy="5143320"/>
          </a:xfrm>
          <a:prstGeom prst="rect">
            <a:avLst/>
          </a:prstGeom>
          <a:noFill/>
          <a:ln w="0">
            <a:noFill/>
          </a:ln>
        </p:spPr>
      </p:pic>
      <p:sp>
        <p:nvSpPr>
          <p:cNvPr id="9" name="PlaceHolder 1"/>
          <p:cNvSpPr>
            <a:spLocks noGrp="1"/>
          </p:cNvSpPr>
          <p:nvPr>
            <p:ph type="title" hasCustomPrompt="1"/>
          </p:nvPr>
        </p:nvSpPr>
        <p:spPr>
          <a:xfrm>
            <a:off x="565560" y="504720"/>
            <a:ext cx="5089680" cy="1058400"/>
          </a:xfrm>
          <a:prstGeom prst="rect">
            <a:avLst/>
          </a:prstGeom>
          <a:noFill/>
          <a:ln w="0">
            <a:noFill/>
          </a:ln>
        </p:spPr>
        <p:txBody>
          <a:bodyPr lIns="91440" tIns="91440" rIns="91440" bIns="91440" anchor="b">
            <a:noAutofit/>
          </a:bodyPr>
          <a:p>
            <a:pPr indent="0">
              <a:buNone/>
            </a:pPr>
            <a:r>
              <a:rPr lang="fr-FR" sz="5400" b="0" u="none" strike="noStrike">
                <a:solidFill>
                  <a:schemeClr val="dk1"/>
                </a:solidFill>
                <a:effectLst/>
                <a:uFillTx/>
                <a:latin typeface="Arial" panose="020B0604020202020204"/>
              </a:rPr>
              <a:t>Click to edit the title text format</a:t>
            </a:r>
            <a:endParaRPr lang="fr-FR" sz="5400" b="0" u="none" strike="noStrike">
              <a:solidFill>
                <a:schemeClr val="dk1"/>
              </a:solidFill>
              <a:effectLst/>
              <a:uFillTx/>
              <a:latin typeface="Arial" panose="020B0604020202020204"/>
            </a:endParaRPr>
          </a:p>
        </p:txBody>
      </p:sp>
      <p:sp>
        <p:nvSpPr>
          <p:cNvPr id="10" name="Google Shape;118;p21"/>
          <p:cNvSpPr/>
          <p:nvPr/>
        </p:nvSpPr>
        <p:spPr>
          <a:xfrm>
            <a:off x="5766840" y="3377160"/>
            <a:ext cx="2976840" cy="555840"/>
          </a:xfrm>
          <a:prstGeom prst="rect">
            <a:avLst/>
          </a:prstGeom>
          <a:noFill/>
          <a:ln w="0">
            <a:noFill/>
          </a:ln>
        </p:spPr>
        <p:style>
          <a:lnRef idx="0">
            <a:srgbClr val="FFFFFF"/>
          </a:lnRef>
          <a:fillRef idx="0">
            <a:srgbClr val="FFFFFF"/>
          </a:fillRef>
          <a:effectRef idx="0">
            <a:srgbClr val="FFFFFF"/>
          </a:effectRef>
          <a:fontRef idx="minor"/>
        </p:style>
        <p:txBody>
          <a:bodyPr tIns="91440" bIns="91440" anchor="t">
            <a:noAutofit/>
          </a:bodyPr>
          <a:p>
            <a:pPr algn="r" defTabSz="914400">
              <a:lnSpc>
                <a:spcPct val="100000"/>
              </a:lnSpc>
              <a:tabLst>
                <a:tab pos="0" algn="l"/>
              </a:tabLst>
            </a:pPr>
            <a:r>
              <a:rPr lang="en-GB" sz="1000" b="1" u="none" strike="noStrike">
                <a:solidFill>
                  <a:schemeClr val="dk1"/>
                </a:solidFill>
                <a:effectLst/>
                <a:uFillTx/>
                <a:latin typeface="Open Sans"/>
                <a:ea typeface="Open Sans"/>
              </a:rPr>
              <a:t>CREDITS:</a:t>
            </a:r>
            <a:r>
              <a:rPr lang="en-GB" sz="1000" b="0" u="none" strike="noStrike">
                <a:solidFill>
                  <a:schemeClr val="dk1"/>
                </a:solidFill>
                <a:effectLst/>
                <a:uFillTx/>
                <a:latin typeface="Open Sans"/>
                <a:ea typeface="Open Sans"/>
              </a:rPr>
              <a:t> This presentation template was created by </a:t>
            </a:r>
            <a:r>
              <a:rPr lang="en-GB" sz="1000" b="1" u="sng" strike="noStrike">
                <a:solidFill>
                  <a:schemeClr val="dk1"/>
                </a:solidFill>
                <a:effectLst/>
                <a:uFillTx/>
                <a:latin typeface="Open Sans"/>
                <a:ea typeface="Open Sans"/>
                <a:hlinkClick r:id="rId3"/>
              </a:rPr>
              <a:t>Slidesgo</a:t>
            </a:r>
            <a:r>
              <a:rPr lang="en-GB" sz="1000" b="0" u="none" strike="noStrike">
                <a:solidFill>
                  <a:schemeClr val="dk1"/>
                </a:solidFill>
                <a:effectLst/>
                <a:uFillTx/>
                <a:latin typeface="Open Sans"/>
                <a:ea typeface="Open Sans"/>
              </a:rPr>
              <a:t>, and includes icons, infographics &amp; images by </a:t>
            </a:r>
            <a:r>
              <a:rPr lang="en-GB" sz="1000" b="1" u="sng" strike="noStrike">
                <a:solidFill>
                  <a:schemeClr val="dk1"/>
                </a:solidFill>
                <a:effectLst/>
                <a:uFillTx/>
                <a:latin typeface="Open Sans"/>
                <a:ea typeface="Open Sans"/>
                <a:hlinkClick r:id="rId4"/>
              </a:rPr>
              <a:t>Freepik</a:t>
            </a:r>
            <a:r>
              <a:rPr lang="en-GB" sz="1000" b="0" u="none" strike="noStrike">
                <a:solidFill>
                  <a:schemeClr val="dk1"/>
                </a:solidFill>
                <a:effectLst/>
                <a:uFillTx/>
                <a:latin typeface="Open Sans"/>
                <a:ea typeface="Open Sans"/>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rgbClr val="000000"/>
        </a:solidFill>
        <a:effectLst/>
      </p:bgPr>
    </p:bg>
    <p:spTree>
      <p:nvGrpSpPr>
        <p:cNvPr id="1" name=""/>
        <p:cNvGrpSpPr/>
        <p:nvPr/>
      </p:nvGrpSpPr>
      <p:grpSpPr>
        <a:xfrm>
          <a:off x="0" y="0"/>
          <a:ext cx="0" cy="0"/>
          <a:chOff x="0" y="0"/>
          <a:chExt cx="0" cy="0"/>
        </a:xfrm>
      </p:grpSpPr>
      <p:pic>
        <p:nvPicPr>
          <p:cNvPr id="11" name="Google Shape;34;p6"/>
          <p:cNvPicPr/>
          <p:nvPr/>
        </p:nvPicPr>
        <p:blipFill>
          <a:blip r:embed="rId2"/>
          <a:stretch>
            <a:fillRect/>
          </a:stretch>
        </p:blipFill>
        <p:spPr>
          <a:xfrm>
            <a:off x="0" y="0"/>
            <a:ext cx="9143640" cy="4951080"/>
          </a:xfrm>
          <a:prstGeom prst="rect">
            <a:avLst/>
          </a:prstGeom>
          <a:noFill/>
          <a:ln w="0">
            <a:noFill/>
          </a:ln>
        </p:spPr>
      </p:pic>
      <p:sp>
        <p:nvSpPr>
          <p:cNvPr id="12" name="PlaceHolder 1"/>
          <p:cNvSpPr>
            <a:spLocks noGrp="1"/>
          </p:cNvSpPr>
          <p:nvPr>
            <p:ph type="title" hasCustomPrompt="1"/>
          </p:nvPr>
        </p:nvSpPr>
        <p:spPr>
          <a:xfrm>
            <a:off x="413280" y="309960"/>
            <a:ext cx="8339400" cy="572400"/>
          </a:xfrm>
          <a:prstGeom prst="rect">
            <a:avLst/>
          </a:prstGeom>
          <a:noFill/>
          <a:ln w="0">
            <a:noFill/>
          </a:ln>
        </p:spPr>
        <p:txBody>
          <a:bodyPr lIns="91440" tIns="91440" rIns="91440" bIns="91440" anchor="t">
            <a:noAutofit/>
          </a:bodyPr>
          <a:p>
            <a:pPr indent="0">
              <a:buNone/>
            </a:pPr>
            <a:r>
              <a:rPr lang="fr-FR" sz="3000" b="0" u="none" strike="noStrike">
                <a:solidFill>
                  <a:schemeClr val="dk1"/>
                </a:solidFill>
                <a:effectLst/>
                <a:uFillTx/>
                <a:latin typeface="Arial" panose="020B0604020202020204"/>
              </a:rPr>
              <a:t>Click to edit the title text format</a:t>
            </a:r>
            <a:endParaRPr lang="fr-FR" sz="3000" b="0" u="none" strike="noStrike">
              <a:solidFill>
                <a:schemeClr val="dk1"/>
              </a:solidFill>
              <a:effectLst/>
              <a:uFillTx/>
              <a:latin typeface="Arial" panose="020B0604020202020204"/>
            </a:endParaRPr>
          </a:p>
        </p:txBody>
      </p:sp>
      <p:sp>
        <p:nvSpPr>
          <p:cNvPr id="13"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136;p28"/>
          <p:cNvPicPr/>
          <p:nvPr/>
        </p:nvPicPr>
        <p:blipFill>
          <a:blip r:embed="rId1"/>
          <a:stretch>
            <a:fillRect/>
          </a:stretch>
        </p:blipFill>
        <p:spPr>
          <a:xfrm>
            <a:off x="5581800" y="695160"/>
            <a:ext cx="3466800" cy="4447800"/>
          </a:xfrm>
          <a:prstGeom prst="rect">
            <a:avLst/>
          </a:prstGeom>
          <a:noFill/>
          <a:ln w="0">
            <a:noFill/>
          </a:ln>
        </p:spPr>
      </p:pic>
      <p:sp>
        <p:nvSpPr>
          <p:cNvPr id="15" name="Rectangle 14"/>
          <p:cNvSpPr/>
          <p:nvPr/>
        </p:nvSpPr>
        <p:spPr>
          <a:xfrm>
            <a:off x="514440" y="495360"/>
            <a:ext cx="5028840" cy="609120"/>
          </a:xfrm>
          <a:prstGeom prst="rect">
            <a:avLst/>
          </a:prstGeom>
          <a:noFill/>
          <a:ln w="0">
            <a:noFill/>
          </a:ln>
        </p:spPr>
        <p:style>
          <a:lnRef idx="0">
            <a:srgbClr val="FFFFFF"/>
          </a:lnRef>
          <a:fillRef idx="0">
            <a:srgbClr val="FFFFFF"/>
          </a:fillRef>
          <a:effectRef idx="0">
            <a:srgbClr val="FFFFFF"/>
          </a:effectRef>
          <a:fontRef idx="minor"/>
        </p:style>
        <p:txBody>
          <a:bodyPr anchor="b">
            <a:normAutofit fontScale="85000" lnSpcReduction="19999"/>
          </a:bodyPr>
          <a:p>
            <a:pPr defTabSz="914400">
              <a:lnSpc>
                <a:spcPct val="100000"/>
              </a:lnSpc>
              <a:tabLst>
                <a:tab pos="0" algn="l"/>
              </a:tabLst>
            </a:pPr>
            <a:r>
              <a:rPr lang="en-US" sz="4800" b="0" u="none" strike="noStrike">
                <a:solidFill>
                  <a:srgbClr val="FFFFFF"/>
                </a:solidFill>
                <a:effectLst/>
                <a:uFillTx/>
                <a:latin typeface="Goldman"/>
              </a:rPr>
              <a:t>AgentFlow AI</a:t>
            </a:r>
            <a:endParaRPr lang="en-US" sz="4800" b="0" u="none" strike="noStrike">
              <a:solidFill>
                <a:srgbClr val="FFFFFF"/>
              </a:solidFill>
              <a:effectLst/>
              <a:uFillTx/>
              <a:latin typeface="OpenSymbol"/>
            </a:endParaRPr>
          </a:p>
        </p:txBody>
      </p:sp>
      <p:sp>
        <p:nvSpPr>
          <p:cNvPr id="16" name="Rectangle 15"/>
          <p:cNvSpPr/>
          <p:nvPr/>
        </p:nvSpPr>
        <p:spPr>
          <a:xfrm>
            <a:off x="514440" y="4095720"/>
            <a:ext cx="2409480" cy="91404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85000" lnSpcReduction="9999"/>
          </a:bodyPr>
          <a:p>
            <a:pPr defTabSz="914400">
              <a:lnSpc>
                <a:spcPct val="150000"/>
              </a:lnSpc>
              <a:tabLst>
                <a:tab pos="0" algn="l"/>
              </a:tabLst>
            </a:pPr>
            <a:r>
              <a:rPr lang="en-US" sz="1600" b="0" u="none" strike="noStrike">
                <a:solidFill>
                  <a:srgbClr val="FFFFFF"/>
                </a:solidFill>
                <a:effectLst/>
                <a:uFillTx/>
                <a:latin typeface="Albert Sans"/>
              </a:rPr>
              <a:t>Offline multi-agent intelligence for private document workflows</a:t>
            </a:r>
            <a:endParaRPr lang="en-US" sz="16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7" name="Rectangle 16"/>
          <p:cNvSpPr/>
          <p:nvPr/>
        </p:nvSpPr>
        <p:spPr>
          <a:xfrm>
            <a:off x="1676520" y="485640"/>
            <a:ext cx="7171920" cy="50436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77500" lnSpcReduction="19999"/>
          </a:bodyPr>
          <a:p>
            <a:pPr algn="r" defTabSz="914400">
              <a:lnSpc>
                <a:spcPct val="100000"/>
              </a:lnSpc>
              <a:tabLst>
                <a:tab pos="0" algn="l"/>
              </a:tabLst>
            </a:pPr>
            <a:r>
              <a:rPr lang="en-US" sz="4000" b="0" u="none" strike="noStrike">
                <a:solidFill>
                  <a:srgbClr val="FFFFFF"/>
                </a:solidFill>
                <a:effectLst/>
                <a:uFillTx/>
                <a:latin typeface="Goldman"/>
              </a:rPr>
              <a:t>Cloud AI Risks</a:t>
            </a:r>
            <a:endParaRPr lang="en-US" sz="4000" b="0" u="none" strike="noStrike">
              <a:solidFill>
                <a:srgbClr val="FFFFFF"/>
              </a:solidFill>
              <a:effectLst/>
              <a:uFillTx/>
              <a:latin typeface="OpenSymbol"/>
            </a:endParaRPr>
          </a:p>
        </p:txBody>
      </p:sp>
      <p:sp>
        <p:nvSpPr>
          <p:cNvPr id="18" name="Rectangle 17"/>
          <p:cNvSpPr/>
          <p:nvPr/>
        </p:nvSpPr>
        <p:spPr>
          <a:xfrm>
            <a:off x="2886120" y="1905120"/>
            <a:ext cx="5886000" cy="1752120"/>
          </a:xfrm>
          <a:prstGeom prst="rect">
            <a:avLst/>
          </a:prstGeom>
          <a:noFill/>
          <a:ln w="0">
            <a:noFill/>
          </a:ln>
        </p:spPr>
        <p:style>
          <a:lnRef idx="0">
            <a:srgbClr val="FFFFFF"/>
          </a:lnRef>
          <a:fillRef idx="0">
            <a:srgbClr val="FFFFFF"/>
          </a:fillRef>
          <a:effectRef idx="0">
            <a:srgbClr val="FFFFFF"/>
          </a:effectRef>
          <a:fontRef idx="minor"/>
        </p:style>
        <p:txBody>
          <a:bodyPr anchor="b">
            <a:normAutofit/>
          </a:bodyPr>
          <a:p>
            <a:pPr defTabSz="914400">
              <a:lnSpc>
                <a:spcPct val="150000"/>
              </a:lnSpc>
              <a:tabLst>
                <a:tab pos="0" algn="l"/>
              </a:tabLst>
            </a:pPr>
            <a:r>
              <a:rPr lang="en-US" sz="1400" b="0" u="none" strike="noStrike">
                <a:solidFill>
                  <a:srgbClr val="FFFFFF"/>
                </a:solidFill>
                <a:effectLst/>
                <a:uFillTx/>
                <a:latin typeface="Albert Sans"/>
              </a:rPr>
              <a:t>Relying on cloud APIs for private documents exposes sensitive data to external systems and increases risk of data leakage. Latency and cost are variable, driven by usage, egress, and vendor pricing, making budgets unpredictable for regulated workflows. By contrast, offline, local inference delivers deterministic costs and sub-second responses, enabling secure, compliant operation without sending D</a:t>
            </a:r>
            <a:endParaRPr lang="en-US" sz="14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476280" y="380880"/>
            <a:ext cx="8191080" cy="36144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85000" lnSpcReduction="19999"/>
          </a:bodyPr>
          <a:p>
            <a:pPr defTabSz="914400">
              <a:lnSpc>
                <a:spcPct val="100000"/>
              </a:lnSpc>
              <a:tabLst>
                <a:tab pos="0" algn="l"/>
              </a:tabLst>
            </a:pPr>
            <a:r>
              <a:rPr lang="en-US" sz="2400" b="1" u="none" strike="noStrike">
                <a:solidFill>
                  <a:srgbClr val="FFFFFF"/>
                </a:solidFill>
                <a:effectLst/>
                <a:uFillTx/>
                <a:latin typeface="Goldman"/>
              </a:rPr>
              <a:t>Offline, Private, Cost-Stable</a:t>
            </a:r>
            <a:endParaRPr lang="en-US" sz="2400" b="0" u="none" strike="noStrike">
              <a:solidFill>
                <a:srgbClr val="FFFFFF"/>
              </a:solidFill>
              <a:effectLst/>
              <a:uFillTx/>
              <a:latin typeface="OpenSymbol"/>
            </a:endParaRPr>
          </a:p>
        </p:txBody>
      </p:sp>
      <p:sp>
        <p:nvSpPr>
          <p:cNvPr id="20" name="Rectangle 19"/>
          <p:cNvSpPr/>
          <p:nvPr/>
        </p:nvSpPr>
        <p:spPr>
          <a:xfrm>
            <a:off x="476280" y="1333440"/>
            <a:ext cx="3904920" cy="70452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FFFFFF"/>
                </a:solidFill>
                <a:effectLst/>
                <a:uFillTx/>
                <a:latin typeface="Albert Sans"/>
              </a:rPr>
              <a:t>Sensitive data exits the device to API-backed models; latency is variable and costs spike with usage; security controls are limited.</a:t>
            </a:r>
            <a:endParaRPr lang="en-US" sz="1200" b="0" u="none" strike="noStrike">
              <a:solidFill>
                <a:srgbClr val="FFFFFF"/>
              </a:solidFill>
              <a:effectLst/>
              <a:uFillTx/>
              <a:latin typeface="OpenSymbol"/>
            </a:endParaRPr>
          </a:p>
        </p:txBody>
      </p:sp>
      <p:sp>
        <p:nvSpPr>
          <p:cNvPr id="21" name="Rectangle 20"/>
          <p:cNvSpPr/>
          <p:nvPr/>
        </p:nvSpPr>
        <p:spPr>
          <a:xfrm>
            <a:off x="4762440" y="1333440"/>
            <a:ext cx="3904920" cy="70452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FFFFFF"/>
                </a:solidFill>
                <a:effectLst/>
                <a:uFillTx/>
                <a:latin typeface="Albert Sans"/>
              </a:rPr>
              <a:t>100% offline with local LLMs; no API keys; fixed resource footprint; fast, privacy-preserving document intelligence.</a:t>
            </a:r>
            <a:endParaRPr lang="en-US" sz="1200" b="0" u="none" strike="noStrike">
              <a:solidFill>
                <a:srgbClr val="FFFFFF"/>
              </a:solidFill>
              <a:effectLst/>
              <a:uFillTx/>
              <a:latin typeface="OpenSymbol"/>
            </a:endParaRPr>
          </a:p>
        </p:txBody>
      </p:sp>
      <p:sp>
        <p:nvSpPr>
          <p:cNvPr id="22" name="Rectangle 21"/>
          <p:cNvSpPr/>
          <p:nvPr/>
        </p:nvSpPr>
        <p:spPr>
          <a:xfrm>
            <a:off x="476280" y="4381560"/>
            <a:ext cx="8191080" cy="33300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FFFFFF"/>
                </a:solidFill>
                <a:effectLst/>
                <a:uFillTx/>
                <a:latin typeface="Albert Sans"/>
              </a:rPr>
              <a:t>Privacy and predictability win with AgentFlow AI.</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22"/>
          <p:cNvSpPr/>
          <p:nvPr/>
        </p:nvSpPr>
        <p:spPr>
          <a:xfrm>
            <a:off x="2000160" y="2104920"/>
            <a:ext cx="114120" cy="9000"/>
          </a:xfrm>
          <a:prstGeom prst="roundRect">
            <a:avLst>
              <a:gd name="adj" fmla="val 16667"/>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36720" rIns="90000" bIns="-3672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24" name="Rounded Rectangle 23"/>
          <p:cNvSpPr/>
          <p:nvPr/>
        </p:nvSpPr>
        <p:spPr>
          <a:xfrm>
            <a:off x="3638520" y="2104920"/>
            <a:ext cx="114120" cy="9000"/>
          </a:xfrm>
          <a:prstGeom prst="roundRect">
            <a:avLst>
              <a:gd name="adj" fmla="val 16667"/>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36720" rIns="90000" bIns="-3672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25" name="Rounded Rectangle 24"/>
          <p:cNvSpPr/>
          <p:nvPr/>
        </p:nvSpPr>
        <p:spPr>
          <a:xfrm>
            <a:off x="5276880" y="2104920"/>
            <a:ext cx="114120" cy="9000"/>
          </a:xfrm>
          <a:prstGeom prst="roundRect">
            <a:avLst>
              <a:gd name="adj" fmla="val 16667"/>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36720" rIns="90000" bIns="-3672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26" name="Rounded Rectangle 25"/>
          <p:cNvSpPr/>
          <p:nvPr/>
        </p:nvSpPr>
        <p:spPr>
          <a:xfrm>
            <a:off x="6915240" y="2104920"/>
            <a:ext cx="114120" cy="9000"/>
          </a:xfrm>
          <a:prstGeom prst="roundRect">
            <a:avLst>
              <a:gd name="adj" fmla="val 16667"/>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36720" rIns="90000" bIns="-3672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27" name="Rounded Rectangle 26"/>
          <p:cNvSpPr/>
          <p:nvPr/>
        </p:nvSpPr>
        <p:spPr>
          <a:xfrm>
            <a:off x="476280" y="2000160"/>
            <a:ext cx="1523520" cy="209160"/>
          </a:xfrm>
          <a:prstGeom prst="roundRect">
            <a:avLst>
              <a:gd name="adj" fmla="val 16667"/>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28" name="Rounded Rectangle 27"/>
          <p:cNvSpPr/>
          <p:nvPr/>
        </p:nvSpPr>
        <p:spPr>
          <a:xfrm>
            <a:off x="1238400" y="2209680"/>
            <a:ext cx="9000" cy="323640"/>
          </a:xfrm>
          <a:prstGeom prst="roundRect">
            <a:avLst>
              <a:gd name="adj" fmla="val 16667"/>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29" name="Rounded Rectangle 28"/>
          <p:cNvSpPr/>
          <p:nvPr/>
        </p:nvSpPr>
        <p:spPr>
          <a:xfrm>
            <a:off x="2114640" y="2000160"/>
            <a:ext cx="1523520" cy="209160"/>
          </a:xfrm>
          <a:prstGeom prst="roundRect">
            <a:avLst>
              <a:gd name="adj" fmla="val 16667"/>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30" name="Rounded Rectangle 29"/>
          <p:cNvSpPr/>
          <p:nvPr/>
        </p:nvSpPr>
        <p:spPr>
          <a:xfrm>
            <a:off x="2876400" y="2209680"/>
            <a:ext cx="9000" cy="323640"/>
          </a:xfrm>
          <a:prstGeom prst="roundRect">
            <a:avLst>
              <a:gd name="adj" fmla="val 16667"/>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31" name="Rounded Rectangle 30"/>
          <p:cNvSpPr/>
          <p:nvPr/>
        </p:nvSpPr>
        <p:spPr>
          <a:xfrm>
            <a:off x="3753000" y="2000160"/>
            <a:ext cx="1523520" cy="209160"/>
          </a:xfrm>
          <a:prstGeom prst="roundRect">
            <a:avLst>
              <a:gd name="adj" fmla="val 16667"/>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32" name="Rounded Rectangle 31"/>
          <p:cNvSpPr/>
          <p:nvPr/>
        </p:nvSpPr>
        <p:spPr>
          <a:xfrm>
            <a:off x="4514760" y="2209680"/>
            <a:ext cx="9000" cy="323640"/>
          </a:xfrm>
          <a:prstGeom prst="roundRect">
            <a:avLst>
              <a:gd name="adj" fmla="val 16667"/>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33" name="Rounded Rectangle 32"/>
          <p:cNvSpPr/>
          <p:nvPr/>
        </p:nvSpPr>
        <p:spPr>
          <a:xfrm>
            <a:off x="5391000" y="2000160"/>
            <a:ext cx="1523520" cy="209160"/>
          </a:xfrm>
          <a:prstGeom prst="roundRect">
            <a:avLst>
              <a:gd name="adj" fmla="val 16667"/>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34" name="Rounded Rectangle 33"/>
          <p:cNvSpPr/>
          <p:nvPr/>
        </p:nvSpPr>
        <p:spPr>
          <a:xfrm>
            <a:off x="6153120" y="2209680"/>
            <a:ext cx="9000" cy="323640"/>
          </a:xfrm>
          <a:prstGeom prst="roundRect">
            <a:avLst>
              <a:gd name="adj" fmla="val 16667"/>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35" name="Rounded Rectangle 34"/>
          <p:cNvSpPr/>
          <p:nvPr/>
        </p:nvSpPr>
        <p:spPr>
          <a:xfrm>
            <a:off x="7029360" y="2000160"/>
            <a:ext cx="1523520" cy="209160"/>
          </a:xfrm>
          <a:prstGeom prst="roundRect">
            <a:avLst>
              <a:gd name="adj" fmla="val 16667"/>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36" name="Rounded Rectangle 35"/>
          <p:cNvSpPr/>
          <p:nvPr/>
        </p:nvSpPr>
        <p:spPr>
          <a:xfrm>
            <a:off x="7791480" y="2209680"/>
            <a:ext cx="9000" cy="323640"/>
          </a:xfrm>
          <a:prstGeom prst="roundRect">
            <a:avLst>
              <a:gd name="adj" fmla="val 16667"/>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37" name="Rectangle 36"/>
          <p:cNvSpPr/>
          <p:nvPr/>
        </p:nvSpPr>
        <p:spPr>
          <a:xfrm>
            <a:off x="476280" y="380880"/>
            <a:ext cx="8191080" cy="39960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85000" lnSpcReduction="9999"/>
          </a:bodyPr>
          <a:p>
            <a:pPr defTabSz="914400">
              <a:lnSpc>
                <a:spcPct val="100000"/>
              </a:lnSpc>
              <a:tabLst>
                <a:tab pos="0" algn="l"/>
              </a:tabLst>
            </a:pPr>
            <a:r>
              <a:rPr lang="en-US" sz="2600" b="0" u="none" strike="noStrike">
                <a:solidFill>
                  <a:srgbClr val="FFFFFF"/>
                </a:solidFill>
                <a:effectLst/>
                <a:uFillTx/>
                <a:latin typeface="Goldman"/>
              </a:rPr>
              <a:t>System Flow</a:t>
            </a:r>
            <a:endParaRPr lang="en-US" sz="2600" b="0" u="none" strike="noStrike">
              <a:solidFill>
                <a:srgbClr val="FFFFFF"/>
              </a:solidFill>
              <a:effectLst/>
              <a:uFillTx/>
              <a:latin typeface="OpenSymbol"/>
            </a:endParaRPr>
          </a:p>
        </p:txBody>
      </p:sp>
      <p:sp>
        <p:nvSpPr>
          <p:cNvPr id="38" name="Rectangle 37"/>
          <p:cNvSpPr/>
          <p:nvPr/>
        </p:nvSpPr>
        <p:spPr>
          <a:xfrm>
            <a:off x="476280" y="1219320"/>
            <a:ext cx="1523520" cy="3614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algn="ctr" defTabSz="914400">
              <a:lnSpc>
                <a:spcPct val="100000"/>
              </a:lnSpc>
              <a:tabLst>
                <a:tab pos="0" algn="l"/>
              </a:tabLst>
            </a:pPr>
            <a:r>
              <a:rPr lang="en-US" sz="1400" b="0" u="none" strike="noStrike">
                <a:solidFill>
                  <a:srgbClr val="FFFFFF"/>
                </a:solidFill>
                <a:effectLst/>
                <a:uFillTx/>
                <a:latin typeface="Goldman"/>
              </a:rPr>
              <a:t>User Browser</a:t>
            </a:r>
            <a:endParaRPr lang="en-US" sz="1400" b="0" u="none" strike="noStrike">
              <a:solidFill>
                <a:srgbClr val="FFFFFF"/>
              </a:solidFill>
              <a:effectLst/>
              <a:uFillTx/>
              <a:latin typeface="OpenSymbol"/>
            </a:endParaRPr>
          </a:p>
        </p:txBody>
      </p:sp>
      <p:sp>
        <p:nvSpPr>
          <p:cNvPr id="39" name="Rectangle 38"/>
          <p:cNvSpPr/>
          <p:nvPr/>
        </p:nvSpPr>
        <p:spPr>
          <a:xfrm>
            <a:off x="476280" y="2619360"/>
            <a:ext cx="1523520" cy="124740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algn="ctr" defTabSz="914400">
              <a:lnSpc>
                <a:spcPct val="100000"/>
              </a:lnSpc>
              <a:tabLst>
                <a:tab pos="0" algn="l"/>
              </a:tabLst>
            </a:pPr>
            <a:r>
              <a:rPr lang="en-US" sz="1200" b="0" u="none" strike="noStrike">
                <a:solidFill>
                  <a:srgbClr val="FFFFFF"/>
                </a:solidFill>
                <a:effectLst/>
                <a:uFillTx/>
                <a:latin typeface="Albert Sans"/>
              </a:rPr>
              <a:t>The user initiates a query in the browser, triggering the client-side request flow.</a:t>
            </a:r>
            <a:endParaRPr lang="en-US" sz="1200" b="0" u="none" strike="noStrike">
              <a:solidFill>
                <a:srgbClr val="FFFFFF"/>
              </a:solidFill>
              <a:effectLst/>
              <a:uFillTx/>
              <a:latin typeface="OpenSymbol"/>
            </a:endParaRPr>
          </a:p>
        </p:txBody>
      </p:sp>
      <p:sp>
        <p:nvSpPr>
          <p:cNvPr id="40" name="Rectangle 39"/>
          <p:cNvSpPr/>
          <p:nvPr/>
        </p:nvSpPr>
        <p:spPr>
          <a:xfrm>
            <a:off x="2114640" y="1219320"/>
            <a:ext cx="1523520" cy="5806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algn="ctr" defTabSz="914400">
              <a:lnSpc>
                <a:spcPct val="100000"/>
              </a:lnSpc>
              <a:tabLst>
                <a:tab pos="0" algn="l"/>
              </a:tabLst>
            </a:pPr>
            <a:r>
              <a:rPr lang="en-US" sz="1400" b="0" u="none" strike="noStrike">
                <a:solidFill>
                  <a:srgbClr val="FFFFFF"/>
                </a:solidFill>
                <a:effectLst/>
                <a:uFillTx/>
                <a:latin typeface="Goldman"/>
              </a:rPr>
              <a:t>React Frontend</a:t>
            </a:r>
            <a:endParaRPr lang="en-US" sz="1400" b="0" u="none" strike="noStrike">
              <a:solidFill>
                <a:srgbClr val="FFFFFF"/>
              </a:solidFill>
              <a:effectLst/>
              <a:uFillTx/>
              <a:latin typeface="OpenSymbol"/>
            </a:endParaRPr>
          </a:p>
        </p:txBody>
      </p:sp>
      <p:sp>
        <p:nvSpPr>
          <p:cNvPr id="41" name="Rectangle 40"/>
          <p:cNvSpPr/>
          <p:nvPr/>
        </p:nvSpPr>
        <p:spPr>
          <a:xfrm>
            <a:off x="2114640" y="2619360"/>
            <a:ext cx="1523520" cy="106632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algn="ctr" defTabSz="914400">
              <a:lnSpc>
                <a:spcPct val="100000"/>
              </a:lnSpc>
              <a:tabLst>
                <a:tab pos="0" algn="l"/>
              </a:tabLst>
            </a:pPr>
            <a:r>
              <a:rPr lang="en-US" sz="1200" b="0" u="none" strike="noStrike">
                <a:solidFill>
                  <a:srgbClr val="FFFFFF"/>
                </a:solidFill>
                <a:effectLst/>
                <a:uFillTx/>
                <a:latin typeface="Albert Sans"/>
              </a:rPr>
              <a:t>UI dispatches inputs to the FastAPI backend and presents results.</a:t>
            </a:r>
            <a:endParaRPr lang="en-US" sz="1200" b="0" u="none" strike="noStrike">
              <a:solidFill>
                <a:srgbClr val="FFFFFF"/>
              </a:solidFill>
              <a:effectLst/>
              <a:uFillTx/>
              <a:latin typeface="OpenSymbol"/>
            </a:endParaRPr>
          </a:p>
        </p:txBody>
      </p:sp>
      <p:sp>
        <p:nvSpPr>
          <p:cNvPr id="42" name="Rectangle 41"/>
          <p:cNvSpPr/>
          <p:nvPr/>
        </p:nvSpPr>
        <p:spPr>
          <a:xfrm>
            <a:off x="3753000" y="1219320"/>
            <a:ext cx="1523520" cy="5806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algn="ctr" defTabSz="914400">
              <a:lnSpc>
                <a:spcPct val="100000"/>
              </a:lnSpc>
              <a:tabLst>
                <a:tab pos="0" algn="l"/>
              </a:tabLst>
            </a:pPr>
            <a:r>
              <a:rPr lang="en-US" sz="1400" b="0" u="none" strike="noStrike">
                <a:solidFill>
                  <a:srgbClr val="FFFFFF"/>
                </a:solidFill>
                <a:effectLst/>
                <a:uFillTx/>
                <a:latin typeface="Goldman"/>
              </a:rPr>
              <a:t>FastAPI Backend</a:t>
            </a:r>
            <a:endParaRPr lang="en-US" sz="1400" b="0" u="none" strike="noStrike">
              <a:solidFill>
                <a:srgbClr val="FFFFFF"/>
              </a:solidFill>
              <a:effectLst/>
              <a:uFillTx/>
              <a:latin typeface="OpenSymbol"/>
            </a:endParaRPr>
          </a:p>
        </p:txBody>
      </p:sp>
      <p:sp>
        <p:nvSpPr>
          <p:cNvPr id="43" name="Rectangle 42"/>
          <p:cNvSpPr/>
          <p:nvPr/>
        </p:nvSpPr>
        <p:spPr>
          <a:xfrm>
            <a:off x="3753000" y="2619360"/>
            <a:ext cx="1523520" cy="106632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algn="ctr" defTabSz="914400">
              <a:lnSpc>
                <a:spcPct val="100000"/>
              </a:lnSpc>
              <a:tabLst>
                <a:tab pos="0" algn="l"/>
              </a:tabLst>
            </a:pPr>
            <a:r>
              <a:rPr lang="en-US" sz="1200" b="0" u="none" strike="noStrike">
                <a:solidFill>
                  <a:srgbClr val="FFFFFF"/>
                </a:solidFill>
                <a:effectLst/>
                <a:uFillTx/>
                <a:latin typeface="Albert Sans"/>
              </a:rPr>
              <a:t>Orchestrates requests, routes to agents, and enforces privacy constraints.</a:t>
            </a:r>
            <a:endParaRPr lang="en-US" sz="1200" b="0" u="none" strike="noStrike">
              <a:solidFill>
                <a:srgbClr val="FFFFFF"/>
              </a:solidFill>
              <a:effectLst/>
              <a:uFillTx/>
              <a:latin typeface="OpenSymbol"/>
            </a:endParaRPr>
          </a:p>
        </p:txBody>
      </p:sp>
      <p:sp>
        <p:nvSpPr>
          <p:cNvPr id="44" name="Rectangle 43"/>
          <p:cNvSpPr/>
          <p:nvPr/>
        </p:nvSpPr>
        <p:spPr>
          <a:xfrm>
            <a:off x="5391000" y="1219320"/>
            <a:ext cx="1523520" cy="5806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algn="ctr" defTabSz="914400">
              <a:lnSpc>
                <a:spcPct val="100000"/>
              </a:lnSpc>
              <a:tabLst>
                <a:tab pos="0" algn="l"/>
              </a:tabLst>
            </a:pPr>
            <a:r>
              <a:rPr lang="en-US" sz="1400" b="0" u="none" strike="noStrike">
                <a:solidFill>
                  <a:srgbClr val="FFFFFF"/>
                </a:solidFill>
                <a:effectLst/>
                <a:uFillTx/>
                <a:latin typeface="Goldman"/>
              </a:rPr>
              <a:t>Planner Agent</a:t>
            </a:r>
            <a:endParaRPr lang="en-US" sz="1400" b="0" u="none" strike="noStrike">
              <a:solidFill>
                <a:srgbClr val="FFFFFF"/>
              </a:solidFill>
              <a:effectLst/>
              <a:uFillTx/>
              <a:latin typeface="OpenSymbol"/>
            </a:endParaRPr>
          </a:p>
        </p:txBody>
      </p:sp>
      <p:sp>
        <p:nvSpPr>
          <p:cNvPr id="45" name="Rectangle 44"/>
          <p:cNvSpPr/>
          <p:nvPr/>
        </p:nvSpPr>
        <p:spPr>
          <a:xfrm>
            <a:off x="5391000" y="2619360"/>
            <a:ext cx="1523520" cy="14284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algn="ctr" defTabSz="914400">
              <a:lnSpc>
                <a:spcPct val="100000"/>
              </a:lnSpc>
              <a:tabLst>
                <a:tab pos="0" algn="l"/>
              </a:tabLst>
            </a:pPr>
            <a:r>
              <a:rPr lang="en-US" sz="1200" b="0" u="none" strike="noStrike">
                <a:solidFill>
                  <a:srgbClr val="FFFFFF"/>
                </a:solidFill>
                <a:effectLst/>
                <a:uFillTx/>
                <a:latin typeface="Albert Sans"/>
              </a:rPr>
              <a:t>Schedules sub-tasks across Research, Memory, Tool, and Reviewer agents to fulfill the user request.</a:t>
            </a:r>
            <a:endParaRPr lang="en-US" sz="1200" b="0" u="none" strike="noStrike">
              <a:solidFill>
                <a:srgbClr val="FFFFFF"/>
              </a:solidFill>
              <a:effectLst/>
              <a:uFillTx/>
              <a:latin typeface="OpenSymbol"/>
            </a:endParaRPr>
          </a:p>
        </p:txBody>
      </p:sp>
      <p:sp>
        <p:nvSpPr>
          <p:cNvPr id="46" name="Rectangle 45"/>
          <p:cNvSpPr/>
          <p:nvPr/>
        </p:nvSpPr>
        <p:spPr>
          <a:xfrm>
            <a:off x="7029360" y="1219320"/>
            <a:ext cx="1523520" cy="3614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algn="ctr" defTabSz="914400">
              <a:lnSpc>
                <a:spcPct val="100000"/>
              </a:lnSpc>
              <a:tabLst>
                <a:tab pos="0" algn="l"/>
              </a:tabLst>
            </a:pPr>
            <a:r>
              <a:rPr lang="en-US" sz="1400" b="0" u="none" strike="noStrike">
                <a:solidFill>
                  <a:srgbClr val="FFFFFF"/>
                </a:solidFill>
                <a:effectLst/>
                <a:uFillTx/>
                <a:latin typeface="Goldman"/>
              </a:rPr>
              <a:t>(Next)</a:t>
            </a:r>
            <a:endParaRPr lang="en-US" sz="1400" b="0" u="none" strike="noStrike">
              <a:solidFill>
                <a:srgbClr val="FFFFFF"/>
              </a:solidFill>
              <a:effectLst/>
              <a:uFillTx/>
              <a:latin typeface="OpenSymbol"/>
            </a:endParaRPr>
          </a:p>
        </p:txBody>
      </p:sp>
      <p:sp>
        <p:nvSpPr>
          <p:cNvPr id="47" name="Rectangle 46"/>
          <p:cNvSpPr/>
          <p:nvPr/>
        </p:nvSpPr>
        <p:spPr>
          <a:xfrm>
            <a:off x="7029360" y="2619360"/>
            <a:ext cx="1523520" cy="124740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algn="ctr" defTabSz="914400">
              <a:lnSpc>
                <a:spcPct val="100000"/>
              </a:lnSpc>
              <a:tabLst>
                <a:tab pos="0" algn="l"/>
              </a:tabLst>
            </a:pPr>
            <a:r>
              <a:rPr lang="en-US" sz="1200" b="0" u="none" strike="noStrike">
                <a:solidFill>
                  <a:srgbClr val="FFFFFF"/>
                </a:solidFill>
                <a:effectLst/>
                <a:uFillTx/>
                <a:latin typeface="Albert Sans"/>
              </a:rPr>
              <a:t>This slide continues with the multi-agent pipeline stepping through execution.</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ounded Rectangle 47"/>
          <p:cNvSpPr/>
          <p:nvPr/>
        </p:nvSpPr>
        <p:spPr>
          <a:xfrm>
            <a:off x="476280" y="1866960"/>
            <a:ext cx="1914120" cy="2800080"/>
          </a:xfrm>
          <a:prstGeom prst="roundRect">
            <a:avLst>
              <a:gd name="adj" fmla="val 16667"/>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49" name="Rounded Rectangle 48"/>
          <p:cNvSpPr/>
          <p:nvPr/>
        </p:nvSpPr>
        <p:spPr>
          <a:xfrm>
            <a:off x="2523960" y="1866960"/>
            <a:ext cx="1914120" cy="2800080"/>
          </a:xfrm>
          <a:prstGeom prst="roundRect">
            <a:avLst>
              <a:gd name="adj" fmla="val 16667"/>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50" name="Rounded Rectangle 49"/>
          <p:cNvSpPr/>
          <p:nvPr/>
        </p:nvSpPr>
        <p:spPr>
          <a:xfrm>
            <a:off x="4572000" y="1866960"/>
            <a:ext cx="1914120" cy="2800080"/>
          </a:xfrm>
          <a:prstGeom prst="roundRect">
            <a:avLst>
              <a:gd name="adj" fmla="val 16667"/>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51" name="Rounded Rectangle 50"/>
          <p:cNvSpPr/>
          <p:nvPr/>
        </p:nvSpPr>
        <p:spPr>
          <a:xfrm>
            <a:off x="6620040" y="1866960"/>
            <a:ext cx="1914120" cy="2800080"/>
          </a:xfrm>
          <a:prstGeom prst="roundRect">
            <a:avLst>
              <a:gd name="adj" fmla="val 16667"/>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52" name="Rectangle 51"/>
          <p:cNvSpPr/>
          <p:nvPr/>
        </p:nvSpPr>
        <p:spPr>
          <a:xfrm>
            <a:off x="476280" y="380880"/>
            <a:ext cx="8191080" cy="39960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85000" lnSpcReduction="9999"/>
          </a:bodyPr>
          <a:p>
            <a:pPr defTabSz="914400">
              <a:lnSpc>
                <a:spcPct val="100000"/>
              </a:lnSpc>
              <a:tabLst>
                <a:tab pos="0" algn="l"/>
              </a:tabLst>
            </a:pPr>
            <a:r>
              <a:rPr lang="en-US" sz="2600" b="0" u="none" strike="noStrike">
                <a:solidFill>
                  <a:srgbClr val="FFFFFF"/>
                </a:solidFill>
                <a:effectLst/>
                <a:uFillTx/>
                <a:latin typeface="Goldman"/>
              </a:rPr>
              <a:t>End-to-End Flow</a:t>
            </a:r>
            <a:endParaRPr lang="en-US" sz="2600" b="0" u="none" strike="noStrike">
              <a:solidFill>
                <a:srgbClr val="FFFFFF"/>
              </a:solidFill>
              <a:effectLst/>
              <a:uFillTx/>
              <a:latin typeface="OpenSymbol"/>
            </a:endParaRPr>
          </a:p>
        </p:txBody>
      </p:sp>
      <p:sp>
        <p:nvSpPr>
          <p:cNvPr id="53" name="Rectangle 52"/>
          <p:cNvSpPr/>
          <p:nvPr/>
        </p:nvSpPr>
        <p:spPr>
          <a:xfrm>
            <a:off x="476280" y="1238400"/>
            <a:ext cx="1914120" cy="5140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2400" b="0" u="none" strike="noStrike">
                <a:solidFill>
                  <a:srgbClr val="FFFFFF"/>
                </a:solidFill>
                <a:effectLst/>
                <a:uFillTx/>
                <a:latin typeface="Goldman"/>
              </a:rPr>
              <a:t>06</a:t>
            </a:r>
            <a:endParaRPr lang="en-US" sz="2400" b="0" u="none" strike="noStrike">
              <a:solidFill>
                <a:srgbClr val="FFFFFF"/>
              </a:solidFill>
              <a:effectLst/>
              <a:uFillTx/>
              <a:latin typeface="OpenSymbol"/>
            </a:endParaRPr>
          </a:p>
        </p:txBody>
      </p:sp>
      <p:sp>
        <p:nvSpPr>
          <p:cNvPr id="54" name="Rectangle 53"/>
          <p:cNvSpPr/>
          <p:nvPr/>
        </p:nvSpPr>
        <p:spPr>
          <a:xfrm>
            <a:off x="666720" y="2133720"/>
            <a:ext cx="1533240" cy="70452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800" b="0" u="none" strike="noStrike">
                <a:solidFill>
                  <a:srgbClr val="000000"/>
                </a:solidFill>
                <a:effectLst/>
                <a:uFillTx/>
                <a:latin typeface="Goldman"/>
              </a:rPr>
              <a:t>User Browser</a:t>
            </a:r>
            <a:endParaRPr lang="en-US" sz="1800" b="0" u="none" strike="noStrike">
              <a:solidFill>
                <a:srgbClr val="FFFFFF"/>
              </a:solidFill>
              <a:effectLst/>
              <a:uFillTx/>
              <a:latin typeface="OpenSymbol"/>
            </a:endParaRPr>
          </a:p>
        </p:txBody>
      </p:sp>
      <p:sp>
        <p:nvSpPr>
          <p:cNvPr id="55" name="Rectangle 54"/>
          <p:cNvSpPr/>
          <p:nvPr/>
        </p:nvSpPr>
        <p:spPr>
          <a:xfrm>
            <a:off x="666720" y="2666880"/>
            <a:ext cx="1533240" cy="88560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000000"/>
                </a:solidFill>
                <a:effectLst/>
                <a:uFillTx/>
                <a:latin typeface="Albert Sans"/>
              </a:rPr>
              <a:t>Interaction starts in the browser, initiating requests through the UI.</a:t>
            </a:r>
            <a:endParaRPr lang="en-US" sz="1200" b="0" u="none" strike="noStrike">
              <a:solidFill>
                <a:srgbClr val="FFFFFF"/>
              </a:solidFill>
              <a:effectLst/>
              <a:uFillTx/>
              <a:latin typeface="OpenSymbol"/>
            </a:endParaRPr>
          </a:p>
        </p:txBody>
      </p:sp>
      <p:sp>
        <p:nvSpPr>
          <p:cNvPr id="56" name="Rectangle 55"/>
          <p:cNvSpPr/>
          <p:nvPr/>
        </p:nvSpPr>
        <p:spPr>
          <a:xfrm>
            <a:off x="2523960" y="1238400"/>
            <a:ext cx="1914120" cy="5140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2400" b="0" u="none" strike="noStrike">
                <a:solidFill>
                  <a:srgbClr val="FFFFFF"/>
                </a:solidFill>
                <a:effectLst/>
                <a:uFillTx/>
                <a:latin typeface="Goldman"/>
              </a:rPr>
              <a:t>07</a:t>
            </a:r>
            <a:endParaRPr lang="en-US" sz="2400" b="0" u="none" strike="noStrike">
              <a:solidFill>
                <a:srgbClr val="FFFFFF"/>
              </a:solidFill>
              <a:effectLst/>
              <a:uFillTx/>
              <a:latin typeface="OpenSymbol"/>
            </a:endParaRPr>
          </a:p>
        </p:txBody>
      </p:sp>
      <p:sp>
        <p:nvSpPr>
          <p:cNvPr id="57" name="Rectangle 56"/>
          <p:cNvSpPr/>
          <p:nvPr/>
        </p:nvSpPr>
        <p:spPr>
          <a:xfrm>
            <a:off x="2714760" y="2133720"/>
            <a:ext cx="1533240" cy="42840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800" b="0" u="none" strike="noStrike">
                <a:solidFill>
                  <a:srgbClr val="000000"/>
                </a:solidFill>
                <a:effectLst/>
                <a:uFillTx/>
                <a:latin typeface="Goldman"/>
              </a:rPr>
              <a:t>React UI</a:t>
            </a:r>
            <a:endParaRPr lang="en-US" sz="1800" b="0" u="none" strike="noStrike">
              <a:solidFill>
                <a:srgbClr val="FFFFFF"/>
              </a:solidFill>
              <a:effectLst/>
              <a:uFillTx/>
              <a:latin typeface="OpenSymbol"/>
            </a:endParaRPr>
          </a:p>
        </p:txBody>
      </p:sp>
      <p:sp>
        <p:nvSpPr>
          <p:cNvPr id="58" name="Rectangle 57"/>
          <p:cNvSpPr/>
          <p:nvPr/>
        </p:nvSpPr>
        <p:spPr>
          <a:xfrm>
            <a:off x="2714760" y="2666880"/>
            <a:ext cx="1533240" cy="88560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000000"/>
                </a:solidFill>
                <a:effectLst/>
                <a:uFillTx/>
                <a:latin typeface="Albert Sans"/>
              </a:rPr>
              <a:t>Frontend surfaces controls and passes data to the backend.</a:t>
            </a:r>
            <a:endParaRPr lang="en-US" sz="1200" b="0" u="none" strike="noStrike">
              <a:solidFill>
                <a:srgbClr val="FFFFFF"/>
              </a:solidFill>
              <a:effectLst/>
              <a:uFillTx/>
              <a:latin typeface="OpenSymbol"/>
            </a:endParaRPr>
          </a:p>
        </p:txBody>
      </p:sp>
      <p:sp>
        <p:nvSpPr>
          <p:cNvPr id="59" name="Rectangle 58"/>
          <p:cNvSpPr/>
          <p:nvPr/>
        </p:nvSpPr>
        <p:spPr>
          <a:xfrm>
            <a:off x="4572000" y="1238400"/>
            <a:ext cx="1914120" cy="5140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2400" b="0" u="none" strike="noStrike">
                <a:solidFill>
                  <a:srgbClr val="FFFFFF"/>
                </a:solidFill>
                <a:effectLst/>
                <a:uFillTx/>
                <a:latin typeface="Goldman"/>
              </a:rPr>
              <a:t>08</a:t>
            </a:r>
            <a:endParaRPr lang="en-US" sz="2400" b="0" u="none" strike="noStrike">
              <a:solidFill>
                <a:srgbClr val="FFFFFF"/>
              </a:solidFill>
              <a:effectLst/>
              <a:uFillTx/>
              <a:latin typeface="OpenSymbol"/>
            </a:endParaRPr>
          </a:p>
        </p:txBody>
      </p:sp>
      <p:sp>
        <p:nvSpPr>
          <p:cNvPr id="60" name="Rectangle 59"/>
          <p:cNvSpPr/>
          <p:nvPr/>
        </p:nvSpPr>
        <p:spPr>
          <a:xfrm>
            <a:off x="4762440" y="2133720"/>
            <a:ext cx="1533240" cy="70452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800" b="0" u="none" strike="noStrike">
                <a:solidFill>
                  <a:srgbClr val="000000"/>
                </a:solidFill>
                <a:effectLst/>
                <a:uFillTx/>
                <a:latin typeface="Goldman"/>
              </a:rPr>
              <a:t>FastAPI Backend</a:t>
            </a:r>
            <a:endParaRPr lang="en-US" sz="1800" b="0" u="none" strike="noStrike">
              <a:solidFill>
                <a:srgbClr val="FFFFFF"/>
              </a:solidFill>
              <a:effectLst/>
              <a:uFillTx/>
              <a:latin typeface="OpenSymbol"/>
            </a:endParaRPr>
          </a:p>
        </p:txBody>
      </p:sp>
      <p:sp>
        <p:nvSpPr>
          <p:cNvPr id="61" name="Rectangle 60"/>
          <p:cNvSpPr/>
          <p:nvPr/>
        </p:nvSpPr>
        <p:spPr>
          <a:xfrm>
            <a:off x="4762440" y="2666880"/>
            <a:ext cx="1533240" cy="106632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000000"/>
                </a:solidFill>
                <a:effectLst/>
                <a:uFillTx/>
                <a:latin typeface="Albert Sans"/>
              </a:rPr>
              <a:t>Backend exposes endpoints and orchestrates the multi-agent pipeline.</a:t>
            </a:r>
            <a:endParaRPr lang="en-US" sz="1200" b="0" u="none" strike="noStrike">
              <a:solidFill>
                <a:srgbClr val="FFFFFF"/>
              </a:solidFill>
              <a:effectLst/>
              <a:uFillTx/>
              <a:latin typeface="OpenSymbol"/>
            </a:endParaRPr>
          </a:p>
        </p:txBody>
      </p:sp>
      <p:sp>
        <p:nvSpPr>
          <p:cNvPr id="62" name="Rectangle 61"/>
          <p:cNvSpPr/>
          <p:nvPr/>
        </p:nvSpPr>
        <p:spPr>
          <a:xfrm>
            <a:off x="6620040" y="1238400"/>
            <a:ext cx="1914120" cy="5140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2400" b="0" u="none" strike="noStrike">
                <a:solidFill>
                  <a:srgbClr val="FFFFFF"/>
                </a:solidFill>
                <a:effectLst/>
                <a:uFillTx/>
                <a:latin typeface="Goldman"/>
              </a:rPr>
              <a:t>09</a:t>
            </a:r>
            <a:endParaRPr lang="en-US" sz="2400" b="0" u="none" strike="noStrike">
              <a:solidFill>
                <a:srgbClr val="FFFFFF"/>
              </a:solidFill>
              <a:effectLst/>
              <a:uFillTx/>
              <a:latin typeface="OpenSymbol"/>
            </a:endParaRPr>
          </a:p>
        </p:txBody>
      </p:sp>
      <p:sp>
        <p:nvSpPr>
          <p:cNvPr id="63" name="Rectangle 62"/>
          <p:cNvSpPr/>
          <p:nvPr/>
        </p:nvSpPr>
        <p:spPr>
          <a:xfrm>
            <a:off x="6810480" y="2133720"/>
            <a:ext cx="1533240" cy="70452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800" b="0" u="none" strike="noStrike">
                <a:solidFill>
                  <a:srgbClr val="000000"/>
                </a:solidFill>
                <a:effectLst/>
                <a:uFillTx/>
                <a:latin typeface="Goldman"/>
              </a:rPr>
              <a:t>Planner Agent</a:t>
            </a:r>
            <a:endParaRPr lang="en-US" sz="1800" b="0" u="none" strike="noStrike">
              <a:solidFill>
                <a:srgbClr val="FFFFFF"/>
              </a:solidFill>
              <a:effectLst/>
              <a:uFillTx/>
              <a:latin typeface="OpenSymbol"/>
            </a:endParaRPr>
          </a:p>
        </p:txBody>
      </p:sp>
      <p:sp>
        <p:nvSpPr>
          <p:cNvPr id="64" name="Rectangle 63"/>
          <p:cNvSpPr/>
          <p:nvPr/>
        </p:nvSpPr>
        <p:spPr>
          <a:xfrm>
            <a:off x="6810480" y="2666880"/>
            <a:ext cx="1533240" cy="106632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000000"/>
                </a:solidFill>
                <a:effectLst/>
                <a:uFillTx/>
                <a:latin typeface="Albert Sans"/>
              </a:rPr>
              <a:t>Orchestrates task sequencing and assigns work to specialized agents.</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p:cNvSpPr/>
          <p:nvPr/>
        </p:nvSpPr>
        <p:spPr>
          <a:xfrm>
            <a:off x="609480" y="1181160"/>
            <a:ext cx="2590560" cy="18720"/>
          </a:xfrm>
          <a:prstGeom prst="rect">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25920" rIns="90000" bIns="-2592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66" name="Rectangle 65"/>
          <p:cNvSpPr/>
          <p:nvPr/>
        </p:nvSpPr>
        <p:spPr>
          <a:xfrm>
            <a:off x="3333600" y="1181160"/>
            <a:ext cx="2590560" cy="18720"/>
          </a:xfrm>
          <a:prstGeom prst="rect">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25920" rIns="90000" bIns="-2592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67" name="Rectangle 66"/>
          <p:cNvSpPr/>
          <p:nvPr/>
        </p:nvSpPr>
        <p:spPr>
          <a:xfrm>
            <a:off x="6058080" y="1181160"/>
            <a:ext cx="3085920" cy="18720"/>
          </a:xfrm>
          <a:prstGeom prst="rect">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25920" rIns="90000" bIns="-2592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68" name="Oval 67"/>
          <p:cNvSpPr/>
          <p:nvPr/>
        </p:nvSpPr>
        <p:spPr>
          <a:xfrm>
            <a:off x="476280" y="1114560"/>
            <a:ext cx="132840" cy="132840"/>
          </a:xfrm>
          <a:prstGeom prst="ellipse">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69" name="Oval 68"/>
          <p:cNvSpPr/>
          <p:nvPr/>
        </p:nvSpPr>
        <p:spPr>
          <a:xfrm>
            <a:off x="3200400" y="1114560"/>
            <a:ext cx="132840" cy="132840"/>
          </a:xfrm>
          <a:prstGeom prst="ellipse">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70" name="Oval 69"/>
          <p:cNvSpPr/>
          <p:nvPr/>
        </p:nvSpPr>
        <p:spPr>
          <a:xfrm>
            <a:off x="5924520" y="1114560"/>
            <a:ext cx="132840" cy="132840"/>
          </a:xfrm>
          <a:prstGeom prst="ellipse">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71" name="Rectangle 70"/>
          <p:cNvSpPr/>
          <p:nvPr/>
        </p:nvSpPr>
        <p:spPr>
          <a:xfrm>
            <a:off x="0" y="3181320"/>
            <a:ext cx="475920" cy="18720"/>
          </a:xfrm>
          <a:prstGeom prst="rect">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25920" rIns="90000" bIns="-2592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72" name="Rectangle 71"/>
          <p:cNvSpPr/>
          <p:nvPr/>
        </p:nvSpPr>
        <p:spPr>
          <a:xfrm>
            <a:off x="609480" y="3181320"/>
            <a:ext cx="2590560" cy="18720"/>
          </a:xfrm>
          <a:prstGeom prst="rect">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25920" rIns="90000" bIns="-2592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73" name="Oval 72"/>
          <p:cNvSpPr/>
          <p:nvPr/>
        </p:nvSpPr>
        <p:spPr>
          <a:xfrm>
            <a:off x="476280" y="3114720"/>
            <a:ext cx="132840" cy="132840"/>
          </a:xfrm>
          <a:prstGeom prst="ellipse">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74" name="Oval 73"/>
          <p:cNvSpPr/>
          <p:nvPr/>
        </p:nvSpPr>
        <p:spPr>
          <a:xfrm>
            <a:off x="3200400" y="3114720"/>
            <a:ext cx="132840" cy="132840"/>
          </a:xfrm>
          <a:prstGeom prst="ellipse">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75" name="Rectangle 74"/>
          <p:cNvSpPr/>
          <p:nvPr/>
        </p:nvSpPr>
        <p:spPr>
          <a:xfrm>
            <a:off x="476280" y="380880"/>
            <a:ext cx="8191080" cy="39960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85000" lnSpcReduction="9999"/>
          </a:bodyPr>
          <a:p>
            <a:pPr defTabSz="914400">
              <a:lnSpc>
                <a:spcPct val="100000"/>
              </a:lnSpc>
              <a:tabLst>
                <a:tab pos="0" algn="l"/>
              </a:tabLst>
            </a:pPr>
            <a:r>
              <a:rPr lang="en-US" sz="2600" b="0" u="none" strike="noStrike">
                <a:solidFill>
                  <a:srgbClr val="FFFFFF"/>
                </a:solidFill>
                <a:effectLst/>
                <a:uFillTx/>
                <a:latin typeface="Goldman"/>
              </a:rPr>
              <a:t>Coordinated Agents</a:t>
            </a:r>
            <a:endParaRPr lang="en-US" sz="2600" b="0" u="none" strike="noStrike">
              <a:solidFill>
                <a:srgbClr val="FFFFFF"/>
              </a:solidFill>
              <a:effectLst/>
              <a:uFillTx/>
              <a:latin typeface="OpenSymbol"/>
            </a:endParaRPr>
          </a:p>
        </p:txBody>
      </p:sp>
      <p:sp>
        <p:nvSpPr>
          <p:cNvPr id="76" name="Rectangle 75"/>
          <p:cNvSpPr/>
          <p:nvPr/>
        </p:nvSpPr>
        <p:spPr>
          <a:xfrm>
            <a:off x="476280" y="1295280"/>
            <a:ext cx="2571480" cy="3614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400" b="0" u="none" strike="noStrike">
                <a:solidFill>
                  <a:srgbClr val="FFFFFF"/>
                </a:solidFill>
                <a:effectLst/>
                <a:uFillTx/>
                <a:latin typeface="Goldman"/>
              </a:rPr>
              <a:t>Upload PDF</a:t>
            </a:r>
            <a:endParaRPr lang="en-US" sz="1400" b="0" u="none" strike="noStrike">
              <a:solidFill>
                <a:srgbClr val="FFFFFF"/>
              </a:solidFill>
              <a:effectLst/>
              <a:uFillTx/>
              <a:latin typeface="OpenSymbol"/>
            </a:endParaRPr>
          </a:p>
        </p:txBody>
      </p:sp>
      <p:sp>
        <p:nvSpPr>
          <p:cNvPr id="77" name="Rectangle 76"/>
          <p:cNvSpPr/>
          <p:nvPr/>
        </p:nvSpPr>
        <p:spPr>
          <a:xfrm>
            <a:off x="476280" y="1962000"/>
            <a:ext cx="2571480" cy="5140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FFFFFF"/>
                </a:solidFill>
                <a:effectLst/>
                <a:uFillTx/>
                <a:latin typeface="Albert Sans"/>
              </a:rPr>
              <a:t>User uploads a private document which seeds the task.</a:t>
            </a:r>
            <a:endParaRPr lang="en-US" sz="1200" b="0" u="none" strike="noStrike">
              <a:solidFill>
                <a:srgbClr val="FFFFFF"/>
              </a:solidFill>
              <a:effectLst/>
              <a:uFillTx/>
              <a:latin typeface="OpenSymbol"/>
            </a:endParaRPr>
          </a:p>
        </p:txBody>
      </p:sp>
      <p:sp>
        <p:nvSpPr>
          <p:cNvPr id="78" name="Rectangle 77"/>
          <p:cNvSpPr/>
          <p:nvPr/>
        </p:nvSpPr>
        <p:spPr>
          <a:xfrm>
            <a:off x="3200400" y="1295280"/>
            <a:ext cx="2571480" cy="3614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400" b="0" u="none" strike="noStrike">
                <a:solidFill>
                  <a:srgbClr val="FFFFFF"/>
                </a:solidFill>
                <a:effectLst/>
                <a:uFillTx/>
                <a:latin typeface="Goldman"/>
              </a:rPr>
              <a:t>Text Extraction</a:t>
            </a:r>
            <a:endParaRPr lang="en-US" sz="1400" b="0" u="none" strike="noStrike">
              <a:solidFill>
                <a:srgbClr val="FFFFFF"/>
              </a:solidFill>
              <a:effectLst/>
              <a:uFillTx/>
              <a:latin typeface="OpenSymbol"/>
            </a:endParaRPr>
          </a:p>
        </p:txBody>
      </p:sp>
      <p:sp>
        <p:nvSpPr>
          <p:cNvPr id="79" name="Rectangle 78"/>
          <p:cNvSpPr/>
          <p:nvPr/>
        </p:nvSpPr>
        <p:spPr>
          <a:xfrm>
            <a:off x="3200400" y="1962000"/>
            <a:ext cx="2571480" cy="5140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FFFFFF"/>
                </a:solidFill>
                <a:effectLst/>
                <a:uFillTx/>
                <a:latin typeface="Albert Sans"/>
              </a:rPr>
              <a:t>OCR and NLP extract readable text from the PDF.</a:t>
            </a:r>
            <a:endParaRPr lang="en-US" sz="1200" b="0" u="none" strike="noStrike">
              <a:solidFill>
                <a:srgbClr val="FFFFFF"/>
              </a:solidFill>
              <a:effectLst/>
              <a:uFillTx/>
              <a:latin typeface="OpenSymbol"/>
            </a:endParaRPr>
          </a:p>
        </p:txBody>
      </p:sp>
      <p:sp>
        <p:nvSpPr>
          <p:cNvPr id="80" name="Rectangle 79"/>
          <p:cNvSpPr/>
          <p:nvPr/>
        </p:nvSpPr>
        <p:spPr>
          <a:xfrm>
            <a:off x="5924520" y="1295280"/>
            <a:ext cx="2571480" cy="3614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400" b="0" u="none" strike="noStrike">
                <a:solidFill>
                  <a:srgbClr val="FFFFFF"/>
                </a:solidFill>
                <a:effectLst/>
                <a:uFillTx/>
                <a:latin typeface="Goldman"/>
              </a:rPr>
              <a:t>Chunking</a:t>
            </a:r>
            <a:endParaRPr lang="en-US" sz="1400" b="0" u="none" strike="noStrike">
              <a:solidFill>
                <a:srgbClr val="FFFFFF"/>
              </a:solidFill>
              <a:effectLst/>
              <a:uFillTx/>
              <a:latin typeface="OpenSymbol"/>
            </a:endParaRPr>
          </a:p>
        </p:txBody>
      </p:sp>
      <p:sp>
        <p:nvSpPr>
          <p:cNvPr id="81" name="Rectangle 80"/>
          <p:cNvSpPr/>
          <p:nvPr/>
        </p:nvSpPr>
        <p:spPr>
          <a:xfrm>
            <a:off x="5924520" y="1962000"/>
            <a:ext cx="2571480" cy="5140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FFFFFF"/>
                </a:solidFill>
                <a:effectLst/>
                <a:uFillTx/>
                <a:latin typeface="Albert Sans"/>
              </a:rPr>
              <a:t>Split text into context blocks for efficient processing.</a:t>
            </a:r>
            <a:endParaRPr lang="en-US" sz="1200" b="0" u="none" strike="noStrike">
              <a:solidFill>
                <a:srgbClr val="FFFFFF"/>
              </a:solidFill>
              <a:effectLst/>
              <a:uFillTx/>
              <a:latin typeface="OpenSymbol"/>
            </a:endParaRPr>
          </a:p>
        </p:txBody>
      </p:sp>
      <p:sp>
        <p:nvSpPr>
          <p:cNvPr id="82" name="Rectangle 81"/>
          <p:cNvSpPr/>
          <p:nvPr/>
        </p:nvSpPr>
        <p:spPr>
          <a:xfrm>
            <a:off x="476280" y="3295800"/>
            <a:ext cx="2571480" cy="3614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400" b="0" u="none" strike="noStrike">
                <a:solidFill>
                  <a:srgbClr val="FFFFFF"/>
                </a:solidFill>
                <a:effectLst/>
                <a:uFillTx/>
                <a:latin typeface="Goldman"/>
              </a:rPr>
              <a:t>Embeddings</a:t>
            </a:r>
            <a:endParaRPr lang="en-US" sz="1400" b="0" u="none" strike="noStrike">
              <a:solidFill>
                <a:srgbClr val="FFFFFF"/>
              </a:solidFill>
              <a:effectLst/>
              <a:uFillTx/>
              <a:latin typeface="OpenSymbol"/>
            </a:endParaRPr>
          </a:p>
        </p:txBody>
      </p:sp>
      <p:sp>
        <p:nvSpPr>
          <p:cNvPr id="83" name="Rectangle 82"/>
          <p:cNvSpPr/>
          <p:nvPr/>
        </p:nvSpPr>
        <p:spPr>
          <a:xfrm>
            <a:off x="476280" y="3962520"/>
            <a:ext cx="2571480" cy="5140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FFFFFF"/>
                </a:solidFill>
                <a:effectLst/>
                <a:uFillTx/>
                <a:latin typeface="Albert Sans"/>
              </a:rPr>
              <a:t>Generate semantic vectors to enable precise retrieval.</a:t>
            </a:r>
            <a:endParaRPr lang="en-US" sz="1200" b="0" u="none" strike="noStrike">
              <a:solidFill>
                <a:srgbClr val="FFFFFF"/>
              </a:solidFill>
              <a:effectLst/>
              <a:uFillTx/>
              <a:latin typeface="OpenSymbol"/>
            </a:endParaRPr>
          </a:p>
        </p:txBody>
      </p:sp>
      <p:sp>
        <p:nvSpPr>
          <p:cNvPr id="84" name="Rectangle 83"/>
          <p:cNvSpPr/>
          <p:nvPr/>
        </p:nvSpPr>
        <p:spPr>
          <a:xfrm>
            <a:off x="3200400" y="3295800"/>
            <a:ext cx="2571480" cy="3614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400" b="0" u="none" strike="noStrike">
                <a:solidFill>
                  <a:srgbClr val="FFFFFF"/>
                </a:solidFill>
                <a:effectLst/>
                <a:uFillTx/>
                <a:latin typeface="Goldman"/>
              </a:rPr>
              <a:t>Store in DB</a:t>
            </a:r>
            <a:endParaRPr lang="en-US" sz="1400" b="0" u="none" strike="noStrike">
              <a:solidFill>
                <a:srgbClr val="FFFFFF"/>
              </a:solidFill>
              <a:effectLst/>
              <a:uFillTx/>
              <a:latin typeface="OpenSymbol"/>
            </a:endParaRPr>
          </a:p>
        </p:txBody>
      </p:sp>
      <p:sp>
        <p:nvSpPr>
          <p:cNvPr id="85" name="Rectangle 84"/>
          <p:cNvSpPr/>
          <p:nvPr/>
        </p:nvSpPr>
        <p:spPr>
          <a:xfrm>
            <a:off x="3200400" y="3962520"/>
            <a:ext cx="2571480" cy="51408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FFFFFF"/>
                </a:solidFill>
                <a:effectLst/>
                <a:uFillTx/>
                <a:latin typeface="Albert Sans"/>
              </a:rPr>
              <a:t>Persist chunks and embeddings in private store for fast access.</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ounded Rectangle 85"/>
          <p:cNvSpPr/>
          <p:nvPr/>
        </p:nvSpPr>
        <p:spPr>
          <a:xfrm>
            <a:off x="3610080" y="628560"/>
            <a:ext cx="9000" cy="3885840"/>
          </a:xfrm>
          <a:prstGeom prst="roundRect">
            <a:avLst>
              <a:gd name="adj" fmla="val 16667"/>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87" name="Rounded Rectangle 86"/>
          <p:cNvSpPr/>
          <p:nvPr/>
        </p:nvSpPr>
        <p:spPr>
          <a:xfrm>
            <a:off x="3143160" y="324000"/>
            <a:ext cx="952200" cy="304560"/>
          </a:xfrm>
          <a:prstGeom prst="roundRect">
            <a:avLst>
              <a:gd name="adj" fmla="val 16667"/>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88" name="Rounded Rectangle 87"/>
          <p:cNvSpPr/>
          <p:nvPr/>
        </p:nvSpPr>
        <p:spPr>
          <a:xfrm>
            <a:off x="3143160" y="4514760"/>
            <a:ext cx="952200" cy="304560"/>
          </a:xfrm>
          <a:prstGeom prst="roundRect">
            <a:avLst>
              <a:gd name="adj" fmla="val 16667"/>
            </a:avLst>
          </a:prstGeom>
          <a:solidFill>
            <a:srgbClr val="70E0FF"/>
          </a:solidFill>
          <a:ln w="0">
            <a:noFill/>
          </a:ln>
        </p:spPr>
        <p:style>
          <a:lnRef idx="0">
            <a:srgbClr val="FFFFFF"/>
          </a:lnRef>
          <a:fillRef idx="0">
            <a:srgbClr val="FFFFFF"/>
          </a:fillRef>
          <a:effectRef idx="0">
            <a:srgbClr val="FFFFFF"/>
          </a:effectRef>
          <a:fontRef idx="minor"/>
        </p:style>
        <p:txBody>
          <a:bodyPr vertOverflow="clip" lIns="90000" tIns="45000" rIns="90000" bIns="4500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89" name="Rectangle 88"/>
          <p:cNvSpPr/>
          <p:nvPr/>
        </p:nvSpPr>
        <p:spPr>
          <a:xfrm>
            <a:off x="3610080" y="1000080"/>
            <a:ext cx="561600" cy="9000"/>
          </a:xfrm>
          <a:prstGeom prst="rect">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35640" rIns="90000" bIns="-3564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90" name="Isosceles Triangle 89"/>
          <p:cNvSpPr/>
          <p:nvPr/>
        </p:nvSpPr>
        <p:spPr>
          <a:xfrm rot="5400000">
            <a:off x="4172040" y="961920"/>
            <a:ext cx="75960" cy="75960"/>
          </a:xfrm>
          <a:prstGeom prst="triangle">
            <a:avLst>
              <a:gd name="adj" fmla="val 50000"/>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6840" rIns="90000" bIns="-684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91" name="Rectangle 90"/>
          <p:cNvSpPr/>
          <p:nvPr/>
        </p:nvSpPr>
        <p:spPr>
          <a:xfrm>
            <a:off x="3610080" y="2048040"/>
            <a:ext cx="561600" cy="9000"/>
          </a:xfrm>
          <a:prstGeom prst="rect">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35640" rIns="90000" bIns="-3564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92" name="Isosceles Triangle 91"/>
          <p:cNvSpPr/>
          <p:nvPr/>
        </p:nvSpPr>
        <p:spPr>
          <a:xfrm rot="5400000">
            <a:off x="4172040" y="2009880"/>
            <a:ext cx="75960" cy="75960"/>
          </a:xfrm>
          <a:prstGeom prst="triangle">
            <a:avLst>
              <a:gd name="adj" fmla="val 50000"/>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6840" rIns="90000" bIns="-684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93" name="Rectangle 92"/>
          <p:cNvSpPr/>
          <p:nvPr/>
        </p:nvSpPr>
        <p:spPr>
          <a:xfrm>
            <a:off x="3610080" y="3095640"/>
            <a:ext cx="561600" cy="9000"/>
          </a:xfrm>
          <a:prstGeom prst="rect">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35640" rIns="90000" bIns="-3564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94" name="Isosceles Triangle 93"/>
          <p:cNvSpPr/>
          <p:nvPr/>
        </p:nvSpPr>
        <p:spPr>
          <a:xfrm rot="5400000">
            <a:off x="4172040" y="3057480"/>
            <a:ext cx="75960" cy="75960"/>
          </a:xfrm>
          <a:prstGeom prst="triangle">
            <a:avLst>
              <a:gd name="adj" fmla="val 50000"/>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6840" rIns="90000" bIns="-684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95" name="Rectangle 94"/>
          <p:cNvSpPr/>
          <p:nvPr/>
        </p:nvSpPr>
        <p:spPr>
          <a:xfrm>
            <a:off x="3610080" y="4143240"/>
            <a:ext cx="561600" cy="9000"/>
          </a:xfrm>
          <a:prstGeom prst="rect">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35640" rIns="90000" bIns="-3564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96" name="Isosceles Triangle 95"/>
          <p:cNvSpPr/>
          <p:nvPr/>
        </p:nvSpPr>
        <p:spPr>
          <a:xfrm rot="5400000">
            <a:off x="4172040" y="4105440"/>
            <a:ext cx="75960" cy="75960"/>
          </a:xfrm>
          <a:prstGeom prst="triangle">
            <a:avLst>
              <a:gd name="adj" fmla="val 50000"/>
            </a:avLst>
          </a:prstGeom>
          <a:solidFill>
            <a:srgbClr val="FFFFFF"/>
          </a:solidFill>
          <a:ln w="0">
            <a:noFill/>
          </a:ln>
        </p:spPr>
        <p:style>
          <a:lnRef idx="0">
            <a:srgbClr val="FFFFFF"/>
          </a:lnRef>
          <a:fillRef idx="0">
            <a:srgbClr val="FFFFFF"/>
          </a:fillRef>
          <a:effectRef idx="0">
            <a:srgbClr val="FFFFFF"/>
          </a:effectRef>
          <a:fontRef idx="minor"/>
        </p:style>
        <p:txBody>
          <a:bodyPr vertOverflow="clip" lIns="90000" tIns="-6840" rIns="90000" bIns="-6840" anchor="ctr">
            <a:noAutofit/>
          </a:bodyPr>
          <a:p>
            <a:pPr algn="ctr" defTabSz="914400">
              <a:lnSpc>
                <a:spcPct val="100000"/>
              </a:lnSpc>
            </a:pPr>
            <a:endParaRPr lang="en-US" sz="1800" b="0" u="none" strike="noStrike">
              <a:solidFill>
                <a:srgbClr val="000000"/>
              </a:solidFill>
              <a:effectLst/>
              <a:uFillTx/>
              <a:latin typeface="OpenSymbol"/>
            </a:endParaRPr>
          </a:p>
        </p:txBody>
      </p:sp>
      <p:sp>
        <p:nvSpPr>
          <p:cNvPr id="97" name="Rectangle 96"/>
          <p:cNvSpPr/>
          <p:nvPr/>
        </p:nvSpPr>
        <p:spPr>
          <a:xfrm>
            <a:off x="476280" y="324000"/>
            <a:ext cx="2285640" cy="79020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92500" lnSpcReduction="9999"/>
          </a:bodyPr>
          <a:p>
            <a:pPr defTabSz="914400">
              <a:lnSpc>
                <a:spcPct val="100000"/>
              </a:lnSpc>
              <a:tabLst>
                <a:tab pos="0" algn="l"/>
              </a:tabLst>
            </a:pPr>
            <a:r>
              <a:rPr lang="en-US" sz="2600" b="0" u="none" strike="noStrike">
                <a:solidFill>
                  <a:srgbClr val="FFFFFF"/>
                </a:solidFill>
                <a:effectLst/>
                <a:uFillTx/>
                <a:latin typeface="Goldman"/>
              </a:rPr>
              <a:t>AgentFlow Timeline</a:t>
            </a:r>
            <a:endParaRPr lang="en-US" sz="2600" b="0" u="none" strike="noStrike">
              <a:solidFill>
                <a:srgbClr val="FFFFFF"/>
              </a:solidFill>
              <a:effectLst/>
              <a:uFillTx/>
              <a:latin typeface="OpenSymbol"/>
            </a:endParaRPr>
          </a:p>
        </p:txBody>
      </p:sp>
      <p:sp>
        <p:nvSpPr>
          <p:cNvPr id="98" name="Rectangle 97"/>
          <p:cNvSpPr/>
          <p:nvPr/>
        </p:nvSpPr>
        <p:spPr>
          <a:xfrm>
            <a:off x="4476600" y="714240"/>
            <a:ext cx="1523520" cy="361440"/>
          </a:xfrm>
          <a:prstGeom prst="rect">
            <a:avLst/>
          </a:prstGeom>
          <a:noFill/>
          <a:ln w="0">
            <a:noFill/>
          </a:ln>
        </p:spPr>
        <p:style>
          <a:lnRef idx="0">
            <a:srgbClr val="FFFFFF"/>
          </a:lnRef>
          <a:fillRef idx="0">
            <a:srgbClr val="FFFFFF"/>
          </a:fillRef>
          <a:effectRef idx="0">
            <a:srgbClr val="FFFFFF"/>
          </a:effectRef>
          <a:fontRef idx="minor"/>
        </p:style>
        <p:txBody>
          <a:bodyPr anchor="ctr">
            <a:normAutofit/>
          </a:bodyPr>
          <a:p>
            <a:pPr defTabSz="914400">
              <a:lnSpc>
                <a:spcPct val="100000"/>
              </a:lnSpc>
              <a:tabLst>
                <a:tab pos="0" algn="l"/>
              </a:tabLst>
            </a:pPr>
            <a:r>
              <a:rPr lang="en-US" sz="1400" b="0" u="none" strike="noStrike">
                <a:solidFill>
                  <a:srgbClr val="FFFFFF"/>
                </a:solidFill>
                <a:effectLst/>
                <a:uFillTx/>
                <a:latin typeface="Goldman"/>
              </a:rPr>
              <a:t>Upload PDF</a:t>
            </a:r>
            <a:endParaRPr lang="en-US" sz="1400" b="0" u="none" strike="noStrike">
              <a:solidFill>
                <a:srgbClr val="FFFFFF"/>
              </a:solidFill>
              <a:effectLst/>
              <a:uFillTx/>
              <a:latin typeface="OpenSymbol"/>
            </a:endParaRPr>
          </a:p>
        </p:txBody>
      </p:sp>
      <p:sp>
        <p:nvSpPr>
          <p:cNvPr id="99" name="Rectangle 98"/>
          <p:cNvSpPr/>
          <p:nvPr/>
        </p:nvSpPr>
        <p:spPr>
          <a:xfrm>
            <a:off x="6191280" y="542880"/>
            <a:ext cx="2476080" cy="514080"/>
          </a:xfrm>
          <a:prstGeom prst="rect">
            <a:avLst/>
          </a:prstGeom>
          <a:noFill/>
          <a:ln w="0">
            <a:noFill/>
          </a:ln>
        </p:spPr>
        <p:style>
          <a:lnRef idx="0">
            <a:srgbClr val="FFFFFF"/>
          </a:lnRef>
          <a:fillRef idx="0">
            <a:srgbClr val="FFFFFF"/>
          </a:fillRef>
          <a:effectRef idx="0">
            <a:srgbClr val="FFFFFF"/>
          </a:effectRef>
          <a:fontRef idx="minor"/>
        </p:style>
        <p:txBody>
          <a:bodyPr anchor="ctr">
            <a:normAutofit/>
          </a:bodyPr>
          <a:p>
            <a:pPr defTabSz="914400">
              <a:lnSpc>
                <a:spcPct val="100000"/>
              </a:lnSpc>
              <a:tabLst>
                <a:tab pos="0" algn="l"/>
              </a:tabLst>
            </a:pPr>
            <a:r>
              <a:rPr lang="en-US" sz="1200" b="0" u="none" strike="noStrike">
                <a:solidFill>
                  <a:srgbClr val="FFFFFF"/>
                </a:solidFill>
                <a:effectLst/>
                <a:uFillTx/>
                <a:latin typeface="Albert Sans"/>
              </a:rPr>
              <a:t>Users upload private PDFs to seed the workspace.</a:t>
            </a:r>
            <a:endParaRPr lang="en-US" sz="1200" b="0" u="none" strike="noStrike">
              <a:solidFill>
                <a:srgbClr val="FFFFFF"/>
              </a:solidFill>
              <a:effectLst/>
              <a:uFillTx/>
              <a:latin typeface="OpenSymbol"/>
            </a:endParaRPr>
          </a:p>
        </p:txBody>
      </p:sp>
      <p:sp>
        <p:nvSpPr>
          <p:cNvPr id="100" name="Rectangle 99"/>
          <p:cNvSpPr/>
          <p:nvPr/>
        </p:nvSpPr>
        <p:spPr>
          <a:xfrm>
            <a:off x="4476600" y="1762200"/>
            <a:ext cx="1523520" cy="580680"/>
          </a:xfrm>
          <a:prstGeom prst="rect">
            <a:avLst/>
          </a:prstGeom>
          <a:noFill/>
          <a:ln w="0">
            <a:noFill/>
          </a:ln>
        </p:spPr>
        <p:style>
          <a:lnRef idx="0">
            <a:srgbClr val="FFFFFF"/>
          </a:lnRef>
          <a:fillRef idx="0">
            <a:srgbClr val="FFFFFF"/>
          </a:fillRef>
          <a:effectRef idx="0">
            <a:srgbClr val="FFFFFF"/>
          </a:effectRef>
          <a:fontRef idx="minor"/>
        </p:style>
        <p:txBody>
          <a:bodyPr anchor="ctr">
            <a:normAutofit/>
          </a:bodyPr>
          <a:p>
            <a:pPr defTabSz="914400">
              <a:lnSpc>
                <a:spcPct val="100000"/>
              </a:lnSpc>
              <a:tabLst>
                <a:tab pos="0" algn="l"/>
              </a:tabLst>
            </a:pPr>
            <a:r>
              <a:rPr lang="en-US" sz="1400" b="0" u="none" strike="noStrike">
                <a:solidFill>
                  <a:srgbClr val="FFFFFF"/>
                </a:solidFill>
                <a:effectLst/>
                <a:uFillTx/>
                <a:latin typeface="Goldman"/>
              </a:rPr>
              <a:t>Text Extraction</a:t>
            </a:r>
            <a:endParaRPr lang="en-US" sz="1400" b="0" u="none" strike="noStrike">
              <a:solidFill>
                <a:srgbClr val="FFFFFF"/>
              </a:solidFill>
              <a:effectLst/>
              <a:uFillTx/>
              <a:latin typeface="OpenSymbol"/>
            </a:endParaRPr>
          </a:p>
        </p:txBody>
      </p:sp>
      <p:sp>
        <p:nvSpPr>
          <p:cNvPr id="101" name="Rectangle 100"/>
          <p:cNvSpPr/>
          <p:nvPr/>
        </p:nvSpPr>
        <p:spPr>
          <a:xfrm>
            <a:off x="6191280" y="1590840"/>
            <a:ext cx="2476080" cy="704520"/>
          </a:xfrm>
          <a:prstGeom prst="rect">
            <a:avLst/>
          </a:prstGeom>
          <a:noFill/>
          <a:ln w="0">
            <a:noFill/>
          </a:ln>
        </p:spPr>
        <p:style>
          <a:lnRef idx="0">
            <a:srgbClr val="FFFFFF"/>
          </a:lnRef>
          <a:fillRef idx="0">
            <a:srgbClr val="FFFFFF"/>
          </a:fillRef>
          <a:effectRef idx="0">
            <a:srgbClr val="FFFFFF"/>
          </a:effectRef>
          <a:fontRef idx="minor"/>
        </p:style>
        <p:txBody>
          <a:bodyPr anchor="ctr">
            <a:normAutofit/>
          </a:bodyPr>
          <a:p>
            <a:pPr defTabSz="914400">
              <a:lnSpc>
                <a:spcPct val="100000"/>
              </a:lnSpc>
              <a:tabLst>
                <a:tab pos="0" algn="l"/>
              </a:tabLst>
            </a:pPr>
            <a:r>
              <a:rPr lang="en-US" sz="1200" b="0" u="none" strike="noStrike">
                <a:solidFill>
                  <a:srgbClr val="FFFFFF"/>
                </a:solidFill>
                <a:effectLst/>
                <a:uFillTx/>
                <a:latin typeface="Albert Sans"/>
              </a:rPr>
              <a:t>OCR/text extraction pulls readable text from the document.</a:t>
            </a:r>
            <a:endParaRPr lang="en-US" sz="1200" b="0" u="none" strike="noStrike">
              <a:solidFill>
                <a:srgbClr val="FFFFFF"/>
              </a:solidFill>
              <a:effectLst/>
              <a:uFillTx/>
              <a:latin typeface="OpenSymbol"/>
            </a:endParaRPr>
          </a:p>
        </p:txBody>
      </p:sp>
      <p:sp>
        <p:nvSpPr>
          <p:cNvPr id="102" name="Rectangle 101"/>
          <p:cNvSpPr/>
          <p:nvPr/>
        </p:nvSpPr>
        <p:spPr>
          <a:xfrm>
            <a:off x="4476600" y="2809800"/>
            <a:ext cx="1523520" cy="361440"/>
          </a:xfrm>
          <a:prstGeom prst="rect">
            <a:avLst/>
          </a:prstGeom>
          <a:noFill/>
          <a:ln w="0">
            <a:noFill/>
          </a:ln>
        </p:spPr>
        <p:style>
          <a:lnRef idx="0">
            <a:srgbClr val="FFFFFF"/>
          </a:lnRef>
          <a:fillRef idx="0">
            <a:srgbClr val="FFFFFF"/>
          </a:fillRef>
          <a:effectRef idx="0">
            <a:srgbClr val="FFFFFF"/>
          </a:effectRef>
          <a:fontRef idx="minor"/>
        </p:style>
        <p:txBody>
          <a:bodyPr anchor="ctr">
            <a:normAutofit/>
          </a:bodyPr>
          <a:p>
            <a:pPr defTabSz="914400">
              <a:lnSpc>
                <a:spcPct val="100000"/>
              </a:lnSpc>
              <a:tabLst>
                <a:tab pos="0" algn="l"/>
              </a:tabLst>
            </a:pPr>
            <a:r>
              <a:rPr lang="en-US" sz="1400" b="0" u="none" strike="noStrike">
                <a:solidFill>
                  <a:srgbClr val="FFFFFF"/>
                </a:solidFill>
                <a:effectLst/>
                <a:uFillTx/>
                <a:latin typeface="Goldman"/>
              </a:rPr>
              <a:t>Chunking</a:t>
            </a:r>
            <a:endParaRPr lang="en-US" sz="1400" b="0" u="none" strike="noStrike">
              <a:solidFill>
                <a:srgbClr val="FFFFFF"/>
              </a:solidFill>
              <a:effectLst/>
              <a:uFillTx/>
              <a:latin typeface="OpenSymbol"/>
            </a:endParaRPr>
          </a:p>
        </p:txBody>
      </p:sp>
      <p:sp>
        <p:nvSpPr>
          <p:cNvPr id="103" name="Rectangle 102"/>
          <p:cNvSpPr/>
          <p:nvPr/>
        </p:nvSpPr>
        <p:spPr>
          <a:xfrm>
            <a:off x="6191280" y="2638440"/>
            <a:ext cx="2476080" cy="514080"/>
          </a:xfrm>
          <a:prstGeom prst="rect">
            <a:avLst/>
          </a:prstGeom>
          <a:noFill/>
          <a:ln w="0">
            <a:noFill/>
          </a:ln>
        </p:spPr>
        <p:style>
          <a:lnRef idx="0">
            <a:srgbClr val="FFFFFF"/>
          </a:lnRef>
          <a:fillRef idx="0">
            <a:srgbClr val="FFFFFF"/>
          </a:fillRef>
          <a:effectRef idx="0">
            <a:srgbClr val="FFFFFF"/>
          </a:effectRef>
          <a:fontRef idx="minor"/>
        </p:style>
        <p:txBody>
          <a:bodyPr anchor="ctr">
            <a:normAutofit/>
          </a:bodyPr>
          <a:p>
            <a:pPr defTabSz="914400">
              <a:lnSpc>
                <a:spcPct val="100000"/>
              </a:lnSpc>
              <a:tabLst>
                <a:tab pos="0" algn="l"/>
              </a:tabLst>
            </a:pPr>
            <a:r>
              <a:rPr lang="en-US" sz="1200" b="0" u="none" strike="noStrike">
                <a:solidFill>
                  <a:srgbClr val="FFFFFF"/>
                </a:solidFill>
                <a:effectLst/>
                <a:uFillTx/>
                <a:latin typeface="Albert Sans"/>
              </a:rPr>
              <a:t>Split text into context-safe chunks for embedding.</a:t>
            </a:r>
            <a:endParaRPr lang="en-US" sz="1200" b="0" u="none" strike="noStrike">
              <a:solidFill>
                <a:srgbClr val="FFFFFF"/>
              </a:solidFill>
              <a:effectLst/>
              <a:uFillTx/>
              <a:latin typeface="OpenSymbol"/>
            </a:endParaRPr>
          </a:p>
        </p:txBody>
      </p:sp>
      <p:sp>
        <p:nvSpPr>
          <p:cNvPr id="104" name="Rectangle 103"/>
          <p:cNvSpPr/>
          <p:nvPr/>
        </p:nvSpPr>
        <p:spPr>
          <a:xfrm>
            <a:off x="4476600" y="3857760"/>
            <a:ext cx="1523520" cy="361440"/>
          </a:xfrm>
          <a:prstGeom prst="rect">
            <a:avLst/>
          </a:prstGeom>
          <a:noFill/>
          <a:ln w="0">
            <a:noFill/>
          </a:ln>
        </p:spPr>
        <p:style>
          <a:lnRef idx="0">
            <a:srgbClr val="FFFFFF"/>
          </a:lnRef>
          <a:fillRef idx="0">
            <a:srgbClr val="FFFFFF"/>
          </a:fillRef>
          <a:effectRef idx="0">
            <a:srgbClr val="FFFFFF"/>
          </a:effectRef>
          <a:fontRef idx="minor"/>
        </p:style>
        <p:txBody>
          <a:bodyPr anchor="ctr">
            <a:normAutofit/>
          </a:bodyPr>
          <a:p>
            <a:pPr defTabSz="914400">
              <a:lnSpc>
                <a:spcPct val="100000"/>
              </a:lnSpc>
              <a:tabLst>
                <a:tab pos="0" algn="l"/>
              </a:tabLst>
            </a:pPr>
            <a:r>
              <a:rPr lang="en-US" sz="1400" b="0" u="none" strike="noStrike">
                <a:solidFill>
                  <a:srgbClr val="FFFFFF"/>
                </a:solidFill>
                <a:effectLst/>
                <a:uFillTx/>
                <a:latin typeface="Goldman"/>
              </a:rPr>
              <a:t>Embeddings</a:t>
            </a:r>
            <a:endParaRPr lang="en-US" sz="1400" b="0" u="none" strike="noStrike">
              <a:solidFill>
                <a:srgbClr val="FFFFFF"/>
              </a:solidFill>
              <a:effectLst/>
              <a:uFillTx/>
              <a:latin typeface="OpenSymbol"/>
            </a:endParaRPr>
          </a:p>
        </p:txBody>
      </p:sp>
      <p:sp>
        <p:nvSpPr>
          <p:cNvPr id="105" name="Rectangle 104"/>
          <p:cNvSpPr/>
          <p:nvPr/>
        </p:nvSpPr>
        <p:spPr>
          <a:xfrm>
            <a:off x="6191280" y="3686040"/>
            <a:ext cx="2476080" cy="514080"/>
          </a:xfrm>
          <a:prstGeom prst="rect">
            <a:avLst/>
          </a:prstGeom>
          <a:noFill/>
          <a:ln w="0">
            <a:noFill/>
          </a:ln>
        </p:spPr>
        <p:style>
          <a:lnRef idx="0">
            <a:srgbClr val="FFFFFF"/>
          </a:lnRef>
          <a:fillRef idx="0">
            <a:srgbClr val="FFFFFF"/>
          </a:fillRef>
          <a:effectRef idx="0">
            <a:srgbClr val="FFFFFF"/>
          </a:effectRef>
          <a:fontRef idx="minor"/>
        </p:style>
        <p:txBody>
          <a:bodyPr anchor="ctr">
            <a:normAutofit/>
          </a:bodyPr>
          <a:p>
            <a:pPr defTabSz="914400">
              <a:lnSpc>
                <a:spcPct val="100000"/>
              </a:lnSpc>
              <a:tabLst>
                <a:tab pos="0" algn="l"/>
              </a:tabLst>
            </a:pPr>
            <a:r>
              <a:rPr lang="en-US" sz="1200" b="0" u="none" strike="noStrike">
                <a:solidFill>
                  <a:srgbClr val="FFFFFF"/>
                </a:solidFill>
                <a:effectLst/>
                <a:uFillTx/>
                <a:latin typeface="Albert Sans"/>
              </a:rPr>
              <a:t>Generate vector representations for each chunk.</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Rectangle 105"/>
          <p:cNvSpPr/>
          <p:nvPr/>
        </p:nvSpPr>
        <p:spPr>
          <a:xfrm>
            <a:off x="476280" y="380880"/>
            <a:ext cx="8191080" cy="36144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85000" lnSpcReduction="19999"/>
          </a:bodyPr>
          <a:p>
            <a:pPr defTabSz="914400">
              <a:lnSpc>
                <a:spcPct val="100000"/>
              </a:lnSpc>
              <a:tabLst>
                <a:tab pos="0" algn="l"/>
              </a:tabLst>
            </a:pPr>
            <a:r>
              <a:rPr lang="en-US" sz="2400" b="0" u="none" strike="noStrike">
                <a:solidFill>
                  <a:srgbClr val="FFFFFF"/>
                </a:solidFill>
                <a:effectLst/>
                <a:uFillTx/>
                <a:latin typeface="Goldman"/>
              </a:rPr>
              <a:t>Local Inference Wins</a:t>
            </a:r>
            <a:endParaRPr lang="en-US" sz="2400" b="0" u="none" strike="noStrike">
              <a:solidFill>
                <a:srgbClr val="FFFFFF"/>
              </a:solidFill>
              <a:effectLst/>
              <a:uFillTx/>
              <a:latin typeface="OpenSymbol"/>
            </a:endParaRPr>
          </a:p>
        </p:txBody>
      </p:sp>
      <p:sp>
        <p:nvSpPr>
          <p:cNvPr id="107" name="Rectangle 106"/>
          <p:cNvSpPr/>
          <p:nvPr/>
        </p:nvSpPr>
        <p:spPr>
          <a:xfrm>
            <a:off x="476280" y="1428840"/>
            <a:ext cx="2381040" cy="209160"/>
          </a:xfrm>
          <a:prstGeom prst="rect">
            <a:avLst/>
          </a:prstGeom>
          <a:noFill/>
          <a:ln w="0">
            <a:noFill/>
          </a:ln>
        </p:spPr>
        <p:style>
          <a:lnRef idx="0">
            <a:srgbClr val="FFFFFF"/>
          </a:lnRef>
          <a:fillRef idx="0">
            <a:srgbClr val="FFFFFF"/>
          </a:fillRef>
          <a:effectRef idx="0">
            <a:srgbClr val="FFFFFF"/>
          </a:effectRef>
          <a:fontRef idx="minor"/>
        </p:style>
        <p:txBody>
          <a:bodyPr anchor="ctr">
            <a:normAutofit fontScale="62500" lnSpcReduction="19999"/>
          </a:bodyPr>
          <a:p>
            <a:pPr defTabSz="914400">
              <a:lnSpc>
                <a:spcPct val="100000"/>
              </a:lnSpc>
              <a:tabLst>
                <a:tab pos="0" algn="l"/>
              </a:tabLst>
            </a:pPr>
            <a:r>
              <a:rPr lang="en-US" sz="1400" b="0" u="none" strike="noStrike">
                <a:solidFill>
                  <a:srgbClr val="FFFFFF"/>
                </a:solidFill>
                <a:effectLst/>
                <a:uFillTx/>
                <a:latin typeface="Albert Sans"/>
              </a:rPr>
              <a:t>Index 10–50 pages</a:t>
            </a:r>
            <a:endParaRPr lang="en-US" sz="1400" b="0" u="none" strike="noStrike">
              <a:solidFill>
                <a:srgbClr val="FFFFFF"/>
              </a:solidFill>
              <a:effectLst/>
              <a:uFillTx/>
              <a:latin typeface="OpenSymbol"/>
            </a:endParaRPr>
          </a:p>
        </p:txBody>
      </p:sp>
      <p:sp>
        <p:nvSpPr>
          <p:cNvPr id="108" name="Rectangle 107"/>
          <p:cNvSpPr/>
          <p:nvPr/>
        </p:nvSpPr>
        <p:spPr>
          <a:xfrm>
            <a:off x="3048120" y="1428840"/>
            <a:ext cx="2571480" cy="361440"/>
          </a:xfrm>
          <a:prstGeom prst="rect">
            <a:avLst/>
          </a:prstGeom>
          <a:noFill/>
          <a:ln w="0">
            <a:noFill/>
          </a:ln>
        </p:spPr>
        <p:style>
          <a:lnRef idx="0">
            <a:srgbClr val="FFFFFF"/>
          </a:lnRef>
          <a:fillRef idx="0">
            <a:srgbClr val="FFFFFF"/>
          </a:fillRef>
          <a:effectRef idx="0">
            <a:srgbClr val="FFFFFF"/>
          </a:effectRef>
          <a:fontRef idx="minor"/>
        </p:style>
        <p:txBody>
          <a:bodyPr anchor="ctr">
            <a:normAutofit fontScale="92500" lnSpcReduction="9999"/>
          </a:bodyPr>
          <a:p>
            <a:pPr defTabSz="914400">
              <a:lnSpc>
                <a:spcPct val="100000"/>
              </a:lnSpc>
              <a:tabLst>
                <a:tab pos="0" algn="l"/>
              </a:tabLst>
            </a:pPr>
            <a:r>
              <a:rPr lang="en-US" sz="1200" b="0" u="none" strike="noStrike">
                <a:solidFill>
                  <a:srgbClr val="FFFFFF"/>
                </a:solidFill>
                <a:effectLst/>
                <a:uFillTx/>
                <a:latin typeface="Albert Sans"/>
              </a:rPr>
              <a:t>Indexed in ~8–25s on a consumer AMD GPU.</a:t>
            </a:r>
            <a:endParaRPr lang="en-US" sz="1200" b="0" u="none" strike="noStrike">
              <a:solidFill>
                <a:srgbClr val="FFFFFF"/>
              </a:solidFill>
              <a:effectLst/>
              <a:uFillTx/>
              <a:latin typeface="OpenSymbol"/>
            </a:endParaRPr>
          </a:p>
        </p:txBody>
      </p:sp>
      <p:sp>
        <p:nvSpPr>
          <p:cNvPr id="109" name="Rectangle 108"/>
          <p:cNvSpPr/>
          <p:nvPr/>
        </p:nvSpPr>
        <p:spPr>
          <a:xfrm>
            <a:off x="5810400" y="1428840"/>
            <a:ext cx="2857320" cy="552240"/>
          </a:xfrm>
          <a:prstGeom prst="rect">
            <a:avLst/>
          </a:prstGeom>
          <a:noFill/>
          <a:ln w="0">
            <a:noFill/>
          </a:ln>
        </p:spPr>
        <p:style>
          <a:lnRef idx="0">
            <a:srgbClr val="FFFFFF"/>
          </a:lnRef>
          <a:fillRef idx="0">
            <a:srgbClr val="FFFFFF"/>
          </a:fillRef>
          <a:effectRef idx="0">
            <a:srgbClr val="FFFFFF"/>
          </a:effectRef>
          <a:fontRef idx="minor"/>
        </p:style>
        <p:txBody>
          <a:bodyPr anchor="ctr">
            <a:normAutofit fontScale="92500" lnSpcReduction="9999"/>
          </a:bodyPr>
          <a:p>
            <a:pPr algn="r" defTabSz="914400">
              <a:lnSpc>
                <a:spcPct val="100000"/>
              </a:lnSpc>
              <a:tabLst>
                <a:tab pos="0" algn="l"/>
              </a:tabLst>
            </a:pPr>
            <a:r>
              <a:rPr lang="en-US" sz="3600" b="0" u="none" strike="noStrike">
                <a:solidFill>
                  <a:srgbClr val="70E0FF"/>
                </a:solidFill>
                <a:effectLst/>
                <a:uFillTx/>
                <a:latin typeface="Goldman"/>
              </a:rPr>
              <a:t>8–25s</a:t>
            </a:r>
            <a:endParaRPr lang="en-US" sz="3600" b="0" u="none" strike="noStrike">
              <a:solidFill>
                <a:srgbClr val="FFFFFF"/>
              </a:solidFill>
              <a:effectLst/>
              <a:uFillTx/>
              <a:latin typeface="OpenSymbol"/>
            </a:endParaRPr>
          </a:p>
        </p:txBody>
      </p:sp>
      <p:sp>
        <p:nvSpPr>
          <p:cNvPr id="110" name="Rectangle 109"/>
          <p:cNvSpPr/>
          <p:nvPr/>
        </p:nvSpPr>
        <p:spPr>
          <a:xfrm>
            <a:off x="476280" y="2238480"/>
            <a:ext cx="2381040" cy="209160"/>
          </a:xfrm>
          <a:prstGeom prst="rect">
            <a:avLst/>
          </a:prstGeom>
          <a:noFill/>
          <a:ln w="0">
            <a:noFill/>
          </a:ln>
        </p:spPr>
        <p:style>
          <a:lnRef idx="0">
            <a:srgbClr val="FFFFFF"/>
          </a:lnRef>
          <a:fillRef idx="0">
            <a:srgbClr val="FFFFFF"/>
          </a:fillRef>
          <a:effectRef idx="0">
            <a:srgbClr val="FFFFFF"/>
          </a:effectRef>
          <a:fontRef idx="minor"/>
        </p:style>
        <p:txBody>
          <a:bodyPr anchor="ctr">
            <a:normAutofit fontScale="62500" lnSpcReduction="19999"/>
          </a:bodyPr>
          <a:p>
            <a:pPr defTabSz="914400">
              <a:lnSpc>
                <a:spcPct val="100000"/>
              </a:lnSpc>
              <a:tabLst>
                <a:tab pos="0" algn="l"/>
              </a:tabLst>
            </a:pPr>
            <a:r>
              <a:rPr lang="en-US" sz="1400" b="0" u="none" strike="noStrike">
                <a:solidFill>
                  <a:srgbClr val="FFFFFF"/>
                </a:solidFill>
                <a:effectLst/>
                <a:uFillTx/>
                <a:latin typeface="Albert Sans"/>
              </a:rPr>
              <a:t>Avg RAG latency</a:t>
            </a:r>
            <a:endParaRPr lang="en-US" sz="1400" b="0" u="none" strike="noStrike">
              <a:solidFill>
                <a:srgbClr val="FFFFFF"/>
              </a:solidFill>
              <a:effectLst/>
              <a:uFillTx/>
              <a:latin typeface="OpenSymbol"/>
            </a:endParaRPr>
          </a:p>
        </p:txBody>
      </p:sp>
      <p:sp>
        <p:nvSpPr>
          <p:cNvPr id="111" name="Rectangle 110"/>
          <p:cNvSpPr/>
          <p:nvPr/>
        </p:nvSpPr>
        <p:spPr>
          <a:xfrm>
            <a:off x="3048120" y="2238480"/>
            <a:ext cx="2571480" cy="361440"/>
          </a:xfrm>
          <a:prstGeom prst="rect">
            <a:avLst/>
          </a:prstGeom>
          <a:noFill/>
          <a:ln w="0">
            <a:noFill/>
          </a:ln>
        </p:spPr>
        <p:style>
          <a:lnRef idx="0">
            <a:srgbClr val="FFFFFF"/>
          </a:lnRef>
          <a:fillRef idx="0">
            <a:srgbClr val="FFFFFF"/>
          </a:fillRef>
          <a:effectRef idx="0">
            <a:srgbClr val="FFFFFF"/>
          </a:effectRef>
          <a:fontRef idx="minor"/>
        </p:style>
        <p:txBody>
          <a:bodyPr anchor="ctr">
            <a:normAutofit/>
          </a:bodyPr>
          <a:p>
            <a:pPr defTabSz="914400">
              <a:lnSpc>
                <a:spcPct val="100000"/>
              </a:lnSpc>
              <a:tabLst>
                <a:tab pos="0" algn="l"/>
              </a:tabLst>
            </a:pPr>
            <a:r>
              <a:rPr lang="en-US" sz="1200" b="0" u="none" strike="noStrike">
                <a:solidFill>
                  <a:srgbClr val="FFFFFF"/>
                </a:solidFill>
                <a:effectLst/>
                <a:uFillTx/>
                <a:latin typeface="Albert Sans"/>
              </a:rPr>
              <a:t>Local Qwen2.5:3B queries per response.</a:t>
            </a:r>
            <a:endParaRPr lang="en-US" sz="1200" b="0" u="none" strike="noStrike">
              <a:solidFill>
                <a:srgbClr val="FFFFFF"/>
              </a:solidFill>
              <a:effectLst/>
              <a:uFillTx/>
              <a:latin typeface="OpenSymbol"/>
            </a:endParaRPr>
          </a:p>
        </p:txBody>
      </p:sp>
      <p:sp>
        <p:nvSpPr>
          <p:cNvPr id="112" name="Rectangle 111"/>
          <p:cNvSpPr/>
          <p:nvPr/>
        </p:nvSpPr>
        <p:spPr>
          <a:xfrm>
            <a:off x="5810400" y="2238480"/>
            <a:ext cx="2857320" cy="1095120"/>
          </a:xfrm>
          <a:prstGeom prst="rect">
            <a:avLst/>
          </a:prstGeom>
          <a:noFill/>
          <a:ln w="0">
            <a:noFill/>
          </a:ln>
        </p:spPr>
        <p:style>
          <a:lnRef idx="0">
            <a:srgbClr val="FFFFFF"/>
          </a:lnRef>
          <a:fillRef idx="0">
            <a:srgbClr val="FFFFFF"/>
          </a:fillRef>
          <a:effectRef idx="0">
            <a:srgbClr val="FFFFFF"/>
          </a:effectRef>
          <a:fontRef idx="minor"/>
        </p:style>
        <p:txBody>
          <a:bodyPr anchor="ctr">
            <a:normAutofit/>
          </a:bodyPr>
          <a:p>
            <a:pPr algn="r" defTabSz="914400">
              <a:lnSpc>
                <a:spcPct val="100000"/>
              </a:lnSpc>
              <a:tabLst>
                <a:tab pos="0" algn="l"/>
              </a:tabLst>
            </a:pPr>
            <a:r>
              <a:rPr lang="en-US" sz="3600" b="0" u="none" strike="noStrike">
                <a:solidFill>
                  <a:srgbClr val="70E0FF"/>
                </a:solidFill>
                <a:effectLst/>
                <a:uFillTx/>
                <a:latin typeface="Goldman"/>
              </a:rPr>
              <a:t>300–800ms</a:t>
            </a:r>
            <a:endParaRPr lang="en-US" sz="3600" b="0" u="none" strike="noStrike">
              <a:solidFill>
                <a:srgbClr val="FFFFFF"/>
              </a:solidFill>
              <a:effectLst/>
              <a:uFillTx/>
              <a:latin typeface="OpenSymbol"/>
            </a:endParaRPr>
          </a:p>
        </p:txBody>
      </p:sp>
      <p:sp>
        <p:nvSpPr>
          <p:cNvPr id="113" name="Rectangle 112"/>
          <p:cNvSpPr/>
          <p:nvPr/>
        </p:nvSpPr>
        <p:spPr>
          <a:xfrm>
            <a:off x="476280" y="3048120"/>
            <a:ext cx="2381040" cy="209160"/>
          </a:xfrm>
          <a:prstGeom prst="rect">
            <a:avLst/>
          </a:prstGeom>
          <a:noFill/>
          <a:ln w="0">
            <a:noFill/>
          </a:ln>
        </p:spPr>
        <p:style>
          <a:lnRef idx="0">
            <a:srgbClr val="FFFFFF"/>
          </a:lnRef>
          <a:fillRef idx="0">
            <a:srgbClr val="FFFFFF"/>
          </a:fillRef>
          <a:effectRef idx="0">
            <a:srgbClr val="FFFFFF"/>
          </a:effectRef>
          <a:fontRef idx="minor"/>
        </p:style>
        <p:txBody>
          <a:bodyPr anchor="ctr">
            <a:normAutofit fontScale="62500" lnSpcReduction="19999"/>
          </a:bodyPr>
          <a:p>
            <a:pPr defTabSz="914400">
              <a:lnSpc>
                <a:spcPct val="100000"/>
              </a:lnSpc>
              <a:tabLst>
                <a:tab pos="0" algn="l"/>
              </a:tabLst>
            </a:pPr>
            <a:r>
              <a:rPr lang="en-US" sz="1400" b="0" u="none" strike="noStrike">
                <a:solidFill>
                  <a:srgbClr val="FFFFFF"/>
                </a:solidFill>
                <a:effectLst/>
                <a:uFillTx/>
                <a:latin typeface="Albert Sans"/>
              </a:rPr>
              <a:t>Mem footprint</a:t>
            </a:r>
            <a:endParaRPr lang="en-US" sz="1400" b="0" u="none" strike="noStrike">
              <a:solidFill>
                <a:srgbClr val="FFFFFF"/>
              </a:solidFill>
              <a:effectLst/>
              <a:uFillTx/>
              <a:latin typeface="OpenSymbol"/>
            </a:endParaRPr>
          </a:p>
        </p:txBody>
      </p:sp>
      <p:sp>
        <p:nvSpPr>
          <p:cNvPr id="114" name="Rectangle 113"/>
          <p:cNvSpPr/>
          <p:nvPr/>
        </p:nvSpPr>
        <p:spPr>
          <a:xfrm>
            <a:off x="3048120" y="3048120"/>
            <a:ext cx="2571480" cy="180720"/>
          </a:xfrm>
          <a:prstGeom prst="rect">
            <a:avLst/>
          </a:prstGeom>
          <a:noFill/>
          <a:ln w="0">
            <a:noFill/>
          </a:ln>
        </p:spPr>
        <p:style>
          <a:lnRef idx="0">
            <a:srgbClr val="FFFFFF"/>
          </a:lnRef>
          <a:fillRef idx="0">
            <a:srgbClr val="FFFFFF"/>
          </a:fillRef>
          <a:effectRef idx="0">
            <a:srgbClr val="FFFFFF"/>
          </a:effectRef>
          <a:fontRef idx="minor"/>
        </p:style>
        <p:txBody>
          <a:bodyPr anchor="ctr">
            <a:normAutofit fontScale="55000" lnSpcReduction="19999"/>
          </a:bodyPr>
          <a:p>
            <a:pPr defTabSz="914400">
              <a:lnSpc>
                <a:spcPct val="100000"/>
              </a:lnSpc>
              <a:tabLst>
                <a:tab pos="0" algn="l"/>
              </a:tabLst>
            </a:pPr>
            <a:r>
              <a:rPr lang="en-US" sz="1200" b="0" u="none" strike="noStrike">
                <a:solidFill>
                  <a:srgbClr val="FFFFFF"/>
                </a:solidFill>
                <a:effectLst/>
                <a:uFillTx/>
                <a:latin typeface="Albert Sans"/>
              </a:rPr>
              <a:t>SQLite + ChromaDB per 10k chunks.</a:t>
            </a:r>
            <a:endParaRPr lang="en-US" sz="1200" b="0" u="none" strike="noStrike">
              <a:solidFill>
                <a:srgbClr val="FFFFFF"/>
              </a:solidFill>
              <a:effectLst/>
              <a:uFillTx/>
              <a:latin typeface="OpenSymbol"/>
            </a:endParaRPr>
          </a:p>
        </p:txBody>
      </p:sp>
      <p:sp>
        <p:nvSpPr>
          <p:cNvPr id="115" name="Rectangle 114"/>
          <p:cNvSpPr/>
          <p:nvPr/>
        </p:nvSpPr>
        <p:spPr>
          <a:xfrm>
            <a:off x="5810400" y="3048120"/>
            <a:ext cx="2857320" cy="552240"/>
          </a:xfrm>
          <a:prstGeom prst="rect">
            <a:avLst/>
          </a:prstGeom>
          <a:noFill/>
          <a:ln w="0">
            <a:noFill/>
          </a:ln>
        </p:spPr>
        <p:style>
          <a:lnRef idx="0">
            <a:srgbClr val="FFFFFF"/>
          </a:lnRef>
          <a:fillRef idx="0">
            <a:srgbClr val="FFFFFF"/>
          </a:fillRef>
          <a:effectRef idx="0">
            <a:srgbClr val="FFFFFF"/>
          </a:effectRef>
          <a:fontRef idx="minor"/>
        </p:style>
        <p:txBody>
          <a:bodyPr anchor="ctr">
            <a:normAutofit fontScale="92500" lnSpcReduction="9999"/>
          </a:bodyPr>
          <a:p>
            <a:pPr algn="r" defTabSz="914400">
              <a:lnSpc>
                <a:spcPct val="100000"/>
              </a:lnSpc>
              <a:tabLst>
                <a:tab pos="0" algn="l"/>
              </a:tabLst>
            </a:pPr>
            <a:r>
              <a:rPr lang="en-US" sz="3600" b="0" u="none" strike="noStrike">
                <a:solidFill>
                  <a:srgbClr val="70E0FF"/>
                </a:solidFill>
                <a:effectLst/>
                <a:uFillTx/>
                <a:latin typeface="Goldman"/>
              </a:rPr>
              <a:t>&lt;1.2GB</a:t>
            </a:r>
            <a:endParaRPr lang="en-US" sz="3600" b="0" u="none" strike="noStrike">
              <a:solidFill>
                <a:srgbClr val="FFFFFF"/>
              </a:solidFill>
              <a:effectLst/>
              <a:uFillTx/>
              <a:latin typeface="OpenSymbol"/>
            </a:endParaRPr>
          </a:p>
        </p:txBody>
      </p:sp>
      <p:sp>
        <p:nvSpPr>
          <p:cNvPr id="116" name="Rectangle 115"/>
          <p:cNvSpPr/>
          <p:nvPr/>
        </p:nvSpPr>
        <p:spPr>
          <a:xfrm>
            <a:off x="476280" y="3857760"/>
            <a:ext cx="2381040" cy="209160"/>
          </a:xfrm>
          <a:prstGeom prst="rect">
            <a:avLst/>
          </a:prstGeom>
          <a:noFill/>
          <a:ln w="0">
            <a:noFill/>
          </a:ln>
        </p:spPr>
        <p:style>
          <a:lnRef idx="0">
            <a:srgbClr val="FFFFFF"/>
          </a:lnRef>
          <a:fillRef idx="0">
            <a:srgbClr val="FFFFFF"/>
          </a:fillRef>
          <a:effectRef idx="0">
            <a:srgbClr val="FFFFFF"/>
          </a:effectRef>
          <a:fontRef idx="minor"/>
        </p:style>
        <p:txBody>
          <a:bodyPr anchor="ctr">
            <a:normAutofit fontScale="62500" lnSpcReduction="19999"/>
          </a:bodyPr>
          <a:p>
            <a:pPr defTabSz="914400">
              <a:lnSpc>
                <a:spcPct val="100000"/>
              </a:lnSpc>
              <a:tabLst>
                <a:tab pos="0" algn="l"/>
              </a:tabLst>
            </a:pPr>
            <a:r>
              <a:rPr lang="en-US" sz="1400" b="0" u="none" strike="noStrike">
                <a:solidFill>
                  <a:srgbClr val="FFFFFF"/>
                </a:solidFill>
                <a:effectLst/>
                <a:uFillTx/>
                <a:latin typeface="Albert Sans"/>
              </a:rPr>
              <a:t>Cloud spend</a:t>
            </a:r>
            <a:endParaRPr lang="en-US" sz="1400" b="0" u="none" strike="noStrike">
              <a:solidFill>
                <a:srgbClr val="FFFFFF"/>
              </a:solidFill>
              <a:effectLst/>
              <a:uFillTx/>
              <a:latin typeface="OpenSymbol"/>
            </a:endParaRPr>
          </a:p>
        </p:txBody>
      </p:sp>
      <p:sp>
        <p:nvSpPr>
          <p:cNvPr id="117" name="Rectangle 116"/>
          <p:cNvSpPr/>
          <p:nvPr/>
        </p:nvSpPr>
        <p:spPr>
          <a:xfrm>
            <a:off x="3048120" y="3857760"/>
            <a:ext cx="2571480" cy="361440"/>
          </a:xfrm>
          <a:prstGeom prst="rect">
            <a:avLst/>
          </a:prstGeom>
          <a:noFill/>
          <a:ln w="0">
            <a:noFill/>
          </a:ln>
        </p:spPr>
        <p:style>
          <a:lnRef idx="0">
            <a:srgbClr val="FFFFFF"/>
          </a:lnRef>
          <a:fillRef idx="0">
            <a:srgbClr val="FFFFFF"/>
          </a:fillRef>
          <a:effectRef idx="0">
            <a:srgbClr val="FFFFFF"/>
          </a:effectRef>
          <a:fontRef idx="minor"/>
        </p:style>
        <p:txBody>
          <a:bodyPr anchor="ctr">
            <a:normAutofit fontScale="85000" lnSpcReduction="19999"/>
          </a:bodyPr>
          <a:p>
            <a:pPr defTabSz="914400">
              <a:lnSpc>
                <a:spcPct val="100000"/>
              </a:lnSpc>
              <a:tabLst>
                <a:tab pos="0" algn="l"/>
              </a:tabLst>
            </a:pPr>
            <a:r>
              <a:rPr lang="en-US" sz="1200" b="0" u="none" strike="noStrike">
                <a:solidFill>
                  <a:srgbClr val="FFFFFF"/>
                </a:solidFill>
                <a:effectLst/>
                <a:uFillTx/>
                <a:latin typeface="Albert Sans"/>
              </a:rPr>
              <a:t>Zero cloud API spend; hardware + electricity only.</a:t>
            </a:r>
            <a:endParaRPr lang="en-US" sz="1200" b="0" u="none" strike="noStrike">
              <a:solidFill>
                <a:srgbClr val="FFFFFF"/>
              </a:solidFill>
              <a:effectLst/>
              <a:uFillTx/>
              <a:latin typeface="OpenSymbol"/>
            </a:endParaRPr>
          </a:p>
        </p:txBody>
      </p:sp>
      <p:sp>
        <p:nvSpPr>
          <p:cNvPr id="118" name="Rectangle 117"/>
          <p:cNvSpPr/>
          <p:nvPr/>
        </p:nvSpPr>
        <p:spPr>
          <a:xfrm>
            <a:off x="5810400" y="3857760"/>
            <a:ext cx="2857320" cy="552240"/>
          </a:xfrm>
          <a:prstGeom prst="rect">
            <a:avLst/>
          </a:prstGeom>
          <a:noFill/>
          <a:ln w="0">
            <a:noFill/>
          </a:ln>
        </p:spPr>
        <p:style>
          <a:lnRef idx="0">
            <a:srgbClr val="FFFFFF"/>
          </a:lnRef>
          <a:fillRef idx="0">
            <a:srgbClr val="FFFFFF"/>
          </a:fillRef>
          <a:effectRef idx="0">
            <a:srgbClr val="FFFFFF"/>
          </a:effectRef>
          <a:fontRef idx="minor"/>
        </p:style>
        <p:txBody>
          <a:bodyPr anchor="ctr">
            <a:normAutofit fontScale="92500" lnSpcReduction="9999"/>
          </a:bodyPr>
          <a:p>
            <a:pPr algn="r" defTabSz="914400">
              <a:lnSpc>
                <a:spcPct val="100000"/>
              </a:lnSpc>
              <a:tabLst>
                <a:tab pos="0" algn="l"/>
              </a:tabLst>
            </a:pPr>
            <a:r>
              <a:rPr lang="en-US" sz="3600" b="0" u="none" strike="noStrike">
                <a:solidFill>
                  <a:srgbClr val="70E0FF"/>
                </a:solidFill>
                <a:effectLst/>
                <a:uFillTx/>
                <a:latin typeface="Goldman"/>
              </a:rPr>
              <a:t>$0</a:t>
            </a:r>
            <a:endParaRPr lang="en-US" sz="36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Rectangle 118"/>
          <p:cNvSpPr/>
          <p:nvPr/>
        </p:nvSpPr>
        <p:spPr>
          <a:xfrm>
            <a:off x="476280" y="380880"/>
            <a:ext cx="8191080" cy="36144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85000" lnSpcReduction="19999"/>
          </a:bodyPr>
          <a:p>
            <a:pPr algn="ctr" defTabSz="914400">
              <a:lnSpc>
                <a:spcPct val="100000"/>
              </a:lnSpc>
              <a:tabLst>
                <a:tab pos="0" algn="l"/>
              </a:tabLst>
            </a:pPr>
            <a:r>
              <a:rPr lang="en-US" sz="2400" b="1" u="none" strike="noStrike">
                <a:solidFill>
                  <a:srgbClr val="FFFFFF"/>
                </a:solidFill>
                <a:effectLst/>
                <a:uFillTx/>
                <a:latin typeface="Goldman"/>
              </a:rPr>
              <a:t>Local Inference Wins</a:t>
            </a:r>
            <a:endParaRPr lang="en-US" sz="2400" b="0" u="none" strike="noStrike">
              <a:solidFill>
                <a:srgbClr val="FFFFFF"/>
              </a:solidFill>
              <a:effectLst/>
              <a:uFillTx/>
              <a:latin typeface="OpenSymbol"/>
            </a:endParaRPr>
          </a:p>
        </p:txBody>
      </p:sp>
      <p:sp>
        <p:nvSpPr>
          <p:cNvPr id="120" name="Rectangle 119"/>
          <p:cNvSpPr/>
          <p:nvPr/>
        </p:nvSpPr>
        <p:spPr>
          <a:xfrm>
            <a:off x="476280" y="1238400"/>
            <a:ext cx="3904920" cy="20916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62500" lnSpcReduction="19999"/>
          </a:bodyPr>
          <a:p>
            <a:pPr defTabSz="914400">
              <a:lnSpc>
                <a:spcPct val="100000"/>
              </a:lnSpc>
              <a:tabLst>
                <a:tab pos="0" algn="l"/>
              </a:tabLst>
            </a:pPr>
            <a:r>
              <a:rPr lang="en-US" sz="1400" b="1" u="none" strike="noStrike">
                <a:solidFill>
                  <a:srgbClr val="FFFFFF"/>
                </a:solidFill>
                <a:effectLst/>
                <a:uFillTx/>
                <a:latin typeface="Albert Sans"/>
              </a:rPr>
              <a:t>AMD Advantage</a:t>
            </a:r>
            <a:endParaRPr lang="en-US" sz="1400" b="0" u="none" strike="noStrike">
              <a:solidFill>
                <a:srgbClr val="FFFFFF"/>
              </a:solidFill>
              <a:effectLst/>
              <a:uFillTx/>
              <a:latin typeface="OpenSymbol"/>
            </a:endParaRPr>
          </a:p>
        </p:txBody>
      </p:sp>
      <p:sp>
        <p:nvSpPr>
          <p:cNvPr id="121" name="Rectangle 120"/>
          <p:cNvSpPr/>
          <p:nvPr/>
        </p:nvSpPr>
        <p:spPr>
          <a:xfrm>
            <a:off x="476280" y="1695600"/>
            <a:ext cx="3904920" cy="109512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FFFFFF"/>
                </a:solidFill>
                <a:effectLst/>
                <a:uFillTx/>
                <a:latin typeface="Albert Sans"/>
              </a:rPr>
              <a:t>ROCm-optimized kernels maximize throughput on Radeon GPUs, delivering superior FPS per dollar for local models. Open ecosystem enables you to run private data on-device with predictable performance and no vendor lock-in. Cost-efficient scaling grows with workstation-grade GPUs, not volatile cloud RF</a:t>
            </a:r>
            <a:endParaRPr lang="en-US" sz="1200" b="0" u="none" strike="noStrike">
              <a:solidFill>
                <a:srgbClr val="FFFFFF"/>
              </a:solidFill>
              <a:effectLst/>
              <a:uFillTx/>
              <a:latin typeface="OpenSymbol"/>
            </a:endParaRPr>
          </a:p>
        </p:txBody>
      </p:sp>
      <p:sp>
        <p:nvSpPr>
          <p:cNvPr id="122" name="Rectangle 121"/>
          <p:cNvSpPr/>
          <p:nvPr/>
        </p:nvSpPr>
        <p:spPr>
          <a:xfrm>
            <a:off x="4762440" y="1238400"/>
            <a:ext cx="3904920" cy="20916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62500" lnSpcReduction="19999"/>
          </a:bodyPr>
          <a:p>
            <a:pPr defTabSz="914400">
              <a:lnSpc>
                <a:spcPct val="100000"/>
              </a:lnSpc>
              <a:tabLst>
                <a:tab pos="0" algn="l"/>
              </a:tabLst>
            </a:pPr>
            <a:r>
              <a:rPr lang="en-US" sz="1400" b="1" u="none" strike="noStrike">
                <a:solidFill>
                  <a:srgbClr val="FFFFFF"/>
                </a:solidFill>
                <a:effectLst/>
                <a:uFillTx/>
                <a:latin typeface="Albert Sans"/>
              </a:rPr>
              <a:t>Cloud/Runtimes Tradeoffs</a:t>
            </a:r>
            <a:endParaRPr lang="en-US" sz="1400" b="0" u="none" strike="noStrike">
              <a:solidFill>
                <a:srgbClr val="FFFFFF"/>
              </a:solidFill>
              <a:effectLst/>
              <a:uFillTx/>
              <a:latin typeface="OpenSymbol"/>
            </a:endParaRPr>
          </a:p>
        </p:txBody>
      </p:sp>
      <p:sp>
        <p:nvSpPr>
          <p:cNvPr id="123" name="Rectangle 122"/>
          <p:cNvSpPr/>
          <p:nvPr/>
        </p:nvSpPr>
        <p:spPr>
          <a:xfrm>
            <a:off x="4762440" y="1695600"/>
            <a:ext cx="3904920" cy="109512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1200" b="0" u="none" strike="noStrike">
                <a:solidFill>
                  <a:srgbClr val="FFFFFF"/>
                </a:solidFill>
                <a:effectLst/>
                <a:uFillTx/>
                <a:latin typeface="Albert Sans"/>
              </a:rPr>
              <a:t>Off-site data handling increases privacy risk and data egress costs. Proprietary runtimes tie you to vendors and variably priced service tiers, making predictable costs harder. Regional latency and dependency on cloud infra impede reproducible benchmarking and enterprise packaging.</a:t>
            </a:r>
            <a:endParaRPr lang="en-US" sz="1200" b="0" u="none" strike="noStrike">
              <a:solidFill>
                <a:srgbClr val="FFFFFF"/>
              </a:solidFill>
              <a:effectLst/>
              <a:uFillTx/>
              <a:latin typeface="OpenSymbol"/>
            </a:endParaRPr>
          </a:p>
        </p:txBody>
      </p:sp>
      <p:sp>
        <p:nvSpPr>
          <p:cNvPr id="124" name="Rectangle 123"/>
          <p:cNvSpPr/>
          <p:nvPr/>
        </p:nvSpPr>
        <p:spPr>
          <a:xfrm>
            <a:off x="476280" y="4229280"/>
            <a:ext cx="8191080" cy="18072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55000" lnSpcReduction="19999"/>
          </a:bodyPr>
          <a:p>
            <a:pPr defTabSz="914400">
              <a:lnSpc>
                <a:spcPct val="100000"/>
              </a:lnSpc>
              <a:tabLst>
                <a:tab pos="0" algn="l"/>
              </a:tabLst>
            </a:pPr>
            <a:r>
              <a:rPr lang="en-US" sz="1200" b="0" u="none" strike="noStrike">
                <a:solidFill>
                  <a:srgbClr val="FFFFFF"/>
                </a:solidFill>
                <a:effectLst/>
                <a:uFillTx/>
                <a:latin typeface="Albert Sans"/>
              </a:rPr>
              <a:t>AMD-optimized local inference delivers privacy-first, cost-effective performance at scale.</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5" name="Rectangle 124"/>
          <p:cNvSpPr/>
          <p:nvPr/>
        </p:nvSpPr>
        <p:spPr>
          <a:xfrm>
            <a:off x="1676520" y="485640"/>
            <a:ext cx="7171920" cy="50436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77500" lnSpcReduction="19999"/>
          </a:bodyPr>
          <a:p>
            <a:pPr algn="r" defTabSz="914400">
              <a:lnSpc>
                <a:spcPct val="100000"/>
              </a:lnSpc>
              <a:tabLst>
                <a:tab pos="0" algn="l"/>
              </a:tabLst>
            </a:pPr>
            <a:r>
              <a:rPr lang="en-US" sz="4000" b="0" u="none" strike="noStrike">
                <a:solidFill>
                  <a:srgbClr val="FFFFFF"/>
                </a:solidFill>
                <a:effectLst/>
                <a:uFillTx/>
                <a:latin typeface="Goldman"/>
              </a:rPr>
              <a:t>Local Validation First</a:t>
            </a:r>
            <a:endParaRPr lang="en-US" sz="4000" b="0" u="none" strike="noStrike">
              <a:solidFill>
                <a:srgbClr val="FFFFFF"/>
              </a:solidFill>
              <a:effectLst/>
              <a:uFillTx/>
              <a:latin typeface="OpenSymbol"/>
            </a:endParaRPr>
          </a:p>
        </p:txBody>
      </p:sp>
      <p:sp>
        <p:nvSpPr>
          <p:cNvPr id="126" name="Rectangle 125"/>
          <p:cNvSpPr/>
          <p:nvPr/>
        </p:nvSpPr>
        <p:spPr>
          <a:xfrm>
            <a:off x="2886120" y="1905120"/>
            <a:ext cx="5886000" cy="1599840"/>
          </a:xfrm>
          <a:prstGeom prst="rect">
            <a:avLst/>
          </a:prstGeom>
          <a:noFill/>
          <a:ln w="0">
            <a:noFill/>
          </a:ln>
        </p:spPr>
        <p:style>
          <a:lnRef idx="0">
            <a:srgbClr val="FFFFFF"/>
          </a:lnRef>
          <a:fillRef idx="0">
            <a:srgbClr val="FFFFFF"/>
          </a:fillRef>
          <a:effectRef idx="0">
            <a:srgbClr val="FFFFFF"/>
          </a:effectRef>
          <a:fontRef idx="minor"/>
        </p:style>
        <p:txBody>
          <a:bodyPr anchor="b">
            <a:normAutofit lnSpcReduction="9999"/>
          </a:bodyPr>
          <a:p>
            <a:pPr defTabSz="914400">
              <a:lnSpc>
                <a:spcPct val="150000"/>
              </a:lnSpc>
              <a:tabLst>
                <a:tab pos="0" algn="l"/>
              </a:tabLst>
            </a:pPr>
            <a:r>
              <a:rPr lang="en-US" sz="1400" b="0" u="none" strike="noStrike">
                <a:solidFill>
                  <a:srgbClr val="FFFFFF"/>
                </a:solidFill>
                <a:effectLst/>
                <a:uFillTx/>
                <a:latin typeface="Albert Sans"/>
              </a:rPr>
              <a:t>Deploy AgentFlow AI on your AMD workstation to validate with your private documents, keeping data on-device. Share performance logs to establish a joint benchmark and quantify latency, throughput, and privacy guarantees. If feasible, start a pilot deployment for an internal team; roadmap includes voice, image, code generation, multi-language support, and optional cloud sync.</a:t>
            </a:r>
            <a:endParaRPr lang="en-US" sz="14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7" name="Rectangle 126"/>
          <p:cNvSpPr/>
          <p:nvPr/>
        </p:nvSpPr>
        <p:spPr>
          <a:xfrm>
            <a:off x="1676520" y="485640"/>
            <a:ext cx="7171920" cy="50436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77500" lnSpcReduction="19999"/>
          </a:bodyPr>
          <a:p>
            <a:pPr algn="r" defTabSz="914400">
              <a:lnSpc>
                <a:spcPct val="100000"/>
              </a:lnSpc>
              <a:tabLst>
                <a:tab pos="0" algn="l"/>
              </a:tabLst>
            </a:pPr>
            <a:r>
              <a:rPr lang="en-US" sz="4000" b="0" u="none" strike="noStrike">
                <a:solidFill>
                  <a:srgbClr val="FFFFFF"/>
                </a:solidFill>
                <a:effectLst/>
                <a:uFillTx/>
                <a:latin typeface="Goldman"/>
              </a:rPr>
              <a:t>Local, Private AI</a:t>
            </a:r>
            <a:endParaRPr lang="en-US" sz="4000" b="0" u="none" strike="noStrike">
              <a:solidFill>
                <a:srgbClr val="FFFFFF"/>
              </a:solidFill>
              <a:effectLst/>
              <a:uFillTx/>
              <a:latin typeface="OpenSymbol"/>
            </a:endParaRPr>
          </a:p>
        </p:txBody>
      </p:sp>
      <p:sp>
        <p:nvSpPr>
          <p:cNvPr id="128" name="Rectangle 127"/>
          <p:cNvSpPr/>
          <p:nvPr/>
        </p:nvSpPr>
        <p:spPr>
          <a:xfrm>
            <a:off x="2886120" y="1905120"/>
            <a:ext cx="5886000" cy="1066320"/>
          </a:xfrm>
          <a:prstGeom prst="rect">
            <a:avLst/>
          </a:prstGeom>
          <a:noFill/>
          <a:ln w="0">
            <a:noFill/>
          </a:ln>
        </p:spPr>
        <p:style>
          <a:lnRef idx="0">
            <a:srgbClr val="FFFFFF"/>
          </a:lnRef>
          <a:fillRef idx="0">
            <a:srgbClr val="FFFFFF"/>
          </a:fillRef>
          <a:effectRef idx="0">
            <a:srgbClr val="FFFFFF"/>
          </a:effectRef>
          <a:fontRef idx="minor"/>
        </p:style>
        <p:txBody>
          <a:bodyPr anchor="b">
            <a:normAutofit fontScale="85000" lnSpcReduction="9999"/>
          </a:bodyPr>
          <a:p>
            <a:pPr defTabSz="914400">
              <a:lnSpc>
                <a:spcPct val="150000"/>
              </a:lnSpc>
              <a:tabLst>
                <a:tab pos="0" algn="l"/>
              </a:tabLst>
            </a:pPr>
            <a:r>
              <a:rPr lang="en-US" sz="1400" b="0" u="none" strike="noStrike">
                <a:solidFill>
                  <a:srgbClr val="FFFFFF"/>
                </a:solidFill>
                <a:effectLst/>
                <a:uFillTx/>
                <a:latin typeface="Albert Sans"/>
              </a:rPr>
              <a:t>Install AgentFlow AI on a local AMD workstation or VM and run the included demo with your private documents to see native privacy-first inference in action. A 30-minute technical walkthrough is available to evaluate deployment options and benchmark performance.</a:t>
            </a:r>
            <a:endParaRPr lang="en-US" sz="1400" b="0" u="none" strike="noStrike">
              <a:solidFill>
                <a:srgbClr val="FFFFFF"/>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1640" y="485775"/>
            <a:ext cx="7347585" cy="4324985"/>
          </a:xfrm>
        </p:spPr>
        <p:txBody>
          <a:bodyPr/>
          <a:p>
            <a:pPr algn="ctr"/>
            <a:r>
              <a:rPr lang="en-US" altLang="en-US"/>
              <a:t>THANK YOU!</a:t>
            </a:r>
            <a:br>
              <a:rPr lang="en-US" altLang="en-US"/>
            </a:br>
            <a:r>
              <a:rPr lang="en-US" altLang="en-US"/>
              <a:t>Questions &amp; Discussion</a:t>
            </a:r>
            <a:br>
              <a:rPr lang="en-US" altLang="en-US"/>
            </a:br>
            <a:br>
              <a:rPr lang="en-US" altLang="en-US"/>
            </a:br>
            <a:r>
              <a:rPr lang="en-US" altLang="en-US"/>
              <a:t>Arya R</a:t>
            </a:r>
            <a:br>
              <a:rPr lang="en-US" altLang="en-US"/>
            </a:br>
            <a:r>
              <a:rPr lang="en-US" altLang="en-US"/>
              <a:t>BE Computer Science &amp; Engineering (AI &amp; ML)</a:t>
            </a:r>
            <a:br>
              <a:rPr lang="en-US" altLang="en-US"/>
            </a:br>
            <a:r>
              <a:rPr lang="en-US" altLang="en-US"/>
              <a:t>VSB Engineering College, Karur</a:t>
            </a:r>
            <a:br>
              <a:rPr lang="en-US" altLang="en-US"/>
            </a:br>
            <a:br>
              <a:rPr lang="en-US" altLang="en-US"/>
            </a:br>
            <a:r>
              <a:rPr lang="en-US" altLang="en-US"/>
              <a:t>AgentFlow AI</a:t>
            </a:r>
            <a:br>
              <a:rPr lang="en-US" altLang="en-US"/>
            </a:br>
            <a:r>
              <a:rPr lang="en-US" altLang="en-US"/>
              <a:t>Offline Multi-Agent Intelligence Powered by Local AI</a:t>
            </a:r>
            <a:br>
              <a:rPr lang="en-US" altLang="en-US"/>
            </a:br>
            <a:br>
              <a:rPr lang="en-US" altLang="en-US"/>
            </a:br>
            <a:r>
              <a:rPr lang="en-US" altLang="en-US"/>
              <a:t>GitHub: github.com/ARYARAJINIKANTH</a:t>
            </a:r>
            <a:br>
              <a:rPr lang="en-US" altLang="en-US"/>
            </a:br>
            <a:r>
              <a:rPr lang="en-US" altLang="en-US"/>
              <a:t>Email: aryarajinikanth@gmail.com</a:t>
            </a:r>
            <a:br>
              <a:rPr lang="en-US" altLang="en-US"/>
            </a:br>
            <a:br>
              <a:rPr lang="en-US" altLang="en-US"/>
            </a:br>
            <a:r>
              <a:rPr lang="en-US" altLang="en-US"/>
              <a:t>AMD AI DevMaster Hackathon 2026</a:t>
            </a:r>
            <a:br>
              <a:rPr lang="en-US" altLang="en-US"/>
            </a:br>
            <a:r>
              <a:rPr lang="en-US" altLang="en-US"/>
              <a:t>Track 2 – Development &amp; Local Deployment of Private AI Agents</a:t>
            </a:r>
            <a:br>
              <a:rPr lang="en-US" altLang="en-US"/>
            </a:br>
            <a:br>
              <a:rPr lang="en-US" altLang="en-US"/>
            </a:br>
            <a:endParaRPr lang="en-US" altLang="en-US"/>
          </a:p>
        </p:txBody>
      </p:sp>
    </p:spTree>
  </p:cSld>
  <p:clrMapOvr>
    <a:masterClrMapping/>
  </p:clrMapOvr>
</p:sld>
</file>

<file path=ppt/theme/theme1.xml><?xml version="1.0" encoding="utf-8"?>
<a:theme xmlns:a="http://schemas.openxmlformats.org/drawingml/2006/main" name="Technology Innovations by Slidesgo">
  <a:themeElements>
    <a:clrScheme name="Simple Light">
      <a:dk1>
        <a:srgbClr val="FFFFFF"/>
      </a:dk1>
      <a:lt1>
        <a:srgbClr val="000000"/>
      </a:lt1>
      <a:dk2>
        <a:srgbClr val="52297B"/>
      </a:dk2>
      <a:lt2>
        <a:srgbClr val="70E0FF"/>
      </a:lt2>
      <a:accent1>
        <a:srgbClr val="C340FF"/>
      </a:accent1>
      <a:accent2>
        <a:srgbClr val="5F5FF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4243</Words>
  <Application>WPS Presentation</Application>
  <PresentationFormat/>
  <Paragraphs>152</Paragraphs>
  <Slides>12</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vt:i4>
      </vt:variant>
    </vt:vector>
  </HeadingPairs>
  <TitlesOfParts>
    <vt:vector size="26" baseType="lpstr">
      <vt:lpstr>Arial</vt:lpstr>
      <vt:lpstr>SimSun</vt:lpstr>
      <vt:lpstr>Wingdings</vt:lpstr>
      <vt:lpstr>Arial</vt:lpstr>
      <vt:lpstr>Symbol</vt:lpstr>
      <vt:lpstr>Open Sans</vt:lpstr>
      <vt:lpstr>Segoe Print</vt:lpstr>
      <vt:lpstr>OpenSymbol</vt:lpstr>
      <vt:lpstr>Goldman</vt:lpstr>
      <vt:lpstr>Albert Sans</vt:lpstr>
      <vt:lpstr>Microsoft YaHei</vt:lpstr>
      <vt:lpstr>Arial Unicode MS</vt:lpstr>
      <vt:lpstr>Calibri</vt:lpstr>
      <vt:lpstr>Technology Innovations by Slidesgo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ARYA R</cp:lastModifiedBy>
  <cp:revision>2</cp:revision>
  <dcterms:created xsi:type="dcterms:W3CDTF">2026-08-05T16:57:40Z</dcterms:created>
  <dcterms:modified xsi:type="dcterms:W3CDTF">2026-08-05T17:04:03Z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y fmtid="{D5CDD505-2E9C-101B-9397-08002B2CF9AE}" pid="3" name="SlidesgoGeneratedBy">
    <vt:lpwstr>slidesgo-ai</vt:lpwstr>
  </property>
  <property fmtid="{D5CDD505-2E9C-101B-9397-08002B2CF9AE}" pid="4" name="SlidesgoPresentationUuid">
    <vt:lpwstr>a26e5c57-342b-4355-92cf-6b8d7e90394e</vt:lpwstr>
  </property>
  <property fmtid="{D5CDD505-2E9C-101B-9397-08002B2CF9AE}" pid="5" name="ICV">
    <vt:lpwstr>E6C76772D8454AF59CF00128B038A3FA_12</vt:lpwstr>
  </property>
  <property fmtid="{D5CDD505-2E9C-101B-9397-08002B2CF9AE}" pid="6" name="KSOProductBuildVer">
    <vt:lpwstr>1033-12.1.0.28032</vt:lpwstr>
  </property>
</Properties>
</file>