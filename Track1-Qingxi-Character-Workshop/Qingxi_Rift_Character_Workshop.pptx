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notesSlides/notesSlide1.xml" Type="http://schemas.openxmlformats.org/officeDocument/2006/relationships/notesSlide"/><Relationship Id="rId19" Target="notesSlides/notesSlide2.xml" Type="http://schemas.openxmlformats.org/officeDocument/2006/relationships/notesSlide"/><Relationship Id="rId2" Target="viewProps.xml" Type="http://schemas.openxmlformats.org/officeDocument/2006/relationships/view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24" Target="notesSlides/notesSlide7.xml" Type="http://schemas.openxmlformats.org/officeDocument/2006/relationships/notesSlide"/><Relationship Id="rId25" Target="notesSlides/notesSlide8.xml" Type="http://schemas.openxmlformats.org/officeDocument/2006/relationships/notesSlide"/><Relationship Id="rId26" Target="notesSlides/notesSlide9.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Hello everyone, today I'm excited to introduce "Qingxi Rift Character Workshop," a project that brings the power of multimodal AI directly to your local AMD Radeon GPU. Our goal is simple: to turn a simple text brief into a fully realized original character card, all without relying on cloud APIs. This workshop leverages the ROCm stack, PyTorch, SDXL, and Qwen2.5 to create a seamless, private, and powerful character creation experience.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what problem are we solving? Currently, creating an original anime character is a cumbersome process. You might write the lore in a document, generate the portrait using a web service, and design the stats in a spreadsheet. This fragmentation breaks the creative flow. Worse, using cloud APIs means you're often paying for each generation, waiting for network responses, and sacrificing the privacy of your unique ideas. This is where our solution comes 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Our solution is the "Qingxi Rift Character Workshop," a unified local workbench. Here's how it works: you start with a text brief, maybe even a reference image. The workshop then takes over, generating a detailed character lore in JSON format, creating a matching anime portrait, and finally composing everything into a beautiful character card with a unique six-affinity radar chart. The entire process is local, meaning it's fast, private, and free from cloud constraints.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dive into the technical pipeline. It all starts with your input: a text brief and an optional reference image. This is fed into a local instance of the Qwen2.5-7B large language model, running on ROCm, which generates a detailed JSON file. Simultaneously, the same input is used by a fine-tuned SDXL anime model, also on ROCm, to create the character's portrait. Finally, the Pillow library composes the portrait, the JSON data (visualized as a radar chart), and the lore into the final character card image. The key takeaway is that every single step happens locally on your AMD GPU.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Now, let's talk about the hardware and software that makes this possible. We've fully verified the compatibility with ROCm and PyTorch, ensuring everything runs smoothly. A key technical highlight is our efficient VRAM management. By sequentially unloading the LLM before loading SDXL, we've made it possible to run both a 7B model and SDXL on a single 24GB GPU. Additionally, we've provided a setup script and hosted all dependencies on PVC, making the entire environment easily reproducible offline.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AI outputs aren't always perfect, so we've built in several layers of reliability. Our system can handle imperfect JSON output from the LLM with multiple decoding attempts and tolerant data extraction. For example, if the affinity scores come out as all zeros, we have a fallback that creates a balanced spread. We also have a MOCK mode for developers, allowing them to work on the app without needing an AMD GPU, which is a huge productivity boost.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Seeing is believing. These are some examples of the character cards generated by our workshop running on the Radeon Cloud. As you can see, the system produces a variety of styles, from classic anime designs to more futuristic cyberpunk looks. Each card is a complete package, with a unique portrait, a detailed backstory, and a visual representation of the character's affinities. These are just placeholders; the real magic happens when we generate characters for our original "Qingxi Rift" world.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impact of this project goes beyond just a cool tool. We've built it around an original world, "Qingxi Rift," with its own unique six-affinity system, ensuring that all creations are truly original and free from IP concerns. More importantly, we're empowering creators by giving them a repeatable, private, and essentially free way to generate unlimited original characters. This opens up new possibilities for artists, writers, and game developers to explore their creativity without constraints.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Thank you for your time. The GitHub repository will be made public before the pull request, so stay tuned for that. If you're at the event, feel free to check out our live demo running on the Radeon Cloud in Track 1. We're excited to see what you'll create with the Qingxi Rift Character Workshop.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notesSlides/notesSlide2.xml" Type="http://schemas.openxmlformats.org/officeDocument/2006/relationships/notesSlid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1.svg" Type="http://schemas.openxmlformats.org/officeDocument/2006/relationships/image"/><Relationship Id="rId11" Target="../media/image22.png" Type="http://schemas.openxmlformats.org/officeDocument/2006/relationships/image"/><Relationship Id="rId12" Target="../media/image23.svg" Type="http://schemas.openxmlformats.org/officeDocument/2006/relationships/image"/><Relationship Id="rId13" Target="../media/image24.png" Type="http://schemas.openxmlformats.org/officeDocument/2006/relationships/image"/><Relationship Id="rId14" Target="../media/image25.svg" Type="http://schemas.openxmlformats.org/officeDocument/2006/relationships/image"/><Relationship Id="rId15" Target="../media/image26.png" Type="http://schemas.openxmlformats.org/officeDocument/2006/relationships/image"/><Relationship Id="rId16" Target="../media/image27.svg" Type="http://schemas.openxmlformats.org/officeDocument/2006/relationships/image"/><Relationship Id="rId17" Target="../notesSlides/notesSlide3.xml" Type="http://schemas.openxmlformats.org/officeDocument/2006/relationships/notesSlide"/><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2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32.jpeg" Type="http://schemas.openxmlformats.org/officeDocument/2006/relationships/image"/><Relationship Id="rId4" Target="../media/image33.jpeg" Type="http://schemas.openxmlformats.org/officeDocument/2006/relationships/image"/><Relationship Id="rId5" Target="../media/image34.jpe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 Id="rId8"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6.xml" Type="http://schemas.openxmlformats.org/officeDocument/2006/relationships/notesSlide"/><Relationship Id="rId2" Target="../media/image1.jpeg" Type="http://schemas.openxmlformats.org/officeDocument/2006/relationships/image"/><Relationship Id="rId3" Target="../media/image37.jpe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44.jpeg" Type="http://schemas.openxmlformats.org/officeDocument/2006/relationships/image"/><Relationship Id="rId4" Target="../media/image45.jpeg" Type="http://schemas.openxmlformats.org/officeDocument/2006/relationships/image"/><Relationship Id="rId5" Target="../media/image46.jpeg" Type="http://schemas.openxmlformats.org/officeDocument/2006/relationships/image"/><Relationship Id="rId6"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5.svg" Type="http://schemas.openxmlformats.org/officeDocument/2006/relationships/image"/><Relationship Id="rId11" Target="../media/image53.png" Type="http://schemas.openxmlformats.org/officeDocument/2006/relationships/image"/><Relationship Id="rId12" Target="../media/image54.svg" Type="http://schemas.openxmlformats.org/officeDocument/2006/relationships/image"/><Relationship Id="rId13" Target="../notesSlides/notesSlide8.xml" Type="http://schemas.openxmlformats.org/officeDocument/2006/relationships/notesSlide"/><Relationship Id="rId2" Target="../media/image1.jpeg" Type="http://schemas.openxmlformats.org/officeDocument/2006/relationships/image"/><Relationship Id="rId3" Target="../media/image47.png" Type="http://schemas.openxmlformats.org/officeDocument/2006/relationships/image"/><Relationship Id="rId4" Target="../media/image48.svg" Type="http://schemas.openxmlformats.org/officeDocument/2006/relationships/image"/><Relationship Id="rId5" Target="../media/image49.png" Type="http://schemas.openxmlformats.org/officeDocument/2006/relationships/image"/><Relationship Id="rId6" Target="../media/image50.svg" Type="http://schemas.openxmlformats.org/officeDocument/2006/relationships/image"/><Relationship Id="rId7" Target="../media/image51.png" Type="http://schemas.openxmlformats.org/officeDocument/2006/relationships/image"/><Relationship Id="rId8" Target="../media/image52.svg" Type="http://schemas.openxmlformats.org/officeDocument/2006/relationships/image"/><Relationship Id="rId9"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5.jpeg" Type="http://schemas.openxmlformats.org/officeDocument/2006/relationships/image"/><Relationship Id="rId3" Target="../media/image56.png" Type="http://schemas.openxmlformats.org/officeDocument/2006/relationships/image"/><Relationship Id="rId4" Target="../media/image57.svg" Type="http://schemas.openxmlformats.org/officeDocument/2006/relationships/image"/><Relationship Id="rId5" Target="../media/image58.png" Type="http://schemas.openxmlformats.org/officeDocument/2006/relationships/image"/><Relationship Id="rId6" Target="../media/image59.svg" Type="http://schemas.openxmlformats.org/officeDocument/2006/relationships/image"/><Relationship Id="rId7" Target="../notesSlides/notesSlide9.xml" Type="http://schemas.openxmlformats.org/officeDocument/2006/relationships/notesSlide"/><Relationship Id="rId8" Target="../media/image6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0" y="-762000"/>
            <a:ext cx="2286000" cy="2286000"/>
          </a:xfrm>
          <a:prstGeom prst="ellipse">
            <a:avLst/>
          </a:prstGeom>
          <a:solidFill>
            <a:srgbClr val="00E5FF">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922000" y="762000"/>
            <a:ext cx="1270000" cy="1270000"/>
          </a:xfrm>
          <a:prstGeom prst="ellipse">
            <a:avLst/>
          </a:prstGeom>
          <a:solidFill>
            <a:srgbClr val="00E5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905000"/>
            <a:ext cx="10160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Poppins"/>
                <a:ea typeface="Poppins"/>
                <a:cs typeface="Poppins"/>
                <a:sym typeface="Poppins"/>
              </a:rPr>
              <a:t>Qingxi Rift Character Workshop</a:t>
            </a:r>
            <a:endParaRPr lang="en-US" sz="1100"/>
          </a:p>
        </p:txBody>
      </p:sp>
      <p:sp>
        <p:nvSpPr>
          <p:cNvPr name="AutoShape 6" id="6"/>
          <p:cNvSpPr/>
          <p:nvPr/>
        </p:nvSpPr>
        <p:spPr>
          <a:xfrm rot="0" flipH="false" flipV="false">
            <a:off x="1016000" y="3683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400">
                <a:solidFill>
                  <a:srgbClr val="00E5FF"/>
                </a:solidFill>
                <a:latin typeface="Poppins"/>
                <a:ea typeface="Poppins"/>
                <a:cs typeface="Poppins"/>
                <a:sym typeface="Poppins"/>
              </a:rPr>
              <a:t>Local Multimodal OC Creation on AMD Radeon + ROCm</a:t>
            </a:r>
            <a:endParaRPr lang="en-US" sz="1100"/>
          </a:p>
        </p:txBody>
      </p:sp>
      <p:sp>
        <p:nvSpPr>
          <p:cNvPr name="AutoShape 7" id="7"/>
          <p:cNvSpPr/>
          <p:nvPr/>
        </p:nvSpPr>
        <p:spPr>
          <a:xfrm rot="0" flipH="false" flipV="false">
            <a:off x="1016000" y="5207000"/>
            <a:ext cx="10160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alpha val="90196"/>
                  </a:srgbClr>
                </a:solidFill>
                <a:latin typeface="Poppins"/>
                <a:ea typeface="Poppins"/>
                <a:cs typeface="Poppins"/>
                <a:sym typeface="Poppins"/>
              </a:rPr>
              <a:t>App:</a:t>
            </a:r>
            <a:r>
              <a:rPr lang="en-US" b="false" i="false" strike="noStrike" u="none" sz="1400">
                <a:solidFill>
                  <a:srgbClr val="FFFFFF">
                    <a:alpha val="90196"/>
                  </a:srgbClr>
                </a:solidFill>
                <a:latin typeface="Poppins"/>
                <a:ea typeface="Poppins"/>
                <a:cs typeface="Poppins"/>
                <a:sym typeface="Poppins"/>
              </a:rPr>
              <a:t>Qingxi Rift Character Workshop •</a:t>
            </a:r>
            <a:r>
              <a:rPr lang="en-US" b="true" i="false" strike="noStrike" u="none" sz="1400">
                <a:solidFill>
                  <a:srgbClr val="FFFFFF">
                    <a:alpha val="90196"/>
                  </a:srgbClr>
                </a:solidFill>
                <a:latin typeface="Poppins"/>
                <a:ea typeface="Poppins"/>
                <a:cs typeface="Poppins"/>
                <a:sym typeface="Poppins"/>
              </a:rPr>
              <a:t>Mission:</a:t>
            </a:r>
            <a:r>
              <a:rPr lang="en-US" b="false" i="false" strike="noStrike" u="none" sz="1400">
                <a:solidFill>
                  <a:srgbClr val="FFFFFF">
                    <a:alpha val="90196"/>
                  </a:srgbClr>
                </a:solidFill>
                <a:latin typeface="Poppins"/>
                <a:ea typeface="Poppins"/>
                <a:cs typeface="Poppins"/>
                <a:sym typeface="Poppins"/>
              </a:rPr>
              <a:t>"Turn one brief into an original character card — fully local on AMD Radeon."</a:t>
            </a:r>
            <a:r>
              <a:rPr lang="en-US" b="false" i="false" strike="noStrike" u="none" sz="1400">
                <a:solidFill>
                  <a:srgbClr val="1F2329"/>
                </a:solidFill>
                <a:latin typeface="Poppins"/>
                <a:ea typeface="Poppins"/>
                <a:cs typeface="Poppins"/>
                <a:sym typeface="Poppins"/>
              </a:rPr>
              <a:t/>
            </a:r>
            <a:endParaRPr lang="en-US" sz="1100"/>
          </a:p>
          <a:p>
            <a:pPr algn="l" marL="0" indent="0">
              <a:lnSpc>
                <a:spcPct val="125000"/>
              </a:lnSpc>
            </a:pPr>
            <a:r>
              <a:rPr lang="en-US" b="true" i="false" strike="noStrike" u="none" sz="1400">
                <a:solidFill>
                  <a:srgbClr val="FFFFFF">
                    <a:alpha val="60000"/>
                  </a:srgbClr>
                </a:solidFill>
                <a:latin typeface="Poppins"/>
                <a:ea typeface="Poppins"/>
                <a:cs typeface="Poppins"/>
                <a:sym typeface="Poppins"/>
              </a:rPr>
              <a:t>Tech Stack:</a:t>
            </a:r>
            <a:r>
              <a:rPr lang="en-US" b="false" i="false" strike="noStrike" u="none" sz="1400">
                <a:solidFill>
                  <a:srgbClr val="FFFFFF">
                    <a:alpha val="60000"/>
                  </a:srgbClr>
                </a:solidFill>
                <a:latin typeface="Poppins"/>
                <a:ea typeface="Poppins"/>
                <a:cs typeface="Poppins"/>
                <a:sym typeface="Poppins"/>
              </a:rPr>
              <a:t>Track 1 Multimodal • ROCm • PyTorch • SDXL • Qwen2.5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E5FF"/>
                </a:solidFill>
                <a:latin typeface="Poppins"/>
                <a:ea typeface="Poppins"/>
                <a:cs typeface="Poppins"/>
                <a:sym typeface="Poppins"/>
              </a:rPr>
              <a:t>The Problem: Fragmented &amp; Restrictive Workflow</a:t>
            </a:r>
            <a:endParaRPr lang="en-US" sz="1100"/>
          </a:p>
        </p:txBody>
      </p:sp>
      <p:sp>
        <p:nvSpPr>
          <p:cNvPr name="AutoShape 4" id="4"/>
          <p:cNvSpPr/>
          <p:nvPr/>
        </p:nvSpPr>
        <p:spPr>
          <a:xfrm rot="0" flipH="false" flipV="false">
            <a:off x="762000" y="1905000"/>
            <a:ext cx="5207000" cy="3810000"/>
          </a:xfrm>
          <a:prstGeom prst="roundRect">
            <a:avLst>
              <a:gd name="adj" fmla="val 0"/>
            </a:avLst>
          </a:prstGeom>
          <a:solidFill>
            <a:srgbClr val="172554">
              <a:alpha val="40000"/>
            </a:srgbClr>
          </a:solidFill>
          <a:ln w="12700" cmpd="sng" cap="flat">
            <a:solidFill>
              <a:srgbClr val="00E5FF">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20955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0E5FF"/>
                </a:solidFill>
                <a:latin typeface="Poppins"/>
                <a:ea typeface="Poppins"/>
                <a:cs typeface="Poppins"/>
                <a:sym typeface="Poppins"/>
              </a:rPr>
              <a:t>01 / Disjointed Creation Process</a:t>
            </a:r>
            <a:endParaRPr lang="en-US" sz="1100"/>
          </a:p>
        </p:txBody>
      </p:sp>
      <p:cxnSp>
        <p:nvCxnSpPr>
          <p:cNvPr name="Connector 6" id="6"/>
          <p:cNvCxnSpPr/>
          <p:nvPr/>
        </p:nvCxnSpPr>
        <p:spPr>
          <a:xfrm rot="-9046" flipH="false" flipV="false">
            <a:off x="952508" y="2660650"/>
            <a:ext cx="4826000" cy="12700"/>
          </a:xfrm>
          <a:prstGeom prst="straightConnector1">
            <a:avLst/>
          </a:prstGeom>
          <a:solidFill>
            <a:srgbClr val="DEE0E3">
              <a:alpha val="100000"/>
            </a:srgbClr>
          </a:solidFill>
          <a:ln w="12700" cmpd="sng" cap="flat">
            <a:solidFill>
              <a:srgbClr val="00E5FF">
                <a:alpha val="20000"/>
              </a:srgbClr>
            </a:solidFill>
            <a:prstDash val="solid"/>
            <a:round/>
            <a:headEnd type="none" w="med" len="med"/>
            <a:tailEnd type="none" w="med" len="med"/>
          </a:ln>
        </p:spPr>
      </p:cxn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921000"/>
            <a:ext cx="304800" cy="304800"/>
          </a:xfrm>
          <a:prstGeom prst="rect">
            <a:avLst/>
          </a:prstGeom>
        </p:spPr>
      </p:pic>
      <p:sp>
        <p:nvSpPr>
          <p:cNvPr name="AutoShape 8" id="8"/>
          <p:cNvSpPr/>
          <p:nvPr/>
        </p:nvSpPr>
        <p:spPr>
          <a:xfrm rot="0" flipH="false" flipV="false">
            <a:off x="1397000" y="2895600"/>
            <a:ext cx="4445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F3F4F6"/>
                </a:solidFill>
                <a:latin typeface="Poppins"/>
                <a:ea typeface="Poppins"/>
                <a:cs typeface="Poppins"/>
                <a:sym typeface="Poppins"/>
              </a:rPr>
              <a:t>Lore &amp; Worldbuilding</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D1D5DB">
                    <a:alpha val="70196"/>
                  </a:srgbClr>
                </a:solidFill>
                <a:latin typeface="Poppins"/>
                <a:ea typeface="Poppins"/>
                <a:cs typeface="Poppins"/>
                <a:sym typeface="Poppins"/>
              </a:rPr>
              <a:t>Brainstorming backstories and universes in isolated docs, disconnected from visual design.</a:t>
            </a:r>
            <a:endParaRPr lang="en-US" sz="1100"/>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3873500"/>
            <a:ext cx="304800" cy="304800"/>
          </a:xfrm>
          <a:prstGeom prst="rect">
            <a:avLst/>
          </a:prstGeom>
        </p:spPr>
      </p:pic>
      <p:sp>
        <p:nvSpPr>
          <p:cNvPr name="AutoShape 10" id="10"/>
          <p:cNvSpPr/>
          <p:nvPr/>
        </p:nvSpPr>
        <p:spPr>
          <a:xfrm rot="0" flipH="false" flipV="false">
            <a:off x="1397000" y="3848100"/>
            <a:ext cx="4445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F3F4F6"/>
                </a:solidFill>
                <a:latin typeface="Poppins"/>
                <a:ea typeface="Poppins"/>
                <a:cs typeface="Poppins"/>
                <a:sym typeface="Poppins"/>
              </a:rPr>
              <a:t>Visual Generation Silos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D1D5DB">
                    <a:alpha val="70196"/>
                  </a:srgbClr>
                </a:solidFill>
                <a:latin typeface="Poppins"/>
                <a:ea typeface="Poppins"/>
                <a:cs typeface="Poppins"/>
                <a:sym typeface="Poppins"/>
              </a:rPr>
              <a:t>Jumping between AI art tools to create portraits, with no link to character stats.</a:t>
            </a:r>
            <a:endParaRPr lang="en-US" sz="1100"/>
          </a:p>
        </p:txBody>
      </p: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4889500"/>
            <a:ext cx="304800" cy="304800"/>
          </a:xfrm>
          <a:prstGeom prst="rect">
            <a:avLst/>
          </a:prstGeom>
        </p:spPr>
      </p:pic>
      <p:sp>
        <p:nvSpPr>
          <p:cNvPr name="AutoShape 12" id="12"/>
          <p:cNvSpPr/>
          <p:nvPr/>
        </p:nvSpPr>
        <p:spPr>
          <a:xfrm rot="0" flipH="false" flipV="false">
            <a:off x="1397000" y="4864100"/>
            <a:ext cx="4445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F3F4F6"/>
                </a:solidFill>
                <a:latin typeface="Poppins"/>
                <a:ea typeface="Poppins"/>
                <a:cs typeface="Poppins"/>
                <a:sym typeface="Poppins"/>
              </a:rPr>
              <a:t>Mechanical Design in Silos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D1D5DB">
                    <a:alpha val="70196"/>
                  </a:srgbClr>
                </a:solidFill>
                <a:latin typeface="Poppins"/>
                <a:ea typeface="Poppins"/>
                <a:cs typeface="Poppins"/>
                <a:sym typeface="Poppins"/>
              </a:rPr>
              <a:t>Designing attributes and game mechanics in spreadsheets, separate from the core narrative.</a:t>
            </a:r>
            <a:endParaRPr lang="en-US" sz="1100"/>
          </a:p>
        </p:txBody>
      </p:sp>
      <p:sp>
        <p:nvSpPr>
          <p:cNvPr name="AutoShape 13" id="13"/>
          <p:cNvSpPr/>
          <p:nvPr/>
        </p:nvSpPr>
        <p:spPr>
          <a:xfrm rot="0" flipH="false" flipV="false">
            <a:off x="6223000" y="1905000"/>
            <a:ext cx="5207000" cy="3810000"/>
          </a:xfrm>
          <a:prstGeom prst="roundRect">
            <a:avLst>
              <a:gd name="adj" fmla="val 0"/>
            </a:avLst>
          </a:prstGeom>
          <a:solidFill>
            <a:srgbClr val="172554">
              <a:alpha val="40000"/>
            </a:srgbClr>
          </a:solidFill>
          <a:ln w="12700" cmpd="sng" cap="flat">
            <a:solidFill>
              <a:srgbClr val="00E5FF">
                <a:alpha val="3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13500" y="20955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0E5FF"/>
                </a:solidFill>
                <a:latin typeface="Poppins"/>
                <a:ea typeface="Poppins"/>
                <a:cs typeface="Poppins"/>
                <a:sym typeface="Poppins"/>
              </a:rPr>
              <a:t>02 / Cloud-API Limitations</a:t>
            </a:r>
            <a:endParaRPr lang="en-US" sz="1100"/>
          </a:p>
        </p:txBody>
      </p:sp>
      <p:cxnSp>
        <p:nvCxnSpPr>
          <p:cNvPr name="Connector 15" id="15"/>
          <p:cNvCxnSpPr/>
          <p:nvPr/>
        </p:nvCxnSpPr>
        <p:spPr>
          <a:xfrm rot="-9046" flipH="false" flipV="false">
            <a:off x="6413508" y="2660650"/>
            <a:ext cx="4826000" cy="12700"/>
          </a:xfrm>
          <a:prstGeom prst="straightConnector1">
            <a:avLst/>
          </a:prstGeom>
          <a:solidFill>
            <a:srgbClr val="DEE0E3">
              <a:alpha val="100000"/>
            </a:srgbClr>
          </a:solidFill>
          <a:ln w="12700" cmpd="sng" cap="flat">
            <a:solidFill>
              <a:srgbClr val="00E5FF">
                <a:alpha val="20000"/>
              </a:srgbClr>
            </a:solidFill>
            <a:prstDash val="solid"/>
            <a:round/>
            <a:headEnd type="none" w="med" len="med"/>
            <a:tailEnd type="none" w="med" len="med"/>
          </a:ln>
        </p:spPr>
      </p:cxnSp>
      <p:pic>
        <p:nvPicPr>
          <p:cNvPr name="Picture 16" id="16"/>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13500" y="2921000"/>
            <a:ext cx="304800" cy="304800"/>
          </a:xfrm>
          <a:prstGeom prst="rect">
            <a:avLst/>
          </a:prstGeom>
        </p:spPr>
      </p:pic>
      <p:sp>
        <p:nvSpPr>
          <p:cNvPr name="AutoShape 17" id="17"/>
          <p:cNvSpPr/>
          <p:nvPr/>
        </p:nvSpPr>
        <p:spPr>
          <a:xfrm rot="0" flipH="false" flipV="false">
            <a:off x="6858000" y="2895600"/>
            <a:ext cx="4445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F3F4F6"/>
                </a:solidFill>
                <a:latin typeface="Poppins"/>
                <a:ea typeface="Poppins"/>
                <a:cs typeface="Poppins"/>
                <a:sym typeface="Poppins"/>
              </a:rPr>
              <a:t>Latency &amp; Slow Iteration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D1D5DB">
                    <a:alpha val="70196"/>
                  </a:srgbClr>
                </a:solidFill>
                <a:latin typeface="Poppins"/>
                <a:ea typeface="Poppins"/>
                <a:cs typeface="Poppins"/>
                <a:sym typeface="Poppins"/>
              </a:rPr>
              <a:t>Network delays and strict API rate limits break the flow, making real-time creation impossible.</a:t>
            </a:r>
            <a:endParaRPr lang="en-US" sz="1100"/>
          </a:p>
        </p:txBody>
      </p:sp>
      <p:pic>
        <p:nvPicPr>
          <p:cNvPr name="Picture 18" id="18"/>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413500" y="3873500"/>
            <a:ext cx="304800" cy="304800"/>
          </a:xfrm>
          <a:prstGeom prst="rect">
            <a:avLst/>
          </a:prstGeom>
        </p:spPr>
      </p:pic>
      <p:sp>
        <p:nvSpPr>
          <p:cNvPr name="AutoShape 19" id="19"/>
          <p:cNvSpPr/>
          <p:nvPr/>
        </p:nvSpPr>
        <p:spPr>
          <a:xfrm rot="0" flipH="false" flipV="false">
            <a:off x="6858000" y="3848100"/>
            <a:ext cx="4445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F3F4F6"/>
                </a:solidFill>
                <a:latin typeface="Poppins"/>
                <a:ea typeface="Poppins"/>
                <a:cs typeface="Poppins"/>
                <a:sym typeface="Poppins"/>
              </a:rPr>
              <a:t>Prohibitive Cost Structure</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D1D5DB">
                    <a:alpha val="70196"/>
                  </a:srgbClr>
                </a:solidFill>
                <a:latin typeface="Poppins"/>
                <a:ea typeface="Poppins"/>
                <a:cs typeface="Poppins"/>
                <a:sym typeface="Poppins"/>
              </a:rPr>
              <a:t>Pay-per-use fees add up quickly, making it expensive for hobbyists and small indie studios.</a:t>
            </a:r>
            <a:endParaRPr lang="en-US" sz="1100"/>
          </a:p>
        </p:txBody>
      </p:sp>
      <p:pic>
        <p:nvPicPr>
          <p:cNvPr name="Picture 20" id="20"/>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413500" y="4889500"/>
            <a:ext cx="304800" cy="304800"/>
          </a:xfrm>
          <a:prstGeom prst="rect">
            <a:avLst/>
          </a:prstGeom>
        </p:spPr>
      </p:pic>
      <p:sp>
        <p:nvSpPr>
          <p:cNvPr name="AutoShape 21" id="21"/>
          <p:cNvSpPr/>
          <p:nvPr/>
        </p:nvSpPr>
        <p:spPr>
          <a:xfrm rot="0" flipH="false" flipV="false">
            <a:off x="6858000" y="4864100"/>
            <a:ext cx="4445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F3F4F6"/>
                </a:solidFill>
                <a:latin typeface="Poppins"/>
                <a:ea typeface="Poppins"/>
                <a:cs typeface="Poppins"/>
                <a:sym typeface="Poppins"/>
              </a:rPr>
              <a:t>Critical Privacy Risks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D1D5DB">
                    <a:alpha val="70196"/>
                  </a:srgbClr>
                </a:solidFill>
                <a:latin typeface="Poppins"/>
                <a:ea typeface="Poppins"/>
                <a:cs typeface="Poppins"/>
                <a:sym typeface="Poppins"/>
              </a:rPr>
              <a:t>Sending sensitive IP and creative drafts to third-party servers risks leaks and security breaches.</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E5FF"/>
                </a:solidFill>
                <a:latin typeface="Poppins"/>
                <a:ea typeface="Poppins"/>
                <a:cs typeface="Poppins"/>
                <a:sym typeface="Poppins"/>
              </a:rPr>
              <a:t>The Solution: A Unified Local Workbench</a:t>
            </a:r>
            <a:endParaRPr lang="en-US" sz="1100"/>
          </a:p>
        </p:txBody>
      </p:sp>
      <p:sp>
        <p:nvSpPr>
          <p:cNvPr name="AutoShape 4" id="4"/>
          <p:cNvSpPr/>
          <p:nvPr/>
        </p:nvSpPr>
        <p:spPr>
          <a:xfrm rot="0" flipH="false" flipV="false">
            <a:off x="762000" y="1524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5E7EB">
                    <a:alpha val="80000"/>
                  </a:srgbClr>
                </a:solidFill>
                <a:latin typeface="Noto Sans SC"/>
                <a:ea typeface="Noto Sans SC"/>
                <a:cs typeface="Noto Sans SC"/>
                <a:sym typeface="Noto Sans SC"/>
              </a:rPr>
              <a:t>A single, integrated local application that streamlines the entire OC creation pipeline—combining AI-powered lore generation, anime art creation, and automated composition into a seamless, private workflow.</a:t>
            </a:r>
            <a:endParaRPr lang="en-US" sz="1100"/>
          </a:p>
        </p:txBody>
      </p:sp>
      <p:sp>
        <p:nvSpPr>
          <p:cNvPr name="AutoShape 5" id="5"/>
          <p:cNvSpPr/>
          <p:nvPr/>
        </p:nvSpPr>
        <p:spPr>
          <a:xfrm rot="0" flipH="false" flipV="false">
            <a:off x="762000" y="2540000"/>
            <a:ext cx="2540000" cy="1905000"/>
          </a:xfrm>
          <a:prstGeom prst="roundRect">
            <a:avLst>
              <a:gd name="adj" fmla="val 0"/>
            </a:avLst>
          </a:prstGeom>
          <a:solidFill>
            <a:srgbClr val="00E5FF">
              <a:alpha val="8000"/>
            </a:srgbClr>
          </a:solidFill>
          <a:ln w="12700" cmpd="sng" cap="flat">
            <a:solidFill>
              <a:srgbClr val="00E5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65200" y="2743200"/>
            <a:ext cx="304800" cy="304800"/>
          </a:xfrm>
          <a:prstGeom prst="rect">
            <a:avLst/>
          </a:prstGeom>
        </p:spPr>
      </p:pic>
      <p:sp>
        <p:nvSpPr>
          <p:cNvPr name="AutoShape 7" id="7"/>
          <p:cNvSpPr/>
          <p:nvPr/>
        </p:nvSpPr>
        <p:spPr>
          <a:xfrm rot="0" flipH="false" flipV="false">
            <a:off x="1371600" y="27178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E5FF"/>
                </a:solidFill>
                <a:latin typeface="Poppins"/>
                <a:ea typeface="Poppins"/>
                <a:cs typeface="Poppins"/>
                <a:sym typeface="Poppins"/>
              </a:rPr>
              <a:t>01. Input</a:t>
            </a:r>
            <a:endParaRPr lang="en-US" sz="1100"/>
          </a:p>
        </p:txBody>
      </p:sp>
      <p:sp>
        <p:nvSpPr>
          <p:cNvPr name="AutoShape 8" id="8"/>
          <p:cNvSpPr/>
          <p:nvPr/>
        </p:nvSpPr>
        <p:spPr>
          <a:xfrm rot="0" flipH="false" flipV="false">
            <a:off x="965200" y="3200400"/>
            <a:ext cx="215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Start with a simple text brief or upload a reference image to define your character’s core identity and style.</a:t>
            </a:r>
            <a:endParaRPr lang="en-US" sz="1100"/>
          </a:p>
        </p:txBody>
      </p:sp>
      <p:sp>
        <p:nvSpPr>
          <p:cNvPr name="AutoShape 9" id="9"/>
          <p:cNvSpPr/>
          <p:nvPr/>
        </p:nvSpPr>
        <p:spPr>
          <a:xfrm rot="0" flipH="false" flipV="false">
            <a:off x="3467100" y="2540000"/>
            <a:ext cx="2540000" cy="1905000"/>
          </a:xfrm>
          <a:prstGeom prst="roundRect">
            <a:avLst>
              <a:gd name="adj" fmla="val 0"/>
            </a:avLst>
          </a:prstGeom>
          <a:solidFill>
            <a:srgbClr val="00E5FF">
              <a:alpha val="8000"/>
            </a:srgbClr>
          </a:solidFill>
          <a:ln w="12700" cmpd="sng" cap="flat">
            <a:solidFill>
              <a:srgbClr val="00E5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670300" y="2743200"/>
            <a:ext cx="304800" cy="304800"/>
          </a:xfrm>
          <a:prstGeom prst="rect">
            <a:avLst/>
          </a:prstGeom>
        </p:spPr>
      </p:pic>
      <p:sp>
        <p:nvSpPr>
          <p:cNvPr name="AutoShape 11" id="11"/>
          <p:cNvSpPr/>
          <p:nvPr/>
        </p:nvSpPr>
        <p:spPr>
          <a:xfrm rot="0" flipH="false" flipV="false">
            <a:off x="4076700" y="27178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E5FF"/>
                </a:solidFill>
                <a:latin typeface="Poppins"/>
                <a:ea typeface="Poppins"/>
                <a:cs typeface="Poppins"/>
                <a:sym typeface="Poppins"/>
              </a:rPr>
              <a:t>02. Lore Crafting</a:t>
            </a:r>
            <a:endParaRPr lang="en-US" sz="1100"/>
          </a:p>
        </p:txBody>
      </p:sp>
      <p:sp>
        <p:nvSpPr>
          <p:cNvPr name="AutoShape 12" id="12"/>
          <p:cNvSpPr/>
          <p:nvPr/>
        </p:nvSpPr>
        <p:spPr>
          <a:xfrm rot="0" flipH="false" flipV="false">
            <a:off x="3670300" y="3200400"/>
            <a:ext cx="215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AI processes your input to generate a structured backstory, personality traits, and attributes in a clean JSON format.</a:t>
            </a:r>
            <a:endParaRPr lang="en-US" sz="1100"/>
          </a:p>
        </p:txBody>
      </p:sp>
      <p:sp>
        <p:nvSpPr>
          <p:cNvPr name="AutoShape 13" id="13"/>
          <p:cNvSpPr/>
          <p:nvPr/>
        </p:nvSpPr>
        <p:spPr>
          <a:xfrm rot="0" flipH="false" flipV="false">
            <a:off x="6172200" y="2540000"/>
            <a:ext cx="2540000" cy="1905000"/>
          </a:xfrm>
          <a:prstGeom prst="roundRect">
            <a:avLst>
              <a:gd name="adj" fmla="val 0"/>
            </a:avLst>
          </a:prstGeom>
          <a:solidFill>
            <a:srgbClr val="00E5FF">
              <a:alpha val="8000"/>
            </a:srgbClr>
          </a:solidFill>
          <a:ln w="12700" cmpd="sng" cap="flat">
            <a:solidFill>
              <a:srgbClr val="00E5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375400" y="2743200"/>
            <a:ext cx="304800" cy="304800"/>
          </a:xfrm>
          <a:prstGeom prst="rect">
            <a:avLst/>
          </a:prstGeom>
        </p:spPr>
      </p:pic>
      <p:sp>
        <p:nvSpPr>
          <p:cNvPr name="AutoShape 15" id="15"/>
          <p:cNvSpPr/>
          <p:nvPr/>
        </p:nvSpPr>
        <p:spPr>
          <a:xfrm rot="0" flipH="false" flipV="false">
            <a:off x="6781800" y="27178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E5FF"/>
                </a:solidFill>
                <a:latin typeface="Poppins"/>
                <a:ea typeface="Poppins"/>
                <a:cs typeface="Poppins"/>
                <a:sym typeface="Poppins"/>
              </a:rPr>
              <a:t>03. Art Generation</a:t>
            </a:r>
            <a:endParaRPr lang="en-US" sz="1100"/>
          </a:p>
        </p:txBody>
      </p:sp>
      <p:sp>
        <p:nvSpPr>
          <p:cNvPr name="AutoShape 16" id="16"/>
          <p:cNvSpPr/>
          <p:nvPr/>
        </p:nvSpPr>
        <p:spPr>
          <a:xfrm rot="0" flipH="false" flipV="false">
            <a:off x="6375400" y="3200400"/>
            <a:ext cx="215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A high-quality anime-style portrait is rendered to perfectly match the character’s lore, features, and aesthetic.</a:t>
            </a:r>
            <a:endParaRPr lang="en-US" sz="1100"/>
          </a:p>
        </p:txBody>
      </p:sp>
      <p:sp>
        <p:nvSpPr>
          <p:cNvPr name="AutoShape 17" id="17"/>
          <p:cNvSpPr/>
          <p:nvPr/>
        </p:nvSpPr>
        <p:spPr>
          <a:xfrm rot="0" flipH="false" flipV="false">
            <a:off x="8890000" y="2540000"/>
            <a:ext cx="2540000" cy="1905000"/>
          </a:xfrm>
          <a:prstGeom prst="roundRect">
            <a:avLst>
              <a:gd name="adj" fmla="val 0"/>
            </a:avLst>
          </a:prstGeom>
          <a:solidFill>
            <a:srgbClr val="00E5FF">
              <a:alpha val="8000"/>
            </a:srgbClr>
          </a:solidFill>
          <a:ln w="12700" cmpd="sng" cap="flat">
            <a:solidFill>
              <a:srgbClr val="00E5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093200" y="2743200"/>
            <a:ext cx="304800" cy="304800"/>
          </a:xfrm>
          <a:prstGeom prst="rect">
            <a:avLst/>
          </a:prstGeom>
        </p:spPr>
      </p:pic>
      <p:sp>
        <p:nvSpPr>
          <p:cNvPr name="AutoShape 19" id="19"/>
          <p:cNvSpPr/>
          <p:nvPr/>
        </p:nvSpPr>
        <p:spPr>
          <a:xfrm rot="0" flipH="false" flipV="false">
            <a:off x="9499600" y="2717800"/>
            <a:ext cx="190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E5FF"/>
                </a:solidFill>
                <a:latin typeface="Poppins"/>
                <a:ea typeface="Poppins"/>
                <a:cs typeface="Poppins"/>
                <a:sym typeface="Poppins"/>
              </a:rPr>
              <a:t>04. Poster Compilation</a:t>
            </a:r>
            <a:endParaRPr lang="en-US" sz="1100"/>
          </a:p>
        </p:txBody>
      </p:sp>
      <p:sp>
        <p:nvSpPr>
          <p:cNvPr name="AutoShape 20" id="20"/>
          <p:cNvSpPr/>
          <p:nvPr/>
        </p:nvSpPr>
        <p:spPr>
          <a:xfrm rot="0" flipH="false" flipV="false">
            <a:off x="9093200" y="3200400"/>
            <a:ext cx="215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Noto Sans SC"/>
                <a:ea typeface="Noto Sans SC"/>
                <a:cs typeface="Noto Sans SC"/>
                <a:sym typeface="Noto Sans SC"/>
              </a:rPr>
              <a:t>All elements auto-assemble into a shareable character card, complete with portrait, lore, and a six-affinity radar chart.</a:t>
            </a:r>
            <a:endParaRPr lang="en-US" sz="1100"/>
          </a:p>
        </p:txBody>
      </p:sp>
      <p:sp>
        <p:nvSpPr>
          <p:cNvPr name="AutoShape 21" id="21"/>
          <p:cNvSpPr/>
          <p:nvPr/>
        </p:nvSpPr>
        <p:spPr>
          <a:xfrm rot="0" flipH="false" flipV="false">
            <a:off x="762000" y="4826000"/>
            <a:ext cx="3429000" cy="1397000"/>
          </a:xfrm>
          <a:prstGeom prst="roundRect">
            <a:avLst>
              <a:gd name="adj" fmla="val 0"/>
            </a:avLst>
          </a:prstGeom>
          <a:solidFill>
            <a:srgbClr val="1E293B">
              <a:alpha val="50000"/>
            </a:srgbClr>
          </a:solidFill>
          <a:ln w="12700" cmpd="sng" cap="flat">
            <a:solidFill>
              <a:srgbClr val="00E5FF">
                <a:alpha val="2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965200" y="5029200"/>
            <a:ext cx="355600" cy="355600"/>
          </a:xfrm>
          <a:prstGeom prst="rect">
            <a:avLst/>
          </a:prstGeom>
        </p:spPr>
      </p:pic>
      <p:sp>
        <p:nvSpPr>
          <p:cNvPr name="AutoShape 23" id="23"/>
          <p:cNvSpPr/>
          <p:nvPr/>
        </p:nvSpPr>
        <p:spPr>
          <a:xfrm rot="0" flipH="false" flipV="false">
            <a:off x="1422400" y="5029200"/>
            <a:ext cx="2667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All-in-One Tool</a:t>
            </a:r>
            <a:endParaRPr lang="en-US" sz="1100"/>
          </a:p>
        </p:txBody>
      </p:sp>
      <p:sp>
        <p:nvSpPr>
          <p:cNvPr name="AutoShape 24" id="24"/>
          <p:cNvSpPr/>
          <p:nvPr/>
        </p:nvSpPr>
        <p:spPr>
          <a:xfrm rot="0" flipH="false" flipV="false">
            <a:off x="965200" y="5486400"/>
            <a:ext cx="30226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alpha val="90196"/>
                  </a:srgbClr>
                </a:solidFill>
                <a:latin typeface="Noto Sans SC"/>
                <a:ea typeface="Noto Sans SC"/>
                <a:cs typeface="Noto Sans SC"/>
                <a:sym typeface="Noto Sans SC"/>
              </a:rPr>
              <a:t>Eliminates the hassle of switching between apps by combining lore writing, art generation, and design into one seamless experience.</a:t>
            </a:r>
            <a:endParaRPr lang="en-US" sz="1100"/>
          </a:p>
        </p:txBody>
      </p:sp>
      <p:sp>
        <p:nvSpPr>
          <p:cNvPr name="AutoShape 25" id="25"/>
          <p:cNvSpPr/>
          <p:nvPr/>
        </p:nvSpPr>
        <p:spPr>
          <a:xfrm rot="0" flipH="false" flipV="false">
            <a:off x="4381500" y="4826000"/>
            <a:ext cx="3429000" cy="1397000"/>
          </a:xfrm>
          <a:prstGeom prst="roundRect">
            <a:avLst>
              <a:gd name="adj" fmla="val 0"/>
            </a:avLst>
          </a:prstGeom>
          <a:solidFill>
            <a:srgbClr val="1E293B">
              <a:alpha val="50000"/>
            </a:srgbClr>
          </a:solidFill>
          <a:ln w="12700" cmpd="sng" cap="flat">
            <a:solidFill>
              <a:srgbClr val="00E5FF">
                <a:alpha val="2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4584700" y="5029200"/>
            <a:ext cx="355600" cy="355600"/>
          </a:xfrm>
          <a:prstGeom prst="rect">
            <a:avLst/>
          </a:prstGeom>
        </p:spPr>
      </p:pic>
      <p:sp>
        <p:nvSpPr>
          <p:cNvPr name="AutoShape 27" id="27"/>
          <p:cNvSpPr/>
          <p:nvPr/>
        </p:nvSpPr>
        <p:spPr>
          <a:xfrm rot="0" flipH="false" flipV="false">
            <a:off x="5041900" y="5029200"/>
            <a:ext cx="2667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Local &amp; Private</a:t>
            </a:r>
            <a:endParaRPr lang="en-US" sz="1100"/>
          </a:p>
        </p:txBody>
      </p:sp>
      <p:sp>
        <p:nvSpPr>
          <p:cNvPr name="AutoShape 28" id="28"/>
          <p:cNvSpPr/>
          <p:nvPr/>
        </p:nvSpPr>
        <p:spPr>
          <a:xfrm rot="0" flipH="false" flipV="false">
            <a:off x="4584700" y="5486400"/>
            <a:ext cx="30226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alpha val="90196"/>
                  </a:srgbClr>
                </a:solidFill>
                <a:latin typeface="Noto Sans SC"/>
                <a:ea typeface="Noto Sans SC"/>
                <a:cs typeface="Noto Sans SC"/>
                <a:sym typeface="Noto Sans SC"/>
              </a:rPr>
              <a:t>Runs entirely on your AMD GPU for maximum speed and privacy—no cloud costs, no data uploads, and full creative control.</a:t>
            </a:r>
            <a:endParaRPr lang="en-US" sz="1100"/>
          </a:p>
        </p:txBody>
      </p:sp>
      <p:sp>
        <p:nvSpPr>
          <p:cNvPr name="AutoShape 29" id="29"/>
          <p:cNvSpPr/>
          <p:nvPr/>
        </p:nvSpPr>
        <p:spPr>
          <a:xfrm rot="0" flipH="false" flipV="false">
            <a:off x="8001000" y="4826000"/>
            <a:ext cx="3429000" cy="1397000"/>
          </a:xfrm>
          <a:prstGeom prst="roundRect">
            <a:avLst>
              <a:gd name="adj" fmla="val 0"/>
            </a:avLst>
          </a:prstGeom>
          <a:solidFill>
            <a:srgbClr val="1E293B">
              <a:alpha val="50000"/>
            </a:srgbClr>
          </a:solidFill>
          <a:ln w="12700" cmpd="sng" cap="flat">
            <a:solidFill>
              <a:srgbClr val="00E5FF">
                <a:alpha val="20000"/>
              </a:srgbClr>
            </a:solid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8204200" y="5029200"/>
            <a:ext cx="355600" cy="355600"/>
          </a:xfrm>
          <a:prstGeom prst="rect">
            <a:avLst/>
          </a:prstGeom>
        </p:spPr>
      </p:pic>
      <p:sp>
        <p:nvSpPr>
          <p:cNvPr name="AutoShape 31" id="31"/>
          <p:cNvSpPr/>
          <p:nvPr/>
        </p:nvSpPr>
        <p:spPr>
          <a:xfrm rot="0" flipH="false" flipV="false">
            <a:off x="8661400" y="5029200"/>
            <a:ext cx="2667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Structured Output</a:t>
            </a:r>
            <a:endParaRPr lang="en-US" sz="1100"/>
          </a:p>
        </p:txBody>
      </p:sp>
      <p:sp>
        <p:nvSpPr>
          <p:cNvPr name="AutoShape 32" id="32"/>
          <p:cNvSpPr/>
          <p:nvPr/>
        </p:nvSpPr>
        <p:spPr>
          <a:xfrm rot="0" flipH="false" flipV="false">
            <a:off x="8204200" y="5486400"/>
            <a:ext cx="30226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alpha val="90196"/>
                  </a:srgbClr>
                </a:solidFill>
                <a:latin typeface="Noto Sans SC"/>
                <a:ea typeface="Noto Sans SC"/>
                <a:cs typeface="Noto Sans SC"/>
                <a:sym typeface="Noto Sans SC"/>
              </a:rPr>
              <a:t>Exports machine-readable JSON data alongside visual art, making it perfect for game developers and automated pipelines.</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cmpd="sng" cap="flat">
            <a:solidFill>
              <a:srgbClr val="000000">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E5FF"/>
                </a:solidFill>
                <a:latin typeface="Poppins"/>
                <a:ea typeface="Poppins"/>
                <a:cs typeface="Poppins"/>
                <a:sym typeface="Poppins"/>
              </a:rPr>
              <a:t>How It Works: The Local Pipeline</a:t>
            </a:r>
            <a:endParaRPr lang="en-US" sz="1100"/>
          </a:p>
        </p:txBody>
      </p:sp>
      <p:sp>
        <p:nvSpPr>
          <p:cNvPr name="AutoShape 4" id="4"/>
          <p:cNvSpPr/>
          <p:nvPr/>
        </p:nvSpPr>
        <p:spPr>
          <a:xfrm rot="0" flipH="false" flipV="false">
            <a:off x="762000" y="2032000"/>
            <a:ext cx="3378200" cy="2667000"/>
          </a:xfrm>
          <a:prstGeom prst="roundRect">
            <a:avLst>
              <a:gd name="adj" fmla="val 0"/>
            </a:avLst>
          </a:prstGeom>
          <a:solidFill>
            <a:srgbClr val="00E5FF">
              <a:alpha val="8000"/>
            </a:srgbClr>
          </a:solidFill>
          <a:ln w="12700" cmpd="sng" cap="flat">
            <a:solidFill>
              <a:srgbClr val="00E5FF">
                <a:alpha val="25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311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0E5FF"/>
                </a:solidFill>
                <a:latin typeface="Poppins"/>
                <a:ea typeface="Poppins"/>
                <a:cs typeface="Poppins"/>
                <a:sym typeface="Poppins"/>
              </a:rPr>
              <a:t>01 / INPUT</a:t>
            </a:r>
            <a:endParaRPr lang="en-US" sz="1100"/>
          </a:p>
        </p:txBody>
      </p:sp>
      <p:sp>
        <p:nvSpPr>
          <p:cNvPr name="AutoShape 7" id="7"/>
          <p:cNvSpPr/>
          <p:nvPr/>
        </p:nvSpPr>
        <p:spPr>
          <a:xfrm rot="0" flipH="false" flipV="false">
            <a:off x="1016000" y="2857500"/>
            <a:ext cx="28702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alpha val="94902"/>
                  </a:srgbClr>
                </a:solidFill>
                <a:latin typeface="Poppins"/>
                <a:ea typeface="Poppins"/>
                <a:cs typeface="Poppins"/>
                <a:sym typeface="Poppins"/>
              </a:rPr>
              <a:t>Character Brief &amp; Reference</a:t>
            </a:r>
            <a:endParaRPr lang="en-US" sz="1100"/>
          </a:p>
        </p:txBody>
      </p:sp>
      <p:sp>
        <p:nvSpPr>
          <p:cNvPr name="AutoShape 8" id="8"/>
          <p:cNvSpPr/>
          <p:nvPr/>
        </p:nvSpPr>
        <p:spPr>
          <a:xfrm rot="0" flipH="false" flipV="false">
            <a:off x="1016000" y="3302000"/>
            <a:ext cx="2870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60000"/>
                  </a:srgbClr>
                </a:solidFill>
                <a:latin typeface="Poppins"/>
                <a:ea typeface="Poppins"/>
                <a:cs typeface="Poppins"/>
                <a:sym typeface="Poppins"/>
              </a:rPr>
              <a:t>Define your character with a detailed textual prompt, optionally including a reference image to guide visual style and key features.</a:t>
            </a:r>
            <a:endParaRPr lang="en-US" sz="1100"/>
          </a:p>
        </p:txBody>
      </p:sp>
      <p:sp>
        <p:nvSpPr>
          <p:cNvPr name="AutoShape 9" id="9"/>
          <p:cNvSpPr/>
          <p:nvPr/>
        </p:nvSpPr>
        <p:spPr>
          <a:xfrm rot="0" flipH="false" flipV="false">
            <a:off x="4394200" y="2032000"/>
            <a:ext cx="3378200" cy="2667000"/>
          </a:xfrm>
          <a:prstGeom prst="roundRect">
            <a:avLst>
              <a:gd name="adj" fmla="val 0"/>
            </a:avLst>
          </a:prstGeom>
          <a:solidFill>
            <a:srgbClr val="00E5FF">
              <a:alpha val="8000"/>
            </a:srgbClr>
          </a:solidFill>
          <a:ln w="12700" cmpd="sng" cap="flat">
            <a:solidFill>
              <a:srgbClr val="00E5FF">
                <a:alpha val="25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48200" y="2286000"/>
            <a:ext cx="406400" cy="406400"/>
          </a:xfrm>
          <a:prstGeom prst="rect">
            <a:avLst/>
          </a:prstGeom>
        </p:spPr>
      </p:pic>
      <p:sp>
        <p:nvSpPr>
          <p:cNvPr name="AutoShape 11" id="11"/>
          <p:cNvSpPr/>
          <p:nvPr/>
        </p:nvSpPr>
        <p:spPr>
          <a:xfrm rot="0" flipH="false" flipV="false">
            <a:off x="5156200" y="2311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0E5FF"/>
                </a:solidFill>
                <a:latin typeface="Poppins"/>
                <a:ea typeface="Poppins"/>
                <a:cs typeface="Poppins"/>
                <a:sym typeface="Poppins"/>
              </a:rPr>
              <a:t>02 / PROCESSING</a:t>
            </a:r>
            <a:endParaRPr lang="en-US" sz="1100"/>
          </a:p>
        </p:txBody>
      </p:sp>
      <p:sp>
        <p:nvSpPr>
          <p:cNvPr name="AutoShape 12" id="12"/>
          <p:cNvSpPr/>
          <p:nvPr/>
        </p:nvSpPr>
        <p:spPr>
          <a:xfrm rot="0" flipH="false" flipV="false">
            <a:off x="4648200" y="2857500"/>
            <a:ext cx="28702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alpha val="94902"/>
                  </a:srgbClr>
                </a:solidFill>
                <a:latin typeface="Poppins"/>
                <a:ea typeface="Poppins"/>
                <a:cs typeface="Poppins"/>
                <a:sym typeface="Poppins"/>
              </a:rPr>
              <a:t>Dual LLM + GenAI Inference</a:t>
            </a:r>
            <a:endParaRPr lang="en-US" sz="1100"/>
          </a:p>
        </p:txBody>
      </p:sp>
      <p:sp>
        <p:nvSpPr>
          <p:cNvPr name="AutoShape 13" id="13"/>
          <p:cNvSpPr/>
          <p:nvPr/>
        </p:nvSpPr>
        <p:spPr>
          <a:xfrm rot="0" flipH="false" flipV="false">
            <a:off x="4648200" y="3302000"/>
            <a:ext cx="2870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60000"/>
                  </a:srgbClr>
                </a:solidFill>
                <a:latin typeface="Poppins"/>
                <a:ea typeface="Poppins"/>
                <a:cs typeface="Poppins"/>
                <a:sym typeface="Poppins"/>
              </a:rPr>
              <a:t>Qwen2.5-7B generates a structured JSON profile; SDXL Anime creates a bespoke portrait—both models run locally and are accelerated by ROCm on AMD hardware.</a:t>
            </a:r>
            <a:endParaRPr lang="en-US" sz="1100"/>
          </a:p>
        </p:txBody>
      </p:sp>
      <p:sp>
        <p:nvSpPr>
          <p:cNvPr name="AutoShape 14" id="14"/>
          <p:cNvSpPr/>
          <p:nvPr/>
        </p:nvSpPr>
        <p:spPr>
          <a:xfrm rot="0" flipH="false" flipV="false">
            <a:off x="8026400" y="2032000"/>
            <a:ext cx="3378200" cy="2667000"/>
          </a:xfrm>
          <a:prstGeom prst="roundRect">
            <a:avLst>
              <a:gd name="adj" fmla="val 0"/>
            </a:avLst>
          </a:prstGeom>
          <a:solidFill>
            <a:srgbClr val="00E5FF">
              <a:alpha val="8000"/>
            </a:srgbClr>
          </a:solidFill>
          <a:ln w="12700" cmpd="sng" cap="flat">
            <a:solidFill>
              <a:srgbClr val="00E5FF">
                <a:alpha val="25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80400" y="2286000"/>
            <a:ext cx="406400" cy="406400"/>
          </a:xfrm>
          <a:prstGeom prst="rect">
            <a:avLst/>
          </a:prstGeom>
        </p:spPr>
      </p:pic>
      <p:sp>
        <p:nvSpPr>
          <p:cNvPr name="AutoShape 16" id="16"/>
          <p:cNvSpPr/>
          <p:nvPr/>
        </p:nvSpPr>
        <p:spPr>
          <a:xfrm rot="0" flipH="false" flipV="false">
            <a:off x="8788400" y="2311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0E5FF"/>
                </a:solidFill>
                <a:latin typeface="Poppins"/>
                <a:ea typeface="Poppins"/>
                <a:cs typeface="Poppins"/>
                <a:sym typeface="Poppins"/>
              </a:rPr>
              <a:t>03 / OUTPUT</a:t>
            </a:r>
            <a:endParaRPr lang="en-US" sz="1100"/>
          </a:p>
        </p:txBody>
      </p:sp>
      <p:sp>
        <p:nvSpPr>
          <p:cNvPr name="AutoShape 17" id="17"/>
          <p:cNvSpPr/>
          <p:nvPr/>
        </p:nvSpPr>
        <p:spPr>
          <a:xfrm rot="0" flipH="false" flipV="false">
            <a:off x="8280400" y="2857500"/>
            <a:ext cx="28702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alpha val="94902"/>
                  </a:srgbClr>
                </a:solidFill>
                <a:latin typeface="Poppins"/>
                <a:ea typeface="Poppins"/>
                <a:cs typeface="Poppins"/>
                <a:sym typeface="Poppins"/>
              </a:rPr>
              <a:t>Pillow Asset Composition</a:t>
            </a:r>
            <a:endParaRPr lang="en-US" sz="1100"/>
          </a:p>
        </p:txBody>
      </p:sp>
      <p:sp>
        <p:nvSpPr>
          <p:cNvPr name="AutoShape 18" id="18"/>
          <p:cNvSpPr/>
          <p:nvPr/>
        </p:nvSpPr>
        <p:spPr>
          <a:xfrm rot="0" flipH="false" flipV="false">
            <a:off x="8280400" y="3302000"/>
            <a:ext cx="2870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60000"/>
                  </a:srgbClr>
                </a:solidFill>
                <a:latin typeface="Poppins"/>
                <a:ea typeface="Poppins"/>
                <a:cs typeface="Poppins"/>
                <a:sym typeface="Poppins"/>
              </a:rPr>
              <a:t>Automatically composites the generated portrait, six-affinity radar chart (from JSON), and lore text into a final, high-resolution character card image.</a:t>
            </a:r>
            <a:endParaRPr lang="en-US" sz="1100"/>
          </a:p>
        </p:txBody>
      </p:sp>
      <p:sp>
        <p:nvSpPr>
          <p:cNvPr name="AutoShape 19" id="19"/>
          <p:cNvSpPr/>
          <p:nvPr/>
        </p:nvSpPr>
        <p:spPr>
          <a:xfrm rot="0" flipH="false" flipV="false">
            <a:off x="762000" y="5080000"/>
            <a:ext cx="10668000" cy="1270000"/>
          </a:xfrm>
          <a:prstGeom prst="roundRect">
            <a:avLst>
              <a:gd name="adj" fmla="val 0"/>
            </a:avLst>
          </a:prstGeom>
          <a:solidFill>
            <a:srgbClr val="00E5FF">
              <a:alpha val="12000"/>
            </a:srgbClr>
          </a:solidFill>
          <a:ln cmpd="sng" cap="flat">
            <a:solidFill>
              <a:srgbClr val="00CEE6">
                <a:alpha val="12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 y="5080000"/>
            <a:ext cx="50800" cy="1270000"/>
          </a:xfrm>
          <a:prstGeom prst="roundRect">
            <a:avLst>
              <a:gd name="adj" fmla="val 0"/>
            </a:avLst>
          </a:prstGeom>
          <a:solidFill>
            <a:srgbClr val="00E5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1016000" y="5270500"/>
            <a:ext cx="10160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0E5FF"/>
                </a:solidFill>
                <a:latin typeface="Poppins"/>
                <a:ea typeface="Poppins"/>
                <a:cs typeface="Poppins"/>
                <a:sym typeface="Poppins"/>
              </a:rPr>
              <a:t>CORE DIFFERENTIATOR: 100% LOCAL EXECUTION</a:t>
            </a:r>
            <a:endParaRPr lang="en-US" sz="1100"/>
          </a:p>
        </p:txBody>
      </p:sp>
      <p:sp>
        <p:nvSpPr>
          <p:cNvPr name="AutoShape 22" id="22"/>
          <p:cNvSpPr/>
          <p:nvPr/>
        </p:nvSpPr>
        <p:spPr>
          <a:xfrm rot="0" flipH="false" flipV="false">
            <a:off x="1016000" y="5689600"/>
            <a:ext cx="10160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74902"/>
                  </a:srgbClr>
                </a:solidFill>
                <a:latin typeface="Poppins"/>
                <a:ea typeface="Poppins"/>
                <a:cs typeface="Poppins"/>
                <a:sym typeface="Poppins"/>
              </a:rPr>
              <a:t>No cloud APIs, no data leaving your machine. The entire pipeline runs on AMD Radeon GPUs using the ROCm software stack, ensuring maximum privacy, ultra-low latency, and full creative control over the generation process.</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E5FF"/>
                </a:solidFill>
                <a:latin typeface="Poppins"/>
                <a:ea typeface="Poppins"/>
                <a:cs typeface="Poppins"/>
                <a:sym typeface="Poppins"/>
              </a:rPr>
              <a:t>AMD Radeon / ROCm Highlights</a:t>
            </a:r>
            <a:endParaRPr lang="en-US" sz="1100"/>
          </a:p>
        </p:txBody>
      </p:sp>
      <p:sp>
        <p:nvSpPr>
          <p:cNvPr name="AutoShape 4" id="4"/>
          <p:cNvSpPr/>
          <p:nvPr/>
        </p:nvSpPr>
        <p:spPr>
          <a:xfrm rot="0" flipH="false" flipV="false">
            <a:off x="762000" y="1524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FFFFFF">
                    <a:alpha val="70196"/>
                  </a:srgbClr>
                </a:solidFill>
                <a:latin typeface="Poppins"/>
                <a:ea typeface="Poppins"/>
                <a:cs typeface="Poppins"/>
                <a:sym typeface="Poppins"/>
              </a:rPr>
              <a:t>This project is a showcase of what's possible with the AMD Radeon ecosystem and the ROCm software stack, demonstrating seamless integration, efficient resource utilization, and easy reproducibility for AI workloads.</a:t>
            </a:r>
            <a:endParaRPr lang="en-US" sz="1100"/>
          </a:p>
        </p:txBody>
      </p:sp>
      <p:sp>
        <p:nvSpPr>
          <p:cNvPr name="AutoShape 5" id="5"/>
          <p:cNvSpPr/>
          <p:nvPr/>
        </p:nvSpPr>
        <p:spPr>
          <a:xfrm rot="0" flipH="false" flipV="false">
            <a:off x="762000" y="2413000"/>
            <a:ext cx="3429000" cy="3619500"/>
          </a:xfrm>
          <a:prstGeom prst="roundRect">
            <a:avLst>
              <a:gd name="adj" fmla="val 0"/>
            </a:avLst>
          </a:prstGeom>
          <a:solidFill>
            <a:srgbClr val="0F172A">
              <a:alpha val="60000"/>
            </a:srgbClr>
          </a:solidFill>
          <a:ln w="12700" cmpd="sng" cap="flat">
            <a:solidFill>
              <a:srgbClr val="00E5FF">
                <a:alpha val="25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26035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0E5FF"/>
                </a:solidFill>
                <a:latin typeface="Poppins"/>
                <a:ea typeface="Poppins"/>
                <a:cs typeface="Poppins"/>
                <a:sym typeface="Poppins"/>
              </a:rPr>
              <a:t>01. Verified Compatibility</a:t>
            </a:r>
            <a:endParaRPr lang="en-US" sz="1100"/>
          </a:p>
        </p:txBody>
      </p:sp>
      <p:pic>
        <p:nvPicPr>
          <p:cNvPr name="Picture 7" id="7"/>
          <p:cNvPicPr>
            <a:picLocks noChangeAspect="true"/>
          </p:cNvPicPr>
          <p:nvPr/>
        </p:nvPicPr>
        <p:blipFill>
          <a:blip r:embed="rId3"/>
          <a:srcRect l="9570" r="9570" t="0" b="0"/>
          <a:stretch>
            <a:fillRect/>
          </a:stretch>
        </p:blipFill>
        <p:spPr>
          <a:xfrm rot="0" flipH="false" flipV="false">
            <a:off x="952500" y="3175000"/>
            <a:ext cx="1460500" cy="1016000"/>
          </a:xfrm>
          <a:prstGeom prst="rect">
            <a:avLst/>
          </a:prstGeom>
          <a:noFill/>
          <a:ln w="25400" cmpd="sng" cap="flat">
            <a:noFill/>
            <a:prstDash val="solid"/>
            <a:round/>
          </a:ln>
        </p:spPr>
      </p:pic>
      <p:pic>
        <p:nvPicPr>
          <p:cNvPr name="Picture 8" id="8"/>
          <p:cNvPicPr>
            <a:picLocks noChangeAspect="true"/>
          </p:cNvPicPr>
          <p:nvPr/>
        </p:nvPicPr>
        <p:blipFill>
          <a:blip r:embed="rId4"/>
          <a:srcRect l="0" r="0" t="15217" b="15217"/>
          <a:stretch>
            <a:fillRect/>
          </a:stretch>
        </p:blipFill>
        <p:spPr>
          <a:xfrm rot="0" flipH="false" flipV="false">
            <a:off x="2603500" y="3175000"/>
            <a:ext cx="1460500" cy="1016000"/>
          </a:xfrm>
          <a:prstGeom prst="rect">
            <a:avLst/>
          </a:prstGeom>
          <a:noFill/>
          <a:ln w="25400" cmpd="sng" cap="flat">
            <a:noFill/>
            <a:prstDash val="solid"/>
            <a:round/>
          </a:ln>
        </p:spPr>
      </p:pic>
      <p:sp>
        <p:nvSpPr>
          <p:cNvPr name="AutoShape 9" id="9"/>
          <p:cNvSpPr/>
          <p:nvPr/>
        </p:nvSpPr>
        <p:spPr>
          <a:xfrm rot="0" flipH="false" flipV="false">
            <a:off x="952500" y="4572000"/>
            <a:ext cx="3048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2E8F0">
                    <a:alpha val="85098"/>
                  </a:srgbClr>
                </a:solidFill>
                <a:latin typeface="Poppins"/>
                <a:ea typeface="Poppins"/>
                <a:cs typeface="Poppins"/>
                <a:sym typeface="Poppins"/>
              </a:rPr>
              <a:t>Fully validated with</a:t>
            </a:r>
            <a:r>
              <a:rPr lang="en-US" b="true" i="false" strike="noStrike" u="none" sz="1300">
                <a:solidFill>
                  <a:srgbClr val="E2E8F0">
                    <a:alpha val="85098"/>
                  </a:srgbClr>
                </a:solidFill>
                <a:latin typeface="Poppins"/>
                <a:ea typeface="Poppins"/>
                <a:cs typeface="Poppins"/>
                <a:sym typeface="Poppins"/>
              </a:rPr>
              <a:t>rocm-smi</a:t>
            </a:r>
            <a:r>
              <a:rPr lang="en-US" b="false" i="false" strike="noStrike" u="none" sz="1300">
                <a:solidFill>
                  <a:srgbClr val="E2E8F0">
                    <a:alpha val="85098"/>
                  </a:srgbClr>
                </a:solidFill>
                <a:latin typeface="Poppins"/>
                <a:ea typeface="Poppins"/>
                <a:cs typeface="Poppins"/>
                <a:sym typeface="Poppins"/>
              </a:rPr>
              <a:t>and</a:t>
            </a:r>
            <a:r>
              <a:rPr lang="en-US" b="true" i="false" strike="noStrike" u="none" sz="1300">
                <a:solidFill>
                  <a:srgbClr val="E2E8F0">
                    <a:alpha val="85098"/>
                  </a:srgbClr>
                </a:solidFill>
                <a:latin typeface="Poppins"/>
                <a:ea typeface="Poppins"/>
                <a:cs typeface="Poppins"/>
                <a:sym typeface="Poppins"/>
              </a:rPr>
              <a:t>PyTorch-for-ROCm</a:t>
            </a:r>
            <a:r>
              <a:rPr lang="en-US" b="false" i="false" strike="noStrike" u="none" sz="1300">
                <a:solidFill>
                  <a:srgbClr val="E2E8F0">
                    <a:alpha val="85098"/>
                  </a:srgbClr>
                </a:solidFill>
                <a:latin typeface="Poppins"/>
                <a:ea typeface="Poppins"/>
                <a:cs typeface="Poppins"/>
                <a:sym typeface="Poppins"/>
              </a:rPr>
              <a:t>, ensuring a stable and reliable foundation for live AI demonstrations and production deployments.</a:t>
            </a:r>
            <a:endParaRPr lang="en-US" sz="1100"/>
          </a:p>
        </p:txBody>
      </p:sp>
      <p:sp>
        <p:nvSpPr>
          <p:cNvPr name="AutoShape 10" id="10"/>
          <p:cNvSpPr/>
          <p:nvPr/>
        </p:nvSpPr>
        <p:spPr>
          <a:xfrm rot="0" flipH="false" flipV="false">
            <a:off x="4381500" y="2413000"/>
            <a:ext cx="3429000" cy="3619500"/>
          </a:xfrm>
          <a:prstGeom prst="roundRect">
            <a:avLst>
              <a:gd name="adj" fmla="val 0"/>
            </a:avLst>
          </a:prstGeom>
          <a:solidFill>
            <a:srgbClr val="0F172A">
              <a:alpha val="60000"/>
            </a:srgbClr>
          </a:solidFill>
          <a:ln w="12700" cmpd="sng" cap="flat">
            <a:solidFill>
              <a:srgbClr val="00E5FF">
                <a:alpha val="25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572000" y="26035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0E5FF"/>
                </a:solidFill>
                <a:latin typeface="Poppins"/>
                <a:ea typeface="Poppins"/>
                <a:cs typeface="Poppins"/>
                <a:sym typeface="Poppins"/>
              </a:rPr>
              <a:t>02. Efficient VRAM Management</a:t>
            </a:r>
            <a:endParaRPr lang="en-US" sz="1100"/>
          </a:p>
        </p:txBody>
      </p:sp>
      <p:pic>
        <p:nvPicPr>
          <p:cNvPr name="Picture 12" id="12"/>
          <p:cNvPicPr>
            <a:picLocks noChangeAspect="true"/>
          </p:cNvPicPr>
          <p:nvPr/>
        </p:nvPicPr>
        <p:blipFill>
          <a:blip r:embed="rId5"/>
          <a:srcRect l="0" r="0" t="3703" b="3703"/>
          <a:stretch>
            <a:fillRect/>
          </a:stretch>
        </p:blipFill>
        <p:spPr>
          <a:xfrm rot="0" flipH="false" flipV="false">
            <a:off x="4572000" y="3175000"/>
            <a:ext cx="3048000" cy="1587500"/>
          </a:xfrm>
          <a:prstGeom prst="rect">
            <a:avLst/>
          </a:prstGeom>
          <a:noFill/>
          <a:ln w="25400" cmpd="sng" cap="flat">
            <a:noFill/>
            <a:prstDash val="solid"/>
            <a:round/>
          </a:ln>
        </p:spPr>
      </p:pic>
      <p:sp>
        <p:nvSpPr>
          <p:cNvPr name="AutoShape 13" id="13"/>
          <p:cNvSpPr/>
          <p:nvPr/>
        </p:nvSpPr>
        <p:spPr>
          <a:xfrm rot="0" flipH="false" flipV="false">
            <a:off x="4572000" y="4889500"/>
            <a:ext cx="3048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2E8F0">
                    <a:alpha val="85098"/>
                  </a:srgbClr>
                </a:solidFill>
                <a:latin typeface="Poppins"/>
                <a:ea typeface="Poppins"/>
                <a:cs typeface="Poppins"/>
                <a:sym typeface="Poppins"/>
              </a:rPr>
              <a:t>Sequential unloading optimizes memory use, fitting a</a:t>
            </a:r>
            <a:r>
              <a:rPr lang="en-US" b="true" i="false" strike="noStrike" u="none" sz="1300">
                <a:solidFill>
                  <a:srgbClr val="E2E8F0">
                    <a:alpha val="85098"/>
                  </a:srgbClr>
                </a:solidFill>
                <a:latin typeface="Poppins"/>
                <a:ea typeface="Poppins"/>
                <a:cs typeface="Poppins"/>
                <a:sym typeface="Poppins"/>
              </a:rPr>
              <a:t>7B-parameter LLM</a:t>
            </a:r>
            <a:r>
              <a:rPr lang="en-US" b="false" i="false" strike="noStrike" u="none" sz="1300">
                <a:solidFill>
                  <a:srgbClr val="E2E8F0">
                    <a:alpha val="85098"/>
                  </a:srgbClr>
                </a:solidFill>
                <a:latin typeface="Poppins"/>
                <a:ea typeface="Poppins"/>
                <a:cs typeface="Poppins"/>
                <a:sym typeface="Poppins"/>
              </a:rPr>
              <a:t>and SDXL on a single</a:t>
            </a:r>
            <a:r>
              <a:rPr lang="en-US" b="true" i="false" strike="noStrike" u="none" sz="1300">
                <a:solidFill>
                  <a:srgbClr val="E2E8F0">
                    <a:alpha val="85098"/>
                  </a:srgbClr>
                </a:solidFill>
                <a:latin typeface="Poppins"/>
                <a:ea typeface="Poppins"/>
                <a:cs typeface="Poppins"/>
                <a:sym typeface="Poppins"/>
              </a:rPr>
              <a:t>24GB GPU</a:t>
            </a:r>
            <a:r>
              <a:rPr lang="en-US" b="false" i="false" strike="noStrike" u="none" sz="1300">
                <a:solidFill>
                  <a:srgbClr val="E2E8F0">
                    <a:alpha val="85098"/>
                  </a:srgbClr>
                </a:solidFill>
                <a:latin typeface="Poppins"/>
                <a:ea typeface="Poppins"/>
                <a:cs typeface="Poppins"/>
                <a:sym typeface="Poppins"/>
              </a:rPr>
              <a:t>—making powerful AI accessible on consumer-grade hardware.</a:t>
            </a:r>
            <a:endParaRPr lang="en-US" sz="1100"/>
          </a:p>
        </p:txBody>
      </p:sp>
      <p:sp>
        <p:nvSpPr>
          <p:cNvPr name="AutoShape 14" id="14"/>
          <p:cNvSpPr/>
          <p:nvPr/>
        </p:nvSpPr>
        <p:spPr>
          <a:xfrm rot="0" flipH="false" flipV="false">
            <a:off x="8001000" y="2413000"/>
            <a:ext cx="3429000" cy="3619500"/>
          </a:xfrm>
          <a:prstGeom prst="roundRect">
            <a:avLst>
              <a:gd name="adj" fmla="val 0"/>
            </a:avLst>
          </a:prstGeom>
          <a:solidFill>
            <a:srgbClr val="0F172A">
              <a:alpha val="60000"/>
            </a:srgbClr>
          </a:solidFill>
          <a:ln w="12700" cmpd="sng" cap="flat">
            <a:solidFill>
              <a:srgbClr val="00E5FF">
                <a:alpha val="25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91500" y="26035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0E5FF"/>
                </a:solidFill>
                <a:latin typeface="Poppins"/>
                <a:ea typeface="Poppins"/>
                <a:cs typeface="Poppins"/>
                <a:sym typeface="Poppins"/>
              </a:rPr>
              <a:t>03. Reproducible Offline Setup</a:t>
            </a:r>
            <a:endParaRPr lang="en-US" sz="1100"/>
          </a:p>
        </p:txBody>
      </p:sp>
      <p:pic>
        <p:nvPicPr>
          <p:cNvPr name="Picture 16" id="1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191500" y="3365500"/>
            <a:ext cx="812800" cy="812800"/>
          </a:xfrm>
          <a:prstGeom prst="rect">
            <a:avLst/>
          </a:prstGeom>
        </p:spPr>
      </p:pic>
      <p:sp>
        <p:nvSpPr>
          <p:cNvPr name="AutoShape 17" id="17"/>
          <p:cNvSpPr/>
          <p:nvPr/>
        </p:nvSpPr>
        <p:spPr>
          <a:xfrm rot="0" flipH="false" flipV="false">
            <a:off x="9144000" y="3365500"/>
            <a:ext cx="209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2E8F0">
                    <a:alpha val="85098"/>
                  </a:srgbClr>
                </a:solidFill>
                <a:latin typeface="Poppins"/>
                <a:ea typeface="Poppins"/>
                <a:cs typeface="Poppins"/>
                <a:sym typeface="Poppins"/>
              </a:rPr>
              <a:t>A</a:t>
            </a:r>
            <a:r>
              <a:rPr lang="en-US" b="true" i="false" strike="noStrike" u="none" sz="1300">
                <a:solidFill>
                  <a:srgbClr val="E2E8F0">
                    <a:alpha val="85098"/>
                  </a:srgbClr>
                </a:solidFill>
                <a:latin typeface="Poppins"/>
                <a:ea typeface="Poppins"/>
                <a:cs typeface="Poppins"/>
                <a:sym typeface="Poppins"/>
              </a:rPr>
              <a:t>setup_env.sh</a:t>
            </a:r>
            <a:r>
              <a:rPr lang="en-US" b="false" i="false" strike="noStrike" u="none" sz="1300">
                <a:solidFill>
                  <a:srgbClr val="E2E8F0">
                    <a:alpha val="85098"/>
                  </a:srgbClr>
                </a:solidFill>
                <a:latin typeface="Poppins"/>
                <a:ea typeface="Poppins"/>
                <a:cs typeface="Poppins"/>
                <a:sym typeface="Poppins"/>
              </a:rPr>
              <a:t>script automates dependency installation for instant environment creation.</a:t>
            </a:r>
            <a:endParaRPr lang="en-US" sz="1100"/>
          </a:p>
        </p:txBody>
      </p:sp>
      <p:cxnSp>
        <p:nvCxnSpPr>
          <p:cNvPr name="Connector 18" id="18"/>
          <p:cNvCxnSpPr/>
          <p:nvPr/>
        </p:nvCxnSpPr>
        <p:spPr>
          <a:xfrm rot="-14323" flipH="false" flipV="false">
            <a:off x="8191513" y="4565650"/>
            <a:ext cx="3048000" cy="12700"/>
          </a:xfrm>
          <a:prstGeom prst="straightConnector1">
            <a:avLst/>
          </a:prstGeom>
          <a:solidFill>
            <a:srgbClr val="DEE0E3">
              <a:alpha val="100000"/>
            </a:srgbClr>
          </a:solidFill>
          <a:ln w="12700" cmpd="sng" cap="flat">
            <a:solidFill>
              <a:srgbClr val="00E5FF">
                <a:alpha val="20000"/>
              </a:srgbClr>
            </a:solidFill>
            <a:prstDash val="solid"/>
            <a:round/>
            <a:headEnd type="none" w="med" len="med"/>
            <a:tailEnd type="none" w="med" len="med"/>
          </a:ln>
        </p:spPr>
      </p:cxnSp>
      <p:sp>
        <p:nvSpPr>
          <p:cNvPr name="AutoShape 19" id="19"/>
          <p:cNvSpPr/>
          <p:nvPr/>
        </p:nvSpPr>
        <p:spPr>
          <a:xfrm rot="0" flipH="false" flipV="false">
            <a:off x="8191500" y="4762500"/>
            <a:ext cx="3048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2E8F0">
                    <a:alpha val="85098"/>
                  </a:srgbClr>
                </a:solidFill>
                <a:latin typeface="Poppins"/>
                <a:ea typeface="Poppins"/>
                <a:cs typeface="Poppins"/>
                <a:sym typeface="Poppins"/>
              </a:rPr>
              <a:t>All wheels and model weights are hosted on PVC, enabling easy restoration of the development environment—even without an internet connection.</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E5FF"/>
                </a:solidFill>
                <a:latin typeface="Poppins"/>
                <a:ea typeface="Poppins"/>
                <a:cs typeface="Poppins"/>
                <a:sym typeface="Poppins"/>
              </a:rPr>
              <a:t>Reliability Engineering</a:t>
            </a:r>
            <a:endParaRPr lang="en-US" sz="1100"/>
          </a:p>
        </p:txBody>
      </p:sp>
      <p:pic>
        <p:nvPicPr>
          <p:cNvPr name="Picture 4" id="4"/>
          <p:cNvPicPr>
            <a:picLocks noChangeAspect="true"/>
          </p:cNvPicPr>
          <p:nvPr/>
        </p:nvPicPr>
        <p:blipFill>
          <a:blip r:embed="rId3"/>
          <a:srcRect l="1432" r="1432" t="0" b="0"/>
          <a:stretch>
            <a:fillRect/>
          </a:stretch>
        </p:blipFill>
        <p:spPr>
          <a:xfrm rot="0" flipH="false" flipV="false">
            <a:off x="762000" y="2032000"/>
            <a:ext cx="4064000" cy="2159000"/>
          </a:xfrm>
          <a:prstGeom prst="rect">
            <a:avLst/>
          </a:prstGeom>
          <a:noFill/>
          <a:ln w="12700" cmpd="sng" cap="flat">
            <a:solidFill>
              <a:srgbClr val="00E5FF">
                <a:alpha val="40000"/>
              </a:srgbClr>
            </a:solidFill>
            <a:prstDash val="solid"/>
            <a:round/>
          </a:ln>
          <a:effectLst>
            <a:outerShdw dir="2700000" dist="0" blurRad="317500" algn="tl" rotWithShape="false">
              <a:srgbClr val="00E5FF">
                <a:alpha val="15000"/>
              </a:srgbClr>
            </a:outerShdw>
          </a:effectLst>
        </p:spPr>
      </p:pic>
      <p:sp>
        <p:nvSpPr>
          <p:cNvPr name="AutoShape 5" id="5"/>
          <p:cNvSpPr/>
          <p:nvPr/>
        </p:nvSpPr>
        <p:spPr>
          <a:xfrm rot="0" flipH="false" flipV="false">
            <a:off x="762000" y="4445000"/>
            <a:ext cx="4064000" cy="165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alpha val="60000"/>
                  </a:srgbClr>
                </a:solidFill>
                <a:latin typeface="Poppins"/>
                <a:ea typeface="Poppins"/>
                <a:cs typeface="Poppins"/>
                <a:sym typeface="Poppins"/>
              </a:rPr>
              <a:t>This JSON validation example illustrates our system’s ability to handle structured data. We implement strict yet flexible parsing to ensure resilience against minor formatting inconsistencies from LLMs.</a:t>
            </a:r>
            <a:endParaRPr lang="en-US" sz="1100"/>
          </a:p>
        </p:txBody>
      </p:sp>
      <p:sp>
        <p:nvSpPr>
          <p:cNvPr name="AutoShape 6" id="6"/>
          <p:cNvSpPr/>
          <p:nvPr/>
        </p:nvSpPr>
        <p:spPr>
          <a:xfrm rot="0" flipH="false" flipV="false">
            <a:off x="5207000" y="2032000"/>
            <a:ext cx="6350000" cy="1397000"/>
          </a:xfrm>
          <a:prstGeom prst="roundRect">
            <a:avLst>
              <a:gd name="adj" fmla="val 0"/>
            </a:avLst>
          </a:prstGeom>
          <a:solidFill>
            <a:srgbClr val="00E5FF">
              <a:alpha val="8000"/>
            </a:srgbClr>
          </a:solidFill>
          <a:ln w="12700" cmpd="sng" cap="flat">
            <a:solidFill>
              <a:srgbClr val="00E5FF">
                <a:alpha val="2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461000" y="2222500"/>
            <a:ext cx="406400" cy="406400"/>
          </a:xfrm>
          <a:prstGeom prst="rect">
            <a:avLst/>
          </a:prstGeom>
        </p:spPr>
      </p:pic>
      <p:sp>
        <p:nvSpPr>
          <p:cNvPr name="AutoShape 8" id="8"/>
          <p:cNvSpPr/>
          <p:nvPr/>
        </p:nvSpPr>
        <p:spPr>
          <a:xfrm rot="0" flipH="false" flipV="false">
            <a:off x="6032500" y="2222500"/>
            <a:ext cx="5461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0E5FF"/>
                </a:solidFill>
                <a:latin typeface="Poppins"/>
                <a:ea typeface="Poppins"/>
                <a:cs typeface="Poppins"/>
                <a:sym typeface="Poppins"/>
              </a:rPr>
              <a:t>Robust Data Handling</a:t>
            </a:r>
            <a:endParaRPr lang="en-US" sz="1100"/>
          </a:p>
        </p:txBody>
      </p:sp>
      <p:sp>
        <p:nvSpPr>
          <p:cNvPr name="AutoShape 9" id="9"/>
          <p:cNvSpPr/>
          <p:nvPr/>
        </p:nvSpPr>
        <p:spPr>
          <a:xfrm rot="0" flipH="false" flipV="false">
            <a:off x="6032500" y="2667000"/>
            <a:ext cx="5397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CDCDC">
                    <a:alpha val="90196"/>
                  </a:srgbClr>
                </a:solidFill>
                <a:latin typeface="Poppins"/>
                <a:ea typeface="Poppins"/>
                <a:cs typeface="Poppins"/>
                <a:sym typeface="Poppins"/>
              </a:rPr>
              <a:t>3-attempt JSON decoding and tolerant schema coercion recover from malformed outputs. The system intelligently extracts valid fields even with minor errors, preventing crashes.</a:t>
            </a:r>
            <a:endParaRPr lang="en-US" sz="1100"/>
          </a:p>
        </p:txBody>
      </p:sp>
      <p:sp>
        <p:nvSpPr>
          <p:cNvPr name="AutoShape 10" id="10"/>
          <p:cNvSpPr/>
          <p:nvPr/>
        </p:nvSpPr>
        <p:spPr>
          <a:xfrm rot="0" flipH="false" flipV="false">
            <a:off x="5207000" y="3556000"/>
            <a:ext cx="6350000" cy="1397000"/>
          </a:xfrm>
          <a:prstGeom prst="roundRect">
            <a:avLst>
              <a:gd name="adj" fmla="val 0"/>
            </a:avLst>
          </a:prstGeom>
          <a:solidFill>
            <a:srgbClr val="00E5FF">
              <a:alpha val="8000"/>
            </a:srgbClr>
          </a:solidFill>
          <a:ln w="12700" cmpd="sng" cap="flat">
            <a:solidFill>
              <a:srgbClr val="00E5FF">
                <a:alpha val="2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461000" y="3746500"/>
            <a:ext cx="406400" cy="406400"/>
          </a:xfrm>
          <a:prstGeom prst="rect">
            <a:avLst/>
          </a:prstGeom>
        </p:spPr>
      </p:pic>
      <p:sp>
        <p:nvSpPr>
          <p:cNvPr name="AutoShape 12" id="12"/>
          <p:cNvSpPr/>
          <p:nvPr/>
        </p:nvSpPr>
        <p:spPr>
          <a:xfrm rot="0" flipH="false" flipV="false">
            <a:off x="6032500" y="3746500"/>
            <a:ext cx="5461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0E5FF"/>
                </a:solidFill>
                <a:latin typeface="Poppins"/>
                <a:ea typeface="Poppins"/>
                <a:cs typeface="Poppins"/>
                <a:sym typeface="Poppins"/>
              </a:rPr>
              <a:t>Graceful Degradation</a:t>
            </a:r>
            <a:endParaRPr lang="en-US" sz="1100"/>
          </a:p>
        </p:txBody>
      </p:sp>
      <p:sp>
        <p:nvSpPr>
          <p:cNvPr name="AutoShape 13" id="13"/>
          <p:cNvSpPr/>
          <p:nvPr/>
        </p:nvSpPr>
        <p:spPr>
          <a:xfrm rot="0" flipH="false" flipV="false">
            <a:off x="6032500" y="4191000"/>
            <a:ext cx="5397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CDCDC">
                    <a:alpha val="90196"/>
                  </a:srgbClr>
                </a:solidFill>
                <a:latin typeface="Poppins"/>
                <a:ea typeface="Poppins"/>
                <a:cs typeface="Poppins"/>
                <a:sym typeface="Poppins"/>
              </a:rPr>
              <a:t>If affinity scores return all zeros, an auto-fallback generates a balanced spread. This ensures character cards remain visually complete and meaningful, avoiding broken UI.</a:t>
            </a:r>
            <a:endParaRPr lang="en-US" sz="1100"/>
          </a:p>
        </p:txBody>
      </p:sp>
      <p:sp>
        <p:nvSpPr>
          <p:cNvPr name="AutoShape 14" id="14"/>
          <p:cNvSpPr/>
          <p:nvPr/>
        </p:nvSpPr>
        <p:spPr>
          <a:xfrm rot="0" flipH="false" flipV="false">
            <a:off x="5207000" y="5080000"/>
            <a:ext cx="6350000" cy="1397000"/>
          </a:xfrm>
          <a:prstGeom prst="roundRect">
            <a:avLst>
              <a:gd name="adj" fmla="val 0"/>
            </a:avLst>
          </a:prstGeom>
          <a:solidFill>
            <a:srgbClr val="00E5FF">
              <a:alpha val="8000"/>
            </a:srgbClr>
          </a:solidFill>
          <a:ln w="12700" cmpd="sng" cap="flat">
            <a:solidFill>
              <a:srgbClr val="00E5FF">
                <a:alpha val="2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5461000" y="5270500"/>
            <a:ext cx="406400" cy="406400"/>
          </a:xfrm>
          <a:prstGeom prst="rect">
            <a:avLst/>
          </a:prstGeom>
        </p:spPr>
      </p:pic>
      <p:sp>
        <p:nvSpPr>
          <p:cNvPr name="AutoShape 16" id="16"/>
          <p:cNvSpPr/>
          <p:nvPr/>
        </p:nvSpPr>
        <p:spPr>
          <a:xfrm rot="0" flipH="false" flipV="false">
            <a:off x="6032500" y="5270500"/>
            <a:ext cx="5461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0E5FF"/>
                </a:solidFill>
                <a:latin typeface="Poppins"/>
                <a:ea typeface="Poppins"/>
                <a:cs typeface="Poppins"/>
                <a:sym typeface="Poppins"/>
              </a:rPr>
              <a:t>Flexible Dev Workflow</a:t>
            </a:r>
            <a:endParaRPr lang="en-US" sz="1100"/>
          </a:p>
        </p:txBody>
      </p:sp>
      <p:sp>
        <p:nvSpPr>
          <p:cNvPr name="AutoShape 17" id="17"/>
          <p:cNvSpPr/>
          <p:nvPr/>
        </p:nvSpPr>
        <p:spPr>
          <a:xfrm rot="0" flipH="false" flipV="false">
            <a:off x="6032500" y="5715000"/>
            <a:ext cx="5397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CDCDC">
                    <a:alpha val="90196"/>
                  </a:srgbClr>
                </a:solidFill>
                <a:latin typeface="Poppins"/>
                <a:ea typeface="Poppins"/>
                <a:cs typeface="Poppins"/>
                <a:sym typeface="Poppins"/>
              </a:rPr>
              <a:t>MOCK mode skips GPU inference, enabling full laptop-based development without specialized hardware. This drastically speeds up iteration and testing cycles.</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E5FF"/>
                </a:solidFill>
                <a:latin typeface="Poppins"/>
                <a:ea typeface="Poppins"/>
                <a:cs typeface="Poppins"/>
                <a:sym typeface="Poppins"/>
              </a:rPr>
              <a:t>Demo Stills: Characters from the Radeon Cloud Run</a:t>
            </a:r>
            <a:endParaRPr lang="en-US" sz="1100"/>
          </a:p>
        </p:txBody>
      </p:sp>
      <p:sp>
        <p:nvSpPr>
          <p:cNvPr name="AutoShape 4" id="4"/>
          <p:cNvSpPr/>
          <p:nvPr/>
        </p:nvSpPr>
        <p:spPr>
          <a:xfrm rot="0" flipH="false" flipV="false">
            <a:off x="762000" y="15875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5E7EB">
                    <a:alpha val="80000"/>
                  </a:srgbClr>
                </a:solidFill>
                <a:latin typeface="Poppins"/>
                <a:ea typeface="Poppins"/>
                <a:cs typeface="Poppins"/>
                <a:sym typeface="Poppins"/>
              </a:rPr>
              <a:t>Discover the versatility of AI-generated character art on the Radeon Cloud platform. These examples highlight the fusion of dynamic design, rich AI-crafted lore, and visual depth—ranging from expressive anime model sheets to atmospheric fantasy portraits and vivid cyberpunk aesthetics, all built for the immersive "Qingxi Rift" world.</a:t>
            </a:r>
            <a:endParaRPr lang="en-US" sz="1100"/>
          </a:p>
        </p:txBody>
      </p:sp>
      <p:pic>
        <p:nvPicPr>
          <p:cNvPr name="Picture 5" id="5"/>
          <p:cNvPicPr>
            <a:picLocks noChangeAspect="true"/>
          </p:cNvPicPr>
          <p:nvPr/>
        </p:nvPicPr>
        <p:blipFill>
          <a:blip r:embed="rId3"/>
          <a:srcRect l="0" r="0" t="2086" b="2086"/>
          <a:stretch>
            <a:fillRect/>
          </a:stretch>
        </p:blipFill>
        <p:spPr>
          <a:xfrm rot="0" flipH="false" flipV="false">
            <a:off x="762000" y="2794000"/>
            <a:ext cx="2413000" cy="2921000"/>
          </a:xfrm>
          <a:prstGeom prst="rect">
            <a:avLst/>
          </a:prstGeom>
          <a:noFill/>
          <a:ln w="12700" cmpd="sng" cap="flat">
            <a:solidFill>
              <a:srgbClr val="00E5FF">
                <a:alpha val="40000"/>
              </a:srgbClr>
            </a:solidFill>
            <a:prstDash val="solid"/>
            <a:round/>
          </a:ln>
        </p:spPr>
      </p:pic>
      <p:sp>
        <p:nvSpPr>
          <p:cNvPr name="AutoShape 6" id="6"/>
          <p:cNvSpPr/>
          <p:nvPr/>
        </p:nvSpPr>
        <p:spPr>
          <a:xfrm rot="0" flipH="false" flipV="false">
            <a:off x="762000" y="5778500"/>
            <a:ext cx="2413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00E5FF"/>
                </a:solidFill>
                <a:latin typeface="Poppins"/>
                <a:ea typeface="Poppins"/>
                <a:cs typeface="Poppins"/>
                <a:sym typeface="Poppins"/>
              </a:rPr>
              <a:t>Design Sheet</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200">
                <a:solidFill>
                  <a:srgbClr val="D1D5DB">
                    <a:alpha val="70196"/>
                  </a:srgbClr>
                </a:solidFill>
                <a:latin typeface="Poppins"/>
                <a:ea typeface="Poppins"/>
                <a:cs typeface="Poppins"/>
                <a:sym typeface="Poppins"/>
              </a:rPr>
              <a:t>Multi-angle expressions &amp; model breakdown</a:t>
            </a:r>
            <a:endParaRPr lang="en-US" sz="1100"/>
          </a:p>
        </p:txBody>
      </p:sp>
      <p:pic>
        <p:nvPicPr>
          <p:cNvPr name="Picture 7" id="7"/>
          <p:cNvPicPr>
            <a:picLocks noChangeAspect="true"/>
          </p:cNvPicPr>
          <p:nvPr/>
        </p:nvPicPr>
        <p:blipFill>
          <a:blip r:embed="rId4"/>
          <a:srcRect l="0" r="0" t="6766" b="6766"/>
          <a:stretch>
            <a:fillRect/>
          </a:stretch>
        </p:blipFill>
        <p:spPr>
          <a:xfrm rot="0" flipH="false" flipV="false">
            <a:off x="4254500" y="2794000"/>
            <a:ext cx="2413000" cy="2921000"/>
          </a:xfrm>
          <a:prstGeom prst="rect">
            <a:avLst/>
          </a:prstGeom>
          <a:noFill/>
          <a:ln w="12700" cmpd="sng" cap="flat">
            <a:solidFill>
              <a:srgbClr val="00E5FF">
                <a:alpha val="40000"/>
              </a:srgbClr>
            </a:solidFill>
            <a:prstDash val="solid"/>
            <a:round/>
          </a:ln>
        </p:spPr>
      </p:pic>
      <p:sp>
        <p:nvSpPr>
          <p:cNvPr name="AutoShape 8" id="8"/>
          <p:cNvSpPr/>
          <p:nvPr/>
        </p:nvSpPr>
        <p:spPr>
          <a:xfrm rot="0" flipH="false" flipV="false">
            <a:off x="4254500" y="5778500"/>
            <a:ext cx="2413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00E5FF"/>
                </a:solidFill>
                <a:latin typeface="Poppins"/>
                <a:ea typeface="Poppins"/>
                <a:cs typeface="Poppins"/>
                <a:sym typeface="Poppins"/>
              </a:rPr>
              <a:t>Heroic Portrait</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200">
                <a:solidFill>
                  <a:srgbClr val="D1D5DB">
                    <a:alpha val="70196"/>
                  </a:srgbClr>
                </a:solidFill>
                <a:latin typeface="Poppins"/>
                <a:ea typeface="Poppins"/>
                <a:cs typeface="Poppins"/>
                <a:sym typeface="Poppins"/>
              </a:rPr>
              <a:t>Detailed fantasy art with scenic depth</a:t>
            </a:r>
            <a:endParaRPr lang="en-US" sz="1100"/>
          </a:p>
        </p:txBody>
      </p:sp>
      <p:pic>
        <p:nvPicPr>
          <p:cNvPr name="Picture 9" id="9"/>
          <p:cNvPicPr>
            <a:picLocks noChangeAspect="true"/>
          </p:cNvPicPr>
          <p:nvPr/>
        </p:nvPicPr>
        <p:blipFill>
          <a:blip r:embed="rId5"/>
          <a:srcRect l="0" r="0" t="1242" b="1242"/>
          <a:stretch>
            <a:fillRect/>
          </a:stretch>
        </p:blipFill>
        <p:spPr>
          <a:xfrm rot="0" flipH="false" flipV="false">
            <a:off x="7747000" y="2794000"/>
            <a:ext cx="2413000" cy="2921000"/>
          </a:xfrm>
          <a:prstGeom prst="rect">
            <a:avLst/>
          </a:prstGeom>
          <a:noFill/>
          <a:ln w="12700" cmpd="sng" cap="flat">
            <a:solidFill>
              <a:srgbClr val="00E5FF">
                <a:alpha val="40000"/>
              </a:srgbClr>
            </a:solidFill>
            <a:prstDash val="solid"/>
            <a:round/>
          </a:ln>
        </p:spPr>
      </p:pic>
      <p:sp>
        <p:nvSpPr>
          <p:cNvPr name="AutoShape 10" id="10"/>
          <p:cNvSpPr/>
          <p:nvPr/>
        </p:nvSpPr>
        <p:spPr>
          <a:xfrm rot="0" flipH="false" flipV="false">
            <a:off x="7747000" y="5778500"/>
            <a:ext cx="2413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00E5FF"/>
                </a:solidFill>
                <a:latin typeface="Poppins"/>
                <a:ea typeface="Poppins"/>
                <a:cs typeface="Poppins"/>
                <a:sym typeface="Poppins"/>
              </a:rPr>
              <a:t>Cyberpunk Aesthetic</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200">
                <a:solidFill>
                  <a:srgbClr val="D1D5DB">
                    <a:alpha val="70196"/>
                  </a:srgbClr>
                </a:solidFill>
                <a:latin typeface="Poppins"/>
                <a:ea typeface="Poppins"/>
                <a:cs typeface="Poppins"/>
                <a:sym typeface="Poppins"/>
              </a:rPr>
              <a:t>Neon-lit futuristic anime styling</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0E5FF"/>
                </a:solidFill>
                <a:latin typeface="Poppins"/>
                <a:ea typeface="Poppins"/>
                <a:cs typeface="Poppins"/>
                <a:sym typeface="Poppins"/>
              </a:rPr>
              <a:t>Impact &amp; Originality</a:t>
            </a:r>
            <a:endParaRPr lang="en-US" sz="1100"/>
          </a:p>
        </p:txBody>
      </p:sp>
      <p:sp>
        <p:nvSpPr>
          <p:cNvPr name="AutoShape 4" id="4"/>
          <p:cNvSpPr/>
          <p:nvPr/>
        </p:nvSpPr>
        <p:spPr>
          <a:xfrm rot="0" flipH="false" flipV="false">
            <a:off x="762000" y="1905000"/>
            <a:ext cx="5207000" cy="4064000"/>
          </a:xfrm>
          <a:prstGeom prst="roundRect">
            <a:avLst>
              <a:gd name="adj" fmla="val 0"/>
            </a:avLst>
          </a:prstGeom>
          <a:solidFill>
            <a:srgbClr val="00E5FF">
              <a:alpha val="8000"/>
            </a:srgbClr>
          </a:solidFill>
          <a:ln w="12700" cmpd="sng" cap="flat">
            <a:solidFill>
              <a:srgbClr val="00E5FF">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159000"/>
            <a:ext cx="469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00E5FF"/>
                </a:solidFill>
                <a:latin typeface="Poppins"/>
                <a:ea typeface="Poppins"/>
                <a:cs typeface="Poppins"/>
                <a:sym typeface="Poppins"/>
              </a:rPr>
              <a:t>01 / Original World Building</a:t>
            </a:r>
            <a:endParaRPr lang="en-US" sz="1100"/>
          </a:p>
        </p:txBody>
      </p:sp>
      <p:cxnSp>
        <p:nvCxnSpPr>
          <p:cNvPr name="Connector 6" id="6"/>
          <p:cNvCxnSpPr/>
          <p:nvPr/>
        </p:nvCxnSpPr>
        <p:spPr>
          <a:xfrm rot="-9291" flipH="false" flipV="false">
            <a:off x="1016009" y="2787650"/>
            <a:ext cx="4699000" cy="12700"/>
          </a:xfrm>
          <a:prstGeom prst="straightConnector1">
            <a:avLst/>
          </a:prstGeom>
          <a:solidFill>
            <a:srgbClr val="DEE0E3">
              <a:alpha val="100000"/>
            </a:srgbClr>
          </a:solidFill>
          <a:ln w="12700" cmpd="sng" cap="flat">
            <a:solidFill>
              <a:srgbClr val="00E5FF">
                <a:alpha val="15000"/>
              </a:srgbClr>
            </a:solidFill>
            <a:prstDash val="solid"/>
            <a:round/>
            <a:headEnd type="none" w="med" len="med"/>
            <a:tailEnd type="none" w="med" len="med"/>
          </a:ln>
        </p:spPr>
      </p:cxn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111500"/>
            <a:ext cx="304800" cy="304800"/>
          </a:xfrm>
          <a:prstGeom prst="rect">
            <a:avLst/>
          </a:prstGeom>
        </p:spPr>
      </p:pic>
      <p:sp>
        <p:nvSpPr>
          <p:cNvPr name="AutoShape 8" id="8"/>
          <p:cNvSpPr/>
          <p:nvPr/>
        </p:nvSpPr>
        <p:spPr>
          <a:xfrm rot="0" flipH="false" flipV="false">
            <a:off x="1460500" y="3098800"/>
            <a:ext cx="431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Qingxi Rift Universe</a:t>
            </a:r>
            <a:endParaRPr lang="en-US" sz="1100"/>
          </a:p>
        </p:txBody>
      </p:sp>
      <p:sp>
        <p:nvSpPr>
          <p:cNvPr name="AutoShape 9" id="9"/>
          <p:cNvSpPr/>
          <p:nvPr/>
        </p:nvSpPr>
        <p:spPr>
          <a:xfrm rot="0" flipH="false" flipV="false">
            <a:off x="1016000" y="3556000"/>
            <a:ext cx="431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D1D5DB"/>
                </a:solidFill>
                <a:latin typeface="Poppins"/>
                <a:ea typeface="Poppins"/>
                <a:cs typeface="Poppins"/>
                <a:sym typeface="Poppins"/>
              </a:rPr>
              <a:t>A bespoke cosmology rooted in six elemental affinities—Form, Mind, Life, Matter, Void, and Time—crafting a rich, self-contained narrative foundation for endless storytelling.</a:t>
            </a:r>
            <a:endParaRPr lang="en-US" sz="1100"/>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4699000"/>
            <a:ext cx="304800" cy="304800"/>
          </a:xfrm>
          <a:prstGeom prst="rect">
            <a:avLst/>
          </a:prstGeom>
        </p:spPr>
      </p:pic>
      <p:sp>
        <p:nvSpPr>
          <p:cNvPr name="AutoShape 11" id="11"/>
          <p:cNvSpPr/>
          <p:nvPr/>
        </p:nvSpPr>
        <p:spPr>
          <a:xfrm rot="0" flipH="false" flipV="false">
            <a:off x="1460500" y="4686300"/>
            <a:ext cx="431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IP-Clean Originality</a:t>
            </a:r>
            <a:endParaRPr lang="en-US" sz="1100"/>
          </a:p>
        </p:txBody>
      </p:sp>
      <p:sp>
        <p:nvSpPr>
          <p:cNvPr name="AutoShape 12" id="12"/>
          <p:cNvSpPr/>
          <p:nvPr/>
        </p:nvSpPr>
        <p:spPr>
          <a:xfrm rot="0" flipH="false" flipV="false">
            <a:off x="1016000" y="5143500"/>
            <a:ext cx="431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D1D5DB"/>
                </a:solidFill>
                <a:latin typeface="Poppins"/>
                <a:ea typeface="Poppins"/>
                <a:cs typeface="Poppins"/>
                <a:sym typeface="Poppins"/>
              </a:rPr>
              <a:t>100% original lore and characters eliminate third-party IP conflicts, offering a blank slate for creators to build, own, and monetize their work without legal constraints.</a:t>
            </a:r>
            <a:endParaRPr lang="en-US" sz="1100"/>
          </a:p>
        </p:txBody>
      </p:sp>
      <p:sp>
        <p:nvSpPr>
          <p:cNvPr name="AutoShape 13" id="13"/>
          <p:cNvSpPr/>
          <p:nvPr/>
        </p:nvSpPr>
        <p:spPr>
          <a:xfrm rot="0" flipH="false" flipV="false">
            <a:off x="6223000" y="1905000"/>
            <a:ext cx="5207000" cy="4064000"/>
          </a:xfrm>
          <a:prstGeom prst="roundRect">
            <a:avLst>
              <a:gd name="adj" fmla="val 0"/>
            </a:avLst>
          </a:prstGeom>
          <a:solidFill>
            <a:srgbClr val="00E5FF">
              <a:alpha val="8000"/>
            </a:srgbClr>
          </a:solidFill>
          <a:ln w="12700" cmpd="sng" cap="flat">
            <a:solidFill>
              <a:srgbClr val="00E5FF">
                <a:alpha val="2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77000" y="2159000"/>
            <a:ext cx="469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00E5FF"/>
                </a:solidFill>
                <a:latin typeface="Poppins"/>
                <a:ea typeface="Poppins"/>
                <a:cs typeface="Poppins"/>
                <a:sym typeface="Poppins"/>
              </a:rPr>
              <a:t>02 / Empowering Creators</a:t>
            </a:r>
            <a:endParaRPr lang="en-US" sz="1100"/>
          </a:p>
        </p:txBody>
      </p:sp>
      <p:cxnSp>
        <p:nvCxnSpPr>
          <p:cNvPr name="Connector 15" id="15"/>
          <p:cNvCxnSpPr/>
          <p:nvPr/>
        </p:nvCxnSpPr>
        <p:spPr>
          <a:xfrm rot="-9291" flipH="false" flipV="false">
            <a:off x="6477009" y="2787650"/>
            <a:ext cx="4699000" cy="12700"/>
          </a:xfrm>
          <a:prstGeom prst="straightConnector1">
            <a:avLst/>
          </a:prstGeom>
          <a:solidFill>
            <a:srgbClr val="DEE0E3">
              <a:alpha val="100000"/>
            </a:srgbClr>
          </a:solidFill>
          <a:ln w="12700" cmpd="sng" cap="flat">
            <a:solidFill>
              <a:srgbClr val="00E5FF">
                <a:alpha val="15000"/>
              </a:srgbClr>
            </a:solidFill>
            <a:prstDash val="solid"/>
            <a:round/>
            <a:headEnd type="none" w="med" len="med"/>
            <a:tailEnd type="none" w="med" len="med"/>
          </a:ln>
        </p:spPr>
      </p:cxn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477000" y="3048000"/>
            <a:ext cx="279400" cy="279400"/>
          </a:xfrm>
          <a:prstGeom prst="rect">
            <a:avLst/>
          </a:prstGeom>
        </p:spPr>
      </p:pic>
      <p:sp>
        <p:nvSpPr>
          <p:cNvPr name="AutoShape 17" id="17"/>
          <p:cNvSpPr/>
          <p:nvPr/>
        </p:nvSpPr>
        <p:spPr>
          <a:xfrm rot="0" flipH="false" flipV="false">
            <a:off x="6858000" y="30353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Poppins"/>
                <a:ea typeface="Poppins"/>
                <a:cs typeface="Poppins"/>
                <a:sym typeface="Poppins"/>
              </a:rPr>
              <a:t>Repeatable Creation Loop</a:t>
            </a:r>
            <a:endParaRPr lang="en-US" sz="1100"/>
          </a:p>
        </p:txBody>
      </p:sp>
      <p:sp>
        <p:nvSpPr>
          <p:cNvPr name="AutoShape 18" id="18"/>
          <p:cNvSpPr/>
          <p:nvPr/>
        </p:nvSpPr>
        <p:spPr>
          <a:xfrm rot="0" flipH="false" flipV="false">
            <a:off x="6477000" y="3403600"/>
            <a:ext cx="4445000" cy="533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Poppins"/>
                <a:ea typeface="Poppins"/>
                <a:cs typeface="Poppins"/>
                <a:sym typeface="Poppins"/>
              </a:rPr>
              <a:t>A standardized, AI-driven workflow for generating high-quality OCs consistently, significantly lowering the barrier to entry for creators of all skill levels.</a:t>
            </a:r>
            <a:endParaRPr lang="en-US" sz="1100"/>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038600"/>
            <a:ext cx="279400" cy="279400"/>
          </a:xfrm>
          <a:prstGeom prst="rect">
            <a:avLst/>
          </a:prstGeom>
        </p:spPr>
      </p:pic>
      <p:sp>
        <p:nvSpPr>
          <p:cNvPr name="AutoShape 20" id="20"/>
          <p:cNvSpPr/>
          <p:nvPr/>
        </p:nvSpPr>
        <p:spPr>
          <a:xfrm rot="0" flipH="false" flipV="false">
            <a:off x="6858000" y="40259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Poppins"/>
                <a:ea typeface="Poppins"/>
                <a:cs typeface="Poppins"/>
                <a:sym typeface="Poppins"/>
              </a:rPr>
              <a:t>Local &amp; Private Generation</a:t>
            </a:r>
            <a:endParaRPr lang="en-US" sz="1100"/>
          </a:p>
        </p:txBody>
      </p:sp>
      <p:sp>
        <p:nvSpPr>
          <p:cNvPr name="AutoShape 21" id="21"/>
          <p:cNvSpPr/>
          <p:nvPr/>
        </p:nvSpPr>
        <p:spPr>
          <a:xfrm rot="0" flipH="false" flipV="false">
            <a:off x="6477000" y="4394200"/>
            <a:ext cx="4445000" cy="533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Poppins"/>
                <a:ea typeface="Poppins"/>
                <a:cs typeface="Poppins"/>
                <a:sym typeface="Poppins"/>
              </a:rPr>
              <a:t>Processing runs entirely on local hardware, ensuring your creative ideas, character designs, and IP remain secure, confidential, and offline.</a:t>
            </a:r>
            <a:endParaRPr lang="en-US" sz="1100"/>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477000" y="5029200"/>
            <a:ext cx="279400" cy="279400"/>
          </a:xfrm>
          <a:prstGeom prst="rect">
            <a:avLst/>
          </a:prstGeom>
        </p:spPr>
      </p:pic>
      <p:sp>
        <p:nvSpPr>
          <p:cNvPr name="AutoShape 23" id="23"/>
          <p:cNvSpPr/>
          <p:nvPr/>
        </p:nvSpPr>
        <p:spPr>
          <a:xfrm rot="0" flipH="false" flipV="false">
            <a:off x="6858000" y="5016500"/>
            <a:ext cx="4445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Poppins"/>
                <a:ea typeface="Poppins"/>
                <a:cs typeface="Poppins"/>
                <a:sym typeface="Poppins"/>
              </a:rPr>
              <a:t>Zero Marginal Cost</a:t>
            </a:r>
            <a:endParaRPr lang="en-US" sz="1100"/>
          </a:p>
        </p:txBody>
      </p:sp>
      <p:sp>
        <p:nvSpPr>
          <p:cNvPr name="AutoShape 24" id="24"/>
          <p:cNvSpPr/>
          <p:nvPr/>
        </p:nvSpPr>
        <p:spPr>
          <a:xfrm rot="0" flipH="false" flipV="false">
            <a:off x="6477000" y="5384800"/>
            <a:ext cx="4445000" cy="533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1D5DB"/>
                </a:solidFill>
                <a:latin typeface="Poppins"/>
                <a:ea typeface="Poppins"/>
                <a:cs typeface="Poppins"/>
                <a:sym typeface="Poppins"/>
              </a:rPr>
              <a:t>After the initial hardware setup, create unlimited characters at no extra cost—an economical solution for indie developers, artists, and writers.</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25400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000">
                <a:solidFill>
                  <a:srgbClr val="FFFFFF"/>
                </a:solidFill>
                <a:latin typeface="Poppins"/>
                <a:ea typeface="Poppins"/>
                <a:cs typeface="Poppins"/>
                <a:sym typeface="Poppins"/>
              </a:rPr>
              <a:t>Thank You</a:t>
            </a:r>
            <a:endParaRPr lang="en-US" sz="1100"/>
          </a:p>
        </p:txBody>
      </p:sp>
      <p:pic>
        <p:nvPicPr>
          <p:cNvPr name="Picture 4" id="4"/>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4216400"/>
            <a:ext cx="304800" cy="304800"/>
          </a:xfrm>
          <a:prstGeom prst="rect">
            <a:avLst/>
          </a:prstGeom>
        </p:spPr>
      </p:pic>
      <p:sp>
        <p:nvSpPr>
          <p:cNvPr name="AutoShape 5" id="5"/>
          <p:cNvSpPr/>
          <p:nvPr/>
        </p:nvSpPr>
        <p:spPr>
          <a:xfrm rot="0" flipH="false" flipV="false">
            <a:off x="1524000" y="4191000"/>
            <a:ext cx="10033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800">
                <a:solidFill>
                  <a:srgbClr val="FFFFFF"/>
                </a:solidFill>
                <a:latin typeface="Poppins"/>
                <a:ea typeface="Poppins"/>
                <a:cs typeface="Poppins"/>
                <a:sym typeface="Poppins"/>
              </a:rPr>
              <a:t>GitHub Repo: The repository will be made publicly accessible before the official pull request submission.</a:t>
            </a:r>
            <a:endParaRPr lang="en-US" sz="1100"/>
          </a:p>
        </p:txBody>
      </p:sp>
      <p:pic>
        <p:nvPicPr>
          <p:cNvPr name="Picture 6" id="6"/>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4978400"/>
            <a:ext cx="304800" cy="304800"/>
          </a:xfrm>
          <a:prstGeom prst="rect">
            <a:avLst/>
          </a:prstGeom>
        </p:spPr>
      </p:pic>
      <p:sp>
        <p:nvSpPr>
          <p:cNvPr name="AutoShape 7" id="7"/>
          <p:cNvSpPr/>
          <p:nvPr/>
        </p:nvSpPr>
        <p:spPr>
          <a:xfrm rot="0" flipH="false" flipV="false">
            <a:off x="1524000" y="4953000"/>
            <a:ext cx="10033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800">
                <a:solidFill>
                  <a:srgbClr val="FFFFFF"/>
                </a:solidFill>
                <a:latin typeface="Poppins"/>
                <a:ea typeface="Poppins"/>
                <a:cs typeface="Poppins"/>
                <a:sym typeface="Poppins"/>
              </a:rPr>
              <a:t>Live Demo: Experience the interactive showcase running on Radeon Cloud, available at Track 1 for hands-on exploration.</a:t>
            </a:r>
            <a:endParaRPr lang="en-US" sz="1100"/>
          </a:p>
        </p:txBody>
      </p:sp>
      <p:sp>
        <p:nvSpPr>
          <p:cNvPr name="AutoShape 8" id="8"/>
          <p:cNvSpPr/>
          <p:nvPr/>
        </p:nvSpPr>
        <p:spPr>
          <a:xfrm rot="0" flipH="false" flipV="false">
            <a:off x="1016000" y="5905500"/>
            <a:ext cx="1016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FFFFFF">
                    <a:alpha val="60000"/>
                  </a:srgbClr>
                </a:solidFill>
                <a:latin typeface="Poppins"/>
                <a:ea typeface="Poppins"/>
                <a:cs typeface="Poppins"/>
                <a:sym typeface="Poppins"/>
              </a:rPr>
              <a:t>— Let’s build the future of digital character creation together —</a:t>
            </a:r>
            <a:endParaRPr lang="en-US" sz="1100"/>
          </a:p>
        </p:txBody>
      </p:sp>
      <p:pic>
        <p:nvPicPr>
          <p:cNvPr name="Picture 9" id="9"/>
          <p:cNvPicPr>
            <a:picLocks noChangeAspect="true"/>
          </p:cNvPicPr>
          <p:nvPr/>
        </p:nvPicPr>
        <p:blipFill>
          <a:blip r:embed="rId8"/>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{"Label":"1","ContentProducer":"001191110102MACQD9K64010000","ProduceID":"7670925647204027332","ReservedCode1":"","ContentPropagator":"","PropagateID":"","ReservedCode2":""}</vt:lpwstr>
  </property>
</Properties>
</file>