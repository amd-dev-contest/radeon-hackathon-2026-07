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75520" y="-685800"/>
            <a:ext cx="3474720" cy="3474720"/>
          </a:xfrm>
          <a:prstGeom prst="roundRect">
            <a:avLst/>
          </a:prstGeom>
          <a:solidFill>
            <a:srgbClr val="E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-164592"/>
            <a:ext cx="1691640" cy="1691640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12064"/>
            <a:ext cx="2450592" cy="292608"/>
          </a:xfrm>
          <a:prstGeom prst="roundRect">
            <a:avLst/>
          </a:prstGeom>
          <a:solidFill>
            <a:srgbClr val="E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585216"/>
            <a:ext cx="2304288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007C7A"/>
                </a:solidFill>
                <a:latin typeface="Avenir Next"/>
              </a:rPr>
              <a:t>AMD AI DEVMASTER HACKATHON · TRACK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5303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700" b="1" i="0">
                <a:solidFill>
                  <a:srgbClr val="102A43"/>
                </a:solidFill>
                <a:latin typeface="Avenir Next"/>
              </a:rPr>
              <a:t>E-Sentinel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810512"/>
            <a:ext cx="4754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43B53"/>
                </a:solidFill>
                <a:latin typeface="Avenir Next"/>
              </a:rPr>
              <a:t>Private AI Quality Assurance
Agent on AMD Radeon / ROCm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4663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10" b="0" i="0">
                <a:solidFill>
                  <a:srgbClr val="627D98"/>
                </a:solidFill>
                <a:latin typeface="Avenir Next"/>
              </a:rPr>
              <a:t>An evidence-grounded QA agent that explains decisions, admits uncertainty, and turns human corrections into governed improvements.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49039"/>
            <a:ext cx="475488" cy="475488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895344"/>
            <a:ext cx="4754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9" b="1" i="0">
                <a:solidFill>
                  <a:srgbClr val="D95545"/>
                </a:solidFill>
                <a:latin typeface="Avenir Nex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3794759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2A43"/>
                </a:solidFill>
                <a:latin typeface="Avenir Next"/>
              </a:rPr>
              <a:t>Detect what keywords miss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4023359"/>
            <a:ext cx="3474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627D98"/>
                </a:solidFill>
                <a:latin typeface="Avenir Next"/>
              </a:rPr>
              <a:t>Semantic risk, evidence-cited.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25696"/>
            <a:ext cx="475488" cy="475488"/>
          </a:xfrm>
          <a:prstGeom prst="roundRect">
            <a:avLst/>
          </a:prstGeom>
          <a:solidFill>
            <a:srgbClr val="E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572000"/>
            <a:ext cx="4754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9" b="1" i="0">
                <a:solidFill>
                  <a:srgbClr val="007C7A"/>
                </a:solidFill>
                <a:latin typeface="Avenir Nex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4471416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2A43"/>
                </a:solidFill>
                <a:latin typeface="Avenir Next"/>
              </a:rPr>
              <a:t>Keep data on-premise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4700016"/>
            <a:ext cx="3474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627D98"/>
                </a:solidFill>
                <a:latin typeface="Avenir Next"/>
              </a:rPr>
              <a:t>Inference on AMD Radeon / ROCm.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102352"/>
            <a:ext cx="475488" cy="475488"/>
          </a:xfrm>
          <a:prstGeom prst="round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248656"/>
            <a:ext cx="4754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9" b="1" i="0">
                <a:solidFill>
                  <a:srgbClr val="176B87"/>
                </a:solidFill>
                <a:latin typeface="Avenir Nex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592" y="5148072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2A43"/>
                </a:solidFill>
                <a:latin typeface="Avenir Next"/>
              </a:rPr>
              <a:t>Turn findings into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5376672"/>
            <a:ext cx="3474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627D98"/>
                </a:solidFill>
                <a:latin typeface="Avenir Next"/>
              </a:rPr>
              <a:t>QA → governed work orders.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91556" y="772668"/>
            <a:ext cx="5989320" cy="39410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804672"/>
            <a:ext cx="5925312" cy="3877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879592" y="4315968"/>
            <a:ext cx="1115568" cy="292608"/>
          </a:xfrm>
          <a:prstGeom prst="round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52744" y="4389120"/>
            <a:ext cx="969264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176B87"/>
                </a:solidFill>
                <a:latin typeface="Avenir Next"/>
              </a:rPr>
              <a:t>LIVE PRODUCT 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956048"/>
            <a:ext cx="5925312" cy="987552"/>
          </a:xfrm>
          <a:prstGeom prst="roundRect">
            <a:avLst/>
          </a:prstGeom>
          <a:solidFill>
            <a:srgbClr val="F0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16168" y="5175504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 i="0">
                <a:solidFill>
                  <a:srgbClr val="102A43"/>
                </a:solidFill>
                <a:latin typeface="Avenir Next"/>
              </a:rPr>
              <a:t>One case. Three controls.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5486400"/>
            <a:ext cx="504748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627D98"/>
                </a:solidFill>
                <a:latin typeface="Avenir Next"/>
              </a:rPr>
              <a:t>Rule evidence  ·  Semantic judgment  ·  Human correction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9672"/>
            <a:ext cx="57607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627D98"/>
                </a:solidFill>
                <a:latin typeface="Avenir Next"/>
              </a:rPr>
              <a:t>E-Sentinel · AMD AI DevMaster Hackathon · Track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6519672"/>
            <a:ext cx="4114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1" i="0">
                <a:solidFill>
                  <a:srgbClr val="627D98"/>
                </a:solidFill>
                <a:latin typeface="Avenir Next"/>
              </a:rPr>
              <a:t>PRIVATE · EVIDENCE-GROUNDED · GOVERNED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007C7A"/>
                </a:solidFill>
                <a:latin typeface="Avenir Next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102A43"/>
                </a:solidFill>
                <a:latin typeface="Avenir Next"/>
              </a:rPr>
              <a:t>Customer-service QA has a coverage, privacy, and trust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5" b="0" i="0">
                <a:solidFill>
                  <a:srgbClr val="627D98"/>
                </a:solidFill>
                <a:latin typeface="Avenir Next"/>
              </a:rPr>
              <a:t>Most existing approaches solve only one of these constraints. E-Sentinel is built to solve all three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2976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30" b="1" i="0">
                <a:solidFill>
                  <a:srgbClr val="627D98"/>
                </a:solidFill>
                <a:latin typeface="Avenir Next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27080" cy="16459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21408"/>
            <a:ext cx="3410712" cy="1847088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368296"/>
            <a:ext cx="2788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D95545"/>
                </a:solidFill>
                <a:latin typeface="Avenir Next"/>
              </a:rPr>
              <a:t>~20%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852928"/>
            <a:ext cx="28712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D95545"/>
                </a:solidFill>
                <a:latin typeface="Avenir Next"/>
              </a:rPr>
              <a:t>MANUAL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191256"/>
            <a:ext cx="28620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1" i="0">
                <a:solidFill>
                  <a:srgbClr val="243B53"/>
                </a:solidFill>
                <a:latin typeface="Avenir Next"/>
              </a:rPr>
              <a:t>Spot-checking leaves the majority of conversations unreviewed.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2121408"/>
            <a:ext cx="3410712" cy="1847088"/>
          </a:xfrm>
          <a:prstGeom prst="round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68296"/>
            <a:ext cx="2788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76B87"/>
                </a:solidFill>
                <a:latin typeface="Avenir Next"/>
              </a:rPr>
              <a:t>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52928"/>
            <a:ext cx="28712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176B87"/>
                </a:solidFill>
                <a:latin typeface="Avenir Next"/>
              </a:rPr>
              <a:t>PRIVATE DATA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91256"/>
            <a:ext cx="28620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1" i="0">
                <a:solidFill>
                  <a:srgbClr val="243B53"/>
                </a:solidFill>
                <a:latin typeface="Avenir Next"/>
              </a:rPr>
              <a:t>Local AMD deployment keeps sensitive service operations inside the enterprise boundary.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7" y="2121408"/>
            <a:ext cx="3410712" cy="1847088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3" y="2368296"/>
            <a:ext cx="2788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B7791F"/>
                </a:solidFill>
                <a:latin typeface="Avenir Next"/>
              </a:rPr>
              <a:t>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2852928"/>
            <a:ext cx="28712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B7791F"/>
                </a:solidFill>
                <a:latin typeface="Avenir Next"/>
              </a:rPr>
              <a:t>SEMANTIC 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3191256"/>
            <a:ext cx="28620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1" i="0">
                <a:solidFill>
                  <a:srgbClr val="243B53"/>
                </a:solidFill>
                <a:latin typeface="Avenir Next"/>
              </a:rPr>
              <a:t>Keyword rules miss implicit promises, attitude violations, and unresolved complaints.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15968"/>
            <a:ext cx="10899648" cy="1261872"/>
          </a:xfrm>
          <a:prstGeom prst="roundRect">
            <a:avLst/>
          </a:prstGeom>
          <a:solidFill>
            <a:srgbClr val="005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590288"/>
            <a:ext cx="2331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5E8E5"/>
                </a:solidFill>
                <a:latin typeface="Avenir Next"/>
              </a:rPr>
              <a:t>THE DESIGN REQUIREMENT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55464"/>
            <a:ext cx="98023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venir Next"/>
              </a:rPr>
              <a:t>Private coverage. Evidence-backed escalation. Governed follow-through.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248656"/>
            <a:ext cx="9738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C5E8E5"/>
                </a:solidFill>
                <a:latin typeface="Avenir Next"/>
              </a:rPr>
              <a:t>Coverage  ·  On-premise inference  ·  Evidence before escalation  ·  Human review when uncertain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9672"/>
            <a:ext cx="57607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627D98"/>
                </a:solidFill>
                <a:latin typeface="Avenir Next"/>
              </a:rPr>
              <a:t>E-Sentinel · AMD AI DevMaster Hackathon · Track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6519672"/>
            <a:ext cx="4114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1" i="0">
                <a:solidFill>
                  <a:srgbClr val="627D98"/>
                </a:solidFill>
                <a:latin typeface="Avenir Next"/>
              </a:rPr>
              <a:t>PRIVATE · EVIDENCE-GROUNDED · GOVERNED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007C7A"/>
                </a:solidFill>
                <a:latin typeface="Avenir Next"/>
              </a:rPr>
              <a:t>COMMERCIAL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102A43"/>
                </a:solidFill>
                <a:latin typeface="Avenir Next"/>
              </a:rPr>
              <a:t>From quality assurance to an enterprise control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5" b="0" i="0">
                <a:solidFill>
                  <a:srgbClr val="627D98"/>
                </a:solidFill>
                <a:latin typeface="Avenir Next"/>
              </a:rPr>
              <a:t>E-Sentinel turns a traditionally manual cost center into a governed operating capability: observe risk, prove it, assign it, and improve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2976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30" b="1" i="0">
                <a:solidFill>
                  <a:srgbClr val="627D98"/>
                </a:solidFill>
                <a:latin typeface="Avenir Next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27080" cy="16459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246120" cy="3163824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2395728"/>
            <a:ext cx="932688" cy="292608"/>
          </a:xfrm>
          <a:prstGeom prst="roundRect">
            <a:avLst/>
          </a:prstGeom>
          <a:solidFill>
            <a:srgbClr val="005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468880"/>
            <a:ext cx="786384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C5E8E5"/>
                </a:solidFill>
                <a:latin typeface="Avenir Next"/>
              </a:rPr>
              <a:t>THE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907792"/>
            <a:ext cx="206654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venir Next"/>
              </a:rPr>
              <a:t>From spot
checks
to signal.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315968"/>
            <a:ext cx="217627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8E6F0"/>
                </a:solidFill>
                <a:latin typeface="Avenir Next"/>
              </a:rPr>
              <a:t>From a periodic, manual sample
to a continuous quality signal
across the service operation.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121408"/>
            <a:ext cx="3246120" cy="1225296"/>
          </a:xfrm>
          <a:prstGeom prst="roundRect">
            <a:avLst/>
          </a:prstGeom>
          <a:solidFill>
            <a:srgbClr val="E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53128" y="2340863"/>
            <a:ext cx="146304" cy="146304"/>
          </a:xfrm>
          <a:prstGeom prst="roundRect">
            <a:avLst/>
          </a:prstGeom>
          <a:solidFill>
            <a:srgbClr val="00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2304288"/>
            <a:ext cx="2441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7C7A"/>
                </a:solidFill>
                <a:latin typeface="Avenir Next"/>
              </a:rPr>
              <a:t>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615184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1" i="0">
                <a:solidFill>
                  <a:srgbClr val="243B53"/>
                </a:solidFill>
                <a:latin typeface="Avenir Next"/>
              </a:rPr>
              <a:t>100% conversation inspection
with cited findings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2121408"/>
            <a:ext cx="3246120" cy="1225296"/>
          </a:xfrm>
          <a:prstGeom prst="round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10728" y="2340863"/>
            <a:ext cx="146304" cy="146304"/>
          </a:xfrm>
          <a:prstGeom prst="round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2304288"/>
            <a:ext cx="2441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76B87"/>
                </a:solidFill>
                <a:latin typeface="Avenir Next"/>
              </a:rPr>
              <a:t>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2615184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1" i="0">
                <a:solidFill>
                  <a:srgbClr val="243B53"/>
                </a:solidFill>
                <a:latin typeface="Avenir Next"/>
              </a:rPr>
              <a:t>Risk, evidence, owner, SLA
and audit trail in one loop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941063"/>
            <a:ext cx="3246120" cy="1225296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53128" y="4160520"/>
            <a:ext cx="146304" cy="146304"/>
          </a:xfrm>
          <a:prstGeom prst="roundRect">
            <a:avLst/>
          </a:prstGeom>
          <a:solidFill>
            <a:srgbClr val="D95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8" y="4123944"/>
            <a:ext cx="2441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5545"/>
                </a:solidFill>
                <a:latin typeface="Avenir Next"/>
              </a:rPr>
              <a:t>ADOPTION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443484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1" i="0">
                <a:solidFill>
                  <a:srgbClr val="243B53"/>
                </a:solidFill>
                <a:latin typeface="Avenir Next"/>
              </a:rPr>
              <a:t>Private local inference keeps
sensitive operations in-house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3941063"/>
            <a:ext cx="3630168" cy="1225296"/>
          </a:xfrm>
          <a:prstGeom prst="roundRect">
            <a:avLst/>
          </a:prstGeom>
          <a:solidFill>
            <a:srgbClr val="F0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4736" y="4178808"/>
            <a:ext cx="2880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005D5B"/>
                </a:solidFill>
                <a:latin typeface="Avenir Next"/>
              </a:rPr>
              <a:t>THE ENTERPRISE OUTCOME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4480560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1" i="0">
                <a:solidFill>
                  <a:srgbClr val="102A43"/>
                </a:solidFill>
                <a:latin typeface="Avenir Next"/>
              </a:rPr>
              <a:t>A quality decision is
traceable, assignable, and reviewable.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9672"/>
            <a:ext cx="57607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627D98"/>
                </a:solidFill>
                <a:latin typeface="Avenir Next"/>
              </a:rPr>
              <a:t>E-Sentinel · AMD AI DevMaster Hackathon · Track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519672"/>
            <a:ext cx="4114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1" i="0">
                <a:solidFill>
                  <a:srgbClr val="627D98"/>
                </a:solidFill>
                <a:latin typeface="Avenir Next"/>
              </a:rPr>
              <a:t>PRIVATE · EVIDENCE-GROUNDED · GOVERNED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007C7A"/>
                </a:solidFill>
                <a:latin typeface="Avenir Next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102A43"/>
                </a:solidFill>
                <a:latin typeface="Avenir Next"/>
              </a:rPr>
              <a:t>From a conversation to a governed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5" b="0" i="0">
                <a:solidFill>
                  <a:srgbClr val="627D98"/>
                </a:solidFill>
                <a:latin typeface="Avenir Next"/>
              </a:rPr>
              <a:t>E-Sentinel connects detection, evidence verification, and operational follow-through.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2976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30" b="1" i="0">
                <a:solidFill>
                  <a:srgbClr val="627D98"/>
                </a:solidFill>
                <a:latin typeface="Avenir Next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27080" cy="16459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8075" y="2052827"/>
            <a:ext cx="6556248" cy="3575303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84831"/>
            <a:ext cx="6492240" cy="351129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6112" y="2340864"/>
            <a:ext cx="1591056" cy="292608"/>
          </a:xfrm>
          <a:prstGeom prst="round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414016"/>
            <a:ext cx="144475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176B87"/>
                </a:solidFill>
                <a:latin typeface="Avenir Next"/>
              </a:rPr>
              <a:t>1  CUSTOMER CONVERSATION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03120"/>
            <a:ext cx="4023360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44968" y="2304288"/>
            <a:ext cx="475488" cy="475488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243687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D95545"/>
                </a:solidFill>
                <a:latin typeface="Avenir Next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258568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2A43"/>
                </a:solidFill>
                <a:latin typeface="Avenir Next"/>
              </a:rPr>
              <a:t>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5420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27D98"/>
                </a:solidFill>
                <a:latin typeface="Avenir Next"/>
              </a:rPr>
              <a:t>Deterministic hard rules catch non-negotiable red 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3255263"/>
            <a:ext cx="4023360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44968" y="3456432"/>
            <a:ext cx="475488" cy="475488"/>
          </a:xfrm>
          <a:prstGeom prst="roundRect">
            <a:avLst/>
          </a:prstGeom>
          <a:solidFill>
            <a:srgbClr val="E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4968" y="3589020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007C7A"/>
                </a:solidFill>
                <a:latin typeface="Avenir Next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3410711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2A43"/>
                </a:solidFill>
                <a:latin typeface="Avenir Next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3694175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27D98"/>
                </a:solidFill>
                <a:latin typeface="Avenir Next"/>
              </a:rPr>
              <a:t>The agent retrieves policy sources and cites the original quote.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25512" y="4407408"/>
            <a:ext cx="4023360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44968" y="4608576"/>
            <a:ext cx="475488" cy="475488"/>
          </a:xfrm>
          <a:prstGeom prst="round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44968" y="4741164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176B87"/>
                </a:solidFill>
                <a:latin typeface="Avenir Next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4562856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2A43"/>
                </a:solidFill>
                <a:latin typeface="Avenir Next"/>
              </a:rPr>
              <a:t>Govern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48463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27D98"/>
                </a:solidFill>
                <a:latin typeface="Avenir Next"/>
              </a:rPr>
              <a:t>A validated finding becomes a work order with owner and SLA.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77840"/>
            <a:ext cx="4023360" cy="566928"/>
          </a:xfrm>
          <a:prstGeom prst="roundRect">
            <a:avLst/>
          </a:prstGeom>
          <a:solidFill>
            <a:srgbClr val="005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5760720"/>
            <a:ext cx="35295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venir Next"/>
              </a:rPr>
              <a:t>The system does not stop at a score.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9672"/>
            <a:ext cx="57607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627D98"/>
                </a:solidFill>
                <a:latin typeface="Avenir Next"/>
              </a:rPr>
              <a:t>E-Sentinel · AMD AI DevMaster Hackathon · Track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6519672"/>
            <a:ext cx="4114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1" i="0">
                <a:solidFill>
                  <a:srgbClr val="627D98"/>
                </a:solidFill>
                <a:latin typeface="Avenir Next"/>
              </a:rPr>
              <a:t>PRIVATE · EVIDENCE-GROUNDED · GOVERNED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007C7A"/>
                </a:solidFill>
                <a:latin typeface="Avenir Next"/>
              </a:rPr>
              <a:t>THE FULL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102A43"/>
                </a:solidFill>
                <a:latin typeface="Avenir Next"/>
              </a:rPr>
              <a:t>A complete, governed QA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5" b="0" i="0">
                <a:solidFill>
                  <a:srgbClr val="627D98"/>
                </a:solidFill>
                <a:latin typeface="Avenir Next"/>
              </a:rPr>
              <a:t>27 workbench panels connect daily quality work across four operational groups.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2976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30" b="1" i="0">
                <a:solidFill>
                  <a:srgbClr val="627D98"/>
                </a:solidFill>
                <a:latin typeface="Avenir Next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27080" cy="16459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29968"/>
            <a:ext cx="2523744" cy="749808"/>
          </a:xfrm>
          <a:prstGeom prst="roundRect">
            <a:avLst/>
          </a:prstGeom>
          <a:solidFill>
            <a:srgbClr val="E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1" y="2194560"/>
            <a:ext cx="109728" cy="109728"/>
          </a:xfrm>
          <a:prstGeom prst="roundRect">
            <a:avLst/>
          </a:prstGeom>
          <a:solidFill>
            <a:srgbClr val="00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67128"/>
            <a:ext cx="1975103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 i="0">
                <a:solidFill>
                  <a:srgbClr val="007C7A"/>
                </a:solidFill>
                <a:latin typeface="Avenir Next"/>
              </a:rPr>
              <a:t>CORE OPS ·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2316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243B53"/>
                </a:solidFill>
                <a:latin typeface="Avenir Next"/>
              </a:rPr>
              <a:t>Overview · QA hub
Agent assist · Bot config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2029968"/>
            <a:ext cx="2523744" cy="749808"/>
          </a:xfrm>
          <a:prstGeom prst="round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2194560"/>
            <a:ext cx="109728" cy="109728"/>
          </a:xfrm>
          <a:prstGeom prst="round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59" y="2167128"/>
            <a:ext cx="1975103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 i="0">
                <a:solidFill>
                  <a:srgbClr val="176B87"/>
                </a:solidFill>
                <a:latin typeface="Avenir Next"/>
              </a:rPr>
              <a:t>DATA MONITORING ·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6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243B53"/>
                </a:solidFill>
                <a:latin typeface="Avenir Next"/>
              </a:rPr>
              <a:t>Monitoring · diagnosis
Satisfaction · quality · cost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71800"/>
            <a:ext cx="2523744" cy="749808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1" y="3136392"/>
            <a:ext cx="109728" cy="109728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3108960"/>
            <a:ext cx="1975103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 i="0">
                <a:solidFill>
                  <a:srgbClr val="B7791F"/>
                </a:solidFill>
                <a:latin typeface="Avenir Next"/>
              </a:rPr>
              <a:t>RESOURCE MGMT ·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36499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243B53"/>
                </a:solidFill>
                <a:latin typeface="Avenir Next"/>
              </a:rPr>
              <a:t>Issues · knowledge · prompts
Campaigns · data center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1568" y="2971800"/>
            <a:ext cx="2523744" cy="749808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66160" y="3136392"/>
            <a:ext cx="109728" cy="109728"/>
          </a:xfrm>
          <a:prstGeom prst="roundRect">
            <a:avLst/>
          </a:prstGeom>
          <a:solidFill>
            <a:srgbClr val="D95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59" y="3108960"/>
            <a:ext cx="1975103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 i="0">
                <a:solidFill>
                  <a:srgbClr val="D95545"/>
                </a:solidFill>
                <a:latin typeface="Avenir Next"/>
              </a:rPr>
              <a:t>SYSTEM OPS · 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36499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243B53"/>
                </a:solidFill>
                <a:latin typeface="Avenir Next"/>
              </a:rPr>
              <a:t>Governance · compliance
Work orders · models · audit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4788" y="1979676"/>
            <a:ext cx="5276088" cy="227685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q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011680"/>
            <a:ext cx="5212080" cy="221284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565392" y="3886200"/>
            <a:ext cx="1627632" cy="292608"/>
          </a:xfrm>
          <a:prstGeom prst="roundRect">
            <a:avLst/>
          </a:prstGeom>
          <a:solidFill>
            <a:srgbClr val="E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3959352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005D5B"/>
                </a:solidFill>
                <a:latin typeface="Avenir Next"/>
              </a:rPr>
              <a:t>QA HUB · LIVE RISK OVERVIEW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4788" y="4494276"/>
            <a:ext cx="5276088" cy="16824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order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4526280"/>
            <a:ext cx="5212080" cy="161848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565392" y="5815584"/>
            <a:ext cx="1572768" cy="292608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8544" y="5888736"/>
            <a:ext cx="1426464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D95545"/>
                </a:solidFill>
                <a:latin typeface="Avenir Next"/>
              </a:rPr>
              <a:t>WORK ORDERS · QA → ACTION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178808"/>
            <a:ext cx="5458968" cy="1517904"/>
          </a:xfrm>
          <a:prstGeom prst="roundRect">
            <a:avLst/>
          </a:prstGeom>
          <a:solidFill>
            <a:srgbClr val="F0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" y="4498848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60" b="1" i="1">
                <a:solidFill>
                  <a:srgbClr val="102A43"/>
                </a:solidFill>
                <a:latin typeface="Avenir Next"/>
              </a:rPr>
              <a:t>“A detected violation becomes a governed, assignable action item.”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" y="51023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5D5B"/>
                </a:solidFill>
                <a:latin typeface="Avenir Next"/>
              </a:rPr>
              <a:t>Complete audit report: score · risk · source quotes · SLA · priority · owner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19672"/>
            <a:ext cx="57607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627D98"/>
                </a:solidFill>
                <a:latin typeface="Avenir Next"/>
              </a:rPr>
              <a:t>E-Sentinel · AMD AI DevMaster Hackathon · Track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6519672"/>
            <a:ext cx="4114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1" i="0">
                <a:solidFill>
                  <a:srgbClr val="627D98"/>
                </a:solidFill>
                <a:latin typeface="Avenir Next"/>
              </a:rPr>
              <a:t>PRIVATE · EVIDENCE-GROUNDED · GOVERNED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007C7A"/>
                </a:solidFill>
                <a:latin typeface="Avenir Next"/>
              </a:rPr>
              <a:t>AGENT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102A43"/>
                </a:solidFill>
                <a:latin typeface="Avenir Next"/>
              </a:rPr>
              <a:t>Four capabilities. One accountable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5" b="0" i="0">
                <a:solidFill>
                  <a:srgbClr val="627D98"/>
                </a:solidFill>
                <a:latin typeface="Avenir Next"/>
              </a:rPr>
              <a:t>Each capability has a distinct role; the agent coordinates evidence, but cannot directly lower a risk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2976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30" b="1" i="0">
                <a:solidFill>
                  <a:srgbClr val="627D98"/>
                </a:solidFill>
                <a:latin typeface="Avenir Next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27080" cy="16459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2450592" cy="23591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404872"/>
            <a:ext cx="420624" cy="420624"/>
          </a:xfrm>
          <a:prstGeom prst="round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542032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1" i="0">
                <a:solidFill>
                  <a:srgbClr val="176B87"/>
                </a:solidFill>
                <a:latin typeface="Avenir Nex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999232"/>
            <a:ext cx="1956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6B87"/>
                </a:solidFill>
                <a:latin typeface="Avenir Next"/>
              </a:rPr>
              <a:t>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383280"/>
            <a:ext cx="199339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43B53"/>
                </a:solidFill>
                <a:latin typeface="Avenir Next"/>
              </a:rPr>
              <a:t>5-dimension LLM-as-a-Judge
Deterministic compliance rules
Risk grading: pass → 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5" y="3182112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627D98"/>
                </a:solidFill>
                <a:latin typeface="Avenir Next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194560"/>
            <a:ext cx="2450592" cy="23591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2404872"/>
            <a:ext cx="420624" cy="420624"/>
          </a:xfrm>
          <a:prstGeom prst="roundRect">
            <a:avLst/>
          </a:prstGeom>
          <a:solidFill>
            <a:srgbClr val="E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542032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1" i="0">
                <a:solidFill>
                  <a:srgbClr val="007C7A"/>
                </a:solidFill>
                <a:latin typeface="Avenir Nex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999232"/>
            <a:ext cx="1956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C7A"/>
                </a:solidFill>
                <a:latin typeface="Avenir Next"/>
              </a:rPr>
              <a:t>Investigate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199339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43B53"/>
                </a:solidFill>
                <a:latin typeface="Avenir Next"/>
              </a:rPr>
              <a:t>ReAct tool calling
scan_compliance
retrieve_knowledge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3016" y="3182112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627D98"/>
                </a:solidFill>
                <a:latin typeface="Avenir Next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194560"/>
            <a:ext cx="2450592" cy="23591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2404872"/>
            <a:ext cx="420624" cy="420624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542032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1" i="0">
                <a:solidFill>
                  <a:srgbClr val="B7791F"/>
                </a:solidFill>
                <a:latin typeface="Avenir Next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999232"/>
            <a:ext cx="1956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7791F"/>
                </a:solidFill>
                <a:latin typeface="Avenir Next"/>
              </a:rPr>
              <a:t>Ground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383280"/>
            <a:ext cx="199339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43B53"/>
                </a:solidFill>
                <a:latin typeface="Avenir Next"/>
              </a:rPr>
              <a:t>Original conversation quote
Cited policy / product knowledge
No source → human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6216" y="3182112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627D98"/>
                </a:solidFill>
                <a:latin typeface="Avenir Next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2194560"/>
            <a:ext cx="2450592" cy="23591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52559" y="2404872"/>
            <a:ext cx="420624" cy="420624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59" y="2542032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1" i="0">
                <a:solidFill>
                  <a:srgbClr val="D95545"/>
                </a:solidFill>
                <a:latin typeface="Avenir Next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59" y="2999232"/>
            <a:ext cx="1956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5545"/>
                </a:solidFill>
                <a:latin typeface="Avenir Next"/>
              </a:rPr>
              <a:t>Improve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59" y="3383280"/>
            <a:ext cx="199339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43B53"/>
                </a:solidFill>
                <a:latin typeface="Avenir Next"/>
              </a:rPr>
              <a:t>Human correction precedent
Few-shot case memory
Audit trail + work order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937760"/>
            <a:ext cx="10899648" cy="621792"/>
          </a:xfrm>
          <a:prstGeom prst="roundRect">
            <a:avLst/>
          </a:prstGeom>
          <a:solidFill>
            <a:srgbClr val="F0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157216"/>
            <a:ext cx="2468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5D5B"/>
                </a:solidFill>
                <a:latin typeface="Avenir Next"/>
              </a:rPr>
              <a:t>Live tool contract on AMD Qwen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44952" y="5148072"/>
            <a:ext cx="79552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243B53"/>
                </a:solidFill>
                <a:latin typeface="Avenir Next"/>
              </a:rPr>
              <a:t>scan_compliance  →  retrieve_knowledge  →  check_corrections  →  evidence summary  →  deterministic resolver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9672"/>
            <a:ext cx="57607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627D98"/>
                </a:solidFill>
                <a:latin typeface="Avenir Next"/>
              </a:rPr>
              <a:t>E-Sentinel · AMD AI DevMaster Hackathon · Track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6519672"/>
            <a:ext cx="4114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1" i="0">
                <a:solidFill>
                  <a:srgbClr val="627D98"/>
                </a:solidFill>
                <a:latin typeface="Avenir Next"/>
              </a:rPr>
              <a:t>PRIVATE · EVIDENCE-GROUNDED · GOVERNED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007C7A"/>
                </a:solidFill>
                <a:latin typeface="Avenir Next"/>
              </a:rPr>
              <a:t>SAFETY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102A43"/>
                </a:solidFill>
                <a:latin typeface="Avenir Next"/>
              </a:rPr>
              <a:t>Five layers. One non-negotiable: risk never goes down.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5" b="0" i="0">
                <a:solidFill>
                  <a:srgbClr val="627D98"/>
                </a:solidFill>
                <a:latin typeface="Avenir Next"/>
              </a:rPr>
              <a:t>The agent investigates with evidence; a deterministic resolver retains final safety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2976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30" b="1" i="0">
                <a:solidFill>
                  <a:srgbClr val="627D98"/>
                </a:solidFill>
                <a:latin typeface="Avenir Next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27080" cy="16459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29968"/>
            <a:ext cx="10917936" cy="74980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58568"/>
            <a:ext cx="10469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venir Next"/>
              </a:rPr>
              <a:t>finalRisk = max(hardRules, semanticBaseline, validatedAgentEscalation)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00400"/>
            <a:ext cx="1929384" cy="1490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1" y="3383280"/>
            <a:ext cx="347472" cy="347472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3474720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1" i="0">
                <a:solidFill>
                  <a:srgbClr val="D95545"/>
                </a:solidFill>
                <a:latin typeface="Avenir Nex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895344"/>
            <a:ext cx="157276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1" i="0">
                <a:solidFill>
                  <a:srgbClr val="102A43"/>
                </a:solidFill>
                <a:latin typeface="Avenir Next"/>
              </a:rPr>
              <a:t>Hard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19709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27D98"/>
                </a:solidFill>
                <a:latin typeface="Avenir Next"/>
              </a:rPr>
              <a:t>Critical floor
never downgraded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840480"/>
            <a:ext cx="201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627D98"/>
                </a:solidFill>
                <a:latin typeface="Avenir Nex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25496" y="3200400"/>
            <a:ext cx="1929384" cy="1490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90088" y="3383280"/>
            <a:ext cx="347472" cy="347472"/>
          </a:xfrm>
          <a:prstGeom prst="round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0088" y="3474720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1" i="0">
                <a:solidFill>
                  <a:srgbClr val="176B87"/>
                </a:solidFill>
                <a:latin typeface="Avenir Nex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088" y="3895344"/>
            <a:ext cx="157276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1" i="0">
                <a:solidFill>
                  <a:srgbClr val="102A43"/>
                </a:solidFill>
                <a:latin typeface="Avenir Next"/>
              </a:rPr>
              <a:t>LLM judge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0088" y="419709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27D98"/>
                </a:solidFill>
                <a:latin typeface="Avenir Next"/>
              </a:rPr>
              <a:t>Scored, cited
semantic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5736" y="3840480"/>
            <a:ext cx="201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627D98"/>
                </a:solidFill>
                <a:latin typeface="Avenir Next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10912" y="3200400"/>
            <a:ext cx="1929384" cy="1490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75504" y="3383280"/>
            <a:ext cx="347472" cy="347472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75504" y="3474720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1" i="0">
                <a:solidFill>
                  <a:srgbClr val="B7791F"/>
                </a:solidFill>
                <a:latin typeface="Avenir Nex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3895344"/>
            <a:ext cx="157276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1" i="0">
                <a:solidFill>
                  <a:srgbClr val="102A43"/>
                </a:solidFill>
                <a:latin typeface="Avenir Next"/>
              </a:rPr>
              <a:t>Soft signals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5504" y="419709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27D98"/>
                </a:solidFill>
                <a:latin typeface="Avenir Next"/>
              </a:rPr>
              <a:t>Review hints
not auto-locks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840480"/>
            <a:ext cx="201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627D98"/>
                </a:solidFill>
                <a:latin typeface="Avenir Next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96328" y="3200400"/>
            <a:ext cx="1929384" cy="1490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60920" y="3383280"/>
            <a:ext cx="347472" cy="347472"/>
          </a:xfrm>
          <a:prstGeom prst="roundRect">
            <a:avLst/>
          </a:prstGeom>
          <a:solidFill>
            <a:srgbClr val="E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3474720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1" i="0">
                <a:solidFill>
                  <a:srgbClr val="007C7A"/>
                </a:solidFill>
                <a:latin typeface="Avenir Next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3895344"/>
            <a:ext cx="157276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1" i="0">
                <a:solidFill>
                  <a:srgbClr val="102A43"/>
                </a:solidFill>
                <a:latin typeface="Avenir Next"/>
              </a:rPr>
              <a:t>Agent investigator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419709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27D98"/>
                </a:solidFill>
                <a:latin typeface="Avenir Next"/>
              </a:rPr>
              <a:t>Tools collect evidence
no risk-write authority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8" y="3840480"/>
            <a:ext cx="201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627D98"/>
                </a:solidFill>
                <a:latin typeface="Avenir Next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81744" y="3200400"/>
            <a:ext cx="1929384" cy="1490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546336" y="3383280"/>
            <a:ext cx="347472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46336" y="3474720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1" i="0">
                <a:solidFill>
                  <a:srgbClr val="102A43"/>
                </a:solidFill>
                <a:latin typeface="Avenir Next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46336" y="3895344"/>
            <a:ext cx="157276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1" i="0">
                <a:solidFill>
                  <a:srgbClr val="102A43"/>
                </a:solidFill>
                <a:latin typeface="Avenir Next"/>
              </a:rPr>
              <a:t>Resolver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46336" y="419709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27D98"/>
                </a:solidFill>
                <a:latin typeface="Avenir Next"/>
              </a:rPr>
              <a:t>Same input
same output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5202936"/>
            <a:ext cx="3401568" cy="50292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87552" y="5358384"/>
            <a:ext cx="146304" cy="146304"/>
          </a:xfrm>
          <a:prstGeom prst="roundRect">
            <a:avLst/>
          </a:prstGeom>
          <a:solidFill>
            <a:srgbClr val="D95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52728" y="5321808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243B53"/>
                </a:solidFill>
                <a:latin typeface="Avenir Next"/>
              </a:rPr>
              <a:t>Hard red lines cannot be downgraded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53712" y="5202936"/>
            <a:ext cx="3401568" cy="502920"/>
          </a:xfrm>
          <a:prstGeom prst="roundRect">
            <a:avLst/>
          </a:prstGeom>
          <a:solidFill>
            <a:srgbClr val="E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718304" y="5358384"/>
            <a:ext cx="146304" cy="146304"/>
          </a:xfrm>
          <a:prstGeom prst="roundRect">
            <a:avLst/>
          </a:prstGeom>
          <a:solidFill>
            <a:srgbClr val="00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83480" y="5321808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243B53"/>
                </a:solidFill>
                <a:latin typeface="Avenir Next"/>
              </a:rPr>
              <a:t>No source → human review (fail-closed)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84464" y="5202936"/>
            <a:ext cx="3401568" cy="502920"/>
          </a:xfrm>
          <a:prstGeom prst="round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449056" y="5358384"/>
            <a:ext cx="146304" cy="146304"/>
          </a:xfrm>
          <a:prstGeom prst="round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14232" y="5321808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243B53"/>
                </a:solidFill>
                <a:latin typeface="Avenir Next"/>
              </a:rPr>
              <a:t>Human corrections are auditable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519672"/>
            <a:ext cx="57607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627D98"/>
                </a:solidFill>
                <a:latin typeface="Avenir Next"/>
              </a:rPr>
              <a:t>E-Sentinel · AMD AI DevMaster Hackathon · Track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6519672"/>
            <a:ext cx="4114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1" i="0">
                <a:solidFill>
                  <a:srgbClr val="627D98"/>
                </a:solidFill>
                <a:latin typeface="Avenir Next"/>
              </a:rPr>
              <a:t>PRIVATE · EVIDENCE-GROUNDED · GOVERNED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007C7A"/>
                </a:solidFill>
                <a:latin typeface="Avenir Next"/>
              </a:rPr>
              <a:t>AMD LOCAL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102A43"/>
                </a:solidFill>
                <a:latin typeface="Avenir Next"/>
              </a:rPr>
              <a:t>A local runtime sized for the Radeon PRO W7900D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5" b="0" i="0">
                <a:solidFill>
                  <a:srgbClr val="627D98"/>
                </a:solidFill>
                <a:latin typeface="Avenir Next"/>
              </a:rPr>
              <a:t>The core agent runs on a 48GB gfx1100 card; the larger cloud model is an optional control, not a dependency.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2976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30" b="1" i="0">
                <a:solidFill>
                  <a:srgbClr val="627D98"/>
                </a:solidFill>
                <a:latin typeface="Avenir Next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27080" cy="16459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063240" cy="321868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2395728"/>
            <a:ext cx="1481328" cy="292608"/>
          </a:xfrm>
          <a:prstGeom prst="roundRect">
            <a:avLst/>
          </a:prstGeom>
          <a:solidFill>
            <a:srgbClr val="005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468880"/>
            <a:ext cx="1335024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C5E8E5"/>
                </a:solidFill>
                <a:latin typeface="Avenir Next"/>
              </a:rPr>
              <a:t>VALIDATED AMD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98648"/>
            <a:ext cx="23317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venir Next"/>
              </a:rPr>
              <a:t>gfx1100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401568"/>
            <a:ext cx="226771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D8E6F0"/>
                </a:solidFill>
                <a:latin typeface="Avenir Next"/>
              </a:rPr>
              <a:t>Radeon PRO W7900D
48GB VRAM · 96 CUs
ROCm 7.2.1 · vLLM ROCm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663440"/>
            <a:ext cx="2212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 i="0">
                <a:solidFill>
                  <a:srgbClr val="C5E8E5"/>
                </a:solidFill>
                <a:latin typeface="Avenir Next"/>
              </a:rPr>
              <a:t>The local service exposes an
OpenAI-compatible endpoint.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57984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627D98"/>
                </a:solidFill>
                <a:latin typeface="Avenir Next"/>
              </a:rPr>
              <a:t>MODEL FIT ON 48GB GFX1100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2578608"/>
            <a:ext cx="4206240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15968" y="2734056"/>
            <a:ext cx="128016" cy="320040"/>
          </a:xfrm>
          <a:prstGeom prst="roundRect">
            <a:avLst/>
          </a:prstGeom>
          <a:solidFill>
            <a:srgbClr val="00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715768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102A43"/>
                </a:solidFill>
                <a:latin typeface="Avenir Next"/>
              </a:rPr>
              <a:t>Qwen3-8B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743200"/>
            <a:ext cx="9692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27D98"/>
                </a:solidFill>
                <a:latin typeface="Avenir Next"/>
              </a:rPr>
              <a:t>~16GB FP16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51192" y="2743200"/>
            <a:ext cx="841248" cy="292608"/>
          </a:xfrm>
          <a:prstGeom prst="roundRect">
            <a:avLst/>
          </a:prstGeom>
          <a:solidFill>
            <a:srgbClr val="E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24344" y="2816352"/>
            <a:ext cx="694944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007C7A"/>
                </a:solidFill>
                <a:latin typeface="Avenir Next"/>
              </a:rPr>
              <a:t>LOCAL CORE · FITS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3438144"/>
            <a:ext cx="4206240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15968" y="3593591"/>
            <a:ext cx="128016" cy="320040"/>
          </a:xfrm>
          <a:prstGeom prst="round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575303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102A43"/>
                </a:solidFill>
                <a:latin typeface="Avenir Next"/>
              </a:rPr>
              <a:t>Qwen3-14B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3602736"/>
            <a:ext cx="9692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27D98"/>
                </a:solidFill>
                <a:latin typeface="Avenir Next"/>
              </a:rPr>
              <a:t>~28GB FP16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51192" y="3602736"/>
            <a:ext cx="841248" cy="292608"/>
          </a:xfrm>
          <a:prstGeom prst="round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24344" y="3675887"/>
            <a:ext cx="694944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176B87"/>
                </a:solidFill>
                <a:latin typeface="Avenir Next"/>
              </a:rPr>
              <a:t>LOCAL OPTION · FITS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4297680"/>
            <a:ext cx="4206240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15968" y="4453128"/>
            <a:ext cx="128016" cy="320040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43484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102A43"/>
                </a:solidFill>
                <a:latin typeface="Avenir Next"/>
              </a:rPr>
              <a:t>Qwen3.6-35B-A3B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4462272"/>
            <a:ext cx="9692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27D98"/>
                </a:solidFill>
                <a:latin typeface="Avenir Next"/>
              </a:rPr>
              <a:t>~70GB FP16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51192" y="4462272"/>
            <a:ext cx="841248" cy="292608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24344" y="4535424"/>
            <a:ext cx="694944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B7791F"/>
                </a:solidFill>
                <a:latin typeface="Avenir Next"/>
              </a:rPr>
              <a:t>AMD CLOUD CONTROL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32520" y="2103120"/>
            <a:ext cx="2816352" cy="3218688"/>
          </a:xfrm>
          <a:prstGeom prst="roundRect">
            <a:avLst/>
          </a:prstGeom>
          <a:solidFill>
            <a:srgbClr val="F0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97696" y="2423160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005D5B"/>
                </a:solidFill>
                <a:latin typeface="Avenir Next"/>
              </a:rPr>
              <a:t>NO CODE FORK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97696" y="280720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02A43"/>
                </a:solidFill>
                <a:latin typeface="Avenir Next"/>
              </a:rPr>
              <a:t>Same agent.
Local endpoint.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7696" y="3593592"/>
            <a:ext cx="215798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0" i="0">
                <a:solidFill>
                  <a:srgbClr val="627D98"/>
                </a:solidFill>
                <a:latin typeface="Avenir Next"/>
              </a:rPr>
              <a:t>Point AMD_API_URL to local vLLM. The provider stays OpenAI-compatible.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97696" y="4498848"/>
            <a:ext cx="2258568" cy="420624"/>
          </a:xfrm>
          <a:prstGeom prst="roundRect">
            <a:avLst/>
          </a:prstGeom>
          <a:solidFill>
            <a:srgbClr val="005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97696" y="4645152"/>
            <a:ext cx="2258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40" b="1" i="0">
                <a:solidFill>
                  <a:srgbClr val="FFFFFF"/>
                </a:solidFill>
                <a:latin typeface="Avenir Next"/>
              </a:rPr>
              <a:t>AMD_API_URL → vLLM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19672"/>
            <a:ext cx="57607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627D98"/>
                </a:solidFill>
                <a:latin typeface="Avenir Next"/>
              </a:rPr>
              <a:t>E-Sentinel · AMD AI DevMaster Hackathon · Track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6519672"/>
            <a:ext cx="4114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1" i="0">
                <a:solidFill>
                  <a:srgbClr val="627D98"/>
                </a:solidFill>
                <a:latin typeface="Avenir Next"/>
              </a:rPr>
              <a:t>PRIVATE · EVIDENCE-GROUNDED · GOVERNED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007C7A"/>
                </a:solidFill>
                <a:latin typeface="Avenir Next"/>
              </a:rPr>
              <a:t>AMD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102A43"/>
                </a:solidFill>
                <a:latin typeface="Avenir Next"/>
              </a:rPr>
              <a:t>Private inference on AMD, measured under ROCm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5" b="0" i="0">
                <a:solidFill>
                  <a:srgbClr val="627D98"/>
                </a:solidFill>
                <a:latin typeface="Avenir Next"/>
              </a:rPr>
              <a:t>Qwen3-8B served locally on AMD gfx1100 (Radeon PRO W7900D) · ROCm 7.2.1 · vLLM 0.26.0+rocm723.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2976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30" b="1" i="0">
                <a:solidFill>
                  <a:srgbClr val="627D98"/>
                </a:solidFill>
                <a:latin typeface="Avenir Next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27080" cy="16459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2432304" cy="1115568"/>
          </a:xfrm>
          <a:prstGeom prst="roundRect">
            <a:avLst/>
          </a:prstGeom>
          <a:solidFill>
            <a:srgbClr val="E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267712"/>
            <a:ext cx="2029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007C7A"/>
                </a:solidFill>
                <a:latin typeface="Avenir Next"/>
              </a:rPr>
              <a:t>87%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3" y="2697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43B53"/>
                </a:solidFill>
                <a:latin typeface="Avenir Next"/>
              </a:rPr>
              <a:t>VRAM used
for Qwen3-8B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057400"/>
            <a:ext cx="2432304" cy="1115568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267712"/>
            <a:ext cx="2029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D95545"/>
                </a:solidFill>
                <a:latin typeface="Avenir Next"/>
              </a:rPr>
              <a:t>3.20×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697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43B53"/>
                </a:solidFill>
                <a:latin typeface="Avenir Next"/>
              </a:rPr>
              <a:t>E2E speedup
thinking 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057400"/>
            <a:ext cx="2432304" cy="1115568"/>
          </a:xfrm>
          <a:prstGeom prst="round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267712"/>
            <a:ext cx="2029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76B87"/>
                </a:solidFill>
                <a:latin typeface="Avenir Next"/>
              </a:rPr>
              <a:t>1.49×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2697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43B53"/>
                </a:solidFill>
                <a:latin typeface="Avenir Next"/>
              </a:rPr>
              <a:t>Shared-prefix
cache speedup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057400"/>
            <a:ext cx="2432304" cy="1115568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59" y="2267712"/>
            <a:ext cx="20299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B7791F"/>
                </a:solidFill>
                <a:latin typeface="Avenir Next"/>
              </a:rPr>
              <a:t>~170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2697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43B53"/>
                </a:solidFill>
                <a:latin typeface="Avenir Next"/>
              </a:rPr>
              <a:t>tok/s aggregate
concurrency 1→8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5" y="3497579"/>
            <a:ext cx="7562088" cy="16093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ool-call-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529584"/>
            <a:ext cx="7498079" cy="154533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96112" y="4718304"/>
            <a:ext cx="1591056" cy="292608"/>
          </a:xfrm>
          <a:prstGeom prst="roundRect">
            <a:avLst/>
          </a:prstGeom>
          <a:solidFill>
            <a:srgbClr val="E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791456"/>
            <a:ext cx="144475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005D5B"/>
                </a:solidFill>
                <a:latin typeface="Avenir Next"/>
              </a:rPr>
              <a:t>LIVE HERMES TOOL-CALL TRACE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3529584"/>
            <a:ext cx="3090672" cy="1554480"/>
          </a:xfrm>
          <a:prstGeom prst="roundRect">
            <a:avLst/>
          </a:prstGeom>
          <a:solidFill>
            <a:srgbClr val="F0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20" y="37947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1" i="0">
                <a:solidFill>
                  <a:srgbClr val="102A43"/>
                </a:solidFill>
                <a:latin typeface="Avenir Next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17880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0" i="0">
                <a:solidFill>
                  <a:srgbClr val="627D98"/>
                </a:solidFill>
                <a:latin typeface="Avenir Next"/>
              </a:rPr>
              <a:t>Customer conversations can be evaluated locally — with real tool calling, not a mocked integration.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413248"/>
            <a:ext cx="10908792" cy="411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550408"/>
            <a:ext cx="103967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0" i="0">
                <a:solidFill>
                  <a:srgbClr val="627D98"/>
                </a:solidFill>
                <a:latin typeface="Avenir Next"/>
              </a:rPr>
              <a:t>Controlled measurements: thinking-off P50 5.01s → 1.57s · cached prefix 3.14s → 2.11s · concurrency-8: 170.4 tok/s, 0 failures.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9672"/>
            <a:ext cx="57607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627D98"/>
                </a:solidFill>
                <a:latin typeface="Avenir Next"/>
              </a:rPr>
              <a:t>E-Sentinel · AMD AI DevMaster Hackathon · Track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6519672"/>
            <a:ext cx="4114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1" i="0">
                <a:solidFill>
                  <a:srgbClr val="627D98"/>
                </a:solidFill>
                <a:latin typeface="Avenir Next"/>
              </a:rPr>
              <a:t>PRIVATE · EVIDENCE-GROUNDED · GOVERNED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007C7A"/>
                </a:solidFill>
                <a:latin typeface="Avenir Next"/>
              </a:rPr>
              <a:t>OPTIMIZATION DECISION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102A43"/>
                </a:solidFill>
                <a:latin typeface="Avenir Next"/>
              </a:rPr>
              <a:t>Every optimization is gated by performance and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5" b="0" i="0">
                <a:solidFill>
                  <a:srgbClr val="627D98"/>
                </a:solidFill>
                <a:latin typeface="Avenir Next"/>
              </a:rPr>
              <a:t>The local Agent path adopts only optimizations that improve deployment economics without violating the frozen quality gate.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2976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30" b="1" i="0">
                <a:solidFill>
                  <a:srgbClr val="627D98"/>
                </a:solidFill>
                <a:latin typeface="Avenir Next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27080" cy="16459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84831"/>
            <a:ext cx="5138928" cy="987552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295144"/>
            <a:ext cx="1261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95545"/>
                </a:solidFill>
                <a:latin typeface="Avenir Next"/>
              </a:rPr>
              <a:t>3.20×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31136" y="2258568"/>
            <a:ext cx="30906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D95545"/>
                </a:solidFill>
                <a:latin typeface="Avenir Next"/>
              </a:rPr>
              <a:t>THINKING-OFF E2E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2514600"/>
            <a:ext cx="31363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243B53"/>
                </a:solidFill>
                <a:latin typeface="Avenir Next"/>
              </a:rPr>
              <a:t>P50 5.01s → 1.57s
200 → 22 completion tokens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084831"/>
            <a:ext cx="5138928" cy="987552"/>
          </a:xfrm>
          <a:prstGeom prst="round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2295144"/>
            <a:ext cx="1261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76B87"/>
                </a:solidFill>
                <a:latin typeface="Avenir Next"/>
              </a:rPr>
              <a:t>1.49×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7536" y="2258568"/>
            <a:ext cx="30906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76B87"/>
                </a:solidFill>
                <a:latin typeface="Avenir Next"/>
              </a:rPr>
              <a:t>PREFIX 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7536" y="2514600"/>
            <a:ext cx="31363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243B53"/>
                </a:solidFill>
                <a:latin typeface="Avenir Next"/>
              </a:rPr>
              <a:t>Same shared prefix
3.14s → 2.11s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28415"/>
            <a:ext cx="5138928" cy="987552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538727"/>
            <a:ext cx="1261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7791F"/>
                </a:solidFill>
                <a:latin typeface="Avenir Next"/>
              </a:rPr>
              <a:t>−64%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1136" y="3502151"/>
            <a:ext cx="30906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B7791F"/>
                </a:solidFill>
                <a:latin typeface="Avenir Next"/>
              </a:rPr>
              <a:t>GPTQ MODEL WEIGHTS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1136" y="3758183"/>
            <a:ext cx="31363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243B53"/>
                </a:solidFill>
                <a:latin typeface="Avenir Next"/>
              </a:rPr>
              <a:t>FP16 16GB → GPTQ 5.7GB
Weight size, not peak VRAM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328415"/>
            <a:ext cx="5138928" cy="987552"/>
          </a:xfrm>
          <a:prstGeom prst="roundRect">
            <a:avLst/>
          </a:prstGeom>
          <a:solidFill>
            <a:srgbClr val="E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3538727"/>
            <a:ext cx="1261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C7A"/>
                </a:solidFill>
                <a:latin typeface="Avenir Next"/>
              </a:rPr>
              <a:t>+62–79%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7536" y="3502151"/>
            <a:ext cx="30906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7C7A"/>
                </a:solidFill>
                <a:latin typeface="Avenir Next"/>
              </a:rPr>
              <a:t>GPTQ OUTPUT TOK/S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7536" y="3758183"/>
            <a:ext cx="31363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243B53"/>
                </a:solidFill>
                <a:latin typeface="Avenir Next"/>
              </a:rPr>
              <a:t>Concurrency 1: 34 → 55
Concurrency 8: 133 → 238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64608"/>
            <a:ext cx="10899648" cy="786384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111496"/>
            <a:ext cx="13533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 i="0">
                <a:solidFill>
                  <a:srgbClr val="C5E8E5"/>
                </a:solidFill>
                <a:latin typeface="Avenir Next"/>
              </a:rPr>
              <a:t>QUALITY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48256" y="5047488"/>
            <a:ext cx="90159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1" i="0">
                <a:solidFill>
                  <a:srgbClr val="FFFFFF"/>
                </a:solidFill>
                <a:latin typeface="Avenir Next"/>
              </a:rPr>
              <a:t>Agent GPTQ passes: Recall 0.921 → 0.905 (−0.016) · F1 0.823 → 0.844 · FPR 0.476 → 0.357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48256" y="5321808"/>
            <a:ext cx="86136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0" i="0">
                <a:solidFill>
                  <a:srgbClr val="C5E8E5"/>
                </a:solidFill>
                <a:latin typeface="Avenir Next"/>
              </a:rPr>
              <a:t>Dual GPTQ degrades: Recall 0.508 → 0.254 — therefore Dual stays FP16.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5925312"/>
            <a:ext cx="102961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0" i="0">
                <a:solidFill>
                  <a:srgbClr val="627D98"/>
                </a:solidFill>
                <a:latin typeface="Avenir Next"/>
              </a:rPr>
              <a:t>Same script, same prompt; one observation per concurrency, no warm-up. Benefits are reported as controlled deployment evidence, not universal GPU claims.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9672"/>
            <a:ext cx="57607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627D98"/>
                </a:solidFill>
                <a:latin typeface="Avenir Next"/>
              </a:rPr>
              <a:t>E-Sentinel · AMD AI DevMaster Hackathon · Track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6519672"/>
            <a:ext cx="4114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1" i="0">
                <a:solidFill>
                  <a:srgbClr val="627D98"/>
                </a:solidFill>
                <a:latin typeface="Avenir Next"/>
              </a:rPr>
              <a:t>PRIVATE · EVIDENCE-GROUNDED · GOVERNED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007C7A"/>
                </a:solidFill>
                <a:latin typeface="Avenir Next"/>
              </a:rPr>
              <a:t>EVALUATION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102A43"/>
                </a:solidFill>
                <a:latin typeface="Avenir Next"/>
              </a:rPr>
              <a:t>Hard to game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5" b="0" i="0">
                <a:solidFill>
                  <a:srgbClr val="627D98"/>
                </a:solidFill>
                <a:latin typeface="Avenir Next"/>
              </a:rPr>
              <a:t>The evaluation set, labels, comparison path, and quality boundaries are explicit and reproducible.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2976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30" b="1" i="0">
                <a:solidFill>
                  <a:srgbClr val="627D98"/>
                </a:solidFill>
                <a:latin typeface="Avenir Next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27080" cy="16459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76272"/>
            <a:ext cx="3346704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386584"/>
            <a:ext cx="182880" cy="182880"/>
          </a:xfrm>
          <a:prstGeom prst="round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59152"/>
            <a:ext cx="25328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1" i="0">
                <a:solidFill>
                  <a:srgbClr val="176B87"/>
                </a:solidFill>
                <a:latin typeface="Avenir Next"/>
              </a:rPr>
              <a:t>105 CONVERSATIONS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743200"/>
            <a:ext cx="2788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243B53"/>
                </a:solidFill>
                <a:latin typeface="Avenir Next"/>
              </a:rPr>
              <a:t>40 human-annotated
65 synthetic-near-real
13 scenario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8" y="274320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627D98"/>
                </a:solidFill>
                <a:latin typeface="Avenir Next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176272"/>
            <a:ext cx="3346704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53712" y="2386584"/>
            <a:ext cx="182880" cy="182880"/>
          </a:xfrm>
          <a:prstGeom prst="roundRect">
            <a:avLst/>
          </a:prstGeom>
          <a:solidFill>
            <a:srgbClr val="00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3752" y="2359152"/>
            <a:ext cx="25328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1" i="0">
                <a:solidFill>
                  <a:srgbClr val="007C7A"/>
                </a:solidFill>
                <a:latin typeface="Avenir Next"/>
              </a:rPr>
              <a:t>DOUBLE-BLIND LABELING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743200"/>
            <a:ext cx="2788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243B53"/>
                </a:solidFill>
                <a:latin typeface="Avenir Next"/>
              </a:rPr>
              <a:t>Two independent channels
Human arbitration
Cohen’s κ = 0.805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74320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627D98"/>
                </a:solidFill>
                <a:latin typeface="Avenir Next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2176272"/>
            <a:ext cx="3346704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84463" y="2386584"/>
            <a:ext cx="182880" cy="182880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04504" y="2359152"/>
            <a:ext cx="25328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1" i="0">
                <a:solidFill>
                  <a:srgbClr val="B7791F"/>
                </a:solidFill>
                <a:latin typeface="Avenir Next"/>
              </a:rPr>
              <a:t>PAIRED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2743200"/>
            <a:ext cx="2788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243B53"/>
                </a:solidFill>
                <a:latin typeface="Avenir Next"/>
              </a:rPr>
              <a:t>Dual and Agent reuse the
same judge baseline snapshot
0 failed predictions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69663"/>
            <a:ext cx="10899648" cy="1408176"/>
          </a:xfrm>
          <a:prstGeom prst="roundRect">
            <a:avLst/>
          </a:prstGeom>
          <a:solidFill>
            <a:srgbClr val="F0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443984"/>
            <a:ext cx="3840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 i="0">
                <a:solidFill>
                  <a:srgbClr val="005D5B"/>
                </a:solidFill>
                <a:latin typeface="Avenir Next"/>
              </a:rPr>
              <a:t>WHAT WE CLAIM — AND WHAT WE DO NOT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791456"/>
            <a:ext cx="5029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43B53"/>
                </a:solidFill>
                <a:latin typeface="Avenir Next"/>
              </a:rPr>
              <a:t>✓  Local 8B and cloud 35B results are reported separately
✓  Human-gold is never used as training examples or generation seeds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4791456"/>
            <a:ext cx="47823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43B53"/>
                </a:solidFill>
                <a:latin typeface="Avenir Next"/>
              </a:rPr>
              <a:t>✓  No source means human review — not invented certainty
✓  Quality gates can reject worse fine-tuned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9672"/>
            <a:ext cx="57607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627D98"/>
                </a:solidFill>
                <a:latin typeface="Avenir Next"/>
              </a:rPr>
              <a:t>E-Sentinel · AMD AI DevMaster Hackathon · Track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6519672"/>
            <a:ext cx="4114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1" i="0">
                <a:solidFill>
                  <a:srgbClr val="627D98"/>
                </a:solidFill>
                <a:latin typeface="Avenir Next"/>
              </a:rPr>
              <a:t>PRIVATE · EVIDENCE-GROUNDED · GOVERNED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007C7A"/>
                </a:solidFill>
                <a:latin typeface="Avenir Next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102A43"/>
                </a:solidFill>
                <a:latin typeface="Avenir Next"/>
              </a:rPr>
              <a:t>Paired ablation: the agent path recovers semantic misses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5" b="0" i="0">
                <a:solidFill>
                  <a:srgbClr val="627D98"/>
                </a:solidFill>
                <a:latin typeface="Avenir Next"/>
              </a:rPr>
              <a:t>Human-gold 105 cases · double-blind annotation + arbitration · Cohen’s κ = 0.805.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2976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30" b="1" i="0">
                <a:solidFill>
                  <a:srgbClr val="627D98"/>
                </a:solidFill>
                <a:latin typeface="Avenir Next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27080" cy="16459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039112"/>
            <a:ext cx="4023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627D98"/>
                </a:solidFill>
                <a:latin typeface="Avenir Next"/>
              </a:rPr>
              <a:t>SEVERE-VIOLATION 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578608"/>
            <a:ext cx="13533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43B53"/>
                </a:solidFill>
                <a:latin typeface="Avenir Next"/>
              </a:rPr>
              <a:t>Keyword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76272" y="2505456"/>
            <a:ext cx="2999232" cy="329184"/>
          </a:xfrm>
          <a:prstGeom prst="roundRect">
            <a:avLst/>
          </a:prstGeom>
          <a:solidFill>
            <a:srgbClr val="EA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76272" y="2505456"/>
            <a:ext cx="809792" cy="329184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0952" y="2560320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40" b="1" i="0">
                <a:solidFill>
                  <a:srgbClr val="2A78D6"/>
                </a:solidFill>
                <a:latin typeface="Avenir Next"/>
              </a:rPr>
              <a:t>27.0%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291840"/>
            <a:ext cx="13533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43B53"/>
                </a:solidFill>
                <a:latin typeface="Avenir Next"/>
              </a:rPr>
              <a:t>LLM judge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76272" y="3218688"/>
            <a:ext cx="2999232" cy="329184"/>
          </a:xfrm>
          <a:prstGeom prst="roundRect">
            <a:avLst/>
          </a:prstGeom>
          <a:solidFill>
            <a:srgbClr val="EA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76272" y="3218688"/>
            <a:ext cx="1808536" cy="329184"/>
          </a:xfrm>
          <a:prstGeom prst="round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2" y="3273552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40" b="1" i="0">
                <a:solidFill>
                  <a:srgbClr val="EB6834"/>
                </a:solidFill>
                <a:latin typeface="Avenir Next"/>
              </a:rPr>
              <a:t>60.3%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005072"/>
            <a:ext cx="13533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43B53"/>
                </a:solidFill>
                <a:latin typeface="Avenir Next"/>
              </a:rPr>
              <a:t>Agent + 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76272" y="3931920"/>
            <a:ext cx="2999232" cy="329184"/>
          </a:xfrm>
          <a:prstGeom prst="roundRect">
            <a:avLst/>
          </a:prstGeom>
          <a:solidFill>
            <a:srgbClr val="EA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76272" y="3931920"/>
            <a:ext cx="1904512" cy="329184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0952" y="3986784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40" b="1" i="0">
                <a:solidFill>
                  <a:srgbClr val="1BAF7A"/>
                </a:solidFill>
                <a:latin typeface="Avenir Next"/>
              </a:rPr>
              <a:t>63.5%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54880"/>
            <a:ext cx="5230368" cy="841248"/>
          </a:xfrm>
          <a:prstGeom prst="roundRect">
            <a:avLst/>
          </a:prstGeom>
          <a:solidFill>
            <a:srgbClr val="E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001768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0" b="1" i="0">
                <a:solidFill>
                  <a:srgbClr val="005D5B"/>
                </a:solidFill>
                <a:latin typeface="Avenir Next"/>
              </a:rPr>
              <a:t>The key comparison is paired: Dual and Agent reuse the same judge baseline snapshot.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048256"/>
            <a:ext cx="5321808" cy="35387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276856"/>
            <a:ext cx="17830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27D98"/>
                </a:solidFill>
                <a:latin typeface="Avenir Next"/>
              </a:rPr>
              <a:t>Variant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276856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627D98"/>
                </a:solidFill>
                <a:latin typeface="Avenir Next"/>
              </a:rPr>
              <a:t>Recall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276856"/>
            <a:ext cx="89611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627D98"/>
                </a:solidFill>
                <a:latin typeface="Avenir Next"/>
              </a:rPr>
              <a:t>Precision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276856"/>
            <a:ext cx="5120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627D98"/>
                </a:solidFill>
                <a:latin typeface="Avenir Next"/>
              </a:rPr>
              <a:t>F1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06456" y="2276856"/>
            <a:ext cx="5029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627D98"/>
                </a:solidFill>
                <a:latin typeface="Avenir Next"/>
              </a:rPr>
              <a:t>FPR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2276856"/>
            <a:ext cx="3200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627D98"/>
                </a:solidFill>
                <a:latin typeface="Avenir Next"/>
              </a:rPr>
              <a:t>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73368" y="2596896"/>
            <a:ext cx="5010912" cy="5577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46520" y="2779776"/>
            <a:ext cx="109728" cy="18288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65976" y="2788920"/>
            <a:ext cx="1417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 i="0">
                <a:solidFill>
                  <a:srgbClr val="102A43"/>
                </a:solidFill>
                <a:latin typeface="Avenir Next"/>
              </a:rPr>
              <a:t>rule_only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2788920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0" b="0" i="0">
                <a:solidFill>
                  <a:srgbClr val="243B53"/>
                </a:solidFill>
                <a:latin typeface="Avenir Next"/>
              </a:rPr>
              <a:t>0.270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88552" y="2788920"/>
            <a:ext cx="8961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0" b="0" i="0">
                <a:solidFill>
                  <a:srgbClr val="243B53"/>
                </a:solidFill>
                <a:latin typeface="Avenir Next"/>
              </a:rPr>
              <a:t>0.486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2788920"/>
            <a:ext cx="512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0" b="0" i="0">
                <a:solidFill>
                  <a:srgbClr val="243B53"/>
                </a:solidFill>
                <a:latin typeface="Avenir Next"/>
              </a:rPr>
              <a:t>0.347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06456" y="2788920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0" b="0" i="0">
                <a:solidFill>
                  <a:srgbClr val="243B53"/>
                </a:solidFill>
                <a:latin typeface="Avenir Next"/>
              </a:rPr>
              <a:t>0.429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2788920"/>
            <a:ext cx="320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0" b="0" i="0">
                <a:solidFill>
                  <a:srgbClr val="243B53"/>
                </a:solidFill>
                <a:latin typeface="Avenir Next"/>
              </a:rPr>
              <a:t>0.012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73368" y="3337560"/>
            <a:ext cx="5010912" cy="557784"/>
          </a:xfrm>
          <a:prstGeom prst="roundRect">
            <a:avLst/>
          </a:prstGeom>
          <a:solidFill>
            <a:srgbClr val="FF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46520" y="3520440"/>
            <a:ext cx="109728" cy="182880"/>
          </a:xfrm>
          <a:prstGeom prst="round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65976" y="3529584"/>
            <a:ext cx="1417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 i="0">
                <a:solidFill>
                  <a:srgbClr val="102A43"/>
                </a:solidFill>
                <a:latin typeface="Avenir Next"/>
              </a:rPr>
              <a:t>dual (AMD 35B)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3529584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0" b="0" i="0">
                <a:solidFill>
                  <a:srgbClr val="243B53"/>
                </a:solidFill>
                <a:latin typeface="Avenir Next"/>
              </a:rPr>
              <a:t>0.603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88552" y="3529584"/>
            <a:ext cx="8961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0" b="0" i="0">
                <a:solidFill>
                  <a:srgbClr val="243B53"/>
                </a:solidFill>
                <a:latin typeface="Avenir Next"/>
              </a:rPr>
              <a:t>0.974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3529584"/>
            <a:ext cx="512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0" b="0" i="0">
                <a:solidFill>
                  <a:srgbClr val="243B53"/>
                </a:solidFill>
                <a:latin typeface="Avenir Next"/>
              </a:rPr>
              <a:t>0.745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06456" y="3529584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0" b="0" i="0">
                <a:solidFill>
                  <a:srgbClr val="243B53"/>
                </a:solidFill>
                <a:latin typeface="Avenir Next"/>
              </a:rPr>
              <a:t>0.024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3529584"/>
            <a:ext cx="320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0" b="0" i="0">
                <a:solidFill>
                  <a:srgbClr val="243B53"/>
                </a:solidFill>
                <a:latin typeface="Avenir Next"/>
              </a:rPr>
              <a:t>0.332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73368" y="4078224"/>
            <a:ext cx="5010912" cy="557784"/>
          </a:xfrm>
          <a:prstGeom prst="roundRect">
            <a:avLst/>
          </a:prstGeom>
          <a:solidFill>
            <a:srgbClr val="E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46520" y="4261104"/>
            <a:ext cx="109728" cy="182880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65976" y="4270248"/>
            <a:ext cx="1417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1" i="0">
                <a:solidFill>
                  <a:srgbClr val="102A43"/>
                </a:solidFill>
                <a:latin typeface="Avenir Next"/>
              </a:rPr>
              <a:t>agent (ReAct+tools)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1312" y="42702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0" b="1" i="0">
                <a:solidFill>
                  <a:srgbClr val="1BAF7A"/>
                </a:solidFill>
                <a:latin typeface="Avenir Next"/>
              </a:rPr>
              <a:t>0.635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88552" y="4270248"/>
            <a:ext cx="8961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0" b="0" i="0">
                <a:solidFill>
                  <a:srgbClr val="243B53"/>
                </a:solidFill>
                <a:latin typeface="Avenir Next"/>
              </a:rPr>
              <a:t>0.952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6960" y="4270248"/>
            <a:ext cx="512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0" b="1" i="0">
                <a:solidFill>
                  <a:srgbClr val="1BAF7A"/>
                </a:solidFill>
                <a:latin typeface="Avenir Next"/>
              </a:rPr>
              <a:t>0.762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06456" y="4270248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0" b="0" i="0">
                <a:solidFill>
                  <a:srgbClr val="243B53"/>
                </a:solidFill>
                <a:latin typeface="Avenir Next"/>
              </a:rPr>
              <a:t>0.048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4270248"/>
            <a:ext cx="320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0" b="1" i="0">
                <a:solidFill>
                  <a:srgbClr val="1BAF7A"/>
                </a:solidFill>
                <a:latin typeface="Avenir Next"/>
              </a:rPr>
              <a:t>0.350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5742432"/>
            <a:ext cx="5321808" cy="384048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5852160"/>
            <a:ext cx="4882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0" b="1" i="0">
                <a:solidFill>
                  <a:srgbClr val="B7791F"/>
                </a:solidFill>
                <a:latin typeface="Avenir Next"/>
              </a:rPr>
              <a:t>Local Qwen3-8B results are reported separately; never merged with cloud 35B.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519672"/>
            <a:ext cx="57607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627D98"/>
                </a:solidFill>
                <a:latin typeface="Avenir Next"/>
              </a:rPr>
              <a:t>E-Sentinel · AMD AI DevMaster Hackathon · Track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6519672"/>
            <a:ext cx="4114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1" i="0">
                <a:solidFill>
                  <a:srgbClr val="627D98"/>
                </a:solidFill>
                <a:latin typeface="Avenir Next"/>
              </a:rPr>
              <a:t>PRIVATE · EVIDENCE-GROUNDED · GOVERNED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007C7A"/>
                </a:solidFill>
                <a:latin typeface="Avenir Next"/>
              </a:rPr>
              <a:t>ENGINEERING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102A43"/>
                </a:solidFill>
                <a:latin typeface="Avenir Next"/>
              </a:rPr>
              <a:t>The quality gate is allowed to say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5" b="0" i="0">
                <a:solidFill>
                  <a:srgbClr val="627D98"/>
                </a:solidFill>
                <a:latin typeface="Avenir Next"/>
              </a:rPr>
              <a:t>The project retains the stock model when experiments regress — results are disclosed rather than cherry-picked.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2976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30" b="1" i="0">
                <a:solidFill>
                  <a:srgbClr val="627D98"/>
                </a:solidFill>
                <a:latin typeface="Avenir Next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27080" cy="16459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21408"/>
            <a:ext cx="3346704" cy="1755648"/>
          </a:xfrm>
          <a:prstGeom prst="roundRect">
            <a:avLst/>
          </a:prstGeom>
          <a:solidFill>
            <a:srgbClr val="E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377440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007C7A"/>
                </a:solidFill>
                <a:latin typeface="Avenir Next"/>
              </a:rPr>
              <a:t>274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862072"/>
            <a:ext cx="2651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007C7A"/>
                </a:solidFill>
                <a:latin typeface="Avenir Next"/>
              </a:rPr>
              <a:t>PASSING JEST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182112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43B53"/>
                </a:solidFill>
                <a:latin typeface="Avenir Next"/>
              </a:rPr>
              <a:t>Coverage includes AMD integration and contract tests.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121408"/>
            <a:ext cx="3346704" cy="1755648"/>
          </a:xfrm>
          <a:prstGeom prst="round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377440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76B87"/>
                </a:solidFill>
                <a:latin typeface="Avenir Next"/>
              </a:rPr>
              <a:t>0 / 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862072"/>
            <a:ext cx="2651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176B87"/>
                </a:solidFill>
                <a:latin typeface="Avenir Next"/>
              </a:rPr>
              <a:t>CROSS-TENANT LEAKS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182112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43B53"/>
                </a:solidFill>
                <a:latin typeface="Avenir Next"/>
              </a:rPr>
              <a:t>Observed in the 50-row pgvector isolation test.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121408"/>
            <a:ext cx="3346704" cy="1755648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D95545"/>
                </a:solidFill>
                <a:latin typeface="Avenir Nex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62072"/>
            <a:ext cx="2651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D95545"/>
                </a:solidFill>
                <a:latin typeface="Avenir Next"/>
              </a:rPr>
              <a:t>LORA RUNS REJECTED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82112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43B53"/>
                </a:solidFill>
                <a:latin typeface="Avenir Next"/>
              </a:rPr>
              <a:t>Both fine-tuning experiments regressed the frozen quality gate.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52544"/>
            <a:ext cx="10899648" cy="109728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645152"/>
            <a:ext cx="99669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C5E8E5"/>
                </a:solidFill>
                <a:latin typeface="Avenir Next"/>
              </a:rPr>
              <a:t>TRUSTWORTHY AI IS NOT THE MODEL THAT ALWAYS SAYS “YES.”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37760"/>
            <a:ext cx="99669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30" b="1" i="0">
                <a:solidFill>
                  <a:srgbClr val="FFFFFF"/>
                </a:solidFill>
                <a:latin typeface="Avenir Next"/>
              </a:rPr>
              <a:t>Stock Qwen3-8B remains in production because the evidence gate rejected weaker alternatives.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9672"/>
            <a:ext cx="57607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627D98"/>
                </a:solidFill>
                <a:latin typeface="Avenir Next"/>
              </a:rPr>
              <a:t>E-Sentinel · AMD AI DevMaster Hackathon · Track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6519672"/>
            <a:ext cx="4114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1" i="0">
                <a:solidFill>
                  <a:srgbClr val="627D98"/>
                </a:solidFill>
                <a:latin typeface="Avenir Next"/>
              </a:rPr>
              <a:t>PRIVATE · EVIDENCE-GROUNDED · GOVERNED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93776"/>
            <a:ext cx="11045952" cy="5833872"/>
          </a:xfrm>
          <a:prstGeom prst="roundRect">
            <a:avLst/>
          </a:prstGeom>
          <a:solidFill>
            <a:srgbClr val="F0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" y="841248"/>
            <a:ext cx="1133856" cy="292608"/>
          </a:xfrm>
          <a:prstGeom prst="roundRect">
            <a:avLst/>
          </a:prstGeom>
          <a:solidFill>
            <a:srgbClr val="E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914400"/>
            <a:ext cx="98755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007C7A"/>
                </a:solidFill>
                <a:latin typeface="Avenir Next"/>
              </a:rPr>
              <a:t>WHY E-SENTINEL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389888"/>
            <a:ext cx="6629400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102A43"/>
                </a:solidFill>
                <a:latin typeface="Avenir Next"/>
              </a:rPr>
              <a:t>A private AI agent
that earns the right
to make quality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59893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40" b="0" i="0">
                <a:solidFill>
                  <a:srgbClr val="627D98"/>
                </a:solidFill>
                <a:latin typeface="Avenir Next"/>
              </a:rPr>
              <a:t>Not a chat widget. Not a keyword filter. A complete quality operating system that combines evidence, safety controls, human review, and AMD local inference.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4105656"/>
            <a:ext cx="3218688" cy="1069848"/>
          </a:xfrm>
          <a:prstGeom prst="roundRect">
            <a:avLst/>
          </a:prstGeom>
          <a:solidFill>
            <a:srgbClr val="E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60704" y="4270248"/>
            <a:ext cx="109728" cy="109728"/>
          </a:xfrm>
          <a:prstGeom prst="roundRect">
            <a:avLst/>
          </a:prstGeom>
          <a:solidFill>
            <a:srgbClr val="00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9304" y="4242816"/>
            <a:ext cx="267004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 i="0">
                <a:solidFill>
                  <a:srgbClr val="007C7A"/>
                </a:solidFill>
                <a:latin typeface="Avenir Next"/>
              </a:rPr>
              <a:t>PRIVATE BY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4498848"/>
            <a:ext cx="288950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243B53"/>
                </a:solidFill>
                <a:latin typeface="Avenir Next"/>
              </a:rPr>
              <a:t>AMD Radeon / ROCm local runtime
Sensitive content stays on-premise.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105656"/>
            <a:ext cx="3218688" cy="1069848"/>
          </a:xfrm>
          <a:prstGeom prst="roundRect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99431" y="4270248"/>
            <a:ext cx="109728" cy="109728"/>
          </a:xfrm>
          <a:prstGeom prst="round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1" y="4242816"/>
            <a:ext cx="267004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 i="0">
                <a:solidFill>
                  <a:srgbClr val="176B87"/>
                </a:solidFill>
                <a:latin typeface="Avenir Next"/>
              </a:rPr>
              <a:t>EVIDENCE BEFORE ESCALATION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4498848"/>
            <a:ext cx="288950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243B53"/>
                </a:solidFill>
                <a:latin typeface="Avenir Next"/>
              </a:rPr>
              <a:t>Every claim has an original quote
and retrieved policy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4105656"/>
            <a:ext cx="3218688" cy="1069848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4270248"/>
            <a:ext cx="109728" cy="109728"/>
          </a:xfrm>
          <a:prstGeom prst="roundRect">
            <a:avLst/>
          </a:prstGeom>
          <a:solidFill>
            <a:srgbClr val="D95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242816"/>
            <a:ext cx="267004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 i="0">
                <a:solidFill>
                  <a:srgbClr val="D95545"/>
                </a:solidFill>
                <a:latin typeface="Avenir Next"/>
              </a:rPr>
              <a:t>OPERATIONS YOU CAN ACT 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498848"/>
            <a:ext cx="288950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243B53"/>
                </a:solidFill>
                <a:latin typeface="Avenir Next"/>
              </a:rPr>
              <a:t>27 panels connect QA findings to
owners, SLAs, and work orders.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" y="5586984"/>
            <a:ext cx="9994392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2144" y="5733288"/>
            <a:ext cx="9491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43B53"/>
                </a:solidFill>
                <a:latin typeface="Avenir Next"/>
              </a:rPr>
              <a:t>Reproducible evidence  ·  105-case human-gold  ·  κ 0.805  ·  274 passing Jest tests  ·  Local and cloud results kept separate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61320" y="822960"/>
            <a:ext cx="493776" cy="493776"/>
          </a:xfrm>
          <a:prstGeom prst="roundRect">
            <a:avLst/>
          </a:prstGeom>
          <a:solidFill>
            <a:srgbClr val="00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61320" y="950976"/>
            <a:ext cx="4937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1453896"/>
            <a:ext cx="25786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30" b="1" i="0">
                <a:solidFill>
                  <a:srgbClr val="005D5B"/>
                </a:solidFill>
                <a:latin typeface="Avenir Next"/>
              </a:rPr>
              <a:t>E-Sentinel · Track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1819656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102A43"/>
                </a:solidFill>
                <a:latin typeface="Avenir Next"/>
              </a:rPr>
              <a:t>Thank 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9672"/>
            <a:ext cx="57607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627D98"/>
                </a:solidFill>
                <a:latin typeface="Avenir Next"/>
              </a:rPr>
              <a:t>E-Sentinel · AMD AI DevMaster Hackathon · Track 2 · Submission deck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6519672"/>
            <a:ext cx="4114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1" i="0">
                <a:solidFill>
                  <a:srgbClr val="627D98"/>
                </a:solidFill>
                <a:latin typeface="Avenir Next"/>
              </a:rPr>
              <a:t>PRIVATE · EVIDENCE-GROUNDED · GOVERNED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