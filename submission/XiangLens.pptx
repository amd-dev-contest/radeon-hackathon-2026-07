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12192000" cy="6858000"/>
  <p:embeddedFontLst>
    <p:embeddedFont>
      <p:font typeface="MiSans" charset="-122"/>
      <p:regular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1.fntdata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XiangLens cover — AMD AI DevMaster 2026, Track 2. Goal-relative, source-backed, user-controlled profile-image review, running fully on AMD Radeon / ROCm.</a:t>
            </a:r>
            <a:endParaRPr lang="en-US" sz="1200" noProof="1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The problem — profile-image choice carries privacy, provenance, clarity, and context risks. XiangLens is goal-relative review, not personality or identity inference.</a:t>
            </a:r>
            <a:endParaRPr lang="en-US" sz="1200" noProof="1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The real product UI — three inspectable zones. 01 Intent — review setup with target context, audience, intended signals, Lens Packs. 02 Result — evidence-backed report with a transparent five-dimension candidate rubric. 03 Trace — bounded nine-step plan and per-node workflow timings.</a:t>
            </a:r>
            <a:endParaRPr lang="en-US" sz="1200" noProof="1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Why an Agent — the result requires policy routing, state restoration, deterministic inspection, multimodal observation, filtered retrieval, comparison, consent, and code-controlled citation rendering. The bounded path runs as a fixed visible plan; every node emits an SSE trace; sensitive requests branch to a blocked report; follow-ups reuse verified analysis instead of repeating vision.</a:t>
            </a:r>
            <a:endParaRPr lang="en-US" sz="1200" noProof="1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Architecture — bounded Agent workflow with explicit trust boundaries. GitHub Pages frontend, short-lived session, FastAPI, LangGraph nodes, Milvus Lite public Lens Packs, SQLite approved memory, Private Lens mounted only at runtime. Inference via llama.cpp + Qwen3.6 35B-class VLM on AMD Radeon PRO W7900 / ROCm.</a:t>
            </a:r>
            <a:endParaRPr lang="en-US" sz="1200" noProof="1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Track 2 requirements mapping — all five required capabilities implemented and reviewable in the UI or the repository.</a:t>
            </a:r>
            <a:endParaRPr lang="en-US" sz="1200" noProof="1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Demo roadmap — four cases, each proving a distinct control property of the Agent.</a:t>
            </a:r>
            <a:endParaRPr lang="en-US" sz="1200" noProof="1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Case 1 — LinkedIn privacy review. person1.jpg vs qr.jpg; deterministic local scan detects the visible QR code before model interpretation; Safe copy removes metadata only. Recommendation: person1.jpg, with linked sources.</a:t>
            </a:r>
            <a:endParaRPr lang="en-US" sz="1200" noProof="1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Real UI evidence for Case 1 — the review runs on the actual test avatars (person1.jpg vs qr.jpg). The deterministic Inspect Local step flags the QR code as a HIGH privacy finding before any model interpretation, person1.jpg is recommended with five-dimension scores, and every node reports its latency in the workflow rail.</a:t>
            </a:r>
            <a:endParaRPr lang="en-US" sz="1200" noProof="1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Case 1 follow-ups — two follow-up questions in the same thread are answered from the verified report via recall_context, reuse_analysis, answer_follow_up; the vision model is skipped, so follow-ups are faster with a visible reasoning trace.</a:t>
            </a:r>
            <a:endParaRPr lang="en-US" sz="1200" noProof="1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Case 2 — GitHub context. The cartoon dog avatar is flagged as resembling a recognizable franchise character; XiangLens identifies provenance uncertainty without declaring infringement. The stated preference becomes a pending memory proposal and is stored only after the user clicks Approve memory.</a:t>
            </a:r>
            <a:endParaRPr lang="en-US" sz="1200" noProof="1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Real UI evidence for Case 2 — the review runs on the actual test avatars (dog.png vs person2.jpg). The rights finding says dog.png closely resembles Snoopy from Peanuts, flagged MEDIUM with resemblance language and explicitly not a legal conclusion; person2.jpg gets a MEDIUM privacy finding as a portrait of a person. The preference is stored only through the PERMISSION REQUIRED gate — Skip or Approve memory.</a:t>
            </a:r>
            <a:endParaRPr lang="en-US" sz="1200" noProof="1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Real UI evidence for Cases 2–3 — the rights finding uses resemblance language (not a legal conclusion), the approved memory is recalled in a new review and shown verbatim, retrieved sources include WIPO and GitHub references, and Forget all private state removes everything.</a:t>
            </a:r>
            <a:endParaRPr lang="en-US" sz="1200" noProof="1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Case 3 — a brand-new General review recalls exactly one approved memory and treats it as a user goal, combined with fresh visual analysis and new source-backed evidence. The memory is deleted after the proof. The avatars shown are the actual test inputs dog.png and yinyang.jpg from the case folder.</a:t>
            </a:r>
            <a:endParaRPr lang="en-US" sz="1200" noProof="1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Real UI evidence for Case 3 — a new General review on dog.png vs yinyang.jpg shows CROSS-REVIEW RECALL with 1 RECALLED. The approved preference is shown verbatim and explicitly labeled as a user-provided goal or constraint, not an observed image fact. The final report recommends Candidate B (lighthouse/yin-yang) over the cartoon dog, prioritizing provenance safety.</a:t>
            </a:r>
            <a:endParaRPr lang="en-US" sz="1200" noProof="1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Case 4 — the Private Lens Tool is disabled by default and runs only when explicitly enabled. Private knowledge is mounted only on the backend at runtime; output is a filtered symbolic association plus one technique reference, labeled as course context — no identity, personality, destiny, or universal-truth inference. The avatar shown is the actual test input yinyang.jpg from the case folder.</a:t>
            </a:r>
            <a:endParaRPr lang="en-US" sz="1200" noProof="1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Measured W7900 result, 2026-08-05 — Q6_K GGUF, full GPU layer offload, flash attention, Q8_0 KV cache, 2048-token reasoning budget, 384-token final budget. One warmup plus five measured batch-size-1 multimodal requests. Median 87.09 ms first delta, 9.96 s first final-content delta, 11.92 s end-to-end, 83.42 tok/s decode, 100% valid JSON (5/5). Cold reference 825.58 ms / 12.69 s / 83.16 tok/s; identical final-content SHA-256 across all six runs. Model-workload benchmark, not the complete Agent workflow duration.</a:t>
            </a:r>
            <a:endParaRPr lang="en-US" sz="1200" noProof="1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Summary — the six control properties demonstrated across the four cases, each verified in the live demo recording.</a:t>
            </a:r>
            <a:endParaRPr lang="en-US" sz="1200" noProof="1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Closing — XiangLens keeps the user in control. Stack and repository.</a:t>
            </a:r>
            <a:endParaRPr lang="en-US" sz="1200" noProof="1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png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github.com/ld0574/Radeon-hackathon-2026-0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-tr"/>
          <p:cNvSpPr/>
          <p:nvPr/>
        </p:nvSpPr>
        <p:spPr>
          <a:xfrm>
            <a:off x="7620000" y="-2032000"/>
            <a:ext cx="6604000" cy="5334000"/>
          </a:xfrm>
          <a:prstGeom prst="ellipse">
            <a:avLst/>
          </a:prstGeom>
          <a:gradFill rotWithShape="1">
            <a:gsLst>
              <a:gs pos="0">
                <a:srgbClr val="1E4A5F">
                  <a:alpha val="60000"/>
                </a:srgbClr>
              </a:gs>
              <a:gs pos="100000">
                <a:srgbClr val="1E4A5F">
                  <a:alpha val="0"/>
                </a:srgbClr>
              </a:gs>
            </a:gsLst>
            <a:path path="circle"/>
          </a:gradFill>
          <a:ln>
            <a:noFill/>
          </a:ln>
        </p:spPr>
      </p:sp>
      <p:sp>
        <p:nvSpPr>
          <p:cNvPr id="3" name="glow-bl"/>
          <p:cNvSpPr/>
          <p:nvPr/>
        </p:nvSpPr>
        <p:spPr>
          <a:xfrm>
            <a:off x="-2286000" y="4318000"/>
            <a:ext cx="6096000" cy="4826000"/>
          </a:xfrm>
          <a:prstGeom prst="ellipse">
            <a:avLst/>
          </a:prstGeom>
          <a:gradFill rotWithShape="1">
            <a:gsLst>
              <a:gs pos="0">
                <a:srgbClr val="2E7D32">
                  <a:alpha val="40000"/>
                </a:srgbClr>
              </a:gs>
              <a:gs pos="100000">
                <a:srgbClr val="2E7D32">
                  <a:alpha val="0"/>
                </a:srgbClr>
              </a:gs>
            </a:gsLst>
            <a:path path="circle"/>
          </a:gradFill>
          <a:ln>
            <a:noFill/>
          </a:ln>
        </p:spPr>
      </p:sp>
      <p:sp>
        <p:nvSpPr>
          <p:cNvPr id="4" name="ring-outer"/>
          <p:cNvSpPr/>
          <p:nvPr/>
        </p:nvSpPr>
        <p:spPr>
          <a:xfrm>
            <a:off x="8382000" y="1905000"/>
            <a:ext cx="3048000" cy="3048000"/>
          </a:xfrm>
          <a:prstGeom prst="ellipse">
            <a:avLst/>
          </a:prstGeom>
          <a:noFill/>
          <a:ln w="25400">
            <a:solidFill>
              <a:srgbClr val="4FC3F7">
                <a:alpha val="40000"/>
              </a:srgbClr>
            </a:solidFill>
          </a:ln>
        </p:spPr>
      </p:sp>
      <p:sp>
        <p:nvSpPr>
          <p:cNvPr id="5" name="ring-mid"/>
          <p:cNvSpPr/>
          <p:nvPr/>
        </p:nvSpPr>
        <p:spPr>
          <a:xfrm>
            <a:off x="8890000" y="2413000"/>
            <a:ext cx="2032000" cy="2032000"/>
          </a:xfrm>
          <a:prstGeom prst="ellipse">
            <a:avLst/>
          </a:prstGeom>
          <a:noFill/>
          <a:ln w="25400">
            <a:solidFill>
              <a:srgbClr val="4CAF50">
                <a:alpha val="50196"/>
              </a:srgbClr>
            </a:solidFill>
          </a:ln>
        </p:spPr>
      </p:sp>
      <p:sp>
        <p:nvSpPr>
          <p:cNvPr id="6" name="ring-core"/>
          <p:cNvSpPr/>
          <p:nvPr/>
        </p:nvSpPr>
        <p:spPr>
          <a:xfrm>
            <a:off x="9461500" y="2984500"/>
            <a:ext cx="889000" cy="8890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</p:sp>
      <p:sp>
        <p:nvSpPr>
          <p:cNvPr id="7" name="kicker"/>
          <p:cNvSpPr txBox="1"/>
          <p:nvPr/>
        </p:nvSpPr>
        <p:spPr>
          <a:xfrm>
            <a:off x="762000" y="711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kern="0" spc="300" noProof="1">
                <a:solidFill>
                  <a:srgbClr val="4CAF50"/>
                </a:solidFill>
                <a:latin typeface="MiSans" charset="-122"/>
                <a:ea typeface="MiSans" charset="-122"/>
              </a:rPr>
              <a:t>AMD AI DEVMASTER 2026 · TRACK 2</a:t>
            </a:r>
            <a:endParaRPr lang="en-US" sz="1300" noProof="1"/>
          </a:p>
        </p:txBody>
      </p:sp>
      <p:sp>
        <p:nvSpPr>
          <p:cNvPr id="8" name="title"/>
          <p:cNvSpPr txBox="1"/>
          <p:nvPr/>
        </p:nvSpPr>
        <p:spPr>
          <a:xfrm>
            <a:off x="711200" y="1905000"/>
            <a:ext cx="7112000" cy="1143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4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XiangLens</a:t>
            </a:r>
            <a:endParaRPr lang="en-US" sz="6400" noProof="1"/>
          </a:p>
        </p:txBody>
      </p:sp>
      <p:sp>
        <p:nvSpPr>
          <p:cNvPr id="9" name="tagline"/>
          <p:cNvSpPr txBox="1"/>
          <p:nvPr/>
        </p:nvSpPr>
        <p:spPr>
          <a:xfrm>
            <a:off x="762000" y="3149600"/>
            <a:ext cx="7112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A private, cross-context profile-image Agent</a:t>
            </a:r>
            <a:endParaRPr lang="en-US" sz="2000" noProof="1"/>
          </a:p>
        </p:txBody>
      </p:sp>
      <p:sp>
        <p:nvSpPr>
          <p:cNvPr id="10" name="rule"/>
          <p:cNvSpPr/>
          <p:nvPr/>
        </p:nvSpPr>
        <p:spPr>
          <a:xfrm>
            <a:off x="762000" y="3937000"/>
            <a:ext cx="3048000" cy="25400"/>
          </a:xfrm>
          <a:prstGeom prst="rect">
            <a:avLst/>
          </a:prstGeom>
          <a:solidFill>
            <a:srgbClr val="4CAF50"/>
          </a:solidFill>
          <a:ln>
            <a:noFill/>
          </a:ln>
        </p:spPr>
      </p:sp>
      <p:sp>
        <p:nvSpPr>
          <p:cNvPr id="11" name="pillars"/>
          <p:cNvSpPr txBox="1"/>
          <p:nvPr/>
        </p:nvSpPr>
        <p:spPr>
          <a:xfrm>
            <a:off x="762000" y="4267200"/>
            <a:ext cx="7874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4CAF50"/>
                </a:solidFill>
                <a:latin typeface="MiSans" charset="-122"/>
                <a:ea typeface="MiSans" charset="-122"/>
              </a:rPr>
              <a:t>Goal-relative</a:t>
            </a:r>
            <a:r>
              <a:rPr lang="en-US" sz="16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  ·  </a:t>
            </a:r>
            <a:r>
              <a:rPr lang="en-US" sz="1600" noProof="1">
                <a:solidFill>
                  <a:srgbClr val="4FC3F7"/>
                </a:solidFill>
                <a:latin typeface="MiSans" charset="-122"/>
                <a:ea typeface="MiSans" charset="-122"/>
              </a:rPr>
              <a:t>Source-backed</a:t>
            </a:r>
            <a:r>
              <a:rPr lang="en-US" sz="16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  ·  </a:t>
            </a:r>
            <a:r>
              <a:rPr lang="en-US" sz="1600" noProof="1">
                <a:solidFill>
                  <a:srgbClr val="FFA726"/>
                </a:solidFill>
                <a:latin typeface="MiSans" charset="-122"/>
                <a:ea typeface="MiSans" charset="-122"/>
              </a:rPr>
              <a:t>User-controlled</a:t>
            </a:r>
            <a:endParaRPr lang="en-US" sz="1600" noProof="1"/>
          </a:p>
        </p:txBody>
      </p:sp>
      <p:sp>
        <p:nvSpPr>
          <p:cNvPr id="12" name="scope"/>
          <p:cNvSpPr txBox="1"/>
          <p:nvPr/>
        </p:nvSpPr>
        <p:spPr>
          <a:xfrm>
            <a:off x="762000" y="4978400"/>
            <a:ext cx="787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Da Le</a:t>
            </a:r>
            <a:endParaRPr lang="en-US" sz="1400" noProof="1"/>
          </a:p>
        </p:txBody>
      </p:sp>
      <p:sp>
        <p:nvSpPr>
          <p:cNvPr id="13" name="stack"/>
          <p:cNvSpPr txBox="1"/>
          <p:nvPr/>
        </p:nvSpPr>
        <p:spPr>
          <a:xfrm>
            <a:off x="762000" y="6146800"/>
            <a:ext cx="787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llama.cpp · LangGraph · Milvus Lite · AMD Radeon / ROCm</a:t>
            </a:r>
            <a:endParaRPr lang="en-US" sz="1200" noProof="1"/>
          </a:p>
        </p:txBody>
      </p:sp>
      <p:sp>
        <p:nvSpPr>
          <p:cNvPr id="14" name="repo"/>
          <p:cNvSpPr txBox="1"/>
          <p:nvPr/>
        </p:nvSpPr>
        <p:spPr>
          <a:xfrm>
            <a:off x="762000" y="6451600"/>
            <a:ext cx="787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github.com/ld0574/Radeon-hackathon-2026-07</a:t>
            </a:r>
            <a:endParaRPr lang="en-US" sz="10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-tr"/>
          <p:cNvSpPr/>
          <p:nvPr/>
        </p:nvSpPr>
        <p:spPr>
          <a:xfrm>
            <a:off x="8128000" y="-2286000"/>
            <a:ext cx="6350000" cy="5080000"/>
          </a:xfrm>
          <a:prstGeom prst="ellipse">
            <a:avLst/>
          </a:prstGeom>
          <a:gradFill rotWithShape="1">
            <a:gsLst>
              <a:gs pos="0">
                <a:srgbClr val="1E4A5F">
                  <a:alpha val="50196"/>
                </a:srgbClr>
              </a:gs>
              <a:gs pos="100000">
                <a:srgbClr val="1E4A5F">
                  <a:alpha val="0"/>
                </a:srgbClr>
              </a:gs>
            </a:gsLst>
            <a:path path="circle"/>
          </a:gra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7620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kern="0" spc="300" noProof="1">
                <a:solidFill>
                  <a:srgbClr val="4CAF50"/>
                </a:solidFill>
                <a:latin typeface="MiSans" charset="-122"/>
                <a:ea typeface="MiSans" charset="-122"/>
              </a:rPr>
              <a:t>THE PROBLEM</a:t>
            </a:r>
            <a:endParaRPr lang="en-US" sz="13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8128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Profile images are small. Their risks are not.</a:t>
            </a:r>
            <a:endParaRPr lang="en-US" sz="3200" noProof="1"/>
          </a:p>
        </p:txBody>
      </p:sp>
      <p:sp>
        <p:nvSpPr>
          <p:cNvPr id="5" name="subtitle"/>
          <p:cNvSpPr txBox="1"/>
          <p:nvPr/>
        </p:nvSpPr>
        <p:spPr>
          <a:xfrm>
            <a:off x="762000" y="14478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One avatar is reused across professional, open-source, social, and cross-cultural contexts</a:t>
            </a:r>
            <a:endParaRPr lang="en-US" sz="1500" noProof="1"/>
          </a:p>
        </p:txBody>
      </p:sp>
      <p:sp>
        <p:nvSpPr>
          <p:cNvPr id="6" name="rule"/>
          <p:cNvSpPr/>
          <p:nvPr/>
        </p:nvSpPr>
        <p:spPr>
          <a:xfrm>
            <a:off x="762000" y="1879600"/>
            <a:ext cx="10668000" cy="12700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</p:sp>
      <p:sp>
        <p:nvSpPr>
          <p:cNvPr id="7" name="dim1-marker"/>
          <p:cNvSpPr/>
          <p:nvPr/>
        </p:nvSpPr>
        <p:spPr>
          <a:xfrm>
            <a:off x="762000" y="2311400"/>
            <a:ext cx="76200" cy="50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</p:sp>
      <p:sp>
        <p:nvSpPr>
          <p:cNvPr id="8" name="dim1"/>
          <p:cNvSpPr txBox="1"/>
          <p:nvPr/>
        </p:nvSpPr>
        <p:spPr>
          <a:xfrm>
            <a:off x="1041400" y="2286000"/>
            <a:ext cx="4572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Clarity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2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Small-size legibility and crop resilience</a:t>
            </a:r>
            <a:endParaRPr lang="en-US" sz="1600" noProof="1"/>
          </a:p>
        </p:txBody>
      </p:sp>
      <p:sp>
        <p:nvSpPr>
          <p:cNvPr id="9" name="dim2-marker"/>
          <p:cNvSpPr/>
          <p:nvPr/>
        </p:nvSpPr>
        <p:spPr>
          <a:xfrm>
            <a:off x="762000" y="3149600"/>
            <a:ext cx="76200" cy="508000"/>
          </a:xfrm>
          <a:prstGeom prst="rect">
            <a:avLst/>
          </a:prstGeom>
          <a:solidFill>
            <a:srgbClr val="EF5350"/>
          </a:solidFill>
          <a:ln>
            <a:noFill/>
          </a:ln>
        </p:spPr>
      </p:sp>
      <p:sp>
        <p:nvSpPr>
          <p:cNvPr id="10" name="dim2"/>
          <p:cNvSpPr txBox="1"/>
          <p:nvPr/>
        </p:nvSpPr>
        <p:spPr>
          <a:xfrm>
            <a:off x="1041400" y="3124200"/>
            <a:ext cx="4572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Privacy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2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Embedded metadata, visible QR codes, identifiers</a:t>
            </a:r>
            <a:endParaRPr lang="en-US" sz="1600" noProof="1"/>
          </a:p>
        </p:txBody>
      </p:sp>
      <p:sp>
        <p:nvSpPr>
          <p:cNvPr id="11" name="dim3-marker"/>
          <p:cNvSpPr/>
          <p:nvPr/>
        </p:nvSpPr>
        <p:spPr>
          <a:xfrm>
            <a:off x="762000" y="3987800"/>
            <a:ext cx="76200" cy="508000"/>
          </a:xfrm>
          <a:prstGeom prst="rect">
            <a:avLst/>
          </a:prstGeom>
          <a:solidFill>
            <a:srgbClr val="FFA726"/>
          </a:solidFill>
          <a:ln>
            <a:noFill/>
          </a:ln>
        </p:spPr>
      </p:sp>
      <p:sp>
        <p:nvSpPr>
          <p:cNvPr id="12" name="dim3"/>
          <p:cNvSpPr txBox="1"/>
          <p:nvPr/>
        </p:nvSpPr>
        <p:spPr>
          <a:xfrm>
            <a:off x="1041400" y="3962400"/>
            <a:ext cx="4572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Provenance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2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Copyright, ownership, and licensing uncertainty</a:t>
            </a:r>
            <a:endParaRPr lang="en-US" sz="1600" noProof="1"/>
          </a:p>
        </p:txBody>
      </p:sp>
      <p:sp>
        <p:nvSpPr>
          <p:cNvPr id="13" name="dim4-marker"/>
          <p:cNvSpPr/>
          <p:nvPr/>
        </p:nvSpPr>
        <p:spPr>
          <a:xfrm>
            <a:off x="762000" y="4826000"/>
            <a:ext cx="76200" cy="50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</p:sp>
      <p:sp>
        <p:nvSpPr>
          <p:cNvPr id="14" name="dim4"/>
          <p:cNvSpPr txBox="1"/>
          <p:nvPr/>
        </p:nvSpPr>
        <p:spPr>
          <a:xfrm>
            <a:off x="1041400" y="4800600"/>
            <a:ext cx="4572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Context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2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The same image reads differently to each audience</a:t>
            </a:r>
            <a:endParaRPr lang="en-US" sz="1600" noProof="1"/>
          </a:p>
        </p:txBody>
      </p:sp>
      <p:sp>
        <p:nvSpPr>
          <p:cNvPr id="15" name="panel"/>
          <p:cNvSpPr/>
          <p:nvPr/>
        </p:nvSpPr>
        <p:spPr>
          <a:xfrm>
            <a:off x="6350000" y="2286000"/>
            <a:ext cx="5080000" cy="3098800"/>
          </a:xfrm>
          <a:prstGeom prst="rect">
            <a:avLst/>
          </a:prstGeom>
          <a:solidFill>
            <a:srgbClr val="15222F"/>
          </a:solidFill>
          <a:ln w="12700">
            <a:solidFill>
              <a:srgbClr val="4CAF50">
                <a:alpha val="34902"/>
              </a:srgbClr>
            </a:solidFill>
          </a:ln>
        </p:spPr>
      </p:sp>
      <p:sp>
        <p:nvSpPr>
          <p:cNvPr id="16" name="panel-title"/>
          <p:cNvSpPr txBox="1"/>
          <p:nvPr/>
        </p:nvSpPr>
        <p:spPr>
          <a:xfrm>
            <a:off x="6654800" y="2540000"/>
            <a:ext cx="4470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4CAF50"/>
                </a:solidFill>
                <a:latin typeface="MiSans" charset="-122"/>
                <a:ea typeface="MiSans" charset="-122"/>
              </a:rPr>
              <a:t>The XiangLens answer</a:t>
            </a:r>
            <a:endParaRPr lang="en-US" sz="1500" noProof="1"/>
          </a:p>
        </p:txBody>
      </p:sp>
      <p:sp>
        <p:nvSpPr>
          <p:cNvPr id="17" name="panel-body"/>
          <p:cNvSpPr txBox="1"/>
          <p:nvPr/>
        </p:nvSpPr>
        <p:spPr>
          <a:xfrm>
            <a:off x="6654800" y="2971800"/>
            <a:ext cx="4470400" cy="223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3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Goal-relative review</a:t>
            </a:r>
            <a:r>
              <a:rPr lang="en-US" sz="13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 — measured against your stated goal and audience, never personality or identity inference.</a:t>
            </a:r>
            <a:endParaRPr lang="en-US" sz="1300" noProof="1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3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Local by default</a:t>
            </a:r>
            <a:r>
              <a:rPr lang="en-US" sz="13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 — inspection and inference run on your own GPU.</a:t>
            </a:r>
            <a:endParaRPr lang="en-US" sz="1300" noProof="1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3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Evidence-backed</a:t>
            </a:r>
            <a:r>
              <a:rPr lang="en-US" sz="13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 — every recommendation links the sources used.</a:t>
            </a:r>
            <a:endParaRPr lang="en-US" sz="1300" noProof="1"/>
          </a:p>
        </p:txBody>
      </p:sp>
      <p:sp>
        <p:nvSpPr>
          <p:cNvPr id="18" name="footer"/>
          <p:cNvSpPr txBox="1"/>
          <p:nvPr/>
        </p:nvSpPr>
        <p:spPr>
          <a:xfrm>
            <a:off x="762000" y="6451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XiangLens · AMD AI DevMaster 2026 · Track 2</a:t>
            </a:r>
            <a:endParaRPr lang="en-US" sz="1000" noProof="1"/>
          </a:p>
        </p:txBody>
      </p:sp>
      <p:sp>
        <p:nvSpPr>
          <p:cNvPr id="19" name="pagenum"/>
          <p:cNvSpPr txBox="1"/>
          <p:nvPr/>
        </p:nvSpPr>
        <p:spPr>
          <a:xfrm>
            <a:off x="10871200" y="64516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02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06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kern="0" spc="300" noProof="1">
                <a:solidFill>
                  <a:srgbClr val="4CAF50"/>
                </a:solidFill>
                <a:latin typeface="MiSans" charset="-122"/>
                <a:ea typeface="MiSans" charset="-122"/>
              </a:rPr>
              <a:t>THE PRODUCT</a:t>
            </a:r>
            <a:endParaRPr lang="en-US" sz="13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890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The interface makes the Agent workflow inspectable</a:t>
            </a:r>
            <a:endParaRPr lang="en-US" sz="2600" noProof="1"/>
          </a:p>
        </p:txBody>
      </p:sp>
      <p:sp>
        <p:nvSpPr>
          <p:cNvPr id="4" name="zone-legend"/>
          <p:cNvSpPr txBox="1"/>
          <p:nvPr/>
        </p:nvSpPr>
        <p:spPr>
          <a:xfrm>
            <a:off x="762000" y="12192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4FC3F7"/>
                </a:solidFill>
                <a:latin typeface="MiSans" charset="-122"/>
                <a:ea typeface="MiSans" charset="-122"/>
              </a:rPr>
              <a:t>01 · Intent</a:t>
            </a:r>
            <a:r>
              <a:rPr lang="en-US" sz="12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  context, audience, signals   </a:t>
            </a:r>
            <a:r>
              <a:rPr lang="en-US" sz="1200" b="1" noProof="1">
                <a:solidFill>
                  <a:srgbClr val="4CAF50"/>
                </a:solidFill>
                <a:latin typeface="MiSans" charset="-122"/>
                <a:ea typeface="MiSans" charset="-122"/>
              </a:rPr>
              <a:t>02 · Result</a:t>
            </a:r>
            <a:r>
              <a:rPr lang="en-US" sz="12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  five-dimension rubric   </a:t>
            </a:r>
            <a:r>
              <a:rPr lang="en-US" sz="1200" b="1" noProof="1">
                <a:solidFill>
                  <a:srgbClr val="FFA726"/>
                </a:solidFill>
                <a:latin typeface="MiSans" charset="-122"/>
                <a:ea typeface="MiSans" charset="-122"/>
              </a:rPr>
              <a:t>03 · Trace</a:t>
            </a:r>
            <a:r>
              <a:rPr lang="en-US" sz="12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  bounded plan + node timings</a:t>
            </a:r>
            <a:endParaRPr lang="en-US" sz="1200" noProof="1"/>
          </a:p>
        </p:txBody>
      </p:sp>
      <p:pic>
        <p:nvPicPr>
          <p:cNvPr id="5" name="ui-shot"/>
          <p:cNvPicPr/>
          <p:nvPr/>
        </p:nvPicPr>
        <p:blipFill>
          <a:blip r:embed="rId1"/>
          <a:srcRect t="3005" b="3005"/>
          <a:stretch>
            <a:fillRect/>
          </a:stretch>
        </p:blipFill>
        <p:spPr>
          <a:xfrm>
            <a:off x="889000" y="1574800"/>
            <a:ext cx="10414000" cy="5054600"/>
          </a:xfrm>
          <a:prstGeom prst="rect">
            <a:avLst/>
          </a:prstGeom>
          <a:ln>
            <a:noFill/>
          </a:ln>
        </p:spPr>
      </p:pic>
      <p:sp>
        <p:nvSpPr>
          <p:cNvPr id="6" name="ui-shot-border"/>
          <p:cNvSpPr/>
          <p:nvPr/>
        </p:nvSpPr>
        <p:spPr>
          <a:xfrm>
            <a:off x="889000" y="1574800"/>
            <a:ext cx="10414000" cy="5054600"/>
          </a:xfrm>
          <a:prstGeom prst="rect">
            <a:avLst/>
          </a:prstGeom>
          <a:noFill/>
          <a:ln w="12700">
            <a:solidFill>
              <a:srgbClr val="FFFFFF">
                <a:alpha val="14902"/>
              </a:srgbClr>
            </a:solidFill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-tr"/>
          <p:cNvSpPr/>
          <p:nvPr/>
        </p:nvSpPr>
        <p:spPr>
          <a:xfrm>
            <a:off x="8128000" y="-2286000"/>
            <a:ext cx="6350000" cy="5080000"/>
          </a:xfrm>
          <a:prstGeom prst="ellipse">
            <a:avLst/>
          </a:prstGeom>
          <a:gradFill rotWithShape="1">
            <a:gsLst>
              <a:gs pos="0">
                <a:srgbClr val="1E4A5F">
                  <a:alpha val="50196"/>
                </a:srgbClr>
              </a:gs>
              <a:gs pos="100000">
                <a:srgbClr val="1E4A5F">
                  <a:alpha val="0"/>
                </a:srgbClr>
              </a:gs>
            </a:gsLst>
            <a:path path="circle"/>
          </a:gra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7620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kern="0" spc="300" noProof="1">
                <a:solidFill>
                  <a:srgbClr val="4CAF50"/>
                </a:solidFill>
                <a:latin typeface="MiSans" charset="-122"/>
                <a:ea typeface="MiSans" charset="-122"/>
              </a:rPr>
              <a:t>WHY AN AGENT</a:t>
            </a:r>
            <a:endParaRPr lang="en-US" sz="13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8128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One workflow owns every decision around the model</a:t>
            </a:r>
            <a:endParaRPr lang="en-US" sz="3200" noProof="1"/>
          </a:p>
        </p:txBody>
      </p:sp>
      <p:sp>
        <p:nvSpPr>
          <p:cNvPr id="5" name="subtitle"/>
          <p:cNvSpPr txBox="1"/>
          <p:nvPr/>
        </p:nvSpPr>
        <p:spPr>
          <a:xfrm>
            <a:off x="762000" y="14478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A single model call cannot safely own all of these decisions — so the graph does</a:t>
            </a:r>
            <a:endParaRPr lang="en-US" sz="1500" noProof="1"/>
          </a:p>
        </p:txBody>
      </p:sp>
      <p:sp>
        <p:nvSpPr>
          <p:cNvPr id="6" name="rule"/>
          <p:cNvSpPr/>
          <p:nvPr/>
        </p:nvSpPr>
        <p:spPr>
          <a:xfrm>
            <a:off x="762000" y="1879600"/>
            <a:ext cx="10668000" cy="12700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</p:sp>
      <p:sp>
        <p:nvSpPr>
          <p:cNvPr id="7" name="d1"/>
          <p:cNvSpPr txBox="1"/>
          <p:nvPr/>
        </p:nvSpPr>
        <p:spPr>
          <a:xfrm>
            <a:off x="762000" y="2184400"/>
            <a:ext cx="3429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Policy routing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11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Sensitive inference blocked at the gate</a:t>
            </a:r>
            <a:endParaRPr lang="en-US" sz="1600" noProof="1"/>
          </a:p>
        </p:txBody>
      </p:sp>
      <p:sp>
        <p:nvSpPr>
          <p:cNvPr id="8" name="d2"/>
          <p:cNvSpPr txBox="1"/>
          <p:nvPr/>
        </p:nvSpPr>
        <p:spPr>
          <a:xfrm>
            <a:off x="4381500" y="2184400"/>
            <a:ext cx="3429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Deterministic inspection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11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EXIF, QR, crop and size before the VLM</a:t>
            </a:r>
            <a:endParaRPr lang="en-US" sz="1600" noProof="1"/>
          </a:p>
        </p:txBody>
      </p:sp>
      <p:sp>
        <p:nvSpPr>
          <p:cNvPr id="9" name="d3"/>
          <p:cNvSpPr txBox="1"/>
          <p:nvPr/>
        </p:nvSpPr>
        <p:spPr>
          <a:xfrm>
            <a:off x="8001000" y="2184400"/>
            <a:ext cx="3429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Bounded observation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11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Visible facts and uncertainty only</a:t>
            </a:r>
            <a:endParaRPr lang="en-US" sz="1600" noProof="1"/>
          </a:p>
        </p:txBody>
      </p:sp>
      <p:sp>
        <p:nvSpPr>
          <p:cNvPr id="10" name="d4"/>
          <p:cNvSpPr txBox="1"/>
          <p:nvPr/>
        </p:nvSpPr>
        <p:spPr>
          <a:xfrm>
            <a:off x="762000" y="3048000"/>
            <a:ext cx="3429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Filtered retrieval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11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Top-K cards from enabled Lens Packs</a:t>
            </a:r>
            <a:endParaRPr lang="en-US" sz="1600" noProof="1"/>
          </a:p>
        </p:txBody>
      </p:sp>
      <p:sp>
        <p:nvSpPr>
          <p:cNvPr id="11" name="d5"/>
          <p:cNvSpPr txBox="1"/>
          <p:nvPr/>
        </p:nvSpPr>
        <p:spPr>
          <a:xfrm>
            <a:off x="4381500" y="3048000"/>
            <a:ext cx="3429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Transparent comparison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11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One five-dimension rubric for 2–4 images</a:t>
            </a:r>
            <a:endParaRPr lang="en-US" sz="1600" noProof="1"/>
          </a:p>
        </p:txBody>
      </p:sp>
      <p:sp>
        <p:nvSpPr>
          <p:cNvPr id="12" name="d6"/>
          <p:cNvSpPr txBox="1"/>
          <p:nvPr/>
        </p:nvSpPr>
        <p:spPr>
          <a:xfrm>
            <a:off x="8001000" y="3048000"/>
            <a:ext cx="3429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Consent + citations in code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11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Model proposes; the application writes and renders</a:t>
            </a:r>
            <a:endParaRPr lang="en-US" sz="1600" noProof="1"/>
          </a:p>
        </p:txBody>
      </p:sp>
      <p:sp>
        <p:nvSpPr>
          <p:cNvPr id="13" name="chain-label"/>
          <p:cNvSpPr txBox="1"/>
          <p:nvPr/>
        </p:nvSpPr>
        <p:spPr>
          <a:xfrm>
            <a:off x="762000" y="4064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4FC3F7"/>
                </a:solidFill>
                <a:latin typeface="MiSans" charset="-122"/>
                <a:ea typeface="MiSans" charset="-122"/>
              </a:rPr>
              <a:t>The bounded path — every node emits a timed SSE trace</a:t>
            </a:r>
            <a:endParaRPr lang="en-US" sz="1200" noProof="1"/>
          </a:p>
        </p:txBody>
      </p:sp>
      <p:sp>
        <p:nvSpPr>
          <p:cNvPr id="14" name="node1"/>
          <p:cNvSpPr/>
          <p:nvPr/>
        </p:nvSpPr>
        <p:spPr>
          <a:xfrm>
            <a:off x="762000" y="4419600"/>
            <a:ext cx="1041400" cy="508000"/>
          </a:xfrm>
          <a:prstGeom prst="rect">
            <a:avLst/>
          </a:prstGeom>
          <a:solidFill>
            <a:srgbClr val="15222F"/>
          </a:solidFill>
          <a:ln w="12700">
            <a:solidFill>
              <a:srgbClr val="EF5350"/>
            </a:solidFill>
          </a:ln>
        </p:spPr>
      </p:sp>
      <p:sp>
        <p:nvSpPr>
          <p:cNvPr id="15" name="node1-t"/>
          <p:cNvSpPr txBox="1"/>
          <p:nvPr/>
        </p:nvSpPr>
        <p:spPr>
          <a:xfrm>
            <a:off x="762000" y="4419600"/>
            <a:ext cx="1041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Policy</a:t>
            </a:r>
            <a:endParaRPr lang="en-US" sz="1100" noProof="1"/>
          </a:p>
        </p:txBody>
      </p:sp>
      <p:sp>
        <p:nvSpPr>
          <p:cNvPr id="16" name="ar1"/>
          <p:cNvSpPr/>
          <p:nvPr/>
        </p:nvSpPr>
        <p:spPr>
          <a:xfrm>
            <a:off x="1828800" y="4648200"/>
            <a:ext cx="127000" cy="508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5E7183"/>
          </a:solidFill>
          <a:ln>
            <a:noFill/>
          </a:ln>
        </p:spPr>
      </p:sp>
      <p:sp>
        <p:nvSpPr>
          <p:cNvPr id="17" name="node2"/>
          <p:cNvSpPr/>
          <p:nvPr/>
        </p:nvSpPr>
        <p:spPr>
          <a:xfrm>
            <a:off x="1993900" y="4419600"/>
            <a:ext cx="1041400" cy="508000"/>
          </a:xfrm>
          <a:prstGeom prst="rect">
            <a:avLst/>
          </a:prstGeom>
          <a:solidFill>
            <a:srgbClr val="15222F"/>
          </a:solidFill>
          <a:ln w="12700">
            <a:solidFill>
              <a:srgbClr val="FFFFFF">
                <a:alpha val="20000"/>
              </a:srgbClr>
            </a:solidFill>
          </a:ln>
        </p:spPr>
      </p:sp>
      <p:sp>
        <p:nvSpPr>
          <p:cNvPr id="18" name="node2-t"/>
          <p:cNvSpPr txBox="1"/>
          <p:nvPr/>
        </p:nvSpPr>
        <p:spPr>
          <a:xfrm>
            <a:off x="1993900" y="4419600"/>
            <a:ext cx="1041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Recall</a:t>
            </a:r>
            <a:endParaRPr lang="en-US" sz="1100" noProof="1"/>
          </a:p>
        </p:txBody>
      </p:sp>
      <p:sp>
        <p:nvSpPr>
          <p:cNvPr id="19" name="ar2"/>
          <p:cNvSpPr/>
          <p:nvPr/>
        </p:nvSpPr>
        <p:spPr>
          <a:xfrm>
            <a:off x="3060700" y="4648200"/>
            <a:ext cx="127000" cy="508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5E7183"/>
          </a:solidFill>
          <a:ln>
            <a:noFill/>
          </a:ln>
        </p:spPr>
      </p:sp>
      <p:sp>
        <p:nvSpPr>
          <p:cNvPr id="20" name="node3"/>
          <p:cNvSpPr/>
          <p:nvPr/>
        </p:nvSpPr>
        <p:spPr>
          <a:xfrm>
            <a:off x="3225800" y="4419600"/>
            <a:ext cx="1041400" cy="508000"/>
          </a:xfrm>
          <a:prstGeom prst="rect">
            <a:avLst/>
          </a:prstGeom>
          <a:solidFill>
            <a:srgbClr val="15222F"/>
          </a:solidFill>
          <a:ln w="12700">
            <a:solidFill>
              <a:srgbClr val="FFFFFF">
                <a:alpha val="20000"/>
              </a:srgbClr>
            </a:solidFill>
          </a:ln>
        </p:spPr>
      </p:sp>
      <p:sp>
        <p:nvSpPr>
          <p:cNvPr id="21" name="node3-t"/>
          <p:cNvSpPr txBox="1"/>
          <p:nvPr/>
        </p:nvSpPr>
        <p:spPr>
          <a:xfrm>
            <a:off x="3225800" y="4419600"/>
            <a:ext cx="1041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Inspect</a:t>
            </a:r>
            <a:endParaRPr lang="en-US" sz="1100" noProof="1"/>
          </a:p>
        </p:txBody>
      </p:sp>
      <p:sp>
        <p:nvSpPr>
          <p:cNvPr id="22" name="ar3"/>
          <p:cNvSpPr/>
          <p:nvPr/>
        </p:nvSpPr>
        <p:spPr>
          <a:xfrm>
            <a:off x="4292600" y="4648200"/>
            <a:ext cx="127000" cy="508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5E7183"/>
          </a:solidFill>
          <a:ln>
            <a:noFill/>
          </a:ln>
        </p:spPr>
      </p:sp>
      <p:sp>
        <p:nvSpPr>
          <p:cNvPr id="23" name="node4"/>
          <p:cNvSpPr/>
          <p:nvPr/>
        </p:nvSpPr>
        <p:spPr>
          <a:xfrm>
            <a:off x="4457700" y="4419600"/>
            <a:ext cx="1041400" cy="508000"/>
          </a:xfrm>
          <a:prstGeom prst="rect">
            <a:avLst/>
          </a:prstGeom>
          <a:solidFill>
            <a:srgbClr val="15222F"/>
          </a:solidFill>
          <a:ln w="12700">
            <a:solidFill>
              <a:srgbClr val="4FC3F7"/>
            </a:solidFill>
          </a:ln>
        </p:spPr>
      </p:sp>
      <p:sp>
        <p:nvSpPr>
          <p:cNvPr id="24" name="node4-t"/>
          <p:cNvSpPr txBox="1"/>
          <p:nvPr/>
        </p:nvSpPr>
        <p:spPr>
          <a:xfrm>
            <a:off x="4457700" y="4419600"/>
            <a:ext cx="1041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Observe</a:t>
            </a:r>
            <a:endParaRPr lang="en-US" sz="1100" noProof="1"/>
          </a:p>
        </p:txBody>
      </p:sp>
      <p:sp>
        <p:nvSpPr>
          <p:cNvPr id="25" name="ar4"/>
          <p:cNvSpPr/>
          <p:nvPr/>
        </p:nvSpPr>
        <p:spPr>
          <a:xfrm>
            <a:off x="5524500" y="4648200"/>
            <a:ext cx="127000" cy="508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5E7183"/>
          </a:solidFill>
          <a:ln>
            <a:noFill/>
          </a:ln>
        </p:spPr>
      </p:sp>
      <p:sp>
        <p:nvSpPr>
          <p:cNvPr id="26" name="node5"/>
          <p:cNvSpPr/>
          <p:nvPr/>
        </p:nvSpPr>
        <p:spPr>
          <a:xfrm>
            <a:off x="5689600" y="4419600"/>
            <a:ext cx="1041400" cy="508000"/>
          </a:xfrm>
          <a:prstGeom prst="rect">
            <a:avLst/>
          </a:prstGeom>
          <a:solidFill>
            <a:srgbClr val="15222F"/>
          </a:solidFill>
          <a:ln w="12700">
            <a:solidFill>
              <a:srgbClr val="FFA726"/>
            </a:solidFill>
          </a:ln>
        </p:spPr>
      </p:sp>
      <p:sp>
        <p:nvSpPr>
          <p:cNvPr id="27" name="node5-t"/>
          <p:cNvSpPr txBox="1"/>
          <p:nvPr/>
        </p:nvSpPr>
        <p:spPr>
          <a:xfrm>
            <a:off x="5689600" y="4419600"/>
            <a:ext cx="1041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A726"/>
                </a:solidFill>
                <a:latin typeface="MiSans" charset="-122"/>
                <a:ea typeface="MiSans" charset="-122"/>
              </a:rPr>
              <a:t>Private Lens</a:t>
            </a:r>
            <a:endParaRPr lang="en-US" sz="1100" noProof="1"/>
          </a:p>
        </p:txBody>
      </p:sp>
      <p:sp>
        <p:nvSpPr>
          <p:cNvPr id="28" name="ar5"/>
          <p:cNvSpPr/>
          <p:nvPr/>
        </p:nvSpPr>
        <p:spPr>
          <a:xfrm>
            <a:off x="6756400" y="4648200"/>
            <a:ext cx="127000" cy="508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5E7183"/>
          </a:solidFill>
          <a:ln>
            <a:noFill/>
          </a:ln>
        </p:spPr>
      </p:sp>
      <p:sp>
        <p:nvSpPr>
          <p:cNvPr id="29" name="node6"/>
          <p:cNvSpPr/>
          <p:nvPr/>
        </p:nvSpPr>
        <p:spPr>
          <a:xfrm>
            <a:off x="6921500" y="4419600"/>
            <a:ext cx="1041400" cy="508000"/>
          </a:xfrm>
          <a:prstGeom prst="rect">
            <a:avLst/>
          </a:prstGeom>
          <a:solidFill>
            <a:srgbClr val="15222F"/>
          </a:solidFill>
          <a:ln w="12700">
            <a:solidFill>
              <a:srgbClr val="4CAF50"/>
            </a:solidFill>
          </a:ln>
        </p:spPr>
      </p:sp>
      <p:sp>
        <p:nvSpPr>
          <p:cNvPr id="30" name="node6-t"/>
          <p:cNvSpPr txBox="1"/>
          <p:nvPr/>
        </p:nvSpPr>
        <p:spPr>
          <a:xfrm>
            <a:off x="6921500" y="4419600"/>
            <a:ext cx="1041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RAG</a:t>
            </a:r>
            <a:endParaRPr lang="en-US" sz="1100" noProof="1"/>
          </a:p>
        </p:txBody>
      </p:sp>
      <p:sp>
        <p:nvSpPr>
          <p:cNvPr id="31" name="ar6"/>
          <p:cNvSpPr/>
          <p:nvPr/>
        </p:nvSpPr>
        <p:spPr>
          <a:xfrm>
            <a:off x="7988300" y="4648200"/>
            <a:ext cx="127000" cy="508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5E7183"/>
          </a:solidFill>
          <a:ln>
            <a:noFill/>
          </a:ln>
        </p:spPr>
      </p:sp>
      <p:sp>
        <p:nvSpPr>
          <p:cNvPr id="32" name="node7"/>
          <p:cNvSpPr/>
          <p:nvPr/>
        </p:nvSpPr>
        <p:spPr>
          <a:xfrm>
            <a:off x="8153400" y="4419600"/>
            <a:ext cx="1041400" cy="508000"/>
          </a:xfrm>
          <a:prstGeom prst="rect">
            <a:avLst/>
          </a:prstGeom>
          <a:solidFill>
            <a:srgbClr val="15222F"/>
          </a:solidFill>
          <a:ln w="12700">
            <a:solidFill>
              <a:srgbClr val="FFFFFF">
                <a:alpha val="20000"/>
              </a:srgbClr>
            </a:solidFill>
          </a:ln>
        </p:spPr>
      </p:sp>
      <p:sp>
        <p:nvSpPr>
          <p:cNvPr id="33" name="node7-t"/>
          <p:cNvSpPr txBox="1"/>
          <p:nvPr/>
        </p:nvSpPr>
        <p:spPr>
          <a:xfrm>
            <a:off x="8153400" y="4419600"/>
            <a:ext cx="1041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Compare</a:t>
            </a:r>
            <a:endParaRPr lang="en-US" sz="1100" noProof="1"/>
          </a:p>
        </p:txBody>
      </p:sp>
      <p:sp>
        <p:nvSpPr>
          <p:cNvPr id="34" name="ar7"/>
          <p:cNvSpPr/>
          <p:nvPr/>
        </p:nvSpPr>
        <p:spPr>
          <a:xfrm>
            <a:off x="9220200" y="4648200"/>
            <a:ext cx="127000" cy="508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5E7183"/>
          </a:solidFill>
          <a:ln>
            <a:noFill/>
          </a:ln>
        </p:spPr>
      </p:sp>
      <p:sp>
        <p:nvSpPr>
          <p:cNvPr id="35" name="node8"/>
          <p:cNvSpPr/>
          <p:nvPr/>
        </p:nvSpPr>
        <p:spPr>
          <a:xfrm>
            <a:off x="9385300" y="4419600"/>
            <a:ext cx="1041400" cy="508000"/>
          </a:xfrm>
          <a:prstGeom prst="rect">
            <a:avLst/>
          </a:prstGeom>
          <a:solidFill>
            <a:srgbClr val="15222F"/>
          </a:solidFill>
          <a:ln w="12700">
            <a:solidFill>
              <a:srgbClr val="9575CD"/>
            </a:solidFill>
          </a:ln>
        </p:spPr>
      </p:sp>
      <p:sp>
        <p:nvSpPr>
          <p:cNvPr id="36" name="node8-t"/>
          <p:cNvSpPr txBox="1"/>
          <p:nvPr/>
        </p:nvSpPr>
        <p:spPr>
          <a:xfrm>
            <a:off x="9385300" y="4419600"/>
            <a:ext cx="1041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Consent</a:t>
            </a:r>
            <a:endParaRPr lang="en-US" sz="1100" noProof="1"/>
          </a:p>
        </p:txBody>
      </p:sp>
      <p:sp>
        <p:nvSpPr>
          <p:cNvPr id="37" name="ar8"/>
          <p:cNvSpPr/>
          <p:nvPr/>
        </p:nvSpPr>
        <p:spPr>
          <a:xfrm>
            <a:off x="10452100" y="4648200"/>
            <a:ext cx="127000" cy="508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5E7183"/>
          </a:solidFill>
          <a:ln>
            <a:noFill/>
          </a:ln>
        </p:spPr>
      </p:sp>
      <p:sp>
        <p:nvSpPr>
          <p:cNvPr id="38" name="node9"/>
          <p:cNvSpPr/>
          <p:nvPr/>
        </p:nvSpPr>
        <p:spPr>
          <a:xfrm>
            <a:off x="10617200" y="4419600"/>
            <a:ext cx="1041400" cy="508000"/>
          </a:xfrm>
          <a:prstGeom prst="rect">
            <a:avLst/>
          </a:prstGeom>
          <a:solidFill>
            <a:srgbClr val="15222F"/>
          </a:solidFill>
          <a:ln w="12700">
            <a:solidFill>
              <a:srgbClr val="4CAF50"/>
            </a:solidFill>
          </a:ln>
        </p:spPr>
      </p:sp>
      <p:sp>
        <p:nvSpPr>
          <p:cNvPr id="39" name="node9-t"/>
          <p:cNvSpPr txBox="1"/>
          <p:nvPr/>
        </p:nvSpPr>
        <p:spPr>
          <a:xfrm>
            <a:off x="10617200" y="4419600"/>
            <a:ext cx="1041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Report</a:t>
            </a:r>
            <a:endParaRPr lang="en-US" sz="1100" noProof="1"/>
          </a:p>
        </p:txBody>
      </p:sp>
      <p:sp>
        <p:nvSpPr>
          <p:cNvPr id="40" name="chain-note"/>
          <p:cNvSpPr txBox="1"/>
          <p:nvPr/>
        </p:nvSpPr>
        <p:spPr>
          <a:xfrm>
            <a:off x="762000" y="51816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noProof="1">
                <a:solidFill>
                  <a:srgbClr val="EF5350"/>
                </a:solidFill>
                <a:latin typeface="MiSans" charset="-122"/>
                <a:ea typeface="MiSans" charset="-122"/>
              </a:rPr>
              <a:t>Sensitive branch:</a:t>
            </a:r>
            <a:r>
              <a:rPr lang="en-US" sz="12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 policy gate → blocked report, no inference performed.</a:t>
            </a:r>
            <a:endParaRPr lang="en-US" sz="1200" noProof="1"/>
          </a:p>
          <a:p>
            <a:pPr algn="l">
              <a:lnSpc>
                <a:spcPct val="160000"/>
              </a:lnSpc>
            </a:pPr>
            <a:r>
              <a:rPr lang="en-US" sz="1200" noProof="1">
                <a:solidFill>
                  <a:srgbClr val="4FC3F7"/>
                </a:solidFill>
                <a:latin typeface="MiSans" charset="-122"/>
                <a:ea typeface="MiSans" charset="-122"/>
              </a:rPr>
              <a:t>Follow-up branch:</a:t>
            </a:r>
            <a:r>
              <a:rPr lang="en-US" sz="12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 recall → reuse analysis → answer — vision, retrieval, and comparison are not repeated.</a:t>
            </a:r>
            <a:endParaRPr lang="en-US" sz="1200" noProof="1"/>
          </a:p>
        </p:txBody>
      </p:sp>
      <p:sp>
        <p:nvSpPr>
          <p:cNvPr id="41" name="footer"/>
          <p:cNvSpPr txBox="1"/>
          <p:nvPr/>
        </p:nvSpPr>
        <p:spPr>
          <a:xfrm>
            <a:off x="762000" y="6451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XiangLens · AMD AI DevMaster 2026 · Track 2</a:t>
            </a:r>
            <a:endParaRPr lang="en-US" sz="1000" noProof="1"/>
          </a:p>
        </p:txBody>
      </p:sp>
      <p:sp>
        <p:nvSpPr>
          <p:cNvPr id="42" name="pagenum"/>
          <p:cNvSpPr txBox="1"/>
          <p:nvPr/>
        </p:nvSpPr>
        <p:spPr>
          <a:xfrm>
            <a:off x="10871200" y="64516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04</a:t>
            </a:r>
            <a:endParaRPr lang="en-US" sz="10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rch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-tr"/>
          <p:cNvSpPr/>
          <p:nvPr/>
        </p:nvSpPr>
        <p:spPr>
          <a:xfrm>
            <a:off x="8128000" y="-2286000"/>
            <a:ext cx="6350000" cy="5080000"/>
          </a:xfrm>
          <a:prstGeom prst="ellipse">
            <a:avLst/>
          </a:prstGeom>
          <a:gradFill rotWithShape="1">
            <a:gsLst>
              <a:gs pos="0">
                <a:srgbClr val="1E4A5F">
                  <a:alpha val="50196"/>
                </a:srgbClr>
              </a:gs>
              <a:gs pos="100000">
                <a:srgbClr val="1E4A5F">
                  <a:alpha val="0"/>
                </a:srgbClr>
              </a:gs>
            </a:gsLst>
            <a:path path="circle"/>
          </a:gra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7620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kern="0" spc="300" noProof="1">
                <a:solidFill>
                  <a:srgbClr val="4CAF50"/>
                </a:solidFill>
                <a:latin typeface="MiSans" charset="-122"/>
                <a:ea typeface="MiSans" charset="-122"/>
              </a:rPr>
              <a:t>TRACK 2 REQUIREMENTS</a:t>
            </a:r>
            <a:endParaRPr lang="en-US" sz="13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8128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All five required capabilities, reviewable in one run</a:t>
            </a:r>
            <a:endParaRPr lang="en-US" sz="3200" noProof="1"/>
          </a:p>
        </p:txBody>
      </p:sp>
      <p:sp>
        <p:nvSpPr>
          <p:cNvPr id="5" name="subtitle"/>
          <p:cNvSpPr txBox="1"/>
          <p:nvPr/>
        </p:nvSpPr>
        <p:spPr>
          <a:xfrm>
            <a:off x="762000" y="14478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Each capability maps to a visible UI trace or a reproducible repository artifact</a:t>
            </a:r>
            <a:endParaRPr lang="en-US" sz="1500" noProof="1"/>
          </a:p>
        </p:txBody>
      </p:sp>
      <p:sp>
        <p:nvSpPr>
          <p:cNvPr id="6" name="rule"/>
          <p:cNvSpPr/>
          <p:nvPr/>
        </p:nvSpPr>
        <p:spPr>
          <a:xfrm>
            <a:off x="762000" y="1879600"/>
            <a:ext cx="10668000" cy="12700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</p:sp>
      <p:graphicFrame>
        <p:nvGraphicFramePr>
          <p:cNvPr id="7" name="caps"/>
          <p:cNvGraphicFramePr>
            <a:graphicFrameLocks noGrp="1"/>
          </p:cNvGraphicFramePr>
          <p:nvPr/>
        </p:nvGraphicFramePr>
        <p:xfrm>
          <a:off x="762000" y="2184400"/>
          <a:ext cx="10668000" cy="3759201"/>
        </p:xfrm>
        <a:graphic>
          <a:graphicData uri="http://schemas.openxmlformats.org/drawingml/2006/table">
            <a:tbl>
              <a:tblPr/>
              <a:tblGrid>
                <a:gridCol w="2560320"/>
                <a:gridCol w="4480560"/>
                <a:gridCol w="3627120"/>
              </a:tblGrid>
              <a:tr h="488696"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200" b="1" kern="0" spc="100" noProof="1">
                          <a:solidFill>
                            <a:srgbClr val="4CAF50"/>
                          </a:solidFill>
                          <a:latin typeface="Times New Roman" panose="02020703060505090304"/>
                          <a:ea typeface="Times New Roman" panose="02020703060505090304"/>
                        </a:rPr>
                        <a:t>CAPABILITY</a:t>
                      </a:r>
                      <a:endParaRPr lang="en-US" sz="1200" b="1" kern="0" spc="100" noProof="1">
                        <a:solidFill>
                          <a:srgbClr val="4CAF50"/>
                        </a:solidFill>
                        <a:latin typeface="Times New Roman" panose="02020703060505090304"/>
                        <a:ea typeface="Times New Roman" panose="0202070306050509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4CAF50">
                          <a:alpha val="4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200" b="1" kern="0" spc="100" noProof="1">
                          <a:solidFill>
                            <a:srgbClr val="4CAF50"/>
                          </a:solidFill>
                          <a:latin typeface="Times New Roman" panose="02020703060505090304"/>
                          <a:ea typeface="Times New Roman" panose="02020703060505090304"/>
                        </a:rPr>
                        <a:t>XIANGLENS IMPLEMENTATION</a:t>
                      </a:r>
                      <a:endParaRPr lang="en-US" sz="1200" b="1" kern="0" spc="100" noProof="1">
                        <a:solidFill>
                          <a:srgbClr val="4CAF50"/>
                        </a:solidFill>
                        <a:latin typeface="Times New Roman" panose="02020703060505090304"/>
                        <a:ea typeface="Times New Roman" panose="0202070306050509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4CAF50">
                          <a:alpha val="4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200" b="1" kern="0" spc="100" noProof="1">
                          <a:solidFill>
                            <a:srgbClr val="4CAF50"/>
                          </a:solidFill>
                          <a:latin typeface="Times New Roman" panose="02020703060505090304"/>
                          <a:ea typeface="Times New Roman" panose="02020703060505090304"/>
                        </a:rPr>
                        <a:t>REVIEWER EVIDENCE</a:t>
                      </a:r>
                      <a:endParaRPr lang="en-US" sz="1200" b="1" kern="0" spc="100" noProof="1">
                        <a:solidFill>
                          <a:srgbClr val="4CAF50"/>
                        </a:solidFill>
                        <a:latin typeface="Times New Roman" panose="02020703060505090304"/>
                        <a:ea typeface="Times New Roman" panose="0202070306050509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4CAF50">
                          <a:alpha val="4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54101"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 panose="02020703060505090304"/>
                          <a:ea typeface="Times New Roman" panose="02020703060505090304"/>
                        </a:rPr>
                        <a:t>Multi-step planning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Times New Roman" panose="02020703060505090304"/>
                        <a:ea typeface="Times New Roman" panose="0202070306050509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7843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200" noProof="1">
                          <a:solidFill>
                            <a:srgbClr val="9FB0BE"/>
                          </a:solidFill>
                          <a:latin typeface="Times New Roman" panose="02020703060505090304"/>
                          <a:ea typeface="Times New Roman" panose="02020703060505090304"/>
                        </a:rPr>
                        <a:t>Fixed nine-step plan with conditional policy routing</a:t>
                      </a:r>
                      <a:endParaRPr lang="en-US" sz="1200" noProof="1">
                        <a:solidFill>
                          <a:srgbClr val="9FB0BE"/>
                        </a:solidFill>
                        <a:latin typeface="Times New Roman" panose="02020703060505090304"/>
                        <a:ea typeface="Times New Roman" panose="0202070306050509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7843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200" noProof="1">
                          <a:solidFill>
                            <a:srgbClr val="9FB0BE"/>
                          </a:solidFill>
                          <a:latin typeface="Times New Roman" panose="02020703060505090304"/>
                          <a:ea typeface="Times New Roman" panose="02020703060505090304"/>
                        </a:rPr>
                        <a:t>Plan and node trace in the UI</a:t>
                      </a:r>
                      <a:endParaRPr lang="en-US" sz="1200" noProof="1">
                        <a:solidFill>
                          <a:srgbClr val="9FB0BE"/>
                        </a:solidFill>
                        <a:latin typeface="Times New Roman" panose="02020703060505090304"/>
                        <a:ea typeface="Times New Roman" panose="0202070306050509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7843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54101"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 panose="02020703060505090304"/>
                          <a:ea typeface="Times New Roman" panose="02020703060505090304"/>
                        </a:rPr>
                        <a:t>Tool calling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Times New Roman" panose="02020703060505090304"/>
                        <a:ea typeface="Times New Roman" panose="0202070306050509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7843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200" noProof="1">
                          <a:solidFill>
                            <a:srgbClr val="9FB0BE"/>
                          </a:solidFill>
                          <a:latin typeface="Times New Roman" panose="02020703060505090304"/>
                          <a:ea typeface="Times New Roman" panose="02020703060505090304"/>
                        </a:rPr>
                        <a:t>EXIF / QR / crop metrics, safe copy, private Lens mount</a:t>
                      </a:r>
                      <a:endParaRPr lang="en-US" sz="1200" noProof="1">
                        <a:solidFill>
                          <a:srgbClr val="9FB0BE"/>
                        </a:solidFill>
                        <a:latin typeface="Times New Roman" panose="02020703060505090304"/>
                        <a:ea typeface="Times New Roman" panose="0202070306050509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7843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200" noProof="1">
                          <a:solidFill>
                            <a:srgbClr val="9FB0BE"/>
                          </a:solidFill>
                          <a:latin typeface="Times New Roman" panose="02020703060505090304"/>
                          <a:ea typeface="Times New Roman" panose="02020703060505090304"/>
                        </a:rPr>
                        <a:t>Public trace lists each bounded tool</a:t>
                      </a:r>
                      <a:endParaRPr lang="en-US" sz="1200" noProof="1">
                        <a:solidFill>
                          <a:srgbClr val="9FB0BE"/>
                        </a:solidFill>
                        <a:latin typeface="Times New Roman" panose="02020703060505090304"/>
                        <a:ea typeface="Times New Roman" panose="0202070306050509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7843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54101"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 panose="02020703060505090304"/>
                          <a:ea typeface="Times New Roman" panose="02020703060505090304"/>
                        </a:rPr>
                        <a:t>Local RAG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Times New Roman" panose="02020703060505090304"/>
                        <a:ea typeface="Times New Roman" panose="0202070306050509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7843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200" noProof="1">
                          <a:solidFill>
                            <a:srgbClr val="9FB0BE"/>
                          </a:solidFill>
                          <a:latin typeface="Times New Roman" panose="02020703060505090304"/>
                          <a:ea typeface="Times New Roman" panose="02020703060505090304"/>
                        </a:rPr>
                        <a:t>Milvus Lite · four Lens Packs · Top-K with visible sources</a:t>
                      </a:r>
                      <a:endParaRPr lang="en-US" sz="1200" noProof="1">
                        <a:solidFill>
                          <a:srgbClr val="9FB0BE"/>
                        </a:solidFill>
                        <a:latin typeface="Times New Roman" panose="02020703060505090304"/>
                        <a:ea typeface="Times New Roman" panose="0202070306050509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7843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200" noProof="1">
                          <a:solidFill>
                            <a:srgbClr val="9FB0BE"/>
                          </a:solidFill>
                          <a:latin typeface="Times New Roman" panose="02020703060505090304"/>
                          <a:ea typeface="Times New Roman" panose="02020703060505090304"/>
                        </a:rPr>
                        <a:t>Retrieved Sources panel + smoke queries</a:t>
                      </a:r>
                      <a:endParaRPr lang="en-US" sz="1200" noProof="1">
                        <a:solidFill>
                          <a:srgbClr val="9FB0BE"/>
                        </a:solidFill>
                        <a:latin typeface="Times New Roman" panose="02020703060505090304"/>
                        <a:ea typeface="Times New Roman" panose="0202070306050509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7843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54101"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 panose="02020703060505090304"/>
                          <a:ea typeface="Times New Roman" panose="02020703060505090304"/>
                        </a:rPr>
                        <a:t>Local multi-turn memory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Times New Roman" panose="02020703060505090304"/>
                        <a:ea typeface="Times New Roman" panose="0202070306050509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7843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200" noProof="1">
                          <a:solidFill>
                            <a:srgbClr val="9FB0BE"/>
                          </a:solidFill>
                          <a:latin typeface="Times New Roman" panose="02020703060505090304"/>
                          <a:ea typeface="Times New Roman" panose="02020703060505090304"/>
                        </a:rPr>
                        <a:t>SQLite threads, recent-turn context, approved preferences</a:t>
                      </a:r>
                      <a:endParaRPr lang="en-US" sz="1200" noProof="1">
                        <a:solidFill>
                          <a:srgbClr val="9FB0BE"/>
                        </a:solidFill>
                        <a:latin typeface="Times New Roman" panose="02020703060505090304"/>
                        <a:ea typeface="Times New Roman" panose="0202070306050509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7843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200" noProof="1">
                          <a:solidFill>
                            <a:srgbClr val="9FB0BE"/>
                          </a:solidFill>
                          <a:latin typeface="Times New Roman" panose="02020703060505090304"/>
                          <a:ea typeface="Times New Roman" panose="02020703060505090304"/>
                        </a:rPr>
                        <a:t>Recall trace, approve / delete controls</a:t>
                      </a:r>
                      <a:endParaRPr lang="en-US" sz="1200" noProof="1">
                        <a:solidFill>
                          <a:srgbClr val="9FB0BE"/>
                        </a:solidFill>
                        <a:latin typeface="Times New Roman" panose="02020703060505090304"/>
                        <a:ea typeface="Times New Roman" panose="0202070306050509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7843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54101"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Times New Roman" panose="02020703060505090304"/>
                          <a:ea typeface="Times New Roman" panose="02020703060505090304"/>
                        </a:rPr>
                        <a:t>Permission &amp; privacy</a:t>
                      </a:r>
                      <a:endParaRPr lang="en-US" sz="1200" b="1" noProof="1">
                        <a:solidFill>
                          <a:srgbClr val="FFFFFF"/>
                        </a:solidFill>
                        <a:latin typeface="Times New Roman" panose="02020703060505090304"/>
                        <a:ea typeface="Times New Roman" panose="0202070306050509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7843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200" noProof="1">
                          <a:solidFill>
                            <a:srgbClr val="9FB0BE"/>
                          </a:solidFill>
                          <a:latin typeface="Times New Roman" panose="02020703060505090304"/>
                          <a:ea typeface="Times New Roman" panose="02020703060505090304"/>
                        </a:rPr>
                        <a:t>Policy gate, short-lived token, consent-first writes, Forget Me</a:t>
                      </a:r>
                      <a:endParaRPr lang="en-US" sz="1200" noProof="1">
                        <a:solidFill>
                          <a:srgbClr val="9FB0BE"/>
                        </a:solidFill>
                        <a:latin typeface="Times New Roman" panose="02020703060505090304"/>
                        <a:ea typeface="Times New Roman" panose="0202070306050509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7843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200" noProof="1">
                          <a:solidFill>
                            <a:srgbClr val="9FB0BE"/>
                          </a:solidFill>
                          <a:latin typeface="Times New Roman" panose="02020703060505090304"/>
                          <a:ea typeface="Times New Roman" panose="02020703060505090304"/>
                        </a:rPr>
                        <a:t>Blocked request, pending proposal, deletion API</a:t>
                      </a:r>
                      <a:endParaRPr lang="en-US" sz="1200" noProof="1">
                        <a:solidFill>
                          <a:srgbClr val="9FB0BE"/>
                        </a:solidFill>
                        <a:latin typeface="Times New Roman" panose="02020703060505090304"/>
                        <a:ea typeface="Times New Roman" panose="0202070306050509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FFFFFF">
                          <a:alpha val="7843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footer"/>
          <p:cNvSpPr txBox="1"/>
          <p:nvPr/>
        </p:nvSpPr>
        <p:spPr>
          <a:xfrm>
            <a:off x="762000" y="6451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XiangLens · AMD AI DevMaster 2026 · Track 2</a:t>
            </a:r>
            <a:endParaRPr lang="en-US" sz="1000" noProof="1"/>
          </a:p>
        </p:txBody>
      </p:sp>
      <p:sp>
        <p:nvSpPr>
          <p:cNvPr id="9" name="pagenum"/>
          <p:cNvSpPr txBox="1"/>
          <p:nvPr/>
        </p:nvSpPr>
        <p:spPr>
          <a:xfrm>
            <a:off x="10871200" y="64516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06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-tr"/>
          <p:cNvSpPr/>
          <p:nvPr/>
        </p:nvSpPr>
        <p:spPr>
          <a:xfrm>
            <a:off x="8128000" y="-2286000"/>
            <a:ext cx="6350000" cy="5080000"/>
          </a:xfrm>
          <a:prstGeom prst="ellipse">
            <a:avLst/>
          </a:prstGeom>
          <a:gradFill rotWithShape="1">
            <a:gsLst>
              <a:gs pos="0">
                <a:srgbClr val="1E4A5F">
                  <a:alpha val="50196"/>
                </a:srgbClr>
              </a:gs>
              <a:gs pos="100000">
                <a:srgbClr val="1E4A5F">
                  <a:alpha val="0"/>
                </a:srgbClr>
              </a:gs>
            </a:gsLst>
            <a:path path="circle"/>
          </a:gra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7620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kern="0" spc="300" noProof="1">
                <a:solidFill>
                  <a:srgbClr val="4CAF50"/>
                </a:solidFill>
                <a:latin typeface="MiSans" charset="-122"/>
                <a:ea typeface="MiSans" charset="-122"/>
              </a:rPr>
              <a:t>THE DEMO</a:t>
            </a:r>
            <a:endParaRPr lang="en-US" sz="13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8128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Four cases, one controlled Agent</a:t>
            </a:r>
            <a:endParaRPr lang="en-US" sz="3200" noProof="1"/>
          </a:p>
        </p:txBody>
      </p:sp>
      <p:sp>
        <p:nvSpPr>
          <p:cNvPr id="5" name="subtitle"/>
          <p:cNvSpPr txBox="1"/>
          <p:nvPr/>
        </p:nvSpPr>
        <p:spPr>
          <a:xfrm>
            <a:off x="762000" y="14478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Each case isolates one control property — privacy, consent, recall, and opt-in extension</a:t>
            </a:r>
            <a:endParaRPr lang="en-US" sz="1500" noProof="1"/>
          </a:p>
        </p:txBody>
      </p:sp>
      <p:sp>
        <p:nvSpPr>
          <p:cNvPr id="6" name="rule"/>
          <p:cNvSpPr/>
          <p:nvPr/>
        </p:nvSpPr>
        <p:spPr>
          <a:xfrm>
            <a:off x="762000" y="1879600"/>
            <a:ext cx="10668000" cy="12700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</p:sp>
      <p:sp>
        <p:nvSpPr>
          <p:cNvPr id="7" name="spine"/>
          <p:cNvSpPr/>
          <p:nvPr/>
        </p:nvSpPr>
        <p:spPr>
          <a:xfrm>
            <a:off x="762000" y="2768600"/>
            <a:ext cx="10668000" cy="25400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</p:sp>
      <p:sp>
        <p:nvSpPr>
          <p:cNvPr id="8" name="n1"/>
          <p:cNvSpPr/>
          <p:nvPr/>
        </p:nvSpPr>
        <p:spPr>
          <a:xfrm>
            <a:off x="762000" y="2540000"/>
            <a:ext cx="482600" cy="48260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</p:sp>
      <p:sp>
        <p:nvSpPr>
          <p:cNvPr id="9" name="n1-t"/>
          <p:cNvSpPr txBox="1"/>
          <p:nvPr/>
        </p:nvSpPr>
        <p:spPr>
          <a:xfrm>
            <a:off x="762000" y="2540000"/>
            <a:ext cx="4826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0B1320"/>
                </a:solidFill>
                <a:latin typeface="MiSans" charset="-122"/>
                <a:ea typeface="MiSans" charset="-122"/>
              </a:rPr>
              <a:t>1</a:t>
            </a:r>
            <a:endParaRPr lang="en-US" sz="1600" noProof="1"/>
          </a:p>
        </p:txBody>
      </p:sp>
      <p:sp>
        <p:nvSpPr>
          <p:cNvPr id="10" name="c1-title"/>
          <p:cNvSpPr txBox="1"/>
          <p:nvPr/>
        </p:nvSpPr>
        <p:spPr>
          <a:xfrm>
            <a:off x="762000" y="3251200"/>
            <a:ext cx="2476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5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LinkedInPrivacy Review</a:t>
            </a:r>
            <a:endParaRPr lang="en-US" sz="1500" noProof="1"/>
          </a:p>
        </p:txBody>
      </p:sp>
      <p:sp>
        <p:nvSpPr>
          <p:cNvPr id="11" name="c1-body"/>
          <p:cNvSpPr txBox="1"/>
          <p:nvPr/>
        </p:nvSpPr>
        <p:spPr>
          <a:xfrm>
            <a:off x="762000" y="3886200"/>
            <a:ext cx="24765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Deterministic QR detection before model interpretation.</a:t>
            </a:r>
            <a:endParaRPr lang="en-US" sz="120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200" noProof="1">
                <a:solidFill>
                  <a:srgbClr val="4FC3F7"/>
                </a:solidFill>
                <a:latin typeface="MiSans" charset="-122"/>
                <a:ea typeface="MiSans" charset="-122"/>
              </a:rPr>
              <a:t>Proves: local privacy inspection + source-backed report</a:t>
            </a:r>
            <a:endParaRPr lang="en-US" sz="1200" noProof="1"/>
          </a:p>
        </p:txBody>
      </p:sp>
      <p:sp>
        <p:nvSpPr>
          <p:cNvPr id="12" name="c1-inputs-label"/>
          <p:cNvSpPr txBox="1"/>
          <p:nvPr/>
        </p:nvSpPr>
        <p:spPr>
          <a:xfrm>
            <a:off x="762000" y="5537200"/>
            <a:ext cx="2476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kern="0" spc="2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ACTUAL TEST INPUTS</a:t>
            </a:r>
            <a:endParaRPr lang="en-US" sz="900" noProof="1"/>
          </a:p>
        </p:txBody>
      </p:sp>
      <p:pic>
        <p:nvPicPr>
          <p:cNvPr id="13" name="c1-img1"/>
          <p:cNvPicPr/>
          <p:nvPr/>
        </p:nvPicPr>
        <p:blipFill>
          <a:blip r:embed="rId1"/>
          <a:srcRect l="1062" r="1062"/>
          <a:stretch>
            <a:fillRect/>
          </a:stretch>
        </p:blipFill>
        <p:spPr>
          <a:xfrm>
            <a:off x="762000" y="5740400"/>
            <a:ext cx="482600" cy="482600"/>
          </a:xfrm>
          <a:prstGeom prst="ellipse">
            <a:avLst/>
          </a:prstGeom>
          <a:ln>
            <a:noFill/>
          </a:ln>
        </p:spPr>
      </p:pic>
      <p:sp>
        <p:nvSpPr>
          <p:cNvPr id="14" name="c1-img1-border"/>
          <p:cNvSpPr/>
          <p:nvPr/>
        </p:nvSpPr>
        <p:spPr>
          <a:xfrm>
            <a:off x="762000" y="5740400"/>
            <a:ext cx="482600" cy="482600"/>
          </a:xfrm>
          <a:prstGeom prst="ellipse">
            <a:avLst/>
          </a:prstGeom>
          <a:noFill/>
          <a:ln w="12700">
            <a:solidFill>
              <a:srgbClr val="4FC3F7"/>
            </a:solidFill>
          </a:ln>
        </p:spPr>
      </p:sp>
      <p:pic>
        <p:nvPicPr>
          <p:cNvPr id="15" name="c1-img2"/>
          <p:cNvPicPr/>
          <p:nvPr/>
        </p:nvPicPr>
        <p:blipFill>
          <a:blip r:embed="rId2"/>
          <a:srcRect l="2507" r="2507"/>
          <a:stretch>
            <a:fillRect/>
          </a:stretch>
        </p:blipFill>
        <p:spPr>
          <a:xfrm>
            <a:off x="1346200" y="5740400"/>
            <a:ext cx="482600" cy="482600"/>
          </a:xfrm>
          <a:prstGeom prst="ellipse">
            <a:avLst/>
          </a:prstGeom>
          <a:ln>
            <a:noFill/>
          </a:ln>
        </p:spPr>
      </p:pic>
      <p:sp>
        <p:nvSpPr>
          <p:cNvPr id="16" name="c1-img2-border"/>
          <p:cNvSpPr/>
          <p:nvPr/>
        </p:nvSpPr>
        <p:spPr>
          <a:xfrm>
            <a:off x="1346200" y="5740400"/>
            <a:ext cx="482600" cy="482600"/>
          </a:xfrm>
          <a:prstGeom prst="ellipse">
            <a:avLst/>
          </a:prstGeom>
          <a:noFill/>
          <a:ln w="12700">
            <a:solidFill>
              <a:srgbClr val="4FC3F7"/>
            </a:solidFill>
          </a:ln>
        </p:spPr>
      </p:sp>
      <p:sp>
        <p:nvSpPr>
          <p:cNvPr id="17" name="c1-imgcap"/>
          <p:cNvSpPr txBox="1"/>
          <p:nvPr/>
        </p:nvSpPr>
        <p:spPr>
          <a:xfrm>
            <a:off x="762000" y="6273800"/>
            <a:ext cx="24765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person1.jpg · qr.jpg</a:t>
            </a:r>
            <a:endParaRPr lang="en-US" sz="900" noProof="1"/>
          </a:p>
        </p:txBody>
      </p:sp>
      <p:sp>
        <p:nvSpPr>
          <p:cNvPr id="18" name="n2"/>
          <p:cNvSpPr/>
          <p:nvPr/>
        </p:nvSpPr>
        <p:spPr>
          <a:xfrm>
            <a:off x="3492500" y="2540000"/>
            <a:ext cx="482600" cy="482600"/>
          </a:xfrm>
          <a:prstGeom prst="ellipse">
            <a:avLst/>
          </a:prstGeom>
          <a:solidFill>
            <a:srgbClr val="FFA726"/>
          </a:solidFill>
          <a:ln>
            <a:noFill/>
          </a:ln>
        </p:spPr>
      </p:sp>
      <p:sp>
        <p:nvSpPr>
          <p:cNvPr id="19" name="n2-t"/>
          <p:cNvSpPr txBox="1"/>
          <p:nvPr/>
        </p:nvSpPr>
        <p:spPr>
          <a:xfrm>
            <a:off x="3492500" y="2540000"/>
            <a:ext cx="4826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0B1320"/>
                </a:solidFill>
                <a:latin typeface="MiSans" charset="-122"/>
                <a:ea typeface="MiSans" charset="-122"/>
              </a:rPr>
              <a:t>2</a:t>
            </a:r>
            <a:endParaRPr lang="en-US" sz="1600" noProof="1"/>
          </a:p>
        </p:txBody>
      </p:sp>
      <p:sp>
        <p:nvSpPr>
          <p:cNvPr id="20" name="c2-title"/>
          <p:cNvSpPr txBox="1"/>
          <p:nvPr/>
        </p:nvSpPr>
        <p:spPr>
          <a:xfrm>
            <a:off x="3492500" y="3251200"/>
            <a:ext cx="2476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5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GitHub Rights +Memory Consent</a:t>
            </a:r>
            <a:endParaRPr lang="en-US" sz="1500" noProof="1"/>
          </a:p>
        </p:txBody>
      </p:sp>
      <p:sp>
        <p:nvSpPr>
          <p:cNvPr id="21" name="c2-body"/>
          <p:cNvSpPr txBox="1"/>
          <p:nvPr/>
        </p:nvSpPr>
        <p:spPr>
          <a:xfrm>
            <a:off x="3492500" y="3886200"/>
            <a:ext cx="24765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Provenance warning without legal claims; memory stored only after Approve.</a:t>
            </a:r>
            <a:endParaRPr lang="en-US" sz="120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200" noProof="1">
                <a:solidFill>
                  <a:srgbClr val="FFA726"/>
                </a:solidFill>
                <a:latin typeface="MiSans" charset="-122"/>
                <a:ea typeface="MiSans" charset="-122"/>
              </a:rPr>
              <a:t>Proves: rights awareness + consent-first memory</a:t>
            </a:r>
            <a:endParaRPr lang="en-US" sz="1200" noProof="1"/>
          </a:p>
        </p:txBody>
      </p:sp>
      <p:sp>
        <p:nvSpPr>
          <p:cNvPr id="22" name="c2-inputs-label"/>
          <p:cNvSpPr txBox="1"/>
          <p:nvPr/>
        </p:nvSpPr>
        <p:spPr>
          <a:xfrm>
            <a:off x="3492500" y="5537200"/>
            <a:ext cx="2476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kern="0" spc="2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ACTUAL TEST INPUTS</a:t>
            </a:r>
            <a:endParaRPr lang="en-US" sz="900" noProof="1"/>
          </a:p>
        </p:txBody>
      </p:sp>
      <p:pic>
        <p:nvPicPr>
          <p:cNvPr id="23" name="c2-img1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492500" y="5740400"/>
            <a:ext cx="482600" cy="482600"/>
          </a:xfrm>
          <a:prstGeom prst="ellipse">
            <a:avLst/>
          </a:prstGeom>
          <a:ln>
            <a:noFill/>
          </a:ln>
        </p:spPr>
      </p:pic>
      <p:sp>
        <p:nvSpPr>
          <p:cNvPr id="24" name="c2-img1-border"/>
          <p:cNvSpPr/>
          <p:nvPr/>
        </p:nvSpPr>
        <p:spPr>
          <a:xfrm>
            <a:off x="3492500" y="5740400"/>
            <a:ext cx="482600" cy="482600"/>
          </a:xfrm>
          <a:prstGeom prst="ellipse">
            <a:avLst/>
          </a:prstGeom>
          <a:noFill/>
          <a:ln w="12700">
            <a:solidFill>
              <a:srgbClr val="FFA726"/>
            </a:solidFill>
          </a:ln>
        </p:spPr>
      </p:sp>
      <p:pic>
        <p:nvPicPr>
          <p:cNvPr id="25" name="c2-img2"/>
          <p:cNvPicPr/>
          <p:nvPr/>
        </p:nvPicPr>
        <p:blipFill>
          <a:blip r:embed="rId4"/>
          <a:srcRect l="262" r="262"/>
          <a:stretch>
            <a:fillRect/>
          </a:stretch>
        </p:blipFill>
        <p:spPr>
          <a:xfrm>
            <a:off x="4076700" y="5740400"/>
            <a:ext cx="482600" cy="482600"/>
          </a:xfrm>
          <a:prstGeom prst="ellipse">
            <a:avLst/>
          </a:prstGeom>
          <a:ln>
            <a:noFill/>
          </a:ln>
        </p:spPr>
      </p:pic>
      <p:sp>
        <p:nvSpPr>
          <p:cNvPr id="26" name="c2-img2-border"/>
          <p:cNvSpPr/>
          <p:nvPr/>
        </p:nvSpPr>
        <p:spPr>
          <a:xfrm>
            <a:off x="4076700" y="5740400"/>
            <a:ext cx="482600" cy="482600"/>
          </a:xfrm>
          <a:prstGeom prst="ellipse">
            <a:avLst/>
          </a:prstGeom>
          <a:noFill/>
          <a:ln w="12700">
            <a:solidFill>
              <a:srgbClr val="FFA726"/>
            </a:solidFill>
          </a:ln>
        </p:spPr>
      </p:sp>
      <p:sp>
        <p:nvSpPr>
          <p:cNvPr id="27" name="c2-imgcap"/>
          <p:cNvSpPr txBox="1"/>
          <p:nvPr/>
        </p:nvSpPr>
        <p:spPr>
          <a:xfrm>
            <a:off x="3492500" y="6273800"/>
            <a:ext cx="24765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person2.jpg · dog.png</a:t>
            </a:r>
            <a:endParaRPr lang="en-US" sz="900" noProof="1"/>
          </a:p>
        </p:txBody>
      </p:sp>
      <p:sp>
        <p:nvSpPr>
          <p:cNvPr id="28" name="n3"/>
          <p:cNvSpPr/>
          <p:nvPr/>
        </p:nvSpPr>
        <p:spPr>
          <a:xfrm>
            <a:off x="6223000" y="2540000"/>
            <a:ext cx="482600" cy="482600"/>
          </a:xfrm>
          <a:prstGeom prst="ellipse">
            <a:avLst/>
          </a:prstGeom>
          <a:solidFill>
            <a:srgbClr val="9575CD"/>
          </a:solidFill>
          <a:ln>
            <a:noFill/>
          </a:ln>
        </p:spPr>
      </p:sp>
      <p:sp>
        <p:nvSpPr>
          <p:cNvPr id="29" name="n3-t"/>
          <p:cNvSpPr txBox="1"/>
          <p:nvPr/>
        </p:nvSpPr>
        <p:spPr>
          <a:xfrm>
            <a:off x="6223000" y="2540000"/>
            <a:ext cx="4826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0B1320"/>
                </a:solidFill>
                <a:latin typeface="MiSans" charset="-122"/>
                <a:ea typeface="MiSans" charset="-122"/>
              </a:rPr>
              <a:t>3</a:t>
            </a:r>
            <a:endParaRPr lang="en-US" sz="1600" noProof="1"/>
          </a:p>
        </p:txBody>
      </p:sp>
      <p:sp>
        <p:nvSpPr>
          <p:cNvPr id="30" name="c3-title"/>
          <p:cNvSpPr txBox="1"/>
          <p:nvPr/>
        </p:nvSpPr>
        <p:spPr>
          <a:xfrm>
            <a:off x="6223000" y="3251200"/>
            <a:ext cx="2476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5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Cross-ReviewRecall</a:t>
            </a:r>
            <a:endParaRPr lang="en-US" sz="1500" noProof="1"/>
          </a:p>
        </p:txBody>
      </p:sp>
      <p:sp>
        <p:nvSpPr>
          <p:cNvPr id="31" name="c3-body"/>
          <p:cNvSpPr txBox="1"/>
          <p:nvPr/>
        </p:nvSpPr>
        <p:spPr>
          <a:xfrm>
            <a:off x="6223000" y="3886200"/>
            <a:ext cx="24765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A new thread recalls exactly one approved preference — as a goal, not a fact.</a:t>
            </a:r>
            <a:endParaRPr lang="en-US" sz="120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200" noProof="1">
                <a:solidFill>
                  <a:srgbClr val="9575CD"/>
                </a:solidFill>
                <a:latin typeface="MiSans" charset="-122"/>
                <a:ea typeface="MiSans" charset="-122"/>
              </a:rPr>
              <a:t>Proves: memory portability with full visibility</a:t>
            </a:r>
            <a:endParaRPr lang="en-US" sz="1200" noProof="1"/>
          </a:p>
        </p:txBody>
      </p:sp>
      <p:sp>
        <p:nvSpPr>
          <p:cNvPr id="32" name="c3-inputs-label"/>
          <p:cNvSpPr txBox="1"/>
          <p:nvPr/>
        </p:nvSpPr>
        <p:spPr>
          <a:xfrm>
            <a:off x="6223000" y="5537200"/>
            <a:ext cx="2476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kern="0" spc="2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ACTUAL TEST INPUTS</a:t>
            </a:r>
            <a:endParaRPr lang="en-US" sz="900" noProof="1"/>
          </a:p>
        </p:txBody>
      </p:sp>
      <p:pic>
        <p:nvPicPr>
          <p:cNvPr id="33" name="c3-img1"/>
          <p:cNvPicPr/>
          <p:nvPr/>
        </p:nvPicPr>
        <p:blipFill>
          <a:blip r:embed="rId4"/>
          <a:srcRect l="262" r="262"/>
          <a:stretch>
            <a:fillRect/>
          </a:stretch>
        </p:blipFill>
        <p:spPr>
          <a:xfrm>
            <a:off x="6223000" y="5740400"/>
            <a:ext cx="482600" cy="482600"/>
          </a:xfrm>
          <a:prstGeom prst="ellipse">
            <a:avLst/>
          </a:prstGeom>
          <a:ln>
            <a:noFill/>
          </a:ln>
        </p:spPr>
      </p:pic>
      <p:sp>
        <p:nvSpPr>
          <p:cNvPr id="34" name="c3-img1-border"/>
          <p:cNvSpPr/>
          <p:nvPr/>
        </p:nvSpPr>
        <p:spPr>
          <a:xfrm>
            <a:off x="6223000" y="5740400"/>
            <a:ext cx="482600" cy="482600"/>
          </a:xfrm>
          <a:prstGeom prst="ellipse">
            <a:avLst/>
          </a:prstGeom>
          <a:noFill/>
          <a:ln w="12700">
            <a:solidFill>
              <a:srgbClr val="9575CD"/>
            </a:solidFill>
          </a:ln>
        </p:spPr>
      </p:sp>
      <p:pic>
        <p:nvPicPr>
          <p:cNvPr id="35" name="c3-img2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6807200" y="5740400"/>
            <a:ext cx="482600" cy="482600"/>
          </a:xfrm>
          <a:prstGeom prst="ellipse">
            <a:avLst/>
          </a:prstGeom>
          <a:ln>
            <a:noFill/>
          </a:ln>
        </p:spPr>
      </p:pic>
      <p:sp>
        <p:nvSpPr>
          <p:cNvPr id="36" name="c3-img2-border"/>
          <p:cNvSpPr/>
          <p:nvPr/>
        </p:nvSpPr>
        <p:spPr>
          <a:xfrm>
            <a:off x="6807200" y="5740400"/>
            <a:ext cx="482600" cy="482600"/>
          </a:xfrm>
          <a:prstGeom prst="ellipse">
            <a:avLst/>
          </a:prstGeom>
          <a:noFill/>
          <a:ln w="12700">
            <a:solidFill>
              <a:srgbClr val="9575CD"/>
            </a:solidFill>
          </a:ln>
        </p:spPr>
      </p:sp>
      <p:sp>
        <p:nvSpPr>
          <p:cNvPr id="37" name="c3-imgcap"/>
          <p:cNvSpPr txBox="1"/>
          <p:nvPr/>
        </p:nvSpPr>
        <p:spPr>
          <a:xfrm>
            <a:off x="6223000" y="6273800"/>
            <a:ext cx="24765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dog.png · yinyang.jpg</a:t>
            </a:r>
            <a:endParaRPr lang="en-US" sz="900" noProof="1"/>
          </a:p>
        </p:txBody>
      </p:sp>
      <p:sp>
        <p:nvSpPr>
          <p:cNvPr id="38" name="n4"/>
          <p:cNvSpPr/>
          <p:nvPr/>
        </p:nvSpPr>
        <p:spPr>
          <a:xfrm>
            <a:off x="8953500" y="2540000"/>
            <a:ext cx="482600" cy="4826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</p:sp>
      <p:sp>
        <p:nvSpPr>
          <p:cNvPr id="39" name="n4-t"/>
          <p:cNvSpPr txBox="1"/>
          <p:nvPr/>
        </p:nvSpPr>
        <p:spPr>
          <a:xfrm>
            <a:off x="8953500" y="2540000"/>
            <a:ext cx="4826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0B1320"/>
                </a:solidFill>
                <a:latin typeface="MiSans" charset="-122"/>
                <a:ea typeface="MiSans" charset="-122"/>
              </a:rPr>
              <a:t>4</a:t>
            </a:r>
            <a:endParaRPr lang="en-US" sz="1600" noProof="1"/>
          </a:p>
        </p:txBody>
      </p:sp>
      <p:sp>
        <p:nvSpPr>
          <p:cNvPr id="40" name="c4-title"/>
          <p:cNvSpPr txBox="1"/>
          <p:nvPr/>
        </p:nvSpPr>
        <p:spPr>
          <a:xfrm>
            <a:off x="8953500" y="3251200"/>
            <a:ext cx="2476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5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Opt-InPrivate Lens</a:t>
            </a:r>
            <a:endParaRPr lang="en-US" sz="1500" noProof="1"/>
          </a:p>
        </p:txBody>
      </p:sp>
      <p:sp>
        <p:nvSpPr>
          <p:cNvPr id="41" name="c4-body"/>
          <p:cNvSpPr txBox="1"/>
          <p:nvPr/>
        </p:nvSpPr>
        <p:spPr>
          <a:xfrm>
            <a:off x="8953500" y="3886200"/>
            <a:ext cx="24765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Private knowledge mounted only at runtime; filtered, bounded output.</a:t>
            </a:r>
            <a:endParaRPr lang="en-US" sz="120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200" noProof="1">
                <a:solidFill>
                  <a:srgbClr val="4CAF50"/>
                </a:solidFill>
                <a:latin typeface="MiSans" charset="-122"/>
                <a:ea typeface="MiSans" charset="-122"/>
              </a:rPr>
              <a:t>Proves: extensibility without leakage</a:t>
            </a:r>
            <a:endParaRPr lang="en-US" sz="1200" noProof="1"/>
          </a:p>
        </p:txBody>
      </p:sp>
      <p:sp>
        <p:nvSpPr>
          <p:cNvPr id="42" name="c4-inputs-label"/>
          <p:cNvSpPr txBox="1"/>
          <p:nvPr/>
        </p:nvSpPr>
        <p:spPr>
          <a:xfrm>
            <a:off x="8953500" y="5537200"/>
            <a:ext cx="2476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kern="0" spc="2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ACTUAL TEST INPUTS</a:t>
            </a:r>
            <a:endParaRPr lang="en-US" sz="900" noProof="1"/>
          </a:p>
        </p:txBody>
      </p:sp>
      <p:pic>
        <p:nvPicPr>
          <p:cNvPr id="43" name="c4-img1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8953500" y="5740400"/>
            <a:ext cx="482600" cy="482600"/>
          </a:xfrm>
          <a:prstGeom prst="ellipse">
            <a:avLst/>
          </a:prstGeom>
          <a:ln>
            <a:noFill/>
          </a:ln>
        </p:spPr>
      </p:pic>
      <p:sp>
        <p:nvSpPr>
          <p:cNvPr id="44" name="c4-img1-border"/>
          <p:cNvSpPr/>
          <p:nvPr/>
        </p:nvSpPr>
        <p:spPr>
          <a:xfrm>
            <a:off x="8953500" y="5740400"/>
            <a:ext cx="482600" cy="482600"/>
          </a:xfrm>
          <a:prstGeom prst="ellipse">
            <a:avLst/>
          </a:prstGeom>
          <a:noFill/>
          <a:ln w="12700">
            <a:solidFill>
              <a:srgbClr val="4CAF50"/>
            </a:solidFill>
          </a:ln>
        </p:spPr>
      </p:sp>
      <p:sp>
        <p:nvSpPr>
          <p:cNvPr id="45" name="c4-imgcap"/>
          <p:cNvSpPr txBox="1"/>
          <p:nvPr/>
        </p:nvSpPr>
        <p:spPr>
          <a:xfrm>
            <a:off x="8953500" y="6273800"/>
            <a:ext cx="24765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yinyang.jpg</a:t>
            </a:r>
            <a:endParaRPr lang="en-US" sz="900" noProof="1"/>
          </a:p>
        </p:txBody>
      </p:sp>
      <p:sp>
        <p:nvSpPr>
          <p:cNvPr id="46" name="footer"/>
          <p:cNvSpPr txBox="1"/>
          <p:nvPr/>
        </p:nvSpPr>
        <p:spPr>
          <a:xfrm>
            <a:off x="762000" y="6451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XiangLens · AMD AI DevMaster 2026 · Track 2</a:t>
            </a:r>
            <a:endParaRPr lang="en-US" sz="1000" noProof="1"/>
          </a:p>
        </p:txBody>
      </p:sp>
      <p:sp>
        <p:nvSpPr>
          <p:cNvPr id="47" name="pagenum"/>
          <p:cNvSpPr txBox="1"/>
          <p:nvPr/>
        </p:nvSpPr>
        <p:spPr>
          <a:xfrm>
            <a:off x="10871200" y="64516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07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ase1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06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kern="0" spc="300" noProof="1">
                <a:solidFill>
                  <a:srgbClr val="4CAF50"/>
                </a:solidFill>
                <a:latin typeface="MiSans" charset="-122"/>
                <a:ea typeface="MiSans" charset="-122"/>
              </a:rPr>
              <a:t>CASE 1 · IN THE UI</a:t>
            </a:r>
            <a:endParaRPr lang="en-US" sz="13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The QR risk is caught before the model interprets</a:t>
            </a:r>
            <a:endParaRPr lang="en-US" sz="2600" noProof="1"/>
          </a:p>
        </p:txBody>
      </p:sp>
      <p:sp>
        <p:nvSpPr>
          <p:cNvPr id="4" name="zone-legend"/>
          <p:cNvSpPr txBox="1"/>
          <p:nvPr/>
        </p:nvSpPr>
        <p:spPr>
          <a:xfrm>
            <a:off x="762000" y="12192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4FC3F7"/>
                </a:solidFill>
                <a:latin typeface="MiSans" charset="-122"/>
                <a:ea typeface="MiSans" charset="-122"/>
              </a:rPr>
              <a:t>Real test inputs: person1.jpg vs qr.jpg</a:t>
            </a:r>
            <a:r>
              <a:rPr lang="en-US" sz="12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   </a:t>
            </a:r>
            <a:r>
              <a:rPr lang="en-US" sz="1200" b="1" noProof="1">
                <a:solidFill>
                  <a:srgbClr val="EF5350"/>
                </a:solidFill>
                <a:latin typeface="MiSans" charset="-122"/>
                <a:ea typeface="MiSans" charset="-122"/>
              </a:rPr>
              <a:t>QR visible — HIGH privacy finding</a:t>
            </a:r>
            <a:r>
              <a:rPr lang="en-US" sz="12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   </a:t>
            </a:r>
            <a:r>
              <a:rPr lang="en-US" sz="1200" b="1" noProof="1">
                <a:solidFill>
                  <a:srgbClr val="4CAF50"/>
                </a:solidFill>
                <a:latin typeface="MiSans" charset="-122"/>
                <a:ea typeface="MiSans" charset="-122"/>
              </a:rPr>
              <a:t>Recommended: person1.jpg, scored on 5 dimensions</a:t>
            </a:r>
            <a:r>
              <a:rPr lang="en-US" sz="12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   </a:t>
            </a:r>
            <a:r>
              <a:rPr lang="en-US" sz="1200" b="1" noProof="1">
                <a:solidFill>
                  <a:srgbClr val="9575CD"/>
                </a:solidFill>
                <a:latin typeface="MiSans" charset="-122"/>
                <a:ea typeface="MiSans" charset="-122"/>
              </a:rPr>
              <a:t>Per-node latency visible</a:t>
            </a:r>
            <a:endParaRPr lang="en-US" sz="1200" noProof="1"/>
          </a:p>
        </p:txBody>
      </p:sp>
      <p:pic>
        <p:nvPicPr>
          <p:cNvPr id="5" name="ui-shot"/>
          <p:cNvPicPr/>
          <p:nvPr/>
        </p:nvPicPr>
        <p:blipFill>
          <a:blip r:embed="rId1"/>
          <a:srcRect b="9000"/>
          <a:stretch>
            <a:fillRect/>
          </a:stretch>
        </p:blipFill>
        <p:spPr>
          <a:xfrm>
            <a:off x="889000" y="1574800"/>
            <a:ext cx="10414000" cy="5054600"/>
          </a:xfrm>
          <a:prstGeom prst="rect">
            <a:avLst/>
          </a:prstGeom>
          <a:ln>
            <a:noFill/>
          </a:ln>
        </p:spPr>
      </p:pic>
      <p:sp>
        <p:nvSpPr>
          <p:cNvPr id="6" name="ui-shot-border"/>
          <p:cNvSpPr/>
          <p:nvPr/>
        </p:nvSpPr>
        <p:spPr>
          <a:xfrm>
            <a:off x="889000" y="1574800"/>
            <a:ext cx="10414000" cy="5054600"/>
          </a:xfrm>
          <a:prstGeom prst="rect">
            <a:avLst/>
          </a:prstGeom>
          <a:noFill/>
          <a:ln w="12700">
            <a:solidFill>
              <a:srgbClr val="FFFFFF">
                <a:alpha val="14902"/>
              </a:srgbClr>
            </a:solidFill>
          </a:ln>
        </p:spPr>
      </p:sp>
      <p:sp>
        <p:nvSpPr>
          <p:cNvPr id="7" name="pagenum"/>
          <p:cNvSpPr txBox="1"/>
          <p:nvPr/>
        </p:nvSpPr>
        <p:spPr>
          <a:xfrm>
            <a:off x="10871200" y="64516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09</a:t>
            </a:r>
            <a:endParaRPr lang="en-US" sz="1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llowups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ase2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06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kern="0" spc="300" noProof="1">
                <a:solidFill>
                  <a:srgbClr val="4CAF50"/>
                </a:solidFill>
                <a:latin typeface="MiSans" charset="-122"/>
                <a:ea typeface="MiSans" charset="-122"/>
              </a:rPr>
              <a:t>CASE 2 · IN THE UI</a:t>
            </a:r>
            <a:endParaRPr lang="en-US" sz="13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Resemblance without verdicts, memory only after Approve</a:t>
            </a:r>
            <a:endParaRPr lang="en-US" sz="2600" noProof="1"/>
          </a:p>
        </p:txBody>
      </p:sp>
      <p:sp>
        <p:nvSpPr>
          <p:cNvPr id="4" name="zone-legend"/>
          <p:cNvSpPr txBox="1"/>
          <p:nvPr/>
        </p:nvSpPr>
        <p:spPr>
          <a:xfrm>
            <a:off x="762000" y="12192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4FC3F7"/>
                </a:solidFill>
                <a:latin typeface="MiSans" charset="-122"/>
                <a:ea typeface="MiSans" charset="-122"/>
              </a:rPr>
              <a:t>Real test inputs: dog.png · person2.jpg</a:t>
            </a:r>
            <a:r>
              <a:rPr lang="en-US" sz="12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   </a:t>
            </a:r>
            <a:r>
              <a:rPr lang="en-US" sz="1200" b="1" noProof="1">
                <a:solidFill>
                  <a:srgbClr val="FFA726"/>
                </a:solidFill>
                <a:latin typeface="MiSans" charset="-122"/>
                <a:ea typeface="MiSans" charset="-122"/>
              </a:rPr>
              <a:t>Resembles Snoopy — MEDIUM, not a legal conclusion</a:t>
            </a:r>
            <a:r>
              <a:rPr lang="en-US" sz="12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   </a:t>
            </a:r>
            <a:r>
              <a:rPr lang="en-US" sz="1200" b="1" noProof="1">
                <a:solidFill>
                  <a:srgbClr val="4CAF50"/>
                </a:solidFill>
                <a:latin typeface="MiSans" charset="-122"/>
                <a:ea typeface="MiSans" charset="-122"/>
              </a:rPr>
              <a:t>Approve memory gate</a:t>
            </a:r>
            <a:endParaRPr lang="en-US" sz="1200" noProof="1"/>
          </a:p>
        </p:txBody>
      </p:sp>
      <p:pic>
        <p:nvPicPr>
          <p:cNvPr id="5" name="ui-shot"/>
          <p:cNvPicPr/>
          <p:nvPr/>
        </p:nvPicPr>
        <p:blipFill>
          <a:blip r:embed="rId1"/>
          <a:srcRect l="1027" r="1027"/>
          <a:stretch>
            <a:fillRect/>
          </a:stretch>
        </p:blipFill>
        <p:spPr>
          <a:xfrm>
            <a:off x="889000" y="1574800"/>
            <a:ext cx="10414000" cy="5054600"/>
          </a:xfrm>
          <a:prstGeom prst="rect">
            <a:avLst/>
          </a:prstGeom>
          <a:ln>
            <a:noFill/>
          </a:ln>
        </p:spPr>
      </p:pic>
      <p:sp>
        <p:nvSpPr>
          <p:cNvPr id="6" name="ui-shot-border"/>
          <p:cNvSpPr/>
          <p:nvPr/>
        </p:nvSpPr>
        <p:spPr>
          <a:xfrm>
            <a:off x="889000" y="1574800"/>
            <a:ext cx="10414000" cy="5054600"/>
          </a:xfrm>
          <a:prstGeom prst="rect">
            <a:avLst/>
          </a:prstGeom>
          <a:noFill/>
          <a:ln w="12700">
            <a:solidFill>
              <a:srgbClr val="FFFFFF">
                <a:alpha val="14902"/>
              </a:srgbClr>
            </a:solidFill>
          </a:ln>
        </p:spPr>
      </p:sp>
      <p:sp>
        <p:nvSpPr>
          <p:cNvPr id="7" name="pagenum"/>
          <p:cNvSpPr txBox="1"/>
          <p:nvPr/>
        </p:nvSpPr>
        <p:spPr>
          <a:xfrm>
            <a:off x="10871200" y="64516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12</a:t>
            </a:r>
            <a:endParaRPr lang="en-US" sz="10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06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kern="0" spc="300" noProof="1">
                <a:solidFill>
                  <a:srgbClr val="4CAF50"/>
                </a:solidFill>
                <a:latin typeface="MiSans" charset="-122"/>
                <a:ea typeface="MiSans" charset="-122"/>
              </a:rPr>
              <a:t>CASES 2–3 · IN THE UI</a:t>
            </a:r>
            <a:endParaRPr lang="en-US" sz="13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Rights warnings, recalled memory, cited sources — all visible</a:t>
            </a:r>
            <a:endParaRPr lang="en-US" sz="2600" noProof="1"/>
          </a:p>
        </p:txBody>
      </p:sp>
      <p:sp>
        <p:nvSpPr>
          <p:cNvPr id="4" name="zone-legend"/>
          <p:cNvSpPr txBox="1"/>
          <p:nvPr/>
        </p:nvSpPr>
        <p:spPr>
          <a:xfrm>
            <a:off x="762000" y="12192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FFA726"/>
                </a:solidFill>
                <a:latin typeface="MiSans" charset="-122"/>
                <a:ea typeface="MiSans" charset="-122"/>
              </a:rPr>
              <a:t>Resemblance, not verdict</a:t>
            </a:r>
            <a:r>
              <a:rPr lang="en-US" sz="12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   </a:t>
            </a:r>
            <a:r>
              <a:rPr lang="en-US" sz="1200" b="1" noProof="1">
                <a:solidFill>
                  <a:srgbClr val="9575CD"/>
                </a:solidFill>
                <a:latin typeface="MiSans" charset="-122"/>
                <a:ea typeface="MiSans" charset="-122"/>
              </a:rPr>
              <a:t>1 approved memory recalled</a:t>
            </a:r>
            <a:r>
              <a:rPr lang="en-US" sz="12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   </a:t>
            </a:r>
            <a:r>
              <a:rPr lang="en-US" sz="1200" b="1" noProof="1">
                <a:solidFill>
                  <a:srgbClr val="4CAF50"/>
                </a:solidFill>
                <a:latin typeface="MiSans" charset="-122"/>
                <a:ea typeface="MiSans" charset="-122"/>
              </a:rPr>
              <a:t>WIPO + GitHub sources</a:t>
            </a:r>
            <a:r>
              <a:rPr lang="en-US" sz="12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   </a:t>
            </a:r>
            <a:r>
              <a:rPr lang="en-US" sz="1200" b="1" noProof="1">
                <a:solidFill>
                  <a:srgbClr val="EF5350"/>
                </a:solidFill>
                <a:latin typeface="MiSans" charset="-122"/>
                <a:ea typeface="MiSans" charset="-122"/>
              </a:rPr>
              <a:t>Forget all private state</a:t>
            </a:r>
            <a:endParaRPr lang="en-US" sz="1200" noProof="1"/>
          </a:p>
        </p:txBody>
      </p:sp>
      <p:pic>
        <p:nvPicPr>
          <p:cNvPr id="5" name="ui-shot"/>
          <p:cNvPicPr/>
          <p:nvPr/>
        </p:nvPicPr>
        <p:blipFill>
          <a:blip r:embed="rId1"/>
          <a:srcRect t="2238" b="2238"/>
          <a:stretch>
            <a:fillRect/>
          </a:stretch>
        </p:blipFill>
        <p:spPr>
          <a:xfrm>
            <a:off x="889000" y="1574800"/>
            <a:ext cx="10414000" cy="5054600"/>
          </a:xfrm>
          <a:prstGeom prst="rect">
            <a:avLst/>
          </a:prstGeom>
          <a:ln>
            <a:noFill/>
          </a:ln>
        </p:spPr>
      </p:pic>
      <p:sp>
        <p:nvSpPr>
          <p:cNvPr id="6" name="ui-shot-border"/>
          <p:cNvSpPr/>
          <p:nvPr/>
        </p:nvSpPr>
        <p:spPr>
          <a:xfrm>
            <a:off x="889000" y="1574800"/>
            <a:ext cx="10414000" cy="5054600"/>
          </a:xfrm>
          <a:prstGeom prst="rect">
            <a:avLst/>
          </a:prstGeom>
          <a:noFill/>
          <a:ln w="12700">
            <a:solidFill>
              <a:srgbClr val="FFFFFF">
                <a:alpha val="14902"/>
              </a:srgbClr>
            </a:solidFill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ase3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text-mask"/>
          <p:cNvSpPr/>
          <p:nvPr/>
        </p:nvSpPr>
        <p:spPr>
          <a:xfrm>
            <a:off x="7061200" y="3835400"/>
            <a:ext cx="1422400" cy="1397000"/>
          </a:xfrm>
          <a:prstGeom prst="rect">
            <a:avLst/>
          </a:prstGeom>
          <a:solidFill>
            <a:srgbClr val="142B3D"/>
          </a:solidFill>
          <a:ln>
            <a:noFill/>
          </a:ln>
        </p:spPr>
      </p:sp>
      <p:pic>
        <p:nvPicPr>
          <p:cNvPr id="4" name="real-dog"/>
          <p:cNvPicPr/>
          <p:nvPr/>
        </p:nvPicPr>
        <p:blipFill>
          <a:blip r:embed="rId2"/>
          <a:srcRect l="262" r="262"/>
          <a:stretch>
            <a:fillRect/>
          </a:stretch>
        </p:blipFill>
        <p:spPr>
          <a:xfrm>
            <a:off x="6070600" y="4013200"/>
            <a:ext cx="1066800" cy="1066800"/>
          </a:xfrm>
          <a:prstGeom prst="roundRect">
            <a:avLst>
              <a:gd name="adj" fmla="val 10000"/>
            </a:avLst>
          </a:prstGeom>
          <a:ln>
            <a:noFill/>
          </a:ln>
        </p:spPr>
      </p:pic>
      <p:sp>
        <p:nvSpPr>
          <p:cNvPr id="5" name="real-dog-border"/>
          <p:cNvSpPr/>
          <p:nvPr/>
        </p:nvSpPr>
        <p:spPr>
          <a:xfrm>
            <a:off x="6070600" y="4013200"/>
            <a:ext cx="1066800" cy="106680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9575CD"/>
            </a:solidFill>
          </a:ln>
        </p:spPr>
      </p:sp>
      <p:sp>
        <p:nvSpPr>
          <p:cNvPr id="6" name="evidence-text"/>
          <p:cNvSpPr txBox="1"/>
          <p:nvPr/>
        </p:nvSpPr>
        <p:spPr>
          <a:xfrm>
            <a:off x="7162800" y="4064000"/>
            <a:ext cx="1270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0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Fresh observations</a:t>
            </a:r>
            <a:endParaRPr lang="en-US" sz="1000" noProof="1"/>
          </a:p>
          <a:p>
            <a:pPr algn="l">
              <a:lnSpc>
                <a:spcPct val="180000"/>
              </a:lnSpc>
            </a:pPr>
            <a:r>
              <a:rPr lang="en-US" sz="10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+ recalled goal</a:t>
            </a:r>
            <a:endParaRPr lang="en-US" sz="1000" noProof="1"/>
          </a:p>
          <a:p>
            <a:pPr algn="l">
              <a:lnSpc>
                <a:spcPct val="180000"/>
              </a:lnSpc>
            </a:pPr>
            <a:r>
              <a:rPr lang="en-US" sz="10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+ retrieved sources</a:t>
            </a:r>
            <a:endParaRPr lang="en-US" sz="1000" noProof="1"/>
          </a:p>
        </p:txBody>
      </p:sp>
      <p:pic>
        <p:nvPicPr>
          <p:cNvPr id="7" name="real-yinyang"/>
          <p:cNvPicPr/>
          <p:nvPr/>
        </p:nvPicPr>
        <p:blipFill>
          <a:blip r:embed="rId3"/>
          <a:srcRect t="3175" b="3175"/>
          <a:stretch>
            <a:fillRect/>
          </a:stretch>
        </p:blipFill>
        <p:spPr>
          <a:xfrm>
            <a:off x="8483600" y="3670300"/>
            <a:ext cx="1600200" cy="1498600"/>
          </a:xfrm>
          <a:prstGeom prst="roundRect">
            <a:avLst>
              <a:gd name="adj" fmla="val 10000"/>
            </a:avLst>
          </a:prstGeom>
          <a:ln>
            <a:noFill/>
          </a:ln>
        </p:spPr>
      </p:pic>
      <p:sp>
        <p:nvSpPr>
          <p:cNvPr id="8" name="real-yinyang-border"/>
          <p:cNvSpPr/>
          <p:nvPr/>
        </p:nvSpPr>
        <p:spPr>
          <a:xfrm>
            <a:off x="8483600" y="3670300"/>
            <a:ext cx="1600200" cy="149860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9575CD"/>
            </a:solidFill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06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kern="0" spc="300" noProof="1">
                <a:solidFill>
                  <a:srgbClr val="4CAF50"/>
                </a:solidFill>
                <a:latin typeface="MiSans" charset="-122"/>
                <a:ea typeface="MiSans" charset="-122"/>
              </a:rPr>
              <a:t>CASE 3 · IN THE UI</a:t>
            </a:r>
            <a:endParaRPr lang="en-US" sz="13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One approved memory recalled — as a goal, not a fact</a:t>
            </a:r>
            <a:endParaRPr lang="en-US" sz="2600" noProof="1"/>
          </a:p>
        </p:txBody>
      </p:sp>
      <p:sp>
        <p:nvSpPr>
          <p:cNvPr id="4" name="zone-legend"/>
          <p:cNvSpPr txBox="1"/>
          <p:nvPr/>
        </p:nvSpPr>
        <p:spPr>
          <a:xfrm>
            <a:off x="762000" y="12192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4FC3F7"/>
                </a:solidFill>
                <a:latin typeface="MiSans" charset="-122"/>
                <a:ea typeface="MiSans" charset="-122"/>
              </a:rPr>
              <a:t>Real test inputs: dog.png · yinyang.jpg</a:t>
            </a:r>
            <a:r>
              <a:rPr lang="en-US" sz="12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   </a:t>
            </a:r>
            <a:r>
              <a:rPr lang="en-US" sz="1200" b="1" noProof="1">
                <a:solidFill>
                  <a:srgbClr val="9575CD"/>
                </a:solidFill>
                <a:latin typeface="MiSans" charset="-122"/>
                <a:ea typeface="MiSans" charset="-122"/>
              </a:rPr>
              <a:t>1 RECALLED — shown verbatim, labeled as a goal</a:t>
            </a:r>
            <a:r>
              <a:rPr lang="en-US" sz="12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   </a:t>
            </a:r>
            <a:r>
              <a:rPr lang="en-US" sz="1200" b="1" noProof="1">
                <a:solidFill>
                  <a:srgbClr val="4CAF50"/>
                </a:solidFill>
                <a:latin typeface="MiSans" charset="-122"/>
                <a:ea typeface="MiSans" charset="-122"/>
              </a:rPr>
              <a:t>Candidate B recommended on provenance safety</a:t>
            </a:r>
            <a:endParaRPr lang="en-US" sz="1200" noProof="1"/>
          </a:p>
        </p:txBody>
      </p:sp>
      <p:pic>
        <p:nvPicPr>
          <p:cNvPr id="5" name="ui-shot"/>
          <p:cNvPicPr/>
          <p:nvPr/>
        </p:nvPicPr>
        <p:blipFill>
          <a:blip r:embed="rId1"/>
          <a:srcRect t="8500" b="2000"/>
          <a:stretch>
            <a:fillRect/>
          </a:stretch>
        </p:blipFill>
        <p:spPr>
          <a:xfrm>
            <a:off x="889000" y="1574800"/>
            <a:ext cx="10414000" cy="5054600"/>
          </a:xfrm>
          <a:prstGeom prst="rect">
            <a:avLst/>
          </a:prstGeom>
          <a:ln>
            <a:noFill/>
          </a:ln>
        </p:spPr>
      </p:pic>
      <p:sp>
        <p:nvSpPr>
          <p:cNvPr id="6" name="ui-shot-border"/>
          <p:cNvSpPr/>
          <p:nvPr/>
        </p:nvSpPr>
        <p:spPr>
          <a:xfrm>
            <a:off x="889000" y="1574800"/>
            <a:ext cx="10414000" cy="5054600"/>
          </a:xfrm>
          <a:prstGeom prst="rect">
            <a:avLst/>
          </a:prstGeom>
          <a:noFill/>
          <a:ln w="12700">
            <a:solidFill>
              <a:srgbClr val="FFFFFF">
                <a:alpha val="14902"/>
              </a:srgbClr>
            </a:solidFill>
          </a:ln>
        </p:spPr>
      </p:sp>
      <p:sp>
        <p:nvSpPr>
          <p:cNvPr id="7" name="pagenum"/>
          <p:cNvSpPr txBox="1"/>
          <p:nvPr/>
        </p:nvSpPr>
        <p:spPr>
          <a:xfrm>
            <a:off x="10871200" y="64516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15</a:t>
            </a:r>
            <a:endParaRPr lang="en-US" sz="10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ase4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pic>
        <p:nvPicPr>
          <p:cNvPr id="3" name="real-yinya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498600" y="3441700"/>
            <a:ext cx="1828800" cy="1828800"/>
          </a:xfrm>
          <a:prstGeom prst="roundRect">
            <a:avLst>
              <a:gd name="adj" fmla="val 8000"/>
            </a:avLst>
          </a:prstGeom>
          <a:ln>
            <a:noFill/>
          </a:ln>
        </p:spPr>
      </p:pic>
      <p:sp>
        <p:nvSpPr>
          <p:cNvPr id="4" name="real-yinyang-border"/>
          <p:cNvSpPr/>
          <p:nvPr/>
        </p:nvSpPr>
        <p:spPr>
          <a:xfrm>
            <a:off x="1498600" y="3441700"/>
            <a:ext cx="1828800" cy="18288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4CAF50"/>
            </a:solidFill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-bl"/>
          <p:cNvSpPr/>
          <p:nvPr/>
        </p:nvSpPr>
        <p:spPr>
          <a:xfrm>
            <a:off x="-2286000" y="4064000"/>
            <a:ext cx="6350000" cy="5080000"/>
          </a:xfrm>
          <a:prstGeom prst="ellipse">
            <a:avLst/>
          </a:prstGeom>
          <a:gradFill rotWithShape="1">
            <a:gsLst>
              <a:gs pos="0">
                <a:srgbClr val="2E7D32">
                  <a:alpha val="34902"/>
                </a:srgbClr>
              </a:gs>
              <a:gs pos="100000">
                <a:srgbClr val="2E7D32">
                  <a:alpha val="0"/>
                </a:srgbClr>
              </a:gs>
            </a:gsLst>
            <a:path path="circle"/>
          </a:gra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7620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kern="0" spc="300" noProof="1">
                <a:solidFill>
                  <a:srgbClr val="4CAF50"/>
                </a:solidFill>
                <a:latin typeface="MiSans" charset="-122"/>
                <a:ea typeface="MiSans" charset="-122"/>
              </a:rPr>
              <a:t>MEASURED ON W7900 · 2026-08-05</a:t>
            </a:r>
            <a:endParaRPr lang="en-US" sz="13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8128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83.42 tok/s median, 100% valid structured output</a:t>
            </a:r>
            <a:endParaRPr lang="en-US" sz="3200" noProof="1"/>
          </a:p>
        </p:txBody>
      </p:sp>
      <p:sp>
        <p:nvSpPr>
          <p:cNvPr id="5" name="subtitle"/>
          <p:cNvSpPr txBox="1"/>
          <p:nvPr/>
        </p:nvSpPr>
        <p:spPr>
          <a:xfrm>
            <a:off x="762000" y="14478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Qwen3.6-35B-A3B · Q6_K GGUF · llama.cpp · ROCm · AMD Radeon PRO W7900</a:t>
            </a:r>
            <a:endParaRPr lang="en-US" sz="1500" noProof="1"/>
          </a:p>
        </p:txBody>
      </p:sp>
      <p:sp>
        <p:nvSpPr>
          <p:cNvPr id="6" name="rule"/>
          <p:cNvSpPr/>
          <p:nvPr/>
        </p:nvSpPr>
        <p:spPr>
          <a:xfrm>
            <a:off x="762000" y="1879600"/>
            <a:ext cx="10668000" cy="12700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</p:sp>
      <p:sp>
        <p:nvSpPr>
          <p:cNvPr id="7" name="m1-num"/>
          <p:cNvSpPr txBox="1"/>
          <p:nvPr/>
        </p:nvSpPr>
        <p:spPr>
          <a:xfrm>
            <a:off x="762000" y="2235200"/>
            <a:ext cx="2540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noProof="1">
                <a:solidFill>
                  <a:srgbClr val="4FC3F7"/>
                </a:solidFill>
                <a:latin typeface="MiSans" charset="-122"/>
                <a:ea typeface="MiSans" charset="-122"/>
              </a:rPr>
              <a:t>87.09 ms</a:t>
            </a:r>
            <a:endParaRPr lang="en-US" sz="3600" noProof="1"/>
          </a:p>
        </p:txBody>
      </p:sp>
      <p:sp>
        <p:nvSpPr>
          <p:cNvPr id="8" name="m1-label"/>
          <p:cNvSpPr txBox="1"/>
          <p:nvPr/>
        </p:nvSpPr>
        <p:spPr>
          <a:xfrm>
            <a:off x="762000" y="29210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first generated delta, median</a:t>
            </a:r>
            <a:endParaRPr lang="en-US" sz="1200" noProof="1"/>
          </a:p>
        </p:txBody>
      </p:sp>
      <p:sp>
        <p:nvSpPr>
          <p:cNvPr id="9" name="m2-num"/>
          <p:cNvSpPr txBox="1"/>
          <p:nvPr/>
        </p:nvSpPr>
        <p:spPr>
          <a:xfrm>
            <a:off x="3492500" y="2235200"/>
            <a:ext cx="2540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noProof="1">
                <a:solidFill>
                  <a:srgbClr val="4FC3F7"/>
                </a:solidFill>
                <a:latin typeface="MiSans" charset="-122"/>
                <a:ea typeface="MiSans" charset="-122"/>
              </a:rPr>
              <a:t>9.96 s</a:t>
            </a:r>
            <a:endParaRPr lang="en-US" sz="3600" noProof="1"/>
          </a:p>
        </p:txBody>
      </p:sp>
      <p:sp>
        <p:nvSpPr>
          <p:cNvPr id="10" name="m2-label"/>
          <p:cNvSpPr txBox="1"/>
          <p:nvPr/>
        </p:nvSpPr>
        <p:spPr>
          <a:xfrm>
            <a:off x="3492500" y="29210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first final-content delta, median</a:t>
            </a:r>
            <a:endParaRPr lang="en-US" sz="1200" noProof="1"/>
          </a:p>
        </p:txBody>
      </p:sp>
      <p:sp>
        <p:nvSpPr>
          <p:cNvPr id="11" name="m3-num"/>
          <p:cNvSpPr txBox="1"/>
          <p:nvPr/>
        </p:nvSpPr>
        <p:spPr>
          <a:xfrm>
            <a:off x="6223000" y="2235200"/>
            <a:ext cx="2540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11.92 s</a:t>
            </a:r>
            <a:endParaRPr lang="en-US" sz="3600" noProof="1"/>
          </a:p>
        </p:txBody>
      </p:sp>
      <p:sp>
        <p:nvSpPr>
          <p:cNvPr id="12" name="m3-label"/>
          <p:cNvSpPr txBox="1"/>
          <p:nvPr/>
        </p:nvSpPr>
        <p:spPr>
          <a:xfrm>
            <a:off x="6223000" y="29210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end-to-end model latency, median</a:t>
            </a:r>
            <a:endParaRPr lang="en-US" sz="1200" noProof="1"/>
          </a:p>
        </p:txBody>
      </p:sp>
      <p:sp>
        <p:nvSpPr>
          <p:cNvPr id="13" name="m4-num"/>
          <p:cNvSpPr txBox="1"/>
          <p:nvPr/>
        </p:nvSpPr>
        <p:spPr>
          <a:xfrm>
            <a:off x="8953500" y="2235200"/>
            <a:ext cx="2540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noProof="1">
                <a:solidFill>
                  <a:srgbClr val="4CAF50"/>
                </a:solidFill>
                <a:latin typeface="MiSans" charset="-122"/>
                <a:ea typeface="MiSans" charset="-122"/>
              </a:rPr>
              <a:t>83.42</a:t>
            </a:r>
            <a:endParaRPr lang="en-US" sz="3600" noProof="1"/>
          </a:p>
        </p:txBody>
      </p:sp>
      <p:sp>
        <p:nvSpPr>
          <p:cNvPr id="14" name="m4-label"/>
          <p:cNvSpPr txBox="1"/>
          <p:nvPr/>
        </p:nvSpPr>
        <p:spPr>
          <a:xfrm>
            <a:off x="8953500" y="29210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decode throughput, median tok/s</a:t>
            </a:r>
            <a:endParaRPr lang="en-US" sz="1200" noProof="1"/>
          </a:p>
        </p:txBody>
      </p:sp>
      <p:sp>
        <p:nvSpPr>
          <p:cNvPr id="15" name="metrics-rule"/>
          <p:cNvSpPr/>
          <p:nvPr/>
        </p:nvSpPr>
        <p:spPr>
          <a:xfrm>
            <a:off x="762000" y="3606800"/>
            <a:ext cx="10668000" cy="12700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</p:sp>
      <p:sp>
        <p:nvSpPr>
          <p:cNvPr id="16" name="valid"/>
          <p:cNvSpPr txBox="1"/>
          <p:nvPr/>
        </p:nvSpPr>
        <p:spPr>
          <a:xfrm>
            <a:off x="762000" y="38354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4CAF50"/>
                </a:solidFill>
                <a:latin typeface="MiSans" charset="-122"/>
                <a:ea typeface="MiSans" charset="-122"/>
              </a:rPr>
              <a:t>100% valid JSON (5/5)</a:t>
            </a:r>
            <a:r>
              <a:rPr lang="en-US" sz="14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  ·  identical final-content SHA-256 across all six captured runs</a:t>
            </a:r>
            <a:endParaRPr lang="en-US" sz="1400" noProof="1"/>
          </a:p>
        </p:txBody>
      </p:sp>
      <p:sp>
        <p:nvSpPr>
          <p:cNvPr id="17" name="config-label"/>
          <p:cNvSpPr txBox="1"/>
          <p:nvPr/>
        </p:nvSpPr>
        <p:spPr>
          <a:xfrm>
            <a:off x="762000" y="4419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4FC3F7"/>
                </a:solidFill>
                <a:latin typeface="MiSans" charset="-122"/>
                <a:ea typeface="MiSans" charset="-122"/>
              </a:rPr>
              <a:t>Capture configuration</a:t>
            </a:r>
            <a:endParaRPr lang="en-US" sz="1200" noProof="1"/>
          </a:p>
        </p:txBody>
      </p:sp>
      <p:sp>
        <p:nvSpPr>
          <p:cNvPr id="18" name="config"/>
          <p:cNvSpPr txBox="1"/>
          <p:nvPr/>
        </p:nvSpPr>
        <p:spPr>
          <a:xfrm>
            <a:off x="762000" y="4699000"/>
            <a:ext cx="6096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5000"/>
              </a:lnSpc>
            </a:pPr>
            <a:r>
              <a:rPr lang="en-US" sz="12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Full GPU layer offload · flash attention · Q8_0 KV cache</a:t>
            </a:r>
            <a:endParaRPr lang="en-US" sz="1200" noProof="1"/>
          </a:p>
          <a:p>
            <a:pPr algn="l">
              <a:lnSpc>
                <a:spcPct val="165000"/>
              </a:lnSpc>
            </a:pPr>
            <a:r>
              <a:rPr lang="en-US" sz="12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2,048-token reasoning budget · 384-token final budget</a:t>
            </a:r>
            <a:endParaRPr lang="en-US" sz="1200" noProof="1"/>
          </a:p>
          <a:p>
            <a:pPr algn="l">
              <a:lnSpc>
                <a:spcPct val="165000"/>
              </a:lnSpc>
            </a:pPr>
            <a:r>
              <a:rPr lang="en-US" sz="12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Batch-size-1 multimodal · 1 warmup + 5 measured runs</a:t>
            </a:r>
            <a:endParaRPr lang="en-US" sz="1200" noProof="1"/>
          </a:p>
        </p:txBody>
      </p:sp>
      <p:sp>
        <p:nvSpPr>
          <p:cNvPr id="19" name="cold-label"/>
          <p:cNvSpPr txBox="1"/>
          <p:nvPr/>
        </p:nvSpPr>
        <p:spPr>
          <a:xfrm>
            <a:off x="7366000" y="4419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FFA726"/>
                </a:solidFill>
                <a:latin typeface="MiSans" charset="-122"/>
                <a:ea typeface="MiSans" charset="-122"/>
              </a:rPr>
              <a:t>Cold reference</a:t>
            </a:r>
            <a:endParaRPr lang="en-US" sz="1200" noProof="1"/>
          </a:p>
        </p:txBody>
      </p:sp>
      <p:sp>
        <p:nvSpPr>
          <p:cNvPr id="20" name="cold"/>
          <p:cNvSpPr txBox="1"/>
          <p:nvPr/>
        </p:nvSpPr>
        <p:spPr>
          <a:xfrm>
            <a:off x="7366000" y="4699000"/>
            <a:ext cx="4064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5000"/>
              </a:lnSpc>
            </a:pPr>
            <a:r>
              <a:rPr lang="en-US" sz="12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825.58 ms to first generated delta</a:t>
            </a:r>
            <a:endParaRPr lang="en-US" sz="1200" noProof="1"/>
          </a:p>
          <a:p>
            <a:pPr algn="l">
              <a:lnSpc>
                <a:spcPct val="165000"/>
              </a:lnSpc>
            </a:pPr>
            <a:r>
              <a:rPr lang="en-US" sz="12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12.69 s total latency · 83.16 tok/s decode</a:t>
            </a:r>
            <a:endParaRPr lang="en-US" sz="1200" noProof="1"/>
          </a:p>
        </p:txBody>
      </p:sp>
      <p:sp>
        <p:nvSpPr>
          <p:cNvPr id="21" name="disclaimer"/>
          <p:cNvSpPr txBox="1"/>
          <p:nvPr/>
        </p:nvSpPr>
        <p:spPr>
          <a:xfrm>
            <a:off x="762000" y="58674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FFA726"/>
                </a:solidFill>
                <a:latin typeface="MiSans" charset="-122"/>
                <a:ea typeface="MiSans" charset="-122"/>
              </a:rPr>
              <a:t>Model-workload benchmark — not the complete multi-node Agent workflow duration.</a:t>
            </a:r>
            <a:endParaRPr lang="en-US" sz="1200" noProof="1"/>
          </a:p>
        </p:txBody>
      </p:sp>
      <p:sp>
        <p:nvSpPr>
          <p:cNvPr id="22" name="footer"/>
          <p:cNvSpPr txBox="1"/>
          <p:nvPr/>
        </p:nvSpPr>
        <p:spPr>
          <a:xfrm>
            <a:off x="762000" y="6451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XiangLens · AMD AI DevMaster 2026 · Track 2</a:t>
            </a:r>
            <a:endParaRPr lang="en-US" sz="1000" noProof="1"/>
          </a:p>
        </p:txBody>
      </p:sp>
      <p:sp>
        <p:nvSpPr>
          <p:cNvPr id="23" name="pagenum"/>
          <p:cNvSpPr txBox="1"/>
          <p:nvPr/>
        </p:nvSpPr>
        <p:spPr>
          <a:xfrm>
            <a:off x="10871200" y="64516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17</a:t>
            </a:r>
            <a:endParaRPr lang="en-US" sz="1000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-tr"/>
          <p:cNvSpPr/>
          <p:nvPr/>
        </p:nvSpPr>
        <p:spPr>
          <a:xfrm>
            <a:off x="8128000" y="-2286000"/>
            <a:ext cx="6350000" cy="5080000"/>
          </a:xfrm>
          <a:prstGeom prst="ellipse">
            <a:avLst/>
          </a:prstGeom>
          <a:gradFill rotWithShape="1">
            <a:gsLst>
              <a:gs pos="0">
                <a:srgbClr val="1E4A5F">
                  <a:alpha val="50196"/>
                </a:srgbClr>
              </a:gs>
              <a:gs pos="100000">
                <a:srgbClr val="1E4A5F">
                  <a:alpha val="0"/>
                </a:srgbClr>
              </a:gs>
            </a:gsLst>
            <a:path path="circle"/>
          </a:gra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7620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kern="0" spc="300" noProof="1">
                <a:solidFill>
                  <a:srgbClr val="4CAF50"/>
                </a:solidFill>
                <a:latin typeface="MiSans" charset="-122"/>
                <a:ea typeface="MiSans" charset="-122"/>
              </a:rPr>
              <a:t>SUMMARY</a:t>
            </a:r>
            <a:endParaRPr lang="en-US" sz="13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8128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What the four cases prove</a:t>
            </a:r>
            <a:endParaRPr lang="en-US" sz="3200" noProof="1"/>
          </a:p>
        </p:txBody>
      </p:sp>
      <p:sp>
        <p:nvSpPr>
          <p:cNvPr id="5" name="subtitle"/>
          <p:cNvSpPr txBox="1"/>
          <p:nvPr/>
        </p:nvSpPr>
        <p:spPr>
          <a:xfrm>
            <a:off x="762000" y="14478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Every claim above is backed by a visible workflow step in the recorded run</a:t>
            </a:r>
            <a:endParaRPr lang="en-US" sz="1500" noProof="1"/>
          </a:p>
        </p:txBody>
      </p:sp>
      <p:sp>
        <p:nvSpPr>
          <p:cNvPr id="6" name="rule"/>
          <p:cNvSpPr/>
          <p:nvPr/>
        </p:nvSpPr>
        <p:spPr>
          <a:xfrm>
            <a:off x="762000" y="1879600"/>
            <a:ext cx="10668000" cy="12700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</p:sp>
      <p:sp>
        <p:nvSpPr>
          <p:cNvPr id="7" name="r1-icon"/>
          <p:cNvSpPr/>
          <p:nvPr/>
        </p:nvSpPr>
        <p:spPr>
          <a:xfrm>
            <a:off x="762000" y="2311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4FC3F7"/>
          </a:solidFill>
          <a:ln>
            <a:noFill/>
          </a:ln>
        </p:spPr>
      </p:sp>
      <p:sp>
        <p:nvSpPr>
          <p:cNvPr id="8" name="r1"/>
          <p:cNvSpPr txBox="1"/>
          <p:nvPr/>
        </p:nvSpPr>
        <p:spPr>
          <a:xfrm>
            <a:off x="1219200" y="2286000"/>
            <a:ext cx="431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Local privacy inspection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2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Deterministic QR detection before the model — Case 1</a:t>
            </a:r>
            <a:endParaRPr lang="en-US" sz="1600" noProof="1"/>
          </a:p>
        </p:txBody>
      </p:sp>
      <p:sp>
        <p:nvSpPr>
          <p:cNvPr id="9" name="r2-icon"/>
          <p:cNvSpPr/>
          <p:nvPr/>
        </p:nvSpPr>
        <p:spPr>
          <a:xfrm>
            <a:off x="762000" y="3327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420" y="96"/>
                </a:moveTo>
                <a:cubicBezTo>
                  <a:pt x="403" y="96"/>
                  <a:pt x="387" y="101"/>
                  <a:pt x="373" y="109"/>
                </a:cubicBezTo>
                <a:cubicBezTo>
                  <a:pt x="357" y="93"/>
                  <a:pt x="339" y="79"/>
                  <a:pt x="318" y="69"/>
                </a:cubicBezTo>
                <a:cubicBezTo>
                  <a:pt x="346" y="45"/>
                  <a:pt x="382" y="32"/>
                  <a:pt x="420" y="32"/>
                </a:cubicBezTo>
                <a:cubicBezTo>
                  <a:pt x="506" y="32"/>
                  <a:pt x="576" y="102"/>
                  <a:pt x="576" y="189"/>
                </a:cubicBezTo>
                <a:cubicBezTo>
                  <a:pt x="576" y="230"/>
                  <a:pt x="560" y="270"/>
                  <a:pt x="530" y="299"/>
                </a:cubicBezTo>
                <a:lnTo>
                  <a:pt x="459" y="370"/>
                </a:lnTo>
                <a:cubicBezTo>
                  <a:pt x="430" y="400"/>
                  <a:pt x="390" y="416"/>
                  <a:pt x="349" y="416"/>
                </a:cubicBezTo>
                <a:cubicBezTo>
                  <a:pt x="262" y="416"/>
                  <a:pt x="192" y="346"/>
                  <a:pt x="192" y="260"/>
                </a:cubicBezTo>
                <a:cubicBezTo>
                  <a:pt x="192" y="258"/>
                  <a:pt x="192" y="257"/>
                  <a:pt x="192" y="255"/>
                </a:cubicBezTo>
                <a:cubicBezTo>
                  <a:pt x="193" y="237"/>
                  <a:pt x="207" y="223"/>
                  <a:pt x="225" y="224"/>
                </a:cubicBezTo>
                <a:cubicBezTo>
                  <a:pt x="243" y="224"/>
                  <a:pt x="257" y="239"/>
                  <a:pt x="256" y="257"/>
                </a:cubicBezTo>
                <a:cubicBezTo>
                  <a:pt x="256" y="258"/>
                  <a:pt x="256" y="259"/>
                  <a:pt x="256" y="259"/>
                </a:cubicBezTo>
                <a:cubicBezTo>
                  <a:pt x="256" y="311"/>
                  <a:pt x="298" y="352"/>
                  <a:pt x="349" y="352"/>
                </a:cubicBezTo>
                <a:cubicBezTo>
                  <a:pt x="373" y="352"/>
                  <a:pt x="397" y="342"/>
                  <a:pt x="414" y="325"/>
                </a:cubicBezTo>
                <a:lnTo>
                  <a:pt x="485" y="254"/>
                </a:lnTo>
                <a:cubicBezTo>
                  <a:pt x="502" y="236"/>
                  <a:pt x="512" y="213"/>
                  <a:pt x="512" y="188"/>
                </a:cubicBezTo>
                <a:cubicBezTo>
                  <a:pt x="512" y="137"/>
                  <a:pt x="471" y="96"/>
                  <a:pt x="420" y="96"/>
                </a:cubicBezTo>
                <a:close/>
                <a:moveTo>
                  <a:pt x="275" y="173"/>
                </a:moveTo>
                <a:cubicBezTo>
                  <a:pt x="273" y="173"/>
                  <a:pt x="271" y="171"/>
                  <a:pt x="270" y="170"/>
                </a:cubicBezTo>
                <a:cubicBezTo>
                  <a:pt x="257" y="164"/>
                  <a:pt x="243" y="160"/>
                  <a:pt x="228" y="160"/>
                </a:cubicBezTo>
                <a:cubicBezTo>
                  <a:pt x="203" y="160"/>
                  <a:pt x="180" y="170"/>
                  <a:pt x="162" y="187"/>
                </a:cubicBezTo>
                <a:lnTo>
                  <a:pt x="91" y="258"/>
                </a:lnTo>
                <a:cubicBezTo>
                  <a:pt x="74" y="276"/>
                  <a:pt x="64" y="299"/>
                  <a:pt x="64" y="324"/>
                </a:cubicBezTo>
                <a:cubicBezTo>
                  <a:pt x="64" y="375"/>
                  <a:pt x="105" y="416"/>
                  <a:pt x="157" y="416"/>
                </a:cubicBezTo>
                <a:cubicBezTo>
                  <a:pt x="173" y="416"/>
                  <a:pt x="189" y="412"/>
                  <a:pt x="203" y="404"/>
                </a:cubicBezTo>
                <a:cubicBezTo>
                  <a:pt x="219" y="420"/>
                  <a:pt x="237" y="433"/>
                  <a:pt x="258" y="443"/>
                </a:cubicBezTo>
                <a:cubicBezTo>
                  <a:pt x="230" y="467"/>
                  <a:pt x="194" y="480"/>
                  <a:pt x="157" y="480"/>
                </a:cubicBezTo>
                <a:cubicBezTo>
                  <a:pt x="70" y="480"/>
                  <a:pt x="0" y="410"/>
                  <a:pt x="0" y="324"/>
                </a:cubicBezTo>
                <a:cubicBezTo>
                  <a:pt x="0" y="282"/>
                  <a:pt x="17" y="242"/>
                  <a:pt x="46" y="213"/>
                </a:cubicBezTo>
                <a:lnTo>
                  <a:pt x="117" y="142"/>
                </a:lnTo>
                <a:cubicBezTo>
                  <a:pt x="146" y="113"/>
                  <a:pt x="186" y="96"/>
                  <a:pt x="228" y="96"/>
                </a:cubicBezTo>
                <a:cubicBezTo>
                  <a:pt x="314" y="96"/>
                  <a:pt x="384" y="167"/>
                  <a:pt x="384" y="253"/>
                </a:cubicBezTo>
                <a:cubicBezTo>
                  <a:pt x="384" y="254"/>
                  <a:pt x="384" y="256"/>
                  <a:pt x="384" y="257"/>
                </a:cubicBezTo>
                <a:cubicBezTo>
                  <a:pt x="384" y="275"/>
                  <a:pt x="369" y="289"/>
                  <a:pt x="351" y="288"/>
                </a:cubicBezTo>
                <a:cubicBezTo>
                  <a:pt x="334" y="288"/>
                  <a:pt x="320" y="273"/>
                  <a:pt x="320" y="255"/>
                </a:cubicBezTo>
                <a:cubicBezTo>
                  <a:pt x="320" y="255"/>
                  <a:pt x="320" y="254"/>
                  <a:pt x="320" y="253"/>
                </a:cubicBezTo>
                <a:cubicBezTo>
                  <a:pt x="320" y="219"/>
                  <a:pt x="302" y="190"/>
                  <a:pt x="275" y="173"/>
                </a:cubicBezTo>
                <a:close/>
              </a:path>
            </a:pathLst>
          </a:custGeom>
          <a:solidFill>
            <a:srgbClr val="4FC3F7"/>
          </a:solidFill>
          <a:ln>
            <a:noFill/>
          </a:ln>
        </p:spPr>
      </p:sp>
      <p:sp>
        <p:nvSpPr>
          <p:cNvPr id="10" name="r2"/>
          <p:cNvSpPr txBox="1"/>
          <p:nvPr/>
        </p:nvSpPr>
        <p:spPr>
          <a:xfrm>
            <a:off x="1219200" y="3302000"/>
            <a:ext cx="431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Source-backed retrieval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2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Reports link the exact evidence used — Case 1</a:t>
            </a:r>
            <a:endParaRPr lang="en-US" sz="1600" noProof="1"/>
          </a:p>
        </p:txBody>
      </p:sp>
      <p:sp>
        <p:nvSpPr>
          <p:cNvPr id="11" name="r3-icon"/>
          <p:cNvSpPr/>
          <p:nvPr/>
        </p:nvSpPr>
        <p:spPr>
          <a:xfrm>
            <a:off x="762000" y="4343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84" y="144"/>
                </a:moveTo>
                <a:cubicBezTo>
                  <a:pt x="384" y="241"/>
                  <a:pt x="298" y="320"/>
                  <a:pt x="192" y="320"/>
                </a:cubicBezTo>
                <a:cubicBezTo>
                  <a:pt x="165" y="320"/>
                  <a:pt x="140" y="315"/>
                  <a:pt x="117" y="306"/>
                </a:cubicBezTo>
                <a:lnTo>
                  <a:pt x="35" y="349"/>
                </a:lnTo>
                <a:cubicBezTo>
                  <a:pt x="26" y="354"/>
                  <a:pt x="15" y="352"/>
                  <a:pt x="7" y="345"/>
                </a:cubicBezTo>
                <a:cubicBezTo>
                  <a:pt x="0" y="338"/>
                  <a:pt x="-2" y="326"/>
                  <a:pt x="3" y="317"/>
                </a:cubicBezTo>
                <a:lnTo>
                  <a:pt x="38" y="250"/>
                </a:lnTo>
                <a:cubicBezTo>
                  <a:pt x="14" y="220"/>
                  <a:pt x="0" y="184"/>
                  <a:pt x="0" y="144"/>
                </a:cubicBezTo>
                <a:cubicBezTo>
                  <a:pt x="0" y="47"/>
                  <a:pt x="86" y="-32"/>
                  <a:pt x="192" y="-32"/>
                </a:cubicBezTo>
                <a:cubicBezTo>
                  <a:pt x="298" y="-32"/>
                  <a:pt x="384" y="47"/>
                  <a:pt x="384" y="144"/>
                </a:cubicBezTo>
                <a:close/>
                <a:moveTo>
                  <a:pt x="384" y="512"/>
                </a:moveTo>
                <a:cubicBezTo>
                  <a:pt x="290" y="512"/>
                  <a:pt x="212" y="450"/>
                  <a:pt x="195" y="368"/>
                </a:cubicBezTo>
                <a:cubicBezTo>
                  <a:pt x="315" y="367"/>
                  <a:pt x="420" y="281"/>
                  <a:pt x="431" y="165"/>
                </a:cubicBezTo>
                <a:cubicBezTo>
                  <a:pt x="514" y="185"/>
                  <a:pt x="576" y="254"/>
                  <a:pt x="576" y="336"/>
                </a:cubicBezTo>
                <a:cubicBezTo>
                  <a:pt x="576" y="376"/>
                  <a:pt x="562" y="412"/>
                  <a:pt x="538" y="442"/>
                </a:cubicBezTo>
                <a:lnTo>
                  <a:pt x="573" y="509"/>
                </a:lnTo>
                <a:cubicBezTo>
                  <a:pt x="578" y="518"/>
                  <a:pt x="576" y="530"/>
                  <a:pt x="569" y="537"/>
                </a:cubicBezTo>
                <a:cubicBezTo>
                  <a:pt x="562" y="545"/>
                  <a:pt x="550" y="546"/>
                  <a:pt x="541" y="541"/>
                </a:cubicBezTo>
                <a:lnTo>
                  <a:pt x="459" y="498"/>
                </a:lnTo>
                <a:cubicBezTo>
                  <a:pt x="436" y="507"/>
                  <a:pt x="411" y="512"/>
                  <a:pt x="384" y="512"/>
                </a:cubicBezTo>
                <a:close/>
              </a:path>
            </a:pathLst>
          </a:custGeom>
          <a:solidFill>
            <a:srgbClr val="4FC3F7"/>
          </a:solidFill>
          <a:ln>
            <a:noFill/>
          </a:ln>
        </p:spPr>
      </p:sp>
      <p:sp>
        <p:nvSpPr>
          <p:cNvPr id="12" name="r3"/>
          <p:cNvSpPr txBox="1"/>
          <p:nvPr/>
        </p:nvSpPr>
        <p:spPr>
          <a:xfrm>
            <a:off x="1219200" y="4318000"/>
            <a:ext cx="431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Same-thread follow-ups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2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Verified analysis reused; vision skipped — Case 1</a:t>
            </a:r>
            <a:endParaRPr lang="en-US" sz="1600" noProof="1"/>
          </a:p>
        </p:txBody>
      </p:sp>
      <p:sp>
        <p:nvSpPr>
          <p:cNvPr id="13" name="r4-icon"/>
          <p:cNvSpPr/>
          <p:nvPr/>
        </p:nvSpPr>
        <p:spPr>
          <a:xfrm>
            <a:off x="6350000" y="2311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136" y="128"/>
                </a:moveTo>
                <a:cubicBezTo>
                  <a:pt x="136" y="62"/>
                  <a:pt x="190" y="8"/>
                  <a:pt x="256" y="8"/>
                </a:cubicBezTo>
                <a:cubicBezTo>
                  <a:pt x="322" y="8"/>
                  <a:pt x="376" y="62"/>
                  <a:pt x="376" y="128"/>
                </a:cubicBezTo>
                <a:cubicBezTo>
                  <a:pt x="376" y="194"/>
                  <a:pt x="322" y="248"/>
                  <a:pt x="256" y="248"/>
                </a:cubicBezTo>
                <a:cubicBezTo>
                  <a:pt x="190" y="248"/>
                  <a:pt x="136" y="194"/>
                  <a:pt x="136" y="128"/>
                </a:cubicBezTo>
                <a:close/>
              </a:path>
              <a:path w="640" h="512">
                <a:moveTo>
                  <a:pt x="48" y="482"/>
                </a:moveTo>
                <a:cubicBezTo>
                  <a:pt x="48" y="384"/>
                  <a:pt x="128" y="304"/>
                  <a:pt x="226" y="304"/>
                </a:cubicBezTo>
                <a:lnTo>
                  <a:pt x="286" y="304"/>
                </a:lnTo>
                <a:cubicBezTo>
                  <a:pt x="384" y="304"/>
                  <a:pt x="464" y="384"/>
                  <a:pt x="464" y="482"/>
                </a:cubicBezTo>
                <a:cubicBezTo>
                  <a:pt x="464" y="499"/>
                  <a:pt x="451" y="512"/>
                  <a:pt x="434" y="512"/>
                </a:cubicBezTo>
                <a:lnTo>
                  <a:pt x="78" y="512"/>
                </a:lnTo>
                <a:cubicBezTo>
                  <a:pt x="61" y="512"/>
                  <a:pt x="48" y="499"/>
                  <a:pt x="48" y="482"/>
                </a:cubicBezTo>
                <a:close/>
              </a:path>
              <a:path w="640" h="512">
                <a:moveTo>
                  <a:pt x="612" y="133"/>
                </a:moveTo>
                <a:lnTo>
                  <a:pt x="532" y="261"/>
                </a:lnTo>
                <a:cubicBezTo>
                  <a:pt x="528" y="267"/>
                  <a:pt x="521" y="272"/>
                  <a:pt x="513" y="272"/>
                </a:cubicBezTo>
                <a:cubicBezTo>
                  <a:pt x="505" y="272"/>
                  <a:pt x="498" y="269"/>
                  <a:pt x="493" y="262"/>
                </a:cubicBezTo>
                <a:lnTo>
                  <a:pt x="445" y="198"/>
                </a:lnTo>
                <a:cubicBezTo>
                  <a:pt x="437" y="188"/>
                  <a:pt x="439" y="173"/>
                  <a:pt x="450" y="165"/>
                </a:cubicBezTo>
                <a:cubicBezTo>
                  <a:pt x="460" y="157"/>
                  <a:pt x="475" y="159"/>
                  <a:pt x="483" y="170"/>
                </a:cubicBezTo>
                <a:lnTo>
                  <a:pt x="510" y="206"/>
                </a:lnTo>
                <a:lnTo>
                  <a:pt x="572" y="107"/>
                </a:lnTo>
                <a:cubicBezTo>
                  <a:pt x="579" y="96"/>
                  <a:pt x="594" y="93"/>
                  <a:pt x="605" y="100"/>
                </a:cubicBezTo>
                <a:cubicBezTo>
                  <a:pt x="616" y="107"/>
                  <a:pt x="620" y="122"/>
                  <a:pt x="612" y="133"/>
                </a:cubicBezTo>
                <a:close/>
              </a:path>
            </a:pathLst>
          </a:custGeom>
          <a:solidFill>
            <a:srgbClr val="FFA726"/>
          </a:solidFill>
          <a:ln>
            <a:noFill/>
          </a:ln>
        </p:spPr>
      </p:sp>
      <p:sp>
        <p:nvSpPr>
          <p:cNvPr id="14" name="r4"/>
          <p:cNvSpPr txBox="1"/>
          <p:nvPr/>
        </p:nvSpPr>
        <p:spPr>
          <a:xfrm>
            <a:off x="6807200" y="2286000"/>
            <a:ext cx="4622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Consent-first memory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2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Nothing stored until the user clicks Approve — Case 2</a:t>
            </a:r>
            <a:endParaRPr lang="en-US" sz="1600" noProof="1"/>
          </a:p>
        </p:txBody>
      </p:sp>
      <p:sp>
        <p:nvSpPr>
          <p:cNvPr id="15" name="r5-icon"/>
          <p:cNvSpPr/>
          <p:nvPr/>
        </p:nvSpPr>
        <p:spPr>
          <a:xfrm>
            <a:off x="6350000" y="3327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80" y="192"/>
                </a:moveTo>
                <a:lnTo>
                  <a:pt x="488" y="192"/>
                </a:lnTo>
                <a:cubicBezTo>
                  <a:pt x="501" y="192"/>
                  <a:pt x="512" y="181"/>
                  <a:pt x="512" y="168"/>
                </a:cubicBezTo>
                <a:lnTo>
                  <a:pt x="512" y="24"/>
                </a:lnTo>
                <a:cubicBezTo>
                  <a:pt x="512" y="14"/>
                  <a:pt x="506" y="6"/>
                  <a:pt x="497" y="2"/>
                </a:cubicBezTo>
                <a:cubicBezTo>
                  <a:pt x="488" y="-2"/>
                  <a:pt x="478" y="0"/>
                  <a:pt x="471" y="7"/>
                </a:cubicBezTo>
                <a:lnTo>
                  <a:pt x="419" y="59"/>
                </a:lnTo>
                <a:cubicBezTo>
                  <a:pt x="375" y="22"/>
                  <a:pt x="318" y="0"/>
                  <a:pt x="256" y="0"/>
                </a:cubicBezTo>
                <a:cubicBezTo>
                  <a:pt x="127" y="0"/>
                  <a:pt x="20" y="95"/>
                  <a:pt x="3" y="220"/>
                </a:cubicBezTo>
                <a:cubicBezTo>
                  <a:pt x="0" y="237"/>
                  <a:pt x="12" y="253"/>
                  <a:pt x="30" y="256"/>
                </a:cubicBezTo>
                <a:cubicBezTo>
                  <a:pt x="47" y="258"/>
                  <a:pt x="63" y="246"/>
                  <a:pt x="66" y="229"/>
                </a:cubicBezTo>
                <a:cubicBezTo>
                  <a:pt x="79" y="136"/>
                  <a:pt x="159" y="64"/>
                  <a:pt x="256" y="64"/>
                </a:cubicBezTo>
                <a:cubicBezTo>
                  <a:pt x="300" y="64"/>
                  <a:pt x="341" y="79"/>
                  <a:pt x="374" y="104"/>
                </a:cubicBezTo>
                <a:lnTo>
                  <a:pt x="327" y="151"/>
                </a:lnTo>
                <a:cubicBezTo>
                  <a:pt x="320" y="158"/>
                  <a:pt x="318" y="168"/>
                  <a:pt x="322" y="177"/>
                </a:cubicBezTo>
                <a:cubicBezTo>
                  <a:pt x="326" y="186"/>
                  <a:pt x="334" y="192"/>
                  <a:pt x="344" y="192"/>
                </a:cubicBezTo>
                <a:lnTo>
                  <a:pt x="480" y="192"/>
                </a:lnTo>
                <a:close/>
                <a:moveTo>
                  <a:pt x="510" y="293"/>
                </a:moveTo>
                <a:cubicBezTo>
                  <a:pt x="512" y="275"/>
                  <a:pt x="500" y="259"/>
                  <a:pt x="482" y="256"/>
                </a:cubicBezTo>
                <a:cubicBezTo>
                  <a:pt x="465" y="254"/>
                  <a:pt x="449" y="266"/>
                  <a:pt x="446" y="283"/>
                </a:cubicBezTo>
                <a:cubicBezTo>
                  <a:pt x="433" y="376"/>
                  <a:pt x="353" y="448"/>
                  <a:pt x="256" y="448"/>
                </a:cubicBezTo>
                <a:cubicBezTo>
                  <a:pt x="212" y="448"/>
                  <a:pt x="171" y="433"/>
                  <a:pt x="138" y="408"/>
                </a:cubicBezTo>
                <a:lnTo>
                  <a:pt x="185" y="361"/>
                </a:lnTo>
                <a:cubicBezTo>
                  <a:pt x="192" y="354"/>
                  <a:pt x="194" y="344"/>
                  <a:pt x="190" y="335"/>
                </a:cubicBezTo>
                <a:cubicBezTo>
                  <a:pt x="186" y="326"/>
                  <a:pt x="178" y="320"/>
                  <a:pt x="168" y="320"/>
                </a:cubicBezTo>
                <a:lnTo>
                  <a:pt x="24" y="320"/>
                </a:lnTo>
                <a:cubicBezTo>
                  <a:pt x="11" y="320"/>
                  <a:pt x="0" y="331"/>
                  <a:pt x="0" y="344"/>
                </a:cubicBezTo>
                <a:lnTo>
                  <a:pt x="0" y="488"/>
                </a:lnTo>
                <a:cubicBezTo>
                  <a:pt x="0" y="498"/>
                  <a:pt x="6" y="507"/>
                  <a:pt x="15" y="510"/>
                </a:cubicBezTo>
                <a:cubicBezTo>
                  <a:pt x="24" y="514"/>
                  <a:pt x="34" y="512"/>
                  <a:pt x="41" y="505"/>
                </a:cubicBezTo>
                <a:lnTo>
                  <a:pt x="93" y="453"/>
                </a:lnTo>
                <a:cubicBezTo>
                  <a:pt x="137" y="490"/>
                  <a:pt x="194" y="512"/>
                  <a:pt x="256" y="512"/>
                </a:cubicBezTo>
                <a:cubicBezTo>
                  <a:pt x="385" y="512"/>
                  <a:pt x="492" y="417"/>
                  <a:pt x="509" y="293"/>
                </a:cubicBezTo>
                <a:close/>
              </a:path>
            </a:pathLst>
          </a:custGeom>
          <a:solidFill>
            <a:srgbClr val="9575CD"/>
          </a:solidFill>
          <a:ln>
            <a:noFill/>
          </a:ln>
        </p:spPr>
      </p:sp>
      <p:sp>
        <p:nvSpPr>
          <p:cNvPr id="16" name="r5"/>
          <p:cNvSpPr txBox="1"/>
          <p:nvPr/>
        </p:nvSpPr>
        <p:spPr>
          <a:xfrm>
            <a:off x="6807200" y="3302000"/>
            <a:ext cx="4622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Cross-review recall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2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Approved goals apply in brand-new threads — Case 3</a:t>
            </a:r>
            <a:endParaRPr lang="en-US" sz="1600" noProof="1"/>
          </a:p>
        </p:txBody>
      </p:sp>
      <p:sp>
        <p:nvSpPr>
          <p:cNvPr id="17" name="r6-icon"/>
          <p:cNvSpPr/>
          <p:nvPr/>
        </p:nvSpPr>
        <p:spPr>
          <a:xfrm>
            <a:off x="6350000" y="4343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192" y="64"/>
                </a:moveTo>
                <a:cubicBezTo>
                  <a:pt x="86" y="64"/>
                  <a:pt x="0" y="150"/>
                  <a:pt x="0" y="256"/>
                </a:cubicBezTo>
                <a:cubicBezTo>
                  <a:pt x="0" y="362"/>
                  <a:pt x="86" y="448"/>
                  <a:pt x="192" y="448"/>
                </a:cubicBezTo>
                <a:lnTo>
                  <a:pt x="384" y="448"/>
                </a:lnTo>
                <a:cubicBezTo>
                  <a:pt x="490" y="448"/>
                  <a:pt x="576" y="362"/>
                  <a:pt x="576" y="256"/>
                </a:cubicBezTo>
                <a:cubicBezTo>
                  <a:pt x="576" y="150"/>
                  <a:pt x="490" y="64"/>
                  <a:pt x="384" y="64"/>
                </a:cubicBezTo>
                <a:lnTo>
                  <a:pt x="192" y="64"/>
                </a:lnTo>
                <a:close/>
                <a:moveTo>
                  <a:pt x="384" y="160"/>
                </a:moveTo>
                <a:cubicBezTo>
                  <a:pt x="437" y="160"/>
                  <a:pt x="480" y="203"/>
                  <a:pt x="480" y="256"/>
                </a:cubicBezTo>
                <a:cubicBezTo>
                  <a:pt x="480" y="309"/>
                  <a:pt x="437" y="352"/>
                  <a:pt x="384" y="352"/>
                </a:cubicBezTo>
                <a:cubicBezTo>
                  <a:pt x="331" y="352"/>
                  <a:pt x="288" y="309"/>
                  <a:pt x="288" y="256"/>
                </a:cubicBezTo>
                <a:cubicBezTo>
                  <a:pt x="288" y="203"/>
                  <a:pt x="331" y="160"/>
                  <a:pt x="384" y="160"/>
                </a:cubicBezTo>
                <a:close/>
              </a:path>
            </a:pathLst>
          </a:custGeom>
          <a:solidFill>
            <a:srgbClr val="4CAF50"/>
          </a:solidFill>
          <a:ln>
            <a:noFill/>
          </a:ln>
        </p:spPr>
      </p:sp>
      <p:sp>
        <p:nvSpPr>
          <p:cNvPr id="18" name="r6"/>
          <p:cNvSpPr txBox="1"/>
          <p:nvPr/>
        </p:nvSpPr>
        <p:spPr>
          <a:xfrm>
            <a:off x="6807200" y="4318000"/>
            <a:ext cx="4622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Opt-in private extension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2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Runtime-only knowledge, bounded output — Case 4</a:t>
            </a:r>
            <a:endParaRPr lang="en-US" sz="1600" noProof="1"/>
          </a:p>
        </p:txBody>
      </p:sp>
      <p:sp>
        <p:nvSpPr>
          <p:cNvPr id="19" name="bottom-rule"/>
          <p:cNvSpPr/>
          <p:nvPr/>
        </p:nvSpPr>
        <p:spPr>
          <a:xfrm>
            <a:off x="762000" y="5435600"/>
            <a:ext cx="10668000" cy="12700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</p:sp>
      <p:sp>
        <p:nvSpPr>
          <p:cNvPr id="20" name="takeaway"/>
          <p:cNvSpPr txBox="1"/>
          <p:nvPr/>
        </p:nvSpPr>
        <p:spPr>
          <a:xfrm>
            <a:off x="762000" y="56642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One principle underneath: </a:t>
            </a:r>
            <a:r>
              <a:rPr lang="en-US" sz="15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the user stays in control</a:t>
            </a:r>
            <a:r>
              <a:rPr lang="en-US" sz="15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 — of images, evidence, memory, and private knowledge.</a:t>
            </a:r>
            <a:endParaRPr lang="en-US" sz="1500" noProof="1"/>
          </a:p>
        </p:txBody>
      </p:sp>
      <p:sp>
        <p:nvSpPr>
          <p:cNvPr id="21" name="footer"/>
          <p:cNvSpPr txBox="1"/>
          <p:nvPr/>
        </p:nvSpPr>
        <p:spPr>
          <a:xfrm>
            <a:off x="762000" y="6451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XiangLens · AMD AI DevMaster 2026 · Track 2</a:t>
            </a:r>
            <a:endParaRPr lang="en-US" sz="1000" noProof="1"/>
          </a:p>
        </p:txBody>
      </p:sp>
      <p:sp>
        <p:nvSpPr>
          <p:cNvPr id="22" name="pagenum"/>
          <p:cNvSpPr txBox="1"/>
          <p:nvPr/>
        </p:nvSpPr>
        <p:spPr>
          <a:xfrm>
            <a:off x="10871200" y="64516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18</a:t>
            </a:r>
            <a:endParaRPr lang="en-US" sz="1000" noProof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-tr"/>
          <p:cNvSpPr/>
          <p:nvPr/>
        </p:nvSpPr>
        <p:spPr>
          <a:xfrm>
            <a:off x="7620000" y="-2032000"/>
            <a:ext cx="6604000" cy="5334000"/>
          </a:xfrm>
          <a:prstGeom prst="ellipse">
            <a:avLst/>
          </a:prstGeom>
          <a:gradFill rotWithShape="1">
            <a:gsLst>
              <a:gs pos="0">
                <a:srgbClr val="1E4A5F">
                  <a:alpha val="60000"/>
                </a:srgbClr>
              </a:gs>
              <a:gs pos="100000">
                <a:srgbClr val="1E4A5F">
                  <a:alpha val="0"/>
                </a:srgbClr>
              </a:gs>
            </a:gsLst>
            <a:path path="circle"/>
          </a:gradFill>
          <a:ln>
            <a:noFill/>
          </a:ln>
        </p:spPr>
      </p:sp>
      <p:sp>
        <p:nvSpPr>
          <p:cNvPr id="3" name="glow-bl"/>
          <p:cNvSpPr/>
          <p:nvPr/>
        </p:nvSpPr>
        <p:spPr>
          <a:xfrm>
            <a:off x="-2286000" y="4318000"/>
            <a:ext cx="6096000" cy="4826000"/>
          </a:xfrm>
          <a:prstGeom prst="ellipse">
            <a:avLst/>
          </a:prstGeom>
          <a:gradFill rotWithShape="1">
            <a:gsLst>
              <a:gs pos="0">
                <a:srgbClr val="2E7D32">
                  <a:alpha val="40000"/>
                </a:srgbClr>
              </a:gs>
              <a:gs pos="100000">
                <a:srgbClr val="2E7D32">
                  <a:alpha val="0"/>
                </a:srgbClr>
              </a:gs>
            </a:gsLst>
            <a:path path="circle"/>
          </a:gradFill>
          <a:ln>
            <a:noFill/>
          </a:ln>
        </p:spPr>
      </p:sp>
      <p:sp>
        <p:nvSpPr>
          <p:cNvPr id="4" name="ring-outer"/>
          <p:cNvSpPr/>
          <p:nvPr/>
        </p:nvSpPr>
        <p:spPr>
          <a:xfrm>
            <a:off x="4826000" y="1524000"/>
            <a:ext cx="2540000" cy="2540000"/>
          </a:xfrm>
          <a:prstGeom prst="ellipse">
            <a:avLst/>
          </a:prstGeom>
          <a:noFill/>
          <a:ln w="25400">
            <a:solidFill>
              <a:srgbClr val="4FC3F7">
                <a:alpha val="34902"/>
              </a:srgbClr>
            </a:solidFill>
          </a:ln>
        </p:spPr>
      </p:sp>
      <p:sp>
        <p:nvSpPr>
          <p:cNvPr id="5" name="ring-inner"/>
          <p:cNvSpPr/>
          <p:nvPr/>
        </p:nvSpPr>
        <p:spPr>
          <a:xfrm>
            <a:off x="5334000" y="2032000"/>
            <a:ext cx="1524000" cy="1524000"/>
          </a:xfrm>
          <a:prstGeom prst="ellipse">
            <a:avLst/>
          </a:prstGeom>
          <a:noFill/>
          <a:ln w="25400">
            <a:solidFill>
              <a:srgbClr val="4CAF50">
                <a:alpha val="45098"/>
              </a:srgbClr>
            </a:solidFill>
          </a:ln>
        </p:spPr>
      </p:sp>
      <p:sp>
        <p:nvSpPr>
          <p:cNvPr id="6" name="ring-core"/>
          <p:cNvSpPr/>
          <p:nvPr/>
        </p:nvSpPr>
        <p:spPr>
          <a:xfrm>
            <a:off x="5740400" y="2438400"/>
            <a:ext cx="711200" cy="711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</p:sp>
      <p:sp>
        <p:nvSpPr>
          <p:cNvPr id="7" name="name"/>
          <p:cNvSpPr txBox="1"/>
          <p:nvPr/>
        </p:nvSpPr>
        <p:spPr>
          <a:xfrm>
            <a:off x="2286000" y="4191000"/>
            <a:ext cx="7620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XiangLens</a:t>
            </a:r>
            <a:endParaRPr lang="en-US" sz="4400" noProof="1"/>
          </a:p>
        </p:txBody>
      </p:sp>
      <p:sp>
        <p:nvSpPr>
          <p:cNvPr id="8" name="pillars"/>
          <p:cNvSpPr txBox="1"/>
          <p:nvPr/>
        </p:nvSpPr>
        <p:spPr>
          <a:xfrm>
            <a:off x="2286000" y="500380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4CAF50"/>
                </a:solidFill>
                <a:latin typeface="MiSans" charset="-122"/>
                <a:ea typeface="MiSans" charset="-122"/>
              </a:rPr>
              <a:t>Private</a:t>
            </a:r>
            <a:r>
              <a:rPr lang="en-US" sz="16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  ·  </a:t>
            </a:r>
            <a:r>
              <a:rPr lang="en-US" sz="1600" noProof="1">
                <a:solidFill>
                  <a:srgbClr val="4FC3F7"/>
                </a:solidFill>
                <a:latin typeface="MiSans" charset="-122"/>
                <a:ea typeface="MiSans" charset="-122"/>
              </a:rPr>
              <a:t>Evidence-backed</a:t>
            </a:r>
            <a:r>
              <a:rPr lang="en-US" sz="16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  ·  </a:t>
            </a:r>
            <a:r>
              <a:rPr lang="en-US" sz="1600" noProof="1">
                <a:solidFill>
                  <a:srgbClr val="FFA726"/>
                </a:solidFill>
                <a:latin typeface="MiSans" charset="-122"/>
                <a:ea typeface="MiSans" charset="-122"/>
              </a:rPr>
              <a:t>User-controlled</a:t>
            </a:r>
            <a:endParaRPr lang="en-US" sz="1600" noProof="1"/>
          </a:p>
        </p:txBody>
      </p:sp>
      <p:sp>
        <p:nvSpPr>
          <p:cNvPr id="9" name="stack"/>
          <p:cNvSpPr txBox="1"/>
          <p:nvPr/>
        </p:nvSpPr>
        <p:spPr>
          <a:xfrm>
            <a:off x="2286000" y="56388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9FB0BE"/>
                </a:solidFill>
                <a:latin typeface="MiSans" charset="-122"/>
                <a:ea typeface="MiSans" charset="-122"/>
              </a:rPr>
              <a:t>llama.cpp · LangGraph · Milvus Lite · AMD Radeon / ROCm</a:t>
            </a:r>
            <a:endParaRPr lang="en-US" sz="1300" noProof="1"/>
          </a:p>
        </p:txBody>
      </p:sp>
      <p:sp>
        <p:nvSpPr>
          <p:cNvPr id="10" name="verify"/>
          <p:cNvSpPr txBox="1"/>
          <p:nvPr/>
        </p:nvSpPr>
        <p:spPr>
          <a:xfrm>
            <a:off x="1651000" y="59690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120 deterministic image fixtures · 32 inspectable public knowledge cards · reproduce via docs/REPRODUCE.md</a:t>
            </a:r>
            <a:endParaRPr lang="en-US" sz="1100" noProof="1"/>
          </a:p>
        </p:txBody>
      </p:sp>
      <p:sp>
        <p:nvSpPr>
          <p:cNvPr id="11" name="repo"/>
          <p:cNvSpPr txBox="1"/>
          <p:nvPr/>
        </p:nvSpPr>
        <p:spPr>
          <a:xfrm>
            <a:off x="2286000" y="62484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u="sng" noProof="1">
                <a:solidFill>
                  <a:srgbClr val="4FC3F7"/>
                </a:solidFill>
                <a:latin typeface="MiSans" charset="-122"/>
                <a:ea typeface="MiSans" charset="-122"/>
                <a:hlinkClick r:id="rId1"/>
              </a:rPr>
              <a:t>github.com/ld0574/Radeon-hackathon-2026-07</a:t>
            </a:r>
            <a:endParaRPr lang="en-US" sz="1200" noProof="1"/>
          </a:p>
        </p:txBody>
      </p:sp>
      <p:sp>
        <p:nvSpPr>
          <p:cNvPr id="12" name="footer"/>
          <p:cNvSpPr txBox="1"/>
          <p:nvPr/>
        </p:nvSpPr>
        <p:spPr>
          <a:xfrm>
            <a:off x="762000" y="64516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E7183"/>
                </a:solidFill>
                <a:latin typeface="MiSans" charset="-122"/>
                <a:ea typeface="MiSans" charset="-122"/>
              </a:rPr>
              <a:t>XiangLens · AMD AI DevMaster 2026 · Track 2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6213</Words>
  <Application>WPS 演示</Application>
  <PresentationFormat/>
  <Paragraphs>316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宋体</vt:lpstr>
      <vt:lpstr>Wingdings</vt:lpstr>
      <vt:lpstr>MiSans</vt:lpstr>
      <vt:lpstr>Times New Roman</vt:lpstr>
      <vt:lpstr>微软雅黑</vt:lpstr>
      <vt:lpstr>宋体</vt:lpstr>
      <vt:lpstr>Arial Unicode MS</vt:lpstr>
      <vt:lpstr>Calibri</vt:lpstr>
      <vt:lpstr>Helvetica Neue</vt:lpstr>
      <vt:lpstr>汉仪书宋二KW</vt:lpstr>
      <vt:lpstr>Times New Roman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XiangLens — Private Cross-Context Profile-Image Agent</dc:title>
  <dc:creator>Kimi</dc:creator>
  <dc:subject>XiangLens — Private Cross-Context Profile-Image Agent</dc:subject>
  <cp:lastModifiedBy>dale</cp:lastModifiedBy>
  <cp:revision>1</cp:revision>
  <dcterms:created xsi:type="dcterms:W3CDTF">2026-08-06T16:02:59Z</dcterms:created>
  <dcterms:modified xsi:type="dcterms:W3CDTF">2026-08-06T16:02:59Z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{"Label":"XiangLens — Private Cross-Context Profile-Image Agent","ContentProducer":"001191110108MACG2KBH8F10000","ProduceID":"XiangLens_Demo","ReservedCode1":"","ContentPropagator":"001191110108MACG2KBH8F20000","PropagateID":"agent:main:main:conversation:7959ee04-cad6-445a-b0c8-abadcaf70f3f","ReservedCode2":""}</vt:lpwstr>
  </property>
  <property fmtid="{D5CDD505-2E9C-101B-9397-08002B2CF9AE}" pid="3" name="ICV">
    <vt:lpwstr>5ECE433205B3385333B0746A3B94A32A_42</vt:lpwstr>
  </property>
  <property fmtid="{D5CDD505-2E9C-101B-9397-08002B2CF9AE}" pid="4" name="KSOProductBuildVer">
    <vt:lpwstr>2052-12.1.26035.26035</vt:lpwstr>
  </property>
</Properties>
</file>