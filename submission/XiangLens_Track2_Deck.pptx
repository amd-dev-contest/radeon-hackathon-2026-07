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9c29b8d0abb4340" /><Relationship Type="http://schemas.openxmlformats.org/officeDocument/2006/relationships/extended-properties" Target="/docProps/app.xml" Id="R84ba56aee4c04d75" /><Relationship Type="http://schemas.openxmlformats.org/officeDocument/2006/relationships/officeDocument" Target="/ppt/presentation.xml" Id="R26cfc63a8bca48c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24314e94be145ab"/>
  </p:sldMasterIdLst>
  <p:notesMasterIdLst>
    <p:notesMasterId xmlns:r="http://schemas.openxmlformats.org/officeDocument/2006/relationships" r:id="R3ca07adda4344b84"/>
  </p:notesMasterIdLst>
  <p:sldIdLst>
    <p:sldId xmlns:r="http://schemas.openxmlformats.org/officeDocument/2006/relationships" id="256" r:id="R57bcc39f956e4675"/>
    <p:sldId xmlns:r="http://schemas.openxmlformats.org/officeDocument/2006/relationships" id="257" r:id="Ra2f07343fad74f59"/>
    <p:sldId xmlns:r="http://schemas.openxmlformats.org/officeDocument/2006/relationships" id="258" r:id="R3f45f5d5de5a4175"/>
    <p:sldId xmlns:r="http://schemas.openxmlformats.org/officeDocument/2006/relationships" id="259" r:id="R79a47c6c348a40c4"/>
    <p:sldId xmlns:r="http://schemas.openxmlformats.org/officeDocument/2006/relationships" id="260" r:id="Reda80c0c70774b24"/>
    <p:sldId xmlns:r="http://schemas.openxmlformats.org/officeDocument/2006/relationships" id="261" r:id="Rc6aa860d11264311"/>
    <p:sldId xmlns:r="http://schemas.openxmlformats.org/officeDocument/2006/relationships" id="262" r:id="Rb74a238733604ac2"/>
    <p:sldId xmlns:r="http://schemas.openxmlformats.org/officeDocument/2006/relationships" id="263" r:id="R2df77c2bf9e442cb"/>
    <p:sldId xmlns:r="http://schemas.openxmlformats.org/officeDocument/2006/relationships" id="264" r:id="R474604e998d84ca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0eba4b6d89a4301" /><Relationship Type="http://schemas.openxmlformats.org/officeDocument/2006/relationships/slideMaster" Target="/ppt/slideMasters/slideMaster1.xml" Id="Ra24314e94be145ab" /><Relationship Type="http://schemas.openxmlformats.org/officeDocument/2006/relationships/notesMaster" Target="/ppt/notesMasters/notesMaster1.xml" Id="R3ca07adda4344b84" /><Relationship Type="http://schemas.openxmlformats.org/officeDocument/2006/relationships/presProps" Target="/ppt/presProps.xml" Id="R389c321b55ba4940" /><Relationship Type="http://schemas.openxmlformats.org/officeDocument/2006/relationships/viewProps" Target="/ppt/viewProps.xml" Id="Raa2d0256bea644c1" /><Relationship Type="http://schemas.openxmlformats.org/officeDocument/2006/relationships/tableStyles" Target="/ppt/tableStyles.xml" Id="Rf8feaa4fd26b4e81" /><Relationship Type="http://schemas.openxmlformats.org/officeDocument/2006/relationships/slide" Target="/ppt/slides/slide1.xml" Id="R57bcc39f956e4675" /><Relationship Type="http://schemas.openxmlformats.org/officeDocument/2006/relationships/slide" Target="/ppt/slides/slide2.xml" Id="Ra2f07343fad74f59" /><Relationship Type="http://schemas.openxmlformats.org/officeDocument/2006/relationships/slide" Target="/ppt/slides/slide3.xml" Id="R3f45f5d5de5a4175" /><Relationship Type="http://schemas.openxmlformats.org/officeDocument/2006/relationships/slide" Target="/ppt/slides/slide4.xml" Id="R79a47c6c348a40c4" /><Relationship Type="http://schemas.openxmlformats.org/officeDocument/2006/relationships/slide" Target="/ppt/slides/slide5.xml" Id="Reda80c0c70774b24" /><Relationship Type="http://schemas.openxmlformats.org/officeDocument/2006/relationships/slide" Target="/ppt/slides/slide6.xml" Id="Rc6aa860d11264311" /><Relationship Type="http://schemas.openxmlformats.org/officeDocument/2006/relationships/slide" Target="/ppt/slides/slide7.xml" Id="Rb74a238733604ac2" /><Relationship Type="http://schemas.openxmlformats.org/officeDocument/2006/relationships/slide" Target="/ppt/slides/slide8.xml" Id="R2df77c2bf9e442cb" /><Relationship Type="http://schemas.openxmlformats.org/officeDocument/2006/relationships/slide" Target="/ppt/slides/slide9.xml" Id="R474604e998d84ca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93522b25050464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3d7b5e91b0044b7" /><Relationship Type="http://schemas.openxmlformats.org/officeDocument/2006/relationships/notesMaster" Target="/ppt/notesMasters/notesMaster1.xml" Id="Re5eb0740998e4ab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7a69ae4f4d84bed" /><Relationship Type="http://schemas.openxmlformats.org/officeDocument/2006/relationships/notesMaster" Target="/ppt/notesMasters/notesMaster1.xml" Id="Ra43710598ce84c8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e2eed4072f3427e" /><Relationship Type="http://schemas.openxmlformats.org/officeDocument/2006/relationships/notesMaster" Target="/ppt/notesMasters/notesMaster1.xml" Id="R8c1af8a217964f0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ef4285feaa5414c" /><Relationship Type="http://schemas.openxmlformats.org/officeDocument/2006/relationships/notesMaster" Target="/ppt/notesMasters/notesMaster1.xml" Id="R47ee20d9066e4d0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4886d6fa5dc4b64" /><Relationship Type="http://schemas.openxmlformats.org/officeDocument/2006/relationships/notesMaster" Target="/ppt/notesMasters/notesMaster1.xml" Id="R4c9ec386b6ed41e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3bfc8be46a449b3" /><Relationship Type="http://schemas.openxmlformats.org/officeDocument/2006/relationships/notesMaster" Target="/ppt/notesMasters/notesMaster1.xml" Id="R65a0378d56db4dc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bc0653ef41341bd" /><Relationship Type="http://schemas.openxmlformats.org/officeDocument/2006/relationships/notesMaster" Target="/ppt/notesMasters/notesMaster1.xml" Id="R33c9930805f2476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4acee1b6c214e1f" /><Relationship Type="http://schemas.openxmlformats.org/officeDocument/2006/relationships/notesMaster" Target="/ppt/notesMasters/notesMaster1.xml" Id="Rb3992396628c4c2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429458328ac4b3e" /><Relationship Type="http://schemas.openxmlformats.org/officeDocument/2006/relationships/notesMaster" Target="/ppt/notesMasters/notesMaster1.xml" Id="Re549296d8a7749c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product brief: docs/SUBMISSION_BRIEF.md</a:t>
            </a:r>
          </a:p>
          <a:p xmlns:a="http://schemas.openxmlformats.org/drawingml/2006/main">
            <a:r>
              <a:t>- Track 2 requirements: Radeon-Cloud-User Guide/2026 AMD AI DevMaster 黑客松赛事说明.md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Scenario and safety boundaries: docs/SUBMISSION_BRIEF.md</a:t>
            </a:r>
          </a:p>
          <a:p xmlns:a="http://schemas.openxmlformats.org/drawingml/2006/main">
            <a:r>
              <a:t>- Portrait fixture: https://commons.wikimedia.org/wiki/File:Wikimedia_Summit_2019_-_Portrait_Abbad_Diraneyya.jpg (Aida Kadrispahic for Wikimedia Deutschland e.V., CC BY-SA 4.0)</a:t>
            </a:r>
          </a:p>
          <a:p xmlns:a="http://schemas.openxmlformats.org/drawingml/2006/main">
            <a:r>
              <a:t>- Derived fixture labels and transforms: data/fixtures/labels.jsonl and data/fixtures/README.md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Actual XiangLens Nuxt interface captured from apps/web in local static-preview mode after the private Lens integration; no model output or private course text was fabricated.</a:t>
            </a:r>
          </a:p>
          <a:p xmlns:a="http://schemas.openxmlformats.org/drawingml/2006/main">
            <a:r>
              <a:t>- Interface implementation: apps/web/pages/index.vue and apps/web/assets/css/main.css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Agent architecture: docs/SUBMISSION_BRIEF.md</a:t>
            </a:r>
          </a:p>
          <a:p xmlns:a="http://schemas.openxmlformats.org/drawingml/2006/main">
            <a:r>
              <a:t>- Runtime-only private mount and safety boundary: docs/PRIVATE_LENS_TOOL.md and src/xianglens/tools/private_lens.py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Bounded workflow implementation: src/xianglens/agent/graph.py</a:t>
            </a:r>
          </a:p>
          <a:p xmlns:a="http://schemas.openxmlformats.org/drawingml/2006/main">
            <a:r>
              <a:t>- Private Lens API and typed output contract: src/xianglens/api/routes.py and src/xianglens/schemas.py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Deployment boundary: docs/PRODUCTION_DEPLOYMENT.md</a:t>
            </a:r>
          </a:p>
          <a:p xmlns:a="http://schemas.openxmlformats.org/drawingml/2006/main">
            <a:r>
              <a:t>- Private tool configuration and service wiring: src/xianglens/config.py and src/xianglens/services.py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Optimized W7900 capture: benchmarks/results/llama_cpp_w7900_optimized.json and benchmarks/results/llama_cpp_w7900_optimized.md</a:t>
            </a:r>
          </a:p>
          <a:p xmlns:a="http://schemas.openxmlformats.org/drawingml/2006/main">
            <a:r>
              <a:t>- Cold reference: benchmarks/results/llama_cpp_w7900_cold.json and benchmarks/results/llama_cpp_w7900_cold.md</a:t>
            </a:r>
          </a:p>
          <a:p xmlns:a="http://schemas.openxmlformats.org/drawingml/2006/main">
            <a:r>
              <a:t>- Reproducible runner: scripts/benchmark_llama.py</a:t>
            </a:r>
          </a:p>
          <a:p xmlns:a="http://schemas.openxmlformats.org/drawingml/2006/main">
            <a:r>
              <a:t>- Production launch configuration: docs/PRODUCTION_DEPLOYMENT.md</a:t>
            </a:r>
          </a:p>
          <a:p xmlns:a="http://schemas.openxmlformats.org/drawingml/2006/main">
            <a:r>
              <a:t>- Interpretation: five warm measured runs after one warmup; the separate cold run is a state reference, not a controlled one-flag A/B baseline. Peak VRAM and GPU utilization are separate video evidence.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Safety policy: docs/SUBMISSION_BRIEF.md</a:t>
            </a:r>
          </a:p>
          <a:p xmlns:a="http://schemas.openxmlformats.org/drawingml/2006/main">
            <a:r>
              <a:t>- Runtime-only source, opt-in, output filtering, and rights scan: docs/PRIVATE_LENS_TOOL.md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Test inventory: tests/ and data/fixtures/labels.jsonl</a:t>
            </a:r>
          </a:p>
          <a:p xmlns:a="http://schemas.openxmlformats.org/drawingml/2006/main">
            <a:r>
              <a:t>- Public RAG cards: data/knowledge/cards.jsonl</a:t>
            </a:r>
          </a:p>
          <a:p xmlns:a="http://schemas.openxmlformats.org/drawingml/2006/main">
            <a:r>
              <a:t>- Private Lens integration test: tests/test_private_lens.py</a:t>
            </a:r>
          </a:p>
          <a:p xmlns:a="http://schemas.openxmlformats.org/drawingml/2006/main">
            <a:r>
              <a:t>- Recording sequence: docs/DEMO_VIDEO_SCRIPT.md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29f42c17541411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3d43362c9f345d8" /><Relationship Type="http://schemas.openxmlformats.org/officeDocument/2006/relationships/slideLayout" Target="/ppt/slideLayouts/slideLayout1.xml" Id="Rbab1a0594f3d4d03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ab1a0594f3d4d0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eb60e5bb634eea" /><Relationship Type="http://schemas.openxmlformats.org/officeDocument/2006/relationships/notesSlide" Target="/ppt/notesSlides/notesSlide1.xml" Id="Rdcf93018406341b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5264646364430f" /><Relationship Type="http://schemas.openxmlformats.org/officeDocument/2006/relationships/image" Target="/ppt/media/image.jpeg" Id="Rf81bdecd28224460" /><Relationship Type="http://schemas.openxmlformats.org/officeDocument/2006/relationships/image" Target="/ppt/media/image2.jpeg" Id="Rd45e9e9ced9e40f0" /><Relationship Type="http://schemas.openxmlformats.org/officeDocument/2006/relationships/notesSlide" Target="/ppt/notesSlides/notesSlide2.xml" Id="Rba392aa9fd5744c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a790c166aa487c" /><Relationship Type="http://schemas.openxmlformats.org/officeDocument/2006/relationships/image" Target="/ppt/media/image3.jpeg" Id="Rc1fd9a216b454764" /><Relationship Type="http://schemas.openxmlformats.org/officeDocument/2006/relationships/notesSlide" Target="/ppt/notesSlides/notesSlide3.xml" Id="Re7d00bd8d9ad455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e50ecdd90d455d" /><Relationship Type="http://schemas.openxmlformats.org/officeDocument/2006/relationships/notesSlide" Target="/ppt/notesSlides/notesSlide4.xml" Id="R37c46ffa2343490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7f5c0cbbf54330" /><Relationship Type="http://schemas.openxmlformats.org/officeDocument/2006/relationships/notesSlide" Target="/ppt/notesSlides/notesSlide5.xml" Id="Rd5fed3192a8a443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fc61e571c9453f" /><Relationship Type="http://schemas.openxmlformats.org/officeDocument/2006/relationships/notesSlide" Target="/ppt/notesSlides/notesSlide6.xml" Id="R32cc4225be614e5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5f097a28654ba3" /><Relationship Type="http://schemas.openxmlformats.org/officeDocument/2006/relationships/notesSlide" Target="/ppt/notesSlides/notesSlide7.xml" Id="R4b74cf6490c0491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33cafab5384c7b" /><Relationship Type="http://schemas.openxmlformats.org/officeDocument/2006/relationships/image" Target="/ppt/media/image4.jpeg" Id="Rf1bcaee09856430b" /><Relationship Type="http://schemas.openxmlformats.org/officeDocument/2006/relationships/notesSlide" Target="/ppt/notesSlides/notesSlide8.xml" Id="R31555f3fc59a489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603143f19640d2" /><Relationship Type="http://schemas.openxmlformats.org/officeDocument/2006/relationships/notesSlide" Target="/ppt/notesSlides/notesSlide9.xml" Id="R62210a1974814cb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over-red-field">
            <a:extLst xmlns:a="http://schemas.openxmlformats.org/drawingml/2006/main">
              <a:ext uri="{FF2B5EF4-FFF2-40B4-BE49-F238E27FC236}">
                <a16:creationId xmlns:a16="http://schemas.microsoft.com/office/drawing/2014/main" id="{C862F078-0486-487F-9EC4-1838FA69A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0"/>
            <a:ext cx="2857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1B2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54F1E8E3-8040-4225-876E-F82C69C18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7200"/>
            <a:ext cx="533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rPr>
              <a:t>AMD AI DEVMASTER 2026 · TRACK 2</a:t>
            </a:r>
          </a:p>
        </p:txBody>
      </p:sp>
      <p:sp>
        <p:nvSpPr>
          <p:cNvPr id="3" name="cover-title">
            <a:extLst xmlns:a="http://schemas.openxmlformats.org/drawingml/2006/main">
              <a:ext uri="{FF2B5EF4-FFF2-40B4-BE49-F238E27FC236}">
                <a16:creationId xmlns:a16="http://schemas.microsoft.com/office/drawing/2014/main" id="{425DC681-4CD0-4D5E-9185-D800ED09B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95500"/>
            <a:ext cx="8096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63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63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XiangLens</a:t>
            </a:r>
          </a:p>
        </p:txBody>
      </p:sp>
      <p:sp>
        <p:nvSpPr>
          <p:cNvPr id="4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AF6D8FC3-6A9B-48F0-9555-0B65DE301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0"/>
            <a:ext cx="7239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Private, evidence-backed profile-image review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on AMD Radeon + ROCm</a:t>
            </a:r>
          </a:p>
        </p:txBody>
      </p:sp>
      <p:sp>
        <p:nvSpPr>
          <p:cNvPr id="5" name="cover-values">
            <a:extLst xmlns:a="http://schemas.openxmlformats.org/drawingml/2006/main">
              <a:ext uri="{FF2B5EF4-FFF2-40B4-BE49-F238E27FC236}">
                <a16:creationId xmlns:a16="http://schemas.microsoft.com/office/drawing/2014/main" id="{0D28AD66-8C82-4040-9A35-88F1E01B1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86740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GOAL-RELATIVE  ·  SOURCE-BACKED  ·  USER-CONTROLLED</a:t>
            </a:r>
          </a:p>
        </p:txBody>
      </p:sp>
      <p:sp>
        <p:nvSpPr>
          <p:cNvPr id="6" name="cover-monogram">
            <a:extLst xmlns:a="http://schemas.openxmlformats.org/drawingml/2006/main">
              <a:ext uri="{FF2B5EF4-FFF2-40B4-BE49-F238E27FC236}">
                <a16:creationId xmlns:a16="http://schemas.microsoft.com/office/drawing/2014/main" id="{AD4694AC-04B0-4DCF-9C5D-865A489EC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457450"/>
            <a:ext cx="21336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1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61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XL</a:t>
            </a:r>
          </a:p>
        </p:txBody>
      </p:sp>
    </p:spTree>
    <p:extLst>
      <p:ext uri="{BB962C8B-B14F-4D97-AF65-F5344CB8AC3E}">
        <p14:creationId xmlns:p14="http://schemas.microsoft.com/office/powerpoint/2010/main" val="177601048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op-accent">
            <a:extLst xmlns:a="http://schemas.openxmlformats.org/drawingml/2006/main">
              <a:ext uri="{FF2B5EF4-FFF2-40B4-BE49-F238E27FC236}">
                <a16:creationId xmlns:a16="http://schemas.microsoft.com/office/drawing/2014/main" id="{0F8A72D8-D25C-4DC0-9C05-7AEECF867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0500"/>
            <a:ext cx="8001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1B2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079C5E7-9202-40D5-95C9-E1A91DCF6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19100"/>
            <a:ext cx="114109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 profile image is a tiny, high-stakes identity surface</a:t>
            </a:r>
          </a:p>
        </p:txBody>
      </p:sp>
      <p:sp>
        <p:nvSpPr>
          <p:cNvPr id="3" name="problem-lead">
            <a:extLst xmlns:a="http://schemas.openxmlformats.org/drawingml/2006/main">
              <a:ext uri="{FF2B5EF4-FFF2-40B4-BE49-F238E27FC236}">
                <a16:creationId xmlns:a16="http://schemas.microsoft.com/office/drawing/2014/main" id="{3A56CF64-06EC-49B2-87EB-F245B7AC2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57350"/>
            <a:ext cx="5143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The same image is repeatedly cropped, downsized, copied, and read across communities.</a:t>
            </a:r>
          </a:p>
        </p:txBody>
      </p:sp>
      <p:sp>
        <p:nvSpPr>
          <p:cNvPr id="4" name="problem-questions">
            <a:extLst xmlns:a="http://schemas.openxmlformats.org/drawingml/2006/main">
              <a:ext uri="{FF2B5EF4-FFF2-40B4-BE49-F238E27FC236}">
                <a16:creationId xmlns:a16="http://schemas.microsoft.com/office/drawing/2014/main" id="{21966CB9-F3CD-42A4-8400-002644778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76550"/>
            <a:ext cx="504825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Can the subject survive a circular crop?</a:t>
            </a:r>
          </a:p>
          <a:p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Does the file expose metadata, a badge, or a QR code?</a:t>
            </a:r>
          </a:p>
          <a:p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Which candidate fits the user’s stated audience—and why?</a:t>
            </a:r>
          </a:p>
        </p:txBody>
      </p:sp>
      <p:sp>
        <p:nvSpPr>
          <p:cNvPr id="5" name="problem-answer">
            <a:extLst xmlns:a="http://schemas.openxmlformats.org/drawingml/2006/main">
              <a:ext uri="{FF2B5EF4-FFF2-40B4-BE49-F238E27FC236}">
                <a16:creationId xmlns:a16="http://schemas.microsoft.com/office/drawing/2014/main" id="{4019A5A6-8382-4DF2-9E33-A4B5C18F2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0"/>
            <a:ext cx="514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rPr>
              <a:t>XiangLens answers with local tools, a self-hosted VLM, cited context, and explicit user goals—not personality inference.</a:t>
            </a:r>
          </a:p>
        </p:txBody>
      </p:sp>
      <p:sp>
        <p:nvSpPr>
          <p:cNvPr id="6" name="image-field">
            <a:extLst xmlns:a="http://schemas.openxmlformats.org/drawingml/2006/main">
              <a:ext uri="{FF2B5EF4-FFF2-40B4-BE49-F238E27FC236}">
                <a16:creationId xmlns:a16="http://schemas.microsoft.com/office/drawing/2014/main" id="{0F0941EB-C8C6-4DD8-AFBD-C4774FA18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466850"/>
            <a:ext cx="5562600" cy="4476750"/>
          </a:xfrm>
          <a:prstGeom xmlns:a="http://schemas.openxmlformats.org/drawingml/2006/main" prst="roundRect">
            <a:avLst>
              <a:gd name="adj" fmla="val 1702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D8D8D4"/>
            </a:solidFill>
            <a:prstDash val="solid"/>
          </a:ln>
        </p:spPr>
      </p:sp>
      <p:pic>
        <p:nvPicPr>
          <p:cNvPr id="22" name="图片 2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1bdecd28224460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48450" y="1943100"/>
            <a:ext cx="2190750" cy="2190750"/>
          </a:xfrm>
          <a:prstGeom xmlns:a="http://schemas.openxmlformats.org/drawingml/2006/main" prst="ellipse">
            <a:avLst/>
          </a:prstGeom>
        </p:spPr>
      </p:pic>
      <p:pic>
        <p:nvPicPr>
          <p:cNvPr id="23" name="图片 2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5e9e9ced9e40f0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163050" y="3238500"/>
            <a:ext cx="2190750" cy="2190750"/>
          </a:xfrm>
          <a:prstGeom xmlns:a="http://schemas.openxmlformats.org/drawingml/2006/main" prst="ellipse">
            <a:avLst/>
          </a:prstGeom>
        </p:spPr>
      </p:pic>
      <p:sp>
        <p:nvSpPr>
          <p:cNvPr id="9" name="clean-label">
            <a:extLst xmlns:a="http://schemas.openxmlformats.org/drawingml/2006/main">
              <a:ext uri="{FF2B5EF4-FFF2-40B4-BE49-F238E27FC236}">
                <a16:creationId xmlns:a16="http://schemas.microsoft.com/office/drawing/2014/main" id="{2084E343-5CBA-434C-A034-CFDF1745A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286250"/>
            <a:ext cx="2190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CANDIDATE A</a:t>
            </a:r>
          </a:p>
          <a:p xmlns:a="http://schemas.openxmlformats.org/drawingml/2006/main">
            <a:pPr algn="ctr">
              <a:buNone/>
              <a:defRPr sz="12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clean</a:t>
            </a:r>
          </a:p>
        </p:txBody>
      </p:sp>
      <p:sp>
        <p:nvSpPr>
          <p:cNvPr id="10" name="qr-label">
            <a:extLst xmlns:a="http://schemas.openxmlformats.org/drawingml/2006/main">
              <a:ext uri="{FF2B5EF4-FFF2-40B4-BE49-F238E27FC236}">
                <a16:creationId xmlns:a16="http://schemas.microsoft.com/office/drawing/2014/main" id="{D35FA68A-CE41-42D7-8C65-EFA029477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571750"/>
            <a:ext cx="2190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rPr>
              <a:t>CANDIDATE B</a:t>
            </a:r>
          </a:p>
          <a:p xmlns:a="http://schemas.openxmlformats.org/drawingml/2006/main">
            <a:pPr algn="ctr">
              <a:buNone/>
              <a:defRPr sz="1200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rPr>
              <a:t>visible QR risk</a:t>
            </a:r>
          </a:p>
        </p:txBody>
      </p:sp>
      <p:sp>
        <p:nvSpPr>
          <p:cNvPr id="11" name="footer-2">
            <a:extLst xmlns:a="http://schemas.openxmlformats.org/drawingml/2006/main">
              <a:ext uri="{FF2B5EF4-FFF2-40B4-BE49-F238E27FC236}">
                <a16:creationId xmlns:a16="http://schemas.microsoft.com/office/drawing/2014/main" id="{E1E3C766-D764-4A4B-A57F-D06D29B80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34125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12" name="footer-label-2">
            <a:extLst xmlns:a="http://schemas.openxmlformats.org/drawingml/2006/main">
              <a:ext uri="{FF2B5EF4-FFF2-40B4-BE49-F238E27FC236}">
                <a16:creationId xmlns:a16="http://schemas.microsoft.com/office/drawing/2014/main" id="{DE3A5450-D2D4-4444-BD66-A8EC1E288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34125"/>
            <a:ext cx="228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XIANGLENS · TRACK 2</a:t>
            </a:r>
          </a:p>
        </p:txBody>
      </p:sp>
    </p:spTree>
    <p:extLst>
      <p:ext uri="{BB962C8B-B14F-4D97-AF65-F5344CB8AC3E}">
        <p14:creationId xmlns:p14="http://schemas.microsoft.com/office/powerpoint/2010/main" val="72927349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op-accent">
            <a:extLst xmlns:a="http://schemas.openxmlformats.org/drawingml/2006/main">
              <a:ext uri="{FF2B5EF4-FFF2-40B4-BE49-F238E27FC236}">
                <a16:creationId xmlns:a16="http://schemas.microsoft.com/office/drawing/2014/main" id="{23B6F348-475D-4CB5-A086-9707CD69C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0500"/>
            <a:ext cx="8001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1B2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4416FE1-C635-4A38-9D75-EEAB781B4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19100"/>
            <a:ext cx="114109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The interface makes the Agent workflow inspectable</a:t>
            </a:r>
          </a:p>
        </p:txBody>
      </p:sp>
      <p:sp>
        <p:nvSpPr>
          <p:cNvPr id="3" name="product-frame">
            <a:extLst xmlns:a="http://schemas.openxmlformats.org/drawingml/2006/main">
              <a:ext uri="{FF2B5EF4-FFF2-40B4-BE49-F238E27FC236}">
                <a16:creationId xmlns:a16="http://schemas.microsoft.com/office/drawing/2014/main" id="{8AAA9350-E8BD-4F62-977D-B14B8AE9A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19225"/>
            <a:ext cx="8229600" cy="462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pic>
        <p:nvPicPr>
          <p:cNvPr id="63" name="图片 4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fd9a216b454764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00050" y="1419225"/>
            <a:ext cx="8229600" cy="4629150"/>
          </a:xfrm>
          <a:prstGeom xmlns:a="http://schemas.openxmlformats.org/drawingml/2006/main" prst="rect">
            <a:avLst/>
          </a:prstGeom>
        </p:spPr>
      </p:pic>
      <p:sp>
        <p:nvSpPr>
          <p:cNvPr id="5" name="ui-label-0">
            <a:extLst xmlns:a="http://schemas.openxmlformats.org/drawingml/2006/main">
              <a:ext uri="{FF2B5EF4-FFF2-40B4-BE49-F238E27FC236}">
                <a16:creationId xmlns:a16="http://schemas.microsoft.com/office/drawing/2014/main" id="{13685CC3-1EA4-434A-8CBF-69FAD71B2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1619250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rPr>
              <a:t>01 · INTENT</a:t>
            </a:r>
          </a:p>
        </p:txBody>
      </p:sp>
      <p:sp>
        <p:nvSpPr>
          <p:cNvPr id="6" name="ui-body-0">
            <a:extLst xmlns:a="http://schemas.openxmlformats.org/drawingml/2006/main">
              <a:ext uri="{FF2B5EF4-FFF2-40B4-BE49-F238E27FC236}">
                <a16:creationId xmlns:a16="http://schemas.microsoft.com/office/drawing/2014/main" id="{6D22F22B-DA07-4445-8392-CCE27FD15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1981200"/>
            <a:ext cx="2762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The user declares context, audience, and desired signals.</a:t>
            </a:r>
          </a:p>
        </p:txBody>
      </p:sp>
      <p:cxnSp>
        <p:nvCxnSpPr>
          <p:cNvPr id="66" name="ui-rule-0"/>
          <p:cNvCxnSpPr/>
          <p:nvPr/>
        </p:nvCxnSpPr>
        <p:spPr>
          <a:xfrm xmlns:a="http://schemas.openxmlformats.org/drawingml/2006/main">
            <a:off x="9029700" y="2800350"/>
            <a:ext cx="27622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8D8D4"/>
            </a:solidFill>
            <a:prstDash val="solid"/>
          </a:ln>
        </p:spPr>
      </p:cxnSp>
      <p:sp>
        <p:nvSpPr>
          <p:cNvPr id="8" name="ui-label-1">
            <a:extLst xmlns:a="http://schemas.openxmlformats.org/drawingml/2006/main">
              <a:ext uri="{FF2B5EF4-FFF2-40B4-BE49-F238E27FC236}">
                <a16:creationId xmlns:a16="http://schemas.microsoft.com/office/drawing/2014/main" id="{CB6ECB85-5D62-437C-9DB8-D2CDE70DF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00375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rPr>
              <a:t>02 · RESULT</a:t>
            </a:r>
          </a:p>
        </p:txBody>
      </p:sp>
      <p:sp>
        <p:nvSpPr>
          <p:cNvPr id="9" name="ui-body-1">
            <a:extLst xmlns:a="http://schemas.openxmlformats.org/drawingml/2006/main">
              <a:ext uri="{FF2B5EF4-FFF2-40B4-BE49-F238E27FC236}">
                <a16:creationId xmlns:a16="http://schemas.microsoft.com/office/drawing/2014/main" id="{FAA8CA3E-4AAB-4BFB-BD41-1B4D7ED9D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362325"/>
            <a:ext cx="2762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The bounded workflow produces one evidence-backed report.</a:t>
            </a:r>
          </a:p>
        </p:txBody>
      </p:sp>
      <p:cxnSp>
        <p:nvCxnSpPr>
          <p:cNvPr id="69" name="ui-rule-1"/>
          <p:cNvCxnSpPr/>
          <p:nvPr/>
        </p:nvCxnSpPr>
        <p:spPr>
          <a:xfrm xmlns:a="http://schemas.openxmlformats.org/drawingml/2006/main">
            <a:off x="9029700" y="4181475"/>
            <a:ext cx="27622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8D8D4"/>
            </a:solidFill>
            <a:prstDash val="solid"/>
          </a:ln>
        </p:spPr>
      </p:cxnSp>
      <p:sp>
        <p:nvSpPr>
          <p:cNvPr id="11" name="ui-label-2">
            <a:extLst xmlns:a="http://schemas.openxmlformats.org/drawingml/2006/main">
              <a:ext uri="{FF2B5EF4-FFF2-40B4-BE49-F238E27FC236}">
                <a16:creationId xmlns:a16="http://schemas.microsoft.com/office/drawing/2014/main" id="{BBDD96B3-4DB7-4CCF-9627-5E41B289C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381500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rPr>
              <a:t>03 · TRACE + PRIVATE</a:t>
            </a:r>
          </a:p>
        </p:txBody>
      </p:sp>
      <p:sp>
        <p:nvSpPr>
          <p:cNvPr id="12" name="ui-body-2">
            <a:extLst xmlns:a="http://schemas.openxmlformats.org/drawingml/2006/main">
              <a:ext uri="{FF2B5EF4-FFF2-40B4-BE49-F238E27FC236}">
                <a16:creationId xmlns:a16="http://schemas.microsoft.com/office/drawing/2014/main" id="{CF7D0627-27CD-4447-B6A2-E4807F8C3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743450"/>
            <a:ext cx="2762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Retrieval, private Tool, memory, deletion, and ownership stay visible.</a:t>
            </a:r>
          </a:p>
        </p:txBody>
      </p:sp>
      <p:sp>
        <p:nvSpPr>
          <p:cNvPr id="13" name="ui-caption">
            <a:extLst xmlns:a="http://schemas.openxmlformats.org/drawingml/2006/main">
              <a:ext uri="{FF2B5EF4-FFF2-40B4-BE49-F238E27FC236}">
                <a16:creationId xmlns:a16="http://schemas.microsoft.com/office/drawing/2014/main" id="{1F97139B-CF05-4674-83A1-46D0D8F8D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5676900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ACTUAL NUXT INTERFACE · STATIC PREVIEW · NO MODEL OUTPUT SHOWN</a:t>
            </a:r>
          </a:p>
        </p:txBody>
      </p:sp>
      <p:sp>
        <p:nvSpPr>
          <p:cNvPr id="14" name="footer-3">
            <a:extLst xmlns:a="http://schemas.openxmlformats.org/drawingml/2006/main">
              <a:ext uri="{FF2B5EF4-FFF2-40B4-BE49-F238E27FC236}">
                <a16:creationId xmlns:a16="http://schemas.microsoft.com/office/drawing/2014/main" id="{EBCAA183-5C81-4BDF-8A89-0CE0F2F68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34125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5" name="footer-label-3">
            <a:extLst xmlns:a="http://schemas.openxmlformats.org/drawingml/2006/main">
              <a:ext uri="{FF2B5EF4-FFF2-40B4-BE49-F238E27FC236}">
                <a16:creationId xmlns:a16="http://schemas.microsoft.com/office/drawing/2014/main" id="{A3C87F9C-1C93-48E4-B8E5-3677BC0F6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34125"/>
            <a:ext cx="228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XIANGLENS · TRACK 2</a:t>
            </a:r>
          </a:p>
        </p:txBody>
      </p:sp>
    </p:spTree>
    <p:extLst>
      <p:ext uri="{BB962C8B-B14F-4D97-AF65-F5344CB8AC3E}">
        <p14:creationId xmlns:p14="http://schemas.microsoft.com/office/powerpoint/2010/main" val="53909370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top-accent">
            <a:extLst xmlns:a="http://schemas.openxmlformats.org/drawingml/2006/main">
              <a:ext uri="{FF2B5EF4-FFF2-40B4-BE49-F238E27FC236}">
                <a16:creationId xmlns:a16="http://schemas.microsoft.com/office/drawing/2014/main" id="{884F2658-186F-48FB-A818-5FF8F9AF4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0500"/>
            <a:ext cx="8001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1B2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29A9BDF-B824-4147-9B42-772A35BAE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19100"/>
            <a:ext cx="114109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The Agent owns every decision around the model</a:t>
            </a:r>
          </a:p>
        </p:txBody>
      </p:sp>
      <p:cxnSp>
        <p:nvCxnSpPr>
          <p:cNvPr id="77" name="browser-api"/>
          <p:cNvCxnSpPr/>
          <p:nvPr/>
        </p:nvCxnSpPr>
        <p:spPr>
          <a:xfrm xmlns:a="http://schemas.openxmlformats.org/drawingml/2006/main">
            <a:off x="2000250" y="2562225"/>
            <a:ext cx="8763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5F6368"/>
            </a:solidFill>
            <a:prstDash val="solid"/>
          </a:ln>
        </p:spPr>
      </p:cxnSp>
      <p:cxnSp>
        <p:nvCxnSpPr>
          <p:cNvPr id="78" name="api-graph"/>
          <p:cNvCxnSpPr/>
          <p:nvPr/>
        </p:nvCxnSpPr>
        <p:spPr>
          <a:xfrm xmlns:a="http://schemas.openxmlformats.org/drawingml/2006/main">
            <a:off x="4314825" y="2562225"/>
            <a:ext cx="8763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5F6368"/>
            </a:solidFill>
            <a:prstDash val="solid"/>
          </a:ln>
        </p:spPr>
      </p:cxnSp>
      <p:cxnSp>
        <p:nvCxnSpPr>
          <p:cNvPr id="79" name="graph-model"/>
          <p:cNvCxnSpPr/>
          <p:nvPr/>
        </p:nvCxnSpPr>
        <p:spPr>
          <a:xfrm xmlns:a="http://schemas.openxmlformats.org/drawingml/2006/main">
            <a:off x="6638925" y="2562225"/>
            <a:ext cx="866775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E51B23"/>
            </a:solidFill>
            <a:prstDash val="solid"/>
          </a:ln>
        </p:spPr>
      </p:cxnSp>
      <p:cxnSp>
        <p:nvCxnSpPr>
          <p:cNvPr id="80" name="model-gpu"/>
          <p:cNvCxnSpPr/>
          <p:nvPr/>
        </p:nvCxnSpPr>
        <p:spPr>
          <a:xfrm xmlns:a="http://schemas.openxmlformats.org/drawingml/2006/main">
            <a:off x="8953500" y="2562225"/>
            <a:ext cx="866775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E51B23"/>
            </a:solidFill>
            <a:prstDash val="solid"/>
          </a:ln>
        </p:spPr>
      </p:cxnSp>
      <p:cxnSp>
        <p:nvCxnSpPr>
          <p:cNvPr id="81" name="graph-tools"/>
          <p:cNvCxnSpPr/>
          <p:nvPr/>
        </p:nvCxnSpPr>
        <p:spPr>
          <a:xfrm xmlns:a="http://schemas.openxmlformats.org/drawingml/2006/main">
            <a:off x="3371850" y="3133725"/>
            <a:ext cx="2543175" cy="12287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368"/>
            </a:solidFill>
            <a:prstDash val="solid"/>
          </a:ln>
        </p:spPr>
      </p:cxnSp>
      <p:cxnSp>
        <p:nvCxnSpPr>
          <p:cNvPr id="82" name="graph-rag"/>
          <p:cNvCxnSpPr/>
          <p:nvPr/>
        </p:nvCxnSpPr>
        <p:spPr>
          <a:xfrm xmlns:a="http://schemas.openxmlformats.org/drawingml/2006/main">
            <a:off x="5915025" y="3133725"/>
            <a:ext cx="0" cy="12287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368"/>
            </a:solidFill>
            <a:prstDash val="solid"/>
          </a:ln>
        </p:spPr>
      </p:cxnSp>
      <p:cxnSp>
        <p:nvCxnSpPr>
          <p:cNvPr id="83" name="graph-memory"/>
          <p:cNvCxnSpPr/>
          <p:nvPr/>
        </p:nvCxnSpPr>
        <p:spPr>
          <a:xfrm xmlns:a="http://schemas.openxmlformats.org/drawingml/2006/main">
            <a:off x="5915025" y="3133725"/>
            <a:ext cx="2543175" cy="12287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368"/>
            </a:solidFill>
            <a:prstDash val="solid"/>
          </a:ln>
        </p:spPr>
      </p:cxnSp>
      <p:sp>
        <p:nvSpPr>
          <p:cNvPr id="10" name="browser-node">
            <a:extLst xmlns:a="http://schemas.openxmlformats.org/drawingml/2006/main">
              <a:ext uri="{FF2B5EF4-FFF2-40B4-BE49-F238E27FC236}">
                <a16:creationId xmlns:a16="http://schemas.microsoft.com/office/drawing/2014/main" id="{0A32AB6C-51C2-46CD-B92D-EBEB46A62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00250"/>
            <a:ext cx="1419225" cy="1133475"/>
          </a:xfrm>
          <a:prstGeom xmlns:a="http://schemas.openxmlformats.org/drawingml/2006/main" prst="roundRect">
            <a:avLst>
              <a:gd name="adj" fmla="val 672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8D8D4"/>
            </a:solidFill>
            <a:prstDash val="solid"/>
          </a:ln>
        </p:spPr>
      </p:sp>
      <p:sp>
        <p:nvSpPr>
          <p:cNvPr id="11" name="browser-label">
            <a:extLst xmlns:a="http://schemas.openxmlformats.org/drawingml/2006/main">
              <a:ext uri="{FF2B5EF4-FFF2-40B4-BE49-F238E27FC236}">
                <a16:creationId xmlns:a16="http://schemas.microsoft.com/office/drawing/2014/main" id="{5A9DEADF-9DB2-4814-AC07-EFBD845FA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12287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Static UI</a:t>
            </a:r>
          </a:p>
        </p:txBody>
      </p:sp>
      <p:sp>
        <p:nvSpPr>
          <p:cNvPr id="12" name="browser-detail">
            <a:extLst xmlns:a="http://schemas.openxmlformats.org/drawingml/2006/main">
              <a:ext uri="{FF2B5EF4-FFF2-40B4-BE49-F238E27FC236}">
                <a16:creationId xmlns:a16="http://schemas.microsoft.com/office/drawing/2014/main" id="{CBFD4AC7-228E-4216-8B3D-9C4D2DB51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09850"/>
            <a:ext cx="1190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GitHub Pages</a:t>
            </a:r>
          </a:p>
        </p:txBody>
      </p:sp>
      <p:sp>
        <p:nvSpPr>
          <p:cNvPr id="13" name="api-node">
            <a:extLst xmlns:a="http://schemas.openxmlformats.org/drawingml/2006/main">
              <a:ext uri="{FF2B5EF4-FFF2-40B4-BE49-F238E27FC236}">
                <a16:creationId xmlns:a16="http://schemas.microsoft.com/office/drawing/2014/main" id="{7F5F80AE-F15D-4805-820A-F68DACAB6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2000250"/>
            <a:ext cx="1419225" cy="1133475"/>
          </a:xfrm>
          <a:prstGeom xmlns:a="http://schemas.openxmlformats.org/drawingml/2006/main" prst="roundRect">
            <a:avLst>
              <a:gd name="adj" fmla="val 672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8D8D4"/>
            </a:solidFill>
            <a:prstDash val="solid"/>
          </a:ln>
        </p:spPr>
      </p:sp>
      <p:sp>
        <p:nvSpPr>
          <p:cNvPr id="14" name="api-label">
            <a:extLst xmlns:a="http://schemas.openxmlformats.org/drawingml/2006/main">
              <a:ext uri="{FF2B5EF4-FFF2-40B4-BE49-F238E27FC236}">
                <a16:creationId xmlns:a16="http://schemas.microsoft.com/office/drawing/2014/main" id="{CB8C851E-4F5D-4C8C-9983-423637854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200275"/>
            <a:ext cx="12287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FastAPI</a:t>
            </a:r>
          </a:p>
        </p:txBody>
      </p:sp>
      <p:sp>
        <p:nvSpPr>
          <p:cNvPr id="15" name="api-detail">
            <a:extLst xmlns:a="http://schemas.openxmlformats.org/drawingml/2006/main">
              <a:ext uri="{FF2B5EF4-FFF2-40B4-BE49-F238E27FC236}">
                <a16:creationId xmlns:a16="http://schemas.microsoft.com/office/drawing/2014/main" id="{0A786E8A-1D93-43F1-B373-E86D16691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8775" y="2609850"/>
            <a:ext cx="1311275" cy="3346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upload · SSE · auth</a:t>
            </a:r>
          </a:p>
        </p:txBody>
      </p:sp>
      <p:sp>
        <p:nvSpPr>
          <p:cNvPr id="16" name="graph-node">
            <a:extLst xmlns:a="http://schemas.openxmlformats.org/drawingml/2006/main">
              <a:ext uri="{FF2B5EF4-FFF2-40B4-BE49-F238E27FC236}">
                <a16:creationId xmlns:a16="http://schemas.microsoft.com/office/drawing/2014/main" id="{9873968D-D2C6-4EE6-AAEA-CBDB570D1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000250"/>
            <a:ext cx="1419225" cy="1133475"/>
          </a:xfrm>
          <a:prstGeom xmlns:a="http://schemas.openxmlformats.org/drawingml/2006/main" prst="roundRect">
            <a:avLst>
              <a:gd name="adj" fmla="val 672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8D8D4"/>
            </a:solidFill>
            <a:prstDash val="solid"/>
          </a:ln>
        </p:spPr>
      </p:sp>
      <p:sp>
        <p:nvSpPr>
          <p:cNvPr id="17" name="graph-label">
            <a:extLst xmlns:a="http://schemas.openxmlformats.org/drawingml/2006/main">
              <a:ext uri="{FF2B5EF4-FFF2-40B4-BE49-F238E27FC236}">
                <a16:creationId xmlns:a16="http://schemas.microsoft.com/office/drawing/2014/main" id="{0FEADD49-650A-459F-B7E9-80E3ACA87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200275"/>
            <a:ext cx="12287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LangGraph</a:t>
            </a:r>
          </a:p>
        </p:txBody>
      </p:sp>
      <p:sp>
        <p:nvSpPr>
          <p:cNvPr id="18" name="graph-detail">
            <a:extLst xmlns:a="http://schemas.openxmlformats.org/drawingml/2006/main">
              <a:ext uri="{FF2B5EF4-FFF2-40B4-BE49-F238E27FC236}">
                <a16:creationId xmlns:a16="http://schemas.microsoft.com/office/drawing/2014/main" id="{7CB8C92C-2E10-4EB1-A8DB-12A607101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3350" y="2609850"/>
            <a:ext cx="1311275" cy="298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policy · plan · state</a:t>
            </a:r>
          </a:p>
        </p:txBody>
      </p:sp>
      <p:sp>
        <p:nvSpPr>
          <p:cNvPr id="19" name="model-node">
            <a:extLst xmlns:a="http://schemas.openxmlformats.org/drawingml/2006/main">
              <a:ext uri="{FF2B5EF4-FFF2-40B4-BE49-F238E27FC236}">
                <a16:creationId xmlns:a16="http://schemas.microsoft.com/office/drawing/2014/main" id="{68CB75AE-910E-4FC5-B80E-C782C0941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2000250"/>
            <a:ext cx="1419225" cy="1133475"/>
          </a:xfrm>
          <a:prstGeom xmlns:a="http://schemas.openxmlformats.org/drawingml/2006/main" prst="roundRect">
            <a:avLst>
              <a:gd name="adj" fmla="val 6723"/>
            </a:avLst>
          </a:prstGeom>
          <a:solidFill xmlns:a="http://schemas.openxmlformats.org/drawingml/2006/main">
            <a:srgbClr val="F9E3E4"/>
          </a:solidFill>
          <a:ln xmlns:a="http://schemas.openxmlformats.org/drawingml/2006/main" w="14288">
            <a:solidFill>
              <a:srgbClr val="E51B23"/>
            </a:solidFill>
            <a:prstDash val="solid"/>
          </a:ln>
        </p:spPr>
      </p:sp>
      <p:sp>
        <p:nvSpPr>
          <p:cNvPr id="20" name="model-label">
            <a:extLst xmlns:a="http://schemas.openxmlformats.org/drawingml/2006/main">
              <a:ext uri="{FF2B5EF4-FFF2-40B4-BE49-F238E27FC236}">
                <a16:creationId xmlns:a16="http://schemas.microsoft.com/office/drawing/2014/main" id="{8C7DB846-AAEE-46A1-9E3E-9B4A3E969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9525" y="2200275"/>
            <a:ext cx="12287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llama-server</a:t>
            </a:r>
          </a:p>
        </p:txBody>
      </p:sp>
      <p:sp>
        <p:nvSpPr>
          <p:cNvPr id="21" name="model-detail">
            <a:extLst xmlns:a="http://schemas.openxmlformats.org/drawingml/2006/main">
              <a:ext uri="{FF2B5EF4-FFF2-40B4-BE49-F238E27FC236}">
                <a16:creationId xmlns:a16="http://schemas.microsoft.com/office/drawing/2014/main" id="{113C8453-E799-43A0-9348-FF2DE17D0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575" y="2609850"/>
            <a:ext cx="1190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OpenAI-compatible /v1</a:t>
            </a:r>
          </a:p>
        </p:txBody>
      </p:sp>
      <p:sp>
        <p:nvSpPr>
          <p:cNvPr id="22" name="gpu-node">
            <a:extLst xmlns:a="http://schemas.openxmlformats.org/drawingml/2006/main">
              <a:ext uri="{FF2B5EF4-FFF2-40B4-BE49-F238E27FC236}">
                <a16:creationId xmlns:a16="http://schemas.microsoft.com/office/drawing/2014/main" id="{395B4E88-21BE-4B8B-A3A2-C4A2D43F7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000250"/>
            <a:ext cx="1419225" cy="1133475"/>
          </a:xfrm>
          <a:prstGeom xmlns:a="http://schemas.openxmlformats.org/drawingml/2006/main" prst="roundRect">
            <a:avLst>
              <a:gd name="adj" fmla="val 6723"/>
            </a:avLst>
          </a:prstGeom>
          <a:solidFill xmlns:a="http://schemas.openxmlformats.org/drawingml/2006/main">
            <a:srgbClr val="F9E3E4"/>
          </a:solidFill>
          <a:ln xmlns:a="http://schemas.openxmlformats.org/drawingml/2006/main" w="14288">
            <a:solidFill>
              <a:srgbClr val="E51B23"/>
            </a:solidFill>
            <a:prstDash val="solid"/>
          </a:ln>
        </p:spPr>
      </p:sp>
      <p:sp>
        <p:nvSpPr>
          <p:cNvPr id="23" name="gpu-label">
            <a:extLst xmlns:a="http://schemas.openxmlformats.org/drawingml/2006/main">
              <a:ext uri="{FF2B5EF4-FFF2-40B4-BE49-F238E27FC236}">
                <a16:creationId xmlns:a16="http://schemas.microsoft.com/office/drawing/2014/main" id="{EFC67838-BDC7-48D9-8E8D-82408AB21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200275"/>
            <a:ext cx="12287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Radeon host</a:t>
            </a:r>
          </a:p>
        </p:txBody>
      </p:sp>
      <p:sp>
        <p:nvSpPr>
          <p:cNvPr id="24" name="gpu-detail">
            <a:extLst xmlns:a="http://schemas.openxmlformats.org/drawingml/2006/main">
              <a:ext uri="{FF2B5EF4-FFF2-40B4-BE49-F238E27FC236}">
                <a16:creationId xmlns:a16="http://schemas.microsoft.com/office/drawing/2014/main" id="{A43DFE1F-D710-4774-9E91-5EBFA5FB5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2609850"/>
            <a:ext cx="1190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ROCm · W7900</a:t>
            </a:r>
          </a:p>
        </p:txBody>
      </p:sp>
      <p:sp>
        <p:nvSpPr>
          <p:cNvPr id="25" name="tools-branch">
            <a:extLst xmlns:a="http://schemas.openxmlformats.org/drawingml/2006/main">
              <a:ext uri="{FF2B5EF4-FFF2-40B4-BE49-F238E27FC236}">
                <a16:creationId xmlns:a16="http://schemas.microsoft.com/office/drawing/2014/main" id="{CFABA912-A1AD-4407-AE60-7FFF5A13D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362450"/>
            <a:ext cx="2543175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CECE8"/>
          </a:solidFill>
          <a:ln xmlns:a="http://schemas.openxmlformats.org/drawingml/2006/main" w="9525">
            <a:solidFill>
              <a:srgbClr val="D8D8D4"/>
            </a:solidFill>
            <a:prstDash val="solid"/>
          </a:ln>
        </p:spPr>
      </p:sp>
      <p:sp>
        <p:nvSpPr>
          <p:cNvPr id="26" name="tools-branch-label">
            <a:extLst xmlns:a="http://schemas.openxmlformats.org/drawingml/2006/main">
              <a:ext uri="{FF2B5EF4-FFF2-40B4-BE49-F238E27FC236}">
                <a16:creationId xmlns:a16="http://schemas.microsoft.com/office/drawing/2014/main" id="{F0B6F204-BA67-4583-8C1A-8D9C880A6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572000"/>
            <a:ext cx="22002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Local tools</a:t>
            </a:r>
          </a:p>
        </p:txBody>
      </p:sp>
      <p:sp>
        <p:nvSpPr>
          <p:cNvPr id="27" name="tools-branch-detail">
            <a:extLst xmlns:a="http://schemas.openxmlformats.org/drawingml/2006/main">
              <a:ext uri="{FF2B5EF4-FFF2-40B4-BE49-F238E27FC236}">
                <a16:creationId xmlns:a16="http://schemas.microsoft.com/office/drawing/2014/main" id="{AF8A57CB-2DB4-4819-8268-0F095D6EF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962525"/>
            <a:ext cx="22002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EXIF · QR · crop · safe copy</a:t>
            </a:r>
          </a:p>
        </p:txBody>
      </p:sp>
      <p:sp>
        <p:nvSpPr>
          <p:cNvPr id="28" name="rag-branch">
            <a:extLst xmlns:a="http://schemas.openxmlformats.org/drawingml/2006/main">
              <a:ext uri="{FF2B5EF4-FFF2-40B4-BE49-F238E27FC236}">
                <a16:creationId xmlns:a16="http://schemas.microsoft.com/office/drawing/2014/main" id="{33422934-ADA9-4335-B4C7-AB8B78AFA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4362450"/>
            <a:ext cx="2543175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CECE8"/>
          </a:solidFill>
          <a:ln xmlns:a="http://schemas.openxmlformats.org/drawingml/2006/main" w="9525">
            <a:solidFill>
              <a:srgbClr val="D8D8D4"/>
            </a:solidFill>
            <a:prstDash val="solid"/>
          </a:ln>
        </p:spPr>
      </p:sp>
      <p:sp>
        <p:nvSpPr>
          <p:cNvPr id="29" name="rag-branch-label">
            <a:extLst xmlns:a="http://schemas.openxmlformats.org/drawingml/2006/main">
              <a:ext uri="{FF2B5EF4-FFF2-40B4-BE49-F238E27FC236}">
                <a16:creationId xmlns:a16="http://schemas.microsoft.com/office/drawing/2014/main" id="{DC24595D-85D5-410A-9001-3BE7C0E27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4572000"/>
            <a:ext cx="22002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Context engines</a:t>
            </a:r>
          </a:p>
        </p:txBody>
      </p:sp>
      <p:sp>
        <p:nvSpPr>
          <p:cNvPr id="30" name="rag-branch-detail">
            <a:extLst xmlns:a="http://schemas.openxmlformats.org/drawingml/2006/main">
              <a:ext uri="{FF2B5EF4-FFF2-40B4-BE49-F238E27FC236}">
                <a16:creationId xmlns:a16="http://schemas.microsoft.com/office/drawing/2014/main" id="{17F36AB4-16C0-4480-859D-3F8A1395E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4962525"/>
            <a:ext cx="22002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Milvus Top-K · opt-in private Lens</a:t>
            </a:r>
          </a:p>
        </p:txBody>
      </p:sp>
      <p:sp>
        <p:nvSpPr>
          <p:cNvPr id="31" name="memory-branch">
            <a:extLst xmlns:a="http://schemas.openxmlformats.org/drawingml/2006/main">
              <a:ext uri="{FF2B5EF4-FFF2-40B4-BE49-F238E27FC236}">
                <a16:creationId xmlns:a16="http://schemas.microsoft.com/office/drawing/2014/main" id="{82084B72-8960-4C91-9289-EC14890E3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362450"/>
            <a:ext cx="2543175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CECE8"/>
          </a:solidFill>
          <a:ln xmlns:a="http://schemas.openxmlformats.org/drawingml/2006/main" w="9525">
            <a:solidFill>
              <a:srgbClr val="D8D8D4"/>
            </a:solidFill>
            <a:prstDash val="solid"/>
          </a:ln>
        </p:spPr>
      </p:sp>
      <p:sp>
        <p:nvSpPr>
          <p:cNvPr id="32" name="memory-branch-label">
            <a:extLst xmlns:a="http://schemas.openxmlformats.org/drawingml/2006/main">
              <a:ext uri="{FF2B5EF4-FFF2-40B4-BE49-F238E27FC236}">
                <a16:creationId xmlns:a16="http://schemas.microsoft.com/office/drawing/2014/main" id="{3F67F02C-A48B-4863-880A-8EAC6641C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572000"/>
            <a:ext cx="22002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SQLite memory</a:t>
            </a:r>
          </a:p>
        </p:txBody>
      </p:sp>
      <p:sp>
        <p:nvSpPr>
          <p:cNvPr id="33" name="memory-branch-detail">
            <a:extLst xmlns:a="http://schemas.openxmlformats.org/drawingml/2006/main">
              <a:ext uri="{FF2B5EF4-FFF2-40B4-BE49-F238E27FC236}">
                <a16:creationId xmlns:a16="http://schemas.microsoft.com/office/drawing/2014/main" id="{AFFFBA93-3DCD-47C2-8384-217B20388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962525"/>
            <a:ext cx="22002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threads · consent · deletion</a:t>
            </a:r>
          </a:p>
        </p:txBody>
      </p:sp>
      <p:sp>
        <p:nvSpPr>
          <p:cNvPr id="34" name="boundary-public">
            <a:extLst xmlns:a="http://schemas.openxmlformats.org/drawingml/2006/main">
              <a:ext uri="{FF2B5EF4-FFF2-40B4-BE49-F238E27FC236}">
                <a16:creationId xmlns:a16="http://schemas.microsoft.com/office/drawing/2014/main" id="{E3F6E0D2-0AFF-4669-A8A0-D2782247B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811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PUBLIC EDGE</a:t>
            </a:r>
          </a:p>
        </p:txBody>
      </p:sp>
      <p:sp>
        <p:nvSpPr>
          <p:cNvPr id="35" name="boundary-private">
            <a:extLst xmlns:a="http://schemas.openxmlformats.org/drawingml/2006/main">
              <a:ext uri="{FF2B5EF4-FFF2-40B4-BE49-F238E27FC236}">
                <a16:creationId xmlns:a16="http://schemas.microsoft.com/office/drawing/2014/main" id="{015E12DA-EF97-4B9B-B34A-3EA4EE1F9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58115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rPr>
              <a:t>USER-CONTROLLED RADEON ENVIRONMENT</a:t>
            </a:r>
          </a:p>
        </p:txBody>
      </p:sp>
      <p:sp>
        <p:nvSpPr>
          <p:cNvPr id="36" name="architecture-foot">
            <a:extLst xmlns:a="http://schemas.openxmlformats.org/drawingml/2006/main">
              <a:ext uri="{FF2B5EF4-FFF2-40B4-BE49-F238E27FC236}">
                <a16:creationId xmlns:a16="http://schemas.microsoft.com/office/drawing/2014/main" id="{6F74B463-0C49-4BB5-913C-4424D31D0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829300"/>
            <a:ext cx="7620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FastAPI alone is exposed; model, Milvus, private Lens, SQLite, uploads, and permanent key stay private.</a:t>
            </a:r>
          </a:p>
        </p:txBody>
      </p:sp>
      <p:sp>
        <p:nvSpPr>
          <p:cNvPr id="37" name="footer-4">
            <a:extLst xmlns:a="http://schemas.openxmlformats.org/drawingml/2006/main">
              <a:ext uri="{FF2B5EF4-FFF2-40B4-BE49-F238E27FC236}">
                <a16:creationId xmlns:a16="http://schemas.microsoft.com/office/drawing/2014/main" id="{1664F668-71E5-4C6F-AC9D-9D8C29592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34125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38" name="footer-label-4">
            <a:extLst xmlns:a="http://schemas.openxmlformats.org/drawingml/2006/main">
              <a:ext uri="{FF2B5EF4-FFF2-40B4-BE49-F238E27FC236}">
                <a16:creationId xmlns:a16="http://schemas.microsoft.com/office/drawing/2014/main" id="{4CDB8E8D-6C44-4CF5-83B6-76253A755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34125"/>
            <a:ext cx="228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XIANGLENS · TRACK 2</a:t>
            </a:r>
          </a:p>
        </p:txBody>
      </p:sp>
    </p:spTree>
    <p:extLst>
      <p:ext uri="{BB962C8B-B14F-4D97-AF65-F5344CB8AC3E}">
        <p14:creationId xmlns:p14="http://schemas.microsoft.com/office/powerpoint/2010/main" val="59149934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top-accent">
            <a:extLst xmlns:a="http://schemas.openxmlformats.org/drawingml/2006/main">
              <a:ext uri="{FF2B5EF4-FFF2-40B4-BE49-F238E27FC236}">
                <a16:creationId xmlns:a16="http://schemas.microsoft.com/office/drawing/2014/main" id="{5B8833E2-AC2C-438E-9532-3BBBEE819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0500"/>
            <a:ext cx="8001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1B2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A359276-D472-419C-A095-9C03B8311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19100"/>
            <a:ext cx="114109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One workflow proves all five Track 2 capabilities</a:t>
            </a:r>
          </a:p>
        </p:txBody>
      </p:sp>
      <p:cxnSp>
        <p:nvCxnSpPr>
          <p:cNvPr id="41" name="capability-spine"/>
          <p:cNvCxnSpPr/>
          <p:nvPr/>
        </p:nvCxnSpPr>
        <p:spPr>
          <a:xfrm xmlns:a="http://schemas.openxmlformats.org/drawingml/2006/main">
            <a:off x="742950" y="2705100"/>
            <a:ext cx="103632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D8D8D4"/>
            </a:solidFill>
            <a:prstDash val="solid"/>
          </a:ln>
        </p:spPr>
      </p:cxnSp>
      <p:sp>
        <p:nvSpPr>
          <p:cNvPr id="4" name="cap-dot-01">
            <a:extLst xmlns:a="http://schemas.openxmlformats.org/drawingml/2006/main">
              <a:ext uri="{FF2B5EF4-FFF2-40B4-BE49-F238E27FC236}">
                <a16:creationId xmlns:a16="http://schemas.microsoft.com/office/drawing/2014/main" id="{E4B46249-C12E-473F-A701-49848A00B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4574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cap-num-01">
            <a:extLst xmlns:a="http://schemas.openxmlformats.org/drawingml/2006/main">
              <a:ext uri="{FF2B5EF4-FFF2-40B4-BE49-F238E27FC236}">
                <a16:creationId xmlns:a16="http://schemas.microsoft.com/office/drawing/2014/main" id="{871BC7D7-05BA-4FEC-826A-DE71C7F2F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908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6" name="cap-title-01">
            <a:extLst xmlns:a="http://schemas.openxmlformats.org/drawingml/2006/main">
              <a:ext uri="{FF2B5EF4-FFF2-40B4-BE49-F238E27FC236}">
                <a16:creationId xmlns:a16="http://schemas.microsoft.com/office/drawing/2014/main" id="{A1436F44-43DA-49F5-89DA-82A17495D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33750"/>
            <a:ext cx="1828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Plan</a:t>
            </a:r>
          </a:p>
        </p:txBody>
      </p:sp>
      <p:sp>
        <p:nvSpPr>
          <p:cNvPr id="7" name="cap-detail-01">
            <a:extLst xmlns:a="http://schemas.openxmlformats.org/drawingml/2006/main">
              <a:ext uri="{FF2B5EF4-FFF2-40B4-BE49-F238E27FC236}">
                <a16:creationId xmlns:a16="http://schemas.microsoft.com/office/drawing/2014/main" id="{5F638809-F3AE-458D-8413-5A6123E70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14775"/>
            <a:ext cx="1828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Visible fixed plan</a:t>
            </a:r>
          </a:p>
          <a:p xmlns:a="http://schemas.openxmlformats.org/drawingml/2006/main">
            <a:pPr algn="ctr">
              <a:buNone/>
              <a:defRPr sz="12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and bounded routing</a:t>
            </a:r>
          </a:p>
        </p:txBody>
      </p:sp>
      <p:sp>
        <p:nvSpPr>
          <p:cNvPr id="8" name="cap-dot-02">
            <a:extLst xmlns:a="http://schemas.openxmlformats.org/drawingml/2006/main">
              <a:ext uri="{FF2B5EF4-FFF2-40B4-BE49-F238E27FC236}">
                <a16:creationId xmlns:a16="http://schemas.microsoft.com/office/drawing/2014/main" id="{1663DE82-292A-4BFB-8131-096014CBD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4574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cap-num-02">
            <a:extLst xmlns:a="http://schemas.openxmlformats.org/drawingml/2006/main">
              <a:ext uri="{FF2B5EF4-FFF2-40B4-BE49-F238E27FC236}">
                <a16:creationId xmlns:a16="http://schemas.microsoft.com/office/drawing/2014/main" id="{44242C88-BE02-4C49-B0F5-557BB5CD7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5908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10" name="cap-title-02">
            <a:extLst xmlns:a="http://schemas.openxmlformats.org/drawingml/2006/main">
              <a:ext uri="{FF2B5EF4-FFF2-40B4-BE49-F238E27FC236}">
                <a16:creationId xmlns:a16="http://schemas.microsoft.com/office/drawing/2014/main" id="{DD0B54BA-725A-4278-B15F-BB504B5F4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333750"/>
            <a:ext cx="1828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Tools</a:t>
            </a:r>
          </a:p>
        </p:txBody>
      </p:sp>
      <p:sp>
        <p:nvSpPr>
          <p:cNvPr id="11" name="cap-detail-02">
            <a:extLst xmlns:a="http://schemas.openxmlformats.org/drawingml/2006/main">
              <a:ext uri="{FF2B5EF4-FFF2-40B4-BE49-F238E27FC236}">
                <a16:creationId xmlns:a16="http://schemas.microsoft.com/office/drawing/2014/main" id="{888CFD15-3148-4FFA-8F2C-862182BE6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914775"/>
            <a:ext cx="1828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EXIF, QR, crop,</a:t>
            </a:r>
          </a:p>
          <a:p xmlns:a="http://schemas.openxmlformats.org/drawingml/2006/main">
            <a:pPr algn="ctr">
              <a:buNone/>
              <a:defRPr sz="12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private Lens, safe copy</a:t>
            </a:r>
          </a:p>
        </p:txBody>
      </p:sp>
      <p:sp>
        <p:nvSpPr>
          <p:cNvPr id="12" name="cap-dot-03">
            <a:extLst xmlns:a="http://schemas.openxmlformats.org/drawingml/2006/main">
              <a:ext uri="{FF2B5EF4-FFF2-40B4-BE49-F238E27FC236}">
                <a16:creationId xmlns:a16="http://schemas.microsoft.com/office/drawing/2014/main" id="{E87AC677-F151-43AF-8655-5AC530736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4574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cap-num-03">
            <a:extLst xmlns:a="http://schemas.openxmlformats.org/drawingml/2006/main">
              <a:ext uri="{FF2B5EF4-FFF2-40B4-BE49-F238E27FC236}">
                <a16:creationId xmlns:a16="http://schemas.microsoft.com/office/drawing/2014/main" id="{58D0EC96-7C25-4DC8-9DDE-62EB7AB8D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5908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4" name="cap-title-03">
            <a:extLst xmlns:a="http://schemas.openxmlformats.org/drawingml/2006/main">
              <a:ext uri="{FF2B5EF4-FFF2-40B4-BE49-F238E27FC236}">
                <a16:creationId xmlns:a16="http://schemas.microsoft.com/office/drawing/2014/main" id="{8104D894-4255-4CF9-BD88-A8EAF86A6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333750"/>
            <a:ext cx="1828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RAG</a:t>
            </a:r>
          </a:p>
        </p:txBody>
      </p:sp>
      <p:sp>
        <p:nvSpPr>
          <p:cNvPr id="15" name="cap-detail-03">
            <a:extLst xmlns:a="http://schemas.openxmlformats.org/drawingml/2006/main">
              <a:ext uri="{FF2B5EF4-FFF2-40B4-BE49-F238E27FC236}">
                <a16:creationId xmlns:a16="http://schemas.microsoft.com/office/drawing/2014/main" id="{55E92880-0FED-4C9E-BA79-97CAC4FA7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914775"/>
            <a:ext cx="1828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Milvus Lite Top-K</a:t>
            </a:r>
          </a:p>
          <a:p xmlns:a="http://schemas.openxmlformats.org/drawingml/2006/main">
            <a:pPr algn="ctr">
              <a:buNone/>
              <a:defRPr sz="12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with visible sources</a:t>
            </a:r>
          </a:p>
        </p:txBody>
      </p:sp>
      <p:sp>
        <p:nvSpPr>
          <p:cNvPr id="16" name="cap-dot-04">
            <a:extLst xmlns:a="http://schemas.openxmlformats.org/drawingml/2006/main">
              <a:ext uri="{FF2B5EF4-FFF2-40B4-BE49-F238E27FC236}">
                <a16:creationId xmlns:a16="http://schemas.microsoft.com/office/drawing/2014/main" id="{1D3F5DF9-CBCD-40FE-8EC2-F78EFC655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4574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cap-num-04">
            <a:extLst xmlns:a="http://schemas.openxmlformats.org/drawingml/2006/main">
              <a:ext uri="{FF2B5EF4-FFF2-40B4-BE49-F238E27FC236}">
                <a16:creationId xmlns:a16="http://schemas.microsoft.com/office/drawing/2014/main" id="{B2F06475-363F-4FAB-90A9-0C13D3108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5908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18" name="cap-title-04">
            <a:extLst xmlns:a="http://schemas.openxmlformats.org/drawingml/2006/main">
              <a:ext uri="{FF2B5EF4-FFF2-40B4-BE49-F238E27FC236}">
                <a16:creationId xmlns:a16="http://schemas.microsoft.com/office/drawing/2014/main" id="{7DCF9818-6589-42F6-B8E4-F122608CC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333750"/>
            <a:ext cx="1828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Memory</a:t>
            </a:r>
          </a:p>
        </p:txBody>
      </p:sp>
      <p:sp>
        <p:nvSpPr>
          <p:cNvPr id="19" name="cap-detail-04">
            <a:extLst xmlns:a="http://schemas.openxmlformats.org/drawingml/2006/main">
              <a:ext uri="{FF2B5EF4-FFF2-40B4-BE49-F238E27FC236}">
                <a16:creationId xmlns:a16="http://schemas.microsoft.com/office/drawing/2014/main" id="{5BB6E7F4-E4CB-4561-A3F7-6AAE993FB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914775"/>
            <a:ext cx="1828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Cross-thread recall</a:t>
            </a:r>
          </a:p>
          <a:p xmlns:a="http://schemas.openxmlformats.org/drawingml/2006/main">
            <a:pPr algn="ctr">
              <a:buNone/>
              <a:defRPr sz="12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after explicit approval</a:t>
            </a:r>
          </a:p>
        </p:txBody>
      </p:sp>
      <p:sp>
        <p:nvSpPr>
          <p:cNvPr id="20" name="cap-dot-05">
            <a:extLst xmlns:a="http://schemas.openxmlformats.org/drawingml/2006/main">
              <a:ext uri="{FF2B5EF4-FFF2-40B4-BE49-F238E27FC236}">
                <a16:creationId xmlns:a16="http://schemas.microsoft.com/office/drawing/2014/main" id="{71C1C6D1-CBB2-455D-A071-292205137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24574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1B2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cap-num-05">
            <a:extLst xmlns:a="http://schemas.openxmlformats.org/drawingml/2006/main">
              <a:ext uri="{FF2B5EF4-FFF2-40B4-BE49-F238E27FC236}">
                <a16:creationId xmlns:a16="http://schemas.microsoft.com/office/drawing/2014/main" id="{DC9C514A-0BDC-4537-A08D-376A76ECA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25908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22" name="cap-title-05">
            <a:extLst xmlns:a="http://schemas.openxmlformats.org/drawingml/2006/main">
              <a:ext uri="{FF2B5EF4-FFF2-40B4-BE49-F238E27FC236}">
                <a16:creationId xmlns:a16="http://schemas.microsoft.com/office/drawing/2014/main" id="{303F662B-E8BE-4609-8A69-230C0673F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333750"/>
            <a:ext cx="1828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Permission</a:t>
            </a:r>
          </a:p>
        </p:txBody>
      </p:sp>
      <p:sp>
        <p:nvSpPr>
          <p:cNvPr id="23" name="cap-detail-05">
            <a:extLst xmlns:a="http://schemas.openxmlformats.org/drawingml/2006/main">
              <a:ext uri="{FF2B5EF4-FFF2-40B4-BE49-F238E27FC236}">
                <a16:creationId xmlns:a16="http://schemas.microsoft.com/office/drawing/2014/main" id="{65E1A3EF-CA4E-4E7C-81BE-D6F28E730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914775"/>
            <a:ext cx="1828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Policy gate, short token,</a:t>
            </a:r>
          </a:p>
          <a:p xmlns:a="http://schemas.openxmlformats.org/drawingml/2006/main">
            <a:pPr algn="ctr">
              <a:buNone/>
              <a:defRPr sz="12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and Forget Me</a:t>
            </a:r>
          </a:p>
        </p:txBody>
      </p:sp>
      <p:sp>
        <p:nvSpPr>
          <p:cNvPr id="24" name="capability-path">
            <a:extLst xmlns:a="http://schemas.openxmlformats.org/drawingml/2006/main">
              <a:ext uri="{FF2B5EF4-FFF2-40B4-BE49-F238E27FC236}">
                <a16:creationId xmlns:a16="http://schemas.microsoft.com/office/drawing/2014/main" id="{724FFA5D-829B-4C88-8CA5-CD3757A19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38750"/>
            <a:ext cx="10439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rPr>
              <a:t>Policy → recall → inspect → observe → private Lens → RAG → compare → consent → cited report</a:t>
            </a:r>
          </a:p>
        </p:txBody>
      </p:sp>
      <p:sp>
        <p:nvSpPr>
          <p:cNvPr id="25" name="footer-5">
            <a:extLst xmlns:a="http://schemas.openxmlformats.org/drawingml/2006/main">
              <a:ext uri="{FF2B5EF4-FFF2-40B4-BE49-F238E27FC236}">
                <a16:creationId xmlns:a16="http://schemas.microsoft.com/office/drawing/2014/main" id="{AEA0B31E-5AD2-442E-962C-757A0B4D7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34125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26" name="footer-label-5">
            <a:extLst xmlns:a="http://schemas.openxmlformats.org/drawingml/2006/main">
              <a:ext uri="{FF2B5EF4-FFF2-40B4-BE49-F238E27FC236}">
                <a16:creationId xmlns:a16="http://schemas.microsoft.com/office/drawing/2014/main" id="{4B50B0E2-BC60-4E12-A988-EAF1F328E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34125"/>
            <a:ext cx="228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XIANGLENS · TRACK 2</a:t>
            </a:r>
          </a:p>
        </p:txBody>
      </p:sp>
    </p:spTree>
    <p:extLst>
      <p:ext uri="{BB962C8B-B14F-4D97-AF65-F5344CB8AC3E}">
        <p14:creationId xmlns:p14="http://schemas.microsoft.com/office/powerpoint/2010/main" val="7610011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op-accent">
            <a:extLst xmlns:a="http://schemas.openxmlformats.org/drawingml/2006/main">
              <a:ext uri="{FF2B5EF4-FFF2-40B4-BE49-F238E27FC236}">
                <a16:creationId xmlns:a16="http://schemas.microsoft.com/office/drawing/2014/main" id="{EC46E977-62F6-4ED2-ADA7-DFAF695E9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0500"/>
            <a:ext cx="8001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1B2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5CBB9F9-1E4C-46B7-9425-802D87DAE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19100"/>
            <a:ext cx="114109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Core multimodal inference stays on the Radeon host</a:t>
            </a:r>
          </a:p>
        </p:txBody>
      </p:sp>
      <p:sp>
        <p:nvSpPr>
          <p:cNvPr id="3" name="runtime-lead">
            <a:extLst xmlns:a="http://schemas.openxmlformats.org/drawingml/2006/main">
              <a:ext uri="{FF2B5EF4-FFF2-40B4-BE49-F238E27FC236}">
                <a16:creationId xmlns:a16="http://schemas.microsoft.com/office/drawing/2014/main" id="{3363D9EC-7D7B-4C57-B89F-1603AA66A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90650"/>
            <a:ext cx="11391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The public interface is intentionally thin. The private execution boundary contains every stateful and inference-critical component.</a:t>
            </a:r>
          </a:p>
        </p:txBody>
      </p:sp>
      <p:sp>
        <p:nvSpPr>
          <p:cNvPr id="4" name="public-zone">
            <a:extLst xmlns:a="http://schemas.openxmlformats.org/drawingml/2006/main">
              <a:ext uri="{FF2B5EF4-FFF2-40B4-BE49-F238E27FC236}">
                <a16:creationId xmlns:a16="http://schemas.microsoft.com/office/drawing/2014/main" id="{DDB44C3F-D7EA-40B6-B62E-CB67A286C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324100"/>
            <a:ext cx="4057650" cy="2838450"/>
          </a:xfrm>
          <a:prstGeom xmlns:a="http://schemas.openxmlformats.org/drawingml/2006/main" prst="roundRect">
            <a:avLst>
              <a:gd name="adj" fmla="val 26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8D8D4"/>
            </a:solidFill>
            <a:prstDash val="solid"/>
          </a:ln>
        </p:spPr>
      </p:sp>
      <p:sp>
        <p:nvSpPr>
          <p:cNvPr id="5" name="public-heading">
            <a:extLst xmlns:a="http://schemas.openxmlformats.org/drawingml/2006/main">
              <a:ext uri="{FF2B5EF4-FFF2-40B4-BE49-F238E27FC236}">
                <a16:creationId xmlns:a16="http://schemas.microsoft.com/office/drawing/2014/main" id="{ADC3A98F-F419-4D5B-9D34-DB81FC4EE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28900"/>
            <a:ext cx="3486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PUBLIC SURFACE</a:t>
            </a:r>
          </a:p>
        </p:txBody>
      </p:sp>
      <p:sp>
        <p:nvSpPr>
          <p:cNvPr id="6" name="public-body">
            <a:extLst xmlns:a="http://schemas.openxmlformats.org/drawingml/2006/main">
              <a:ext uri="{FF2B5EF4-FFF2-40B4-BE49-F238E27FC236}">
                <a16:creationId xmlns:a16="http://schemas.microsoft.com/office/drawing/2014/main" id="{7559B6BC-91D7-4996-9003-258E13B19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19450"/>
            <a:ext cx="34861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GitHub Pages static UI</a:t>
            </a:r>
          </a:p>
          <a:p xmlns:a="http://schemas.openxmlformats.org/drawingml/2006/main">
            <a:pPr algn="l">
              <a:buNone/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Short-lived Bearer session</a:t>
            </a:r>
          </a:p>
          <a:p xmlns:a="http://schemas.openxmlformats.org/drawingml/2006/main">
            <a:pPr algn="l">
              <a:buNone/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FastAPI HTTPS endpoint</a:t>
            </a:r>
          </a:p>
        </p:txBody>
      </p:sp>
      <p:sp>
        <p:nvSpPr>
          <p:cNvPr id="7" name="private-zone">
            <a:extLst xmlns:a="http://schemas.openxmlformats.org/drawingml/2006/main">
              <a:ext uri="{FF2B5EF4-FFF2-40B4-BE49-F238E27FC236}">
                <a16:creationId xmlns:a16="http://schemas.microsoft.com/office/drawing/2014/main" id="{B2E54AAB-785A-4724-AC2C-EA25EB0B4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095500"/>
            <a:ext cx="6972300" cy="3295650"/>
          </a:xfrm>
          <a:prstGeom xmlns:a="http://schemas.openxmlformats.org/drawingml/2006/main" prst="roundRect">
            <a:avLst>
              <a:gd name="adj" fmla="val 2312"/>
            </a:avLst>
          </a:prstGeom>
          <a:solidFill xmlns:a="http://schemas.openxmlformats.org/drawingml/2006/main">
            <a:srgbClr val="F9E3E4"/>
          </a:solidFill>
          <a:ln xmlns:a="http://schemas.openxmlformats.org/drawingml/2006/main" w="19050">
            <a:solidFill>
              <a:srgbClr val="E51B23"/>
            </a:solidFill>
            <a:prstDash val="solid"/>
          </a:ln>
        </p:spPr>
      </p:sp>
      <p:sp>
        <p:nvSpPr>
          <p:cNvPr id="8" name="private-heading">
            <a:extLst xmlns:a="http://schemas.openxmlformats.org/drawingml/2006/main">
              <a:ext uri="{FF2B5EF4-FFF2-40B4-BE49-F238E27FC236}">
                <a16:creationId xmlns:a16="http://schemas.microsoft.com/office/drawing/2014/main" id="{E07B64B0-312E-4A05-838F-C97A01C21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400300"/>
            <a:ext cx="619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rPr>
              <a:t>PRIVATE RADEON + ROCm SURFACE</a:t>
            </a:r>
          </a:p>
        </p:txBody>
      </p:sp>
      <p:sp>
        <p:nvSpPr>
          <p:cNvPr id="9" name="private-model">
            <a:extLst xmlns:a="http://schemas.openxmlformats.org/drawingml/2006/main">
              <a:ext uri="{FF2B5EF4-FFF2-40B4-BE49-F238E27FC236}">
                <a16:creationId xmlns:a16="http://schemas.microsoft.com/office/drawing/2014/main" id="{3A7CE1D2-AF00-47BB-9FA2-C64273571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990850"/>
            <a:ext cx="619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Qwen3.6 35B-A3B Fable 5 Distill · Q6_K GGUF</a:t>
            </a:r>
          </a:p>
        </p:txBody>
      </p:sp>
      <p:sp>
        <p:nvSpPr>
          <p:cNvPr id="10" name="private-body">
            <a:extLst xmlns:a="http://schemas.openxmlformats.org/drawingml/2006/main">
              <a:ext uri="{FF2B5EF4-FFF2-40B4-BE49-F238E27FC236}">
                <a16:creationId xmlns:a16="http://schemas.microsoft.com/office/drawing/2014/main" id="{8DAF1C5B-8BC4-47C3-A2E8-0A7639231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619500"/>
            <a:ext cx="6191250" cy="1390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llama.cpp / llama-server on 127.0.0.1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LangGraph + deterministic image tools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Milvus Lite + opt-in private 108-technique Lens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SQLite + controlled uploads; permanent key stays server-side</a:t>
            </a:r>
          </a:p>
        </p:txBody>
      </p:sp>
      <p:sp>
        <p:nvSpPr>
          <p:cNvPr id="11" name="runtime-proof">
            <a:extLst xmlns:a="http://schemas.openxmlformats.org/drawingml/2006/main">
              <a:ext uri="{FF2B5EF4-FFF2-40B4-BE49-F238E27FC236}">
                <a16:creationId xmlns:a16="http://schemas.microsoft.com/office/drawing/2014/main" id="{E6C84613-D728-49CB-A5C0-EC15A0547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734050"/>
            <a:ext cx="9677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rPr>
              <a:t>Demo proof: rocm-smi + /v1/models + XiangLens system status</a:t>
            </a:r>
          </a:p>
        </p:txBody>
      </p:sp>
      <p:sp>
        <p:nvSpPr>
          <p:cNvPr id="12" name="footer-6">
            <a:extLst xmlns:a="http://schemas.openxmlformats.org/drawingml/2006/main">
              <a:ext uri="{FF2B5EF4-FFF2-40B4-BE49-F238E27FC236}">
                <a16:creationId xmlns:a16="http://schemas.microsoft.com/office/drawing/2014/main" id="{4CB7FACD-E86E-4A3B-8557-378019725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34125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  <p:sp>
        <p:nvSpPr>
          <p:cNvPr id="13" name="footer-label-6">
            <a:extLst xmlns:a="http://schemas.openxmlformats.org/drawingml/2006/main">
              <a:ext uri="{FF2B5EF4-FFF2-40B4-BE49-F238E27FC236}">
                <a16:creationId xmlns:a16="http://schemas.microsoft.com/office/drawing/2014/main" id="{7AA6A3B0-8A62-4821-B4B7-88683E9CD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34125"/>
            <a:ext cx="228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XIANGLENS · TRACK 2</a:t>
            </a:r>
          </a:p>
        </p:txBody>
      </p:sp>
    </p:spTree>
    <p:extLst>
      <p:ext uri="{BB962C8B-B14F-4D97-AF65-F5344CB8AC3E}">
        <p14:creationId xmlns:p14="http://schemas.microsoft.com/office/powerpoint/2010/main" val="130854805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top-accent">
            <a:extLst xmlns:a="http://schemas.openxmlformats.org/drawingml/2006/main">
              <a:ext uri="{FF2B5EF4-FFF2-40B4-BE49-F238E27FC236}">
                <a16:creationId xmlns:a16="http://schemas.microsoft.com/office/drawing/2014/main" id="{C59A2A79-7882-4BAB-88ED-B867436A4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0500"/>
            <a:ext cx="8001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1B2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4A588F2-8B1E-4758-9D64-979463AB9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19100"/>
            <a:ext cx="114109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W7900 delivers 83.42 tok/s median with 100% valid JSON</a:t>
            </a:r>
          </a:p>
        </p:txBody>
      </p:sp>
      <p:sp>
        <p:nvSpPr>
          <p:cNvPr id="3" name="optimization-claim">
            <a:extLst xmlns:a="http://schemas.openxmlformats.org/drawingml/2006/main">
              <a:ext uri="{FF2B5EF4-FFF2-40B4-BE49-F238E27FC236}">
                <a16:creationId xmlns:a16="http://schemas.microsoft.com/office/drawing/2014/main" id="{A86E7A73-D470-40B1-B4B7-AC41AB691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47850"/>
            <a:ext cx="3476625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Five warm multimodal runs returned identical structured output.</a:t>
            </a:r>
          </a:p>
        </p:txBody>
      </p:sp>
      <p:sp>
        <p:nvSpPr>
          <p:cNvPr id="4" name="optimization-context">
            <a:extLst xmlns:a="http://schemas.openxmlformats.org/drawingml/2006/main">
              <a:ext uri="{FF2B5EF4-FFF2-40B4-BE49-F238E27FC236}">
                <a16:creationId xmlns:a16="http://schemas.microsoft.com/office/drawing/2014/main" id="{57ED69E6-3158-4177-82CB-5D9C7E454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38550"/>
            <a:ext cx="3476625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Q6_K · full GPU offload · Flash Attention · Q8_0 KV cache.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One warmup, 2,048-token reasoning budget, 384-token final budget.</a:t>
            </a:r>
          </a:p>
        </p:txBody>
      </p:sp>
      <p:sp>
        <p:nvSpPr>
          <p:cNvPr id="5" name="optimization-no-fake">
            <a:extLst xmlns:a="http://schemas.openxmlformats.org/drawingml/2006/main">
              <a:ext uri="{FF2B5EF4-FFF2-40B4-BE49-F238E27FC236}">
                <a16:creationId xmlns:a16="http://schemas.microsoft.com/office/drawing/2014/main" id="{26372145-0DB5-495B-988B-9B9026F5C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048250"/>
            <a:ext cx="34766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rPr>
              <a:t>100% valid JSON.</a:t>
            </a:r>
          </a:p>
          <a:p xmlns:a="http://schemas.openxmlformats.org/drawingml/2006/main">
            <a:pPr algn="l">
              <a:buNone/>
              <a:defRPr sz="1425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rPr>
              <a:t>Same output hash across 6 runs.</a:t>
            </a:r>
          </a:p>
        </p:txBody>
      </p:sp>
      <p:sp>
        <p:nvSpPr>
          <p:cNvPr id="6" name="opt-label-0">
            <a:extLst xmlns:a="http://schemas.openxmlformats.org/drawingml/2006/main">
              <a:ext uri="{FF2B5EF4-FFF2-40B4-BE49-F238E27FC236}">
                <a16:creationId xmlns:a16="http://schemas.microsoft.com/office/drawing/2014/main" id="{43A8F7A3-1359-4B5E-BB12-C77E39A42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1943100"/>
            <a:ext cx="1543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rPr>
              <a:t>FIRST DELTA</a:t>
            </a:r>
          </a:p>
        </p:txBody>
      </p:sp>
      <p:sp>
        <p:nvSpPr>
          <p:cNvPr id="7" name="opt-body-0">
            <a:extLst xmlns:a="http://schemas.openxmlformats.org/drawingml/2006/main">
              <a:ext uri="{FF2B5EF4-FFF2-40B4-BE49-F238E27FC236}">
                <a16:creationId xmlns:a16="http://schemas.microsoft.com/office/drawing/2014/main" id="{7EA8A363-AD98-4459-85E3-66745EB08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905000"/>
            <a:ext cx="5429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87.09 ms median</a:t>
            </a:r>
          </a:p>
        </p:txBody>
      </p:sp>
      <p:cxnSp>
        <p:nvCxnSpPr>
          <p:cNvPr id="84" name="opt-rule-0"/>
          <p:cNvCxnSpPr/>
          <p:nvPr/>
        </p:nvCxnSpPr>
        <p:spPr>
          <a:xfrm xmlns:a="http://schemas.openxmlformats.org/drawingml/2006/main">
            <a:off x="4648200" y="2590800"/>
            <a:ext cx="71437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8D8D4"/>
            </a:solidFill>
            <a:prstDash val="solid"/>
          </a:ln>
        </p:spPr>
      </p:cxnSp>
      <p:sp>
        <p:nvSpPr>
          <p:cNvPr id="9" name="opt-label-1">
            <a:extLst xmlns:a="http://schemas.openxmlformats.org/drawingml/2006/main">
              <a:ext uri="{FF2B5EF4-FFF2-40B4-BE49-F238E27FC236}">
                <a16:creationId xmlns:a16="http://schemas.microsoft.com/office/drawing/2014/main" id="{234B3B2F-1B1E-40CD-9454-10AAB0353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857500"/>
            <a:ext cx="1543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rPr>
              <a:t>FINAL CONTENT</a:t>
            </a:r>
          </a:p>
        </p:txBody>
      </p:sp>
      <p:sp>
        <p:nvSpPr>
          <p:cNvPr id="10" name="opt-body-1">
            <a:extLst xmlns:a="http://schemas.openxmlformats.org/drawingml/2006/main">
              <a:ext uri="{FF2B5EF4-FFF2-40B4-BE49-F238E27FC236}">
                <a16:creationId xmlns:a16="http://schemas.microsoft.com/office/drawing/2014/main" id="{2CF88A46-A0AD-415C-8611-823EC0B10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819400"/>
            <a:ext cx="5429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9.96 s median</a:t>
            </a:r>
          </a:p>
        </p:txBody>
      </p:sp>
      <p:cxnSp>
        <p:nvCxnSpPr>
          <p:cNvPr id="87" name="opt-rule-1"/>
          <p:cNvCxnSpPr/>
          <p:nvPr/>
        </p:nvCxnSpPr>
        <p:spPr>
          <a:xfrm xmlns:a="http://schemas.openxmlformats.org/drawingml/2006/main">
            <a:off x="4648200" y="3505200"/>
            <a:ext cx="71437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8D8D4"/>
            </a:solidFill>
            <a:prstDash val="solid"/>
          </a:ln>
        </p:spPr>
      </p:cxnSp>
      <p:sp>
        <p:nvSpPr>
          <p:cNvPr id="12" name="opt-label-2">
            <a:extLst xmlns:a="http://schemas.openxmlformats.org/drawingml/2006/main">
              <a:ext uri="{FF2B5EF4-FFF2-40B4-BE49-F238E27FC236}">
                <a16:creationId xmlns:a16="http://schemas.microsoft.com/office/drawing/2014/main" id="{44209E7F-4470-43C5-8A9C-B3BCFAAD8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771900"/>
            <a:ext cx="1543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rPr>
              <a:t>END TO END</a:t>
            </a:r>
          </a:p>
        </p:txBody>
      </p:sp>
      <p:sp>
        <p:nvSpPr>
          <p:cNvPr id="13" name="opt-body-2">
            <a:extLst xmlns:a="http://schemas.openxmlformats.org/drawingml/2006/main">
              <a:ext uri="{FF2B5EF4-FFF2-40B4-BE49-F238E27FC236}">
                <a16:creationId xmlns:a16="http://schemas.microsoft.com/office/drawing/2014/main" id="{C6FF2AD8-4463-49AA-B319-87D597D5B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733800"/>
            <a:ext cx="5429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11.92 s median</a:t>
            </a:r>
          </a:p>
        </p:txBody>
      </p:sp>
      <p:cxnSp>
        <p:nvCxnSpPr>
          <p:cNvPr id="90" name="opt-rule-2"/>
          <p:cNvCxnSpPr/>
          <p:nvPr/>
        </p:nvCxnSpPr>
        <p:spPr>
          <a:xfrm xmlns:a="http://schemas.openxmlformats.org/drawingml/2006/main">
            <a:off x="4648200" y="4419600"/>
            <a:ext cx="71437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8D8D4"/>
            </a:solidFill>
            <a:prstDash val="solid"/>
          </a:ln>
        </p:spPr>
      </p:cxnSp>
      <p:sp>
        <p:nvSpPr>
          <p:cNvPr id="15" name="opt-label-3">
            <a:extLst xmlns:a="http://schemas.openxmlformats.org/drawingml/2006/main">
              <a:ext uri="{FF2B5EF4-FFF2-40B4-BE49-F238E27FC236}">
                <a16:creationId xmlns:a16="http://schemas.microsoft.com/office/drawing/2014/main" id="{1CFB875B-EFC1-4CD1-A964-8B41D4C8F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4686300"/>
            <a:ext cx="1543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rPr>
              <a:t>TOKEN GENERATION</a:t>
            </a:r>
          </a:p>
        </p:txBody>
      </p:sp>
      <p:sp>
        <p:nvSpPr>
          <p:cNvPr id="16" name="opt-body-3">
            <a:extLst xmlns:a="http://schemas.openxmlformats.org/drawingml/2006/main">
              <a:ext uri="{FF2B5EF4-FFF2-40B4-BE49-F238E27FC236}">
                <a16:creationId xmlns:a16="http://schemas.microsoft.com/office/drawing/2014/main" id="{09A328D1-9B6E-4FC2-B61F-DB8C76D54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648200"/>
            <a:ext cx="5429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83.42 tok/s median</a:t>
            </a:r>
          </a:p>
        </p:txBody>
      </p:sp>
      <p:sp>
        <p:nvSpPr>
          <p:cNvPr id="17" name="metrics-label">
            <a:extLst xmlns:a="http://schemas.openxmlformats.org/drawingml/2006/main">
              <a:ext uri="{FF2B5EF4-FFF2-40B4-BE49-F238E27FC236}">
                <a16:creationId xmlns:a16="http://schemas.microsoft.com/office/drawing/2014/main" id="{11D86D2E-278B-4D24-AEA9-ED598602D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565785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COLD REFERENCE</a:t>
            </a:r>
          </a:p>
        </p:txBody>
      </p:sp>
      <p:sp>
        <p:nvSpPr>
          <p:cNvPr id="18" name="metrics">
            <a:extLst xmlns:a="http://schemas.openxmlformats.org/drawingml/2006/main">
              <a:ext uri="{FF2B5EF4-FFF2-40B4-BE49-F238E27FC236}">
                <a16:creationId xmlns:a16="http://schemas.microsoft.com/office/drawing/2014/main" id="{1D807203-1D45-48F4-AFF8-4F3281874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5619750"/>
            <a:ext cx="4572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825.58 ms first delta · 12.69 s total · one separate run</a:t>
            </a:r>
          </a:p>
        </p:txBody>
      </p:sp>
      <p:sp>
        <p:nvSpPr>
          <p:cNvPr id="19" name="footer-7">
            <a:extLst xmlns:a="http://schemas.openxmlformats.org/drawingml/2006/main">
              <a:ext uri="{FF2B5EF4-FFF2-40B4-BE49-F238E27FC236}">
                <a16:creationId xmlns:a16="http://schemas.microsoft.com/office/drawing/2014/main" id="{A857A2E6-AAFC-4AA8-B209-5320F688A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34125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07</a:t>
            </a:r>
          </a:p>
        </p:txBody>
      </p:sp>
      <p:sp>
        <p:nvSpPr>
          <p:cNvPr id="20" name="footer-label-7">
            <a:extLst xmlns:a="http://schemas.openxmlformats.org/drawingml/2006/main">
              <a:ext uri="{FF2B5EF4-FFF2-40B4-BE49-F238E27FC236}">
                <a16:creationId xmlns:a16="http://schemas.microsoft.com/office/drawing/2014/main" id="{C9114B5A-170B-46A2-AB71-9607566FE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34125"/>
            <a:ext cx="228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XIANGLENS · TRACK 2</a:t>
            </a:r>
          </a:p>
        </p:txBody>
      </p:sp>
    </p:spTree>
    <p:extLst>
      <p:ext uri="{BB962C8B-B14F-4D97-AF65-F5344CB8AC3E}">
        <p14:creationId xmlns:p14="http://schemas.microsoft.com/office/powerpoint/2010/main" val="25556007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op-accent">
            <a:extLst xmlns:a="http://schemas.openxmlformats.org/drawingml/2006/main">
              <a:ext uri="{FF2B5EF4-FFF2-40B4-BE49-F238E27FC236}">
                <a16:creationId xmlns:a16="http://schemas.microsoft.com/office/drawing/2014/main" id="{6D1FE95B-D6A5-4779-9837-24469F5E0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0500"/>
            <a:ext cx="8001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1B2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0641D58-2C86-4DED-9765-46B34CD84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19100"/>
            <a:ext cx="114109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866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Consent and evidence keep every recommendation accountable</a:t>
            </a:r>
          </a:p>
        </p:txBody>
      </p:sp>
      <p:sp>
        <p:nvSpPr>
          <p:cNvPr id="3" name="trust-lead">
            <a:extLst xmlns:a="http://schemas.openxmlformats.org/drawingml/2006/main">
              <a:ext uri="{FF2B5EF4-FFF2-40B4-BE49-F238E27FC236}">
                <a16:creationId xmlns:a16="http://schemas.microsoft.com/office/drawing/2014/main" id="{7D94CF05-B516-4B6D-BC02-4E12399B7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14500"/>
            <a:ext cx="5334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XiangLens reviews communication choices. It does not decide who a person is.</a:t>
            </a:r>
          </a:p>
        </p:txBody>
      </p:sp>
      <p:sp>
        <p:nvSpPr>
          <p:cNvPr id="4" name="trust-body">
            <a:extLst xmlns:a="http://schemas.openxmlformats.org/drawingml/2006/main">
              <a:ext uri="{FF2B5EF4-FFF2-40B4-BE49-F238E27FC236}">
                <a16:creationId xmlns:a16="http://schemas.microsoft.com/office/drawing/2014/main" id="{B79BF019-0803-44F1-B1D7-90DA98CB5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19400"/>
            <a:ext cx="533400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Policy gate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Blocks identity, personality, health, wealth, protected-attribute, and predictive inference.</a:t>
            </a:r>
          </a:p>
          <a:p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Public + private context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Public claims stay cited; private course associations are opt-in, runtime-only, and safety-filtered.</a:t>
            </a:r>
          </a:p>
          <a:p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Consent-first memory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The model drafts; only the user approves. One memory—or all private state—can be deleted.</a:t>
            </a:r>
          </a:p>
        </p:txBody>
      </p:sp>
      <p:sp>
        <p:nvSpPr>
          <p:cNvPr id="5" name="lotus-field">
            <a:extLst xmlns:a="http://schemas.openxmlformats.org/drawingml/2006/main">
              <a:ext uri="{FF2B5EF4-FFF2-40B4-BE49-F238E27FC236}">
                <a16:creationId xmlns:a16="http://schemas.microsoft.com/office/drawing/2014/main" id="{944616A8-A675-4A63-8B79-F97B2A5F5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466850"/>
            <a:ext cx="5562600" cy="4476750"/>
          </a:xfrm>
          <a:prstGeom xmlns:a="http://schemas.openxmlformats.org/drawingml/2006/main" prst="roundRect">
            <a:avLst>
              <a:gd name="adj" fmla="val 1702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D8D8D4"/>
            </a:solidFill>
            <a:prstDash val="solid"/>
          </a:ln>
        </p:spPr>
      </p:sp>
      <p:pic>
        <p:nvPicPr>
          <p:cNvPr id="17" name="图片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bcaee09856430b"/>
          <a:srcRect xmlns:a="http://schemas.openxmlformats.org/drawingml/2006/main" l="0" t="17748" r="0" b="1774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15100" y="1752600"/>
            <a:ext cx="4991100" cy="3219450"/>
          </a:xfrm>
          <a:prstGeom xmlns:a="http://schemas.openxmlformats.org/drawingml/2006/main" prst="roundRect">
            <a:avLst>
              <a:gd name="adj" fmla="val 3550"/>
            </a:avLst>
          </a:prstGeom>
        </p:spPr>
      </p:pic>
      <p:sp>
        <p:nvSpPr>
          <p:cNvPr id="7" name="lotus-caption">
            <a:extLst xmlns:a="http://schemas.openxmlformats.org/drawingml/2006/main">
              <a:ext uri="{FF2B5EF4-FFF2-40B4-BE49-F238E27FC236}">
                <a16:creationId xmlns:a16="http://schemas.microsoft.com/office/drawing/2014/main" id="{DA187665-24DF-4C8B-A1E7-6CF5D1722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200650"/>
            <a:ext cx="49911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OPEN CHINESE SYMBOLISM LENS PACK</a:t>
            </a:r>
          </a:p>
          <a:p xmlns:a="http://schemas.openxmlformats.org/drawingml/2006/main">
            <a:pPr algn="ctr">
              <a:buNone/>
              <a:defRPr sz="12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Documented association ≠ universal meaning</a:t>
            </a:r>
          </a:p>
        </p:txBody>
      </p:sp>
      <p:sp>
        <p:nvSpPr>
          <p:cNvPr id="8" name="footer-8">
            <a:extLst xmlns:a="http://schemas.openxmlformats.org/drawingml/2006/main">
              <a:ext uri="{FF2B5EF4-FFF2-40B4-BE49-F238E27FC236}">
                <a16:creationId xmlns:a16="http://schemas.microsoft.com/office/drawing/2014/main" id="{FCF39142-EE0D-4A88-8652-EDD8A1C78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34125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08</a:t>
            </a:r>
          </a:p>
        </p:txBody>
      </p:sp>
      <p:sp>
        <p:nvSpPr>
          <p:cNvPr id="9" name="footer-label-8">
            <a:extLst xmlns:a="http://schemas.openxmlformats.org/drawingml/2006/main">
              <a:ext uri="{FF2B5EF4-FFF2-40B4-BE49-F238E27FC236}">
                <a16:creationId xmlns:a16="http://schemas.microsoft.com/office/drawing/2014/main" id="{C578BABF-C54D-462F-9C26-71DFA002A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34125"/>
            <a:ext cx="228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XIANGLENS · TRACK 2</a:t>
            </a:r>
          </a:p>
        </p:txBody>
      </p:sp>
    </p:spTree>
    <p:extLst>
      <p:ext uri="{BB962C8B-B14F-4D97-AF65-F5344CB8AC3E}">
        <p14:creationId xmlns:p14="http://schemas.microsoft.com/office/powerpoint/2010/main" val="104039295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lose-red-field">
            <a:extLst xmlns:a="http://schemas.openxmlformats.org/drawingml/2006/main">
              <a:ext uri="{FF2B5EF4-FFF2-40B4-BE49-F238E27FC236}">
                <a16:creationId xmlns:a16="http://schemas.microsoft.com/office/drawing/2014/main" id="{73E35A39-24ED-4EBA-9EE7-BD6CC3111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90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1B2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lose-kicker">
            <a:extLst xmlns:a="http://schemas.openxmlformats.org/drawingml/2006/main">
              <a:ext uri="{FF2B5EF4-FFF2-40B4-BE49-F238E27FC236}">
                <a16:creationId xmlns:a16="http://schemas.microsoft.com/office/drawing/2014/main" id="{035A3706-44FA-406B-8FD8-DB418005D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590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rPr>
              <a:t>THE JUDGE CAN VERIFY THE WHOLE STORY</a:t>
            </a:r>
          </a:p>
        </p:txBody>
      </p:sp>
      <p:sp>
        <p:nvSpPr>
          <p:cNvPr id="3" name="close-title">
            <a:extLst xmlns:a="http://schemas.openxmlformats.org/drawingml/2006/main">
              <a:ext uri="{FF2B5EF4-FFF2-40B4-BE49-F238E27FC236}">
                <a16:creationId xmlns:a16="http://schemas.microsoft.com/office/drawing/2014/main" id="{CAE3D99E-35AA-40C6-9367-53D731414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09750"/>
            <a:ext cx="6572250" cy="2038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7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57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Ready to verify,</a:t>
            </a:r>
          </a:p>
          <a:p xmlns:a="http://schemas.openxmlformats.org/drawingml/2006/main">
            <a:pPr algn="l">
              <a:buNone/>
              <a:defRPr sz="57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57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end to end</a:t>
            </a:r>
          </a:p>
        </p:txBody>
      </p:sp>
      <p:sp>
        <p:nvSpPr>
          <p:cNvPr id="4" name="close-proof">
            <a:extLst xmlns:a="http://schemas.openxmlformats.org/drawingml/2006/main">
              <a:ext uri="{FF2B5EF4-FFF2-40B4-BE49-F238E27FC236}">
                <a16:creationId xmlns:a16="http://schemas.microsoft.com/office/drawing/2014/main" id="{230D67DB-A3A5-4616-94D5-2DC975C30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952625"/>
            <a:ext cx="3429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120 deterministic image fixtures</a:t>
            </a:r>
          </a:p>
          <a:p xmlns:a="http://schemas.openxmlformats.org/drawingml/2006/main">
            <a:pPr algn="l">
              <a:buNone/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32 inspectable public knowledge cards</a:t>
            </a:r>
          </a:p>
          <a:p xmlns:a="http://schemas.openxmlformats.org/drawingml/2006/main">
            <a:pPr algn="l">
              <a:buNone/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1 opt-in private Lens Tool</a:t>
            </a:r>
          </a:p>
          <a:p xmlns:a="http://schemas.openxmlformats.org/drawingml/2006/main">
            <a:pPr algn="l">
              <a:buNone/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One 4:30 live Radeon demo</a:t>
            </a:r>
          </a:p>
        </p:txBody>
      </p:sp>
      <p:sp>
        <p:nvSpPr>
          <p:cNvPr id="5" name="close-flow">
            <a:extLst xmlns:a="http://schemas.openxmlformats.org/drawingml/2006/main">
              <a:ext uri="{FF2B5EF4-FFF2-40B4-BE49-F238E27FC236}">
                <a16:creationId xmlns:a16="http://schemas.microsoft.com/office/drawing/2014/main" id="{6BEAE36E-A526-4F73-9F0D-4B8A8F4D9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38700"/>
            <a:ext cx="885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Upload → inspect → observe → private Lens → retrieve → compare → consent → report</a:t>
            </a:r>
          </a:p>
        </p:txBody>
      </p:sp>
      <p:sp>
        <p:nvSpPr>
          <p:cNvPr id="6" name="close-repo">
            <a:extLst xmlns:a="http://schemas.openxmlformats.org/drawingml/2006/main">
              <a:ext uri="{FF2B5EF4-FFF2-40B4-BE49-F238E27FC236}">
                <a16:creationId xmlns:a16="http://schemas.microsoft.com/office/drawing/2014/main" id="{EFDD1693-CEDF-4DDB-8939-A4E8863E8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0"/>
            <a:ext cx="8096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rPr>
              <a:t>github.com/ld0574/Radeon-hackathon-2026-07</a:t>
            </a:r>
          </a:p>
          <a:p xmlns:a="http://schemas.openxmlformats.org/drawingml/2006/main">
            <a:pPr algn="l">
              <a:buNone/>
              <a:defRPr sz="1500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rPr>
              <a:t>Reproduce: docs/REPRODUCE.md</a:t>
            </a:r>
          </a:p>
        </p:txBody>
      </p:sp>
      <p:sp>
        <p:nvSpPr>
          <p:cNvPr id="7" name="close-values">
            <a:extLst xmlns:a="http://schemas.openxmlformats.org/drawingml/2006/main">
              <a:ext uri="{FF2B5EF4-FFF2-40B4-BE49-F238E27FC236}">
                <a16:creationId xmlns:a16="http://schemas.microsoft.com/office/drawing/2014/main" id="{40F90876-31B2-4F7D-8B59-D2C14F5F0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86740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PRIVATE · EVIDENCE-BACKED · USER-CONTROLLED</a:t>
            </a:r>
          </a:p>
        </p:txBody>
      </p:sp>
    </p:spTree>
    <p:extLst>
      <p:ext uri="{BB962C8B-B14F-4D97-AF65-F5344CB8AC3E}">
        <p14:creationId xmlns:p14="http://schemas.microsoft.com/office/powerpoint/2010/main" val="73380536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2026-08-05T13:30:25.0640000Z</dcterms:created>
  <dcterms:modified xsi:type="dcterms:W3CDTF">2026-08-05T13:30:25.0640000Z</dcterms:modified>
</coreProperties>
</file>