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product brief: docs/SUBMISSION_BRIEF.md</a:t>
            </a:r>
          </a:p>
          <a:p>
            <a:r>
              <a:t>- Track 2 requirements: Radeon-Cloud-User Guide/2026 AMD AI DevMaster 黑客松赛事说明.md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Scenario and safety boundaries: docs/SUBMISSION_BRIEF.md</a:t>
            </a:r>
          </a:p>
          <a:p>
            <a:r>
              <a:t>- Portrait fixture: https://commons.wikimedia.org/wiki/File:Wikimedia_Summit_2019_-_Portrait_Abbad_Diraneyya.jpg (Aida Kadrispahic for Wikimedia Deutschland e.V., CC BY-SA 4.0)</a:t>
            </a:r>
          </a:p>
          <a:p>
            <a:r>
              <a:t>- Derived fixture labels and transforms: data/fixtures/labels.jsonl and data/fixtures/README.md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Actual XiangLens Nuxt interface captured from apps/web in local static-preview mode after the private Lens integration; no model output or private course text was fabricated.</a:t>
            </a:r>
          </a:p>
          <a:p>
            <a:r>
              <a:t>- Interface implementation: apps/web/pages/index.vue and apps/web/assets/css/main.css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Agent architecture: docs/SUBMISSION_BRIEF.md</a:t>
            </a:r>
          </a:p>
          <a:p>
            <a:r>
              <a:t>- Runtime-only private mount and safety boundary: docs/PRIVATE_LENS_TOOL.md and src/xianglens/tools/private_lens.py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Bounded workflow implementation: src/xianglens/agent/graph.py</a:t>
            </a:r>
          </a:p>
          <a:p>
            <a:r>
              <a:t>- Private Lens API and typed output contract: src/xianglens/api/routes.py and src/xianglens/schemas.py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Deployment boundary: docs/PRODUCTION_DEPLOYMENT.md</a:t>
            </a:r>
          </a:p>
          <a:p>
            <a:r>
              <a:t>- Private tool configuration and service wiring: src/xianglens/config.py and src/xianglens/services.py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Optimization design and limitations: docs/SUBMISSION_BRIEF.md</a:t>
            </a:r>
          </a:p>
          <a:p>
            <a:r>
              <a:t>- Reproducible protocol: benchmarks/README.md</a:t>
            </a:r>
          </a:p>
          <a:p>
            <a:r>
              <a:t>- Metric collector: scripts/benchmark_llama.py</a:t>
            </a:r>
          </a:p>
          <a:p>
            <a:r>
              <a:t>- No measured result is shown until the final Radeon endpoint is available and the protocol is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Safety policy: docs/SUBMISSION_BRIEF.md</a:t>
            </a:r>
          </a:p>
          <a:p>
            <a:r>
              <a:t>- Runtime-only source, opt-in, output filtering, and rights scan: docs/PRIVATE_LENS_TOOL.md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Test inventory: tests/ and data/fixtures/labels.jsonl</a:t>
            </a:r>
          </a:p>
          <a:p>
            <a:r>
              <a:t>- Public RAG cards: data/knowledge/cards.jsonl</a:t>
            </a:r>
          </a:p>
          <a:p>
            <a:r>
              <a:t>- Private Lens integration test: tests/test_private_lens.py</a:t>
            </a:r>
          </a:p>
          <a:p>
            <a:r>
              <a:t>- Recording sequence: docs/DEMO_VIDEO_SCRIPT.md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cover-red-field"/>
          <p:cNvSpPr>
            <a:spLocks noGrp="1"/>
          </p:cNvSpPr>
          <p:nvPr/>
        </p:nvSpPr>
        <p:spPr>
          <a:xfrm>
            <a:off x="9334500" y="0"/>
            <a:ext cx="2857500" cy="6858000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cover-kicker"/>
          <p:cNvSpPr>
            <a:spLocks noGrp="1"/>
          </p:cNvSpPr>
          <p:nvPr/>
        </p:nvSpPr>
        <p:spPr>
          <a:xfrm>
            <a:off x="400050" y="457200"/>
            <a:ext cx="5334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6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AMD AI DEVMASTER 2026 · TRACK 2</a:t>
            </a:r>
            <a:endParaRPr sz="165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cover-title"/>
          <p:cNvSpPr>
            <a:spLocks noGrp="1"/>
          </p:cNvSpPr>
          <p:nvPr/>
        </p:nvSpPr>
        <p:spPr>
          <a:xfrm>
            <a:off x="400050" y="2095500"/>
            <a:ext cx="8096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63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63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</a:t>
            </a:r>
            <a:endParaRPr sz="63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" name="cover-subtitle"/>
          <p:cNvSpPr>
            <a:spLocks noGrp="1"/>
          </p:cNvSpPr>
          <p:nvPr/>
        </p:nvSpPr>
        <p:spPr>
          <a:xfrm>
            <a:off x="400050" y="3619500"/>
            <a:ext cx="7239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22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2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Private, evidence-backed profile-image review</a:t>
            </a:r>
            <a:endParaRPr sz="22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22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2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on AMD Radeon + ROCm</a:t>
            </a:r>
            <a:endParaRPr sz="22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cover-values"/>
          <p:cNvSpPr>
            <a:spLocks noGrp="1"/>
          </p:cNvSpPr>
          <p:nvPr/>
        </p:nvSpPr>
        <p:spPr>
          <a:xfrm>
            <a:off x="400050" y="58674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275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GOAL-RELATIVE  ·  SOURCE-BACKED  ·  USER-CONTROLLED</a:t>
            </a:r>
            <a:endParaRPr sz="1275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cover-monogram"/>
          <p:cNvSpPr>
            <a:spLocks noGrp="1"/>
          </p:cNvSpPr>
          <p:nvPr/>
        </p:nvSpPr>
        <p:spPr>
          <a:xfrm>
            <a:off x="9696450" y="2457450"/>
            <a:ext cx="21336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615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615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XL</a:t>
            </a:r>
            <a:endParaRPr sz="615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 profile image is a tiny, high-stakes identity surface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problem-lead"/>
          <p:cNvSpPr>
            <a:spLocks noGrp="1"/>
          </p:cNvSpPr>
          <p:nvPr/>
        </p:nvSpPr>
        <p:spPr>
          <a:xfrm>
            <a:off x="400050" y="1657350"/>
            <a:ext cx="5143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20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0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same image is repeatedly cropped, downsized, copied, and read across communities.</a:t>
            </a:r>
            <a:endParaRPr sz="20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" name="problem-questions"/>
          <p:cNvSpPr>
            <a:spLocks noGrp="1"/>
          </p:cNvSpPr>
          <p:nvPr/>
        </p:nvSpPr>
        <p:spPr>
          <a:xfrm>
            <a:off x="400050" y="2876550"/>
            <a:ext cx="504825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6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Can the subject survive a circular crop?</a:t>
            </a:r>
            <a:endParaRPr sz="16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endParaRPr sz="1650"/>
          </a:p>
          <a:p>
            <a:pPr algn="l">
              <a:buNone/>
              <a:defRPr sz="16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Does the file expose metadata, a badge, or a QR code?</a:t>
            </a:r>
            <a:endParaRPr sz="16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endParaRPr sz="1650"/>
          </a:p>
          <a:p>
            <a:pPr algn="l">
              <a:buNone/>
              <a:defRPr sz="16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Which candidate fits the user’s stated audience—and why?</a:t>
            </a:r>
            <a:endParaRPr sz="16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problem-answer"/>
          <p:cNvSpPr>
            <a:spLocks noGrp="1"/>
          </p:cNvSpPr>
          <p:nvPr/>
        </p:nvSpPr>
        <p:spPr>
          <a:xfrm>
            <a:off x="400050" y="5619750"/>
            <a:ext cx="5143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answers with local tools, a self-hosted VLM, cited context, and explicit user goals—not personality inference.</a:t>
            </a:r>
            <a:endParaRPr sz="135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image-field"/>
          <p:cNvSpPr>
            <a:spLocks noGrp="1"/>
          </p:cNvSpPr>
          <p:nvPr/>
        </p:nvSpPr>
        <p:spPr>
          <a:xfrm>
            <a:off x="6229350" y="1466850"/>
            <a:ext cx="5562600" cy="4476750"/>
          </a:xfrm>
          <a:prstGeom prst="roundRect">
            <a:avLst>
              <a:gd name="adj" fmla="val 1702"/>
            </a:avLst>
          </a:prstGeom>
          <a:solidFill>
            <a:srgbClr val="EAF5FB"/>
          </a:solidFill>
          <a:ln w="9525">
            <a:solidFill>
              <a:srgbClr val="D8D8D4"/>
            </a:solidFill>
            <a:prstDash val="solid"/>
          </a:ln>
        </p:spPr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648450" y="1943100"/>
            <a:ext cx="2190750" cy="2190750"/>
          </a:xfrm>
          <a:prstGeom prst="ellipse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63050" y="3238500"/>
            <a:ext cx="2190750" cy="2190750"/>
          </a:xfrm>
          <a:prstGeom prst="ellipse">
            <a:avLst/>
          </a:prstGeom>
        </p:spPr>
      </p:pic>
      <p:sp>
        <p:nvSpPr>
          <p:cNvPr id="9" name="clean-label"/>
          <p:cNvSpPr>
            <a:spLocks noGrp="1"/>
          </p:cNvSpPr>
          <p:nvPr/>
        </p:nvSpPr>
        <p:spPr>
          <a:xfrm>
            <a:off x="6648450" y="4286250"/>
            <a:ext cx="2190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CANDIDATE A</a:t>
            </a:r>
            <a:endParaRPr sz="12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clean</a:t>
            </a:r>
            <a:endParaRPr sz="12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qr-label"/>
          <p:cNvSpPr>
            <a:spLocks noGrp="1"/>
          </p:cNvSpPr>
          <p:nvPr/>
        </p:nvSpPr>
        <p:spPr>
          <a:xfrm>
            <a:off x="9163050" y="2571750"/>
            <a:ext cx="2190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CANDIDATE B</a:t>
            </a:r>
            <a:endParaRPr sz="120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visible QR risk</a:t>
            </a:r>
            <a:endParaRPr sz="120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1" name="footer-2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footer-label-2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interface makes the Agent workflow inspectable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product-frame"/>
          <p:cNvSpPr>
            <a:spLocks noGrp="1"/>
          </p:cNvSpPr>
          <p:nvPr/>
        </p:nvSpPr>
        <p:spPr>
          <a:xfrm>
            <a:off x="400050" y="1419225"/>
            <a:ext cx="8229600" cy="4629150"/>
          </a:xfrm>
          <a:prstGeom prst="rect">
            <a:avLst/>
          </a:prstGeom>
          <a:solidFill>
            <a:srgbClr val="111111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00050" y="1419225"/>
            <a:ext cx="8229600" cy="4629150"/>
          </a:xfrm>
          <a:prstGeom prst="rect">
            <a:avLst/>
          </a:prstGeom>
        </p:spPr>
      </p:pic>
      <p:sp>
        <p:nvSpPr>
          <p:cNvPr id="5" name="ui-label-0"/>
          <p:cNvSpPr>
            <a:spLocks noGrp="1"/>
          </p:cNvSpPr>
          <p:nvPr/>
        </p:nvSpPr>
        <p:spPr>
          <a:xfrm>
            <a:off x="9029700" y="161925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1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 · INTENT</a:t>
            </a:r>
            <a:endParaRPr sz="112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ui-body-0"/>
          <p:cNvSpPr>
            <a:spLocks noGrp="1"/>
          </p:cNvSpPr>
          <p:nvPr/>
        </p:nvSpPr>
        <p:spPr>
          <a:xfrm>
            <a:off x="9029700" y="1981200"/>
            <a:ext cx="2762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000"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user declares context, audience, and desired signals.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44" name="ui-rule-0"/>
          <p:cNvCxnSpPr/>
          <p:nvPr/>
        </p:nvCxnSpPr>
        <p:spPr>
          <a:xfrm>
            <a:off x="9029700" y="2800350"/>
            <a:ext cx="2762250" cy="0"/>
          </a:xfrm>
          <a:prstGeom prst="straightConnector1">
            <a:avLst/>
          </a:prstGeom>
          <a:ln w="9525">
            <a:solidFill>
              <a:srgbClr val="D8D8D4"/>
            </a:solidFill>
            <a:prstDash val="solid"/>
          </a:ln>
        </p:spPr>
      </p:cxnSp>
      <p:sp>
        <p:nvSpPr>
          <p:cNvPr id="8" name="ui-label-1"/>
          <p:cNvSpPr>
            <a:spLocks noGrp="1"/>
          </p:cNvSpPr>
          <p:nvPr/>
        </p:nvSpPr>
        <p:spPr>
          <a:xfrm>
            <a:off x="9029700" y="3000375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1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 · RESULT</a:t>
            </a:r>
            <a:endParaRPr sz="112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ui-body-1"/>
          <p:cNvSpPr>
            <a:spLocks noGrp="1"/>
          </p:cNvSpPr>
          <p:nvPr/>
        </p:nvSpPr>
        <p:spPr>
          <a:xfrm>
            <a:off x="9029700" y="3362325"/>
            <a:ext cx="2762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000"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bounded workflow produces one evidence-backed report.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47" name="ui-rule-1"/>
          <p:cNvCxnSpPr/>
          <p:nvPr/>
        </p:nvCxnSpPr>
        <p:spPr>
          <a:xfrm>
            <a:off x="9029700" y="4181475"/>
            <a:ext cx="2762250" cy="0"/>
          </a:xfrm>
          <a:prstGeom prst="straightConnector1">
            <a:avLst/>
          </a:prstGeom>
          <a:ln w="9525">
            <a:solidFill>
              <a:srgbClr val="D8D8D4"/>
            </a:solidFill>
            <a:prstDash val="solid"/>
          </a:ln>
        </p:spPr>
      </p:cxnSp>
      <p:sp>
        <p:nvSpPr>
          <p:cNvPr id="11" name="ui-label-2"/>
          <p:cNvSpPr>
            <a:spLocks noGrp="1"/>
          </p:cNvSpPr>
          <p:nvPr/>
        </p:nvSpPr>
        <p:spPr>
          <a:xfrm>
            <a:off x="9029700" y="43815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1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03 · TRACE + PRIVATE</a:t>
            </a:r>
            <a:endParaRPr sz="112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ui-body-2"/>
          <p:cNvSpPr>
            <a:spLocks noGrp="1"/>
          </p:cNvSpPr>
          <p:nvPr/>
        </p:nvSpPr>
        <p:spPr>
          <a:xfrm>
            <a:off x="9029700" y="4743450"/>
            <a:ext cx="2762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000"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Retrieval, private Tool, memory, deletion, and ownership stay visible.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ui-caption"/>
          <p:cNvSpPr>
            <a:spLocks noGrp="1"/>
          </p:cNvSpPr>
          <p:nvPr/>
        </p:nvSpPr>
        <p:spPr>
          <a:xfrm>
            <a:off x="9029700" y="5676900"/>
            <a:ext cx="2762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90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0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ACTUAL NUXT INTERFACE · STATIC PREVIEW · NO MODEL OUTPUT SHOWN</a:t>
            </a:r>
            <a:endParaRPr sz="900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4" name="footer-3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03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footer-label-3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Agent owns every decision around the model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59" name="browser-api"/>
          <p:cNvCxnSpPr/>
          <p:nvPr/>
        </p:nvCxnSpPr>
        <p:spPr>
          <a:xfrm>
            <a:off x="2000250" y="2562225"/>
            <a:ext cx="876300" cy="0"/>
          </a:xfrm>
          <a:prstGeom prst="straightConnector1">
            <a:avLst/>
          </a:prstGeom>
          <a:ln w="28575">
            <a:solidFill>
              <a:srgbClr val="5F6368"/>
            </a:solidFill>
            <a:prstDash val="solid"/>
          </a:ln>
        </p:spPr>
      </p:cxnSp>
      <p:cxnSp>
        <p:nvCxnSpPr>
          <p:cNvPr id="60" name="api-graph"/>
          <p:cNvCxnSpPr/>
          <p:nvPr/>
        </p:nvCxnSpPr>
        <p:spPr>
          <a:xfrm>
            <a:off x="4314825" y="2562225"/>
            <a:ext cx="876300" cy="0"/>
          </a:xfrm>
          <a:prstGeom prst="straightConnector1">
            <a:avLst/>
          </a:prstGeom>
          <a:ln w="28575">
            <a:solidFill>
              <a:srgbClr val="5F6368"/>
            </a:solidFill>
            <a:prstDash val="solid"/>
          </a:ln>
        </p:spPr>
      </p:cxnSp>
      <p:cxnSp>
        <p:nvCxnSpPr>
          <p:cNvPr id="61" name="graph-model"/>
          <p:cNvCxnSpPr/>
          <p:nvPr/>
        </p:nvCxnSpPr>
        <p:spPr>
          <a:xfrm>
            <a:off x="6638925" y="2562225"/>
            <a:ext cx="866775" cy="0"/>
          </a:xfrm>
          <a:prstGeom prst="straightConnector1">
            <a:avLst/>
          </a:prstGeom>
          <a:ln w="38100">
            <a:solidFill>
              <a:srgbClr val="E51B23"/>
            </a:solidFill>
            <a:prstDash val="solid"/>
          </a:ln>
        </p:spPr>
      </p:cxnSp>
      <p:cxnSp>
        <p:nvCxnSpPr>
          <p:cNvPr id="62" name="model-gpu"/>
          <p:cNvCxnSpPr/>
          <p:nvPr/>
        </p:nvCxnSpPr>
        <p:spPr>
          <a:xfrm>
            <a:off x="8953500" y="2562225"/>
            <a:ext cx="866775" cy="0"/>
          </a:xfrm>
          <a:prstGeom prst="straightConnector1">
            <a:avLst/>
          </a:prstGeom>
          <a:ln w="38100">
            <a:solidFill>
              <a:srgbClr val="E51B23"/>
            </a:solidFill>
            <a:prstDash val="solid"/>
          </a:ln>
        </p:spPr>
      </p:cxnSp>
      <p:cxnSp>
        <p:nvCxnSpPr>
          <p:cNvPr id="63" name="graph-tools"/>
          <p:cNvCxnSpPr/>
          <p:nvPr/>
        </p:nvCxnSpPr>
        <p:spPr>
          <a:xfrm>
            <a:off x="3371850" y="3133725"/>
            <a:ext cx="2543175" cy="1228725"/>
          </a:xfrm>
          <a:prstGeom prst="straightConnector1">
            <a:avLst/>
          </a:prstGeom>
          <a:ln w="19050">
            <a:solidFill>
              <a:srgbClr val="5F6368"/>
            </a:solidFill>
            <a:prstDash val="solid"/>
          </a:ln>
        </p:spPr>
      </p:cxnSp>
      <p:cxnSp>
        <p:nvCxnSpPr>
          <p:cNvPr id="64" name="graph-rag"/>
          <p:cNvCxnSpPr/>
          <p:nvPr/>
        </p:nvCxnSpPr>
        <p:spPr>
          <a:xfrm>
            <a:off x="5915025" y="3133725"/>
            <a:ext cx="0" cy="1228725"/>
          </a:xfrm>
          <a:prstGeom prst="straightConnector1">
            <a:avLst/>
          </a:prstGeom>
          <a:ln w="19050">
            <a:solidFill>
              <a:srgbClr val="5F6368"/>
            </a:solidFill>
            <a:prstDash val="solid"/>
          </a:ln>
        </p:spPr>
      </p:cxnSp>
      <p:cxnSp>
        <p:nvCxnSpPr>
          <p:cNvPr id="65" name="graph-memory"/>
          <p:cNvCxnSpPr/>
          <p:nvPr/>
        </p:nvCxnSpPr>
        <p:spPr>
          <a:xfrm>
            <a:off x="5915025" y="3133725"/>
            <a:ext cx="2543175" cy="1228725"/>
          </a:xfrm>
          <a:prstGeom prst="straightConnector1">
            <a:avLst/>
          </a:prstGeom>
          <a:ln w="19050">
            <a:solidFill>
              <a:srgbClr val="5F6368"/>
            </a:solidFill>
            <a:prstDash val="solid"/>
          </a:ln>
        </p:spPr>
      </p:cxnSp>
      <p:sp>
        <p:nvSpPr>
          <p:cNvPr id="10" name="browser-node"/>
          <p:cNvSpPr>
            <a:spLocks noGrp="1"/>
          </p:cNvSpPr>
          <p:nvPr/>
        </p:nvSpPr>
        <p:spPr>
          <a:xfrm>
            <a:off x="590550" y="2000250"/>
            <a:ext cx="1419225" cy="1133475"/>
          </a:xfrm>
          <a:prstGeom prst="roundRect">
            <a:avLst>
              <a:gd name="adj" fmla="val 6723"/>
            </a:avLst>
          </a:prstGeom>
          <a:solidFill>
            <a:srgbClr val="FFFFFF"/>
          </a:solidFill>
          <a:ln w="14288">
            <a:solidFill>
              <a:srgbClr val="D8D8D4"/>
            </a:solidFill>
            <a:prstDash val="solid"/>
          </a:ln>
        </p:spPr>
      </p:sp>
      <p:sp>
        <p:nvSpPr>
          <p:cNvPr id="11" name="browser-label"/>
          <p:cNvSpPr>
            <a:spLocks noGrp="1"/>
          </p:cNvSpPr>
          <p:nvPr/>
        </p:nvSpPr>
        <p:spPr>
          <a:xfrm>
            <a:off x="685800" y="2200275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Static UI</a:t>
            </a:r>
            <a:endParaRPr sz="12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browser-detail"/>
          <p:cNvSpPr>
            <a:spLocks noGrp="1"/>
          </p:cNvSpPr>
          <p:nvPr/>
        </p:nvSpPr>
        <p:spPr>
          <a:xfrm>
            <a:off x="704850" y="2609850"/>
            <a:ext cx="1190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GitHub Pages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api-node"/>
          <p:cNvSpPr>
            <a:spLocks noGrp="1"/>
          </p:cNvSpPr>
          <p:nvPr/>
        </p:nvSpPr>
        <p:spPr>
          <a:xfrm>
            <a:off x="2905125" y="2000250"/>
            <a:ext cx="1419225" cy="1133475"/>
          </a:xfrm>
          <a:prstGeom prst="roundRect">
            <a:avLst>
              <a:gd name="adj" fmla="val 6723"/>
            </a:avLst>
          </a:prstGeom>
          <a:solidFill>
            <a:srgbClr val="FFFFFF"/>
          </a:solidFill>
          <a:ln w="14288">
            <a:solidFill>
              <a:srgbClr val="D8D8D4"/>
            </a:solidFill>
            <a:prstDash val="solid"/>
          </a:ln>
        </p:spPr>
      </p:sp>
      <p:sp>
        <p:nvSpPr>
          <p:cNvPr id="14" name="api-label"/>
          <p:cNvSpPr>
            <a:spLocks noGrp="1"/>
          </p:cNvSpPr>
          <p:nvPr/>
        </p:nvSpPr>
        <p:spPr>
          <a:xfrm>
            <a:off x="3000375" y="2200275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FastAPI</a:t>
            </a:r>
            <a:endParaRPr sz="12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api-detail"/>
          <p:cNvSpPr>
            <a:spLocks noGrp="1"/>
          </p:cNvSpPr>
          <p:nvPr/>
        </p:nvSpPr>
        <p:spPr>
          <a:xfrm>
            <a:off x="2898775" y="2609850"/>
            <a:ext cx="1311275" cy="3346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upload · SSE · auth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6" name="graph-node"/>
          <p:cNvSpPr>
            <a:spLocks noGrp="1"/>
          </p:cNvSpPr>
          <p:nvPr/>
        </p:nvSpPr>
        <p:spPr>
          <a:xfrm>
            <a:off x="5219700" y="2000250"/>
            <a:ext cx="1419225" cy="1133475"/>
          </a:xfrm>
          <a:prstGeom prst="roundRect">
            <a:avLst>
              <a:gd name="adj" fmla="val 6723"/>
            </a:avLst>
          </a:prstGeom>
          <a:solidFill>
            <a:srgbClr val="FFFFFF"/>
          </a:solidFill>
          <a:ln w="14288">
            <a:solidFill>
              <a:srgbClr val="D8D8D4"/>
            </a:solidFill>
            <a:prstDash val="solid"/>
          </a:ln>
        </p:spPr>
      </p:sp>
      <p:sp>
        <p:nvSpPr>
          <p:cNvPr id="17" name="graph-label"/>
          <p:cNvSpPr>
            <a:spLocks noGrp="1"/>
          </p:cNvSpPr>
          <p:nvPr/>
        </p:nvSpPr>
        <p:spPr>
          <a:xfrm>
            <a:off x="5314950" y="2200275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LangGraph</a:t>
            </a:r>
            <a:endParaRPr sz="12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graph-detail"/>
          <p:cNvSpPr>
            <a:spLocks noGrp="1"/>
          </p:cNvSpPr>
          <p:nvPr/>
        </p:nvSpPr>
        <p:spPr>
          <a:xfrm>
            <a:off x="5213350" y="2609850"/>
            <a:ext cx="1311275" cy="298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policy · plan · state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model-node"/>
          <p:cNvSpPr>
            <a:spLocks noGrp="1"/>
          </p:cNvSpPr>
          <p:nvPr/>
        </p:nvSpPr>
        <p:spPr>
          <a:xfrm>
            <a:off x="7534275" y="2000250"/>
            <a:ext cx="1419225" cy="1133475"/>
          </a:xfrm>
          <a:prstGeom prst="roundRect">
            <a:avLst>
              <a:gd name="adj" fmla="val 6723"/>
            </a:avLst>
          </a:prstGeom>
          <a:solidFill>
            <a:srgbClr val="F9E3E4"/>
          </a:solidFill>
          <a:ln w="14288">
            <a:solidFill>
              <a:srgbClr val="E51B23"/>
            </a:solidFill>
            <a:prstDash val="solid"/>
          </a:ln>
        </p:spPr>
      </p:sp>
      <p:sp>
        <p:nvSpPr>
          <p:cNvPr id="20" name="model-label"/>
          <p:cNvSpPr>
            <a:spLocks noGrp="1"/>
          </p:cNvSpPr>
          <p:nvPr/>
        </p:nvSpPr>
        <p:spPr>
          <a:xfrm>
            <a:off x="7629525" y="2200275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llama-server</a:t>
            </a:r>
            <a:endParaRPr sz="12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1" name="model-detail"/>
          <p:cNvSpPr>
            <a:spLocks noGrp="1"/>
          </p:cNvSpPr>
          <p:nvPr/>
        </p:nvSpPr>
        <p:spPr>
          <a:xfrm>
            <a:off x="7648575" y="2609850"/>
            <a:ext cx="1190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OpenAI-compatible /v1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2" name="gpu-node"/>
          <p:cNvSpPr>
            <a:spLocks noGrp="1"/>
          </p:cNvSpPr>
          <p:nvPr/>
        </p:nvSpPr>
        <p:spPr>
          <a:xfrm>
            <a:off x="9848850" y="2000250"/>
            <a:ext cx="1419225" cy="1133475"/>
          </a:xfrm>
          <a:prstGeom prst="roundRect">
            <a:avLst>
              <a:gd name="adj" fmla="val 6723"/>
            </a:avLst>
          </a:prstGeom>
          <a:solidFill>
            <a:srgbClr val="F9E3E4"/>
          </a:solidFill>
          <a:ln w="14288">
            <a:solidFill>
              <a:srgbClr val="E51B23"/>
            </a:solidFill>
            <a:prstDash val="solid"/>
          </a:ln>
        </p:spPr>
      </p:sp>
      <p:sp>
        <p:nvSpPr>
          <p:cNvPr id="23" name="gpu-label"/>
          <p:cNvSpPr>
            <a:spLocks noGrp="1"/>
          </p:cNvSpPr>
          <p:nvPr/>
        </p:nvSpPr>
        <p:spPr>
          <a:xfrm>
            <a:off x="9944100" y="2200275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Radeon host</a:t>
            </a:r>
            <a:endParaRPr sz="12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4" name="gpu-detail"/>
          <p:cNvSpPr>
            <a:spLocks noGrp="1"/>
          </p:cNvSpPr>
          <p:nvPr/>
        </p:nvSpPr>
        <p:spPr>
          <a:xfrm>
            <a:off x="9963150" y="2609850"/>
            <a:ext cx="1190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ROCm · W7900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5" name="tools-branch"/>
          <p:cNvSpPr>
            <a:spLocks noGrp="1"/>
          </p:cNvSpPr>
          <p:nvPr/>
        </p:nvSpPr>
        <p:spPr>
          <a:xfrm>
            <a:off x="2095500" y="4362450"/>
            <a:ext cx="2543175" cy="1104900"/>
          </a:xfrm>
          <a:prstGeom prst="roundRect">
            <a:avLst>
              <a:gd name="adj" fmla="val 6897"/>
            </a:avLst>
          </a:prstGeom>
          <a:solidFill>
            <a:srgbClr val="ECECE8"/>
          </a:solidFill>
          <a:ln w="9525">
            <a:solidFill>
              <a:srgbClr val="D8D8D4"/>
            </a:solidFill>
            <a:prstDash val="solid"/>
          </a:ln>
        </p:spPr>
      </p:sp>
      <p:sp>
        <p:nvSpPr>
          <p:cNvPr id="26" name="tools-branch-label"/>
          <p:cNvSpPr>
            <a:spLocks noGrp="1"/>
          </p:cNvSpPr>
          <p:nvPr/>
        </p:nvSpPr>
        <p:spPr>
          <a:xfrm>
            <a:off x="2266950" y="4572000"/>
            <a:ext cx="2200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5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Local tools</a:t>
            </a:r>
            <a:endParaRPr sz="15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7" name="tools-branch-detail"/>
          <p:cNvSpPr>
            <a:spLocks noGrp="1"/>
          </p:cNvSpPr>
          <p:nvPr/>
        </p:nvSpPr>
        <p:spPr>
          <a:xfrm>
            <a:off x="2266950" y="4962525"/>
            <a:ext cx="22002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EXIF · QR · crop · safe copy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8" name="rag-branch"/>
          <p:cNvSpPr>
            <a:spLocks noGrp="1"/>
          </p:cNvSpPr>
          <p:nvPr/>
        </p:nvSpPr>
        <p:spPr>
          <a:xfrm>
            <a:off x="4638675" y="4362450"/>
            <a:ext cx="2543175" cy="1104900"/>
          </a:xfrm>
          <a:prstGeom prst="roundRect">
            <a:avLst>
              <a:gd name="adj" fmla="val 6897"/>
            </a:avLst>
          </a:prstGeom>
          <a:solidFill>
            <a:srgbClr val="ECECE8"/>
          </a:solidFill>
          <a:ln w="9525">
            <a:solidFill>
              <a:srgbClr val="D8D8D4"/>
            </a:solidFill>
            <a:prstDash val="solid"/>
          </a:ln>
        </p:spPr>
      </p:sp>
      <p:sp>
        <p:nvSpPr>
          <p:cNvPr id="29" name="rag-branch-label"/>
          <p:cNvSpPr>
            <a:spLocks noGrp="1"/>
          </p:cNvSpPr>
          <p:nvPr/>
        </p:nvSpPr>
        <p:spPr>
          <a:xfrm>
            <a:off x="4810125" y="4572000"/>
            <a:ext cx="2200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5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Context engines</a:t>
            </a:r>
            <a:endParaRPr sz="15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0" name="rag-branch-detail"/>
          <p:cNvSpPr>
            <a:spLocks noGrp="1"/>
          </p:cNvSpPr>
          <p:nvPr/>
        </p:nvSpPr>
        <p:spPr>
          <a:xfrm>
            <a:off x="4810125" y="4962525"/>
            <a:ext cx="22002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Milvus Top-K · opt-in private Lens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1" name="memory-branch"/>
          <p:cNvSpPr>
            <a:spLocks noGrp="1"/>
          </p:cNvSpPr>
          <p:nvPr/>
        </p:nvSpPr>
        <p:spPr>
          <a:xfrm>
            <a:off x="7181850" y="4362450"/>
            <a:ext cx="2543175" cy="1104900"/>
          </a:xfrm>
          <a:prstGeom prst="roundRect">
            <a:avLst>
              <a:gd name="adj" fmla="val 6897"/>
            </a:avLst>
          </a:prstGeom>
          <a:solidFill>
            <a:srgbClr val="ECECE8"/>
          </a:solidFill>
          <a:ln w="9525">
            <a:solidFill>
              <a:srgbClr val="D8D8D4"/>
            </a:solidFill>
            <a:prstDash val="solid"/>
          </a:ln>
        </p:spPr>
      </p:sp>
      <p:sp>
        <p:nvSpPr>
          <p:cNvPr id="32" name="memory-branch-label"/>
          <p:cNvSpPr>
            <a:spLocks noGrp="1"/>
          </p:cNvSpPr>
          <p:nvPr/>
        </p:nvSpPr>
        <p:spPr>
          <a:xfrm>
            <a:off x="7353300" y="4572000"/>
            <a:ext cx="2200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5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SQLite memory</a:t>
            </a:r>
            <a:endParaRPr sz="15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3" name="memory-branch-detail"/>
          <p:cNvSpPr>
            <a:spLocks noGrp="1"/>
          </p:cNvSpPr>
          <p:nvPr/>
        </p:nvSpPr>
        <p:spPr>
          <a:xfrm>
            <a:off x="7353300" y="4962525"/>
            <a:ext cx="22002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threads · consent · deletion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4" name="boundary-public"/>
          <p:cNvSpPr>
            <a:spLocks noGrp="1"/>
          </p:cNvSpPr>
          <p:nvPr/>
        </p:nvSpPr>
        <p:spPr>
          <a:xfrm>
            <a:off x="533400" y="15811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05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PUBLIC EDGE</a:t>
            </a:r>
            <a:endParaRPr sz="1050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5" name="boundary-private"/>
          <p:cNvSpPr>
            <a:spLocks noGrp="1"/>
          </p:cNvSpPr>
          <p:nvPr/>
        </p:nvSpPr>
        <p:spPr>
          <a:xfrm>
            <a:off x="2952750" y="1581150"/>
            <a:ext cx="419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0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USER-CONTROLLED RADEON ENVIRONMENT</a:t>
            </a:r>
            <a:endParaRPr sz="105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6" name="architecture-foot"/>
          <p:cNvSpPr>
            <a:spLocks noGrp="1"/>
          </p:cNvSpPr>
          <p:nvPr/>
        </p:nvSpPr>
        <p:spPr>
          <a:xfrm>
            <a:off x="2095500" y="5829300"/>
            <a:ext cx="762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FastAPI alone is exposed; model, Milvus, private Lens, SQLite, uploads, and permanent key stay private.</a:t>
            </a:r>
            <a:endParaRPr sz="12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7" name="footer-4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04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8" name="footer-label-4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One workflow proves all five Track 2 capabilities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5" name="capability-spine"/>
          <p:cNvCxnSpPr/>
          <p:nvPr/>
        </p:nvCxnSpPr>
        <p:spPr>
          <a:xfrm>
            <a:off x="742950" y="2705100"/>
            <a:ext cx="10363200" cy="0"/>
          </a:xfrm>
          <a:prstGeom prst="straightConnector1">
            <a:avLst/>
          </a:prstGeom>
          <a:ln w="28575">
            <a:solidFill>
              <a:srgbClr val="D8D8D4"/>
            </a:solidFill>
            <a:prstDash val="solid"/>
          </a:ln>
        </p:spPr>
      </p:cxnSp>
      <p:sp>
        <p:nvSpPr>
          <p:cNvPr id="4" name="cap-dot-01"/>
          <p:cNvSpPr>
            <a:spLocks noGrp="1"/>
          </p:cNvSpPr>
          <p:nvPr/>
        </p:nvSpPr>
        <p:spPr>
          <a:xfrm>
            <a:off x="1066800" y="2457450"/>
            <a:ext cx="495300" cy="495300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5" name="cap-num-01"/>
          <p:cNvSpPr>
            <a:spLocks noGrp="1"/>
          </p:cNvSpPr>
          <p:nvPr/>
        </p:nvSpPr>
        <p:spPr>
          <a:xfrm>
            <a:off x="1066800" y="25908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</a:t>
            </a:r>
            <a:endParaRPr sz="1125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cap-title-01"/>
          <p:cNvSpPr>
            <a:spLocks noGrp="1"/>
          </p:cNvSpPr>
          <p:nvPr/>
        </p:nvSpPr>
        <p:spPr>
          <a:xfrm>
            <a:off x="400050" y="3333750"/>
            <a:ext cx="1828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Plan</a:t>
            </a:r>
            <a:endParaRPr sz="21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cap-detail-01"/>
          <p:cNvSpPr>
            <a:spLocks noGrp="1"/>
          </p:cNvSpPr>
          <p:nvPr/>
        </p:nvSpPr>
        <p:spPr>
          <a:xfrm>
            <a:off x="400050" y="3914775"/>
            <a:ext cx="1828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Visible fixed plan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and bounded routing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cap-dot-02"/>
          <p:cNvSpPr>
            <a:spLocks noGrp="1"/>
          </p:cNvSpPr>
          <p:nvPr/>
        </p:nvSpPr>
        <p:spPr>
          <a:xfrm>
            <a:off x="3390900" y="2457450"/>
            <a:ext cx="495300" cy="495300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9" name="cap-num-02"/>
          <p:cNvSpPr>
            <a:spLocks noGrp="1"/>
          </p:cNvSpPr>
          <p:nvPr/>
        </p:nvSpPr>
        <p:spPr>
          <a:xfrm>
            <a:off x="3390900" y="25908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</a:t>
            </a:r>
            <a:endParaRPr sz="1125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cap-title-02"/>
          <p:cNvSpPr>
            <a:spLocks noGrp="1"/>
          </p:cNvSpPr>
          <p:nvPr/>
        </p:nvSpPr>
        <p:spPr>
          <a:xfrm>
            <a:off x="2724150" y="3333750"/>
            <a:ext cx="1828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Tools</a:t>
            </a:r>
            <a:endParaRPr sz="21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1" name="cap-detail-02"/>
          <p:cNvSpPr>
            <a:spLocks noGrp="1"/>
          </p:cNvSpPr>
          <p:nvPr/>
        </p:nvSpPr>
        <p:spPr>
          <a:xfrm>
            <a:off x="2724150" y="3914775"/>
            <a:ext cx="1828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EXIF, QR, crop,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private Lens, safe copy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cap-dot-03"/>
          <p:cNvSpPr>
            <a:spLocks noGrp="1"/>
          </p:cNvSpPr>
          <p:nvPr/>
        </p:nvSpPr>
        <p:spPr>
          <a:xfrm>
            <a:off x="5715000" y="2457450"/>
            <a:ext cx="495300" cy="495300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13" name="cap-num-03"/>
          <p:cNvSpPr>
            <a:spLocks noGrp="1"/>
          </p:cNvSpPr>
          <p:nvPr/>
        </p:nvSpPr>
        <p:spPr>
          <a:xfrm>
            <a:off x="5715000" y="25908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03</a:t>
            </a:r>
            <a:endParaRPr sz="1125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4" name="cap-title-03"/>
          <p:cNvSpPr>
            <a:spLocks noGrp="1"/>
          </p:cNvSpPr>
          <p:nvPr/>
        </p:nvSpPr>
        <p:spPr>
          <a:xfrm>
            <a:off x="5048250" y="3333750"/>
            <a:ext cx="1828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RAG</a:t>
            </a:r>
            <a:endParaRPr sz="21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cap-detail-03"/>
          <p:cNvSpPr>
            <a:spLocks noGrp="1"/>
          </p:cNvSpPr>
          <p:nvPr/>
        </p:nvSpPr>
        <p:spPr>
          <a:xfrm>
            <a:off x="5048250" y="3914775"/>
            <a:ext cx="1828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Milvus Lite Top-K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with visible sources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6" name="cap-dot-04"/>
          <p:cNvSpPr>
            <a:spLocks noGrp="1"/>
          </p:cNvSpPr>
          <p:nvPr/>
        </p:nvSpPr>
        <p:spPr>
          <a:xfrm>
            <a:off x="8039100" y="2457450"/>
            <a:ext cx="495300" cy="495300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17" name="cap-num-04"/>
          <p:cNvSpPr>
            <a:spLocks noGrp="1"/>
          </p:cNvSpPr>
          <p:nvPr/>
        </p:nvSpPr>
        <p:spPr>
          <a:xfrm>
            <a:off x="8039100" y="25908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04</a:t>
            </a:r>
            <a:endParaRPr sz="1125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cap-title-04"/>
          <p:cNvSpPr>
            <a:spLocks noGrp="1"/>
          </p:cNvSpPr>
          <p:nvPr/>
        </p:nvSpPr>
        <p:spPr>
          <a:xfrm>
            <a:off x="7372350" y="3333750"/>
            <a:ext cx="1828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Memory</a:t>
            </a:r>
            <a:endParaRPr sz="21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cap-detail-04"/>
          <p:cNvSpPr>
            <a:spLocks noGrp="1"/>
          </p:cNvSpPr>
          <p:nvPr/>
        </p:nvSpPr>
        <p:spPr>
          <a:xfrm>
            <a:off x="7372350" y="3914775"/>
            <a:ext cx="1828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Cross-thread recall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after explicit approval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0" name="cap-dot-05"/>
          <p:cNvSpPr>
            <a:spLocks noGrp="1"/>
          </p:cNvSpPr>
          <p:nvPr/>
        </p:nvSpPr>
        <p:spPr>
          <a:xfrm>
            <a:off x="10363200" y="2457450"/>
            <a:ext cx="495300" cy="495300"/>
          </a:xfrm>
          <a:prstGeom prst="ellipse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1" name="cap-num-05"/>
          <p:cNvSpPr>
            <a:spLocks noGrp="1"/>
          </p:cNvSpPr>
          <p:nvPr/>
        </p:nvSpPr>
        <p:spPr>
          <a:xfrm>
            <a:off x="10363200" y="25908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05</a:t>
            </a:r>
            <a:endParaRPr sz="1125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2" name="cap-title-05"/>
          <p:cNvSpPr>
            <a:spLocks noGrp="1"/>
          </p:cNvSpPr>
          <p:nvPr/>
        </p:nvSpPr>
        <p:spPr>
          <a:xfrm>
            <a:off x="9696450" y="3333750"/>
            <a:ext cx="1828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Permission</a:t>
            </a:r>
            <a:endParaRPr sz="21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3" name="cap-detail-05"/>
          <p:cNvSpPr>
            <a:spLocks noGrp="1"/>
          </p:cNvSpPr>
          <p:nvPr/>
        </p:nvSpPr>
        <p:spPr>
          <a:xfrm>
            <a:off x="9696450" y="3914775"/>
            <a:ext cx="1828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Policy gate, short token,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and Forget Me</a:t>
            </a:r>
            <a:endParaRPr sz="12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4" name="capability-path"/>
          <p:cNvSpPr>
            <a:spLocks noGrp="1"/>
          </p:cNvSpPr>
          <p:nvPr/>
        </p:nvSpPr>
        <p:spPr>
          <a:xfrm>
            <a:off x="876300" y="5238750"/>
            <a:ext cx="10439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6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Policy → recall → inspect → observe → private Lens → RAG → compare → consent → cited report</a:t>
            </a:r>
            <a:endParaRPr sz="165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5" name="footer-5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05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6" name="footer-label-5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Core multimodal inference stays on the Radeon host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runtime-lead"/>
          <p:cNvSpPr>
            <a:spLocks noGrp="1"/>
          </p:cNvSpPr>
          <p:nvPr/>
        </p:nvSpPr>
        <p:spPr>
          <a:xfrm>
            <a:off x="400050" y="1390650"/>
            <a:ext cx="1139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public interface is intentionally thin. The private execution boundary contains every stateful and inference-critical component.</a:t>
            </a:r>
            <a:endParaRPr sz="15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" name="public-zone"/>
          <p:cNvSpPr>
            <a:spLocks noGrp="1"/>
          </p:cNvSpPr>
          <p:nvPr/>
        </p:nvSpPr>
        <p:spPr>
          <a:xfrm>
            <a:off x="400050" y="2324100"/>
            <a:ext cx="4057650" cy="283845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4288">
            <a:solidFill>
              <a:srgbClr val="D8D8D4"/>
            </a:solidFill>
            <a:prstDash val="solid"/>
          </a:ln>
        </p:spPr>
      </p:sp>
      <p:sp>
        <p:nvSpPr>
          <p:cNvPr id="5" name="public-heading"/>
          <p:cNvSpPr>
            <a:spLocks noGrp="1"/>
          </p:cNvSpPr>
          <p:nvPr/>
        </p:nvSpPr>
        <p:spPr>
          <a:xfrm>
            <a:off x="685800" y="2628900"/>
            <a:ext cx="3486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0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PUBLIC SURFACE</a:t>
            </a:r>
            <a:endParaRPr sz="1500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public-body"/>
          <p:cNvSpPr>
            <a:spLocks noGrp="1"/>
          </p:cNvSpPr>
          <p:nvPr/>
        </p:nvSpPr>
        <p:spPr>
          <a:xfrm>
            <a:off x="685800" y="3219450"/>
            <a:ext cx="34861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GitHub Pages static UI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Short-lived Bearer session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FastAPI HTTPS endpoint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private-zone"/>
          <p:cNvSpPr>
            <a:spLocks noGrp="1"/>
          </p:cNvSpPr>
          <p:nvPr/>
        </p:nvSpPr>
        <p:spPr>
          <a:xfrm>
            <a:off x="4819650" y="2095500"/>
            <a:ext cx="6972300" cy="3295650"/>
          </a:xfrm>
          <a:prstGeom prst="roundRect">
            <a:avLst>
              <a:gd name="adj" fmla="val 2312"/>
            </a:avLst>
          </a:prstGeom>
          <a:solidFill>
            <a:srgbClr val="F9E3E4"/>
          </a:solidFill>
          <a:ln w="19050">
            <a:solidFill>
              <a:srgbClr val="E51B23"/>
            </a:solidFill>
            <a:prstDash val="solid"/>
          </a:ln>
        </p:spPr>
      </p:sp>
      <p:sp>
        <p:nvSpPr>
          <p:cNvPr id="8" name="private-heading"/>
          <p:cNvSpPr>
            <a:spLocks noGrp="1"/>
          </p:cNvSpPr>
          <p:nvPr/>
        </p:nvSpPr>
        <p:spPr>
          <a:xfrm>
            <a:off x="5162550" y="240030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PRIVATE RADEON + ROCm SURFACE</a:t>
            </a:r>
            <a:endParaRPr sz="150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private-model"/>
          <p:cNvSpPr>
            <a:spLocks noGrp="1"/>
          </p:cNvSpPr>
          <p:nvPr/>
        </p:nvSpPr>
        <p:spPr>
          <a:xfrm>
            <a:off x="5162550" y="2990850"/>
            <a:ext cx="619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7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7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Qwen3.6 35B-A3B Fable 5 Distill · Q6_K GGUF</a:t>
            </a:r>
            <a:endParaRPr sz="17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private-body"/>
          <p:cNvSpPr>
            <a:spLocks noGrp="1"/>
          </p:cNvSpPr>
          <p:nvPr/>
        </p:nvSpPr>
        <p:spPr>
          <a:xfrm>
            <a:off x="5162550" y="3619500"/>
            <a:ext cx="61912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llama.cpp / llama-server on 127.0.0.1</a:t>
            </a:r>
            <a:endParaRPr sz="1575" b="0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LangGraph + deterministic image tools</a:t>
            </a:r>
            <a:endParaRPr sz="1575" b="0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Milvus Lite + opt-in private 108-technique Lens</a:t>
            </a:r>
            <a:endParaRPr sz="1575" b="0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0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SQLite + controlled uploads; permanent key stays server-side</a:t>
            </a:r>
            <a:endParaRPr sz="1575" b="0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1" name="runtime-proof"/>
          <p:cNvSpPr>
            <a:spLocks noGrp="1"/>
          </p:cNvSpPr>
          <p:nvPr/>
        </p:nvSpPr>
        <p:spPr>
          <a:xfrm>
            <a:off x="1257300" y="5734050"/>
            <a:ext cx="9677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5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Demo proof: rocm-smi + /v1/models + XiangLens system status</a:t>
            </a:r>
            <a:endParaRPr sz="157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footer-6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06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footer-label-6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Optimization is designed into the workload—not added after it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optimization-claim"/>
          <p:cNvSpPr>
            <a:spLocks noGrp="1"/>
          </p:cNvSpPr>
          <p:nvPr/>
        </p:nvSpPr>
        <p:spPr>
          <a:xfrm>
            <a:off x="400050" y="1847850"/>
            <a:ext cx="3476625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21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Batch-size-1 responsiveness is improved at three layers.</a:t>
            </a:r>
            <a:endParaRPr sz="21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" name="optimization-context"/>
          <p:cNvSpPr>
            <a:spLocks noGrp="1"/>
          </p:cNvSpPr>
          <p:nvPr/>
        </p:nvSpPr>
        <p:spPr>
          <a:xfrm>
            <a:off x="400050" y="3638550"/>
            <a:ext cx="3476625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0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Every final comparison uses the same image, prompt, quantization, cache, reasoning budget, warmup policy, and server command.</a:t>
            </a:r>
            <a:endParaRPr sz="150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optimization-no-fake"/>
          <p:cNvSpPr>
            <a:spLocks noGrp="1"/>
          </p:cNvSpPr>
          <p:nvPr/>
        </p:nvSpPr>
        <p:spPr>
          <a:xfrm>
            <a:off x="400050" y="5048250"/>
            <a:ext cx="34766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No unsupported FP8 claim.</a:t>
            </a:r>
            <a:endParaRPr sz="142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4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No fabricated benchmark number.</a:t>
            </a:r>
            <a:endParaRPr sz="142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opt-label-0"/>
          <p:cNvSpPr>
            <a:spLocks noGrp="1"/>
          </p:cNvSpPr>
          <p:nvPr/>
        </p:nvSpPr>
        <p:spPr>
          <a:xfrm>
            <a:off x="4648200" y="1943100"/>
            <a:ext cx="1543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RUNTIME</a:t>
            </a:r>
            <a:endParaRPr sz="127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opt-body-0"/>
          <p:cNvSpPr>
            <a:spLocks noGrp="1"/>
          </p:cNvSpPr>
          <p:nvPr/>
        </p:nvSpPr>
        <p:spPr>
          <a:xfrm>
            <a:off x="6362700" y="1905000"/>
            <a:ext cx="542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Q6_K GGUF · full GPU offload · flash attention · Q8_0 KV cache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56" name="opt-rule-0"/>
          <p:cNvCxnSpPr/>
          <p:nvPr/>
        </p:nvCxnSpPr>
        <p:spPr>
          <a:xfrm>
            <a:off x="4648200" y="2590800"/>
            <a:ext cx="7143750" cy="0"/>
          </a:xfrm>
          <a:prstGeom prst="straightConnector1">
            <a:avLst/>
          </a:prstGeom>
          <a:ln w="9525">
            <a:solidFill>
              <a:srgbClr val="D8D8D4"/>
            </a:solidFill>
            <a:prstDash val="solid"/>
          </a:ln>
        </p:spPr>
      </p:cxnSp>
      <p:sp>
        <p:nvSpPr>
          <p:cNvPr id="9" name="opt-label-1"/>
          <p:cNvSpPr>
            <a:spLocks noGrp="1"/>
          </p:cNvSpPr>
          <p:nvPr/>
        </p:nvSpPr>
        <p:spPr>
          <a:xfrm>
            <a:off x="4648200" y="2857500"/>
            <a:ext cx="1543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PROMPT</a:t>
            </a:r>
            <a:endParaRPr sz="127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opt-body-1"/>
          <p:cNvSpPr>
            <a:spLocks noGrp="1"/>
          </p:cNvSpPr>
          <p:nvPr/>
        </p:nvSpPr>
        <p:spPr>
          <a:xfrm>
            <a:off x="6362700" y="2819400"/>
            <a:ext cx="542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Top-K RAG injects four cards instead of the full corpus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59" name="opt-rule-1"/>
          <p:cNvCxnSpPr/>
          <p:nvPr/>
        </p:nvCxnSpPr>
        <p:spPr>
          <a:xfrm>
            <a:off x="4648200" y="3505200"/>
            <a:ext cx="7143750" cy="0"/>
          </a:xfrm>
          <a:prstGeom prst="straightConnector1">
            <a:avLst/>
          </a:prstGeom>
          <a:ln w="9525">
            <a:solidFill>
              <a:srgbClr val="D8D8D4"/>
            </a:solidFill>
            <a:prstDash val="solid"/>
          </a:ln>
        </p:spPr>
      </p:cxnSp>
      <p:sp>
        <p:nvSpPr>
          <p:cNvPr id="12" name="opt-label-2"/>
          <p:cNvSpPr>
            <a:spLocks noGrp="1"/>
          </p:cNvSpPr>
          <p:nvPr/>
        </p:nvSpPr>
        <p:spPr>
          <a:xfrm>
            <a:off x="4648200" y="3771900"/>
            <a:ext cx="1543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WORKFLOW</a:t>
            </a:r>
            <a:endParaRPr sz="127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opt-body-2"/>
          <p:cNvSpPr>
            <a:spLocks noGrp="1"/>
          </p:cNvSpPr>
          <p:nvPr/>
        </p:nvSpPr>
        <p:spPr>
          <a:xfrm>
            <a:off x="6362700" y="3733800"/>
            <a:ext cx="542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Deterministic EXIF, QR, crop, and size tools run before the VLM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62" name="opt-rule-2"/>
          <p:cNvCxnSpPr/>
          <p:nvPr/>
        </p:nvCxnSpPr>
        <p:spPr>
          <a:xfrm>
            <a:off x="4648200" y="4419600"/>
            <a:ext cx="7143750" cy="0"/>
          </a:xfrm>
          <a:prstGeom prst="straightConnector1">
            <a:avLst/>
          </a:prstGeom>
          <a:ln w="9525">
            <a:solidFill>
              <a:srgbClr val="D8D8D4"/>
            </a:solidFill>
            <a:prstDash val="solid"/>
          </a:ln>
        </p:spPr>
      </p:cxnSp>
      <p:sp>
        <p:nvSpPr>
          <p:cNvPr id="15" name="opt-label-3"/>
          <p:cNvSpPr>
            <a:spLocks noGrp="1"/>
          </p:cNvSpPr>
          <p:nvPr/>
        </p:nvSpPr>
        <p:spPr>
          <a:xfrm>
            <a:off x="4648200" y="4686300"/>
            <a:ext cx="1543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OUTPUT</a:t>
            </a:r>
            <a:endParaRPr sz="127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6" name="opt-body-3"/>
          <p:cNvSpPr>
            <a:spLocks noGrp="1"/>
          </p:cNvSpPr>
          <p:nvPr/>
        </p:nvSpPr>
        <p:spPr>
          <a:xfrm>
            <a:off x="6362700" y="4648200"/>
            <a:ext cx="542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Bounded schemas, separated thinking headroom, one targeted repair</a:t>
            </a:r>
            <a:endParaRPr sz="15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7" name="metrics-label"/>
          <p:cNvSpPr>
            <a:spLocks noGrp="1"/>
          </p:cNvSpPr>
          <p:nvPr/>
        </p:nvSpPr>
        <p:spPr>
          <a:xfrm>
            <a:off x="4648200" y="56578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05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REPRODUCIBLE RUNNER CAPTURES</a:t>
            </a:r>
            <a:endParaRPr sz="1050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metrics"/>
          <p:cNvSpPr>
            <a:spLocks noGrp="1"/>
          </p:cNvSpPr>
          <p:nvPr/>
        </p:nvSpPr>
        <p:spPr>
          <a:xfrm>
            <a:off x="7219950" y="5619750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buNone/>
              <a:defRPr sz="11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streaming TTFT · final-content TTFT · decode tok/s · end-to-end latency · JSON success</a:t>
            </a:r>
            <a:endParaRPr sz="11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footer-7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07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0" name="footer-label-7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op-accent"/>
          <p:cNvSpPr>
            <a:spLocks noGrp="1"/>
          </p:cNvSpPr>
          <p:nvPr/>
        </p:nvSpPr>
        <p:spPr>
          <a:xfrm>
            <a:off x="390525" y="190500"/>
            <a:ext cx="800100" cy="47625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slide-title"/>
          <p:cNvSpPr>
            <a:spLocks noGrp="1"/>
          </p:cNvSpPr>
          <p:nvPr/>
        </p:nvSpPr>
        <p:spPr>
          <a:xfrm>
            <a:off x="390525" y="419100"/>
            <a:ext cx="114109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60"/>
          </a:bodyPr>
          <a:lstStyle/>
          <a:p>
            <a:pPr algn="l">
              <a:buNone/>
              <a:def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92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Consent and evidence keep every recommendation accountable</a:t>
            </a:r>
            <a:endParaRPr sz="292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rust-lead"/>
          <p:cNvSpPr>
            <a:spLocks noGrp="1"/>
          </p:cNvSpPr>
          <p:nvPr/>
        </p:nvSpPr>
        <p:spPr>
          <a:xfrm>
            <a:off x="400050" y="1714500"/>
            <a:ext cx="5334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21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reviews communication choices. It does not decide who a person is.</a:t>
            </a:r>
            <a:endParaRPr sz="21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" name="trust-body"/>
          <p:cNvSpPr>
            <a:spLocks noGrp="1"/>
          </p:cNvSpPr>
          <p:nvPr/>
        </p:nvSpPr>
        <p:spPr>
          <a:xfrm>
            <a:off x="400050" y="2819400"/>
            <a:ext cx="53340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Policy gate</a:t>
            </a:r>
            <a:endParaRPr sz="14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Blocks identity, personality, health, wealth, protected-attribute, and predictive inference.</a:t>
            </a:r>
            <a:endParaRPr sz="14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endParaRPr sz="1425"/>
          </a:p>
          <a:p>
            <a:pPr algn="l">
              <a:buNone/>
              <a:def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Public + private context</a:t>
            </a:r>
            <a:endParaRPr sz="14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Public claims stay cited; private course associations are opt-in, runtime-only, and safety-filtered.</a:t>
            </a:r>
            <a:endParaRPr sz="14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endParaRPr sz="1425"/>
          </a:p>
          <a:p>
            <a:pPr algn="l">
              <a:buNone/>
              <a:def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Consent-first memory</a:t>
            </a:r>
            <a:endParaRPr sz="14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42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model drafts; only the user approves. One memory—or all private state—can be deleted.</a:t>
            </a:r>
            <a:endParaRPr sz="142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lotus-field"/>
          <p:cNvSpPr>
            <a:spLocks noGrp="1"/>
          </p:cNvSpPr>
          <p:nvPr/>
        </p:nvSpPr>
        <p:spPr>
          <a:xfrm>
            <a:off x="6229350" y="1466850"/>
            <a:ext cx="5562600" cy="4476750"/>
          </a:xfrm>
          <a:prstGeom prst="roundRect">
            <a:avLst>
              <a:gd name="adj" fmla="val 1702"/>
            </a:avLst>
          </a:prstGeom>
          <a:solidFill>
            <a:srgbClr val="EAF5FB"/>
          </a:solidFill>
          <a:ln w="9525">
            <a:solidFill>
              <a:srgbClr val="D8D8D4"/>
            </a:solidFill>
            <a:prstDash val="solid"/>
          </a:ln>
        </p:spPr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rcRect t="17748" b="17748"/>
          <a:stretch>
            <a:fillRect/>
          </a:stretch>
        </p:blipFill>
        <p:spPr>
          <a:xfrm>
            <a:off x="6515100" y="1752600"/>
            <a:ext cx="4991100" cy="3219450"/>
          </a:xfrm>
          <a:prstGeom prst="roundRect">
            <a:avLst>
              <a:gd name="adj" fmla="val 3550"/>
            </a:avLst>
          </a:prstGeom>
        </p:spPr>
      </p:pic>
      <p:sp>
        <p:nvSpPr>
          <p:cNvPr id="7" name="lotus-caption"/>
          <p:cNvSpPr>
            <a:spLocks noGrp="1"/>
          </p:cNvSpPr>
          <p:nvPr/>
        </p:nvSpPr>
        <p:spPr>
          <a:xfrm>
            <a:off x="6515100" y="5200650"/>
            <a:ext cx="4991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OPEN CHINESE SYMBOLISM LENS PACK</a:t>
            </a:r>
            <a:endParaRPr sz="12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Documented association ≠ universal meaning</a:t>
            </a:r>
            <a:endParaRPr sz="12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footer-8"/>
          <p:cNvSpPr>
            <a:spLocks noGrp="1"/>
          </p:cNvSpPr>
          <p:nvPr/>
        </p:nvSpPr>
        <p:spPr>
          <a:xfrm>
            <a:off x="11277600" y="63341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r">
              <a:buNone/>
              <a:def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08</a:t>
            </a:r>
            <a:endParaRPr sz="1050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footer-label-8"/>
          <p:cNvSpPr>
            <a:spLocks noGrp="1"/>
          </p:cNvSpPr>
          <p:nvPr/>
        </p:nvSpPr>
        <p:spPr>
          <a:xfrm>
            <a:off x="400050" y="633412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975" b="0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XIANGLENS · TRACK 2</a:t>
            </a:r>
            <a:endParaRPr sz="975" b="0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close-red-field"/>
          <p:cNvSpPr>
            <a:spLocks noGrp="1"/>
          </p:cNvSpPr>
          <p:nvPr/>
        </p:nvSpPr>
        <p:spPr>
          <a:xfrm>
            <a:off x="0" y="0"/>
            <a:ext cx="190500" cy="6858000"/>
          </a:xfrm>
          <a:prstGeom prst="rect">
            <a:avLst/>
          </a:prstGeom>
          <a:solidFill>
            <a:srgbClr val="E51B23"/>
          </a:solidFill>
          <a:ln w="0">
            <a:noFill/>
            <a:prstDash val="solid"/>
          </a:ln>
        </p:spPr>
      </p:sp>
      <p:sp>
        <p:nvSpPr>
          <p:cNvPr id="2" name="close-kicker"/>
          <p:cNvSpPr>
            <a:spLocks noGrp="1"/>
          </p:cNvSpPr>
          <p:nvPr/>
        </p:nvSpPr>
        <p:spPr>
          <a:xfrm>
            <a:off x="514350" y="457200"/>
            <a:ext cx="590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THE JUDGE CAN VERIFY THE WHOLE STORY</a:t>
            </a:r>
            <a:endParaRPr sz="1575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close-title"/>
          <p:cNvSpPr>
            <a:spLocks noGrp="1"/>
          </p:cNvSpPr>
          <p:nvPr/>
        </p:nvSpPr>
        <p:spPr>
          <a:xfrm>
            <a:off x="514350" y="1809750"/>
            <a:ext cx="6572250" cy="2038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Autofit/>
          </a:bodyPr>
          <a:lstStyle/>
          <a:p>
            <a:pPr algn="l">
              <a:buNone/>
              <a:defRPr sz="57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57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Ready to verify,</a:t>
            </a:r>
            <a:endParaRPr sz="57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57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5700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end to end</a:t>
            </a:r>
            <a:endParaRPr sz="5700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" name="close-proof"/>
          <p:cNvSpPr>
            <a:spLocks noGrp="1"/>
          </p:cNvSpPr>
          <p:nvPr/>
        </p:nvSpPr>
        <p:spPr>
          <a:xfrm>
            <a:off x="7867650" y="1952625"/>
            <a:ext cx="34290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120 deterministic image fixtures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32 inspectable public knowledge cards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1 opt-in private Lens Tool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75" b="1">
                <a:solidFill>
                  <a:srgbClr val="111111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One 4:30 live Radeon demo</a:t>
            </a:r>
            <a:endParaRPr sz="1875" b="1">
              <a:solidFill>
                <a:srgbClr val="111111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close-flow"/>
          <p:cNvSpPr>
            <a:spLocks noGrp="1"/>
          </p:cNvSpPr>
          <p:nvPr/>
        </p:nvSpPr>
        <p:spPr>
          <a:xfrm>
            <a:off x="514350" y="483870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80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Upload → inspect → observe → private Lens → retrieve → compare → consent → report</a:t>
            </a:r>
            <a:endParaRPr sz="1800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close-repo"/>
          <p:cNvSpPr>
            <a:spLocks noGrp="1"/>
          </p:cNvSpPr>
          <p:nvPr/>
        </p:nvSpPr>
        <p:spPr>
          <a:xfrm>
            <a:off x="514350" y="5715000"/>
            <a:ext cx="809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5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github.com/ld0574/Radeon-hackathon-2026-07</a:t>
            </a:r>
            <a:endParaRPr sz="150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5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E51B23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Reproduce: docs/REPRODUCE.md</a:t>
            </a:r>
            <a:endParaRPr sz="1500" b="1">
              <a:solidFill>
                <a:srgbClr val="E51B23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close-values"/>
          <p:cNvSpPr>
            <a:spLocks noGrp="1"/>
          </p:cNvSpPr>
          <p:nvPr/>
        </p:nvSpPr>
        <p:spPr>
          <a:xfrm>
            <a:off x="7867650" y="58674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buNone/>
              <a:defRPr sz="1125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125" b="1">
                <a:solidFill>
                  <a:srgbClr val="5F6368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PRIVATE · EVIDENCE-BACKED · USER-CONTROLLED</a:t>
            </a:r>
            <a:endParaRPr sz="1125" b="1">
              <a:solidFill>
                <a:srgbClr val="5F6368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4102</Words>
  <Application>WPS 演示</Application>
  <PresentationFormat>Converted Presentation</PresentationFormat>
  <Paragraphs>235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0" baseType="lpstr">
      <vt:lpstr>Arial</vt:lpstr>
      <vt:lpstr>宋体</vt:lpstr>
      <vt:lpstr>Wingdings</vt:lpstr>
      <vt:lpstr>Helvetica Neue</vt:lpstr>
      <vt:lpstr>微软雅黑</vt:lpstr>
      <vt:lpstr>Arial Unicode MS</vt:lpstr>
      <vt:lpstr>宋体</vt:lpstr>
      <vt:lpstr>汉仪书宋二KW</vt:lpstr>
      <vt:lpstr>Calibri</vt:lpstr>
      <vt:lpstr>Helvetica Neue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dale</cp:lastModifiedBy>
  <cp:revision>1</cp:revision>
  <dcterms:created xsi:type="dcterms:W3CDTF">2026-08-05T05:56:15Z</dcterms:created>
  <dcterms:modified xsi:type="dcterms:W3CDTF">2026-08-05T05:56:15Z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A2568E4A77F4B0307FD0726ADBF10B94_42</vt:lpwstr>
  </property>
  <property fmtid="{D5CDD505-2E9C-101B-9397-08002B2CF9AE}" pid="3" name="KSOProductBuildVer">
    <vt:lpwstr>2052-12.1.26035.26035</vt:lpwstr>
  </property>
</Properties>
</file>