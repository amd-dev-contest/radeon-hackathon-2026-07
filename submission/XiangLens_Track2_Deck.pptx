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9d53cb89934cbf" /><Relationship Type="http://schemas.openxmlformats.org/officeDocument/2006/relationships/extended-properties" Target="/docProps/app.xml" Id="R527f9b91488b4d31" /><Relationship Type="http://schemas.openxmlformats.org/officeDocument/2006/relationships/officeDocument" Target="/ppt/presentation.xml" Id="Rdba317b0c61b43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f63e058c3d48b8"/>
  </p:sldMasterIdLst>
  <p:notesMasterIdLst>
    <p:notesMasterId xmlns:r="http://schemas.openxmlformats.org/officeDocument/2006/relationships" r:id="R50e7a91b11af4ab7"/>
  </p:notesMasterIdLst>
  <p:sldIdLst>
    <p:sldId xmlns:r="http://schemas.openxmlformats.org/officeDocument/2006/relationships" id="256" r:id="R8c48ceed750f4525"/>
    <p:sldId xmlns:r="http://schemas.openxmlformats.org/officeDocument/2006/relationships" id="257" r:id="Ra0fa0c7dc56c491d"/>
    <p:sldId xmlns:r="http://schemas.openxmlformats.org/officeDocument/2006/relationships" id="258" r:id="Rc8430b3d8e81473e"/>
    <p:sldId xmlns:r="http://schemas.openxmlformats.org/officeDocument/2006/relationships" id="259" r:id="Rb9ab271bb3b3411a"/>
    <p:sldId xmlns:r="http://schemas.openxmlformats.org/officeDocument/2006/relationships" id="260" r:id="Reb8f2f16fd5342e2"/>
    <p:sldId xmlns:r="http://schemas.openxmlformats.org/officeDocument/2006/relationships" id="261" r:id="Rc5a2adf5fa15414b"/>
    <p:sldId xmlns:r="http://schemas.openxmlformats.org/officeDocument/2006/relationships" id="262" r:id="R9aa718edda8d40d9"/>
    <p:sldId xmlns:r="http://schemas.openxmlformats.org/officeDocument/2006/relationships" id="263" r:id="R568af354e2de47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83054d34140a6" /><Relationship Type="http://schemas.openxmlformats.org/officeDocument/2006/relationships/slideMaster" Target="/ppt/slideMasters/slideMaster1.xml" Id="R1cf63e058c3d48b8" /><Relationship Type="http://schemas.openxmlformats.org/officeDocument/2006/relationships/notesMaster" Target="/ppt/notesMasters/notesMaster1.xml" Id="R50e7a91b11af4ab7" /><Relationship Type="http://schemas.openxmlformats.org/officeDocument/2006/relationships/presProps" Target="/ppt/presProps.xml" Id="R77a7d39b065f4938" /><Relationship Type="http://schemas.openxmlformats.org/officeDocument/2006/relationships/tableStyles" Target="/ppt/tableStyles.xml" Id="R53480a370b1e4b35" /><Relationship Type="http://schemas.openxmlformats.org/officeDocument/2006/relationships/slide" Target="/ppt/slides/slide1.xml" Id="R8c48ceed750f4525" /><Relationship Type="http://schemas.openxmlformats.org/officeDocument/2006/relationships/slide" Target="/ppt/slides/slide2.xml" Id="Ra0fa0c7dc56c491d" /><Relationship Type="http://schemas.openxmlformats.org/officeDocument/2006/relationships/slide" Target="/ppt/slides/slide3.xml" Id="Rc8430b3d8e81473e" /><Relationship Type="http://schemas.openxmlformats.org/officeDocument/2006/relationships/slide" Target="/ppt/slides/slide4.xml" Id="Rb9ab271bb3b3411a" /><Relationship Type="http://schemas.openxmlformats.org/officeDocument/2006/relationships/slide" Target="/ppt/slides/slide5.xml" Id="Reb8f2f16fd5342e2" /><Relationship Type="http://schemas.openxmlformats.org/officeDocument/2006/relationships/slide" Target="/ppt/slides/slide6.xml" Id="Rc5a2adf5fa15414b" /><Relationship Type="http://schemas.openxmlformats.org/officeDocument/2006/relationships/slide" Target="/ppt/slides/slide7.xml" Id="R9aa718edda8d40d9" /><Relationship Type="http://schemas.openxmlformats.org/officeDocument/2006/relationships/slide" Target="/ppt/slides/slide8.xml" Id="R568af354e2de47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763622938d48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d05087de5462d" /><Relationship Type="http://schemas.openxmlformats.org/officeDocument/2006/relationships/notesMaster" Target="/ppt/notesMasters/notesMaster1.xml" Id="Rfa70fd43466e4e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132f3ee10049c8" /><Relationship Type="http://schemas.openxmlformats.org/officeDocument/2006/relationships/notesMaster" Target="/ppt/notesMasters/notesMaster1.xml" Id="Rdf458f43d03841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e288a3a9bd46ea" /><Relationship Type="http://schemas.openxmlformats.org/officeDocument/2006/relationships/notesMaster" Target="/ppt/notesMasters/notesMaster1.xml" Id="Rb337081723c94d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927f17f8404a13" /><Relationship Type="http://schemas.openxmlformats.org/officeDocument/2006/relationships/notesMaster" Target="/ppt/notesMasters/notesMaster1.xml" Id="R05d6c6629e6143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82837d5644312" /><Relationship Type="http://schemas.openxmlformats.org/officeDocument/2006/relationships/notesMaster" Target="/ppt/notesMasters/notesMaster1.xml" Id="Ra22fe6d66ce848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0cf53a66574a9c" /><Relationship Type="http://schemas.openxmlformats.org/officeDocument/2006/relationships/notesMaster" Target="/ppt/notesMasters/notesMaster1.xml" Id="R14289ab1a2fa41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2e6281a7ba4965" /><Relationship Type="http://schemas.openxmlformats.org/officeDocument/2006/relationships/notesMaster" Target="/ppt/notesMasters/notesMaster1.xml" Id="R07587157414a4d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5a97f756c14558" /><Relationship Type="http://schemas.openxmlformats.org/officeDocument/2006/relationships/notesMaster" Target="/ppt/notesMasters/notesMaster1.xml" Id="R77ecc40d5058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brief: docs/SUBMISSION_BRIEF.md</a:t>
            </a:r>
          </a:p>
          <a:p xmlns:a="http://schemas.openxmlformats.org/drawingml/2006/main">
            <a:r>
              <a:t>- Track 2 requirements: Radeon-Cloud-User Guide/2026 AMD AI DevMaster 黑客松赛事说明.md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and safety boundaries: docs/SUBMISSION_BRIEF.md</a:t>
            </a:r>
          </a:p>
          <a:p xmlns:a="http://schemas.openxmlformats.org/drawingml/2006/main">
            <a:r>
              <a:t>- Portrait fixture: https://commons.wikimedia.org/wiki/File:Wikimedia_Summit_2019_-_Portrait_Abbad_Diraneyya.jpg (Aida Kadrispahic for Wikimedia Deutschland e.V., CC BY-SA 4.0)</a:t>
            </a:r>
          </a:p>
          <a:p xmlns:a="http://schemas.openxmlformats.org/drawingml/2006/main">
            <a:r>
              <a:t>- Derived fixture labels and transforms: data/fixtures/labels.jsonl and data/fixtures/README.md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and topology: docs/SUBMISSION_BRIEF.md and docs/PRODUCTION_DEPLOYMENT.md</a:t>
            </a:r>
          </a:p>
          <a:p xmlns:a="http://schemas.openxmlformats.org/drawingml/2006/main">
            <a:r>
              <a:t>- Workflow implementation: src/xianglens/agent/graph.py</a:t>
            </a:r>
          </a:p>
          <a:p xmlns:a="http://schemas.openxmlformats.org/drawingml/2006/main">
            <a:r>
              <a:t>- Session boundary: src/xianglens/auth.py and src/xianglens/main.py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Track 2 capability definitions: Radeon-Cloud-User Guide/2026 AMD AI DevMaster 黑客松赛事说明.md</a:t>
            </a:r>
          </a:p>
          <a:p xmlns:a="http://schemas.openxmlformats.org/drawingml/2006/main">
            <a:r>
              <a:t>- Capability-to-evidence mapping: docs/SUBMISSION_BRIEF.md and docs/SUBMISSION_CHECKLIST.md</a:t>
            </a:r>
          </a:p>
          <a:p xmlns:a="http://schemas.openxmlformats.org/drawingml/2006/main">
            <a:r>
              <a:t>- Graph implementation: src/xianglens/agent/graph.py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 and local topology: docs/SUBMISSION_BRIEF.md</a:t>
            </a:r>
          </a:p>
          <a:p xmlns:a="http://schemas.openxmlformats.org/drawingml/2006/main">
            <a:r>
              <a:t>- Production security boundary: docs/PRODUCTION_DEPLOYMENT.md</a:t>
            </a:r>
          </a:p>
          <a:p xmlns:a="http://schemas.openxmlformats.org/drawingml/2006/main">
            <a:r>
              <a:t>- llama.cpp client and reasoning budget: src/xianglens/inference/llama_client.py and src/xianglens/config.py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design and limitations: docs/SUBMISSION_BRIEF.md</a:t>
            </a:r>
          </a:p>
          <a:p xmlns:a="http://schemas.openxmlformats.org/drawingml/2006/main">
            <a:r>
              <a:t>- Reproducible protocol: benchmarks/README.md</a:t>
            </a:r>
          </a:p>
          <a:p xmlns:a="http://schemas.openxmlformats.org/drawingml/2006/main">
            <a:r>
              <a:t>- Metric collector: scripts/benchmark_llama.py</a:t>
            </a:r>
          </a:p>
          <a:p xmlns:a="http://schemas.openxmlformats.org/drawingml/2006/main">
            <a:r>
              <a:t>- No measured result is shown until the final Radeon endpoint is available and the protocol is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Policy, memory, and deletion behavior: docs/SUBMISSION_BRIEF.md and src/xianglens/agent/graph.py</a:t>
            </a:r>
          </a:p>
          <a:p xmlns:a="http://schemas.openxmlformats.org/drawingml/2006/main">
            <a:r>
              <a:t>- Memory persistence: src/xianglens/storage/sqlite_store.py</a:t>
            </a:r>
          </a:p>
          <a:p xmlns:a="http://schemas.openxmlformats.org/drawingml/2006/main">
            <a:r>
              <a:t>- Lotus artwork: https://commons.wikimedia.org/wiki/File:Chinese,_%E2%80%98Pink_and_White_Lotus%E2%80%99,_14th_century_China,_Yuan_dynasty_(1279%E2%80%931368),_Hanging_scroll;_mineral_pigments_on_silk,_Kimbell_Art_Museum.jpg (public domain; Kimbell Art Museum)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Fixture and knowledge counts: docs/SUBMISSION_BRIEF.md and docs/KNOWLEDGE_BASE_DATASET_PLAN.md</a:t>
            </a:r>
          </a:p>
          <a:p xmlns:a="http://schemas.openxmlformats.org/drawingml/2006/main">
            <a:r>
              <a:t>- Video plan: docs/DEMO_VIDEO_SCRIPT.md</a:t>
            </a:r>
          </a:p>
          <a:p xmlns:a="http://schemas.openxmlformats.org/drawingml/2006/main">
            <a:r>
              <a:t>- Repository verification commands: README.md and docs/SUBMISSION_CHECKLIST.md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97b80368d4f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945692e0d84cea" /><Relationship Type="http://schemas.openxmlformats.org/officeDocument/2006/relationships/slideLayout" Target="/ppt/slideLayouts/slideLayout1.xml" Id="R93a4db494448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4db494448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a42de2cc94937" /><Relationship Type="http://schemas.openxmlformats.org/officeDocument/2006/relationships/notesSlide" Target="/ppt/notesSlides/notesSlide1.xml" Id="R0354384e674c4a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11e7c8e0f4a03" /><Relationship Type="http://schemas.openxmlformats.org/officeDocument/2006/relationships/image" Target="/ppt/media/image.jpeg" Id="R368900bec9c54612" /><Relationship Type="http://schemas.openxmlformats.org/officeDocument/2006/relationships/image" Target="/ppt/media/image2.jpeg" Id="R46ab63ca03384c51" /><Relationship Type="http://schemas.openxmlformats.org/officeDocument/2006/relationships/notesSlide" Target="/ppt/notesSlides/notesSlide2.xml" Id="R29a9030bac5448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749947565438e" /><Relationship Type="http://schemas.openxmlformats.org/officeDocument/2006/relationships/notesSlide" Target="/ppt/notesSlides/notesSlide3.xml" Id="R1c3a202e5b3a4c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9dec27521443f" /><Relationship Type="http://schemas.openxmlformats.org/officeDocument/2006/relationships/notesSlide" Target="/ppt/notesSlides/notesSlide4.xml" Id="R8818e44a0b454f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ed3494a7d49f9" /><Relationship Type="http://schemas.openxmlformats.org/officeDocument/2006/relationships/notesSlide" Target="/ppt/notesSlides/notesSlide5.xml" Id="R2cc48b5e9f194d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83f664af548e4" /><Relationship Type="http://schemas.openxmlformats.org/officeDocument/2006/relationships/notesSlide" Target="/ppt/notesSlides/notesSlide6.xml" Id="Rf78c2bcddc334a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76818a43e4d1e" /><Relationship Type="http://schemas.openxmlformats.org/officeDocument/2006/relationships/image" Target="/ppt/media/image3.jpeg" Id="R9a2b0446ca05407b" /><Relationship Type="http://schemas.openxmlformats.org/officeDocument/2006/relationships/notesSlide" Target="/ppt/notesSlides/notesSlide7.xml" Id="R0ebab57fb86642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23f1aaaa24acd" /><Relationship Type="http://schemas.openxmlformats.org/officeDocument/2006/relationships/notesSlide" Target="/ppt/notesSlides/notesSlide8.xml" Id="Rf51ab785542845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red-field">
            <a:extLst xmlns:a="http://schemas.openxmlformats.org/drawingml/2006/main">
              <a:ext uri="{FF2B5EF4-FFF2-40B4-BE49-F238E27FC236}">
                <a16:creationId xmlns:a16="http://schemas.microsoft.com/office/drawing/2014/main" id="{F8905DB5-1D9F-4A02-9C3E-86FC4EF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90047E9-2B5D-4A4C-A408-E03A7949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AMD AI DEVMASTER 2026 · TRACK 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695C839-B164-44DA-A7C3-76D1FB54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XiangLens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22694D1-FF5A-47A7-987D-4DE09B1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Private, evidence-backed profile-image review</a:t>
            </a:r>
          </a:p>
          <a:p xmlns:a="http://schemas.openxmlformats.org/drawingml/2006/main">
            <a:pPr algn="l">
              <a:defRPr sz="22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on AMD Radeon + ROCm</a:t>
            </a:r>
          </a:p>
        </p:txBody>
      </p:sp>
      <p:sp>
        <p:nvSpPr>
          <p:cNvPr id="5" name="cover-values">
            <a:extLst xmlns:a="http://schemas.openxmlformats.org/drawingml/2006/main">
              <a:ext uri="{FF2B5EF4-FFF2-40B4-BE49-F238E27FC236}">
                <a16:creationId xmlns:a16="http://schemas.microsoft.com/office/drawing/2014/main" id="{A4C4B877-F86A-469F-B48E-BD58933E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GOAL-RELATIVE  ·  SOURCE-BACKED  ·  USER-CONTROLLED</a:t>
            </a:r>
          </a:p>
        </p:txBody>
      </p:sp>
      <p:sp>
        <p:nvSpPr>
          <p:cNvPr id="6" name="cover-monogram">
            <a:extLst xmlns:a="http://schemas.openxmlformats.org/drawingml/2006/main">
              <a:ext uri="{FF2B5EF4-FFF2-40B4-BE49-F238E27FC236}">
                <a16:creationId xmlns:a16="http://schemas.microsoft.com/office/drawing/2014/main" id="{51F7C619-3DC8-4EA2-9BF2-52309AFA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2133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XL</a:t>
            </a:r>
          </a:p>
        </p:txBody>
      </p:sp>
    </p:spTree>
    <p:extLst>
      <p:ext uri="{BB962C8B-B14F-4D97-AF65-F5344CB8AC3E}">
        <p14:creationId xmlns:p14="http://schemas.microsoft.com/office/powerpoint/2010/main" val="365432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A1460C5A-7915-4801-BFF8-80CC8EB3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F75030-9C23-4806-A63B-6BA91C1D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10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profile image is a tiny, high-stakes identity surface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239C9141-6AC9-4939-9275-9CDCC9BB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same image is repeatedly cropped, downsized, copied, and read across communities.</a:t>
            </a:r>
          </a:p>
        </p:txBody>
      </p:sp>
      <p:sp>
        <p:nvSpPr>
          <p:cNvPr id="4" name="problem-questions">
            <a:extLst xmlns:a="http://schemas.openxmlformats.org/drawingml/2006/main">
              <a:ext uri="{FF2B5EF4-FFF2-40B4-BE49-F238E27FC236}">
                <a16:creationId xmlns:a16="http://schemas.microsoft.com/office/drawing/2014/main" id="{61D0C1B4-E9D1-4B1B-8750-C805160E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048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Can the subject survive a circular crop?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Does the file expose metadata, a badge, or a QR code?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Which candidate fits the user’s stated audience—and why?</a:t>
            </a:r>
          </a:p>
        </p:txBody>
      </p:sp>
      <p:sp>
        <p:nvSpPr>
          <p:cNvPr id="5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6C35B65F-273E-4596-96B1-B2790C1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XiangLens answers with local tools, a self-hosted VLM, cited context, and explicit user goals—not personality inference.</a:t>
            </a:r>
          </a:p>
        </p:txBody>
      </p:sp>
      <p:sp>
        <p:nvSpPr>
          <p:cNvPr id="6" name="image-field">
            <a:extLst xmlns:a="http://schemas.openxmlformats.org/drawingml/2006/main">
              <a:ext uri="{FF2B5EF4-FFF2-40B4-BE49-F238E27FC236}">
                <a16:creationId xmlns:a16="http://schemas.microsoft.com/office/drawing/2014/main" id="{3DF26A6A-6DE9-4B8E-AAB7-CEBC2EB2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55626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900bec9c546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48450" y="1943100"/>
            <a:ext cx="2190750" cy="2190750"/>
          </a:xfrm>
          <a:prstGeom xmlns:a="http://schemas.openxmlformats.org/drawingml/2006/main" prst="ellipse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b63ca03384c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050" y="3238500"/>
            <a:ext cx="2190750" cy="2190750"/>
          </a:xfrm>
          <a:prstGeom xmlns:a="http://schemas.openxmlformats.org/drawingml/2006/main" prst="ellipse">
            <a:avLst/>
          </a:prstGeom>
        </p:spPr>
      </p:pic>
      <p:sp>
        <p:nvSpPr>
          <p:cNvPr id="9" name="clean-label">
            <a:extLst xmlns:a="http://schemas.openxmlformats.org/drawingml/2006/main">
              <a:ext uri="{FF2B5EF4-FFF2-40B4-BE49-F238E27FC236}">
                <a16:creationId xmlns:a16="http://schemas.microsoft.com/office/drawing/2014/main" id="{8BCA004B-29AE-4EAB-A9D7-9A428945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86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CANDIDATE A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sp>
        <p:nvSpPr>
          <p:cNvPr id="10" name="qr-label">
            <a:extLst xmlns:a="http://schemas.openxmlformats.org/drawingml/2006/main">
              <a:ext uri="{FF2B5EF4-FFF2-40B4-BE49-F238E27FC236}">
                <a16:creationId xmlns:a16="http://schemas.microsoft.com/office/drawing/2014/main" id="{BF704E82-294E-4D4D-9790-2DBCA8B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CANDIDATE B</a:t>
            </a:r>
          </a:p>
          <a:p xmlns:a="http://schemas.openxmlformats.org/drawingml/2006/main">
            <a:pPr algn="ctr">
              <a:defRPr sz="12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visible QR risk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1061CF3C-D9D9-4744-93CB-2F36D433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EEA23E5-A97B-4C5F-AE95-000A8DC5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XIANGLENS · TRACK 2</a:t>
            </a:r>
          </a:p>
        </p:txBody>
      </p:sp>
    </p:spTree>
    <p:extLst>
      <p:ext uri="{BB962C8B-B14F-4D97-AF65-F5344CB8AC3E}">
        <p14:creationId xmlns:p14="http://schemas.microsoft.com/office/powerpoint/2010/main" val="1803745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accent">
            <a:extLst xmlns:a="http://schemas.openxmlformats.org/drawingml/2006/main">
              <a:ext uri="{FF2B5EF4-FFF2-40B4-BE49-F238E27FC236}">
                <a16:creationId xmlns:a16="http://schemas.microsoft.com/office/drawing/2014/main" id="{997DD305-7D36-4CDF-9FEF-08DAC17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ED4318-ED47-4544-A31E-D217CD58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10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Agent owns every decision around the model</a:t>
            </a:r>
          </a:p>
        </p:txBody>
      </p:sp>
      <p:cxnSp>
        <p:nvCxnSpPr>
          <p:cNvPr id="41" name="browser-api"/>
          <p:cNvCxnSpPr/>
          <p:nvPr/>
        </p:nvCxnSpPr>
        <p:spPr>
          <a:xfrm xmlns:a="http://schemas.openxmlformats.org/drawingml/2006/main">
            <a:off x="2000250" y="25622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F6368"/>
            </a:solidFill>
            <a:prstDash val="solid"/>
          </a:ln>
        </p:spPr>
      </p:cxnSp>
      <p:cxnSp>
        <p:nvCxnSpPr>
          <p:cNvPr id="42" name="api-graph"/>
          <p:cNvCxnSpPr/>
          <p:nvPr/>
        </p:nvCxnSpPr>
        <p:spPr>
          <a:xfrm xmlns:a="http://schemas.openxmlformats.org/drawingml/2006/main">
            <a:off x="4314825" y="25622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F6368"/>
            </a:solidFill>
            <a:prstDash val="solid"/>
          </a:ln>
        </p:spPr>
      </p:cxnSp>
      <p:cxnSp>
        <p:nvCxnSpPr>
          <p:cNvPr id="43" name="graph-model"/>
          <p:cNvCxnSpPr/>
          <p:nvPr/>
        </p:nvCxnSpPr>
        <p:spPr>
          <a:xfrm xmlns:a="http://schemas.openxmlformats.org/drawingml/2006/main">
            <a:off x="6638925" y="25622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1B23"/>
            </a:solidFill>
            <a:prstDash val="solid"/>
          </a:ln>
        </p:spPr>
      </p:cxnSp>
      <p:cxnSp>
        <p:nvCxnSpPr>
          <p:cNvPr id="44" name="model-gpu"/>
          <p:cNvCxnSpPr/>
          <p:nvPr/>
        </p:nvCxnSpPr>
        <p:spPr>
          <a:xfrm xmlns:a="http://schemas.openxmlformats.org/drawingml/2006/main">
            <a:off x="8953500" y="2562225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1B23"/>
            </a:solidFill>
            <a:prstDash val="solid"/>
          </a:ln>
        </p:spPr>
      </p:cxnSp>
      <p:cxnSp>
        <p:nvCxnSpPr>
          <p:cNvPr id="45" name="graph-tools"/>
          <p:cNvCxnSpPr/>
          <p:nvPr/>
        </p:nvCxnSpPr>
        <p:spPr>
          <a:xfrm xmlns:a="http://schemas.openxmlformats.org/drawingml/2006/main">
            <a:off x="3371850" y="3133725"/>
            <a:ext cx="2543175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</a:ln>
        </p:spPr>
      </p:cxnSp>
      <p:cxnSp>
        <p:nvCxnSpPr>
          <p:cNvPr id="46" name="graph-rag"/>
          <p:cNvCxnSpPr/>
          <p:nvPr/>
        </p:nvCxnSpPr>
        <p:spPr>
          <a:xfrm xmlns:a="http://schemas.openxmlformats.org/drawingml/2006/main">
            <a:off x="5915025" y="3133725"/>
            <a:ext cx="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</a:ln>
        </p:spPr>
      </p:cxnSp>
      <p:cxnSp>
        <p:nvCxnSpPr>
          <p:cNvPr id="47" name="graph-memory"/>
          <p:cNvCxnSpPr/>
          <p:nvPr/>
        </p:nvCxnSpPr>
        <p:spPr>
          <a:xfrm xmlns:a="http://schemas.openxmlformats.org/drawingml/2006/main">
            <a:off x="5915025" y="3133725"/>
            <a:ext cx="2543175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368"/>
            </a:solidFill>
            <a:prstDash val="solid"/>
          </a:ln>
        </p:spPr>
      </p:cxnSp>
      <p:sp>
        <p:nvSpPr>
          <p:cNvPr id="10" name="browser-node">
            <a:extLst xmlns:a="http://schemas.openxmlformats.org/drawingml/2006/main">
              <a:ext uri="{FF2B5EF4-FFF2-40B4-BE49-F238E27FC236}">
                <a16:creationId xmlns:a16="http://schemas.microsoft.com/office/drawing/2014/main" id="{170448CD-D7C8-48FB-864F-398D3584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4192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8D4"/>
            </a:solidFill>
            <a:prstDash val="solid"/>
          </a:ln>
        </p:spPr>
      </p:sp>
      <p:sp>
        <p:nvSpPr>
          <p:cNvPr id="11" name="browser-label">
            <a:extLst xmlns:a="http://schemas.openxmlformats.org/drawingml/2006/main">
              <a:ext uri="{FF2B5EF4-FFF2-40B4-BE49-F238E27FC236}">
                <a16:creationId xmlns:a16="http://schemas.microsoft.com/office/drawing/2014/main" id="{C1260AA9-3CE2-4EBF-A056-B070EEB8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Static UI</a:t>
            </a:r>
          </a:p>
        </p:txBody>
      </p:sp>
      <p:sp>
        <p:nvSpPr>
          <p:cNvPr id="12" name="browser-detail">
            <a:extLst xmlns:a="http://schemas.openxmlformats.org/drawingml/2006/main">
              <a:ext uri="{FF2B5EF4-FFF2-40B4-BE49-F238E27FC236}">
                <a16:creationId xmlns:a16="http://schemas.microsoft.com/office/drawing/2014/main" id="{94799113-8B4D-478C-95F0-1A094C2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GitHub Pages</a:t>
            </a:r>
          </a:p>
        </p:txBody>
      </p:sp>
      <p:sp>
        <p:nvSpPr>
          <p:cNvPr id="13" name="api-node">
            <a:extLst xmlns:a="http://schemas.openxmlformats.org/drawingml/2006/main">
              <a:ext uri="{FF2B5EF4-FFF2-40B4-BE49-F238E27FC236}">
                <a16:creationId xmlns:a16="http://schemas.microsoft.com/office/drawing/2014/main" id="{B43E7004-199E-4FB3-959F-63B16FA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14192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8D4"/>
            </a:solidFill>
            <a:prstDash val="solid"/>
          </a:ln>
        </p:spPr>
      </p:sp>
      <p:sp>
        <p:nvSpPr>
          <p:cNvPr id="14" name="api-label">
            <a:extLst xmlns:a="http://schemas.openxmlformats.org/drawingml/2006/main">
              <a:ext uri="{FF2B5EF4-FFF2-40B4-BE49-F238E27FC236}">
                <a16:creationId xmlns:a16="http://schemas.microsoft.com/office/drawing/2014/main" id="{2A93FEF0-FF6E-4661-B73A-1673AA0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0275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5" name="api-detail">
            <a:extLst xmlns:a="http://schemas.openxmlformats.org/drawingml/2006/main">
              <a:ext uri="{FF2B5EF4-FFF2-40B4-BE49-F238E27FC236}">
                <a16:creationId xmlns:a16="http://schemas.microsoft.com/office/drawing/2014/main" id="{82696CD8-0901-4F79-860D-16D65552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9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upload · SSE · auth</a:t>
            </a:r>
          </a:p>
        </p:txBody>
      </p:sp>
      <p:sp>
        <p:nvSpPr>
          <p:cNvPr id="16" name="graph-node">
            <a:extLst xmlns:a="http://schemas.openxmlformats.org/drawingml/2006/main">
              <a:ext uri="{FF2B5EF4-FFF2-40B4-BE49-F238E27FC236}">
                <a16:creationId xmlns:a16="http://schemas.microsoft.com/office/drawing/2014/main" id="{874E9DB5-0D05-4E38-9A2D-7BE65AB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14192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8D4"/>
            </a:solidFill>
            <a:prstDash val="solid"/>
          </a:ln>
        </p:spPr>
      </p:sp>
      <p:sp>
        <p:nvSpPr>
          <p:cNvPr id="17" name="graph-label">
            <a:extLst xmlns:a="http://schemas.openxmlformats.org/drawingml/2006/main">
              <a:ext uri="{FF2B5EF4-FFF2-40B4-BE49-F238E27FC236}">
                <a16:creationId xmlns:a16="http://schemas.microsoft.com/office/drawing/2014/main" id="{58B540D2-959D-4C4E-BC71-2A68B7E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00275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LangGraph</a:t>
            </a:r>
          </a:p>
        </p:txBody>
      </p:sp>
      <p:sp>
        <p:nvSpPr>
          <p:cNvPr id="18" name="graph-detail">
            <a:extLst xmlns:a="http://schemas.openxmlformats.org/drawingml/2006/main">
              <a:ext uri="{FF2B5EF4-FFF2-40B4-BE49-F238E27FC236}">
                <a16:creationId xmlns:a16="http://schemas.microsoft.com/office/drawing/2014/main" id="{BB0A461E-B9A1-4884-9A6E-4BFD2867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09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policy · plan · state</a:t>
            </a:r>
          </a:p>
        </p:txBody>
      </p:sp>
      <p:sp>
        <p:nvSpPr>
          <p:cNvPr id="19" name="model-node">
            <a:extLst xmlns:a="http://schemas.openxmlformats.org/drawingml/2006/main">
              <a:ext uri="{FF2B5EF4-FFF2-40B4-BE49-F238E27FC236}">
                <a16:creationId xmlns:a16="http://schemas.microsoft.com/office/drawing/2014/main" id="{A71A13FC-3D4F-4B63-8805-AC600B73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00250"/>
            <a:ext cx="14192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9E3E4"/>
          </a:solidFill>
          <a:ln xmlns:a="http://schemas.openxmlformats.org/drawingml/2006/main" w="14288">
            <a:solidFill>
              <a:srgbClr val="E51B23"/>
            </a:solidFill>
            <a:prstDash val="solid"/>
          </a:ln>
        </p:spPr>
      </p:sp>
      <p:sp>
        <p:nvSpPr>
          <p:cNvPr id="20" name="model-label">
            <a:extLst xmlns:a="http://schemas.openxmlformats.org/drawingml/2006/main">
              <a:ext uri="{FF2B5EF4-FFF2-40B4-BE49-F238E27FC236}">
                <a16:creationId xmlns:a16="http://schemas.microsoft.com/office/drawing/2014/main" id="{ED30CB5A-EA89-4E60-925D-184EB79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00275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llama-server</a:t>
            </a:r>
          </a:p>
        </p:txBody>
      </p:sp>
      <p:sp>
        <p:nvSpPr>
          <p:cNvPr id="21" name="model-detail">
            <a:extLst xmlns:a="http://schemas.openxmlformats.org/drawingml/2006/main">
              <a:ext uri="{FF2B5EF4-FFF2-40B4-BE49-F238E27FC236}">
                <a16:creationId xmlns:a16="http://schemas.microsoft.com/office/drawing/2014/main" id="{939653C6-E7EB-4D79-89C4-251E2F6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09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OpenAI-compatible /v1</a:t>
            </a:r>
          </a:p>
        </p:txBody>
      </p:sp>
      <p:sp>
        <p:nvSpPr>
          <p:cNvPr id="22" name="gpu-node">
            <a:extLst xmlns:a="http://schemas.openxmlformats.org/drawingml/2006/main">
              <a:ext uri="{FF2B5EF4-FFF2-40B4-BE49-F238E27FC236}">
                <a16:creationId xmlns:a16="http://schemas.microsoft.com/office/drawing/2014/main" id="{D46E09A9-29C0-4B5C-AE72-A99B8A7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1419225" cy="1133475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9E3E4"/>
          </a:solidFill>
          <a:ln xmlns:a="http://schemas.openxmlformats.org/drawingml/2006/main" w="14288">
            <a:solidFill>
              <a:srgbClr val="E51B23"/>
            </a:solidFill>
            <a:prstDash val="solid"/>
          </a:ln>
        </p:spPr>
      </p:sp>
      <p:sp>
        <p:nvSpPr>
          <p:cNvPr id="23" name="gpu-label">
            <a:extLst xmlns:a="http://schemas.openxmlformats.org/drawingml/2006/main">
              <a:ext uri="{FF2B5EF4-FFF2-40B4-BE49-F238E27FC236}">
                <a16:creationId xmlns:a16="http://schemas.microsoft.com/office/drawing/2014/main" id="{5E3DE0F1-2429-46FE-8273-94FF526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00275"/>
            <a:ext cx="1228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Radeon host</a:t>
            </a:r>
          </a:p>
        </p:txBody>
      </p:sp>
      <p:sp>
        <p:nvSpPr>
          <p:cNvPr id="24" name="gpu-detail">
            <a:extLst xmlns:a="http://schemas.openxmlformats.org/drawingml/2006/main">
              <a:ext uri="{FF2B5EF4-FFF2-40B4-BE49-F238E27FC236}">
                <a16:creationId xmlns:a16="http://schemas.microsoft.com/office/drawing/2014/main" id="{B4613485-5982-4DEF-9D71-F9A2E30B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09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ROCm · W7900</a:t>
            </a:r>
          </a:p>
        </p:txBody>
      </p:sp>
      <p:sp>
        <p:nvSpPr>
          <p:cNvPr id="25" name="tools-branch">
            <a:extLst xmlns:a="http://schemas.openxmlformats.org/drawingml/2006/main">
              <a:ext uri="{FF2B5EF4-FFF2-40B4-BE49-F238E27FC236}">
                <a16:creationId xmlns:a16="http://schemas.microsoft.com/office/drawing/2014/main" id="{D03CEE61-953C-4EA2-BFD7-0462B65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25431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6" name="tools-branch-label">
            <a:extLst xmlns:a="http://schemas.openxmlformats.org/drawingml/2006/main">
              <a:ext uri="{FF2B5EF4-FFF2-40B4-BE49-F238E27FC236}">
                <a16:creationId xmlns:a16="http://schemas.microsoft.com/office/drawing/2014/main" id="{CA88CA11-5234-44B7-A1F4-DE7843A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72000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Local tools</a:t>
            </a:r>
          </a:p>
        </p:txBody>
      </p:sp>
      <p:sp>
        <p:nvSpPr>
          <p:cNvPr id="27" name="tools-branch-detail">
            <a:extLst xmlns:a="http://schemas.openxmlformats.org/drawingml/2006/main">
              <a:ext uri="{FF2B5EF4-FFF2-40B4-BE49-F238E27FC236}">
                <a16:creationId xmlns:a16="http://schemas.microsoft.com/office/drawing/2014/main" id="{61718927-470A-4AEA-9871-CA948903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6252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EXIF · QR · crop · safe copy</a:t>
            </a:r>
          </a:p>
        </p:txBody>
      </p:sp>
      <p:sp>
        <p:nvSpPr>
          <p:cNvPr id="28" name="rag-branch">
            <a:extLst xmlns:a="http://schemas.openxmlformats.org/drawingml/2006/main">
              <a:ext uri="{FF2B5EF4-FFF2-40B4-BE49-F238E27FC236}">
                <a16:creationId xmlns:a16="http://schemas.microsoft.com/office/drawing/2014/main" id="{1D3D5E40-DBB8-47FB-98AE-EA10E12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62450"/>
            <a:ext cx="25431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9" name="rag-branch-label">
            <a:extLst xmlns:a="http://schemas.openxmlformats.org/drawingml/2006/main">
              <a:ext uri="{FF2B5EF4-FFF2-40B4-BE49-F238E27FC236}">
                <a16:creationId xmlns:a16="http://schemas.microsoft.com/office/drawing/2014/main" id="{74FA6993-DC67-4F90-855A-B8AFF968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72000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Milvus Lite</a:t>
            </a:r>
          </a:p>
        </p:txBody>
      </p:sp>
      <p:sp>
        <p:nvSpPr>
          <p:cNvPr id="30" name="rag-branch-detail">
            <a:extLst xmlns:a="http://schemas.openxmlformats.org/drawingml/2006/main">
              <a:ext uri="{FF2B5EF4-FFF2-40B4-BE49-F238E27FC236}">
                <a16:creationId xmlns:a16="http://schemas.microsoft.com/office/drawing/2014/main" id="{AB11B81B-8AD3-4B78-B541-D48D2C71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6252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Top-K evidence · 4 Lens Packs</a:t>
            </a:r>
          </a:p>
        </p:txBody>
      </p:sp>
      <p:sp>
        <p:nvSpPr>
          <p:cNvPr id="31" name="memory-branch">
            <a:extLst xmlns:a="http://schemas.openxmlformats.org/drawingml/2006/main">
              <a:ext uri="{FF2B5EF4-FFF2-40B4-BE49-F238E27FC236}">
                <a16:creationId xmlns:a16="http://schemas.microsoft.com/office/drawing/2014/main" id="{B8293160-4D0C-44A7-922A-0FB3B13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62450"/>
            <a:ext cx="25431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ECE8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32" name="memory-branch-label">
            <a:extLst xmlns:a="http://schemas.openxmlformats.org/drawingml/2006/main">
              <a:ext uri="{FF2B5EF4-FFF2-40B4-BE49-F238E27FC236}">
                <a16:creationId xmlns:a16="http://schemas.microsoft.com/office/drawing/2014/main" id="{1090CAEF-1D86-400D-92C0-F281C86E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0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SQLite memory</a:t>
            </a:r>
          </a:p>
        </p:txBody>
      </p:sp>
      <p:sp>
        <p:nvSpPr>
          <p:cNvPr id="33" name="memory-branch-detail">
            <a:extLst xmlns:a="http://schemas.openxmlformats.org/drawingml/2006/main">
              <a:ext uri="{FF2B5EF4-FFF2-40B4-BE49-F238E27FC236}">
                <a16:creationId xmlns:a16="http://schemas.microsoft.com/office/drawing/2014/main" id="{0E04F9A8-3271-4D27-9B50-E46ED214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6252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threads · consent · deletion</a:t>
            </a:r>
          </a:p>
        </p:txBody>
      </p:sp>
      <p:sp>
        <p:nvSpPr>
          <p:cNvPr id="34" name="boundary-public">
            <a:extLst xmlns:a="http://schemas.openxmlformats.org/drawingml/2006/main">
              <a:ext uri="{FF2B5EF4-FFF2-40B4-BE49-F238E27FC236}">
                <a16:creationId xmlns:a16="http://schemas.microsoft.com/office/drawing/2014/main" id="{B9C13C45-2D33-49E8-AD89-C83BE9A6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PUBLIC EDGE</a:t>
            </a:r>
          </a:p>
        </p:txBody>
      </p:sp>
      <p:sp>
        <p:nvSpPr>
          <p:cNvPr id="35" name="boundary-private">
            <a:extLst xmlns:a="http://schemas.openxmlformats.org/drawingml/2006/main">
              <a:ext uri="{FF2B5EF4-FFF2-40B4-BE49-F238E27FC236}">
                <a16:creationId xmlns:a16="http://schemas.microsoft.com/office/drawing/2014/main" id="{24655AF3-0D1A-4477-9FB5-6D0DB6F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81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USER-CONTROLLED RADEON ENVIRONMENT</a:t>
            </a:r>
          </a:p>
        </p:txBody>
      </p:sp>
      <p:sp>
        <p:nvSpPr>
          <p:cNvPr id="36" name="architecture-foot">
            <a:extLst xmlns:a="http://schemas.openxmlformats.org/drawingml/2006/main">
              <a:ext uri="{FF2B5EF4-FFF2-40B4-BE49-F238E27FC236}">
                <a16:creationId xmlns:a16="http://schemas.microsoft.com/office/drawing/2014/main" id="{756A855E-F025-4CE4-85F8-E3CD755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293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Only FastAPI is exposed. The model endpoint, Milvus, SQLite, uploads, and permanent key stay private.</a:t>
            </a:r>
          </a:p>
        </p:txBody>
      </p:sp>
      <p:sp>
        <p:nvSpPr>
          <p:cNvPr id="37" name="footer-3">
            <a:extLst xmlns:a="http://schemas.openxmlformats.org/drawingml/2006/main">
              <a:ext uri="{FF2B5EF4-FFF2-40B4-BE49-F238E27FC236}">
                <a16:creationId xmlns:a16="http://schemas.microsoft.com/office/drawing/2014/main" id="{9CABC56B-DD88-44B5-B70A-869A9E65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8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8EE260F1-6752-4419-B404-AD13C0EF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XIANGLENS · TRACK 2</a:t>
            </a:r>
          </a:p>
        </p:txBody>
      </p:sp>
    </p:spTree>
    <p:extLst>
      <p:ext uri="{BB962C8B-B14F-4D97-AF65-F5344CB8AC3E}">
        <p14:creationId xmlns:p14="http://schemas.microsoft.com/office/powerpoint/2010/main" val="1913766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EA988DBD-FFA8-457F-8317-75EE3EBA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64F82C-29B1-4F55-AB1A-47971EC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10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workflow proves all five Track 2 capabilities</a:t>
            </a:r>
          </a:p>
        </p:txBody>
      </p:sp>
      <p:cxnSp>
        <p:nvCxnSpPr>
          <p:cNvPr id="29" name="capability-spine"/>
          <p:cNvCxnSpPr/>
          <p:nvPr/>
        </p:nvCxnSpPr>
        <p:spPr>
          <a:xfrm xmlns:a="http://schemas.openxmlformats.org/drawingml/2006/main">
            <a:off x="742950" y="2705100"/>
            <a:ext cx="10363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8D4"/>
            </a:solidFill>
            <a:prstDash val="solid"/>
          </a:ln>
        </p:spPr>
      </p:cxnSp>
      <p:sp>
        <p:nvSpPr>
          <p:cNvPr id="4" name="cap-dot-01">
            <a:extLst xmlns:a="http://schemas.openxmlformats.org/drawingml/2006/main">
              <a:ext uri="{FF2B5EF4-FFF2-40B4-BE49-F238E27FC236}">
                <a16:creationId xmlns:a16="http://schemas.microsoft.com/office/drawing/2014/main" id="{C341628D-9698-42DD-BD77-826A969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p-num-01">
            <a:extLst xmlns:a="http://schemas.openxmlformats.org/drawingml/2006/main">
              <a:ext uri="{FF2B5EF4-FFF2-40B4-BE49-F238E27FC236}">
                <a16:creationId xmlns:a16="http://schemas.microsoft.com/office/drawing/2014/main" id="{FBFE1A51-D5ED-4BC5-A749-04E80F17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cap-title-01">
            <a:extLst xmlns:a="http://schemas.openxmlformats.org/drawingml/2006/main">
              <a:ext uri="{FF2B5EF4-FFF2-40B4-BE49-F238E27FC236}">
                <a16:creationId xmlns:a16="http://schemas.microsoft.com/office/drawing/2014/main" id="{88DBAC95-074C-43D2-A5BB-4D96AE2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7" name="cap-detail-01">
            <a:extLst xmlns:a="http://schemas.openxmlformats.org/drawingml/2006/main">
              <a:ext uri="{FF2B5EF4-FFF2-40B4-BE49-F238E27FC236}">
                <a16:creationId xmlns:a16="http://schemas.microsoft.com/office/drawing/2014/main" id="{3257229A-7D58-404B-84F1-D9DD9D23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Visible fixed plan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and bounded routing</a:t>
            </a:r>
          </a:p>
        </p:txBody>
      </p:sp>
      <p:sp>
        <p:nvSpPr>
          <p:cNvPr id="8" name="cap-dot-02">
            <a:extLst xmlns:a="http://schemas.openxmlformats.org/drawingml/2006/main">
              <a:ext uri="{FF2B5EF4-FFF2-40B4-BE49-F238E27FC236}">
                <a16:creationId xmlns:a16="http://schemas.microsoft.com/office/drawing/2014/main" id="{029B1317-72A8-41BB-AE98-43024B3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p-num-02">
            <a:extLst xmlns:a="http://schemas.openxmlformats.org/drawingml/2006/main">
              <a:ext uri="{FF2B5EF4-FFF2-40B4-BE49-F238E27FC236}">
                <a16:creationId xmlns:a16="http://schemas.microsoft.com/office/drawing/2014/main" id="{3E6968B2-B219-4328-AFC3-BE6B7FC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cap-title-02">
            <a:extLst xmlns:a="http://schemas.openxmlformats.org/drawingml/2006/main">
              <a:ext uri="{FF2B5EF4-FFF2-40B4-BE49-F238E27FC236}">
                <a16:creationId xmlns:a16="http://schemas.microsoft.com/office/drawing/2014/main" id="{7D5CA04D-0D78-462C-9E38-0C71D2F8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11" name="cap-detail-02">
            <a:extLst xmlns:a="http://schemas.openxmlformats.org/drawingml/2006/main">
              <a:ext uri="{FF2B5EF4-FFF2-40B4-BE49-F238E27FC236}">
                <a16:creationId xmlns:a16="http://schemas.microsoft.com/office/drawing/2014/main" id="{4AE13830-5B2B-490C-946D-CDD542C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147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EXIF, QR, crop,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and safe-copy export</a:t>
            </a:r>
          </a:p>
        </p:txBody>
      </p:sp>
      <p:sp>
        <p:nvSpPr>
          <p:cNvPr id="12" name="cap-dot-03">
            <a:extLst xmlns:a="http://schemas.openxmlformats.org/drawingml/2006/main">
              <a:ext uri="{FF2B5EF4-FFF2-40B4-BE49-F238E27FC236}">
                <a16:creationId xmlns:a16="http://schemas.microsoft.com/office/drawing/2014/main" id="{D4A4E60E-2209-41BB-A125-99287834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num-03">
            <a:extLst xmlns:a="http://schemas.openxmlformats.org/drawingml/2006/main">
              <a:ext uri="{FF2B5EF4-FFF2-40B4-BE49-F238E27FC236}">
                <a16:creationId xmlns:a16="http://schemas.microsoft.com/office/drawing/2014/main" id="{82833C0A-3482-4113-ADDE-B5E00402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cap-title-03">
            <a:extLst xmlns:a="http://schemas.openxmlformats.org/drawingml/2006/main">
              <a:ext uri="{FF2B5EF4-FFF2-40B4-BE49-F238E27FC236}">
                <a16:creationId xmlns:a16="http://schemas.microsoft.com/office/drawing/2014/main" id="{F83A805C-8CB3-4D42-8F59-78B5F0F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RAG</a:t>
            </a:r>
          </a:p>
        </p:txBody>
      </p:sp>
      <p:sp>
        <p:nvSpPr>
          <p:cNvPr id="15" name="cap-detail-03">
            <a:extLst xmlns:a="http://schemas.openxmlformats.org/drawingml/2006/main">
              <a:ext uri="{FF2B5EF4-FFF2-40B4-BE49-F238E27FC236}">
                <a16:creationId xmlns:a16="http://schemas.microsoft.com/office/drawing/2014/main" id="{9BC861B9-038F-4415-8100-5C6E0798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Milvus Lite Top-K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with visible sources</a:t>
            </a:r>
          </a:p>
        </p:txBody>
      </p:sp>
      <p:sp>
        <p:nvSpPr>
          <p:cNvPr id="16" name="cap-dot-04">
            <a:extLst xmlns:a="http://schemas.openxmlformats.org/drawingml/2006/main">
              <a:ext uri="{FF2B5EF4-FFF2-40B4-BE49-F238E27FC236}">
                <a16:creationId xmlns:a16="http://schemas.microsoft.com/office/drawing/2014/main" id="{47C2ABA3-7455-40B9-B84F-8D471C68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-num-04">
            <a:extLst xmlns:a="http://schemas.openxmlformats.org/drawingml/2006/main">
              <a:ext uri="{FF2B5EF4-FFF2-40B4-BE49-F238E27FC236}">
                <a16:creationId xmlns:a16="http://schemas.microsoft.com/office/drawing/2014/main" id="{A04BAFF0-C293-47CA-A709-E821EB72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cap-title-04">
            <a:extLst xmlns:a="http://schemas.openxmlformats.org/drawingml/2006/main">
              <a:ext uri="{FF2B5EF4-FFF2-40B4-BE49-F238E27FC236}">
                <a16:creationId xmlns:a16="http://schemas.microsoft.com/office/drawing/2014/main" id="{6B877305-B68A-4D1C-8124-589F4205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337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19" name="cap-detail-04">
            <a:extLst xmlns:a="http://schemas.openxmlformats.org/drawingml/2006/main">
              <a:ext uri="{FF2B5EF4-FFF2-40B4-BE49-F238E27FC236}">
                <a16:creationId xmlns:a16="http://schemas.microsoft.com/office/drawing/2014/main" id="{40F3DB40-4753-46DC-B821-7FAF73A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147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Cross-thread recall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after explicit approval</a:t>
            </a:r>
          </a:p>
        </p:txBody>
      </p:sp>
      <p:sp>
        <p:nvSpPr>
          <p:cNvPr id="20" name="cap-dot-05">
            <a:extLst xmlns:a="http://schemas.openxmlformats.org/drawingml/2006/main">
              <a:ext uri="{FF2B5EF4-FFF2-40B4-BE49-F238E27FC236}">
                <a16:creationId xmlns:a16="http://schemas.microsoft.com/office/drawing/2014/main" id="{7D7D6F94-282C-4E21-A423-9575AEAC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p-num-05">
            <a:extLst xmlns:a="http://schemas.openxmlformats.org/drawingml/2006/main">
              <a:ext uri="{FF2B5EF4-FFF2-40B4-BE49-F238E27FC236}">
                <a16:creationId xmlns:a16="http://schemas.microsoft.com/office/drawing/2014/main" id="{1F74BBFB-5633-4840-A143-F15BB61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90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cap-title-05">
            <a:extLst xmlns:a="http://schemas.openxmlformats.org/drawingml/2006/main">
              <a:ext uri="{FF2B5EF4-FFF2-40B4-BE49-F238E27FC236}">
                <a16:creationId xmlns:a16="http://schemas.microsoft.com/office/drawing/2014/main" id="{3DA43097-936F-4CAE-9EAB-03397C04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37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Permission</a:t>
            </a:r>
          </a:p>
        </p:txBody>
      </p:sp>
      <p:sp>
        <p:nvSpPr>
          <p:cNvPr id="23" name="cap-detail-05">
            <a:extLst xmlns:a="http://schemas.openxmlformats.org/drawingml/2006/main">
              <a:ext uri="{FF2B5EF4-FFF2-40B4-BE49-F238E27FC236}">
                <a16:creationId xmlns:a16="http://schemas.microsoft.com/office/drawing/2014/main" id="{152B597A-B654-48C2-B955-CFF9E96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1477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Policy gate, short token,</a:t>
            </a:r>
          </a:p>
          <a:p xmlns:a="http://schemas.openxmlformats.org/drawingml/2006/main">
            <a:pPr algn="ctr">
              <a:def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and Forget Me</a:t>
            </a:r>
          </a:p>
        </p:txBody>
      </p:sp>
      <p:sp>
        <p:nvSpPr>
          <p:cNvPr id="24" name="capability-path">
            <a:extLst xmlns:a="http://schemas.openxmlformats.org/drawingml/2006/main">
              <a:ext uri="{FF2B5EF4-FFF2-40B4-BE49-F238E27FC236}">
                <a16:creationId xmlns:a16="http://schemas.microsoft.com/office/drawing/2014/main" id="{21B9E15A-FC81-413E-A029-FEE40B9E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43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Policy → recall → local inspection → visual observation → evidence retrieval → comparison → consent → cited report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C156C307-17E0-4259-97A0-93AD6641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AE246C44-3C48-4411-8B29-BC6C482E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XIANGLENS · TRACK 2</a:t>
            </a:r>
          </a:p>
        </p:txBody>
      </p:sp>
    </p:spTree>
    <p:extLst>
      <p:ext uri="{BB962C8B-B14F-4D97-AF65-F5344CB8AC3E}">
        <p14:creationId xmlns:p14="http://schemas.microsoft.com/office/powerpoint/2010/main" val="153658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C9D278D8-F0E2-4C2E-B17F-B7768C8C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9874A-199C-4E54-8E4D-78A6D594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10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Core multimodal inference stays on the Radeon host</a:t>
            </a:r>
          </a:p>
        </p:txBody>
      </p:sp>
      <p:sp>
        <p:nvSpPr>
          <p:cNvPr id="3" name="runtime-lead">
            <a:extLst xmlns:a="http://schemas.openxmlformats.org/drawingml/2006/main">
              <a:ext uri="{FF2B5EF4-FFF2-40B4-BE49-F238E27FC236}">
                <a16:creationId xmlns:a16="http://schemas.microsoft.com/office/drawing/2014/main" id="{DBC15208-3126-4B80-BC34-E75A440C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public interface is intentionally thin. The private execution boundary contains every stateful and inference-critical component.</a:t>
            </a:r>
          </a:p>
        </p:txBody>
      </p:sp>
      <p:sp>
        <p:nvSpPr>
          <p:cNvPr id="4" name="public-zone">
            <a:extLst xmlns:a="http://schemas.openxmlformats.org/drawingml/2006/main">
              <a:ext uri="{FF2B5EF4-FFF2-40B4-BE49-F238E27FC236}">
                <a16:creationId xmlns:a16="http://schemas.microsoft.com/office/drawing/2014/main" id="{1A478917-1A9C-4E45-B637-46CB167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576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8D4"/>
            </a:solidFill>
            <a:prstDash val="solid"/>
          </a:ln>
        </p:spPr>
      </p:sp>
      <p:sp>
        <p:nvSpPr>
          <p:cNvPr id="5" name="public-heading">
            <a:extLst xmlns:a="http://schemas.openxmlformats.org/drawingml/2006/main">
              <a:ext uri="{FF2B5EF4-FFF2-40B4-BE49-F238E27FC236}">
                <a16:creationId xmlns:a16="http://schemas.microsoft.com/office/drawing/2014/main" id="{AF08E265-1910-42EF-A7A5-D13BC89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PUBLIC SURFACE</a:t>
            </a:r>
          </a:p>
        </p:txBody>
      </p:sp>
      <p:sp>
        <p:nvSpPr>
          <p:cNvPr id="6" name="public-body">
            <a:extLst xmlns:a="http://schemas.openxmlformats.org/drawingml/2006/main">
              <a:ext uri="{FF2B5EF4-FFF2-40B4-BE49-F238E27FC236}">
                <a16:creationId xmlns:a16="http://schemas.microsoft.com/office/drawing/2014/main" id="{292DFD41-6FB4-4393-A845-077AB7D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486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GitHub Pages static UI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Short-lived Bearer session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FastAPI HTTPS endpoint</a:t>
            </a:r>
          </a:p>
        </p:txBody>
      </p:sp>
      <p:sp>
        <p:nvSpPr>
          <p:cNvPr id="7" name="private-zone">
            <a:extLst xmlns:a="http://schemas.openxmlformats.org/drawingml/2006/main">
              <a:ext uri="{FF2B5EF4-FFF2-40B4-BE49-F238E27FC236}">
                <a16:creationId xmlns:a16="http://schemas.microsoft.com/office/drawing/2014/main" id="{61D1CFE6-EFBD-433E-86F2-B3FBF3D2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69723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9E3E4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8" name="private-heading">
            <a:extLst xmlns:a="http://schemas.openxmlformats.org/drawingml/2006/main">
              <a:ext uri="{FF2B5EF4-FFF2-40B4-BE49-F238E27FC236}">
                <a16:creationId xmlns:a16="http://schemas.microsoft.com/office/drawing/2014/main" id="{A72C7570-083A-4BE0-8059-D742EEBB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PRIVATE RADEON + ROCm SURFACE</a:t>
            </a:r>
          </a:p>
        </p:txBody>
      </p:sp>
      <p:sp>
        <p:nvSpPr>
          <p:cNvPr id="9" name="private-model">
            <a:extLst xmlns:a="http://schemas.openxmlformats.org/drawingml/2006/main">
              <a:ext uri="{FF2B5EF4-FFF2-40B4-BE49-F238E27FC236}">
                <a16:creationId xmlns:a16="http://schemas.microsoft.com/office/drawing/2014/main" id="{F42B5E81-0130-46A4-85B9-CB5EDDA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908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Qwen3.6 35B-A3B Fable 5 Distill · Q6_K GGUF</a:t>
            </a:r>
          </a:p>
        </p:txBody>
      </p:sp>
      <p:sp>
        <p:nvSpPr>
          <p:cNvPr id="10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731A2072-90E2-4C23-B00C-A481A22D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619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llama.cpp / llama-server on 127.0.0.1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LangGraph + deterministic image tools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Milvus Lite + SQLite + controlled uploads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Permanent application key never enters JavaScript</a:t>
            </a:r>
          </a:p>
        </p:txBody>
      </p:sp>
      <p:sp>
        <p:nvSpPr>
          <p:cNvPr id="11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8CA59DE4-FC95-488C-989B-48C14E89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340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Demo proof: rocm-smi + /v1/models + XiangLens system status</a:t>
            </a:r>
          </a:p>
        </p:txBody>
      </p:sp>
      <p:sp>
        <p:nvSpPr>
          <p:cNvPr id="12" name="footer-5">
            <a:extLst xmlns:a="http://schemas.openxmlformats.org/drawingml/2006/main">
              <a:ext uri="{FF2B5EF4-FFF2-40B4-BE49-F238E27FC236}">
                <a16:creationId xmlns:a16="http://schemas.microsoft.com/office/drawing/2014/main" id="{6C30101A-7BA6-4B01-928C-5149238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3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F5BD5D1-B3F2-4250-AF4F-1E67FCD6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XIANGLENS · TRACK 2</a:t>
            </a:r>
          </a:p>
        </p:txBody>
      </p:sp>
    </p:spTree>
    <p:extLst>
      <p:ext uri="{BB962C8B-B14F-4D97-AF65-F5344CB8AC3E}">
        <p14:creationId xmlns:p14="http://schemas.microsoft.com/office/powerpoint/2010/main" val="1686765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1DA0C25-AA77-4C79-AA4A-252A23B3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A3FFFC-51AF-46E2-B08C-9035FB5B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10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Optimization is designed into the workload—not added after it</a:t>
            </a:r>
          </a:p>
        </p:txBody>
      </p:sp>
      <p:sp>
        <p:nvSpPr>
          <p:cNvPr id="3" name="optimization-claim">
            <a:extLst xmlns:a="http://schemas.openxmlformats.org/drawingml/2006/main">
              <a:ext uri="{FF2B5EF4-FFF2-40B4-BE49-F238E27FC236}">
                <a16:creationId xmlns:a16="http://schemas.microsoft.com/office/drawing/2014/main" id="{DB8A0D3A-BD50-4E49-ACB1-17614AA1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476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Batch-size-1 responsiveness is improved at three layers.</a:t>
            </a:r>
          </a:p>
        </p:txBody>
      </p:sp>
      <p:sp>
        <p:nvSpPr>
          <p:cNvPr id="4" name="optimization-context">
            <a:extLst xmlns:a="http://schemas.openxmlformats.org/drawingml/2006/main">
              <a:ext uri="{FF2B5EF4-FFF2-40B4-BE49-F238E27FC236}">
                <a16:creationId xmlns:a16="http://schemas.microsoft.com/office/drawing/2014/main" id="{68A3A0F6-6AC0-4D3E-80CF-DE470AC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476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Every final comparison uses the same image, prompt, quantization, cache, reasoning budget, warmup policy, and server command.</a:t>
            </a:r>
          </a:p>
        </p:txBody>
      </p:sp>
      <p:sp>
        <p:nvSpPr>
          <p:cNvPr id="5" name="optimization-no-fake">
            <a:extLst xmlns:a="http://schemas.openxmlformats.org/drawingml/2006/main">
              <a:ext uri="{FF2B5EF4-FFF2-40B4-BE49-F238E27FC236}">
                <a16:creationId xmlns:a16="http://schemas.microsoft.com/office/drawing/2014/main" id="{B5302E30-30AA-4205-BD89-1FF9B13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No unsupported FP8 claim.</a:t>
            </a:r>
          </a:p>
          <a:p xmlns:a="http://schemas.openxmlformats.org/drawingml/2006/main">
            <a:pPr algn="l">
              <a:defRPr sz="142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No fabricated benchmark number.</a:t>
            </a:r>
          </a:p>
        </p:txBody>
      </p:sp>
      <p:sp>
        <p:nvSpPr>
          <p:cNvPr id="6" name="opt-label-0">
            <a:extLst xmlns:a="http://schemas.openxmlformats.org/drawingml/2006/main">
              <a:ext uri="{FF2B5EF4-FFF2-40B4-BE49-F238E27FC236}">
                <a16:creationId xmlns:a16="http://schemas.microsoft.com/office/drawing/2014/main" id="{7EB22100-C6A3-49C2-A291-5D1F427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7" name="opt-body-0">
            <a:extLst xmlns:a="http://schemas.openxmlformats.org/drawingml/2006/main">
              <a:ext uri="{FF2B5EF4-FFF2-40B4-BE49-F238E27FC236}">
                <a16:creationId xmlns:a16="http://schemas.microsoft.com/office/drawing/2014/main" id="{C233F445-4F10-40D4-AA60-378995F5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Q6_K GGUF · full GPU offload · flash attention · Q8_0 KV cache</a:t>
            </a:r>
          </a:p>
        </p:txBody>
      </p:sp>
      <p:cxnSp>
        <p:nvCxnSpPr>
          <p:cNvPr id="28" name="opt-rule-0"/>
          <p:cNvCxnSpPr/>
          <p:nvPr/>
        </p:nvCxnSpPr>
        <p:spPr>
          <a:xfrm xmlns:a="http://schemas.openxmlformats.org/drawingml/2006/main">
            <a:off x="4648200" y="2590800"/>
            <a:ext cx="714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8D4"/>
            </a:solidFill>
            <a:prstDash val="solid"/>
          </a:ln>
        </p:spPr>
      </p:cxnSp>
      <p:sp>
        <p:nvSpPr>
          <p:cNvPr id="9" name="opt-label-1">
            <a:extLst xmlns:a="http://schemas.openxmlformats.org/drawingml/2006/main">
              <a:ext uri="{FF2B5EF4-FFF2-40B4-BE49-F238E27FC236}">
                <a16:creationId xmlns:a16="http://schemas.microsoft.com/office/drawing/2014/main" id="{950EFE2A-23F1-4134-9C02-930D935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PROMPT</a:t>
            </a:r>
          </a:p>
        </p:txBody>
      </p:sp>
      <p:sp>
        <p:nvSpPr>
          <p:cNvPr id="10" name="opt-body-1">
            <a:extLst xmlns:a="http://schemas.openxmlformats.org/drawingml/2006/main">
              <a:ext uri="{FF2B5EF4-FFF2-40B4-BE49-F238E27FC236}">
                <a16:creationId xmlns:a16="http://schemas.microsoft.com/office/drawing/2014/main" id="{73BC37E8-AA49-41A3-A328-25E30468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Top-K RAG injects four cards instead of the full corpus</a:t>
            </a:r>
          </a:p>
        </p:txBody>
      </p:sp>
      <p:cxnSp>
        <p:nvCxnSpPr>
          <p:cNvPr id="31" name="opt-rule-1"/>
          <p:cNvCxnSpPr/>
          <p:nvPr/>
        </p:nvCxnSpPr>
        <p:spPr>
          <a:xfrm xmlns:a="http://schemas.openxmlformats.org/drawingml/2006/main">
            <a:off x="4648200" y="3505200"/>
            <a:ext cx="714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8D4"/>
            </a:solidFill>
            <a:prstDash val="solid"/>
          </a:ln>
        </p:spPr>
      </p:cxnSp>
      <p:sp>
        <p:nvSpPr>
          <p:cNvPr id="12" name="opt-label-2">
            <a:extLst xmlns:a="http://schemas.openxmlformats.org/drawingml/2006/main">
              <a:ext uri="{FF2B5EF4-FFF2-40B4-BE49-F238E27FC236}">
                <a16:creationId xmlns:a16="http://schemas.microsoft.com/office/drawing/2014/main" id="{D0069899-4FA5-4181-80FC-F3FF7E3F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719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</p:txBody>
      </p:sp>
      <p:sp>
        <p:nvSpPr>
          <p:cNvPr id="13" name="opt-body-2">
            <a:extLst xmlns:a="http://schemas.openxmlformats.org/drawingml/2006/main">
              <a:ext uri="{FF2B5EF4-FFF2-40B4-BE49-F238E27FC236}">
                <a16:creationId xmlns:a16="http://schemas.microsoft.com/office/drawing/2014/main" id="{BA238C3C-643E-40F3-BD1A-6956D180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Deterministic EXIF, QR, crop, and size tools run before the VLM</a:t>
            </a:r>
          </a:p>
        </p:txBody>
      </p:sp>
      <p:cxnSp>
        <p:nvCxnSpPr>
          <p:cNvPr id="34" name="opt-rule-2"/>
          <p:cNvCxnSpPr/>
          <p:nvPr/>
        </p:nvCxnSpPr>
        <p:spPr>
          <a:xfrm xmlns:a="http://schemas.openxmlformats.org/drawingml/2006/main">
            <a:off x="4648200" y="4419600"/>
            <a:ext cx="714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8D4"/>
            </a:solidFill>
            <a:prstDash val="solid"/>
          </a:ln>
        </p:spPr>
      </p:cxnSp>
      <p:sp>
        <p:nvSpPr>
          <p:cNvPr id="15" name="opt-label-3">
            <a:extLst xmlns:a="http://schemas.openxmlformats.org/drawingml/2006/main">
              <a:ext uri="{FF2B5EF4-FFF2-40B4-BE49-F238E27FC236}">
                <a16:creationId xmlns:a16="http://schemas.microsoft.com/office/drawing/2014/main" id="{AA0A60DF-A693-4D0C-B254-0D0808D8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863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6" name="opt-body-3">
            <a:extLst xmlns:a="http://schemas.openxmlformats.org/drawingml/2006/main">
              <a:ext uri="{FF2B5EF4-FFF2-40B4-BE49-F238E27FC236}">
                <a16:creationId xmlns:a16="http://schemas.microsoft.com/office/drawing/2014/main" id="{9692AA01-F4DE-45CE-AD36-9219077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Bounded schemas, separated thinking headroom, one targeted repair</a:t>
            </a:r>
          </a:p>
        </p:txBody>
      </p:sp>
      <p:sp>
        <p:nvSpPr>
          <p:cNvPr id="17" name="metrics-label">
            <a:extLst xmlns:a="http://schemas.openxmlformats.org/drawingml/2006/main">
              <a:ext uri="{FF2B5EF4-FFF2-40B4-BE49-F238E27FC236}">
                <a16:creationId xmlns:a16="http://schemas.microsoft.com/office/drawing/2014/main" id="{14175766-70C1-4DE8-B0A1-B934907B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57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REPRODUCIBLE RUNNER CAPTURES</a:t>
            </a:r>
          </a:p>
        </p:txBody>
      </p:sp>
      <p:sp>
        <p:nvSpPr>
          <p:cNvPr id="18" name="metrics">
            <a:extLst xmlns:a="http://schemas.openxmlformats.org/drawingml/2006/main">
              <a:ext uri="{FF2B5EF4-FFF2-40B4-BE49-F238E27FC236}">
                <a16:creationId xmlns:a16="http://schemas.microsoft.com/office/drawing/2014/main" id="{56875A0E-2929-490F-B5E9-3123B533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197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streaming TTFT · final-content TTFT · decode tok/s · end-to-end latency · JSON success</a:t>
            </a:r>
          </a:p>
        </p:txBody>
      </p:sp>
      <p:sp>
        <p:nvSpPr>
          <p:cNvPr id="19" name="footer-6">
            <a:extLst xmlns:a="http://schemas.openxmlformats.org/drawingml/2006/main">
              <a:ext uri="{FF2B5EF4-FFF2-40B4-BE49-F238E27FC236}">
                <a16:creationId xmlns:a16="http://schemas.microsoft.com/office/drawing/2014/main" id="{D11B4F3C-855F-4BBB-91D5-FE6A6088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0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89B01805-325F-490F-9010-1FDC49C0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XIANGLENS · TRACK 2</a:t>
            </a:r>
          </a:p>
        </p:txBody>
      </p:sp>
    </p:spTree>
    <p:extLst>
      <p:ext uri="{BB962C8B-B14F-4D97-AF65-F5344CB8AC3E}">
        <p14:creationId xmlns:p14="http://schemas.microsoft.com/office/powerpoint/2010/main" val="1953028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accent">
            <a:extLst xmlns:a="http://schemas.openxmlformats.org/drawingml/2006/main">
              <a:ext uri="{FF2B5EF4-FFF2-40B4-BE49-F238E27FC236}">
                <a16:creationId xmlns:a16="http://schemas.microsoft.com/office/drawing/2014/main" id="{6DB7F380-4E47-4815-852A-5CF4F91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71AACA-7F2E-4F90-AEF9-77F74C4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"/>
            <a:ext cx="11410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6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Consent and evidence keep every recommendation accountable</a:t>
            </a:r>
          </a:p>
        </p:txBody>
      </p:sp>
      <p:sp>
        <p:nvSpPr>
          <p:cNvPr id="3" name="trust-lead">
            <a:extLst xmlns:a="http://schemas.openxmlformats.org/drawingml/2006/main">
              <a:ext uri="{FF2B5EF4-FFF2-40B4-BE49-F238E27FC236}">
                <a16:creationId xmlns:a16="http://schemas.microsoft.com/office/drawing/2014/main" id="{16A84FEE-0C90-4563-82C0-AE11D627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XiangLens reviews communication choices. It does not decide who a person is.</a:t>
            </a:r>
          </a:p>
        </p:txBody>
      </p:sp>
      <p:sp>
        <p:nvSpPr>
          <p:cNvPr id="4" name="trust-body">
            <a:extLst xmlns:a="http://schemas.openxmlformats.org/drawingml/2006/main">
              <a:ext uri="{FF2B5EF4-FFF2-40B4-BE49-F238E27FC236}">
                <a16:creationId xmlns:a16="http://schemas.microsoft.com/office/drawing/2014/main" id="{E75C68EF-47D6-4F0E-A145-5307006A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5334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Policy gate</a:t>
            </a:r>
          </a:p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Blocks identity, personality, employability, health, wealth, protected-attribute, and destiny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Cited context</a:t>
            </a:r>
          </a:p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Cultural associations remain bounded, source-backed, and explicitly ambiguous.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Consent-first memory</a:t>
            </a:r>
          </a:p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The model drafts; only the user approves. One memory—or all private state—can be deleted.</a:t>
            </a:r>
          </a:p>
        </p:txBody>
      </p:sp>
      <p:sp>
        <p:nvSpPr>
          <p:cNvPr id="5" name="lotus-field">
            <a:extLst xmlns:a="http://schemas.openxmlformats.org/drawingml/2006/main">
              <a:ext uri="{FF2B5EF4-FFF2-40B4-BE49-F238E27FC236}">
                <a16:creationId xmlns:a16="http://schemas.microsoft.com/office/drawing/2014/main" id="{2A48B215-F4C2-4058-8293-F68897D0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55626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b0446ca05407b"/>
          <a:srcRect xmlns:a="http://schemas.openxmlformats.org/drawingml/2006/main" l="0" t="17748" r="0" b="17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1752600"/>
            <a:ext cx="499110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7" name="lotus-caption">
            <a:extLst xmlns:a="http://schemas.openxmlformats.org/drawingml/2006/main">
              <a:ext uri="{FF2B5EF4-FFF2-40B4-BE49-F238E27FC236}">
                <a16:creationId xmlns:a16="http://schemas.microsoft.com/office/drawing/2014/main" id="{FF59DD8C-00ED-45DB-B845-2FA6AEE1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006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 CHINESE SYMBOLISM LENS PACK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Documented association ≠ universal meaning</a:t>
            </a:r>
          </a:p>
        </p:txBody>
      </p:sp>
      <p:sp>
        <p:nvSpPr>
          <p:cNvPr id="8" name="footer-7">
            <a:extLst xmlns:a="http://schemas.openxmlformats.org/drawingml/2006/main">
              <a:ext uri="{FF2B5EF4-FFF2-40B4-BE49-F238E27FC236}">
                <a16:creationId xmlns:a16="http://schemas.microsoft.com/office/drawing/2014/main" id="{10814770-D93F-4044-B7E5-13C2A535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0D1CD2CC-2B96-494A-9F2D-D8983F27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XIANGLENS · TRACK 2</a:t>
            </a:r>
          </a:p>
        </p:txBody>
      </p:sp>
    </p:spTree>
    <p:extLst>
      <p:ext uri="{BB962C8B-B14F-4D97-AF65-F5344CB8AC3E}">
        <p14:creationId xmlns:p14="http://schemas.microsoft.com/office/powerpoint/2010/main" val="582508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red-field">
            <a:extLst xmlns:a="http://schemas.openxmlformats.org/drawingml/2006/main">
              <a:ext uri="{FF2B5EF4-FFF2-40B4-BE49-F238E27FC236}">
                <a16:creationId xmlns:a16="http://schemas.microsoft.com/office/drawing/2014/main" id="{6C9741E8-F73B-4EA0-B4EA-A669A42E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59AB3C1-8640-4AFD-B14D-E51DE91E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THE JUDGE CAN VERIFY THE WHOLE STORY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9824E5B-B1D2-4F29-8DF6-817F484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722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Ready to verify,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end to end</a:t>
            </a:r>
          </a:p>
        </p:txBody>
      </p:sp>
      <p:sp>
        <p:nvSpPr>
          <p:cNvPr id="4" name="close-proof">
            <a:extLst xmlns:a="http://schemas.openxmlformats.org/drawingml/2006/main">
              <a:ext uri="{FF2B5EF4-FFF2-40B4-BE49-F238E27FC236}">
                <a16:creationId xmlns:a16="http://schemas.microsoft.com/office/drawing/2014/main" id="{B912E2BF-7ACD-4280-826A-728BF24F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52625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120 deterministic image fixtures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 inspectable knowledge cards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 retrieval smoke queries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4:30 live Radeon demo</a:t>
            </a:r>
          </a:p>
        </p:txBody>
      </p:sp>
      <p:sp>
        <p:nvSpPr>
          <p:cNvPr id="5" name="close-flow">
            <a:extLst xmlns:a="http://schemas.openxmlformats.org/drawingml/2006/main">
              <a:ext uri="{FF2B5EF4-FFF2-40B4-BE49-F238E27FC236}">
                <a16:creationId xmlns:a16="http://schemas.microsoft.com/office/drawing/2014/main" id="{7093E3AC-9112-4317-86A5-370FC184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Upload → inspect → observe → retrieve → compare → consent → report</a:t>
            </a:r>
          </a:p>
        </p:txBody>
      </p:sp>
      <p:sp>
        <p:nvSpPr>
          <p:cNvPr id="6" name="close-repo">
            <a:extLst xmlns:a="http://schemas.openxmlformats.org/drawingml/2006/main">
              <a:ext uri="{FF2B5EF4-FFF2-40B4-BE49-F238E27FC236}">
                <a16:creationId xmlns:a16="http://schemas.microsoft.com/office/drawing/2014/main" id="{56AA1553-8CE1-4967-BE4C-DD17081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github.com/ld0574/Radeon-hackathon-2026-07</a:t>
            </a:r>
          </a:p>
          <a:p xmlns:a="http://schemas.openxmlformats.org/drawingml/2006/main">
            <a:pPr algn="l">
              <a:defRPr sz="15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51B23"/>
                </a:solidFill>
                <a:latin typeface="Helvetica Neue"/>
                <a:ea typeface="Helvetica Neue"/>
                <a:cs typeface="Helvetica Neue"/>
              </a:rPr>
              <a:t>Reproduce: docs/REPRODUCE.md</a:t>
            </a:r>
          </a:p>
        </p:txBody>
      </p:sp>
      <p:sp>
        <p:nvSpPr>
          <p:cNvPr id="7" name="close-values">
            <a:extLst xmlns:a="http://schemas.openxmlformats.org/drawingml/2006/main">
              <a:ext uri="{FF2B5EF4-FFF2-40B4-BE49-F238E27FC236}">
                <a16:creationId xmlns:a16="http://schemas.microsoft.com/office/drawing/2014/main" id="{980F4A9A-5994-4209-80A8-4A1C339E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67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PRIVATE · EVIDENCE-BACKED · USER-CONTROLLED</a:t>
            </a:r>
          </a:p>
        </p:txBody>
      </p:sp>
    </p:spTree>
    <p:extLst>
      <p:ext uri="{BB962C8B-B14F-4D97-AF65-F5344CB8AC3E}">
        <p14:creationId xmlns:p14="http://schemas.microsoft.com/office/powerpoint/2010/main" val="817482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2026-08-04T15:04:44.6410000Z</dcterms:created>
  <dcterms:modified xsi:type="dcterms:W3CDTF">2026-08-04T15:04:44.6410000Z</dcterms:modified>
</coreProperties>
</file>