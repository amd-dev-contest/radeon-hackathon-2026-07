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c40bdb70dc44cd" /><Relationship Type="http://schemas.openxmlformats.org/officeDocument/2006/relationships/extended-properties" Target="/docProps/app.xml" Id="Rf513b35cfca14ad3" /><Relationship Type="http://schemas.openxmlformats.org/officeDocument/2006/relationships/officeDocument" Target="/ppt/presentation.xml" Id="R502c75f27fe84c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60455625ea4afa"/>
  </p:sldMasterIdLst>
  <p:notesMasterIdLst>
    <p:notesMasterId xmlns:r="http://schemas.openxmlformats.org/officeDocument/2006/relationships" r:id="R76b9fd8818fa40ae"/>
  </p:notesMasterIdLst>
  <p:sldIdLst>
    <p:sldId xmlns:r="http://schemas.openxmlformats.org/officeDocument/2006/relationships" id="256" r:id="R8d1e99bfcdb34d34"/>
    <p:sldId xmlns:r="http://schemas.openxmlformats.org/officeDocument/2006/relationships" id="257" r:id="R1b007f0788c1421e"/>
    <p:sldId xmlns:r="http://schemas.openxmlformats.org/officeDocument/2006/relationships" id="258" r:id="Rbfaf8edce76f4a17"/>
    <p:sldId xmlns:r="http://schemas.openxmlformats.org/officeDocument/2006/relationships" id="259" r:id="R97c887109006452f"/>
    <p:sldId xmlns:r="http://schemas.openxmlformats.org/officeDocument/2006/relationships" id="260" r:id="Rde284b29f9324d84"/>
    <p:sldId xmlns:r="http://schemas.openxmlformats.org/officeDocument/2006/relationships" id="261" r:id="R3a75f041ac2f49b3"/>
    <p:sldId xmlns:r="http://schemas.openxmlformats.org/officeDocument/2006/relationships" id="262" r:id="Rc0321bbbfefd4030"/>
    <p:sldId xmlns:r="http://schemas.openxmlformats.org/officeDocument/2006/relationships" id="263" r:id="Ra2b025d2f6a64344"/>
    <p:sldId xmlns:r="http://schemas.openxmlformats.org/officeDocument/2006/relationships" id="264" r:id="Rade6aebafc5246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d17fcf42cc44eab" /><Relationship Type="http://schemas.openxmlformats.org/officeDocument/2006/relationships/slideMaster" Target="/ppt/slideMasters/slideMaster1.xml" Id="Re960455625ea4afa" /><Relationship Type="http://schemas.openxmlformats.org/officeDocument/2006/relationships/notesMaster" Target="/ppt/notesMasters/notesMaster1.xml" Id="R76b9fd8818fa40ae" /><Relationship Type="http://schemas.openxmlformats.org/officeDocument/2006/relationships/presProps" Target="/ppt/presProps.xml" Id="R582ba6fe3caf4571" /><Relationship Type="http://schemas.openxmlformats.org/officeDocument/2006/relationships/tableStyles" Target="/ppt/tableStyles.xml" Id="R2a34ef625fa64990" /><Relationship Type="http://schemas.openxmlformats.org/officeDocument/2006/relationships/slide" Target="/ppt/slides/slide1.xml" Id="R8d1e99bfcdb34d34" /><Relationship Type="http://schemas.openxmlformats.org/officeDocument/2006/relationships/slide" Target="/ppt/slides/slide2.xml" Id="R1b007f0788c1421e" /><Relationship Type="http://schemas.openxmlformats.org/officeDocument/2006/relationships/slide" Target="/ppt/slides/slide3.xml" Id="Rbfaf8edce76f4a17" /><Relationship Type="http://schemas.openxmlformats.org/officeDocument/2006/relationships/slide" Target="/ppt/slides/slide4.xml" Id="R97c887109006452f" /><Relationship Type="http://schemas.openxmlformats.org/officeDocument/2006/relationships/slide" Target="/ppt/slides/slide5.xml" Id="Rde284b29f9324d84" /><Relationship Type="http://schemas.openxmlformats.org/officeDocument/2006/relationships/slide" Target="/ppt/slides/slide6.xml" Id="R3a75f041ac2f49b3" /><Relationship Type="http://schemas.openxmlformats.org/officeDocument/2006/relationships/slide" Target="/ppt/slides/slide7.xml" Id="Rc0321bbbfefd4030" /><Relationship Type="http://schemas.openxmlformats.org/officeDocument/2006/relationships/slide" Target="/ppt/slides/slide8.xml" Id="Ra2b025d2f6a64344" /><Relationship Type="http://schemas.openxmlformats.org/officeDocument/2006/relationships/slide" Target="/ppt/slides/slide9.xml" Id="Rade6aebafc5246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59c32d27aa4c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f84b9277824053" /><Relationship Type="http://schemas.openxmlformats.org/officeDocument/2006/relationships/notesMaster" Target="/ppt/notesMasters/notesMaster1.xml" Id="Rf3032f8335c74d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3bcbcd19fd04896" /><Relationship Type="http://schemas.openxmlformats.org/officeDocument/2006/relationships/notesMaster" Target="/ppt/notesMasters/notesMaster1.xml" Id="Rb391426976944d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fb9d00191149ad" /><Relationship Type="http://schemas.openxmlformats.org/officeDocument/2006/relationships/notesMaster" Target="/ppt/notesMasters/notesMaster1.xml" Id="R334bf25155d243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7e701c93ed45f4" /><Relationship Type="http://schemas.openxmlformats.org/officeDocument/2006/relationships/notesMaster" Target="/ppt/notesMasters/notesMaster1.xml" Id="R7c4be15e9aa04a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c816e573454e79" /><Relationship Type="http://schemas.openxmlformats.org/officeDocument/2006/relationships/notesMaster" Target="/ppt/notesMasters/notesMaster1.xml" Id="R28e4d1c8613c4a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ef5c109caa40e5" /><Relationship Type="http://schemas.openxmlformats.org/officeDocument/2006/relationships/notesMaster" Target="/ppt/notesMasters/notesMaster1.xml" Id="R5f2dff22e5b5421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a218ac033d4eaa" /><Relationship Type="http://schemas.openxmlformats.org/officeDocument/2006/relationships/notesMaster" Target="/ppt/notesMasters/notesMaster1.xml" Id="R92ea252b1d414a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c6e6826e7d4159" /><Relationship Type="http://schemas.openxmlformats.org/officeDocument/2006/relationships/notesMaster" Target="/ppt/notesMasters/notesMaster1.xml" Id="Ref51293458354c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c8e1dfa7fe84f54" /><Relationship Type="http://schemas.openxmlformats.org/officeDocument/2006/relationships/notesMaster" Target="/ppt/notesMasters/notesMaster1.xml" Id="R4e624d2e72ec49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product brief: docs/SUBMISSION_BRIEF.md</a:t>
            </a:r>
          </a:p>
          <a:p xmlns:a="http://schemas.openxmlformats.org/drawingml/2006/main">
            <a:r>
              <a:t>- Track 2 requirements: Radeon-Cloud-User Guide/2026 AMD AI DevMaster 黑客松赛事说明.md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Scenario and safety boundaries: docs/SUBMISSION_BRIEF.md</a:t>
            </a:r>
          </a:p>
          <a:p xmlns:a="http://schemas.openxmlformats.org/drawingml/2006/main">
            <a:r>
              <a:t>- Portrait fixture: https://commons.wikimedia.org/wiki/File:Wikimedia_Summit_2019_-_Portrait_Abbad_Diraneyya.jpg (Aida Kadrispahic for Wikimedia Deutschland e.V., CC BY-SA 4.0)</a:t>
            </a:r>
          </a:p>
          <a:p xmlns:a="http://schemas.openxmlformats.org/drawingml/2006/main">
            <a:r>
              <a:t>- Derived fixture labels and transforms: data/fixtures/labels.jsonl and data/fixtures/README.md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Actual XiangLens Nuxt interface captured from apps/web in local static-preview mode; no model output was fabricated.</a:t>
            </a:r>
          </a:p>
          <a:p xmlns:a="http://schemas.openxmlformats.org/drawingml/2006/main">
            <a:r>
              <a:t>- Interface implementation: apps/web/app.vue and apps/web/assets/css/main.css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 and topology: docs/SUBMISSION_BRIEF.md and docs/PRODUCTION_DEPLOYMENT.md</a:t>
            </a:r>
          </a:p>
          <a:p xmlns:a="http://schemas.openxmlformats.org/drawingml/2006/main">
            <a:r>
              <a:t>- Workflow implementation: src/xianglens/agent/graph.py</a:t>
            </a:r>
          </a:p>
          <a:p xmlns:a="http://schemas.openxmlformats.org/drawingml/2006/main">
            <a:r>
              <a:t>- Session boundary: src/xianglens/auth.py and src/xianglens/main.py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Track 2 capability definitions: Radeon-Cloud-User Guide/2026 AMD AI DevMaster 黑客松赛事说明.md</a:t>
            </a:r>
          </a:p>
          <a:p xmlns:a="http://schemas.openxmlformats.org/drawingml/2006/main">
            <a:r>
              <a:t>- Capability-to-evidence mapping: docs/SUBMISSION_BRIEF.md and docs/SUBMISSION_CHECKLIST.md</a:t>
            </a:r>
          </a:p>
          <a:p xmlns:a="http://schemas.openxmlformats.org/drawingml/2006/main">
            <a:r>
              <a:t>- Graph implementation: src/xianglens/agent/graph.py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Model and local topology: docs/SUBMISSION_BRIEF.md</a:t>
            </a:r>
          </a:p>
          <a:p xmlns:a="http://schemas.openxmlformats.org/drawingml/2006/main">
            <a:r>
              <a:t>- Production security boundary: docs/PRODUCTION_DEPLOYMENT.md</a:t>
            </a:r>
          </a:p>
          <a:p xmlns:a="http://schemas.openxmlformats.org/drawingml/2006/main">
            <a:r>
              <a:t>- llama.cpp client and reasoning budget: src/xianglens/inference/llama_client.py and src/xianglens/config.py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Optimization design and limitations: docs/SUBMISSION_BRIEF.md</a:t>
            </a:r>
          </a:p>
          <a:p xmlns:a="http://schemas.openxmlformats.org/drawingml/2006/main">
            <a:r>
              <a:t>- Reproducible protocol: benchmarks/README.md</a:t>
            </a:r>
          </a:p>
          <a:p xmlns:a="http://schemas.openxmlformats.org/drawingml/2006/main">
            <a:r>
              <a:t>- Metric collector: scripts/benchmark_llama.py</a:t>
            </a:r>
          </a:p>
          <a:p xmlns:a="http://schemas.openxmlformats.org/drawingml/2006/main">
            <a:r>
              <a:t>- No measured result is shown until the final Radeon endpoint is available and the protocol is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Policy, memory, and deletion behavior: docs/SUBMISSION_BRIEF.md and src/xianglens/agent/graph.py</a:t>
            </a:r>
          </a:p>
          <a:p xmlns:a="http://schemas.openxmlformats.org/drawingml/2006/main">
            <a:r>
              <a:t>- Memory persistence: src/xianglens/storage/sqlite_store.py</a:t>
            </a:r>
          </a:p>
          <a:p xmlns:a="http://schemas.openxmlformats.org/drawingml/2006/main">
            <a:r>
              <a:t>- Lotus artwork: https://commons.wikimedia.org/wiki/File:Chinese,_%E2%80%98Pink_and_White_Lotus%E2%80%99,_14th_century_China,_Yuan_dynasty_(1279%E2%80%931368),_Hanging_scroll;_mineral_pigments_on_silk,_Kimbell_Art_Museum.jpg (public domain; Kimbell Art Museum)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Fixture and knowledge counts: docs/SUBMISSION_BRIEF.md and docs/KNOWLEDGE_BASE_DATASET_PLAN.md</a:t>
            </a:r>
          </a:p>
          <a:p xmlns:a="http://schemas.openxmlformats.org/drawingml/2006/main">
            <a:r>
              <a:t>- Video plan: docs/DEMO_VIDEO_SCRIPT.md</a:t>
            </a:r>
          </a:p>
          <a:p xmlns:a="http://schemas.openxmlformats.org/drawingml/2006/main">
            <a:r>
              <a:t>- Repository verification commands: README.md and docs/SUBMISSION_CHECKLIST.md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33644dabe41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159e000fa9443a" /><Relationship Type="http://schemas.openxmlformats.org/officeDocument/2006/relationships/slideLayout" Target="/ppt/slideLayouts/slideLayout1.xml" Id="R2722ebe53c334f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22ebe53c334f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6796bb6224ee5" /><Relationship Type="http://schemas.openxmlformats.org/officeDocument/2006/relationships/notesSlide" Target="/ppt/notesSlides/notesSlide1.xml" Id="R5807a2f6eda94a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7b0bbf8ba4479" /><Relationship Type="http://schemas.openxmlformats.org/officeDocument/2006/relationships/image" Target="/ppt/media/image.jpeg" Id="R110d0f3686e04e87" /><Relationship Type="http://schemas.openxmlformats.org/officeDocument/2006/relationships/image" Target="/ppt/media/image2.jpeg" Id="Raf5aeb267aaf4e2e" /><Relationship Type="http://schemas.openxmlformats.org/officeDocument/2006/relationships/notesSlide" Target="/ppt/notesSlides/notesSlide2.xml" Id="R3c2f26e094d448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3360c29c8d40e7" /><Relationship Type="http://schemas.openxmlformats.org/officeDocument/2006/relationships/image" Target="/ppt/media/image3.jpeg" Id="R7de50ad9fe37498d" /><Relationship Type="http://schemas.openxmlformats.org/officeDocument/2006/relationships/notesSlide" Target="/ppt/notesSlides/notesSlide3.xml" Id="Rd850d8e4f8a847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6c5add0744f00" /><Relationship Type="http://schemas.openxmlformats.org/officeDocument/2006/relationships/notesSlide" Target="/ppt/notesSlides/notesSlide4.xml" Id="Rdf3b612f8df14c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7a5660ab44f13" /><Relationship Type="http://schemas.openxmlformats.org/officeDocument/2006/relationships/notesSlide" Target="/ppt/notesSlides/notesSlide5.xml" Id="Rfe87e0a4a25945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c2f8bead2483d" /><Relationship Type="http://schemas.openxmlformats.org/officeDocument/2006/relationships/notesSlide" Target="/ppt/notesSlides/notesSlide6.xml" Id="Rb5fd09d1cf5940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8cbf4f2bc446f" /><Relationship Type="http://schemas.openxmlformats.org/officeDocument/2006/relationships/notesSlide" Target="/ppt/notesSlides/notesSlide7.xml" Id="R4b23db54b9d64b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370855a91499b" /><Relationship Type="http://schemas.openxmlformats.org/officeDocument/2006/relationships/image" Target="/ppt/media/image4.jpeg" Id="Reb9d9b10978748cd" /><Relationship Type="http://schemas.openxmlformats.org/officeDocument/2006/relationships/notesSlide" Target="/ppt/notesSlides/notesSlide8.xml" Id="R258ee254184a4d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a930339cf34813" /><Relationship Type="http://schemas.openxmlformats.org/officeDocument/2006/relationships/notesSlide" Target="/ppt/notesSlides/notesSlide9.xml" Id="Rd9485762d6a442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red-field">
            <a:extLst xmlns:a="http://schemas.openxmlformats.org/drawingml/2006/main">
              <a:ext uri="{FF2B5EF4-FFF2-40B4-BE49-F238E27FC236}">
                <a16:creationId xmlns:a16="http://schemas.microsoft.com/office/drawing/2014/main" id="{71A00C98-7335-4093-BDD1-52C44A71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0"/>
            <a:ext cx="285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7001514B-3A32-4D03-AB3A-BB067C569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AMD AI DEVMASTER 2026 · TRACK 2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845AD44-A3C6-42B0-9E5E-EC86B35C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809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XiangLens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97B04B9-2576-4030-9726-87EAA862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0"/>
            <a:ext cx="723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Private, evidence-backed profile-image review</a:t>
            </a:r>
          </a:p>
          <a:p xmlns:a="http://schemas.openxmlformats.org/drawingml/2006/main">
            <a:pPr algn="l">
              <a:def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on AMD Radeon + ROCm</a:t>
            </a:r>
          </a:p>
        </p:txBody>
      </p:sp>
      <p:sp>
        <p:nvSpPr>
          <p:cNvPr id="5" name="cover-values">
            <a:extLst xmlns:a="http://schemas.openxmlformats.org/drawingml/2006/main">
              <a:ext uri="{FF2B5EF4-FFF2-40B4-BE49-F238E27FC236}">
                <a16:creationId xmlns:a16="http://schemas.microsoft.com/office/drawing/2014/main" id="{485F6DD4-D306-4BC5-AE66-D4FBAAFB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GOAL-RELATIVE  ·  SOURCE-BACKED  ·  USER-CONTROLLED</a:t>
            </a:r>
          </a:p>
        </p:txBody>
      </p:sp>
      <p:sp>
        <p:nvSpPr>
          <p:cNvPr id="6" name="cover-monogram">
            <a:extLst xmlns:a="http://schemas.openxmlformats.org/drawingml/2006/main">
              <a:ext uri="{FF2B5EF4-FFF2-40B4-BE49-F238E27FC236}">
                <a16:creationId xmlns:a16="http://schemas.microsoft.com/office/drawing/2014/main" id="{572AA10C-335D-4C0F-AA2B-354DFFE9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457450"/>
            <a:ext cx="2133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XL</a:t>
            </a:r>
          </a:p>
        </p:txBody>
      </p:sp>
    </p:spTree>
    <p:extLst>
      <p:ext uri="{BB962C8B-B14F-4D97-AF65-F5344CB8AC3E}">
        <p14:creationId xmlns:p14="http://schemas.microsoft.com/office/powerpoint/2010/main" val="3664395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op-accent">
            <a:extLst xmlns:a="http://schemas.openxmlformats.org/drawingml/2006/main">
              <a:ext uri="{FF2B5EF4-FFF2-40B4-BE49-F238E27FC236}">
                <a16:creationId xmlns:a16="http://schemas.microsoft.com/office/drawing/2014/main" id="{DBC81A01-96E5-4CC8-92C3-468A0007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8DD6D6-1A84-4422-BCA6-EAA0E8AE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profile image is a tiny, high-stakes identity surface</a:t>
            </a:r>
          </a:p>
        </p:txBody>
      </p:sp>
      <p:sp>
        <p:nvSpPr>
          <p:cNvPr id="3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79A7A931-7530-4A8C-BFA5-B990B491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same image is repeatedly cropped, downsized, copied, and read across communities.</a:t>
            </a:r>
          </a:p>
        </p:txBody>
      </p:sp>
      <p:sp>
        <p:nvSpPr>
          <p:cNvPr id="4" name="problem-questions">
            <a:extLst xmlns:a="http://schemas.openxmlformats.org/drawingml/2006/main">
              <a:ext uri="{FF2B5EF4-FFF2-40B4-BE49-F238E27FC236}">
                <a16:creationId xmlns:a16="http://schemas.microsoft.com/office/drawing/2014/main" id="{75D4BCF2-DA32-4E44-BC76-81352557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50482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Can the subject survive a circular crop?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Does the file expose metadata, a badge, or a QR code?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Which candidate fits the user’s stated audience—and why?</a:t>
            </a:r>
          </a:p>
        </p:txBody>
      </p:sp>
      <p:sp>
        <p:nvSpPr>
          <p:cNvPr id="5" name="problem-answer">
            <a:extLst xmlns:a="http://schemas.openxmlformats.org/drawingml/2006/main">
              <a:ext uri="{FF2B5EF4-FFF2-40B4-BE49-F238E27FC236}">
                <a16:creationId xmlns:a16="http://schemas.microsoft.com/office/drawing/2014/main" id="{30717D56-7DDA-4FD5-9D4B-CB901B7B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14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XiangLens answers with local tools, a self-hosted VLM, cited context, and explicit user goals—not personality inference.</a:t>
            </a:r>
          </a:p>
        </p:txBody>
      </p:sp>
      <p:sp>
        <p:nvSpPr>
          <p:cNvPr id="6" name="image-field">
            <a:extLst xmlns:a="http://schemas.openxmlformats.org/drawingml/2006/main">
              <a:ext uri="{FF2B5EF4-FFF2-40B4-BE49-F238E27FC236}">
                <a16:creationId xmlns:a16="http://schemas.microsoft.com/office/drawing/2014/main" id="{DEBB285D-D660-43E5-AE89-144E0D2B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5626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0d0f3686e04e8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8450" y="1943100"/>
            <a:ext cx="2190750" cy="2190750"/>
          </a:xfrm>
          <a:prstGeom xmlns:a="http://schemas.openxmlformats.org/drawingml/2006/main" prst="ellipse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5aeb267aaf4e2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63050" y="3238500"/>
            <a:ext cx="2190750" cy="2190750"/>
          </a:xfrm>
          <a:prstGeom xmlns:a="http://schemas.openxmlformats.org/drawingml/2006/main" prst="ellipse">
            <a:avLst/>
          </a:prstGeom>
        </p:spPr>
      </p:pic>
      <p:sp>
        <p:nvSpPr>
          <p:cNvPr id="9" name="clean-label">
            <a:extLst xmlns:a="http://schemas.openxmlformats.org/drawingml/2006/main">
              <a:ext uri="{FF2B5EF4-FFF2-40B4-BE49-F238E27FC236}">
                <a16:creationId xmlns:a16="http://schemas.microsoft.com/office/drawing/2014/main" id="{9E5563B5-67D7-40D1-9862-4C79C660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862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CANDIDATE A</a:t>
            </a:r>
          </a:p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clean</a:t>
            </a:r>
          </a:p>
        </p:txBody>
      </p:sp>
      <p:sp>
        <p:nvSpPr>
          <p:cNvPr id="10" name="qr-label">
            <a:extLst xmlns:a="http://schemas.openxmlformats.org/drawingml/2006/main">
              <a:ext uri="{FF2B5EF4-FFF2-40B4-BE49-F238E27FC236}">
                <a16:creationId xmlns:a16="http://schemas.microsoft.com/office/drawing/2014/main" id="{58E7BE8A-0412-4C76-A530-76332E2B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717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CANDIDATE B</a:t>
            </a:r>
          </a:p>
          <a:p xmlns:a="http://schemas.openxmlformats.org/drawingml/2006/main">
            <a:pPr algn="ctr">
              <a:def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visible QR risk</a:t>
            </a:r>
          </a:p>
        </p:txBody>
      </p:sp>
      <p:sp>
        <p:nvSpPr>
          <p:cNvPr id="11" name="footer-2">
            <a:extLst xmlns:a="http://schemas.openxmlformats.org/drawingml/2006/main">
              <a:ext uri="{FF2B5EF4-FFF2-40B4-BE49-F238E27FC236}">
                <a16:creationId xmlns:a16="http://schemas.microsoft.com/office/drawing/2014/main" id="{A043C509-4592-4BC1-BA22-ABF70DA0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4B60B720-1035-42C8-98AF-FBBA806E8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5310088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-accent">
            <a:extLst xmlns:a="http://schemas.openxmlformats.org/drawingml/2006/main">
              <a:ext uri="{FF2B5EF4-FFF2-40B4-BE49-F238E27FC236}">
                <a16:creationId xmlns:a16="http://schemas.microsoft.com/office/drawing/2014/main" id="{056A2FD9-43C7-4338-AB04-3868D089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70C331-20F2-4B1D-8C03-0B59E55C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interface makes the Agent workflow inspectable</a:t>
            </a:r>
          </a:p>
        </p:txBody>
      </p:sp>
      <p:sp>
        <p:nvSpPr>
          <p:cNvPr id="3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B41A8AF0-8A04-442E-A5AA-C977AFBB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19225"/>
            <a:ext cx="8229600" cy="462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50ad9fe37498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419225"/>
            <a:ext cx="8229600" cy="4629150"/>
          </a:xfrm>
          <a:prstGeom xmlns:a="http://schemas.openxmlformats.org/drawingml/2006/main" prst="rect">
            <a:avLst/>
          </a:prstGeom>
        </p:spPr>
      </p:pic>
      <p:sp>
        <p:nvSpPr>
          <p:cNvPr id="5" name="ui-label-0">
            <a:extLst xmlns:a="http://schemas.openxmlformats.org/drawingml/2006/main">
              <a:ext uri="{FF2B5EF4-FFF2-40B4-BE49-F238E27FC236}">
                <a16:creationId xmlns:a16="http://schemas.microsoft.com/office/drawing/2014/main" id="{646D41EC-030B-4DBE-A99A-9B5A4C51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6192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01 · INTENT</a:t>
            </a:r>
          </a:p>
        </p:txBody>
      </p:sp>
      <p:sp>
        <p:nvSpPr>
          <p:cNvPr id="6" name="ui-body-0">
            <a:extLst xmlns:a="http://schemas.openxmlformats.org/drawingml/2006/main">
              <a:ext uri="{FF2B5EF4-FFF2-40B4-BE49-F238E27FC236}">
                <a16:creationId xmlns:a16="http://schemas.microsoft.com/office/drawing/2014/main" id="{4CB2C746-CA57-4632-B1B2-42089E4A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98120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user declares context, audience, and desired signals.</a:t>
            </a:r>
          </a:p>
        </p:txBody>
      </p:sp>
      <p:cxnSp>
        <p:nvCxnSpPr>
          <p:cNvPr id="22" name="ui-rule-0"/>
          <p:cNvCxnSpPr/>
          <p:nvPr/>
        </p:nvCxnSpPr>
        <p:spPr>
          <a:xfrm xmlns:a="http://schemas.openxmlformats.org/drawingml/2006/main">
            <a:off x="9029700" y="28003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8" name="ui-label-1">
            <a:extLst xmlns:a="http://schemas.openxmlformats.org/drawingml/2006/main">
              <a:ext uri="{FF2B5EF4-FFF2-40B4-BE49-F238E27FC236}">
                <a16:creationId xmlns:a16="http://schemas.microsoft.com/office/drawing/2014/main" id="{18CB3FF1-6154-4E56-A004-4F144CE2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02 · RESULT</a:t>
            </a:r>
          </a:p>
        </p:txBody>
      </p:sp>
      <p:sp>
        <p:nvSpPr>
          <p:cNvPr id="9" name="ui-body-1">
            <a:extLst xmlns:a="http://schemas.openxmlformats.org/drawingml/2006/main">
              <a:ext uri="{FF2B5EF4-FFF2-40B4-BE49-F238E27FC236}">
                <a16:creationId xmlns:a16="http://schemas.microsoft.com/office/drawing/2014/main" id="{2FF6F269-09DF-4BD2-824C-ABA21DBB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623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bounded workflow produces one evidence-backed report.</a:t>
            </a:r>
          </a:p>
        </p:txBody>
      </p:sp>
      <p:cxnSp>
        <p:nvCxnSpPr>
          <p:cNvPr id="25" name="ui-rule-1"/>
          <p:cNvCxnSpPr/>
          <p:nvPr/>
        </p:nvCxnSpPr>
        <p:spPr>
          <a:xfrm xmlns:a="http://schemas.openxmlformats.org/drawingml/2006/main">
            <a:off x="9029700" y="4181475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1" name="ui-label-2">
            <a:extLst xmlns:a="http://schemas.openxmlformats.org/drawingml/2006/main">
              <a:ext uri="{FF2B5EF4-FFF2-40B4-BE49-F238E27FC236}">
                <a16:creationId xmlns:a16="http://schemas.microsoft.com/office/drawing/2014/main" id="{358909E2-7C44-4443-9B3D-721BB14A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815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03 · TRACE</a:t>
            </a:r>
          </a:p>
        </p:txBody>
      </p:sp>
      <p:sp>
        <p:nvSpPr>
          <p:cNvPr id="12" name="ui-body-2">
            <a:extLst xmlns:a="http://schemas.openxmlformats.org/drawingml/2006/main">
              <a:ext uri="{FF2B5EF4-FFF2-40B4-BE49-F238E27FC236}">
                <a16:creationId xmlns:a16="http://schemas.microsoft.com/office/drawing/2014/main" id="{3DE59145-941F-43BB-BCDF-FDF505DD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Retrieval, memory, deletion, and inference ownership stay visible.</a:t>
            </a:r>
          </a:p>
        </p:txBody>
      </p:sp>
      <p:sp>
        <p:nvSpPr>
          <p:cNvPr id="13" name="ui-caption">
            <a:extLst xmlns:a="http://schemas.openxmlformats.org/drawingml/2006/main">
              <a:ext uri="{FF2B5EF4-FFF2-40B4-BE49-F238E27FC236}">
                <a16:creationId xmlns:a16="http://schemas.microsoft.com/office/drawing/2014/main" id="{16C6A61B-473B-4AA9-BE1E-3025D9E5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67690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ACTUAL NUXT INTERFACE · STATIC PREVIEW · NO MODEL OUTPUT SHOWN</a:t>
            </a:r>
          </a:p>
        </p:txBody>
      </p:sp>
      <p:sp>
        <p:nvSpPr>
          <p:cNvPr id="14" name="footer-3">
            <a:extLst xmlns:a="http://schemas.openxmlformats.org/drawingml/2006/main">
              <a:ext uri="{FF2B5EF4-FFF2-40B4-BE49-F238E27FC236}">
                <a16:creationId xmlns:a16="http://schemas.microsoft.com/office/drawing/2014/main" id="{6E897F64-47E6-46CA-9C40-FB3B480F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05FC538C-76CB-4B5E-8CC0-9427D3265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5101261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op-accent">
            <a:extLst xmlns:a="http://schemas.openxmlformats.org/drawingml/2006/main">
              <a:ext uri="{FF2B5EF4-FFF2-40B4-BE49-F238E27FC236}">
                <a16:creationId xmlns:a16="http://schemas.microsoft.com/office/drawing/2014/main" id="{DD2162A1-ECB5-47B6-9E8B-2F8B59A9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F546E2-55A6-4052-8DE8-FCA2886B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Agent owns every decision around the model</a:t>
            </a:r>
          </a:p>
        </p:txBody>
      </p:sp>
      <p:cxnSp>
        <p:nvCxnSpPr>
          <p:cNvPr id="41" name="browser-api"/>
          <p:cNvCxnSpPr/>
          <p:nvPr/>
        </p:nvCxnSpPr>
        <p:spPr>
          <a:xfrm xmlns:a="http://schemas.openxmlformats.org/drawingml/2006/main">
            <a:off x="2000250" y="25622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F6368"/>
            </a:solidFill>
            <a:prstDash val="solid"/>
          </a:ln>
        </p:spPr>
      </p:cxnSp>
      <p:cxnSp>
        <p:nvCxnSpPr>
          <p:cNvPr id="42" name="api-graph"/>
          <p:cNvCxnSpPr/>
          <p:nvPr/>
        </p:nvCxnSpPr>
        <p:spPr>
          <a:xfrm xmlns:a="http://schemas.openxmlformats.org/drawingml/2006/main">
            <a:off x="4314825" y="2562225"/>
            <a:ext cx="876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F6368"/>
            </a:solidFill>
            <a:prstDash val="solid"/>
          </a:ln>
        </p:spPr>
      </p:cxnSp>
      <p:cxnSp>
        <p:nvCxnSpPr>
          <p:cNvPr id="43" name="graph-model"/>
          <p:cNvCxnSpPr/>
          <p:nvPr/>
        </p:nvCxnSpPr>
        <p:spPr>
          <a:xfrm xmlns:a="http://schemas.openxmlformats.org/drawingml/2006/main">
            <a:off x="6638925" y="2562225"/>
            <a:ext cx="8667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1B23"/>
            </a:solidFill>
            <a:prstDash val="solid"/>
          </a:ln>
        </p:spPr>
      </p:cxnSp>
      <p:cxnSp>
        <p:nvCxnSpPr>
          <p:cNvPr id="44" name="model-gpu"/>
          <p:cNvCxnSpPr/>
          <p:nvPr/>
        </p:nvCxnSpPr>
        <p:spPr>
          <a:xfrm xmlns:a="http://schemas.openxmlformats.org/drawingml/2006/main">
            <a:off x="8953500" y="2562225"/>
            <a:ext cx="866775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51B23"/>
            </a:solidFill>
            <a:prstDash val="solid"/>
          </a:ln>
        </p:spPr>
      </p:cxnSp>
      <p:cxnSp>
        <p:nvCxnSpPr>
          <p:cNvPr id="45" name="graph-tools"/>
          <p:cNvCxnSpPr/>
          <p:nvPr/>
        </p:nvCxnSpPr>
        <p:spPr>
          <a:xfrm xmlns:a="http://schemas.openxmlformats.org/drawingml/2006/main">
            <a:off x="3371850" y="3133725"/>
            <a:ext cx="2543175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cxnSp>
        <p:nvCxnSpPr>
          <p:cNvPr id="46" name="graph-rag"/>
          <p:cNvCxnSpPr/>
          <p:nvPr/>
        </p:nvCxnSpPr>
        <p:spPr>
          <a:xfrm xmlns:a="http://schemas.openxmlformats.org/drawingml/2006/main">
            <a:off x="5915025" y="3133725"/>
            <a:ext cx="0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cxnSp>
        <p:nvCxnSpPr>
          <p:cNvPr id="47" name="graph-memory"/>
          <p:cNvCxnSpPr/>
          <p:nvPr/>
        </p:nvCxnSpPr>
        <p:spPr>
          <a:xfrm xmlns:a="http://schemas.openxmlformats.org/drawingml/2006/main">
            <a:off x="5915025" y="3133725"/>
            <a:ext cx="2543175" cy="12287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368"/>
            </a:solidFill>
            <a:prstDash val="solid"/>
          </a:ln>
        </p:spPr>
      </p:cxnSp>
      <p:sp>
        <p:nvSpPr>
          <p:cNvPr id="10" name="browser-node">
            <a:extLst xmlns:a="http://schemas.openxmlformats.org/drawingml/2006/main">
              <a:ext uri="{FF2B5EF4-FFF2-40B4-BE49-F238E27FC236}">
                <a16:creationId xmlns:a16="http://schemas.microsoft.com/office/drawing/2014/main" id="{A979B173-469A-404B-AB37-3D62B7129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1" name="browser-label">
            <a:extLst xmlns:a="http://schemas.openxmlformats.org/drawingml/2006/main">
              <a:ext uri="{FF2B5EF4-FFF2-40B4-BE49-F238E27FC236}">
                <a16:creationId xmlns:a16="http://schemas.microsoft.com/office/drawing/2014/main" id="{FEE753E9-923A-43AE-9036-B3B4D505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Static UI</a:t>
            </a:r>
          </a:p>
        </p:txBody>
      </p:sp>
      <p:sp>
        <p:nvSpPr>
          <p:cNvPr id="12" name="browser-detail">
            <a:extLst xmlns:a="http://schemas.openxmlformats.org/drawingml/2006/main">
              <a:ext uri="{FF2B5EF4-FFF2-40B4-BE49-F238E27FC236}">
                <a16:creationId xmlns:a16="http://schemas.microsoft.com/office/drawing/2014/main" id="{5305667D-F9D8-4476-8321-D527EC01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GitHub Pages</a:t>
            </a:r>
          </a:p>
        </p:txBody>
      </p:sp>
      <p:sp>
        <p:nvSpPr>
          <p:cNvPr id="13" name="api-node">
            <a:extLst xmlns:a="http://schemas.openxmlformats.org/drawingml/2006/main">
              <a:ext uri="{FF2B5EF4-FFF2-40B4-BE49-F238E27FC236}">
                <a16:creationId xmlns:a16="http://schemas.microsoft.com/office/drawing/2014/main" id="{995D9B5F-034C-4E11-B438-2B568534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4" name="api-label">
            <a:extLst xmlns:a="http://schemas.openxmlformats.org/drawingml/2006/main">
              <a:ext uri="{FF2B5EF4-FFF2-40B4-BE49-F238E27FC236}">
                <a16:creationId xmlns:a16="http://schemas.microsoft.com/office/drawing/2014/main" id="{176A9609-F338-431E-AB38-93AADF00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FastAPI</a:t>
            </a:r>
          </a:p>
        </p:txBody>
      </p:sp>
      <p:sp>
        <p:nvSpPr>
          <p:cNvPr id="15" name="api-detail">
            <a:extLst xmlns:a="http://schemas.openxmlformats.org/drawingml/2006/main">
              <a:ext uri="{FF2B5EF4-FFF2-40B4-BE49-F238E27FC236}">
                <a16:creationId xmlns:a16="http://schemas.microsoft.com/office/drawing/2014/main" id="{373CBCD0-D5EB-4A2B-AD7D-15383032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upload · SSE · auth</a:t>
            </a:r>
          </a:p>
        </p:txBody>
      </p:sp>
      <p:sp>
        <p:nvSpPr>
          <p:cNvPr id="16" name="graph-node">
            <a:extLst xmlns:a="http://schemas.openxmlformats.org/drawingml/2006/main">
              <a:ext uri="{FF2B5EF4-FFF2-40B4-BE49-F238E27FC236}">
                <a16:creationId xmlns:a16="http://schemas.microsoft.com/office/drawing/2014/main" id="{42C83DE4-909A-4591-9596-B74CF267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17" name="graph-label">
            <a:extLst xmlns:a="http://schemas.openxmlformats.org/drawingml/2006/main">
              <a:ext uri="{FF2B5EF4-FFF2-40B4-BE49-F238E27FC236}">
                <a16:creationId xmlns:a16="http://schemas.microsoft.com/office/drawing/2014/main" id="{B5C5112F-DA90-41AA-8531-16A27FBF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LangGraph</a:t>
            </a:r>
          </a:p>
        </p:txBody>
      </p:sp>
      <p:sp>
        <p:nvSpPr>
          <p:cNvPr id="18" name="graph-detail">
            <a:extLst xmlns:a="http://schemas.openxmlformats.org/drawingml/2006/main">
              <a:ext uri="{FF2B5EF4-FFF2-40B4-BE49-F238E27FC236}">
                <a16:creationId xmlns:a16="http://schemas.microsoft.com/office/drawing/2014/main" id="{6FA225DD-77DA-4A33-845E-0A70DA67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· plan · state</a:t>
            </a:r>
          </a:p>
        </p:txBody>
      </p:sp>
      <p:sp>
        <p:nvSpPr>
          <p:cNvPr id="19" name="model-node">
            <a:extLst xmlns:a="http://schemas.openxmlformats.org/drawingml/2006/main">
              <a:ext uri="{FF2B5EF4-FFF2-40B4-BE49-F238E27FC236}">
                <a16:creationId xmlns:a16="http://schemas.microsoft.com/office/drawing/2014/main" id="{966A09AE-F9C2-4EB7-9228-01B5F138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4288">
            <a:solidFill>
              <a:srgbClr val="E51B23"/>
            </a:solidFill>
            <a:prstDash val="solid"/>
          </a:ln>
        </p:spPr>
      </p:sp>
      <p:sp>
        <p:nvSpPr>
          <p:cNvPr id="20" name="model-label">
            <a:extLst xmlns:a="http://schemas.openxmlformats.org/drawingml/2006/main">
              <a:ext uri="{FF2B5EF4-FFF2-40B4-BE49-F238E27FC236}">
                <a16:creationId xmlns:a16="http://schemas.microsoft.com/office/drawing/2014/main" id="{1B29CE14-2698-4C97-AEFC-3D500852A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llama-server</a:t>
            </a:r>
          </a:p>
        </p:txBody>
      </p:sp>
      <p:sp>
        <p:nvSpPr>
          <p:cNvPr id="21" name="model-detail">
            <a:extLst xmlns:a="http://schemas.openxmlformats.org/drawingml/2006/main">
              <a:ext uri="{FF2B5EF4-FFF2-40B4-BE49-F238E27FC236}">
                <a16:creationId xmlns:a16="http://schemas.microsoft.com/office/drawing/2014/main" id="{EC0D57DC-8C5A-4F36-9BF4-98574A82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OpenAI-compatible /v1</a:t>
            </a:r>
          </a:p>
        </p:txBody>
      </p:sp>
      <p:sp>
        <p:nvSpPr>
          <p:cNvPr id="22" name="gpu-node">
            <a:extLst xmlns:a="http://schemas.openxmlformats.org/drawingml/2006/main">
              <a:ext uri="{FF2B5EF4-FFF2-40B4-BE49-F238E27FC236}">
                <a16:creationId xmlns:a16="http://schemas.microsoft.com/office/drawing/2014/main" id="{D6FBCC20-66D0-4448-8C00-A493ED2F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000250"/>
            <a:ext cx="1419225" cy="1133475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4288">
            <a:solidFill>
              <a:srgbClr val="E51B23"/>
            </a:solidFill>
            <a:prstDash val="solid"/>
          </a:ln>
        </p:spPr>
      </p:sp>
      <p:sp>
        <p:nvSpPr>
          <p:cNvPr id="23" name="gpu-label">
            <a:extLst xmlns:a="http://schemas.openxmlformats.org/drawingml/2006/main">
              <a:ext uri="{FF2B5EF4-FFF2-40B4-BE49-F238E27FC236}">
                <a16:creationId xmlns:a16="http://schemas.microsoft.com/office/drawing/2014/main" id="{8AF589D8-FEBB-4B84-BA48-5F693A5F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200275"/>
            <a:ext cx="12287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Radeon host</a:t>
            </a:r>
          </a:p>
        </p:txBody>
      </p:sp>
      <p:sp>
        <p:nvSpPr>
          <p:cNvPr id="24" name="gpu-detail">
            <a:extLst xmlns:a="http://schemas.openxmlformats.org/drawingml/2006/main">
              <a:ext uri="{FF2B5EF4-FFF2-40B4-BE49-F238E27FC236}">
                <a16:creationId xmlns:a16="http://schemas.microsoft.com/office/drawing/2014/main" id="{4ECEBDD1-9C9D-4D55-90CF-569883B4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609850"/>
            <a:ext cx="1190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ROCm · W7900</a:t>
            </a:r>
          </a:p>
        </p:txBody>
      </p:sp>
      <p:sp>
        <p:nvSpPr>
          <p:cNvPr id="25" name="tools-branch">
            <a:extLst xmlns:a="http://schemas.openxmlformats.org/drawingml/2006/main">
              <a:ext uri="{FF2B5EF4-FFF2-40B4-BE49-F238E27FC236}">
                <a16:creationId xmlns:a16="http://schemas.microsoft.com/office/drawing/2014/main" id="{D0FA889E-2506-41AC-B262-8F9B4155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26" name="tools-branch-label">
            <a:extLst xmlns:a="http://schemas.openxmlformats.org/drawingml/2006/main">
              <a:ext uri="{FF2B5EF4-FFF2-40B4-BE49-F238E27FC236}">
                <a16:creationId xmlns:a16="http://schemas.microsoft.com/office/drawing/2014/main" id="{94405DA0-7070-47D4-9548-9D9FBEF3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Local tools</a:t>
            </a:r>
          </a:p>
        </p:txBody>
      </p:sp>
      <p:sp>
        <p:nvSpPr>
          <p:cNvPr id="27" name="tools-branch-detail">
            <a:extLst xmlns:a="http://schemas.openxmlformats.org/drawingml/2006/main">
              <a:ext uri="{FF2B5EF4-FFF2-40B4-BE49-F238E27FC236}">
                <a16:creationId xmlns:a16="http://schemas.microsoft.com/office/drawing/2014/main" id="{290DEC4D-CF1E-473D-AD55-BB8C2501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EXIF · QR · crop · safe copy</a:t>
            </a:r>
          </a:p>
        </p:txBody>
      </p:sp>
      <p:sp>
        <p:nvSpPr>
          <p:cNvPr id="28" name="rag-branch">
            <a:extLst xmlns:a="http://schemas.openxmlformats.org/drawingml/2006/main">
              <a:ext uri="{FF2B5EF4-FFF2-40B4-BE49-F238E27FC236}">
                <a16:creationId xmlns:a16="http://schemas.microsoft.com/office/drawing/2014/main" id="{06D1BCB8-4618-479F-9EFA-1C24DA05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29" name="rag-branch-label">
            <a:extLst xmlns:a="http://schemas.openxmlformats.org/drawingml/2006/main">
              <a:ext uri="{FF2B5EF4-FFF2-40B4-BE49-F238E27FC236}">
                <a16:creationId xmlns:a16="http://schemas.microsoft.com/office/drawing/2014/main" id="{D8B58A06-EC5A-43C2-9A6B-8F2D37FA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Milvus Lite</a:t>
            </a:r>
          </a:p>
        </p:txBody>
      </p:sp>
      <p:sp>
        <p:nvSpPr>
          <p:cNvPr id="30" name="rag-branch-detail">
            <a:extLst xmlns:a="http://schemas.openxmlformats.org/drawingml/2006/main">
              <a:ext uri="{FF2B5EF4-FFF2-40B4-BE49-F238E27FC236}">
                <a16:creationId xmlns:a16="http://schemas.microsoft.com/office/drawing/2014/main" id="{F1654089-D36E-439A-BD2F-C7E9B190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Top-K evidence · 4 Lens Packs</a:t>
            </a:r>
          </a:p>
        </p:txBody>
      </p:sp>
      <p:sp>
        <p:nvSpPr>
          <p:cNvPr id="31" name="memory-branch">
            <a:extLst xmlns:a="http://schemas.openxmlformats.org/drawingml/2006/main">
              <a:ext uri="{FF2B5EF4-FFF2-40B4-BE49-F238E27FC236}">
                <a16:creationId xmlns:a16="http://schemas.microsoft.com/office/drawing/2014/main" id="{5555029F-E11E-44FC-B538-A18F02B0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362450"/>
            <a:ext cx="2543175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CECE8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sp>
        <p:nvSpPr>
          <p:cNvPr id="32" name="memory-branch-label">
            <a:extLst xmlns:a="http://schemas.openxmlformats.org/drawingml/2006/main">
              <a:ext uri="{FF2B5EF4-FFF2-40B4-BE49-F238E27FC236}">
                <a16:creationId xmlns:a16="http://schemas.microsoft.com/office/drawing/2014/main" id="{EDABA18C-14AA-4E6D-98AD-4B66AB3D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72000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SQLite memory</a:t>
            </a:r>
          </a:p>
        </p:txBody>
      </p:sp>
      <p:sp>
        <p:nvSpPr>
          <p:cNvPr id="33" name="memory-branch-detail">
            <a:extLst xmlns:a="http://schemas.openxmlformats.org/drawingml/2006/main">
              <a:ext uri="{FF2B5EF4-FFF2-40B4-BE49-F238E27FC236}">
                <a16:creationId xmlns:a16="http://schemas.microsoft.com/office/drawing/2014/main" id="{4A5F78B8-9DC2-4649-AC1F-F45A5D88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962525"/>
            <a:ext cx="22002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threads · consent · deletion</a:t>
            </a:r>
          </a:p>
        </p:txBody>
      </p:sp>
      <p:sp>
        <p:nvSpPr>
          <p:cNvPr id="34" name="boundary-public">
            <a:extLst xmlns:a="http://schemas.openxmlformats.org/drawingml/2006/main">
              <a:ext uri="{FF2B5EF4-FFF2-40B4-BE49-F238E27FC236}">
                <a16:creationId xmlns:a16="http://schemas.microsoft.com/office/drawing/2014/main" id="{BEE0F95C-0600-401C-A650-45B27960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EDGE</a:t>
            </a:r>
          </a:p>
        </p:txBody>
      </p:sp>
      <p:sp>
        <p:nvSpPr>
          <p:cNvPr id="35" name="boundary-private">
            <a:extLst xmlns:a="http://schemas.openxmlformats.org/drawingml/2006/main">
              <a:ext uri="{FF2B5EF4-FFF2-40B4-BE49-F238E27FC236}">
                <a16:creationId xmlns:a16="http://schemas.microsoft.com/office/drawing/2014/main" id="{3728A843-7753-4717-8736-012242E1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8115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USER-CONTROLLED RADEON ENVIRONMENT</a:t>
            </a:r>
          </a:p>
        </p:txBody>
      </p:sp>
      <p:sp>
        <p:nvSpPr>
          <p:cNvPr id="36" name="architecture-foot">
            <a:extLst xmlns:a="http://schemas.openxmlformats.org/drawingml/2006/main">
              <a:ext uri="{FF2B5EF4-FFF2-40B4-BE49-F238E27FC236}">
                <a16:creationId xmlns:a16="http://schemas.microsoft.com/office/drawing/2014/main" id="{A1F1E6E8-EB4D-4A7E-99D0-E8CC0489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8293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Only FastAPI is exposed. The model endpoint, Milvus, SQLite, uploads, and permanent key stay private.</a:t>
            </a:r>
          </a:p>
        </p:txBody>
      </p:sp>
      <p:sp>
        <p:nvSpPr>
          <p:cNvPr id="37" name="footer-4">
            <a:extLst xmlns:a="http://schemas.openxmlformats.org/drawingml/2006/main">
              <a:ext uri="{FF2B5EF4-FFF2-40B4-BE49-F238E27FC236}">
                <a16:creationId xmlns:a16="http://schemas.microsoft.com/office/drawing/2014/main" id="{905B6E62-8C7D-47B5-8CDD-AFD4ED49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8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434D69C1-893E-4E2B-A40A-D270EE22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7779623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op-accent">
            <a:extLst xmlns:a="http://schemas.openxmlformats.org/drawingml/2006/main">
              <a:ext uri="{FF2B5EF4-FFF2-40B4-BE49-F238E27FC236}">
                <a16:creationId xmlns:a16="http://schemas.microsoft.com/office/drawing/2014/main" id="{D102FF00-40A2-413D-ACFB-9BB95E09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888830-CD5D-4A91-A57D-14D6D656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workflow proves all five Track 2 capabilities</a:t>
            </a:r>
          </a:p>
        </p:txBody>
      </p:sp>
      <p:cxnSp>
        <p:nvCxnSpPr>
          <p:cNvPr id="29" name="capability-spine"/>
          <p:cNvCxnSpPr/>
          <p:nvPr/>
        </p:nvCxnSpPr>
        <p:spPr>
          <a:xfrm xmlns:a="http://schemas.openxmlformats.org/drawingml/2006/main">
            <a:off x="742950" y="2705100"/>
            <a:ext cx="10363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8D8D4"/>
            </a:solidFill>
            <a:prstDash val="solid"/>
          </a:ln>
        </p:spPr>
      </p:cxnSp>
      <p:sp>
        <p:nvSpPr>
          <p:cNvPr id="4" name="cap-dot-01">
            <a:extLst xmlns:a="http://schemas.openxmlformats.org/drawingml/2006/main">
              <a:ext uri="{FF2B5EF4-FFF2-40B4-BE49-F238E27FC236}">
                <a16:creationId xmlns:a16="http://schemas.microsoft.com/office/drawing/2014/main" id="{708EB1E7-45CF-4D5D-9ECA-A50022537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ap-num-01">
            <a:extLst xmlns:a="http://schemas.openxmlformats.org/drawingml/2006/main">
              <a:ext uri="{FF2B5EF4-FFF2-40B4-BE49-F238E27FC236}">
                <a16:creationId xmlns:a16="http://schemas.microsoft.com/office/drawing/2014/main" id="{D63EF3AB-04DA-4F4F-9830-3F4A9F52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cap-title-01">
            <a:extLst xmlns:a="http://schemas.openxmlformats.org/drawingml/2006/main">
              <a:ext uri="{FF2B5EF4-FFF2-40B4-BE49-F238E27FC236}">
                <a16:creationId xmlns:a16="http://schemas.microsoft.com/office/drawing/2014/main" id="{FD5CEAE8-359F-4086-8904-D6B9886C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Plan</a:t>
            </a:r>
          </a:p>
        </p:txBody>
      </p:sp>
      <p:sp>
        <p:nvSpPr>
          <p:cNvPr id="7" name="cap-detail-01">
            <a:extLst xmlns:a="http://schemas.openxmlformats.org/drawingml/2006/main">
              <a:ext uri="{FF2B5EF4-FFF2-40B4-BE49-F238E27FC236}">
                <a16:creationId xmlns:a16="http://schemas.microsoft.com/office/drawing/2014/main" id="{A43F6C7A-D7F8-4AA3-9433-7E011E6D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Visible fixed plan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and bounded routing</a:t>
            </a:r>
          </a:p>
        </p:txBody>
      </p:sp>
      <p:sp>
        <p:nvSpPr>
          <p:cNvPr id="8" name="cap-dot-02">
            <a:extLst xmlns:a="http://schemas.openxmlformats.org/drawingml/2006/main">
              <a:ext uri="{FF2B5EF4-FFF2-40B4-BE49-F238E27FC236}">
                <a16:creationId xmlns:a16="http://schemas.microsoft.com/office/drawing/2014/main" id="{0033305A-29B9-4A91-AC33-09F7378CE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ap-num-02">
            <a:extLst xmlns:a="http://schemas.openxmlformats.org/drawingml/2006/main">
              <a:ext uri="{FF2B5EF4-FFF2-40B4-BE49-F238E27FC236}">
                <a16:creationId xmlns:a16="http://schemas.microsoft.com/office/drawing/2014/main" id="{C66721A1-C9AA-4D47-84F1-5324E5DA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cap-title-02">
            <a:extLst xmlns:a="http://schemas.openxmlformats.org/drawingml/2006/main">
              <a:ext uri="{FF2B5EF4-FFF2-40B4-BE49-F238E27FC236}">
                <a16:creationId xmlns:a16="http://schemas.microsoft.com/office/drawing/2014/main" id="{D0AA0FE7-1AEC-450D-BA2F-21BEA971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Tools</a:t>
            </a:r>
          </a:p>
        </p:txBody>
      </p:sp>
      <p:sp>
        <p:nvSpPr>
          <p:cNvPr id="11" name="cap-detail-02">
            <a:extLst xmlns:a="http://schemas.openxmlformats.org/drawingml/2006/main">
              <a:ext uri="{FF2B5EF4-FFF2-40B4-BE49-F238E27FC236}">
                <a16:creationId xmlns:a16="http://schemas.microsoft.com/office/drawing/2014/main" id="{DB70F2F1-964A-4BC4-8BF4-6FF94CA0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EXIF, QR, crop,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and safe-copy export</a:t>
            </a:r>
          </a:p>
        </p:txBody>
      </p:sp>
      <p:sp>
        <p:nvSpPr>
          <p:cNvPr id="12" name="cap-dot-03">
            <a:extLst xmlns:a="http://schemas.openxmlformats.org/drawingml/2006/main">
              <a:ext uri="{FF2B5EF4-FFF2-40B4-BE49-F238E27FC236}">
                <a16:creationId xmlns:a16="http://schemas.microsoft.com/office/drawing/2014/main" id="{BA2A413C-5E61-479B-8659-20A9C516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cap-num-03">
            <a:extLst xmlns:a="http://schemas.openxmlformats.org/drawingml/2006/main">
              <a:ext uri="{FF2B5EF4-FFF2-40B4-BE49-F238E27FC236}">
                <a16:creationId xmlns:a16="http://schemas.microsoft.com/office/drawing/2014/main" id="{D2C653BE-3DE5-4763-A568-099991BC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cap-title-03">
            <a:extLst xmlns:a="http://schemas.openxmlformats.org/drawingml/2006/main">
              <a:ext uri="{FF2B5EF4-FFF2-40B4-BE49-F238E27FC236}">
                <a16:creationId xmlns:a16="http://schemas.microsoft.com/office/drawing/2014/main" id="{B7136EDE-6DCA-445A-9A79-F4792B20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RAG</a:t>
            </a:r>
          </a:p>
        </p:txBody>
      </p:sp>
      <p:sp>
        <p:nvSpPr>
          <p:cNvPr id="15" name="cap-detail-03">
            <a:extLst xmlns:a="http://schemas.openxmlformats.org/drawingml/2006/main">
              <a:ext uri="{FF2B5EF4-FFF2-40B4-BE49-F238E27FC236}">
                <a16:creationId xmlns:a16="http://schemas.microsoft.com/office/drawing/2014/main" id="{FAF4BC11-1C74-4EA5-A347-B3DED20A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Milvus Lite Top-K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with visible sources</a:t>
            </a:r>
          </a:p>
        </p:txBody>
      </p:sp>
      <p:sp>
        <p:nvSpPr>
          <p:cNvPr id="16" name="cap-dot-04">
            <a:extLst xmlns:a="http://schemas.openxmlformats.org/drawingml/2006/main">
              <a:ext uri="{FF2B5EF4-FFF2-40B4-BE49-F238E27FC236}">
                <a16:creationId xmlns:a16="http://schemas.microsoft.com/office/drawing/2014/main" id="{34720606-1C66-4F9E-8000-8B9B9EFB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cap-num-04">
            <a:extLst xmlns:a="http://schemas.openxmlformats.org/drawingml/2006/main">
              <a:ext uri="{FF2B5EF4-FFF2-40B4-BE49-F238E27FC236}">
                <a16:creationId xmlns:a16="http://schemas.microsoft.com/office/drawing/2014/main" id="{62BF91F3-9A8E-42CD-9B55-E66F8474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8" name="cap-title-04">
            <a:extLst xmlns:a="http://schemas.openxmlformats.org/drawingml/2006/main">
              <a:ext uri="{FF2B5EF4-FFF2-40B4-BE49-F238E27FC236}">
                <a16:creationId xmlns:a16="http://schemas.microsoft.com/office/drawing/2014/main" id="{68E7EA59-38AB-434C-8352-AE04D890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Memory</a:t>
            </a:r>
          </a:p>
        </p:txBody>
      </p:sp>
      <p:sp>
        <p:nvSpPr>
          <p:cNvPr id="19" name="cap-detail-04">
            <a:extLst xmlns:a="http://schemas.openxmlformats.org/drawingml/2006/main">
              <a:ext uri="{FF2B5EF4-FFF2-40B4-BE49-F238E27FC236}">
                <a16:creationId xmlns:a16="http://schemas.microsoft.com/office/drawing/2014/main" id="{DDFC9214-E5CF-42A4-8167-86050059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Cross-thread recall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after explicit approval</a:t>
            </a:r>
          </a:p>
        </p:txBody>
      </p:sp>
      <p:sp>
        <p:nvSpPr>
          <p:cNvPr id="20" name="cap-dot-05">
            <a:extLst xmlns:a="http://schemas.openxmlformats.org/drawingml/2006/main">
              <a:ext uri="{FF2B5EF4-FFF2-40B4-BE49-F238E27FC236}">
                <a16:creationId xmlns:a16="http://schemas.microsoft.com/office/drawing/2014/main" id="{1ABBEE77-6D63-4B5A-A0A4-2A52AFD4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4574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ap-num-05">
            <a:extLst xmlns:a="http://schemas.openxmlformats.org/drawingml/2006/main">
              <a:ext uri="{FF2B5EF4-FFF2-40B4-BE49-F238E27FC236}">
                <a16:creationId xmlns:a16="http://schemas.microsoft.com/office/drawing/2014/main" id="{F848DCBC-F232-4688-B97E-72650281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908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2" name="cap-title-05">
            <a:extLst xmlns:a="http://schemas.openxmlformats.org/drawingml/2006/main">
              <a:ext uri="{FF2B5EF4-FFF2-40B4-BE49-F238E27FC236}">
                <a16:creationId xmlns:a16="http://schemas.microsoft.com/office/drawing/2014/main" id="{0D0CBB66-4B23-489A-BDDF-A23E3FFA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333750"/>
            <a:ext cx="1828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Permission</a:t>
            </a:r>
          </a:p>
        </p:txBody>
      </p:sp>
      <p:sp>
        <p:nvSpPr>
          <p:cNvPr id="23" name="cap-detail-05">
            <a:extLst xmlns:a="http://schemas.openxmlformats.org/drawingml/2006/main">
              <a:ext uri="{FF2B5EF4-FFF2-40B4-BE49-F238E27FC236}">
                <a16:creationId xmlns:a16="http://schemas.microsoft.com/office/drawing/2014/main" id="{0F9B41AF-D9DE-4EC3-A85B-CB0AD913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14775"/>
            <a:ext cx="1828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gate, short token,</a:t>
            </a:r>
          </a:p>
          <a:p xmlns:a="http://schemas.openxmlformats.org/drawingml/2006/main">
            <a:pPr algn="ctr">
              <a:def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and Forget Me</a:t>
            </a:r>
          </a:p>
        </p:txBody>
      </p:sp>
      <p:sp>
        <p:nvSpPr>
          <p:cNvPr id="24" name="capability-path">
            <a:extLst xmlns:a="http://schemas.openxmlformats.org/drawingml/2006/main">
              <a:ext uri="{FF2B5EF4-FFF2-40B4-BE49-F238E27FC236}">
                <a16:creationId xmlns:a16="http://schemas.microsoft.com/office/drawing/2014/main" id="{83A84546-5D03-4B6B-B27A-5A1C2D54E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38750"/>
            <a:ext cx="10439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Policy → recall → local inspection → visual observation → evidence retrieval → comparison → consent → cited report</a:t>
            </a:r>
          </a:p>
        </p:txBody>
      </p:sp>
      <p:sp>
        <p:nvSpPr>
          <p:cNvPr id="25" name="footer-5">
            <a:extLst xmlns:a="http://schemas.openxmlformats.org/drawingml/2006/main">
              <a:ext uri="{FF2B5EF4-FFF2-40B4-BE49-F238E27FC236}">
                <a16:creationId xmlns:a16="http://schemas.microsoft.com/office/drawing/2014/main" id="{B169FBCD-E5D1-4A76-9AE4-258F43DC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6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20762208-86EB-4798-88E0-22ACCC00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11365506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-accent">
            <a:extLst xmlns:a="http://schemas.openxmlformats.org/drawingml/2006/main">
              <a:ext uri="{FF2B5EF4-FFF2-40B4-BE49-F238E27FC236}">
                <a16:creationId xmlns:a16="http://schemas.microsoft.com/office/drawing/2014/main" id="{5F7E2EBF-3B67-4BAE-9DB9-2AD5E373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E1CEF1-83BC-4049-B55F-E5275ACE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Core multimodal inference stays on the Radeon host</a:t>
            </a:r>
          </a:p>
        </p:txBody>
      </p:sp>
      <p:sp>
        <p:nvSpPr>
          <p:cNvPr id="3" name="runtime-lead">
            <a:extLst xmlns:a="http://schemas.openxmlformats.org/drawingml/2006/main">
              <a:ext uri="{FF2B5EF4-FFF2-40B4-BE49-F238E27FC236}">
                <a16:creationId xmlns:a16="http://schemas.microsoft.com/office/drawing/2014/main" id="{E0D2B0E2-C80D-4780-A524-B6A935A3D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The public interface is intentionally thin. The private execution boundary contains every stateful and inference-critical component.</a:t>
            </a:r>
          </a:p>
        </p:txBody>
      </p:sp>
      <p:sp>
        <p:nvSpPr>
          <p:cNvPr id="4" name="public-zone">
            <a:extLst xmlns:a="http://schemas.openxmlformats.org/drawingml/2006/main">
              <a:ext uri="{FF2B5EF4-FFF2-40B4-BE49-F238E27FC236}">
                <a16:creationId xmlns:a16="http://schemas.microsoft.com/office/drawing/2014/main" id="{F23614EC-8CBF-498F-BE52-90E7FA48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24100"/>
            <a:ext cx="4057650" cy="2838450"/>
          </a:xfrm>
          <a:prstGeom xmlns:a="http://schemas.openxmlformats.org/drawingml/2006/main" prst="roundRect">
            <a:avLst>
              <a:gd name="adj" fmla="val 26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8D8D4"/>
            </a:solidFill>
            <a:prstDash val="solid"/>
          </a:ln>
        </p:spPr>
      </p:sp>
      <p:sp>
        <p:nvSpPr>
          <p:cNvPr id="5" name="public-heading">
            <a:extLst xmlns:a="http://schemas.openxmlformats.org/drawingml/2006/main">
              <a:ext uri="{FF2B5EF4-FFF2-40B4-BE49-F238E27FC236}">
                <a16:creationId xmlns:a16="http://schemas.microsoft.com/office/drawing/2014/main" id="{1ECEC519-CACE-472B-98A9-8A2362D5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348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PUBLIC SURFACE</a:t>
            </a:r>
          </a:p>
        </p:txBody>
      </p:sp>
      <p:sp>
        <p:nvSpPr>
          <p:cNvPr id="6" name="public-body">
            <a:extLst xmlns:a="http://schemas.openxmlformats.org/drawingml/2006/main">
              <a:ext uri="{FF2B5EF4-FFF2-40B4-BE49-F238E27FC236}">
                <a16:creationId xmlns:a16="http://schemas.microsoft.com/office/drawing/2014/main" id="{2EA3ED74-CD09-45BD-9E5E-A925699A3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34861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GitHub Pages static UI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Short-lived Bearer session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FastAPI HTTPS endpoint</a:t>
            </a:r>
          </a:p>
        </p:txBody>
      </p:sp>
      <p:sp>
        <p:nvSpPr>
          <p:cNvPr id="7" name="private-zone">
            <a:extLst xmlns:a="http://schemas.openxmlformats.org/drawingml/2006/main">
              <a:ext uri="{FF2B5EF4-FFF2-40B4-BE49-F238E27FC236}">
                <a16:creationId xmlns:a16="http://schemas.microsoft.com/office/drawing/2014/main" id="{326D0F3B-2A2A-440E-AE28-50B1881D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95500"/>
            <a:ext cx="6972300" cy="329565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9E3E4"/>
          </a:solidFill>
          <a:ln xmlns:a="http://schemas.openxmlformats.org/drawingml/2006/main" w="19050">
            <a:solidFill>
              <a:srgbClr val="E51B23"/>
            </a:solidFill>
            <a:prstDash val="solid"/>
          </a:ln>
        </p:spPr>
      </p:sp>
      <p:sp>
        <p:nvSpPr>
          <p:cNvPr id="8" name="private-heading">
            <a:extLst xmlns:a="http://schemas.openxmlformats.org/drawingml/2006/main">
              <a:ext uri="{FF2B5EF4-FFF2-40B4-BE49-F238E27FC236}">
                <a16:creationId xmlns:a16="http://schemas.microsoft.com/office/drawing/2014/main" id="{4F3CE65B-80F9-4443-BD26-521C8178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003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PRIVATE RADEON + ROCm SURFACE</a:t>
            </a:r>
          </a:p>
        </p:txBody>
      </p:sp>
      <p:sp>
        <p:nvSpPr>
          <p:cNvPr id="9" name="private-model">
            <a:extLst xmlns:a="http://schemas.openxmlformats.org/drawingml/2006/main">
              <a:ext uri="{FF2B5EF4-FFF2-40B4-BE49-F238E27FC236}">
                <a16:creationId xmlns:a16="http://schemas.microsoft.com/office/drawing/2014/main" id="{2403685A-E5F6-41FA-BB83-46925029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9908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Qwen3.6 35B-A3B Fable 5 Distill · Q6_K GGUF</a:t>
            </a:r>
          </a:p>
        </p:txBody>
      </p:sp>
      <p:sp>
        <p:nvSpPr>
          <p:cNvPr id="10" name="private-body">
            <a:extLst xmlns:a="http://schemas.openxmlformats.org/drawingml/2006/main">
              <a:ext uri="{FF2B5EF4-FFF2-40B4-BE49-F238E27FC236}">
                <a16:creationId xmlns:a16="http://schemas.microsoft.com/office/drawing/2014/main" id="{D6B1A5C3-9ABD-4115-9032-D2AF53C5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19500"/>
            <a:ext cx="61912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llama.cpp / llama-server on 127.0.0.1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LangGraph + deterministic image tools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Milvus Lite + SQLite + controlled uploads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Permanent application key never enters JavaScript</a:t>
            </a:r>
          </a:p>
        </p:txBody>
      </p:sp>
      <p:sp>
        <p:nvSpPr>
          <p:cNvPr id="11" name="runtime-proof">
            <a:extLst xmlns:a="http://schemas.openxmlformats.org/drawingml/2006/main">
              <a:ext uri="{FF2B5EF4-FFF2-40B4-BE49-F238E27FC236}">
                <a16:creationId xmlns:a16="http://schemas.microsoft.com/office/drawing/2014/main" id="{FA329DD7-DBE3-4028-8494-D7E4E0DC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3405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Demo proof: rocm-smi + /v1/models + XiangLens system status</a:t>
            </a:r>
          </a:p>
        </p:txBody>
      </p:sp>
      <p:sp>
        <p:nvSpPr>
          <p:cNvPr id="12" name="footer-6">
            <a:extLst xmlns:a="http://schemas.openxmlformats.org/drawingml/2006/main">
              <a:ext uri="{FF2B5EF4-FFF2-40B4-BE49-F238E27FC236}">
                <a16:creationId xmlns:a16="http://schemas.microsoft.com/office/drawing/2014/main" id="{46E0605B-5B14-4E5B-96E5-26E0B2AE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3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87A9C6A4-BBFD-4136-9FBF-36DF9C4D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646703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op-accent">
            <a:extLst xmlns:a="http://schemas.openxmlformats.org/drawingml/2006/main">
              <a:ext uri="{FF2B5EF4-FFF2-40B4-BE49-F238E27FC236}">
                <a16:creationId xmlns:a16="http://schemas.microsoft.com/office/drawing/2014/main" id="{42868521-F682-4A9C-A579-BF35DC78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DF89F7-5199-4AF6-93AF-953B1036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Optimization is designed into the workload—not added after it</a:t>
            </a:r>
          </a:p>
        </p:txBody>
      </p:sp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F92AF109-4A1C-42CF-8F57-214CB226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3476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Batch-size-1 responsiveness is improved at three layers.</a:t>
            </a:r>
          </a:p>
        </p:txBody>
      </p:sp>
      <p:sp>
        <p:nvSpPr>
          <p:cNvPr id="4" name="optimization-context">
            <a:extLst xmlns:a="http://schemas.openxmlformats.org/drawingml/2006/main">
              <a:ext uri="{FF2B5EF4-FFF2-40B4-BE49-F238E27FC236}">
                <a16:creationId xmlns:a16="http://schemas.microsoft.com/office/drawing/2014/main" id="{2DF55FCB-3BC5-406D-B119-301907F0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34766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Every final comparison uses the same image, prompt, quantization, cache, reasoning budget, warmup policy, and server command.</a:t>
            </a:r>
          </a:p>
        </p:txBody>
      </p:sp>
      <p:sp>
        <p:nvSpPr>
          <p:cNvPr id="5" name="optimization-no-fake">
            <a:extLst xmlns:a="http://schemas.openxmlformats.org/drawingml/2006/main">
              <a:ext uri="{FF2B5EF4-FFF2-40B4-BE49-F238E27FC236}">
                <a16:creationId xmlns:a16="http://schemas.microsoft.com/office/drawing/2014/main" id="{C3B3B1BC-255B-4EC9-A3D9-18BACB2B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48250"/>
            <a:ext cx="34766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No unsupported FP8 claim.</a:t>
            </a:r>
          </a:p>
          <a:p xmlns:a="http://schemas.openxmlformats.org/drawingml/2006/main">
            <a:pPr algn="l">
              <a:def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No fabricated benchmark number.</a:t>
            </a:r>
          </a:p>
        </p:txBody>
      </p:sp>
      <p:sp>
        <p:nvSpPr>
          <p:cNvPr id="6" name="opt-label-0">
            <a:extLst xmlns:a="http://schemas.openxmlformats.org/drawingml/2006/main">
              <a:ext uri="{FF2B5EF4-FFF2-40B4-BE49-F238E27FC236}">
                <a16:creationId xmlns:a16="http://schemas.microsoft.com/office/drawing/2014/main" id="{8BA7492C-2548-41EA-92CB-F5FD3866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431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RUNTIME</a:t>
            </a:r>
          </a:p>
        </p:txBody>
      </p:sp>
      <p:sp>
        <p:nvSpPr>
          <p:cNvPr id="7" name="opt-body-0">
            <a:extLst xmlns:a="http://schemas.openxmlformats.org/drawingml/2006/main">
              <a:ext uri="{FF2B5EF4-FFF2-40B4-BE49-F238E27FC236}">
                <a16:creationId xmlns:a16="http://schemas.microsoft.com/office/drawing/2014/main" id="{5C25EDDC-18A9-4885-853D-88F4610D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050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Q6_K GGUF · full GPU offload · flash attention · Q8_0 KV cache</a:t>
            </a:r>
          </a:p>
        </p:txBody>
      </p:sp>
      <p:cxnSp>
        <p:nvCxnSpPr>
          <p:cNvPr id="28" name="opt-rule-0"/>
          <p:cNvCxnSpPr/>
          <p:nvPr/>
        </p:nvCxnSpPr>
        <p:spPr>
          <a:xfrm xmlns:a="http://schemas.openxmlformats.org/drawingml/2006/main">
            <a:off x="4648200" y="25908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9" name="opt-label-1">
            <a:extLst xmlns:a="http://schemas.openxmlformats.org/drawingml/2006/main">
              <a:ext uri="{FF2B5EF4-FFF2-40B4-BE49-F238E27FC236}">
                <a16:creationId xmlns:a16="http://schemas.microsoft.com/office/drawing/2014/main" id="{23CCB089-1E94-4F9B-9350-3EC6D44D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PROMPT</a:t>
            </a:r>
          </a:p>
        </p:txBody>
      </p:sp>
      <p:sp>
        <p:nvSpPr>
          <p:cNvPr id="10" name="opt-body-1">
            <a:extLst xmlns:a="http://schemas.openxmlformats.org/drawingml/2006/main">
              <a:ext uri="{FF2B5EF4-FFF2-40B4-BE49-F238E27FC236}">
                <a16:creationId xmlns:a16="http://schemas.microsoft.com/office/drawing/2014/main" id="{DC051ECE-AC4F-409C-BA17-C91A85AF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194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Top-K RAG injects four cards instead of the full corpus</a:t>
            </a:r>
          </a:p>
        </p:txBody>
      </p:sp>
      <p:cxnSp>
        <p:nvCxnSpPr>
          <p:cNvPr id="31" name="opt-rule-1"/>
          <p:cNvCxnSpPr/>
          <p:nvPr/>
        </p:nvCxnSpPr>
        <p:spPr>
          <a:xfrm xmlns:a="http://schemas.openxmlformats.org/drawingml/2006/main">
            <a:off x="4648200" y="35052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2" name="opt-label-2">
            <a:extLst xmlns:a="http://schemas.openxmlformats.org/drawingml/2006/main">
              <a:ext uri="{FF2B5EF4-FFF2-40B4-BE49-F238E27FC236}">
                <a16:creationId xmlns:a16="http://schemas.microsoft.com/office/drawing/2014/main" id="{07201902-1028-4C08-BA4B-3EE6A774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7719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WORKFLOW</a:t>
            </a:r>
          </a:p>
        </p:txBody>
      </p:sp>
      <p:sp>
        <p:nvSpPr>
          <p:cNvPr id="13" name="opt-body-2">
            <a:extLst xmlns:a="http://schemas.openxmlformats.org/drawingml/2006/main">
              <a:ext uri="{FF2B5EF4-FFF2-40B4-BE49-F238E27FC236}">
                <a16:creationId xmlns:a16="http://schemas.microsoft.com/office/drawing/2014/main" id="{C3E92FAD-6594-4736-9072-FA1993D2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338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Deterministic EXIF, QR, crop, and size tools run before the VLM</a:t>
            </a:r>
          </a:p>
        </p:txBody>
      </p:sp>
      <p:cxnSp>
        <p:nvCxnSpPr>
          <p:cNvPr id="34" name="opt-rule-2"/>
          <p:cNvCxnSpPr/>
          <p:nvPr/>
        </p:nvCxnSpPr>
        <p:spPr>
          <a:xfrm xmlns:a="http://schemas.openxmlformats.org/drawingml/2006/main">
            <a:off x="4648200" y="4419600"/>
            <a:ext cx="714375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8D4"/>
            </a:solidFill>
            <a:prstDash val="solid"/>
          </a:ln>
        </p:spPr>
      </p:cxnSp>
      <p:sp>
        <p:nvSpPr>
          <p:cNvPr id="15" name="opt-label-3">
            <a:extLst xmlns:a="http://schemas.openxmlformats.org/drawingml/2006/main">
              <a:ext uri="{FF2B5EF4-FFF2-40B4-BE49-F238E27FC236}">
                <a16:creationId xmlns:a16="http://schemas.microsoft.com/office/drawing/2014/main" id="{BEA9F3F6-9206-4564-A3BB-1A4391B0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68630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OUTPUT</a:t>
            </a:r>
          </a:p>
        </p:txBody>
      </p:sp>
      <p:sp>
        <p:nvSpPr>
          <p:cNvPr id="16" name="opt-body-3">
            <a:extLst xmlns:a="http://schemas.openxmlformats.org/drawingml/2006/main">
              <a:ext uri="{FF2B5EF4-FFF2-40B4-BE49-F238E27FC236}">
                <a16:creationId xmlns:a16="http://schemas.microsoft.com/office/drawing/2014/main" id="{88C24BD7-D925-49ED-B723-F247FD6C9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4820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Bounded schemas, separated thinking headroom, one targeted repair</a:t>
            </a:r>
          </a:p>
        </p:txBody>
      </p:sp>
      <p:sp>
        <p:nvSpPr>
          <p:cNvPr id="17" name="metrics-label">
            <a:extLst xmlns:a="http://schemas.openxmlformats.org/drawingml/2006/main">
              <a:ext uri="{FF2B5EF4-FFF2-40B4-BE49-F238E27FC236}">
                <a16:creationId xmlns:a16="http://schemas.microsoft.com/office/drawing/2014/main" id="{94FD62CD-050E-4B08-AF0D-2779B510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6578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REPRODUCIBLE RUNNER CAPTURES</a:t>
            </a:r>
          </a:p>
        </p:txBody>
      </p:sp>
      <p:sp>
        <p:nvSpPr>
          <p:cNvPr id="18" name="metrics">
            <a:extLst xmlns:a="http://schemas.openxmlformats.org/drawingml/2006/main">
              <a:ext uri="{FF2B5EF4-FFF2-40B4-BE49-F238E27FC236}">
                <a16:creationId xmlns:a16="http://schemas.microsoft.com/office/drawing/2014/main" id="{4D56802F-5C58-4427-A513-29079443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6197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streaming TTFT · final-content TTFT · decode tok/s · end-to-end latency · JSON success</a:t>
            </a:r>
          </a:p>
        </p:txBody>
      </p:sp>
      <p:sp>
        <p:nvSpPr>
          <p:cNvPr id="19" name="footer-7">
            <a:extLst xmlns:a="http://schemas.openxmlformats.org/drawingml/2006/main">
              <a:ext uri="{FF2B5EF4-FFF2-40B4-BE49-F238E27FC236}">
                <a16:creationId xmlns:a16="http://schemas.microsoft.com/office/drawing/2014/main" id="{8DFAED9B-8500-4646-8DD4-7127CC19C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20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56219FF5-9ABA-48D8-BB2E-B244B7EE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17183285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accent">
            <a:extLst xmlns:a="http://schemas.openxmlformats.org/drawingml/2006/main">
              <a:ext uri="{FF2B5EF4-FFF2-40B4-BE49-F238E27FC236}">
                <a16:creationId xmlns:a16="http://schemas.microsoft.com/office/drawing/2014/main" id="{280B6339-772F-427F-A502-21A3FCCE5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05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54EB27-872E-42AB-B8F4-FC99DC75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11410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6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Consent and evidence keep every recommendation accountable</a:t>
            </a:r>
          </a:p>
        </p:txBody>
      </p:sp>
      <p:sp>
        <p:nvSpPr>
          <p:cNvPr id="3" name="trust-lead">
            <a:extLst xmlns:a="http://schemas.openxmlformats.org/drawingml/2006/main">
              <a:ext uri="{FF2B5EF4-FFF2-40B4-BE49-F238E27FC236}">
                <a16:creationId xmlns:a16="http://schemas.microsoft.com/office/drawing/2014/main" id="{1E28C33A-B50B-4766-AB65-C90BA169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XiangLens reviews communication choices. It does not decide who a person is.</a:t>
            </a:r>
          </a:p>
        </p:txBody>
      </p:sp>
      <p:sp>
        <p:nvSpPr>
          <p:cNvPr id="4" name="trust-body">
            <a:extLst xmlns:a="http://schemas.openxmlformats.org/drawingml/2006/main">
              <a:ext uri="{FF2B5EF4-FFF2-40B4-BE49-F238E27FC236}">
                <a16:creationId xmlns:a16="http://schemas.microsoft.com/office/drawing/2014/main" id="{4FC4A52F-54DE-47C2-A7BD-C17ACB55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19400"/>
            <a:ext cx="5334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Policy gate</a:t>
            </a:r>
          </a:p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Blocks identity, personality, employability, health, wealth, protected-attribute, and destiny 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Cited context</a:t>
            </a:r>
          </a:p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Cultural associations remain bounded, source-backed, and explicitly ambiguous.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Consent-first memory</a:t>
            </a:r>
          </a:p>
          <a:p xmlns:a="http://schemas.openxmlformats.org/drawingml/2006/main">
            <a:pPr algn="l">
              <a:def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The model drafts; only the user approves. One memory—or all private state—can be deleted.</a:t>
            </a:r>
          </a:p>
        </p:txBody>
      </p:sp>
      <p:sp>
        <p:nvSpPr>
          <p:cNvPr id="5" name="lotus-field">
            <a:extLst xmlns:a="http://schemas.openxmlformats.org/drawingml/2006/main">
              <a:ext uri="{FF2B5EF4-FFF2-40B4-BE49-F238E27FC236}">
                <a16:creationId xmlns:a16="http://schemas.microsoft.com/office/drawing/2014/main" id="{8276C300-6661-4353-B078-AB66F3F6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5562600" cy="447675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8D8D4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d9b10978748cd"/>
          <a:srcRect xmlns:a="http://schemas.openxmlformats.org/drawingml/2006/main" l="0" t="17748" r="0" b="177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15100" y="1752600"/>
            <a:ext cx="4991100" cy="3219450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lotus-caption">
            <a:extLst xmlns:a="http://schemas.openxmlformats.org/drawingml/2006/main">
              <a:ext uri="{FF2B5EF4-FFF2-40B4-BE49-F238E27FC236}">
                <a16:creationId xmlns:a16="http://schemas.microsoft.com/office/drawing/2014/main" id="{9B11330C-F7EF-425F-BA36-05431B4B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00650"/>
            <a:ext cx="4991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OPEN CHINESE SYMBOLISM LENS PACK</a:t>
            </a:r>
          </a:p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Documented association ≠ universal meaning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E80DC890-4D6A-41EC-9676-AA9BCF72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34125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9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D87062B6-8D28-4CB8-A96C-09E8EA195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341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XIANGLENS · TRACK 2</a:t>
            </a:r>
          </a:p>
        </p:txBody>
      </p:sp>
    </p:spTree>
    <p:extLst>
      <p:ext uri="{BB962C8B-B14F-4D97-AF65-F5344CB8AC3E}">
        <p14:creationId xmlns:p14="http://schemas.microsoft.com/office/powerpoint/2010/main" val="109592908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red-field">
            <a:extLst xmlns:a="http://schemas.openxmlformats.org/drawingml/2006/main">
              <a:ext uri="{FF2B5EF4-FFF2-40B4-BE49-F238E27FC236}">
                <a16:creationId xmlns:a16="http://schemas.microsoft.com/office/drawing/2014/main" id="{5D63A806-55F9-4BB0-86D0-CF0DFC3C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1B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2D674A2E-38C2-4E25-9A75-233656C4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THE JUDGE CAN VERIFY THE WHOLE STORY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BF67499-74F8-4B1D-8A9D-AE9E4F11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57225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Ready to verify,</a:t>
            </a:r>
          </a:p>
          <a:p xmlns:a="http://schemas.openxmlformats.org/drawingml/2006/main">
            <a:pPr algn="l">
              <a:def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end to end</a:t>
            </a:r>
          </a:p>
        </p:txBody>
      </p:sp>
      <p:sp>
        <p:nvSpPr>
          <p:cNvPr id="4" name="close-proof">
            <a:extLst xmlns:a="http://schemas.openxmlformats.org/drawingml/2006/main">
              <a:ext uri="{FF2B5EF4-FFF2-40B4-BE49-F238E27FC236}">
                <a16:creationId xmlns:a16="http://schemas.microsoft.com/office/drawing/2014/main" id="{6FA8DA9C-5EDD-4964-82ED-1113A525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52625"/>
            <a:ext cx="3429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120 deterministic image fixtures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32 inspectable knowledge cards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8 retrieval smoke queries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One 4:30 live Radeon demo</a:t>
            </a:r>
          </a:p>
        </p:txBody>
      </p:sp>
      <p:sp>
        <p:nvSpPr>
          <p:cNvPr id="5" name="close-flow">
            <a:extLst xmlns:a="http://schemas.openxmlformats.org/drawingml/2006/main">
              <a:ext uri="{FF2B5EF4-FFF2-40B4-BE49-F238E27FC236}">
                <a16:creationId xmlns:a16="http://schemas.microsoft.com/office/drawing/2014/main" id="{2720768A-710F-435D-937A-0A26C04B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387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Upload → inspect → observe → retrieve → compare → consent → report</a:t>
            </a:r>
          </a:p>
        </p:txBody>
      </p:sp>
      <p:sp>
        <p:nvSpPr>
          <p:cNvPr id="6" name="close-repo">
            <a:extLst xmlns:a="http://schemas.openxmlformats.org/drawingml/2006/main">
              <a:ext uri="{FF2B5EF4-FFF2-40B4-BE49-F238E27FC236}">
                <a16:creationId xmlns:a16="http://schemas.microsoft.com/office/drawing/2014/main" id="{D3B16D77-FAB6-4E01-938E-3F47AEAF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809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github.com/ld0574/Radeon-hackathon-2026-07</a:t>
            </a:r>
          </a:p>
          <a:p xmlns:a="http://schemas.openxmlformats.org/drawingml/2006/main">
            <a:pPr algn="l">
              <a:def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E51B23"/>
                </a:solidFill>
                <a:latin typeface="Helvetica Neue"/>
                <a:ea typeface="Helvetica Neue"/>
                <a:cs typeface="Helvetica Neue"/>
              </a:rPr>
              <a:t>Reproduce: docs/REPRODUCE.md</a:t>
            </a:r>
          </a:p>
        </p:txBody>
      </p:sp>
      <p:sp>
        <p:nvSpPr>
          <p:cNvPr id="7" name="close-values">
            <a:extLst xmlns:a="http://schemas.openxmlformats.org/drawingml/2006/main">
              <a:ext uri="{FF2B5EF4-FFF2-40B4-BE49-F238E27FC236}">
                <a16:creationId xmlns:a16="http://schemas.microsoft.com/office/drawing/2014/main" id="{A320F0F1-15D0-4F9E-B5FB-58FEE39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867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5F6368"/>
                </a:solidFill>
                <a:latin typeface="Helvetica Neue"/>
                <a:ea typeface="Helvetica Neue"/>
                <a:cs typeface="Helvetica Neue"/>
              </a:rPr>
              <a:t>PRIVATE · EVIDENCE-BACKED · USER-CONTROLLED</a:t>
            </a:r>
          </a:p>
        </p:txBody>
      </p:sp>
    </p:spTree>
    <p:extLst>
      <p:ext uri="{BB962C8B-B14F-4D97-AF65-F5344CB8AC3E}">
        <p14:creationId xmlns:p14="http://schemas.microsoft.com/office/powerpoint/2010/main" val="507413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2026-08-04T15:22:33.9650000Z</dcterms:created>
  <dcterms:modified xsi:type="dcterms:W3CDTF">2026-08-04T15:22:33.9650000Z</dcterms:modified>
</coreProperties>
</file>