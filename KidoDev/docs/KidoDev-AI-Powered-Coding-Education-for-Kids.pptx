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Italics" charset="1" panose="020B0604020202090204"/>
      <p:regular r:id="rId25"/>
    </p:embeddedFont>
    <p:embeddedFont>
      <p:font typeface="Arimo Bold Italics" charset="1" panose="020B0704020202090204"/>
      <p:regular r:id="rId26"/>
    </p:embeddedFont>
    <p:embeddedFont>
      <p:font typeface="Consolas" charset="1" panose="020B06090202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jpe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6.png" Type="http://schemas.openxmlformats.org/officeDocument/2006/relationships/image"/><Relationship Id="rId6" Target="../media/image3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2.jpe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jpe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jpe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2.jpe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https://github.com/maria2469/KidoDev" TargetMode="External" Type="http://schemas.openxmlformats.org/officeDocument/2006/relationships/hyperlink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4">
                <a:alphaModFix amt="95000"/>
              </a:blip>
              <a:stretch>
                <a:fillRect l="0" t="-18881" r="0" b="-1888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529610"/>
            <a:ext cx="7602418" cy="7018268"/>
            <a:chOff x="0" y="0"/>
            <a:chExt cx="10136557" cy="9357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36621" cy="9357741"/>
            </a:xfrm>
            <a:custGeom>
              <a:avLst/>
              <a:gdLst/>
              <a:ahLst/>
              <a:cxnLst/>
              <a:rect r="r" b="b" t="t" l="l"/>
              <a:pathLst>
                <a:path h="9357741" w="10136621">
                  <a:moveTo>
                    <a:pt x="0" y="0"/>
                  </a:moveTo>
                  <a:lnTo>
                    <a:pt x="10136621" y="0"/>
                  </a:lnTo>
                  <a:lnTo>
                    <a:pt x="10136621" y="9357741"/>
                  </a:lnTo>
                  <a:lnTo>
                    <a:pt x="0" y="9357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61" r="0" b="-416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56182" y="6280394"/>
            <a:ext cx="9452677" cy="691991"/>
            <a:chOff x="0" y="0"/>
            <a:chExt cx="12603569" cy="9226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3607" cy="922655"/>
            </a:xfrm>
            <a:custGeom>
              <a:avLst/>
              <a:gdLst/>
              <a:ahLst/>
              <a:cxnLst/>
              <a:rect r="r" b="b" t="t" l="l"/>
              <a:pathLst>
                <a:path h="922655" w="1260360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2476480" y="0"/>
                  </a:lnTo>
                  <a:cubicBezTo>
                    <a:pt x="12546712" y="0"/>
                    <a:pt x="12603607" y="56896"/>
                    <a:pt x="12603607" y="127127"/>
                  </a:cubicBezTo>
                  <a:lnTo>
                    <a:pt x="12603607" y="795528"/>
                  </a:lnTo>
                  <a:cubicBezTo>
                    <a:pt x="12603607" y="865759"/>
                    <a:pt x="12546712" y="922655"/>
                    <a:pt x="12476480" y="922655"/>
                  </a:cubicBezTo>
                  <a:lnTo>
                    <a:pt x="127127" y="922655"/>
                  </a:lnTo>
                  <a:cubicBezTo>
                    <a:pt x="56896" y="922655"/>
                    <a:pt x="0" y="865759"/>
                    <a:pt x="0" y="795528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26422" y="6512900"/>
            <a:ext cx="226990" cy="226990"/>
            <a:chOff x="0" y="0"/>
            <a:chExt cx="302654" cy="30265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302641" cy="302641"/>
            </a:xfrm>
            <a:custGeom>
              <a:avLst/>
              <a:gdLst/>
              <a:ahLst/>
              <a:cxnLst/>
              <a:rect r="r" b="b" t="t" l="l"/>
              <a:pathLst>
                <a:path h="302641" w="302641">
                  <a:moveTo>
                    <a:pt x="0" y="0"/>
                  </a:moveTo>
                  <a:lnTo>
                    <a:pt x="302641" y="0"/>
                  </a:lnTo>
                  <a:lnTo>
                    <a:pt x="302641" y="302641"/>
                  </a:lnTo>
                  <a:lnTo>
                    <a:pt x="0" y="302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856182" y="3246453"/>
            <a:ext cx="9452677" cy="192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b="true" sz="5554" spc="-11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KidoDev: AI-Powered Coding Education for Kids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6182" y="5554323"/>
            <a:ext cx="10367762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Teaching Kids to Code with Locally-Deployed AI Agents on AMD ROCm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66893" y="6355918"/>
            <a:ext cx="8771715" cy="53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AMD HACKATHON TRACK 2: AGENTIC AI / LOCAL AI AGENT DEVELOPMENT ON AMD RADEON GPU + ROCM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95492" y="0"/>
            <a:ext cx="7206348" cy="10295039"/>
            <a:chOff x="0" y="0"/>
            <a:chExt cx="9608464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75216" y="1631237"/>
            <a:ext cx="5308692" cy="7078589"/>
            <a:chOff x="0" y="0"/>
            <a:chExt cx="7078256" cy="943811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78218" cy="9438132"/>
            </a:xfrm>
            <a:custGeom>
              <a:avLst/>
              <a:gdLst/>
              <a:ahLst/>
              <a:cxnLst/>
              <a:rect r="r" b="b" t="t" l="l"/>
              <a:pathLst>
                <a:path h="9438132" w="7078218">
                  <a:moveTo>
                    <a:pt x="0" y="0"/>
                  </a:moveTo>
                  <a:lnTo>
                    <a:pt x="7078218" y="0"/>
                  </a:lnTo>
                  <a:lnTo>
                    <a:pt x="7078218" y="9438132"/>
                  </a:lnTo>
                  <a:lnTo>
                    <a:pt x="0" y="9438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" t="0" r="-1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904142"/>
            <a:ext cx="9452677" cy="153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b="true" sz="4428" spc="-90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The Problem: Kids Need Patient, Always-On Tutors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2709005"/>
            <a:ext cx="9452677" cy="1519980"/>
          </a:xfrm>
          <a:custGeom>
            <a:avLst/>
            <a:gdLst/>
            <a:ahLst/>
            <a:cxnLst/>
            <a:rect r="r" b="b" t="t" l="l"/>
            <a:pathLst>
              <a:path h="1519980" w="9452677">
                <a:moveTo>
                  <a:pt x="0" y="0"/>
                </a:moveTo>
                <a:lnTo>
                  <a:pt x="9452676" y="0"/>
                </a:lnTo>
                <a:lnTo>
                  <a:pt x="9452676" y="1519981"/>
                </a:lnTo>
                <a:lnTo>
                  <a:pt x="0" y="1519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15" r="0" b="-41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2961" y="2926490"/>
            <a:ext cx="8827122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b="true" sz="2176" spc="-4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Logic Gaps in Block Coding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2961" y="3423209"/>
            <a:ext cx="8827122" cy="55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Scratch-style block coding is intuitive — but learners consistently get stuck on loops, conditionals, and event handling. There's no one there to help at 9pm.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4410542"/>
            <a:ext cx="9452677" cy="1519980"/>
          </a:xfrm>
          <a:custGeom>
            <a:avLst/>
            <a:gdLst/>
            <a:ahLst/>
            <a:cxnLst/>
            <a:rect r="r" b="b" t="t" l="l"/>
            <a:pathLst>
              <a:path h="1519980" w="9452677">
                <a:moveTo>
                  <a:pt x="0" y="0"/>
                </a:moveTo>
                <a:lnTo>
                  <a:pt x="9452676" y="0"/>
                </a:lnTo>
                <a:lnTo>
                  <a:pt x="9452676" y="1519980"/>
                </a:lnTo>
                <a:lnTo>
                  <a:pt x="0" y="1519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15" r="0" b="-41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2961" y="4628036"/>
            <a:ext cx="8827122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b="true" sz="2176" spc="-4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Human Tutors Don't Scale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2961" y="5124745"/>
            <a:ext cx="8827122" cy="55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Qualified tutors are expensive, unavailable 24/7, and simply cannot reach the millions of children who need personalized support.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6112088"/>
            <a:ext cx="9452677" cy="1519980"/>
          </a:xfrm>
          <a:custGeom>
            <a:avLst/>
            <a:gdLst/>
            <a:ahLst/>
            <a:cxnLst/>
            <a:rect r="r" b="b" t="t" l="l"/>
            <a:pathLst>
              <a:path h="1519980" w="9452677">
                <a:moveTo>
                  <a:pt x="0" y="0"/>
                </a:moveTo>
                <a:lnTo>
                  <a:pt x="9452676" y="0"/>
                </a:lnTo>
                <a:lnTo>
                  <a:pt x="9452676" y="1519980"/>
                </a:lnTo>
                <a:lnTo>
                  <a:pt x="0" y="1519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15" r="0" b="-41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2961" y="6329572"/>
            <a:ext cx="8827122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b="true" sz="2176" spc="-4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Cloud AI = Privacy 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2961" y="6826291"/>
            <a:ext cx="8827122" cy="55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Cloud-based AI tutoring exposes children's learning data to third-party APIs — a serious concern for schools and parents under COPPA.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92991" y="7813624"/>
            <a:ext cx="9452677" cy="1519980"/>
          </a:xfrm>
          <a:custGeom>
            <a:avLst/>
            <a:gdLst/>
            <a:ahLst/>
            <a:cxnLst/>
            <a:rect r="r" b="b" t="t" l="l"/>
            <a:pathLst>
              <a:path h="1519980" w="9452677">
                <a:moveTo>
                  <a:pt x="0" y="0"/>
                </a:moveTo>
                <a:lnTo>
                  <a:pt x="9452676" y="0"/>
                </a:lnTo>
                <a:lnTo>
                  <a:pt x="9452676" y="1519981"/>
                </a:lnTo>
                <a:lnTo>
                  <a:pt x="0" y="1519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15" r="0" b="-415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62961" y="8031118"/>
            <a:ext cx="8827122" cy="4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b="true" sz="2176" spc="-4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Latency Kills Engagement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2961" y="8527828"/>
            <a:ext cx="8827122" cy="55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172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Kids expect instant feedback. A 2–3 second API round-trip shatters focus and breaks the learning flow mid-lesson.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10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98100"/>
            <a:ext cx="16315868" cy="90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b="true" sz="4953" spc="-100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Why Local AMD GPU Deployment Changes Everything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8252" y="3347380"/>
            <a:ext cx="4774892" cy="4775016"/>
            <a:chOff x="0" y="0"/>
            <a:chExt cx="6366523" cy="63666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366510" cy="6366637"/>
            </a:xfrm>
            <a:custGeom>
              <a:avLst/>
              <a:gdLst/>
              <a:ahLst/>
              <a:cxnLst/>
              <a:rect r="r" b="b" t="t" l="l"/>
              <a:pathLst>
                <a:path h="6366637" w="6366510">
                  <a:moveTo>
                    <a:pt x="0" y="0"/>
                  </a:moveTo>
                  <a:lnTo>
                    <a:pt x="6366510" y="0"/>
                  </a:lnTo>
                  <a:lnTo>
                    <a:pt x="6366510" y="6366637"/>
                  </a:lnTo>
                  <a:lnTo>
                    <a:pt x="0" y="636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916655" y="2293296"/>
            <a:ext cx="3337760" cy="4129630"/>
            <a:chOff x="0" y="0"/>
            <a:chExt cx="4450347" cy="55061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50334" cy="5506212"/>
            </a:xfrm>
            <a:custGeom>
              <a:avLst/>
              <a:gdLst/>
              <a:ahLst/>
              <a:cxnLst/>
              <a:rect r="r" b="b" t="t" l="l"/>
              <a:pathLst>
                <a:path h="5506212" w="4450334">
                  <a:moveTo>
                    <a:pt x="0" y="144272"/>
                  </a:moveTo>
                  <a:cubicBezTo>
                    <a:pt x="0" y="64516"/>
                    <a:pt x="64516" y="0"/>
                    <a:pt x="144272" y="0"/>
                  </a:cubicBezTo>
                  <a:lnTo>
                    <a:pt x="4306062" y="0"/>
                  </a:lnTo>
                  <a:cubicBezTo>
                    <a:pt x="4385691" y="0"/>
                    <a:pt x="4450334" y="64516"/>
                    <a:pt x="4450334" y="144272"/>
                  </a:cubicBezTo>
                  <a:lnTo>
                    <a:pt x="4450334" y="5361940"/>
                  </a:lnTo>
                  <a:cubicBezTo>
                    <a:pt x="4450334" y="5441569"/>
                    <a:pt x="4385818" y="5506212"/>
                    <a:pt x="4306062" y="5506212"/>
                  </a:cubicBezTo>
                  <a:lnTo>
                    <a:pt x="144272" y="5506212"/>
                  </a:lnTo>
                  <a:cubicBezTo>
                    <a:pt x="64516" y="5506212"/>
                    <a:pt x="0" y="5441569"/>
                    <a:pt x="0" y="5361940"/>
                  </a:cubicBezTo>
                  <a:close/>
                </a:path>
              </a:pathLst>
            </a:custGeom>
            <a:solidFill>
              <a:srgbClr val="101620"/>
            </a:solidFill>
            <a:ln w="28597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214835" y="2591486"/>
            <a:ext cx="766000" cy="766020"/>
            <a:chOff x="0" y="0"/>
            <a:chExt cx="1021334" cy="10213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487CFF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7425442" y="2802093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3" y="0"/>
                </a:lnTo>
                <a:lnTo>
                  <a:pt x="344653" y="344653"/>
                </a:lnTo>
                <a:lnTo>
                  <a:pt x="0" y="3446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457" r="0" b="-945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14835" y="3549225"/>
            <a:ext cx="2741400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Privacy First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14835" y="4203383"/>
            <a:ext cx="2741400" cy="192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Zero data leaves the device — children's workspace, interactions, and progress stay entirely on-premise.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55640" y="2293296"/>
            <a:ext cx="3337760" cy="4129630"/>
            <a:chOff x="0" y="0"/>
            <a:chExt cx="4450347" cy="55061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50334" cy="5506212"/>
            </a:xfrm>
            <a:custGeom>
              <a:avLst/>
              <a:gdLst/>
              <a:ahLst/>
              <a:cxnLst/>
              <a:rect r="r" b="b" t="t" l="l"/>
              <a:pathLst>
                <a:path h="5506212" w="4450334">
                  <a:moveTo>
                    <a:pt x="0" y="144272"/>
                  </a:moveTo>
                  <a:cubicBezTo>
                    <a:pt x="0" y="64516"/>
                    <a:pt x="64516" y="0"/>
                    <a:pt x="144272" y="0"/>
                  </a:cubicBezTo>
                  <a:lnTo>
                    <a:pt x="4306062" y="0"/>
                  </a:lnTo>
                  <a:cubicBezTo>
                    <a:pt x="4385691" y="0"/>
                    <a:pt x="4450334" y="64516"/>
                    <a:pt x="4450334" y="144272"/>
                  </a:cubicBezTo>
                  <a:lnTo>
                    <a:pt x="4450334" y="5361940"/>
                  </a:lnTo>
                  <a:cubicBezTo>
                    <a:pt x="4450334" y="5441569"/>
                    <a:pt x="4385818" y="5506212"/>
                    <a:pt x="4306062" y="5506212"/>
                  </a:cubicBezTo>
                  <a:lnTo>
                    <a:pt x="144272" y="5506212"/>
                  </a:lnTo>
                  <a:cubicBezTo>
                    <a:pt x="64516" y="5506212"/>
                    <a:pt x="0" y="5441569"/>
                    <a:pt x="0" y="5361940"/>
                  </a:cubicBezTo>
                  <a:close/>
                </a:path>
              </a:pathLst>
            </a:custGeom>
            <a:solidFill>
              <a:srgbClr val="101620"/>
            </a:solidFill>
            <a:ln w="28597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753820" y="2591486"/>
            <a:ext cx="766000" cy="766020"/>
            <a:chOff x="0" y="0"/>
            <a:chExt cx="1021334" cy="10213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487CFF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0964428" y="2802093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2" y="0"/>
                </a:lnTo>
                <a:lnTo>
                  <a:pt x="344652" y="344653"/>
                </a:lnTo>
                <a:lnTo>
                  <a:pt x="0" y="3446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9997" r="0" b="-5000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53820" y="3549225"/>
            <a:ext cx="2741400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No API Fees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53820" y="4203383"/>
            <a:ext cx="2741400" cy="160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Amortized GPU hardware cost enables unlimited tutoring at scale — no per-inference billing ever.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994625" y="2293296"/>
            <a:ext cx="3337760" cy="4129630"/>
            <a:chOff x="0" y="0"/>
            <a:chExt cx="4450347" cy="55061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50334" cy="5506212"/>
            </a:xfrm>
            <a:custGeom>
              <a:avLst/>
              <a:gdLst/>
              <a:ahLst/>
              <a:cxnLst/>
              <a:rect r="r" b="b" t="t" l="l"/>
              <a:pathLst>
                <a:path h="5506212" w="4450334">
                  <a:moveTo>
                    <a:pt x="0" y="144272"/>
                  </a:moveTo>
                  <a:cubicBezTo>
                    <a:pt x="0" y="64516"/>
                    <a:pt x="64516" y="0"/>
                    <a:pt x="144272" y="0"/>
                  </a:cubicBezTo>
                  <a:lnTo>
                    <a:pt x="4306062" y="0"/>
                  </a:lnTo>
                  <a:cubicBezTo>
                    <a:pt x="4385691" y="0"/>
                    <a:pt x="4450334" y="64516"/>
                    <a:pt x="4450334" y="144272"/>
                  </a:cubicBezTo>
                  <a:lnTo>
                    <a:pt x="4450334" y="5361940"/>
                  </a:lnTo>
                  <a:cubicBezTo>
                    <a:pt x="4450334" y="5441569"/>
                    <a:pt x="4385818" y="5506212"/>
                    <a:pt x="4306062" y="5506212"/>
                  </a:cubicBezTo>
                  <a:lnTo>
                    <a:pt x="144272" y="5506212"/>
                  </a:lnTo>
                  <a:cubicBezTo>
                    <a:pt x="64516" y="5506212"/>
                    <a:pt x="0" y="5441569"/>
                    <a:pt x="0" y="5361940"/>
                  </a:cubicBezTo>
                  <a:close/>
                </a:path>
              </a:pathLst>
            </a:custGeom>
            <a:solidFill>
              <a:srgbClr val="101620"/>
            </a:solidFill>
            <a:ln w="28597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292805" y="2591486"/>
            <a:ext cx="766000" cy="766020"/>
            <a:chOff x="0" y="0"/>
            <a:chExt cx="1021334" cy="10213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487CFF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4503403" y="2802093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3" y="0"/>
                </a:lnTo>
                <a:lnTo>
                  <a:pt x="344653" y="344653"/>
                </a:lnTo>
                <a:lnTo>
                  <a:pt x="0" y="3446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514" t="0" r="-13514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292805" y="3549225"/>
            <a:ext cx="2741400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Offline Ready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92805" y="4203383"/>
            <a:ext cx="2741400" cy="129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Works without internet — critical for schools in low-bandwidth or rural regions.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916655" y="6624161"/>
            <a:ext cx="10415730" cy="2552309"/>
            <a:chOff x="0" y="0"/>
            <a:chExt cx="13887641" cy="34030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887704" cy="3403092"/>
            </a:xfrm>
            <a:custGeom>
              <a:avLst/>
              <a:gdLst/>
              <a:ahLst/>
              <a:cxnLst/>
              <a:rect r="r" b="b" t="t" l="l"/>
              <a:pathLst>
                <a:path h="3403092" w="13887704">
                  <a:moveTo>
                    <a:pt x="0" y="144653"/>
                  </a:moveTo>
                  <a:cubicBezTo>
                    <a:pt x="0" y="64770"/>
                    <a:pt x="64770" y="0"/>
                    <a:pt x="144653" y="0"/>
                  </a:cubicBezTo>
                  <a:lnTo>
                    <a:pt x="13743051" y="0"/>
                  </a:lnTo>
                  <a:cubicBezTo>
                    <a:pt x="13822935" y="0"/>
                    <a:pt x="13887704" y="64770"/>
                    <a:pt x="13887704" y="144653"/>
                  </a:cubicBezTo>
                  <a:lnTo>
                    <a:pt x="13887704" y="3258439"/>
                  </a:lnTo>
                  <a:cubicBezTo>
                    <a:pt x="13887704" y="3338322"/>
                    <a:pt x="13822935" y="3403092"/>
                    <a:pt x="13743051" y="3403092"/>
                  </a:cubicBezTo>
                  <a:lnTo>
                    <a:pt x="144653" y="3403092"/>
                  </a:lnTo>
                  <a:cubicBezTo>
                    <a:pt x="64770" y="3403092"/>
                    <a:pt x="0" y="3338322"/>
                    <a:pt x="0" y="3258439"/>
                  </a:cubicBezTo>
                  <a:close/>
                </a:path>
              </a:pathLst>
            </a:custGeom>
            <a:solidFill>
              <a:srgbClr val="101620"/>
            </a:solidFill>
            <a:ln w="28597" cap="sq">
              <a:solidFill>
                <a:srgbClr val="002A8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214835" y="6922341"/>
            <a:ext cx="766000" cy="766020"/>
            <a:chOff x="0" y="0"/>
            <a:chExt cx="1021334" cy="1021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1334" cy="1021334"/>
            </a:xfrm>
            <a:custGeom>
              <a:avLst/>
              <a:gdLst/>
              <a:ahLst/>
              <a:cxnLst/>
              <a:rect r="r" b="b" t="t" l="l"/>
              <a:pathLst>
                <a:path h="1021334" w="1021334">
                  <a:moveTo>
                    <a:pt x="0" y="510667"/>
                  </a:moveTo>
                  <a:cubicBezTo>
                    <a:pt x="0" y="228600"/>
                    <a:pt x="228600" y="0"/>
                    <a:pt x="510667" y="0"/>
                  </a:cubicBezTo>
                  <a:cubicBezTo>
                    <a:pt x="792734" y="0"/>
                    <a:pt x="1021334" y="228600"/>
                    <a:pt x="1021334" y="510667"/>
                  </a:cubicBezTo>
                  <a:cubicBezTo>
                    <a:pt x="1021334" y="792734"/>
                    <a:pt x="792734" y="1021334"/>
                    <a:pt x="510667" y="1021334"/>
                  </a:cubicBezTo>
                  <a:cubicBezTo>
                    <a:pt x="228600" y="1021334"/>
                    <a:pt x="0" y="792734"/>
                    <a:pt x="0" y="510667"/>
                  </a:cubicBezTo>
                  <a:close/>
                </a:path>
              </a:pathLst>
            </a:custGeom>
            <a:solidFill>
              <a:srgbClr val="487CFF"/>
            </a:solidFill>
          </p:spPr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7425442" y="7132949"/>
            <a:ext cx="344653" cy="344653"/>
          </a:xfrm>
          <a:custGeom>
            <a:avLst/>
            <a:gdLst/>
            <a:ahLst/>
            <a:cxnLst/>
            <a:rect r="r" b="b" t="t" l="l"/>
            <a:pathLst>
              <a:path h="344653" w="344653">
                <a:moveTo>
                  <a:pt x="0" y="0"/>
                </a:moveTo>
                <a:lnTo>
                  <a:pt x="344653" y="0"/>
                </a:lnTo>
                <a:lnTo>
                  <a:pt x="344653" y="344652"/>
                </a:lnTo>
                <a:lnTo>
                  <a:pt x="0" y="344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1080" r="0" b="-3108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214835" y="7880090"/>
            <a:ext cx="9819370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Sub-Second Latency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14835" y="8534248"/>
            <a:ext cx="9819370" cy="34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Real-time, conversational tutoring with response times that keep kids in the zone.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13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842202"/>
            <a:ext cx="16315868" cy="99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b="true" sz="5554" spc="-11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KidoDev Executive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407997"/>
            <a:ext cx="1677667" cy="1677714"/>
            <a:chOff x="0" y="0"/>
            <a:chExt cx="2236889" cy="22369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236851" cy="2236978"/>
            </a:xfrm>
            <a:custGeom>
              <a:avLst/>
              <a:gdLst/>
              <a:ahLst/>
              <a:cxnLst/>
              <a:rect r="r" b="b" t="t" l="l"/>
              <a:pathLst>
                <a:path h="2236978" w="2236851">
                  <a:moveTo>
                    <a:pt x="0" y="0"/>
                  </a:moveTo>
                  <a:lnTo>
                    <a:pt x="2236851" y="0"/>
                  </a:lnTo>
                  <a:lnTo>
                    <a:pt x="2236851" y="2236978"/>
                  </a:lnTo>
                  <a:lnTo>
                    <a:pt x="0" y="2236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3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5402247"/>
            <a:ext cx="3812886" cy="49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777" spc="-5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Native AMD Inference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6033468"/>
            <a:ext cx="3812886" cy="188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End-to-end AI reasoning pipeline runs natively on AMD GPU via ROCm — zero external inference APIs in the loop.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60502" y="3407997"/>
            <a:ext cx="1677667" cy="1677714"/>
            <a:chOff x="0" y="0"/>
            <a:chExt cx="2236889" cy="223695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236851" cy="2236978"/>
            </a:xfrm>
            <a:custGeom>
              <a:avLst/>
              <a:gdLst/>
              <a:ahLst/>
              <a:cxnLst/>
              <a:rect r="r" b="b" t="t" l="l"/>
              <a:pathLst>
                <a:path h="2236978" w="2236851">
                  <a:moveTo>
                    <a:pt x="0" y="0"/>
                  </a:moveTo>
                  <a:lnTo>
                    <a:pt x="2236851" y="0"/>
                  </a:lnTo>
                  <a:lnTo>
                    <a:pt x="2236851" y="2236978"/>
                  </a:lnTo>
                  <a:lnTo>
                    <a:pt x="0" y="2236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3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60502" y="5402247"/>
            <a:ext cx="3813029" cy="96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777" spc="-5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Multi-Agent Orchestrator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60502" y="6494459"/>
            <a:ext cx="3813029" cy="188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Routes student requests to three specialist agents: Socratic Tutor, Curriculum Planner, and Business Insights.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8156" y="3407997"/>
            <a:ext cx="1677667" cy="1677714"/>
            <a:chOff x="0" y="0"/>
            <a:chExt cx="2236889" cy="223695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236851" cy="2236978"/>
            </a:xfrm>
            <a:custGeom>
              <a:avLst/>
              <a:gdLst/>
              <a:ahLst/>
              <a:cxnLst/>
              <a:rect r="r" b="b" t="t" l="l"/>
              <a:pathLst>
                <a:path h="2236978" w="2236851">
                  <a:moveTo>
                    <a:pt x="0" y="0"/>
                  </a:moveTo>
                  <a:lnTo>
                    <a:pt x="2236851" y="0"/>
                  </a:lnTo>
                  <a:lnTo>
                    <a:pt x="2236851" y="2236978"/>
                  </a:lnTo>
                  <a:lnTo>
                    <a:pt x="0" y="2236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3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28156" y="5402247"/>
            <a:ext cx="3813029" cy="49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777" spc="-5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Qwen 2.5 1.5B (int8)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8156" y="6033468"/>
            <a:ext cx="3813029" cy="15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Quantized model deployed on AMD Radeon GPU via PyTorch + ROCm inference stack — fast, efficient, local.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95820" y="3407997"/>
            <a:ext cx="1677667" cy="1677714"/>
            <a:chOff x="0" y="0"/>
            <a:chExt cx="2236889" cy="223695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236851" cy="2236978"/>
            </a:xfrm>
            <a:custGeom>
              <a:avLst/>
              <a:gdLst/>
              <a:ahLst/>
              <a:cxnLst/>
              <a:rect r="r" b="b" t="t" l="l"/>
              <a:pathLst>
                <a:path h="2236978" w="2236851">
                  <a:moveTo>
                    <a:pt x="0" y="0"/>
                  </a:moveTo>
                  <a:lnTo>
                    <a:pt x="2236851" y="0"/>
                  </a:lnTo>
                  <a:lnTo>
                    <a:pt x="2236851" y="2236978"/>
                  </a:lnTo>
                  <a:lnTo>
                    <a:pt x="0" y="2236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3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495820" y="5402247"/>
            <a:ext cx="3813029" cy="49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777" spc="-55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Full-Stack Platform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95820" y="6033468"/>
            <a:ext cx="3813029" cy="15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176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React frontend + FastAPI backend; Supabase for persistence; ngrok for secure HTTPS tunneling.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8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47760"/>
            <a:ext cx="16315868" cy="95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9"/>
              </a:lnSpc>
            </a:pPr>
            <a:r>
              <a:rPr lang="en-US" b="true" sz="5254" spc="-106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Architecture: End-to-End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64688" y="2212124"/>
            <a:ext cx="15372321" cy="6629076"/>
            <a:chOff x="0" y="0"/>
            <a:chExt cx="20496428" cy="883876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0496403" cy="8838819"/>
            </a:xfrm>
            <a:custGeom>
              <a:avLst/>
              <a:gdLst/>
              <a:ahLst/>
              <a:cxnLst/>
              <a:rect r="r" b="b" t="t" l="l"/>
              <a:pathLst>
                <a:path h="8838819" w="20496403">
                  <a:moveTo>
                    <a:pt x="0" y="0"/>
                  </a:moveTo>
                  <a:lnTo>
                    <a:pt x="20496403" y="0"/>
                  </a:lnTo>
                  <a:lnTo>
                    <a:pt x="20496403" y="8838819"/>
                  </a:lnTo>
                  <a:lnTo>
                    <a:pt x="0" y="8838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" r="0" b="-2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99074" y="7527731"/>
            <a:ext cx="3487464" cy="50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b="true" sz="2702" spc="-5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Agent Orchestrator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9074" y="5993206"/>
            <a:ext cx="3487464" cy="50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b="true" sz="2702" spc="-5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FastAPI Backend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9074" y="4474188"/>
            <a:ext cx="3487464" cy="50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b="true" sz="2702" spc="-5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ngrok Tunnel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99074" y="2939663"/>
            <a:ext cx="3487464" cy="50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b="true" sz="2702" spc="-5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React 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9110205"/>
            <a:ext cx="17230954" cy="36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101" i="true">
                <a:solidFill>
                  <a:srgbClr val="EBEDF0"/>
                </a:solidFill>
                <a:latin typeface="Arimo Italics"/>
                <a:ea typeface="Arimo Italics"/>
                <a:cs typeface="Arimo Italics"/>
                <a:sym typeface="Arimo Italics"/>
              </a:rPr>
              <a:t>All AI reasoning stays on AMD hardware — </a:t>
            </a:r>
            <a:r>
              <a:rPr lang="en-US" b="true" sz="2101" i="true">
                <a:solidFill>
                  <a:srgbClr val="FF6B35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no external LLM APIs are ever called.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5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15442"/>
            <a:ext cx="16315868" cy="95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9"/>
              </a:lnSpc>
            </a:pPr>
            <a:r>
              <a:rPr lang="en-US" b="true" sz="5254" spc="-106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AMD GPU &amp; ROCm Technical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25103" y="3268142"/>
            <a:ext cx="5018703" cy="5018837"/>
            <a:chOff x="0" y="0"/>
            <a:chExt cx="6691605" cy="669178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691630" cy="6691757"/>
            </a:xfrm>
            <a:custGeom>
              <a:avLst/>
              <a:gdLst/>
              <a:ahLst/>
              <a:cxnLst/>
              <a:rect r="r" b="b" t="t" l="l"/>
              <a:pathLst>
                <a:path h="6691757" w="6691630">
                  <a:moveTo>
                    <a:pt x="0" y="0"/>
                  </a:moveTo>
                  <a:lnTo>
                    <a:pt x="6691630" y="0"/>
                  </a:lnTo>
                  <a:lnTo>
                    <a:pt x="6691630" y="6691757"/>
                  </a:lnTo>
                  <a:lnTo>
                    <a:pt x="0" y="6691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6943173" y="2339921"/>
            <a:ext cx="5059518" cy="3480540"/>
          </a:xfrm>
          <a:custGeom>
            <a:avLst/>
            <a:gdLst/>
            <a:ahLst/>
            <a:cxnLst/>
            <a:rect r="r" b="b" t="t" l="l"/>
            <a:pathLst>
              <a:path h="3480540" w="5059518">
                <a:moveTo>
                  <a:pt x="0" y="0"/>
                </a:moveTo>
                <a:lnTo>
                  <a:pt x="5059518" y="0"/>
                </a:lnTo>
                <a:lnTo>
                  <a:pt x="5059518" y="3480540"/>
                </a:lnTo>
                <a:lnTo>
                  <a:pt x="0" y="3480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0" r="0" b="-14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70816" y="2505246"/>
            <a:ext cx="404222" cy="525628"/>
            <a:chOff x="0" y="0"/>
            <a:chExt cx="538963" cy="7008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8967" cy="700834"/>
            </a:xfrm>
            <a:custGeom>
              <a:avLst/>
              <a:gdLst/>
              <a:ahLst/>
              <a:cxnLst/>
              <a:rect r="r" b="b" t="t" l="l"/>
              <a:pathLst>
                <a:path h="700834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700834"/>
                  </a:lnTo>
                  <a:lnTo>
                    <a:pt x="0" y="7008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37" t="0" r="-11683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38963" cy="719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b="true" sz="3152" spc="-63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50735" y="3395081"/>
            <a:ext cx="4444394" cy="48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b="true" sz="2627" spc="-5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PyTorch ROCm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0735" y="4117581"/>
            <a:ext cx="4444394" cy="105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1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HIP 7.2 backend; model weights loaded and executed on cuda:0 device interface via ROCm runtime.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258723" y="2339921"/>
            <a:ext cx="5059518" cy="3480540"/>
          </a:xfrm>
          <a:custGeom>
            <a:avLst/>
            <a:gdLst/>
            <a:ahLst/>
            <a:cxnLst/>
            <a:rect r="r" b="b" t="t" l="l"/>
            <a:pathLst>
              <a:path h="3480540" w="5059518">
                <a:moveTo>
                  <a:pt x="0" y="0"/>
                </a:moveTo>
                <a:lnTo>
                  <a:pt x="5059518" y="0"/>
                </a:lnTo>
                <a:lnTo>
                  <a:pt x="5059518" y="3480540"/>
                </a:lnTo>
                <a:lnTo>
                  <a:pt x="0" y="3480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40" r="0" b="-14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586366" y="2505246"/>
            <a:ext cx="404222" cy="525628"/>
            <a:chOff x="0" y="0"/>
            <a:chExt cx="538963" cy="7008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8967" cy="700834"/>
            </a:xfrm>
            <a:custGeom>
              <a:avLst/>
              <a:gdLst/>
              <a:ahLst/>
              <a:cxnLst/>
              <a:rect r="r" b="b" t="t" l="l"/>
              <a:pathLst>
                <a:path h="700834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700834"/>
                  </a:lnTo>
                  <a:lnTo>
                    <a:pt x="0" y="7008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37" t="0" r="-11683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38963" cy="719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b="true" sz="3152" spc="-63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566285" y="3395081"/>
            <a:ext cx="4444394" cy="48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b="true" sz="2627" spc="-5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HuggingFace Transformers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66285" y="4117581"/>
            <a:ext cx="4444394" cy="139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1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Qwen 2.5 1.5B quantized int8 loaded via Transformers → dispatched to AMD GPU for inference.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6943173" y="6076483"/>
            <a:ext cx="5059518" cy="3138859"/>
          </a:xfrm>
          <a:custGeom>
            <a:avLst/>
            <a:gdLst/>
            <a:ahLst/>
            <a:cxnLst/>
            <a:rect r="r" b="b" t="t" l="l"/>
            <a:pathLst>
              <a:path h="3138859" w="5059518">
                <a:moveTo>
                  <a:pt x="0" y="0"/>
                </a:moveTo>
                <a:lnTo>
                  <a:pt x="5059518" y="0"/>
                </a:lnTo>
                <a:lnTo>
                  <a:pt x="5059518" y="3138859"/>
                </a:lnTo>
                <a:lnTo>
                  <a:pt x="0" y="31388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4" r="0" b="-144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270816" y="6241818"/>
            <a:ext cx="404222" cy="525628"/>
            <a:chOff x="0" y="0"/>
            <a:chExt cx="538963" cy="7008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8967" cy="700834"/>
            </a:xfrm>
            <a:custGeom>
              <a:avLst/>
              <a:gdLst/>
              <a:ahLst/>
              <a:cxnLst/>
              <a:rect r="r" b="b" t="t" l="l"/>
              <a:pathLst>
                <a:path h="700834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700834"/>
                  </a:lnTo>
                  <a:lnTo>
                    <a:pt x="0" y="7008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37" t="0" r="-11683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38963" cy="719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b="true" sz="3152" spc="-63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250735" y="7131644"/>
            <a:ext cx="4444394" cy="48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b="true" sz="2627" spc="-5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GPU Telemetry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50735" y="7854153"/>
            <a:ext cx="4444394" cy="105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1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rocm-smi monitoring; VRAM utilization ~2.8 GB; inference latency </a:t>
            </a:r>
            <a:r>
              <a:rPr lang="en-US" sz="2101" b="true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150–300ms per token</a:t>
            </a:r>
            <a:r>
              <a:rPr lang="en-US" sz="21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12258723" y="6076483"/>
            <a:ext cx="5059518" cy="3138859"/>
          </a:xfrm>
          <a:custGeom>
            <a:avLst/>
            <a:gdLst/>
            <a:ahLst/>
            <a:cxnLst/>
            <a:rect r="r" b="b" t="t" l="l"/>
            <a:pathLst>
              <a:path h="3138859" w="5059518">
                <a:moveTo>
                  <a:pt x="0" y="0"/>
                </a:moveTo>
                <a:lnTo>
                  <a:pt x="5059518" y="0"/>
                </a:lnTo>
                <a:lnTo>
                  <a:pt x="5059518" y="3138859"/>
                </a:lnTo>
                <a:lnTo>
                  <a:pt x="0" y="31388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4" r="0" b="-144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586366" y="6241818"/>
            <a:ext cx="404222" cy="525628"/>
            <a:chOff x="0" y="0"/>
            <a:chExt cx="538963" cy="7008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8967" cy="700834"/>
            </a:xfrm>
            <a:custGeom>
              <a:avLst/>
              <a:gdLst/>
              <a:ahLst/>
              <a:cxnLst/>
              <a:rect r="r" b="b" t="t" l="l"/>
              <a:pathLst>
                <a:path h="700834" w="538967">
                  <a:moveTo>
                    <a:pt x="0" y="0"/>
                  </a:moveTo>
                  <a:lnTo>
                    <a:pt x="538967" y="0"/>
                  </a:lnTo>
                  <a:lnTo>
                    <a:pt x="538967" y="700834"/>
                  </a:lnTo>
                  <a:lnTo>
                    <a:pt x="0" y="70083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37" t="0" r="-116836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38963" cy="719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b="true" sz="3152" spc="-63">
                  <a:solidFill>
                    <a:srgbClr val="EBEDF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566285" y="7131644"/>
            <a:ext cx="4444394" cy="485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b="true" sz="2627" spc="-5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Optimization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66285" y="7854153"/>
            <a:ext cx="4444394" cy="104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1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Flash Attention 2, KV-cache reuse, and batch inference for efficient multi-turn conversation handling.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10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2002"/>
            <a:ext cx="16315868" cy="69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b="true" sz="3827" spc="-76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Request Pipeline: From Student Click to AI Response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3456" y="1734455"/>
            <a:ext cx="801005" cy="1192149"/>
            <a:chOff x="0" y="0"/>
            <a:chExt cx="1068006" cy="1589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43" cy="1589532"/>
            </a:xfrm>
            <a:custGeom>
              <a:avLst/>
              <a:gdLst/>
              <a:ahLst/>
              <a:cxnLst/>
              <a:rect r="r" b="b" t="t" l="l"/>
              <a:pathLst>
                <a:path h="1589532" w="1067943">
                  <a:moveTo>
                    <a:pt x="0" y="534035"/>
                  </a:moveTo>
                  <a:cubicBezTo>
                    <a:pt x="0" y="239141"/>
                    <a:pt x="239141" y="0"/>
                    <a:pt x="534035" y="0"/>
                  </a:cubicBezTo>
                  <a:cubicBezTo>
                    <a:pt x="828929" y="0"/>
                    <a:pt x="1067943" y="239141"/>
                    <a:pt x="1067943" y="534035"/>
                  </a:cubicBezTo>
                  <a:lnTo>
                    <a:pt x="1067943" y="1055497"/>
                  </a:lnTo>
                  <a:cubicBezTo>
                    <a:pt x="1067943" y="1350391"/>
                    <a:pt x="828802" y="1589532"/>
                    <a:pt x="533908" y="1589532"/>
                  </a:cubicBezTo>
                  <a:cubicBezTo>
                    <a:pt x="239014" y="1589532"/>
                    <a:pt x="0" y="1350518"/>
                    <a:pt x="0" y="1055497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237250" y="2183825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289" r="0" b="-1128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09572" y="1891779"/>
            <a:ext cx="1539928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b="true" sz="1876" spc="-3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Student Submits Request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9572" y="2337835"/>
            <a:ext cx="15399287" cy="2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"Why won't my sprite move?" — entered via React Blockly workspace.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3456" y="3042190"/>
            <a:ext cx="801005" cy="1192149"/>
            <a:chOff x="0" y="0"/>
            <a:chExt cx="1068006" cy="15895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7943" cy="1589532"/>
            </a:xfrm>
            <a:custGeom>
              <a:avLst/>
              <a:gdLst/>
              <a:ahLst/>
              <a:cxnLst/>
              <a:rect r="r" b="b" t="t" l="l"/>
              <a:pathLst>
                <a:path h="1589532" w="1067943">
                  <a:moveTo>
                    <a:pt x="0" y="534035"/>
                  </a:moveTo>
                  <a:cubicBezTo>
                    <a:pt x="0" y="239141"/>
                    <a:pt x="239141" y="0"/>
                    <a:pt x="534035" y="0"/>
                  </a:cubicBezTo>
                  <a:cubicBezTo>
                    <a:pt x="828929" y="0"/>
                    <a:pt x="1067943" y="239141"/>
                    <a:pt x="1067943" y="534035"/>
                  </a:cubicBezTo>
                  <a:lnTo>
                    <a:pt x="1067943" y="1055497"/>
                  </a:lnTo>
                  <a:cubicBezTo>
                    <a:pt x="1067943" y="1350391"/>
                    <a:pt x="828802" y="1589532"/>
                    <a:pt x="533908" y="1589532"/>
                  </a:cubicBezTo>
                  <a:cubicBezTo>
                    <a:pt x="239014" y="1589532"/>
                    <a:pt x="0" y="1350518"/>
                    <a:pt x="0" y="1055497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237250" y="3491560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14" t="0" r="-1614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09572" y="3199514"/>
            <a:ext cx="1539928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b="true" sz="1876" spc="-3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Capture Context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9572" y="3645560"/>
            <a:ext cx="15399287" cy="2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Frontend captures Blockly AST + lesson metadata + full conversation history.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3456" y="4349925"/>
            <a:ext cx="801005" cy="1192149"/>
            <a:chOff x="0" y="0"/>
            <a:chExt cx="1068006" cy="1589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7943" cy="1589532"/>
            </a:xfrm>
            <a:custGeom>
              <a:avLst/>
              <a:gdLst/>
              <a:ahLst/>
              <a:cxnLst/>
              <a:rect r="r" b="b" t="t" l="l"/>
              <a:pathLst>
                <a:path h="1589532" w="1067943">
                  <a:moveTo>
                    <a:pt x="0" y="534035"/>
                  </a:moveTo>
                  <a:cubicBezTo>
                    <a:pt x="0" y="239141"/>
                    <a:pt x="239141" y="0"/>
                    <a:pt x="534035" y="0"/>
                  </a:cubicBezTo>
                  <a:cubicBezTo>
                    <a:pt x="828929" y="0"/>
                    <a:pt x="1067943" y="239141"/>
                    <a:pt x="1067943" y="534035"/>
                  </a:cubicBezTo>
                  <a:lnTo>
                    <a:pt x="1067943" y="1055497"/>
                  </a:lnTo>
                  <a:cubicBezTo>
                    <a:pt x="1067943" y="1350391"/>
                    <a:pt x="828802" y="1589532"/>
                    <a:pt x="533908" y="1589532"/>
                  </a:cubicBezTo>
                  <a:cubicBezTo>
                    <a:pt x="239014" y="1589532"/>
                    <a:pt x="0" y="1350518"/>
                    <a:pt x="0" y="1055497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1237250" y="4799286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4"/>
                </a:lnTo>
                <a:lnTo>
                  <a:pt x="0" y="2932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453" t="0" r="-645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909572" y="4507249"/>
            <a:ext cx="1539928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b="true" sz="1876" spc="-3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FastAPI + Supabase Log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9572" y="4953295"/>
            <a:ext cx="15399287" cy="2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Endpoint receives request via ngrok; validates payload and persists to Supabase.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3456" y="5657660"/>
            <a:ext cx="801005" cy="1192149"/>
            <a:chOff x="0" y="0"/>
            <a:chExt cx="1068006" cy="15895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7943" cy="1589532"/>
            </a:xfrm>
            <a:custGeom>
              <a:avLst/>
              <a:gdLst/>
              <a:ahLst/>
              <a:cxnLst/>
              <a:rect r="r" b="b" t="t" l="l"/>
              <a:pathLst>
                <a:path h="1589532" w="1067943">
                  <a:moveTo>
                    <a:pt x="0" y="534035"/>
                  </a:moveTo>
                  <a:cubicBezTo>
                    <a:pt x="0" y="239141"/>
                    <a:pt x="239141" y="0"/>
                    <a:pt x="534035" y="0"/>
                  </a:cubicBezTo>
                  <a:cubicBezTo>
                    <a:pt x="828929" y="0"/>
                    <a:pt x="1067943" y="239141"/>
                    <a:pt x="1067943" y="534035"/>
                  </a:cubicBezTo>
                  <a:lnTo>
                    <a:pt x="1067943" y="1055497"/>
                  </a:lnTo>
                  <a:cubicBezTo>
                    <a:pt x="1067943" y="1350391"/>
                    <a:pt x="828802" y="1589532"/>
                    <a:pt x="533908" y="1589532"/>
                  </a:cubicBezTo>
                  <a:cubicBezTo>
                    <a:pt x="239014" y="1589532"/>
                    <a:pt x="0" y="1350518"/>
                    <a:pt x="0" y="1055497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237250" y="6107020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8064" r="0" b="-8061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909572" y="5814974"/>
            <a:ext cx="1539928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b="true" sz="1876" spc="-3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Agent Routing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9572" y="6261030"/>
            <a:ext cx="15399287" cy="2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Orchestrator routes to the correct specialist: Socratic Tutor, Curriculum, or Business Insights.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3456" y="6965385"/>
            <a:ext cx="801005" cy="1192149"/>
            <a:chOff x="0" y="0"/>
            <a:chExt cx="1068006" cy="15895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7943" cy="1589532"/>
            </a:xfrm>
            <a:custGeom>
              <a:avLst/>
              <a:gdLst/>
              <a:ahLst/>
              <a:cxnLst/>
              <a:rect r="r" b="b" t="t" l="l"/>
              <a:pathLst>
                <a:path h="1589532" w="1067943">
                  <a:moveTo>
                    <a:pt x="0" y="534035"/>
                  </a:moveTo>
                  <a:cubicBezTo>
                    <a:pt x="0" y="239141"/>
                    <a:pt x="239141" y="0"/>
                    <a:pt x="534035" y="0"/>
                  </a:cubicBezTo>
                  <a:cubicBezTo>
                    <a:pt x="828929" y="0"/>
                    <a:pt x="1067943" y="239141"/>
                    <a:pt x="1067943" y="534035"/>
                  </a:cubicBezTo>
                  <a:lnTo>
                    <a:pt x="1067943" y="1055497"/>
                  </a:lnTo>
                  <a:cubicBezTo>
                    <a:pt x="1067943" y="1350391"/>
                    <a:pt x="828802" y="1589532"/>
                    <a:pt x="533908" y="1589532"/>
                  </a:cubicBezTo>
                  <a:cubicBezTo>
                    <a:pt x="239014" y="1589532"/>
                    <a:pt x="0" y="1350518"/>
                    <a:pt x="0" y="1055497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237250" y="7414755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909572" y="7122709"/>
            <a:ext cx="1539928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b="true" sz="1876" spc="-3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Local Qwen Inference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09572" y="7568765"/>
            <a:ext cx="15399287" cy="2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Prompt with AST diff + XP + context → ReAct reasoning on AMD GPU via ROCm.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3456" y="8273120"/>
            <a:ext cx="801005" cy="1192149"/>
            <a:chOff x="0" y="0"/>
            <a:chExt cx="1068006" cy="15895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7943" cy="1589532"/>
            </a:xfrm>
            <a:custGeom>
              <a:avLst/>
              <a:gdLst/>
              <a:ahLst/>
              <a:cxnLst/>
              <a:rect r="r" b="b" t="t" l="l"/>
              <a:pathLst>
                <a:path h="1589532" w="1067943">
                  <a:moveTo>
                    <a:pt x="0" y="534035"/>
                  </a:moveTo>
                  <a:cubicBezTo>
                    <a:pt x="0" y="239141"/>
                    <a:pt x="239141" y="0"/>
                    <a:pt x="534035" y="0"/>
                  </a:cubicBezTo>
                  <a:cubicBezTo>
                    <a:pt x="828929" y="0"/>
                    <a:pt x="1067943" y="239141"/>
                    <a:pt x="1067943" y="534035"/>
                  </a:cubicBezTo>
                  <a:lnTo>
                    <a:pt x="1067943" y="1055497"/>
                  </a:lnTo>
                  <a:cubicBezTo>
                    <a:pt x="1067943" y="1350391"/>
                    <a:pt x="828802" y="1589532"/>
                    <a:pt x="533908" y="1589532"/>
                  </a:cubicBezTo>
                  <a:cubicBezTo>
                    <a:pt x="239014" y="1589532"/>
                    <a:pt x="0" y="1350518"/>
                    <a:pt x="0" y="1055497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1237250" y="8722490"/>
            <a:ext cx="293265" cy="293275"/>
          </a:xfrm>
          <a:custGeom>
            <a:avLst/>
            <a:gdLst/>
            <a:ahLst/>
            <a:cxnLst/>
            <a:rect r="r" b="b" t="t" l="l"/>
            <a:pathLst>
              <a:path h="293275" w="293265">
                <a:moveTo>
                  <a:pt x="0" y="0"/>
                </a:moveTo>
                <a:lnTo>
                  <a:pt x="293265" y="0"/>
                </a:lnTo>
                <a:lnTo>
                  <a:pt x="293265" y="293275"/>
                </a:lnTo>
                <a:lnTo>
                  <a:pt x="0" y="293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909572" y="8430444"/>
            <a:ext cx="15399287" cy="36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b="true" sz="1876" spc="-3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Response + Persist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9572" y="8876500"/>
            <a:ext cx="15399287" cy="2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50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JSON (hint, block suggestion, SVG transform) → rendered in frontend + saved to Supabase.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16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2236"/>
            <a:ext cx="16315868" cy="91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b="true" sz="4953" spc="-100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Agent 1: Socratic Visual Tutor (KidoBot) </a:t>
            </a:r>
            <a:r>
              <a:rPr lang="en-US" b="true" sz="4953" spc="-1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🧠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88755" y="2357266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22742" y="2303155"/>
            <a:ext cx="7016753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Multi-turn ReAct Reasoning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2742" y="2957312"/>
            <a:ext cx="7016753" cy="97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KidoBot thinks through the student's Blockly workspace step-by-step before responding — no shallow pattern matching.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088755" y="4407941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22742" y="4353830"/>
            <a:ext cx="7016753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XML AST Gap Diffing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2742" y="5007978"/>
            <a:ext cx="7016753" cy="65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Compares student blocks to the target lesson structure; pinpoints exactly which logic piece is missing.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88755" y="6143139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22742" y="6089028"/>
            <a:ext cx="7016753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Socratic Hints Only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2742" y="6743186"/>
            <a:ext cx="7016753" cy="65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Asks guiding questions without spoiling answers — </a:t>
            </a:r>
            <a:r>
              <a:rPr lang="en-US" sz="1951" i="true">
                <a:solidFill>
                  <a:srgbClr val="EBEDF0"/>
                </a:solidFill>
                <a:latin typeface="Arimo Italics"/>
                <a:ea typeface="Arimo Italics"/>
                <a:cs typeface="Arimo Italics"/>
                <a:sym typeface="Arimo Italics"/>
              </a:rPr>
              <a:t>"What should happen when the arrow key is pressed?"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088755" y="7878347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22742" y="7824235"/>
            <a:ext cx="7016753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Autonomous Visual Co-Pilot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2742" y="8478393"/>
            <a:ext cx="7016753" cy="65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Suggests block drag-drop operations via SVG screen matrix transforms — visually guides the child's next move.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91920" y="2082689"/>
            <a:ext cx="8310258" cy="4443384"/>
            <a:chOff x="0" y="0"/>
            <a:chExt cx="10952112" cy="58559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52099" cy="5855948"/>
            </a:xfrm>
            <a:custGeom>
              <a:avLst/>
              <a:gdLst/>
              <a:ahLst/>
              <a:cxnLst/>
              <a:rect r="r" b="b" t="t" l="l"/>
              <a:pathLst>
                <a:path h="5855948" w="10952099">
                  <a:moveTo>
                    <a:pt x="0" y="147190"/>
                  </a:moveTo>
                  <a:cubicBezTo>
                    <a:pt x="0" y="65892"/>
                    <a:pt x="109728" y="0"/>
                    <a:pt x="245110" y="0"/>
                  </a:cubicBezTo>
                  <a:lnTo>
                    <a:pt x="10706989" y="0"/>
                  </a:lnTo>
                  <a:cubicBezTo>
                    <a:pt x="10842371" y="0"/>
                    <a:pt x="10952099" y="65892"/>
                    <a:pt x="10952099" y="147190"/>
                  </a:cubicBezTo>
                  <a:lnTo>
                    <a:pt x="10952099" y="5708758"/>
                  </a:lnTo>
                  <a:cubicBezTo>
                    <a:pt x="10952099" y="5790055"/>
                    <a:pt x="10842371" y="5855948"/>
                    <a:pt x="10706989" y="5855948"/>
                  </a:cubicBezTo>
                  <a:lnTo>
                    <a:pt x="245110" y="5855948"/>
                  </a:lnTo>
                  <a:cubicBezTo>
                    <a:pt x="109728" y="5855948"/>
                    <a:pt x="0" y="5790055"/>
                    <a:pt x="0" y="5708758"/>
                  </a:cubicBezTo>
                  <a:close/>
                </a:path>
              </a:pathLst>
            </a:custGeom>
            <a:solidFill>
              <a:srgbClr val="FF6B35">
                <a:alpha val="90196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43383" y="2274408"/>
            <a:ext cx="7703515" cy="45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476" spc="-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Example Scenario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43383" y="2928566"/>
            <a:ext cx="7703515" cy="67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Student's sprite doesn't move → KidoBot detects missing move 10 steps block → diffs AST against target → hints: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6307" y="4043867"/>
            <a:ext cx="7320591" cy="97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"What should happen when the arrow key is pressed? Look at your Events blocks — is there something that tells the sprite what to do?"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43383" y="3865702"/>
            <a:ext cx="28594" cy="1359865"/>
            <a:chOff x="0" y="0"/>
            <a:chExt cx="38125" cy="18131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1813179"/>
            </a:xfrm>
            <a:custGeom>
              <a:avLst/>
              <a:gdLst/>
              <a:ahLst/>
              <a:cxnLst/>
              <a:rect r="r" b="b" t="t" l="l"/>
              <a:pathLst>
                <a:path h="1813179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794129"/>
                  </a:lnTo>
                  <a:cubicBezTo>
                    <a:pt x="38100" y="1804670"/>
                    <a:pt x="29591" y="1813179"/>
                    <a:pt x="19050" y="1813179"/>
                  </a:cubicBezTo>
                  <a:cubicBezTo>
                    <a:pt x="8509" y="1813179"/>
                    <a:pt x="0" y="1804670"/>
                    <a:pt x="0" y="1794129"/>
                  </a:cubicBezTo>
                  <a:close/>
                </a:path>
              </a:pathLst>
            </a:custGeom>
            <a:solidFill>
              <a:srgbClr val="6296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543383" y="5455558"/>
            <a:ext cx="8618611" cy="34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9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Student figures it out. </a:t>
            </a:r>
            <a:r>
              <a:rPr lang="en-US" sz="19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 answer given. Reasoning built.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7246898" y="9625060"/>
            <a:ext cx="849216" cy="616436"/>
            <a:chOff x="0" y="0"/>
            <a:chExt cx="14711399" cy="106788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6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52548"/>
            <a:ext cx="16315868" cy="145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b="true" sz="4128" spc="-84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Agent 2: Curriculum Agent </a:t>
            </a:r>
            <a:r>
              <a:rPr lang="en-US" b="true" sz="4128" spc="-8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📚</a:t>
            </a:r>
            <a:r>
              <a:rPr lang="en-US" b="true" sz="4128" spc="-84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    Agent 3: Business Insights Agent </a:t>
            </a:r>
            <a:r>
              <a:rPr lang="en-US" b="true" sz="4128" spc="-8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📊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830687"/>
            <a:ext cx="2203875" cy="323212"/>
            <a:chOff x="0" y="0"/>
            <a:chExt cx="2938501" cy="4309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38526" cy="431038"/>
            </a:xfrm>
            <a:custGeom>
              <a:avLst/>
              <a:gdLst/>
              <a:ahLst/>
              <a:cxnLst/>
              <a:rect r="r" b="b" t="t" l="l"/>
              <a:pathLst>
                <a:path h="431038" w="2938526">
                  <a:moveTo>
                    <a:pt x="0" y="95377"/>
                  </a:moveTo>
                  <a:cubicBezTo>
                    <a:pt x="0" y="42672"/>
                    <a:pt x="42672" y="0"/>
                    <a:pt x="95377" y="0"/>
                  </a:cubicBezTo>
                  <a:lnTo>
                    <a:pt x="2843149" y="0"/>
                  </a:lnTo>
                  <a:cubicBezTo>
                    <a:pt x="2895854" y="0"/>
                    <a:pt x="2938526" y="42672"/>
                    <a:pt x="2938526" y="95377"/>
                  </a:cubicBezTo>
                  <a:lnTo>
                    <a:pt x="2938526" y="335661"/>
                  </a:lnTo>
                  <a:cubicBezTo>
                    <a:pt x="2938526" y="388366"/>
                    <a:pt x="2895854" y="431038"/>
                    <a:pt x="2843149" y="431038"/>
                  </a:cubicBezTo>
                  <a:lnTo>
                    <a:pt x="95377" y="431038"/>
                  </a:lnTo>
                  <a:cubicBezTo>
                    <a:pt x="42672" y="430911"/>
                    <a:pt x="0" y="388239"/>
                    <a:pt x="0" y="335661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20626" y="2907097"/>
            <a:ext cx="170240" cy="170240"/>
            <a:chOff x="0" y="0"/>
            <a:chExt cx="226987" cy="22698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26949" cy="226949"/>
            </a:xfrm>
            <a:custGeom>
              <a:avLst/>
              <a:gdLst/>
              <a:ahLst/>
              <a:cxnLst/>
              <a:rect r="r" b="b" t="t" l="l"/>
              <a:pathLst>
                <a:path h="226949" w="226949">
                  <a:moveTo>
                    <a:pt x="0" y="0"/>
                  </a:moveTo>
                  <a:lnTo>
                    <a:pt x="226949" y="0"/>
                  </a:lnTo>
                  <a:lnTo>
                    <a:pt x="226949" y="226949"/>
                  </a:lnTo>
                  <a:lnTo>
                    <a:pt x="0" y="226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5" b="-1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75915" y="2884913"/>
            <a:ext cx="2608402" cy="20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CURRICULUM AGENT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3456" y="3323844"/>
            <a:ext cx="497757" cy="497776"/>
            <a:chOff x="0" y="0"/>
            <a:chExt cx="663677" cy="6637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702" cy="663702"/>
            </a:xfrm>
            <a:custGeom>
              <a:avLst/>
              <a:gdLst/>
              <a:ahLst/>
              <a:cxnLst/>
              <a:rect r="r" b="b" t="t" l="l"/>
              <a:pathLst>
                <a:path h="663702" w="663702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539750" y="0"/>
                  </a:lnTo>
                  <a:cubicBezTo>
                    <a:pt x="608203" y="0"/>
                    <a:pt x="663702" y="55499"/>
                    <a:pt x="663702" y="123952"/>
                  </a:cubicBezTo>
                  <a:lnTo>
                    <a:pt x="663702" y="539750"/>
                  </a:lnTo>
                  <a:cubicBezTo>
                    <a:pt x="663702" y="608203"/>
                    <a:pt x="608203" y="663702"/>
                    <a:pt x="539750" y="663702"/>
                  </a:cubicBezTo>
                  <a:lnTo>
                    <a:pt x="123952" y="663702"/>
                  </a:lnTo>
                  <a:cubicBezTo>
                    <a:pt x="55499" y="663702"/>
                    <a:pt x="0" y="608203"/>
                    <a:pt x="0" y="539750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631204" y="3371231"/>
            <a:ext cx="7260117" cy="3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Progress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204" y="3895506"/>
            <a:ext cx="726011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Tracks lesson completions, XP earned, and accuracy per block type to build a real picture of each learner.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3456" y="4698749"/>
            <a:ext cx="497757" cy="497776"/>
            <a:chOff x="0" y="0"/>
            <a:chExt cx="663677" cy="6637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3702" cy="663702"/>
            </a:xfrm>
            <a:custGeom>
              <a:avLst/>
              <a:gdLst/>
              <a:ahLst/>
              <a:cxnLst/>
              <a:rect r="r" b="b" t="t" l="l"/>
              <a:pathLst>
                <a:path h="663702" w="663702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539750" y="0"/>
                  </a:lnTo>
                  <a:cubicBezTo>
                    <a:pt x="608203" y="0"/>
                    <a:pt x="663702" y="55499"/>
                    <a:pt x="663702" y="123952"/>
                  </a:cubicBezTo>
                  <a:lnTo>
                    <a:pt x="663702" y="539750"/>
                  </a:lnTo>
                  <a:cubicBezTo>
                    <a:pt x="663702" y="608203"/>
                    <a:pt x="608203" y="663702"/>
                    <a:pt x="539750" y="663702"/>
                  </a:cubicBezTo>
                  <a:lnTo>
                    <a:pt x="123952" y="663702"/>
                  </a:lnTo>
                  <a:cubicBezTo>
                    <a:pt x="55499" y="663702"/>
                    <a:pt x="0" y="608203"/>
                    <a:pt x="0" y="539750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31204" y="4746136"/>
            <a:ext cx="7260117" cy="3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Weak Area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204" y="5270411"/>
            <a:ext cx="726011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Flags struggling categories: loops, conditionals, event handlers — surfaced automatically from interaction logs.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3456" y="6073654"/>
            <a:ext cx="497757" cy="497776"/>
            <a:chOff x="0" y="0"/>
            <a:chExt cx="663677" cy="6637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3702" cy="663702"/>
            </a:xfrm>
            <a:custGeom>
              <a:avLst/>
              <a:gdLst/>
              <a:ahLst/>
              <a:cxnLst/>
              <a:rect r="r" b="b" t="t" l="l"/>
              <a:pathLst>
                <a:path h="663702" w="663702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539750" y="0"/>
                  </a:lnTo>
                  <a:cubicBezTo>
                    <a:pt x="608203" y="0"/>
                    <a:pt x="663702" y="55499"/>
                    <a:pt x="663702" y="123952"/>
                  </a:cubicBezTo>
                  <a:lnTo>
                    <a:pt x="663702" y="539750"/>
                  </a:lnTo>
                  <a:cubicBezTo>
                    <a:pt x="663702" y="608203"/>
                    <a:pt x="608203" y="663702"/>
                    <a:pt x="539750" y="663702"/>
                  </a:cubicBezTo>
                  <a:lnTo>
                    <a:pt x="123952" y="663702"/>
                  </a:lnTo>
                  <a:cubicBezTo>
                    <a:pt x="55499" y="663702"/>
                    <a:pt x="0" y="608203"/>
                    <a:pt x="0" y="539750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631204" y="6121041"/>
            <a:ext cx="7260117" cy="3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Dynamic Learning Paths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31204" y="6645316"/>
            <a:ext cx="726011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Generates personalized homework with difficulty tiers: Easy → Medium → Hard, scaffolded to each child's level.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991" y="7318391"/>
            <a:ext cx="7898330" cy="1787338"/>
            <a:chOff x="0" y="0"/>
            <a:chExt cx="10531107" cy="23831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31094" cy="2383028"/>
            </a:xfrm>
            <a:custGeom>
              <a:avLst/>
              <a:gdLst/>
              <a:ahLst/>
              <a:cxnLst/>
              <a:rect r="r" b="b" t="t" l="l"/>
              <a:pathLst>
                <a:path h="2383028" w="1053109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411968" y="0"/>
                  </a:lnTo>
                  <a:cubicBezTo>
                    <a:pt x="10477754" y="0"/>
                    <a:pt x="10531094" y="53340"/>
                    <a:pt x="10531094" y="119126"/>
                  </a:cubicBezTo>
                  <a:lnTo>
                    <a:pt x="10531094" y="2263902"/>
                  </a:lnTo>
                  <a:cubicBezTo>
                    <a:pt x="10531094" y="2329688"/>
                    <a:pt x="10477754" y="2383028"/>
                    <a:pt x="10411968" y="2383028"/>
                  </a:cubicBezTo>
                  <a:lnTo>
                    <a:pt x="119126" y="2383028"/>
                  </a:lnTo>
                  <a:cubicBezTo>
                    <a:pt x="53340" y="2383028"/>
                    <a:pt x="0" y="2329688"/>
                    <a:pt x="0" y="2263902"/>
                  </a:cubicBezTo>
                  <a:close/>
                </a:path>
              </a:pathLst>
            </a:custGeom>
            <a:solidFill>
              <a:srgbClr val="1D232D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270" y="7435834"/>
            <a:ext cx="7387761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{"next_lesson": "loops_02",</a:t>
            </a:r>
          </a:p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"difficulty": 3,</a:t>
            </a:r>
          </a:p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"blocks": ["repeat", "change_y"],</a:t>
            </a:r>
          </a:p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"est_time_min": 8}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20054" y="2830687"/>
            <a:ext cx="2719511" cy="323212"/>
            <a:chOff x="0" y="0"/>
            <a:chExt cx="3626015" cy="4309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26104" cy="431038"/>
            </a:xfrm>
            <a:custGeom>
              <a:avLst/>
              <a:gdLst/>
              <a:ahLst/>
              <a:cxnLst/>
              <a:rect r="r" b="b" t="t" l="l"/>
              <a:pathLst>
                <a:path h="431038" w="3626104">
                  <a:moveTo>
                    <a:pt x="0" y="95377"/>
                  </a:moveTo>
                  <a:cubicBezTo>
                    <a:pt x="0" y="42672"/>
                    <a:pt x="42672" y="0"/>
                    <a:pt x="95377" y="0"/>
                  </a:cubicBezTo>
                  <a:lnTo>
                    <a:pt x="3530727" y="0"/>
                  </a:lnTo>
                  <a:cubicBezTo>
                    <a:pt x="3583432" y="0"/>
                    <a:pt x="3626104" y="42672"/>
                    <a:pt x="3626104" y="95377"/>
                  </a:cubicBezTo>
                  <a:lnTo>
                    <a:pt x="3626104" y="335661"/>
                  </a:lnTo>
                  <a:cubicBezTo>
                    <a:pt x="3626104" y="388366"/>
                    <a:pt x="3583432" y="431038"/>
                    <a:pt x="3530727" y="431038"/>
                  </a:cubicBezTo>
                  <a:lnTo>
                    <a:pt x="95377" y="431038"/>
                  </a:lnTo>
                  <a:cubicBezTo>
                    <a:pt x="42672" y="430911"/>
                    <a:pt x="0" y="388239"/>
                    <a:pt x="0" y="335661"/>
                  </a:cubicBezTo>
                  <a:close/>
                </a:path>
              </a:pathLst>
            </a:custGeom>
            <a:solidFill>
              <a:srgbClr val="00194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47698" y="2907097"/>
            <a:ext cx="170240" cy="170240"/>
            <a:chOff x="0" y="0"/>
            <a:chExt cx="226987" cy="226987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226949" cy="226949"/>
            </a:xfrm>
            <a:custGeom>
              <a:avLst/>
              <a:gdLst/>
              <a:ahLst/>
              <a:cxnLst/>
              <a:rect r="r" b="b" t="t" l="l"/>
              <a:pathLst>
                <a:path h="226949" w="226949">
                  <a:moveTo>
                    <a:pt x="0" y="0"/>
                  </a:moveTo>
                  <a:lnTo>
                    <a:pt x="226949" y="0"/>
                  </a:lnTo>
                  <a:lnTo>
                    <a:pt x="226949" y="226949"/>
                  </a:lnTo>
                  <a:lnTo>
                    <a:pt x="0" y="226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5" b="-16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802987" y="2884913"/>
            <a:ext cx="3124029" cy="20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9"/>
              </a:lnSpc>
            </a:pPr>
            <a:r>
              <a:rPr lang="en-US" sz="127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BUSINESS INSIGHTS AGENT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10519" y="3323844"/>
            <a:ext cx="497757" cy="497776"/>
            <a:chOff x="0" y="0"/>
            <a:chExt cx="663677" cy="6637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3702" cy="663702"/>
            </a:xfrm>
            <a:custGeom>
              <a:avLst/>
              <a:gdLst/>
              <a:ahLst/>
              <a:cxnLst/>
              <a:rect r="r" b="b" t="t" l="l"/>
              <a:pathLst>
                <a:path h="663702" w="663702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539750" y="0"/>
                  </a:lnTo>
                  <a:cubicBezTo>
                    <a:pt x="608203" y="0"/>
                    <a:pt x="663702" y="55499"/>
                    <a:pt x="663702" y="123952"/>
                  </a:cubicBezTo>
                  <a:lnTo>
                    <a:pt x="663702" y="539750"/>
                  </a:lnTo>
                  <a:cubicBezTo>
                    <a:pt x="663702" y="608203"/>
                    <a:pt x="608203" y="663702"/>
                    <a:pt x="539750" y="663702"/>
                  </a:cubicBezTo>
                  <a:lnTo>
                    <a:pt x="123952" y="663702"/>
                  </a:lnTo>
                  <a:cubicBezTo>
                    <a:pt x="55499" y="663702"/>
                    <a:pt x="0" y="608203"/>
                    <a:pt x="0" y="539750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0058267" y="3371231"/>
            <a:ext cx="7260117" cy="3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Platform KPI Engine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8267" y="3895506"/>
            <a:ext cx="726011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Computes ARPU, LTV:CAC ratio, MRR, and platform health score — all derived from local Supabase data.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10519" y="4698749"/>
            <a:ext cx="497757" cy="497776"/>
            <a:chOff x="0" y="0"/>
            <a:chExt cx="663677" cy="6637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3702" cy="663702"/>
            </a:xfrm>
            <a:custGeom>
              <a:avLst/>
              <a:gdLst/>
              <a:ahLst/>
              <a:cxnLst/>
              <a:rect r="r" b="b" t="t" l="l"/>
              <a:pathLst>
                <a:path h="663702" w="663702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539750" y="0"/>
                  </a:lnTo>
                  <a:cubicBezTo>
                    <a:pt x="608203" y="0"/>
                    <a:pt x="663702" y="55499"/>
                    <a:pt x="663702" y="123952"/>
                  </a:cubicBezTo>
                  <a:lnTo>
                    <a:pt x="663702" y="539750"/>
                  </a:lnTo>
                  <a:cubicBezTo>
                    <a:pt x="663702" y="608203"/>
                    <a:pt x="608203" y="663702"/>
                    <a:pt x="539750" y="663702"/>
                  </a:cubicBezTo>
                  <a:lnTo>
                    <a:pt x="123952" y="663702"/>
                  </a:lnTo>
                  <a:cubicBezTo>
                    <a:pt x="55499" y="663702"/>
                    <a:pt x="0" y="608203"/>
                    <a:pt x="0" y="539750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058267" y="4746136"/>
            <a:ext cx="7260117" cy="3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Churn Risk Analysis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58267" y="5270411"/>
            <a:ext cx="726011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Identifies at-risk students via low engagement signals and high error rates before they drop off.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410519" y="6073654"/>
            <a:ext cx="497757" cy="497776"/>
            <a:chOff x="0" y="0"/>
            <a:chExt cx="663677" cy="66370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3702" cy="663702"/>
            </a:xfrm>
            <a:custGeom>
              <a:avLst/>
              <a:gdLst/>
              <a:ahLst/>
              <a:cxnLst/>
              <a:rect r="r" b="b" t="t" l="l"/>
              <a:pathLst>
                <a:path h="663702" w="663702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539750" y="0"/>
                  </a:lnTo>
                  <a:cubicBezTo>
                    <a:pt x="608203" y="0"/>
                    <a:pt x="663702" y="55499"/>
                    <a:pt x="663702" y="123952"/>
                  </a:cubicBezTo>
                  <a:lnTo>
                    <a:pt x="663702" y="539750"/>
                  </a:lnTo>
                  <a:cubicBezTo>
                    <a:pt x="663702" y="608203"/>
                    <a:pt x="608203" y="663702"/>
                    <a:pt x="539750" y="663702"/>
                  </a:cubicBezTo>
                  <a:lnTo>
                    <a:pt x="123952" y="663702"/>
                  </a:lnTo>
                  <a:cubicBezTo>
                    <a:pt x="55499" y="663702"/>
                    <a:pt x="0" y="608203"/>
                    <a:pt x="0" y="539750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0058267" y="6121041"/>
            <a:ext cx="7260117" cy="3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Growth Recommendations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58267" y="6645316"/>
            <a:ext cx="726011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Suggests feature rollouts, pricing tiers, and retention campaigns — admin-ready, AI-generated insights.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420054" y="7318391"/>
            <a:ext cx="7898330" cy="1787338"/>
            <a:chOff x="0" y="0"/>
            <a:chExt cx="10531107" cy="23831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31094" cy="2383028"/>
            </a:xfrm>
            <a:custGeom>
              <a:avLst/>
              <a:gdLst/>
              <a:ahLst/>
              <a:cxnLst/>
              <a:rect r="r" b="b" t="t" l="l"/>
              <a:pathLst>
                <a:path h="2383028" w="1053109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0411968" y="0"/>
                  </a:lnTo>
                  <a:cubicBezTo>
                    <a:pt x="10477754" y="0"/>
                    <a:pt x="10531094" y="53340"/>
                    <a:pt x="10531094" y="119126"/>
                  </a:cubicBezTo>
                  <a:lnTo>
                    <a:pt x="10531094" y="2263902"/>
                  </a:lnTo>
                  <a:cubicBezTo>
                    <a:pt x="10531094" y="2329688"/>
                    <a:pt x="10477754" y="2383028"/>
                    <a:pt x="10411968" y="2383028"/>
                  </a:cubicBezTo>
                  <a:lnTo>
                    <a:pt x="119126" y="2383028"/>
                  </a:lnTo>
                  <a:cubicBezTo>
                    <a:pt x="53340" y="2383028"/>
                    <a:pt x="0" y="2329688"/>
                    <a:pt x="0" y="2263902"/>
                  </a:cubicBezTo>
                  <a:close/>
                </a:path>
              </a:pathLst>
            </a:custGeom>
            <a:solidFill>
              <a:srgbClr val="1D232D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675343" y="7435834"/>
            <a:ext cx="7387761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{"arpu": 4.50,</a:t>
            </a:r>
          </a:p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"ltv_cac": 3.2,</a:t>
            </a:r>
          </a:p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"mrr": 12500,</a:t>
            </a:r>
          </a:p>
          <a:p>
            <a:pPr algn="l">
              <a:lnSpc>
                <a:spcPts val="2635"/>
              </a:lnSpc>
            </a:pPr>
            <a:r>
              <a:rPr lang="en-US" sz="165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"churn_risk": 0.18}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7259300" y="9370583"/>
            <a:ext cx="849216" cy="616436"/>
            <a:chOff x="0" y="0"/>
            <a:chExt cx="14711399" cy="106788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6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347" y="1600562"/>
            <a:ext cx="7216113" cy="7093925"/>
            <a:chOff x="0" y="0"/>
            <a:chExt cx="9621484" cy="94585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21432" cy="9458579"/>
            </a:xfrm>
            <a:custGeom>
              <a:avLst/>
              <a:gdLst/>
              <a:ahLst/>
              <a:cxnLst/>
              <a:rect r="r" b="b" t="t" l="l"/>
              <a:pathLst>
                <a:path h="9458579" w="9621432">
                  <a:moveTo>
                    <a:pt x="0" y="0"/>
                  </a:moveTo>
                  <a:lnTo>
                    <a:pt x="9621432" y="0"/>
                  </a:lnTo>
                  <a:lnTo>
                    <a:pt x="9621432" y="9458579"/>
                  </a:lnTo>
                  <a:lnTo>
                    <a:pt x="0" y="9458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0" r="0" b="-86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785727"/>
            <a:ext cx="9452677" cy="748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b="true" sz="4128" spc="-84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Build with KidoDev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1764259"/>
            <a:ext cx="9452677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Every child deserves a patient, brilliant, always-on tutor — running locally, privately, and at scale on AMD hardware.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46647" y="2427799"/>
            <a:ext cx="4665574" cy="4644981"/>
            <a:chOff x="0" y="0"/>
            <a:chExt cx="6220765" cy="6193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20714" cy="6193282"/>
            </a:xfrm>
            <a:custGeom>
              <a:avLst/>
              <a:gdLst/>
              <a:ahLst/>
              <a:cxnLst/>
              <a:rect r="r" b="b" t="t" l="l"/>
              <a:pathLst>
                <a:path h="6193282" w="6220714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6101080" y="0"/>
                  </a:lnTo>
                  <a:cubicBezTo>
                    <a:pt x="6167120" y="0"/>
                    <a:pt x="6220714" y="53594"/>
                    <a:pt x="6220714" y="119634"/>
                  </a:cubicBezTo>
                  <a:lnTo>
                    <a:pt x="6220714" y="6073648"/>
                  </a:lnTo>
                  <a:cubicBezTo>
                    <a:pt x="6220714" y="6139688"/>
                    <a:pt x="6167120" y="6193282"/>
                    <a:pt x="6101080" y="6193282"/>
                  </a:cubicBezTo>
                  <a:lnTo>
                    <a:pt x="119634" y="6193282"/>
                  </a:lnTo>
                  <a:cubicBezTo>
                    <a:pt x="53594" y="6193282"/>
                    <a:pt x="0" y="6139688"/>
                    <a:pt x="0" y="6073648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087935" y="2640511"/>
            <a:ext cx="4182999" cy="38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🔗</a:t>
            </a: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GitHub Repo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87935" y="3203791"/>
            <a:ext cx="3137135" cy="3627692"/>
            <a:chOff x="0" y="0"/>
            <a:chExt cx="4182847" cy="4836922"/>
          </a:xfrm>
        </p:grpSpPr>
        <p:sp>
          <p:nvSpPr>
            <p:cNvPr name="Freeform 16" id="16" descr="preencoded.png">
              <a:hlinkClick r:id="rId6" tooltip="https://github.com/maria2469/KidoDev"/>
            </p:cNvPr>
            <p:cNvSpPr/>
            <p:nvPr/>
          </p:nvSpPr>
          <p:spPr>
            <a:xfrm flipH="false" flipV="false" rot="0">
              <a:off x="0" y="0"/>
              <a:ext cx="4182872" cy="4836922"/>
            </a:xfrm>
            <a:custGeom>
              <a:avLst/>
              <a:gdLst/>
              <a:ahLst/>
              <a:cxnLst/>
              <a:rect r="r" b="b" t="t" l="l"/>
              <a:pathLst>
                <a:path h="4836922" w="4182872">
                  <a:moveTo>
                    <a:pt x="0" y="0"/>
                  </a:moveTo>
                  <a:lnTo>
                    <a:pt x="4182872" y="0"/>
                  </a:lnTo>
                  <a:lnTo>
                    <a:pt x="4182872" y="4836922"/>
                  </a:lnTo>
                  <a:lnTo>
                    <a:pt x="0" y="4836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8" t="0" r="-78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652667" y="2427799"/>
            <a:ext cx="4665716" cy="1692505"/>
            <a:chOff x="0" y="0"/>
            <a:chExt cx="6220955" cy="22566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20968" cy="2256664"/>
            </a:xfrm>
            <a:custGeom>
              <a:avLst/>
              <a:gdLst/>
              <a:ahLst/>
              <a:cxnLst/>
              <a:rect r="r" b="b" t="t" l="l"/>
              <a:pathLst>
                <a:path h="2256664" w="6220968">
                  <a:moveTo>
                    <a:pt x="0" y="43591"/>
                  </a:moveTo>
                  <a:cubicBezTo>
                    <a:pt x="0" y="19528"/>
                    <a:pt x="53594" y="0"/>
                    <a:pt x="119634" y="0"/>
                  </a:cubicBezTo>
                  <a:lnTo>
                    <a:pt x="6101334" y="0"/>
                  </a:lnTo>
                  <a:cubicBezTo>
                    <a:pt x="6167374" y="0"/>
                    <a:pt x="6220968" y="19528"/>
                    <a:pt x="6220968" y="43591"/>
                  </a:cubicBezTo>
                  <a:lnTo>
                    <a:pt x="6220968" y="2213072"/>
                  </a:lnTo>
                  <a:cubicBezTo>
                    <a:pt x="6220968" y="2237135"/>
                    <a:pt x="6167374" y="2256664"/>
                    <a:pt x="6101334" y="2256664"/>
                  </a:cubicBezTo>
                  <a:lnTo>
                    <a:pt x="119634" y="2256664"/>
                  </a:lnTo>
                  <a:cubicBezTo>
                    <a:pt x="53594" y="2256664"/>
                    <a:pt x="0" y="2237135"/>
                    <a:pt x="0" y="2213072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893954" y="2640511"/>
            <a:ext cx="4183151" cy="38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👥</a:t>
            </a: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Team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93954" y="3110417"/>
            <a:ext cx="4183151" cy="25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KidoDev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46647" y="7213235"/>
            <a:ext cx="9471736" cy="1175471"/>
            <a:chOff x="0" y="0"/>
            <a:chExt cx="12628982" cy="15672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29007" cy="1567307"/>
            </a:xfrm>
            <a:custGeom>
              <a:avLst/>
              <a:gdLst/>
              <a:ahLst/>
              <a:cxnLst/>
              <a:rect r="r" b="b" t="t" l="l"/>
              <a:pathLst>
                <a:path h="1567307" w="12629007">
                  <a:moveTo>
                    <a:pt x="0" y="121158"/>
                  </a:moveTo>
                  <a:cubicBezTo>
                    <a:pt x="0" y="54229"/>
                    <a:pt x="54229" y="0"/>
                    <a:pt x="121158" y="0"/>
                  </a:cubicBezTo>
                  <a:lnTo>
                    <a:pt x="12507849" y="0"/>
                  </a:lnTo>
                  <a:cubicBezTo>
                    <a:pt x="12574778" y="0"/>
                    <a:pt x="12629007" y="54229"/>
                    <a:pt x="12629007" y="121158"/>
                  </a:cubicBezTo>
                  <a:lnTo>
                    <a:pt x="12629007" y="1446149"/>
                  </a:lnTo>
                  <a:cubicBezTo>
                    <a:pt x="12629007" y="1513078"/>
                    <a:pt x="12574778" y="1567307"/>
                    <a:pt x="12507849" y="1567307"/>
                  </a:cubicBezTo>
                  <a:lnTo>
                    <a:pt x="121158" y="1567307"/>
                  </a:lnTo>
                  <a:cubicBezTo>
                    <a:pt x="54229" y="1567307"/>
                    <a:pt x="0" y="1513078"/>
                    <a:pt x="0" y="1446149"/>
                  </a:cubicBezTo>
                  <a:close/>
                </a:path>
              </a:pathLst>
            </a:custGeom>
            <a:solidFill>
              <a:srgbClr val="101620"/>
            </a:solidFill>
            <a:ln w="19065" cap="sq">
              <a:solidFill>
                <a:srgbClr val="002A80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087935" y="7425947"/>
            <a:ext cx="8989171" cy="38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b="true" sz="2026" spc="-4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⚙️</a:t>
            </a:r>
            <a:r>
              <a:rPr lang="en-US" b="true" sz="2026" spc="-42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 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7935" y="7895854"/>
            <a:ext cx="8989171" cy="25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Qwen 2.5 · ROCm · FastAPI · React · Supabase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6182" y="8558651"/>
            <a:ext cx="9452677" cy="893521"/>
            <a:chOff x="0" y="0"/>
            <a:chExt cx="12603569" cy="11913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03480" cy="1191260"/>
            </a:xfrm>
            <a:custGeom>
              <a:avLst/>
              <a:gdLst/>
              <a:ahLst/>
              <a:cxnLst/>
              <a:rect r="r" b="b" t="t" l="l"/>
              <a:pathLst>
                <a:path h="1191260" w="12603480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12484354" y="0"/>
                  </a:lnTo>
                  <a:cubicBezTo>
                    <a:pt x="12550140" y="0"/>
                    <a:pt x="12603480" y="53340"/>
                    <a:pt x="12603480" y="119126"/>
                  </a:cubicBezTo>
                  <a:lnTo>
                    <a:pt x="12603480" y="1072134"/>
                  </a:lnTo>
                  <a:cubicBezTo>
                    <a:pt x="12603480" y="1137920"/>
                    <a:pt x="12550140" y="1191260"/>
                    <a:pt x="12484354" y="1191260"/>
                  </a:cubicBezTo>
                  <a:lnTo>
                    <a:pt x="119126" y="1191260"/>
                  </a:lnTo>
                  <a:cubicBezTo>
                    <a:pt x="53340" y="1191387"/>
                    <a:pt x="0" y="1138047"/>
                    <a:pt x="0" y="1072134"/>
                  </a:cubicBezTo>
                  <a:close/>
                </a:path>
              </a:pathLst>
            </a:custGeom>
            <a:solidFill>
              <a:srgbClr val="002A8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068866" y="8824512"/>
            <a:ext cx="266005" cy="212693"/>
            <a:chOff x="0" y="0"/>
            <a:chExt cx="354673" cy="283591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54711" cy="283591"/>
            </a:xfrm>
            <a:custGeom>
              <a:avLst/>
              <a:gdLst/>
              <a:ahLst/>
              <a:cxnLst/>
              <a:rect r="r" b="b" t="t" l="l"/>
              <a:pathLst>
                <a:path h="283591" w="354711">
                  <a:moveTo>
                    <a:pt x="0" y="0"/>
                  </a:moveTo>
                  <a:lnTo>
                    <a:pt x="354711" y="0"/>
                  </a:lnTo>
                  <a:lnTo>
                    <a:pt x="354711" y="283591"/>
                  </a:lnTo>
                  <a:lnTo>
                    <a:pt x="0" y="28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65" r="10" b="-1365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547564" y="8761819"/>
            <a:ext cx="8548602" cy="4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6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AMD Hackathon Track 2:</a:t>
            </a:r>
            <a:r>
              <a:rPr lang="en-US" sz="16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Agentic AI — 100% local inference. No cloud APIs. No compromises. KidoDev runs where kids are.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7096165" y="9452172"/>
            <a:ext cx="849216" cy="616436"/>
            <a:chOff x="0" y="0"/>
            <a:chExt cx="14711399" cy="106788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711376" cy="10678793"/>
            </a:xfrm>
            <a:custGeom>
              <a:avLst/>
              <a:gdLst/>
              <a:ahLst/>
              <a:cxnLst/>
              <a:rect r="r" b="b" t="t" l="l"/>
              <a:pathLst>
                <a:path h="10678793" w="14711376">
                  <a:moveTo>
                    <a:pt x="0" y="0"/>
                  </a:moveTo>
                  <a:lnTo>
                    <a:pt x="14711376" y="0"/>
                  </a:lnTo>
                  <a:lnTo>
                    <a:pt x="14711376" y="10678793"/>
                  </a:lnTo>
                  <a:lnTo>
                    <a:pt x="0" y="10678793"/>
                  </a:lnTo>
                  <a:close/>
                </a:path>
              </a:pathLst>
            </a:custGeom>
            <a:blipFill>
              <a:blip r:embed="rId9">
                <a:alphaModFix amt="95000"/>
              </a:blip>
              <a:stretch>
                <a:fillRect l="0" t="-18881" r="0" b="-1888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DAHRiHiD2Uk</dc:identifier>
  <dcterms:modified xsi:type="dcterms:W3CDTF">2011-08-01T06:04:30Z</dcterms:modified>
  <cp:revision>1</cp:revision>
  <dc:title>KidoDev-AI-Powered-Coding-Education-for-Kids.pptx</dc:title>
</cp:coreProperties>
</file>