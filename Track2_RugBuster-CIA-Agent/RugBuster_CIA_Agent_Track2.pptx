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1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877697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22815" y="-1371600"/>
            <a:ext cx="2377440" cy="2377440"/>
          </a:xfrm>
          <a:prstGeom prst="ellipse">
            <a:avLst/>
          </a:prstGeom>
          <a:ln w="19050">
            <a:solidFill>
              <a:srgbClr val="2237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311335" y="-1783080"/>
            <a:ext cx="3200400" cy="3200400"/>
          </a:xfrm>
          <a:prstGeom prst="ellipse">
            <a:avLst/>
          </a:prstGeom>
          <a:ln w="19050">
            <a:solidFill>
              <a:srgbClr val="2237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899855" y="-2194560"/>
            <a:ext cx="4023360" cy="4023360"/>
          </a:xfrm>
          <a:prstGeom prst="ellipse">
            <a:avLst/>
          </a:prstGeom>
          <a:ln w="19050">
            <a:solidFill>
              <a:srgbClr val="2237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1417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0D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2 SUBMISSION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1874520"/>
            <a:ext cx="8778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RugBuster CIA</a:t>
            </a:r>
            <a:endParaRPr lang="en-US" sz="46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Intelligence Agent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822960" y="3794760"/>
            <a:ext cx="8961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local, LangChain-orchestrated fraud-detection agent for DeFi tokens —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AMD AI DevMaster Hackathon, Track 2: Development &amp; Local Deployment of Private AI Agents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22960" y="4892040"/>
            <a:ext cx="2011680" cy="0"/>
          </a:xfrm>
          <a:prstGeom prst="line">
            <a:avLst/>
          </a:prstGeom>
          <a:noFill/>
          <a:ln w="25400">
            <a:solidFill>
              <a:srgbClr val="00D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22960" y="50749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Fedja Furduj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22960" y="54406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RugBuster  ·  ffurduj@gmail.com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Rug pulls follow patterns —</a:t>
            </a:r>
            <a:endParaRPr lang="en-US" sz="2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but verifying them by hand doesn't scale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214884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Recognizable behavioral signatures: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624328"/>
            <a:ext cx="91440" cy="91440"/>
          </a:xfrm>
          <a:prstGeom prst="ellipse">
            <a:avLst/>
          </a:prstGeom>
          <a:solidFill>
            <a:srgbClr val="00D3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96112" y="251460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1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Sniper bots buying within milliseconds of deploy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3099816"/>
            <a:ext cx="91440" cy="91440"/>
          </a:xfrm>
          <a:prstGeom prst="ellipse">
            <a:avLst/>
          </a:prstGeom>
          <a:solidFill>
            <a:srgbClr val="00D3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96112" y="2990088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1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Wash trading to fake volume/legitimacy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3575304"/>
            <a:ext cx="91440" cy="91440"/>
          </a:xfrm>
          <a:prstGeom prst="ellipse">
            <a:avLst/>
          </a:prstGeom>
          <a:solidFill>
            <a:srgbClr val="00D3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96112" y="3465576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1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Coordinated wallet clustering (bot farms)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40080" y="4050792"/>
            <a:ext cx="91440" cy="91440"/>
          </a:xfrm>
          <a:prstGeom prst="ellipse">
            <a:avLst/>
          </a:prstGeom>
          <a:solidFill>
            <a:srgbClr val="00D3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96112" y="3941064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1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Backdoored contracts (hidden mint/drain functions)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" y="4526280"/>
            <a:ext cx="91440" cy="91440"/>
          </a:xfrm>
          <a:prstGeom prst="ellipse">
            <a:avLst/>
          </a:prstGeom>
          <a:solidFill>
            <a:srgbClr val="00D3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96112" y="4416552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1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 supply concentration in a few wallets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720840" y="2148840"/>
            <a:ext cx="4846320" cy="3931920"/>
          </a:xfrm>
          <a:prstGeom prst="roundRect">
            <a:avLst>
              <a:gd name="adj" fmla="val 2791"/>
            </a:avLst>
          </a:prstGeom>
          <a:solidFill>
            <a:srgbClr val="0B1220"/>
          </a:solidFill>
          <a:ln/>
          <a:effectLst>
            <a:outerShdw blurRad="101600" dist="38100" dir="5400000" algn="bl" rotWithShape="0">
              <a:srgbClr val="1B2838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086600" y="24231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D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NEEDS THIS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086600" y="28803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Launchpads &amp; DEXs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086600" y="324612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pre-listing risk checks before a token goes live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086600" y="39319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Retail investors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086600" y="429768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GOOD / WARN / DANGER verdict before buying — with reasons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086600" y="49834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Wallet providers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086600" y="53492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already-held tokens showing emerging rug signals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1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RugBuster CIA Intelligence Agent  ·  AMD AI DevMaster Hackathon — Track 2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1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Package a proven detection engine</a:t>
            </a:r>
            <a:endParaRPr lang="en-US" sz="2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a local, privately-deployable agent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2148840"/>
            <a:ext cx="5760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RugBuster CIA Intelligence Agent</a:t>
            </a:r>
            <a:r>
              <a:rPr lang="en-US" sz="1500" dirty="0">
                <a:solidFill>
                  <a:srgbClr val="51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a LangChain orchestration layer around RugBuster's existing, production </a:t>
            </a:r>
            <a:r>
              <a:rPr lang="en-US" sz="15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CIA Intelligence Engine</a:t>
            </a:r>
            <a:r>
              <a:rPr lang="en-US" sz="1500" dirty="0">
                <a:solidFill>
                  <a:srgbClr val="51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 7-module token fraud detection pipeline — plus a locally-hosted fine-tuned LLM that turns the structured findings into a plain-language verdict.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3977640"/>
            <a:ext cx="5760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i="1" dirty="0">
                <a:solidFill>
                  <a:srgbClr val="51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detection logic was changed. This is an orchestration and packaging layer over an already-shipping system.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949440" y="2148840"/>
            <a:ext cx="4617720" cy="3703320"/>
          </a:xfrm>
          <a:prstGeom prst="roundRect">
            <a:avLst>
              <a:gd name="adj" fmla="val 2963"/>
            </a:avLst>
          </a:prstGeom>
          <a:solidFill>
            <a:srgbClr val="028090"/>
          </a:solidFill>
          <a:ln/>
          <a:effectLst>
            <a:outerShdw blurRad="101600" dist="38100" dir="5400000" algn="bl" rotWithShape="0">
              <a:srgbClr val="1B2838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315200" y="24231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F4F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IN PRODUCTION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315200" y="269748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257</a:t>
            </a:r>
            <a:endParaRPr lang="en-US" sz="6400" dirty="0"/>
          </a:p>
        </p:txBody>
      </p:sp>
      <p:sp>
        <p:nvSpPr>
          <p:cNvPr id="9" name="Text 7"/>
          <p:cNvSpPr/>
          <p:nvPr/>
        </p:nvSpPr>
        <p:spPr>
          <a:xfrm>
            <a:off x="7315200" y="35204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4F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tested, zero false-safe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315200" y="4160520"/>
            <a:ext cx="3931920" cy="0"/>
          </a:xfrm>
          <a:prstGeom prst="line">
            <a:avLst/>
          </a:prstGeom>
          <a:noFill/>
          <a:ln w="12700">
            <a:solidFill>
              <a:srgbClr val="2E9F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315200" y="434340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7315200" y="50749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F4F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F4F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281160" y="434340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358K+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9281160" y="507492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F4F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F4F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1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RugBuster CIA Intelligence Agent  ·  AMD AI DevMaster Hackathon — Track 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1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0D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→ Invoke → Aggregate → Classify → Verify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1737360" cy="1234440"/>
          </a:xfrm>
          <a:prstGeom prst="roundRect">
            <a:avLst>
              <a:gd name="adj" fmla="val 8696"/>
            </a:avLst>
          </a:prstGeom>
          <a:solidFill>
            <a:srgbClr val="13233A"/>
          </a:solidFill>
          <a:ln w="12700">
            <a:solidFill>
              <a:srgbClr val="2237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77240" y="1828800"/>
            <a:ext cx="365760" cy="365760"/>
          </a:xfrm>
          <a:prstGeom prst="ellipse">
            <a:avLst/>
          </a:prstGeom>
          <a:solidFill>
            <a:srgbClr val="00D3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77240" y="1828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222199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Input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1673352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contract</a:t>
            </a:r>
            <a:endParaRPr lang="en-US" sz="900" dirty="0"/>
          </a:p>
          <a:p>
            <a:pPr marL="0" indent="0" algn="r">
              <a:buNone/>
            </a:pPr>
            <a:r>
              <a:rPr lang="en-US" sz="900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optional deployer</a:t>
            </a:r>
            <a:endParaRPr lang="en-US" sz="900" dirty="0"/>
          </a:p>
          <a:p>
            <a:pPr marL="0" indent="0" algn="r">
              <a:buNone/>
            </a:pPr>
            <a:r>
              <a:rPr lang="en-US" sz="900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deploy timestamp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697480" y="1508760"/>
            <a:ext cx="1828800" cy="1234440"/>
          </a:xfrm>
          <a:prstGeom prst="roundRect">
            <a:avLst>
              <a:gd name="adj" fmla="val 8696"/>
            </a:avLst>
          </a:prstGeom>
          <a:solidFill>
            <a:srgbClr val="13233A"/>
          </a:solidFill>
          <a:ln w="12700">
            <a:solidFill>
              <a:srgbClr val="2237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834640" y="1828800"/>
            <a:ext cx="365760" cy="365760"/>
          </a:xfrm>
          <a:prstGeom prst="ellipse">
            <a:avLst/>
          </a:prstGeom>
          <a:solidFill>
            <a:srgbClr val="00D3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834640" y="1828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834640" y="222199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TaskPlanner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834640" y="167335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Decides which</a:t>
            </a:r>
            <a:endParaRPr lang="en-US" sz="900" dirty="0"/>
          </a:p>
          <a:p>
            <a:pPr marL="0" indent="0" algn="r">
              <a:buNone/>
            </a:pPr>
            <a:r>
              <a:rPr lang="en-US" sz="900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to run,</a:t>
            </a:r>
            <a:endParaRPr lang="en-US" sz="900" dirty="0"/>
          </a:p>
          <a:p>
            <a:pPr marL="0" indent="0" algn="r">
              <a:buNone/>
            </a:pPr>
            <a:r>
              <a:rPr lang="en-US" sz="900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in what order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0" y="201168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D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4937760" y="1691640"/>
            <a:ext cx="5577840" cy="1051560"/>
          </a:xfrm>
          <a:prstGeom prst="roundRect">
            <a:avLst>
              <a:gd name="adj" fmla="val 8696"/>
            </a:avLst>
          </a:prstGeom>
          <a:solidFill>
            <a:srgbClr val="13233A"/>
          </a:solidFill>
          <a:ln w="15875">
            <a:solidFill>
              <a:srgbClr val="00D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074920" y="1828800"/>
            <a:ext cx="365760" cy="365760"/>
          </a:xfrm>
          <a:prstGeom prst="ellipse">
            <a:avLst/>
          </a:prstGeom>
          <a:solidFill>
            <a:srgbClr val="00D3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074920" y="1828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532120" y="181051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 CIA Modules  ·  LangChain Tools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120640" y="2148840"/>
            <a:ext cx="5212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Funding Origin  ·  Deployment Latency  ·  TX Entropy  ·  Wash Pattern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Holder Cluster Age  ·  Contract Backdoor  ·  Holder Concentration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777240" y="2761488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D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640080" y="3246120"/>
            <a:ext cx="2148840" cy="1051560"/>
          </a:xfrm>
          <a:prstGeom prst="roundRect">
            <a:avLst>
              <a:gd name="adj" fmla="val 8696"/>
            </a:avLst>
          </a:prstGeom>
          <a:solidFill>
            <a:srgbClr val="13233A"/>
          </a:solidFill>
          <a:ln w="15875">
            <a:solidFill>
              <a:srgbClr val="2237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777240" y="3383280"/>
            <a:ext cx="365760" cy="365760"/>
          </a:xfrm>
          <a:prstGeom prst="ellipse">
            <a:avLst/>
          </a:prstGeom>
          <a:solidFill>
            <a:srgbClr val="00D3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77240" y="3383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77240" y="377647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Aggregated Findings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777240" y="3227832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endParaRPr lang="en-US" sz="900" dirty="0">
              <a:solidFill>
                <a:srgbClr val="8CA0B3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r">
              <a:buNone/>
            </a:pPr>
            <a:r>
              <a:rPr lang="en-US" sz="900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JSON</a:t>
            </a:r>
            <a:endParaRPr lang="en-US" sz="900" dirty="0"/>
          </a:p>
          <a:p>
            <a:pPr marL="0" indent="0" algn="r">
              <a:buNone/>
            </a:pPr>
            <a:r>
              <a:rPr lang="en-US" sz="900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all modules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788920" y="356616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D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3044952" y="3246120"/>
            <a:ext cx="2514600" cy="1051560"/>
          </a:xfrm>
          <a:prstGeom prst="roundRect">
            <a:avLst>
              <a:gd name="adj" fmla="val 8696"/>
            </a:avLst>
          </a:prstGeom>
          <a:solidFill>
            <a:srgbClr val="13233A"/>
          </a:solidFill>
          <a:ln w="15875">
            <a:solidFill>
              <a:srgbClr val="00D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3182112" y="3383280"/>
            <a:ext cx="365760" cy="365760"/>
          </a:xfrm>
          <a:prstGeom prst="ellipse">
            <a:avLst/>
          </a:prstGeom>
          <a:solidFill>
            <a:srgbClr val="00D3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182112" y="3383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3182112" y="377647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 LLM Verdict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3182112" y="3227832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endParaRPr lang="en-US" sz="900" dirty="0">
              <a:solidFill>
                <a:srgbClr val="8CA0B3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r">
              <a:buNone/>
            </a:pPr>
            <a:r>
              <a:rPr lang="en-US" sz="900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Qwen3-14B QLoRA</a:t>
            </a:r>
            <a:endParaRPr lang="en-US" sz="900" dirty="0"/>
          </a:p>
          <a:p>
            <a:pPr marL="0" indent="0" algn="r">
              <a:buNone/>
            </a:pPr>
            <a:r>
              <a:rPr lang="en-US" sz="900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Radeon GPU</a:t>
            </a:r>
            <a:endParaRPr lang="en-US" sz="900" dirty="0"/>
          </a:p>
          <a:p>
            <a:pPr marL="0" indent="0" algn="r">
              <a:buNone/>
            </a:pPr>
            <a:r>
              <a:rPr lang="en-US" sz="900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(ROCm + llama.cpp)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559552" y="356616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D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5815584" y="3246120"/>
            <a:ext cx="2240280" cy="1051560"/>
          </a:xfrm>
          <a:prstGeom prst="roundRect">
            <a:avLst>
              <a:gd name="adj" fmla="val 8696"/>
            </a:avLst>
          </a:prstGeom>
          <a:solidFill>
            <a:srgbClr val="13233A"/>
          </a:solidFill>
          <a:ln w="15875">
            <a:solidFill>
              <a:srgbClr val="F2A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5952744" y="3383280"/>
            <a:ext cx="365760" cy="365760"/>
          </a:xfrm>
          <a:prstGeom prst="ellipse">
            <a:avLst/>
          </a:prstGeom>
          <a:solidFill>
            <a:srgbClr val="00D3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952744" y="3383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5952744" y="377647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Guardrail Check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5952744" y="3328416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Cross-checked vs.</a:t>
            </a:r>
            <a:endParaRPr lang="en-US" sz="900" dirty="0"/>
          </a:p>
          <a:p>
            <a:pPr marL="0" indent="0" algn="r">
              <a:buNone/>
            </a:pPr>
            <a:r>
              <a:rPr lang="en-US" sz="900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</a:t>
            </a:r>
            <a:endParaRPr lang="en-US" sz="900" dirty="0"/>
          </a:p>
          <a:p>
            <a:pPr marL="0" indent="0" algn="r">
              <a:buNone/>
            </a:pPr>
            <a:r>
              <a:rPr lang="en-US" sz="900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baseline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8055864" y="356616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D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8311896" y="3246120"/>
            <a:ext cx="1828800" cy="1051560"/>
          </a:xfrm>
          <a:prstGeom prst="roundRect">
            <a:avLst>
              <a:gd name="adj" fmla="val 8696"/>
            </a:avLst>
          </a:prstGeom>
          <a:solidFill>
            <a:srgbClr val="028090"/>
          </a:solidFill>
          <a:ln w="15875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40" name="Shape 38"/>
          <p:cNvSpPr/>
          <p:nvPr/>
        </p:nvSpPr>
        <p:spPr>
          <a:xfrm>
            <a:off x="8449056" y="3383280"/>
            <a:ext cx="365760" cy="365760"/>
          </a:xfrm>
          <a:prstGeom prst="ellipse">
            <a:avLst/>
          </a:prstGeom>
          <a:solidFill>
            <a:srgbClr val="00D3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8449056" y="3383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8449056" y="377647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Verdict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8449056" y="322783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endParaRPr lang="en-US" sz="900" dirty="0">
              <a:solidFill>
                <a:srgbClr val="F4F7F9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r">
              <a:buNone/>
            </a:pPr>
            <a:r>
              <a:rPr lang="en-US" sz="900" dirty="0">
                <a:solidFill>
                  <a:srgbClr val="F4F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/ WARN /</a:t>
            </a:r>
            <a:endParaRPr lang="en-US" sz="900" dirty="0"/>
          </a:p>
          <a:p>
            <a:pPr marL="0" indent="0" algn="r">
              <a:buNone/>
            </a:pPr>
            <a:r>
              <a:rPr lang="en-US" sz="900" dirty="0">
                <a:solidFill>
                  <a:srgbClr val="F4F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DANGER</a:t>
            </a:r>
            <a:endParaRPr lang="en-US" sz="900" dirty="0"/>
          </a:p>
          <a:p>
            <a:pPr marL="0" indent="0" algn="r">
              <a:buNone/>
            </a:pPr>
            <a:r>
              <a:rPr lang="en-US" sz="900" dirty="0">
                <a:solidFill>
                  <a:srgbClr val="F4F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rationale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640080" y="4617720"/>
            <a:ext cx="10881360" cy="566928"/>
          </a:xfrm>
          <a:prstGeom prst="roundRect">
            <a:avLst>
              <a:gd name="adj" fmla="val 12903"/>
            </a:avLst>
          </a:prstGeom>
          <a:solidFill>
            <a:srgbClr val="13233A"/>
          </a:solidFill>
          <a:ln w="12700">
            <a:solidFill>
              <a:srgbClr val="2237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868680" y="4617720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Permission control:  </a:t>
            </a:r>
            <a:r>
              <a:rPr lang="en-US" sz="1200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call across a process boundary is HMAC-SHA256 signed and verified, with bounded clock skew and secret rotation.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RugBuster CIA Intelligence Agent  ·  AMD AI DevMaster Hackathon — Track 2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CAPABILITIES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of 5 AMD Track 2 capabilities, covered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1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2 requires a minimum of 2 — this submission implements 3, each as a clean, inspectable layer.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3611880" cy="3794760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 w="12700">
            <a:solidFill>
              <a:srgbClr val="E2E8EE"/>
            </a:solidFill>
            <a:prstDash val="solid"/>
          </a:ln>
          <a:effectLst>
            <a:outerShdw blurRad="127000" dist="38100" dir="5400000" algn="bl" rotWithShape="0">
              <a:srgbClr val="1B2838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60120" y="2468880"/>
            <a:ext cx="548640" cy="548640"/>
          </a:xfrm>
          <a:prstGeom prst="ellipse">
            <a:avLst/>
          </a:prstGeom>
          <a:solidFill>
            <a:srgbClr val="00D3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60120" y="2468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60120" y="324612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 Invocation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60120" y="3977640"/>
            <a:ext cx="2971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51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of the 7 CIA modules is exposed as a LangChain StructuredTool, wrapping a blockchain data fetch plus a detection function.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471416" y="2148840"/>
            <a:ext cx="3611880" cy="3794760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 w="12700">
            <a:solidFill>
              <a:srgbClr val="E2E8EE"/>
            </a:solidFill>
            <a:prstDash val="solid"/>
          </a:ln>
          <a:effectLst>
            <a:outerShdw blurRad="127000" dist="38100" dir="5400000" algn="bl" rotWithShape="0">
              <a:srgbClr val="1B2838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791456" y="2468880"/>
            <a:ext cx="548640" cy="548640"/>
          </a:xfrm>
          <a:prstGeom prst="ellipse">
            <a:avLst/>
          </a:prstGeom>
          <a:solidFill>
            <a:srgbClr val="00D3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791456" y="2468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791456" y="324612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Multi-Step Task Planning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791456" y="3977640"/>
            <a:ext cx="2971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51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explicit TaskPlanner decides module order and inclusion based on input completeness, before any tool runs — fully inspectable.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302752" y="2148840"/>
            <a:ext cx="3611880" cy="3794760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 w="12700">
            <a:solidFill>
              <a:srgbClr val="E2E8EE"/>
            </a:solidFill>
            <a:prstDash val="solid"/>
          </a:ln>
          <a:effectLst>
            <a:outerShdw blurRad="127000" dist="38100" dir="5400000" algn="bl" rotWithShape="0">
              <a:srgbClr val="1B2838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8622792" y="2468880"/>
            <a:ext cx="548640" cy="548640"/>
          </a:xfrm>
          <a:prstGeom prst="ellipse">
            <a:avLst/>
          </a:prstGeom>
          <a:solidFill>
            <a:srgbClr val="00D3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622792" y="2468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8622792" y="324612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Permission Control &amp; Privacy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622792" y="3977640"/>
            <a:ext cx="2971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51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HMAC-SHA256 request signing and verification with bounded clock skew, ported from the production auth layer, with secret rotation.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1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RugBuster CIA Intelligence Agent  ·  AMD AI DevMaster Hackathon — Track 2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1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&amp; LOCAL DEPLOYMENT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Qwen3-14B, fine-tuned, running locally</a:t>
            </a:r>
            <a:endParaRPr lang="en-US" sz="27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via ROCm on AMD Radeon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5394960" cy="0"/>
          </a:xfrm>
          <a:prstGeom prst="line">
            <a:avLst/>
          </a:prstGeom>
          <a:noFill/>
          <a:ln w="12700">
            <a:solidFill>
              <a:srgbClr val="DCE4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2359152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model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2423160" y="2359152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Qwen3-14B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2944368"/>
            <a:ext cx="5394960" cy="0"/>
          </a:xfrm>
          <a:prstGeom prst="line">
            <a:avLst/>
          </a:prstGeom>
          <a:noFill/>
          <a:ln w="12700">
            <a:solidFill>
              <a:srgbClr val="DCE4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301752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423160" y="3017520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QLoRA via Unsloth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3602736"/>
            <a:ext cx="5394960" cy="0"/>
          </a:xfrm>
          <a:prstGeom prst="line">
            <a:avLst/>
          </a:prstGeom>
          <a:noFill/>
          <a:ln w="12700">
            <a:solidFill>
              <a:srgbClr val="DCE4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0080" y="3675888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data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423160" y="3675888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358,000+ historical multi-chain fraud-scan records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4261104"/>
            <a:ext cx="5394960" cy="0"/>
          </a:xfrm>
          <a:prstGeom prst="line">
            <a:avLst/>
          </a:prstGeom>
          <a:noFill/>
          <a:ln w="12700">
            <a:solidFill>
              <a:srgbClr val="DCE4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0080" y="4334256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weights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2423160" y="4334256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GGUF — ffurduj/syndicate-gguf on HuggingFace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4919472"/>
            <a:ext cx="5394960" cy="0"/>
          </a:xfrm>
          <a:prstGeom prst="line">
            <a:avLst/>
          </a:prstGeom>
          <a:noFill/>
          <a:ln w="12700">
            <a:solidFill>
              <a:srgbClr val="DCE4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40080" y="4992624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inference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2423160" y="4992624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llama-cpp-python (ROCm / HIPBLAS build) via LangChain LlamaCpp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537960" y="2286000"/>
            <a:ext cx="5029200" cy="3977640"/>
          </a:xfrm>
          <a:prstGeom prst="roundRect">
            <a:avLst>
              <a:gd name="adj" fmla="val 2759"/>
            </a:avLst>
          </a:prstGeom>
          <a:solidFill>
            <a:srgbClr val="0B1220"/>
          </a:solidFill>
          <a:ln/>
          <a:effectLst>
            <a:outerShdw blurRad="101600" dist="38100" dir="5400000" algn="bl" rotWithShape="0">
              <a:srgbClr val="1B2838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903720" y="256032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00D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PORTABLE BY DESIGN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903720" y="288036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GPU target is hardcoded anywhere in the inference path.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903720" y="3520440"/>
            <a:ext cx="320040" cy="32004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903720" y="35204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360920" y="350215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ROCM_GFX_TARGET env override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903720" y="3995928"/>
            <a:ext cx="320040" cy="32004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903720" y="39959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360920" y="39776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rocminfo autodetect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903720" y="4471416"/>
            <a:ext cx="320040" cy="32004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903720" y="447141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360920" y="445312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ROCm / CUDA / CPU fallback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903720" y="4992624"/>
            <a:ext cx="4297680" cy="0"/>
          </a:xfrm>
          <a:prstGeom prst="line">
            <a:avLst/>
          </a:prstGeom>
          <a:noFill/>
          <a:ln w="12700">
            <a:solidFill>
              <a:srgbClr val="2237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903720" y="5129784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D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code, two targets: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6903720" y="5422392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laptop — AMD Ryzen AI Max 395 “Strix Halo”, gfx1151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 target — AMD Radeon Cloud GPU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1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RugBuster CIA Intelligence Agent  ·  AMD AI DevMaster Hackathon — Track 2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1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STATUS &amp; ROADMAP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Being upfront: this is an early checkpoint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1051560"/>
          </a:xfrm>
          <a:prstGeom prst="roundRect">
            <a:avLst>
              <a:gd name="adj" fmla="val 8696"/>
            </a:avLst>
          </a:prstGeom>
          <a:solidFill>
            <a:srgbClr val="13233A"/>
          </a:solidFill>
          <a:ln w="15875">
            <a:solidFill>
              <a:srgbClr val="F2A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1600200"/>
            <a:ext cx="10332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current Qwen3-14B QLoRA checkpoint is a trial fine-tune and can still hallucinate. </a:t>
            </a:r>
            <a:r>
              <a:rPr lang="en-US" sz="1300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its verdict is treated as advisory, not authoritative — every LLM verdict is cross-checked against a separate, deterministic risk baseline computed directly from the raw on-chain findings (no LLM involved), and disagreement is flagged rather than trusted silently.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2971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D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TO A PRODUCTION-GRADE MODEL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3429000"/>
            <a:ext cx="2606040" cy="2606040"/>
          </a:xfrm>
          <a:prstGeom prst="roundRect">
            <a:avLst>
              <a:gd name="adj" fmla="val 3509"/>
            </a:avLst>
          </a:prstGeom>
          <a:solidFill>
            <a:srgbClr val="13233A"/>
          </a:solidFill>
          <a:ln w="12700">
            <a:solidFill>
              <a:srgbClr val="2237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868680" y="3657600"/>
            <a:ext cx="457200" cy="457200"/>
          </a:xfrm>
          <a:prstGeom prst="ellipse">
            <a:avLst/>
          </a:prstGeom>
          <a:solidFill>
            <a:srgbClr val="00D3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68680" y="3657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68680" y="425196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Scan now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68680" y="4663440"/>
            <a:ext cx="2148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logging structured findings on new tokens as they launch — already happening in production.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46120" y="4480560"/>
            <a:ext cx="137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383280" y="3429000"/>
            <a:ext cx="2606040" cy="2606040"/>
          </a:xfrm>
          <a:prstGeom prst="roundRect">
            <a:avLst>
              <a:gd name="adj" fmla="val 3509"/>
            </a:avLst>
          </a:prstGeom>
          <a:solidFill>
            <a:srgbClr val="13233A"/>
          </a:solidFill>
          <a:ln w="12700">
            <a:solidFill>
              <a:srgbClr val="2237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611880" y="3657600"/>
            <a:ext cx="457200" cy="457200"/>
          </a:xfrm>
          <a:prstGeom prst="ellipse">
            <a:avLst/>
          </a:prstGeom>
          <a:solidFill>
            <a:srgbClr val="00D3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611880" y="3657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611880" y="425196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Wait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611880" y="4663440"/>
            <a:ext cx="2148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Rug-pull labels are retrospective — give tokens weeks-to-months of real time to reveal the true outcome.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989320" y="4480560"/>
            <a:ext cx="137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126480" y="3429000"/>
            <a:ext cx="2606040" cy="2606040"/>
          </a:xfrm>
          <a:prstGeom prst="roundRect">
            <a:avLst>
              <a:gd name="adj" fmla="val 3509"/>
            </a:avLst>
          </a:prstGeom>
          <a:solidFill>
            <a:srgbClr val="13233A"/>
          </a:solidFill>
          <a:ln w="12700">
            <a:solidFill>
              <a:srgbClr val="2237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355080" y="3657600"/>
            <a:ext cx="457200" cy="457200"/>
          </a:xfrm>
          <a:prstGeom prst="ellipse">
            <a:avLst/>
          </a:prstGeom>
          <a:solidFill>
            <a:srgbClr val="00D3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355080" y="3657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355080" y="425196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Verify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355080" y="4663440"/>
            <a:ext cx="2148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matured outcomes against original findings before trusting them as training data.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732520" y="4480560"/>
            <a:ext cx="137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8869680" y="3429000"/>
            <a:ext cx="2606040" cy="2606040"/>
          </a:xfrm>
          <a:prstGeom prst="roundRect">
            <a:avLst>
              <a:gd name="adj" fmla="val 3509"/>
            </a:avLst>
          </a:prstGeom>
          <a:solidFill>
            <a:srgbClr val="13233A"/>
          </a:solidFill>
          <a:ln w="12700">
            <a:solidFill>
              <a:srgbClr val="2237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9098280" y="3657600"/>
            <a:ext cx="457200" cy="457200"/>
          </a:xfrm>
          <a:prstGeom prst="ellipse">
            <a:avLst/>
          </a:prstGeom>
          <a:solidFill>
            <a:srgbClr val="00D3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9098280" y="3657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9098280" y="425196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Retrain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098280" y="4663440"/>
            <a:ext cx="2148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label quality is confirmed, run the next fine-tune and consider promoting the model to a primary signal.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RugBuster CIA Intelligence Agent  ·  AMD AI DevMaster Hackathon — Track 2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OPTIMIZATION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Making local inference fast on Radeon GPUs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349240" cy="420624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E2E8EE"/>
            </a:solidFill>
            <a:prstDash val="solid"/>
          </a:ln>
          <a:effectLst>
            <a:outerShdw blurRad="127000" dist="38100" dir="5400000" algn="bl" rotWithShape="0">
              <a:srgbClr val="1B2838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60120" y="196596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APPLIED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960120" y="2441448"/>
            <a:ext cx="91440" cy="91440"/>
          </a:xfrm>
          <a:prstGeom prst="ellipse">
            <a:avLst/>
          </a:prstGeom>
          <a:solidFill>
            <a:srgbClr val="00D3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216152" y="2304288"/>
            <a:ext cx="4617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1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QLoRA instead of full fine-tune — smaller memory footprint end-to-end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60120" y="3310128"/>
            <a:ext cx="91440" cy="91440"/>
          </a:xfrm>
          <a:prstGeom prst="ellipse">
            <a:avLst/>
          </a:prstGeom>
          <a:solidFill>
            <a:srgbClr val="00D3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216152" y="3172968"/>
            <a:ext cx="4617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1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GGUF quantized export for inference — trades a small quality margin for large latency/memory wins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60120" y="4178808"/>
            <a:ext cx="91440" cy="91440"/>
          </a:xfrm>
          <a:prstGeom prst="ellipse">
            <a:avLst/>
          </a:prstGeom>
          <a:solidFill>
            <a:srgbClr val="00D3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216152" y="4041648"/>
            <a:ext cx="4617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1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ROCm / HIPBLAS-built llama-cpp-python — matrix ops run on GPU, not a silent CPU fallback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60120" y="5047488"/>
            <a:ext cx="91440" cy="91440"/>
          </a:xfrm>
          <a:prstGeom prst="ellipse">
            <a:avLst/>
          </a:prstGeom>
          <a:solidFill>
            <a:srgbClr val="00D3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216152" y="4910328"/>
            <a:ext cx="4617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1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Runtime-configurable GPU layer offload — smaller cloud GPUs can offload fewer layers without a code change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17920" y="1737360"/>
            <a:ext cx="5349240" cy="4206240"/>
          </a:xfrm>
          <a:prstGeom prst="roundRect">
            <a:avLst>
              <a:gd name="adj" fmla="val 2609"/>
            </a:avLst>
          </a:prstGeom>
          <a:solidFill>
            <a:srgbClr val="0B1220"/>
          </a:solidFill>
          <a:ln/>
          <a:effectLst>
            <a:outerShdw blurRad="101600" dist="38100" dir="5400000" algn="bl" rotWithShape="0">
              <a:srgbClr val="1B2838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537960" y="196596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00D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NEXT, IF TIME ALLOWS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537960" y="2441448"/>
            <a:ext cx="91440" cy="91440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793992" y="2304288"/>
            <a:ext cx="4617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Parallelize the independent contract-only tool calls instead of running them sequentially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537960" y="3401568"/>
            <a:ext cx="91440" cy="91440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793992" y="3264408"/>
            <a:ext cx="4617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model server (llama.cpp server mode) to amortize load time across scans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537960" y="4361688"/>
            <a:ext cx="91440" cy="91440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793992" y="4224528"/>
            <a:ext cx="4617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Speculative decoding or a smaller draft model if verdict latency is the bottleneck on the cloud target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1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RugBuster CIA Intelligence Agent  ·  AMD AI DevMaster Hackathon — Track 2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1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Proven detection, deployed privately —</a:t>
            </a:r>
            <a:endParaRPr lang="en-US" sz="27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an open niche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2194560"/>
            <a:ext cx="5577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450" dirty="0">
                <a:solidFill>
                  <a:srgbClr val="51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fraud costs retail investors real money, every day, on every DeFi chain. This agent packages an already-proven, live-in-production detection system as a privately-deployable local agent — so launchpads, DEXs, and wallet providers can run fraud detection on their own infrastructure, without sending sensitive token data to a third-party SaaS.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537960" y="2194560"/>
            <a:ext cx="5029200" cy="3794760"/>
          </a:xfrm>
          <a:prstGeom prst="roundRect">
            <a:avLst>
              <a:gd name="adj" fmla="val 2892"/>
            </a:avLst>
          </a:prstGeom>
          <a:solidFill>
            <a:srgbClr val="028090"/>
          </a:solidFill>
          <a:ln/>
          <a:effectLst>
            <a:outerShdw blurRad="101600" dist="38100" dir="5400000" algn="bl" rotWithShape="0">
              <a:srgbClr val="1B2838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903720" y="246888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F4F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SURVEYED THE COMPETITION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903720" y="2743200"/>
            <a:ext cx="4297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58</a:t>
            </a:r>
            <a:endParaRPr lang="en-US" sz="6800" dirty="0"/>
          </a:p>
        </p:txBody>
      </p:sp>
      <p:sp>
        <p:nvSpPr>
          <p:cNvPr id="8" name="Text 6"/>
          <p:cNvSpPr/>
          <p:nvPr/>
        </p:nvSpPr>
        <p:spPr>
          <a:xfrm>
            <a:off x="6903720" y="3657600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4F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Track 2 submissions reviewed on the official hackathon repo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903720" y="4343400"/>
            <a:ext cx="4297680" cy="0"/>
          </a:xfrm>
          <a:prstGeom prst="line">
            <a:avLst/>
          </a:prstGeom>
          <a:noFill/>
          <a:ln w="12700">
            <a:solidFill>
              <a:srgbClr val="2E9F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903720" y="4526280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600" dirty="0"/>
          </a:p>
        </p:txBody>
      </p:sp>
      <p:sp>
        <p:nvSpPr>
          <p:cNvPr id="11" name="Text 9"/>
          <p:cNvSpPr/>
          <p:nvPr/>
        </p:nvSpPr>
        <p:spPr>
          <a:xfrm>
            <a:off x="6903720" y="5166360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4F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building blockchain / token fraud detection — this is a unique niche within the track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40080" y="4297680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users, at a glance: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4709160"/>
            <a:ext cx="1737360" cy="502920"/>
          </a:xfrm>
          <a:prstGeom prst="roundRect">
            <a:avLst>
              <a:gd name="adj" fmla="val 14545"/>
            </a:avLst>
          </a:prstGeom>
          <a:solidFill>
            <a:srgbClr val="F4F7F9"/>
          </a:solidFill>
          <a:ln w="12700">
            <a:solidFill>
              <a:srgbClr val="DCE4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0080" y="470916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Launchpads &amp; DEXs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514600" y="4709160"/>
            <a:ext cx="1737360" cy="502920"/>
          </a:xfrm>
          <a:prstGeom prst="roundRect">
            <a:avLst>
              <a:gd name="adj" fmla="val 14545"/>
            </a:avLst>
          </a:prstGeom>
          <a:solidFill>
            <a:srgbClr val="F4F7F9"/>
          </a:solidFill>
          <a:ln w="12700">
            <a:solidFill>
              <a:srgbClr val="DCE4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514600" y="470916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investors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389120" y="4709160"/>
            <a:ext cx="1737360" cy="502920"/>
          </a:xfrm>
          <a:prstGeom prst="roundRect">
            <a:avLst>
              <a:gd name="adj" fmla="val 14545"/>
            </a:avLst>
          </a:prstGeom>
          <a:solidFill>
            <a:srgbClr val="F4F7F9"/>
          </a:solidFill>
          <a:ln w="12700">
            <a:solidFill>
              <a:srgbClr val="DCE4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389120" y="470916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 providers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1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RugBuster CIA Intelligence Agent  ·  AMD AI DevMaster Hackathon — Track 2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1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" y="4389120"/>
            <a:ext cx="2377440" cy="2377440"/>
          </a:xfrm>
          <a:prstGeom prst="ellipse">
            <a:avLst/>
          </a:prstGeom>
          <a:ln w="19050">
            <a:solidFill>
              <a:srgbClr val="2237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320040" y="3977640"/>
            <a:ext cx="3200400" cy="3200400"/>
          </a:xfrm>
          <a:prstGeom prst="ellipse">
            <a:avLst/>
          </a:prstGeom>
          <a:ln w="19050">
            <a:solidFill>
              <a:srgbClr val="2237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-731520" y="3566160"/>
            <a:ext cx="4023360" cy="4023360"/>
          </a:xfrm>
          <a:prstGeom prst="ellipse">
            <a:avLst/>
          </a:prstGeom>
          <a:ln w="19050">
            <a:solidFill>
              <a:srgbClr val="2237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182880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26974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D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RugBuster CIA Intelligence Agent — Track 2 Submission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3429000"/>
            <a:ext cx="2011680" cy="0"/>
          </a:xfrm>
          <a:prstGeom prst="line">
            <a:avLst/>
          </a:prstGeom>
          <a:noFill/>
          <a:ln w="25400">
            <a:solidFill>
              <a:srgbClr val="00D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22960" y="3749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200400" y="37490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github.com/rugbusteraipatrol/rugbuster-cia-agent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22960" y="42519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(HuggingFace)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200400" y="42519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huggingface.co/ffurduj/syndicate-gguf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822960" y="47548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200400" y="47548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ffurduj@gmail.com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207</TotalTime>
  <Words>1108</Words>
  <Application>Microsoft Office PowerPoint</Application>
  <PresentationFormat>Widescreen</PresentationFormat>
  <Paragraphs>194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Fedja Furduj</cp:lastModifiedBy>
  <cp:revision>2</cp:revision>
  <dcterms:created xsi:type="dcterms:W3CDTF">2026-08-04T16:12:28Z</dcterms:created>
  <dcterms:modified xsi:type="dcterms:W3CDTF">2026-08-04T21:50:21Z</dcterms:modified>
</cp:coreProperties>
</file>