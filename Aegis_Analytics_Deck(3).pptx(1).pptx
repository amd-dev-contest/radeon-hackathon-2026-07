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Arial" charset="1" panose="020B0604020202020204"/>
      <p:regular r:id="rId18"/>
    </p:embeddedFont>
    <p:embeddedFont>
      <p:font typeface="Montserrat Italics" charset="1" panose="00000500000000000000"/>
      <p:regular r:id="rId19"/>
    </p:embeddedFont>
    <p:embeddedFont>
      <p:font typeface="Arial Bold" charset="1" panose="020B0704020202020204"/>
      <p:regular r:id="rId20"/>
    </p:embeddedFont>
    <p:embeddedFont>
      <p:font typeface="Consolas" charset="1" panose="020B060902020403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1851660"/>
            <a:ext cx="16322040" cy="1783080"/>
            <a:chOff x="0" y="0"/>
            <a:chExt cx="2176272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238" r="0" b="-1282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1851660"/>
            <a:ext cx="16322040" cy="1783080"/>
            <a:chOff x="0" y="0"/>
            <a:chExt cx="2176272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363" r="0" b="-12836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76272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Aegis Analytics AI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3566160"/>
            <a:ext cx="13030200" cy="822960"/>
            <a:chOff x="0" y="0"/>
            <a:chExt cx="173736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298" r="0" b="-2582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566160"/>
            <a:ext cx="13030200" cy="822960"/>
            <a:chOff x="0" y="0"/>
            <a:chExt cx="173736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373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85B7E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intelligent stock market assistant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4457700"/>
            <a:ext cx="13030200" cy="685800"/>
            <a:chOff x="0" y="0"/>
            <a:chExt cx="173736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958" r="0" b="-31995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4464844"/>
            <a:ext cx="13030200" cy="678656"/>
            <a:chOff x="0" y="0"/>
            <a:chExt cx="17373600" cy="9048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373600" cy="904875"/>
            </a:xfrm>
            <a:custGeom>
              <a:avLst/>
              <a:gdLst/>
              <a:ahLst/>
              <a:cxnLst/>
              <a:rect r="r" b="b" t="t" l="l"/>
              <a:pathLst>
                <a:path h="90487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04875"/>
                  </a:lnTo>
                  <a:lnTo>
                    <a:pt x="0" y="904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7373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8"/>
                </a:lnSpc>
              </a:pPr>
              <a:r>
                <a:rPr lang="en-US" sz="2699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insight.  Less noise.  Smarter trades.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10454" y="5953954"/>
            <a:ext cx="4002643" cy="1602343"/>
          </a:xfrm>
          <a:custGeom>
            <a:avLst/>
            <a:gdLst/>
            <a:ahLst/>
            <a:cxnLst/>
            <a:rect r="r" b="b" t="t" l="l"/>
            <a:pathLst>
              <a:path h="1602343" w="4002643">
                <a:moveTo>
                  <a:pt x="0" y="0"/>
                </a:moveTo>
                <a:lnTo>
                  <a:pt x="4002643" y="0"/>
                </a:lnTo>
                <a:lnTo>
                  <a:pt x="4002643" y="1602343"/>
                </a:lnTo>
                <a:lnTo>
                  <a:pt x="0" y="160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69848" y="6172200"/>
            <a:ext cx="822960" cy="685800"/>
            <a:chOff x="0" y="0"/>
            <a:chExt cx="109728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94" t="0" r="-56994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69848" y="6157912"/>
            <a:ext cx="822960" cy="700088"/>
            <a:chOff x="0" y="0"/>
            <a:chExt cx="1097280" cy="933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933450"/>
            </a:xfrm>
            <a:custGeom>
              <a:avLst/>
              <a:gdLst/>
              <a:ahLst/>
              <a:cxnLst/>
              <a:rect r="r" b="b" t="t" l="l"/>
              <a:pathLst>
                <a:path h="93345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147" t="0" r="-5914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972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⚡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9848" y="6789420"/>
            <a:ext cx="3497580" cy="685800"/>
            <a:chOff x="0" y="0"/>
            <a:chExt cx="466344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04" r="0" b="-4930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6789420"/>
            <a:ext cx="3497580" cy="685800"/>
            <a:chOff x="0" y="0"/>
            <a:chExt cx="466344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6634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C7C7C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market data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130994" y="5953954"/>
            <a:ext cx="4002643" cy="1602343"/>
          </a:xfrm>
          <a:custGeom>
            <a:avLst/>
            <a:gdLst/>
            <a:ahLst/>
            <a:cxnLst/>
            <a:rect r="r" b="b" t="t" l="l"/>
            <a:pathLst>
              <a:path h="1602343" w="4002643">
                <a:moveTo>
                  <a:pt x="0" y="0"/>
                </a:moveTo>
                <a:lnTo>
                  <a:pt x="4002643" y="0"/>
                </a:lnTo>
                <a:lnTo>
                  <a:pt x="4002643" y="1602343"/>
                </a:lnTo>
                <a:lnTo>
                  <a:pt x="0" y="160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5390388" y="6172200"/>
            <a:ext cx="822960" cy="685800"/>
            <a:chOff x="0" y="0"/>
            <a:chExt cx="109728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94" t="0" r="-5699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390388" y="6157912"/>
            <a:ext cx="822960" cy="700088"/>
            <a:chOff x="0" y="0"/>
            <a:chExt cx="1097280" cy="9334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933450"/>
            </a:xfrm>
            <a:custGeom>
              <a:avLst/>
              <a:gdLst/>
              <a:ahLst/>
              <a:cxnLst/>
              <a:rect r="r" b="b" t="t" l="l"/>
              <a:pathLst>
                <a:path h="93345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147" t="0" r="-5914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972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◎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90388" y="6789420"/>
            <a:ext cx="3497580" cy="685800"/>
            <a:chOff x="0" y="0"/>
            <a:chExt cx="466344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04" r="0" b="-4930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90388" y="6789420"/>
            <a:ext cx="3497580" cy="795302"/>
            <a:chOff x="0" y="0"/>
            <a:chExt cx="4663440" cy="10604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63440" cy="1060403"/>
            </a:xfrm>
            <a:custGeom>
              <a:avLst/>
              <a:gdLst/>
              <a:ahLst/>
              <a:cxnLst/>
              <a:rect r="r" b="b" t="t" l="l"/>
              <a:pathLst>
                <a:path h="1060403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60403"/>
                  </a:lnTo>
                  <a:lnTo>
                    <a:pt x="0" y="1060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75" r="0" b="-288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663440" cy="1060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C7C7C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AI-driven news sentiment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451534" y="5953954"/>
            <a:ext cx="4002643" cy="1602343"/>
          </a:xfrm>
          <a:custGeom>
            <a:avLst/>
            <a:gdLst/>
            <a:ahLst/>
            <a:cxnLst/>
            <a:rect r="r" b="b" t="t" l="l"/>
            <a:pathLst>
              <a:path h="1602343" w="4002643">
                <a:moveTo>
                  <a:pt x="0" y="0"/>
                </a:moveTo>
                <a:lnTo>
                  <a:pt x="4002643" y="0"/>
                </a:lnTo>
                <a:lnTo>
                  <a:pt x="4002643" y="1602343"/>
                </a:lnTo>
                <a:lnTo>
                  <a:pt x="0" y="160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710928" y="6172200"/>
            <a:ext cx="822960" cy="685800"/>
            <a:chOff x="0" y="0"/>
            <a:chExt cx="109728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94" t="0" r="-56994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10928" y="6157912"/>
            <a:ext cx="822960" cy="700088"/>
            <a:chOff x="0" y="0"/>
            <a:chExt cx="1097280" cy="9334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933450"/>
            </a:xfrm>
            <a:custGeom>
              <a:avLst/>
              <a:gdLst/>
              <a:ahLst/>
              <a:cxnLst/>
              <a:rect r="r" b="b" t="t" l="l"/>
              <a:pathLst>
                <a:path h="93345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147" t="0" r="-5914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972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▶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10928" y="6789420"/>
            <a:ext cx="3497580" cy="685800"/>
            <a:chOff x="0" y="0"/>
            <a:chExt cx="46634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04" r="0" b="-4930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10928" y="6789420"/>
            <a:ext cx="3497580" cy="685800"/>
            <a:chOff x="0" y="0"/>
            <a:chExt cx="466344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46634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C7C7C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Audio-visual smart alerts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0454" y="8971474"/>
            <a:ext cx="16662511" cy="25003"/>
            <a:chOff x="0" y="0"/>
            <a:chExt cx="22216682" cy="333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217152"/>
            <a:ext cx="8229600" cy="891540"/>
            <a:chOff x="0" y="0"/>
            <a:chExt cx="1097280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737" r="0" b="-1297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152858"/>
            <a:ext cx="8229600" cy="955834"/>
            <a:chOff x="0" y="0"/>
            <a:chExt cx="10972800" cy="12744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1274445"/>
            </a:xfrm>
            <a:custGeom>
              <a:avLst/>
              <a:gdLst/>
              <a:ahLst/>
              <a:cxnLst/>
              <a:rect r="r" b="b" t="t" l="l"/>
              <a:pathLst>
                <a:path h="12744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74445"/>
                  </a:lnTo>
                  <a:lnTo>
                    <a:pt x="0" y="1274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763" r="0" b="-11776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109728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Infinitix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A8A8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lead: Udit Rajput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89720" y="9258300"/>
            <a:ext cx="8270748" cy="685800"/>
            <a:chOff x="0" y="0"/>
            <a:chExt cx="11027664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27664" cy="914400"/>
            </a:xfrm>
            <a:custGeom>
              <a:avLst/>
              <a:gdLst/>
              <a:ahLst/>
              <a:cxnLst/>
              <a:rect r="r" b="b" t="t" l="l"/>
              <a:pathLst>
                <a:path h="914400" w="11027664">
                  <a:moveTo>
                    <a:pt x="0" y="0"/>
                  </a:moveTo>
                  <a:lnTo>
                    <a:pt x="11027664" y="0"/>
                  </a:lnTo>
                  <a:lnTo>
                    <a:pt x="110276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826" r="0" b="-184826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89720" y="9251156"/>
            <a:ext cx="8270748" cy="692944"/>
            <a:chOff x="0" y="0"/>
            <a:chExt cx="11027664" cy="92392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027664" cy="923925"/>
            </a:xfrm>
            <a:custGeom>
              <a:avLst/>
              <a:gdLst/>
              <a:ahLst/>
              <a:cxnLst/>
              <a:rect r="r" b="b" t="t" l="l"/>
              <a:pathLst>
                <a:path h="923925" w="11027664">
                  <a:moveTo>
                    <a:pt x="0" y="0"/>
                  </a:moveTo>
                  <a:lnTo>
                    <a:pt x="11027664" y="0"/>
                  </a:lnTo>
                  <a:lnTo>
                    <a:pt x="11027664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566" r="0" b="-18256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1027664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 i="true">
                  <a:solidFill>
                    <a:srgbClr val="8A8A8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Democratizing financial intelligence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952787" y="4870315"/>
            <a:ext cx="10292886" cy="9520920"/>
          </a:xfrm>
          <a:custGeom>
            <a:avLst/>
            <a:gdLst/>
            <a:ahLst/>
            <a:cxnLst/>
            <a:rect r="r" b="b" t="t" l="l"/>
            <a:pathLst>
              <a:path h="9520920" w="10292886">
                <a:moveTo>
                  <a:pt x="0" y="0"/>
                </a:moveTo>
                <a:lnTo>
                  <a:pt x="10292886" y="0"/>
                </a:lnTo>
                <a:lnTo>
                  <a:pt x="10292886" y="9520920"/>
                </a:lnTo>
                <a:lnTo>
                  <a:pt x="0" y="9520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0821"/>
            <a:ext cx="4800600" cy="736187"/>
            <a:chOff x="0" y="0"/>
            <a:chExt cx="6400800" cy="9815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981583"/>
            </a:xfrm>
            <a:custGeom>
              <a:avLst/>
              <a:gdLst/>
              <a:ahLst/>
              <a:cxnLst/>
              <a:rect r="r" b="b" t="t" l="l"/>
              <a:pathLst>
                <a:path h="981583" w="6400800">
                  <a:moveTo>
                    <a:pt x="0" y="490728"/>
                  </a:moveTo>
                  <a:cubicBezTo>
                    <a:pt x="0" y="219710"/>
                    <a:pt x="300863" y="0"/>
                    <a:pt x="671957" y="0"/>
                  </a:cubicBezTo>
                  <a:lnTo>
                    <a:pt x="5728843" y="0"/>
                  </a:lnTo>
                  <a:cubicBezTo>
                    <a:pt x="6099937" y="0"/>
                    <a:pt x="6400800" y="219710"/>
                    <a:pt x="6400800" y="490728"/>
                  </a:cubicBezTo>
                  <a:cubicBezTo>
                    <a:pt x="6400800" y="761746"/>
                    <a:pt x="6099937" y="981583"/>
                    <a:pt x="5728843" y="981583"/>
                  </a:cubicBezTo>
                  <a:lnTo>
                    <a:pt x="671957" y="981583"/>
                  </a:lnTo>
                  <a:cubicBezTo>
                    <a:pt x="300863" y="981583"/>
                    <a:pt x="0" y="761873"/>
                    <a:pt x="0" y="490728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412147"/>
            <a:ext cx="3786054" cy="794861"/>
            <a:chOff x="0" y="0"/>
            <a:chExt cx="5048072" cy="10598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48123" cy="1059815"/>
            </a:xfrm>
            <a:custGeom>
              <a:avLst/>
              <a:gdLst/>
              <a:ahLst/>
              <a:cxnLst/>
              <a:rect r="r" b="b" t="t" l="l"/>
              <a:pathLst>
                <a:path h="1059815" w="5048123">
                  <a:moveTo>
                    <a:pt x="0" y="0"/>
                  </a:moveTo>
                  <a:lnTo>
                    <a:pt x="5048123" y="0"/>
                  </a:lnTo>
                  <a:lnTo>
                    <a:pt x="5048123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45" r="1" b="-4274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423043"/>
            <a:ext cx="3786054" cy="783965"/>
            <a:chOff x="0" y="0"/>
            <a:chExt cx="5048072" cy="10452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8067" cy="1045289"/>
            </a:xfrm>
            <a:custGeom>
              <a:avLst/>
              <a:gdLst/>
              <a:ahLst/>
              <a:cxnLst/>
              <a:rect r="r" b="b" t="t" l="l"/>
              <a:pathLst>
                <a:path h="1045289" w="5048067">
                  <a:moveTo>
                    <a:pt x="0" y="0"/>
                  </a:moveTo>
                  <a:lnTo>
                    <a:pt x="5048067" y="0"/>
                  </a:lnTo>
                  <a:lnTo>
                    <a:pt x="5048067" y="1045289"/>
                  </a:lnTo>
                  <a:lnTo>
                    <a:pt x="0" y="1045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00" r="0" b="-441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048072" cy="10357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49"/>
                </a:lnSpc>
              </a:pPr>
              <a:r>
                <a:rPr lang="en-US" sz="3624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this problem, why now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3142174"/>
            <a:ext cx="5237083" cy="4962763"/>
          </a:xfrm>
          <a:custGeom>
            <a:avLst/>
            <a:gdLst/>
            <a:ahLst/>
            <a:cxnLst/>
            <a:rect r="r" b="b" t="t" l="l"/>
            <a:pathLst>
              <a:path h="4962763" w="5237083">
                <a:moveTo>
                  <a:pt x="0" y="0"/>
                </a:moveTo>
                <a:lnTo>
                  <a:pt x="5237083" y="0"/>
                </a:lnTo>
                <a:lnTo>
                  <a:pt x="5237083" y="4962763"/>
                </a:lnTo>
                <a:lnTo>
                  <a:pt x="0" y="4962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34440" y="3566160"/>
            <a:ext cx="1097280" cy="960120"/>
            <a:chOff x="0" y="0"/>
            <a:chExt cx="146304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343" t="0" r="-6234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3551872"/>
            <a:ext cx="1097280" cy="974407"/>
            <a:chOff x="0" y="0"/>
            <a:chExt cx="1463040" cy="12992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936" t="0" r="-6393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04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◈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4663440"/>
            <a:ext cx="4389120" cy="822960"/>
            <a:chOff x="0" y="0"/>
            <a:chExt cx="585216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48" r="0" b="-5384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440" y="4663440"/>
            <a:ext cx="4389120" cy="951516"/>
            <a:chOff x="0" y="0"/>
            <a:chExt cx="5852160" cy="12686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1268687"/>
            </a:xfrm>
            <a:custGeom>
              <a:avLst/>
              <a:gdLst/>
              <a:ahLst/>
              <a:cxnLst/>
              <a:rect r="r" b="b" t="t" l="l"/>
              <a:pathLst>
                <a:path h="126868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8687"/>
                  </a:lnTo>
                  <a:lnTo>
                    <a:pt x="0" y="1268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635" r="0" b="-331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852160" cy="12686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Highly dynamic markets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4440" y="5554980"/>
            <a:ext cx="4389120" cy="2194560"/>
            <a:chOff x="0" y="0"/>
            <a:chExt cx="5852160" cy="2926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440" y="5355696"/>
            <a:ext cx="4666174" cy="2393844"/>
            <a:chOff x="0" y="0"/>
            <a:chExt cx="5852160" cy="3002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002280"/>
                  </a:lnTo>
                  <a:lnTo>
                    <a:pt x="0" y="3002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822" t="0" r="-1582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5852160" cy="308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65"/>
                </a:lnSpc>
              </a:pPr>
              <a:r>
                <a:rPr lang="en-US" sz="2349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NSE handles ~93% of cash trades &amp; ~99% of derivatives turnover in India.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434014" y="3142174"/>
            <a:ext cx="5237083" cy="4962763"/>
          </a:xfrm>
          <a:custGeom>
            <a:avLst/>
            <a:gdLst/>
            <a:ahLst/>
            <a:cxnLst/>
            <a:rect r="r" b="b" t="t" l="l"/>
            <a:pathLst>
              <a:path h="4962763" w="5237083">
                <a:moveTo>
                  <a:pt x="0" y="0"/>
                </a:moveTo>
                <a:lnTo>
                  <a:pt x="5237083" y="0"/>
                </a:lnTo>
                <a:lnTo>
                  <a:pt x="5237083" y="4962763"/>
                </a:lnTo>
                <a:lnTo>
                  <a:pt x="0" y="4962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858000" y="3566160"/>
            <a:ext cx="1097280" cy="960120"/>
            <a:chOff x="0" y="0"/>
            <a:chExt cx="146304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343" t="0" r="-62343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858000" y="3551872"/>
            <a:ext cx="1097280" cy="974407"/>
            <a:chOff x="0" y="0"/>
            <a:chExt cx="1463040" cy="12992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936" t="0" r="-6393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46304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⚡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0" y="4663440"/>
            <a:ext cx="4389120" cy="822960"/>
            <a:chOff x="0" y="0"/>
            <a:chExt cx="585216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48" r="0" b="-5384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858000" y="4663440"/>
            <a:ext cx="4389120" cy="822960"/>
            <a:chOff x="0" y="0"/>
            <a:chExt cx="585216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8521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AI-powered speed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17268" y="5623560"/>
            <a:ext cx="4807744" cy="2290705"/>
            <a:chOff x="0" y="0"/>
            <a:chExt cx="6410325" cy="305427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10325" cy="3054223"/>
            </a:xfrm>
            <a:custGeom>
              <a:avLst/>
              <a:gdLst/>
              <a:ahLst/>
              <a:cxnLst/>
              <a:rect r="r" b="b" t="t" l="l"/>
              <a:pathLst>
                <a:path h="3054223" w="6410325">
                  <a:moveTo>
                    <a:pt x="0" y="0"/>
                  </a:moveTo>
                  <a:lnTo>
                    <a:pt x="6410325" y="0"/>
                  </a:lnTo>
                  <a:lnTo>
                    <a:pt x="6410325" y="3054223"/>
                  </a:lnTo>
                  <a:lnTo>
                    <a:pt x="0" y="3054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174" t="0" r="-11174" b="-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717268" y="5566410"/>
            <a:ext cx="4807744" cy="2347855"/>
            <a:chOff x="0" y="0"/>
            <a:chExt cx="6410325" cy="313047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10325" cy="3130473"/>
            </a:xfrm>
            <a:custGeom>
              <a:avLst/>
              <a:gdLst/>
              <a:ahLst/>
              <a:cxnLst/>
              <a:rect r="r" b="b" t="t" l="l"/>
              <a:pathLst>
                <a:path h="3130473" w="6410325">
                  <a:moveTo>
                    <a:pt x="0" y="0"/>
                  </a:moveTo>
                  <a:lnTo>
                    <a:pt x="6410325" y="0"/>
                  </a:lnTo>
                  <a:lnTo>
                    <a:pt x="6410325" y="3130473"/>
                  </a:lnTo>
                  <a:lnTo>
                    <a:pt x="0" y="3130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656" t="0" r="-1265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85725"/>
              <a:ext cx="6410325" cy="3216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9"/>
                </a:lnSpc>
              </a:pPr>
              <a:r>
                <a:rPr lang="en-US" sz="2249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Algo trading now drives 50%+ of NSE cash turnover, up from 17% in FY11.</a:t>
              </a:r>
            </a:p>
            <a:p>
              <a:pPr algn="l">
                <a:lnSpc>
                  <a:spcPts val="3509"/>
                </a:lnSpc>
              </a:pPr>
              <a:r>
                <a:rPr lang="en-US" sz="2249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Source: NSE Market Pulse, FY26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2057574" y="3142174"/>
            <a:ext cx="5237083" cy="4962763"/>
          </a:xfrm>
          <a:custGeom>
            <a:avLst/>
            <a:gdLst/>
            <a:ahLst/>
            <a:cxnLst/>
            <a:rect r="r" b="b" t="t" l="l"/>
            <a:pathLst>
              <a:path h="4962763" w="5237083">
                <a:moveTo>
                  <a:pt x="0" y="0"/>
                </a:moveTo>
                <a:lnTo>
                  <a:pt x="5237083" y="0"/>
                </a:lnTo>
                <a:lnTo>
                  <a:pt x="5237083" y="4962763"/>
                </a:lnTo>
                <a:lnTo>
                  <a:pt x="0" y="4962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2481560" y="3566160"/>
            <a:ext cx="1097280" cy="960120"/>
            <a:chOff x="0" y="0"/>
            <a:chExt cx="146304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343" t="0" r="-62343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481560" y="3551872"/>
            <a:ext cx="1097280" cy="974407"/>
            <a:chOff x="0" y="0"/>
            <a:chExt cx="1463040" cy="12992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936" t="0" r="-63936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46304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◎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81560" y="4663440"/>
            <a:ext cx="4389120" cy="822960"/>
            <a:chOff x="0" y="0"/>
            <a:chExt cx="585216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48" r="0" b="-5384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81560" y="4663440"/>
            <a:ext cx="4389120" cy="822960"/>
            <a:chOff x="0" y="0"/>
            <a:chExt cx="585216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9525"/>
              <a:ext cx="585216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Our goal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481560" y="5554980"/>
            <a:ext cx="4389120" cy="3347590"/>
            <a:chOff x="0" y="0"/>
            <a:chExt cx="5852160" cy="446345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852160" cy="4463415"/>
            </a:xfrm>
            <a:custGeom>
              <a:avLst/>
              <a:gdLst/>
              <a:ahLst/>
              <a:cxnLst/>
              <a:rect r="r" b="b" t="t" l="l"/>
              <a:pathLst>
                <a:path h="446341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463415"/>
                  </a:lnTo>
                  <a:lnTo>
                    <a:pt x="0" y="4463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25" t="0" r="-47925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481560" y="5490686"/>
            <a:ext cx="4389120" cy="3411888"/>
            <a:chOff x="0" y="0"/>
            <a:chExt cx="5852160" cy="45491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52160" cy="4549189"/>
            </a:xfrm>
            <a:custGeom>
              <a:avLst/>
              <a:gdLst/>
              <a:ahLst/>
              <a:cxnLst/>
              <a:rect r="r" b="b" t="t" l="l"/>
              <a:pathLst>
                <a:path h="4549189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549189"/>
                  </a:lnTo>
                  <a:lnTo>
                    <a:pt x="0" y="45491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736" t="0" r="-49736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85725"/>
              <a:ext cx="5852160" cy="4634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1"/>
                </a:lnSpc>
              </a:pPr>
              <a:r>
                <a:rPr lang="en-US" sz="244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Turn machine-speed data into forecasts traders can act on instantly.</a:t>
              </a:r>
            </a:p>
            <a:p>
              <a:pPr algn="l">
                <a:lnSpc>
                  <a:spcPts val="3821"/>
                </a:lnSpc>
              </a:pPr>
            </a:p>
            <a:p>
              <a:pPr algn="l">
                <a:lnSpc>
                  <a:spcPts val="3821"/>
                </a:lnSpc>
              </a:pPr>
            </a:p>
            <a:p>
              <a:pPr algn="l">
                <a:lnSpc>
                  <a:spcPts val="3821"/>
                </a:lnSpc>
              </a:pPr>
            </a:p>
            <a:p>
              <a:pPr algn="l">
                <a:lnSpc>
                  <a:spcPts val="3821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57969"/>
            <a:ext cx="4011930" cy="885387"/>
            <a:chOff x="0" y="0"/>
            <a:chExt cx="5349240" cy="1180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49240" cy="1180592"/>
            </a:xfrm>
            <a:custGeom>
              <a:avLst/>
              <a:gdLst/>
              <a:ahLst/>
              <a:cxnLst/>
              <a:rect r="r" b="b" t="t" l="l"/>
              <a:pathLst>
                <a:path h="1180592" w="5349240">
                  <a:moveTo>
                    <a:pt x="0" y="590296"/>
                  </a:moveTo>
                  <a:cubicBezTo>
                    <a:pt x="0" y="264287"/>
                    <a:pt x="350012" y="0"/>
                    <a:pt x="781812" y="0"/>
                  </a:cubicBezTo>
                  <a:lnTo>
                    <a:pt x="4567428" y="0"/>
                  </a:lnTo>
                  <a:cubicBezTo>
                    <a:pt x="4999228" y="0"/>
                    <a:pt x="5349240" y="264287"/>
                    <a:pt x="5349240" y="590296"/>
                  </a:cubicBezTo>
                  <a:cubicBezTo>
                    <a:pt x="5349240" y="916305"/>
                    <a:pt x="4999228" y="1180592"/>
                    <a:pt x="4567428" y="1180592"/>
                  </a:cubicBezTo>
                  <a:lnTo>
                    <a:pt x="781812" y="1180592"/>
                  </a:lnTo>
                  <a:cubicBezTo>
                    <a:pt x="350012" y="1180465"/>
                    <a:pt x="0" y="916178"/>
                    <a:pt x="0" y="590296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3020" y="358959"/>
            <a:ext cx="3025569" cy="884396"/>
            <a:chOff x="0" y="0"/>
            <a:chExt cx="4034092" cy="1179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4028" cy="1179195"/>
            </a:xfrm>
            <a:custGeom>
              <a:avLst/>
              <a:gdLst/>
              <a:ahLst/>
              <a:cxnLst/>
              <a:rect r="r" b="b" t="t" l="l"/>
              <a:pathLst>
                <a:path h="1179195" w="4034028">
                  <a:moveTo>
                    <a:pt x="0" y="0"/>
                  </a:moveTo>
                  <a:lnTo>
                    <a:pt x="4034028" y="0"/>
                  </a:lnTo>
                  <a:lnTo>
                    <a:pt x="4034028" y="1179195"/>
                  </a:lnTo>
                  <a:lnTo>
                    <a:pt x="0" y="1179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12" r="-1" b="-1661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371084"/>
            <a:ext cx="3025569" cy="872271"/>
            <a:chOff x="0" y="0"/>
            <a:chExt cx="4034092" cy="1163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4088" cy="1163032"/>
            </a:xfrm>
            <a:custGeom>
              <a:avLst/>
              <a:gdLst/>
              <a:ahLst/>
              <a:cxnLst/>
              <a:rect r="r" b="b" t="t" l="l"/>
              <a:pathLst>
                <a:path h="1163032" w="4034088">
                  <a:moveTo>
                    <a:pt x="0" y="0"/>
                  </a:moveTo>
                  <a:lnTo>
                    <a:pt x="4034088" y="0"/>
                  </a:lnTo>
                  <a:lnTo>
                    <a:pt x="4034088" y="1163032"/>
                  </a:lnTo>
                  <a:lnTo>
                    <a:pt x="0" y="11630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85" r="0" b="-175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034092" cy="115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88"/>
                </a:lnSpc>
              </a:pPr>
              <a:r>
                <a:rPr lang="en-US" sz="3823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gaps retail investors face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936434"/>
            <a:ext cx="8048863" cy="2288143"/>
          </a:xfrm>
          <a:custGeom>
            <a:avLst/>
            <a:gdLst/>
            <a:ahLst/>
            <a:cxnLst/>
            <a:rect r="r" b="b" t="t" l="l"/>
            <a:pathLst>
              <a:path h="2288143" w="8048863">
                <a:moveTo>
                  <a:pt x="0" y="0"/>
                </a:moveTo>
                <a:lnTo>
                  <a:pt x="8048863" y="0"/>
                </a:lnTo>
                <a:lnTo>
                  <a:pt x="8048863" y="2288143"/>
                </a:lnTo>
                <a:lnTo>
                  <a:pt x="0" y="2288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65860" y="329184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5A30">
                <a:alpha val="5176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" y="329184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3298984"/>
            <a:ext cx="685800" cy="678656"/>
            <a:chOff x="0" y="0"/>
            <a:chExt cx="914400" cy="9048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04875"/>
            </a:xfrm>
            <a:custGeom>
              <a:avLst/>
              <a:gdLst/>
              <a:ahLst/>
              <a:cxnLst/>
              <a:rect r="r" b="b" t="t" l="l"/>
              <a:pathLst>
                <a:path h="90487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04875"/>
                  </a:lnTo>
                  <a:lnTo>
                    <a:pt x="0" y="904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967" t="0" r="-7696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914400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AECE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25980" y="3223260"/>
            <a:ext cx="6309360" cy="617220"/>
            <a:chOff x="0" y="0"/>
            <a:chExt cx="841248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41" r="0" b="-14904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25980" y="3223260"/>
            <a:ext cx="6309360" cy="617220"/>
            <a:chOff x="0" y="0"/>
            <a:chExt cx="841248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841248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Information paradox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25980" y="3881628"/>
            <a:ext cx="6446520" cy="1165860"/>
            <a:chOff x="0" y="0"/>
            <a:chExt cx="859536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65" r="0" b="-5766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125980" y="3838766"/>
            <a:ext cx="6446520" cy="1250721"/>
            <a:chOff x="0" y="0"/>
            <a:chExt cx="8595360" cy="16676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95360" cy="1667628"/>
            </a:xfrm>
            <a:custGeom>
              <a:avLst/>
              <a:gdLst/>
              <a:ahLst/>
              <a:cxnLst/>
              <a:rect r="r" b="b" t="t" l="l"/>
              <a:pathLst>
                <a:path h="1667628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667628"/>
                  </a:lnTo>
                  <a:lnTo>
                    <a:pt x="0" y="1667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09" r="0" b="-4875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595360" cy="1724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13.6 crore Indian investors often trade on delayed data vs. institutions' millisecond feeds.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9177214" y="2936434"/>
            <a:ext cx="8048863" cy="2288143"/>
          </a:xfrm>
          <a:custGeom>
            <a:avLst/>
            <a:gdLst/>
            <a:ahLst/>
            <a:cxnLst/>
            <a:rect r="r" b="b" t="t" l="l"/>
            <a:pathLst>
              <a:path h="2288143" w="8048863">
                <a:moveTo>
                  <a:pt x="0" y="0"/>
                </a:moveTo>
                <a:lnTo>
                  <a:pt x="8048863" y="0"/>
                </a:lnTo>
                <a:lnTo>
                  <a:pt x="8048863" y="2288143"/>
                </a:lnTo>
                <a:lnTo>
                  <a:pt x="0" y="2288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532620" y="3291840"/>
            <a:ext cx="685800" cy="685800"/>
            <a:chOff x="0" y="0"/>
            <a:chExt cx="9144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5A30">
                <a:alpha val="51765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32620" y="3291840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32620" y="3298984"/>
            <a:ext cx="685800" cy="678656"/>
            <a:chOff x="0" y="0"/>
            <a:chExt cx="914400" cy="9048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04875"/>
            </a:xfrm>
            <a:custGeom>
              <a:avLst/>
              <a:gdLst/>
              <a:ahLst/>
              <a:cxnLst/>
              <a:rect r="r" b="b" t="t" l="l"/>
              <a:pathLst>
                <a:path h="90487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04875"/>
                  </a:lnTo>
                  <a:lnTo>
                    <a:pt x="0" y="904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967" t="0" r="-7696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914400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AECE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92740" y="3223260"/>
            <a:ext cx="6309360" cy="617220"/>
            <a:chOff x="0" y="0"/>
            <a:chExt cx="8412480" cy="822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41" r="0" b="-14904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492740" y="3223260"/>
            <a:ext cx="6309360" cy="617220"/>
            <a:chOff x="0" y="0"/>
            <a:chExt cx="841248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841248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Latency gap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92740" y="3881628"/>
            <a:ext cx="6446520" cy="1250794"/>
            <a:chOff x="0" y="0"/>
            <a:chExt cx="8595360" cy="166772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95360" cy="1667764"/>
            </a:xfrm>
            <a:custGeom>
              <a:avLst/>
              <a:gdLst/>
              <a:ahLst/>
              <a:cxnLst/>
              <a:rect r="r" b="b" t="t" l="l"/>
              <a:pathLst>
                <a:path h="16677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667764"/>
                  </a:lnTo>
                  <a:lnTo>
                    <a:pt x="0" y="166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53" r="0" b="-5035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492740" y="3838766"/>
            <a:ext cx="6446520" cy="1293659"/>
            <a:chOff x="0" y="0"/>
            <a:chExt cx="8595360" cy="172487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1724883"/>
            </a:xfrm>
            <a:custGeom>
              <a:avLst/>
              <a:gdLst/>
              <a:ahLst/>
              <a:cxnLst/>
              <a:rect r="r" b="b" t="t" l="l"/>
              <a:pathLst>
                <a:path h="1724883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724883"/>
                  </a:lnTo>
                  <a:lnTo>
                    <a:pt x="0" y="1724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097" r="0" b="-470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8595360" cy="1791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29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50%+ of NSE volume is now algo-driven in milliseconds  retail reacts to stale prices.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810454" y="5473894"/>
            <a:ext cx="8048863" cy="2288143"/>
          </a:xfrm>
          <a:custGeom>
            <a:avLst/>
            <a:gdLst/>
            <a:ahLst/>
            <a:cxnLst/>
            <a:rect r="r" b="b" t="t" l="l"/>
            <a:pathLst>
              <a:path h="2288143" w="8048863">
                <a:moveTo>
                  <a:pt x="0" y="0"/>
                </a:moveTo>
                <a:lnTo>
                  <a:pt x="8048863" y="0"/>
                </a:lnTo>
                <a:lnTo>
                  <a:pt x="8048863" y="2288143"/>
                </a:lnTo>
                <a:lnTo>
                  <a:pt x="0" y="2288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165860" y="5829300"/>
            <a:ext cx="685800" cy="685800"/>
            <a:chOff x="0" y="0"/>
            <a:chExt cx="914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5A30">
                <a:alpha val="51765"/>
              </a:srgbClr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5829300"/>
            <a:ext cx="685800" cy="685800"/>
            <a:chOff x="0" y="0"/>
            <a:chExt cx="914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65860" y="5836444"/>
            <a:ext cx="685800" cy="678656"/>
            <a:chOff x="0" y="0"/>
            <a:chExt cx="914400" cy="9048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04875"/>
            </a:xfrm>
            <a:custGeom>
              <a:avLst/>
              <a:gdLst/>
              <a:ahLst/>
              <a:cxnLst/>
              <a:rect r="r" b="b" t="t" l="l"/>
              <a:pathLst>
                <a:path h="90487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04875"/>
                  </a:lnTo>
                  <a:lnTo>
                    <a:pt x="0" y="904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967" t="0" r="-7696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914400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AECE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125980" y="5760720"/>
            <a:ext cx="6309360" cy="617220"/>
            <a:chOff x="0" y="0"/>
            <a:chExt cx="8412480" cy="8229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41" r="0" b="-14904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125980" y="5767864"/>
            <a:ext cx="6309360" cy="610076"/>
            <a:chOff x="0" y="0"/>
            <a:chExt cx="8412480" cy="81343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412480" cy="813435"/>
            </a:xfrm>
            <a:custGeom>
              <a:avLst/>
              <a:gdLst/>
              <a:ahLst/>
              <a:cxnLst/>
              <a:rect r="r" b="b" t="t" l="l"/>
              <a:pathLst>
                <a:path h="813435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13435"/>
                  </a:lnTo>
                  <a:lnTo>
                    <a:pt x="0" y="8134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512" r="0" b="-1515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41248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9"/>
                </a:lnSpc>
              </a:pPr>
              <a:r>
                <a:rPr lang="en-US" sz="30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silos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125980" y="6419088"/>
            <a:ext cx="6446520" cy="1165860"/>
            <a:chOff x="0" y="0"/>
            <a:chExt cx="8595360" cy="15544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65" r="0" b="-5766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125980" y="6376226"/>
            <a:ext cx="6446520" cy="1208722"/>
            <a:chOff x="0" y="0"/>
            <a:chExt cx="8595360" cy="16116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595360" cy="1611630"/>
            </a:xfrm>
            <a:custGeom>
              <a:avLst/>
              <a:gdLst/>
              <a:ahLst/>
              <a:cxnLst/>
              <a:rect r="r" b="b" t="t" l="l"/>
              <a:pathLst>
                <a:path h="161163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8595360" cy="166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39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Price feeds miss breaking news, leaving investors blindsided by sudden swings.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177214" y="5473894"/>
            <a:ext cx="8048863" cy="2288143"/>
          </a:xfrm>
          <a:custGeom>
            <a:avLst/>
            <a:gdLst/>
            <a:ahLst/>
            <a:cxnLst/>
            <a:rect r="r" b="b" t="t" l="l"/>
            <a:pathLst>
              <a:path h="2288143" w="8048863">
                <a:moveTo>
                  <a:pt x="0" y="0"/>
                </a:moveTo>
                <a:lnTo>
                  <a:pt x="8048863" y="0"/>
                </a:lnTo>
                <a:lnTo>
                  <a:pt x="8048863" y="2288143"/>
                </a:lnTo>
                <a:lnTo>
                  <a:pt x="0" y="2288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532620" y="5829300"/>
            <a:ext cx="685800" cy="685800"/>
            <a:chOff x="0" y="0"/>
            <a:chExt cx="9144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5A30">
                <a:alpha val="51765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532620" y="5829300"/>
            <a:ext cx="685800" cy="685800"/>
            <a:chOff x="0" y="0"/>
            <a:chExt cx="91440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32620" y="5836444"/>
            <a:ext cx="685800" cy="678656"/>
            <a:chOff x="0" y="0"/>
            <a:chExt cx="914400" cy="9048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4400" cy="904875"/>
            </a:xfrm>
            <a:custGeom>
              <a:avLst/>
              <a:gdLst/>
              <a:ahLst/>
              <a:cxnLst/>
              <a:rect r="r" b="b" t="t" l="l"/>
              <a:pathLst>
                <a:path h="90487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04875"/>
                  </a:lnTo>
                  <a:lnTo>
                    <a:pt x="0" y="904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967" t="0" r="-76967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914400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AECE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492740" y="5760720"/>
            <a:ext cx="6309360" cy="617220"/>
            <a:chOff x="0" y="0"/>
            <a:chExt cx="8412480" cy="8229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41" r="0" b="-14904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492740" y="5760720"/>
            <a:ext cx="6309360" cy="617220"/>
            <a:chOff x="0" y="0"/>
            <a:chExt cx="8412480" cy="822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412480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84124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6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risk quantification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492740" y="6419088"/>
            <a:ext cx="6446520" cy="1192644"/>
            <a:chOff x="0" y="0"/>
            <a:chExt cx="8595360" cy="15901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595360" cy="1590167"/>
            </a:xfrm>
            <a:custGeom>
              <a:avLst/>
              <a:gdLst/>
              <a:ahLst/>
              <a:cxnLst/>
              <a:rect r="r" b="b" t="t" l="l"/>
              <a:pathLst>
                <a:path h="1590167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90167"/>
                  </a:lnTo>
                  <a:lnTo>
                    <a:pt x="0" y="1590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48" r="0" b="-5525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492740" y="6376225"/>
            <a:ext cx="6446520" cy="1235506"/>
            <a:chOff x="0" y="0"/>
            <a:chExt cx="8595360" cy="16473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595360" cy="1647342"/>
            </a:xfrm>
            <a:custGeom>
              <a:avLst/>
              <a:gdLst/>
              <a:ahLst/>
              <a:cxnLst/>
              <a:rect r="r" b="b" t="t" l="l"/>
              <a:pathLst>
                <a:path h="1647342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647342"/>
                  </a:lnTo>
                  <a:lnTo>
                    <a:pt x="0" y="16473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667" r="0" b="-5166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8595360" cy="17044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39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91% of F&amp;O traders lost money in FY24-25 avg loss ₹1.1 lakh (SEBI).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806291" y="8144351"/>
            <a:ext cx="16670846" cy="1130617"/>
          </a:xfrm>
          <a:custGeom>
            <a:avLst/>
            <a:gdLst/>
            <a:ahLst/>
            <a:cxnLst/>
            <a:rect r="r" b="b" t="t" l="l"/>
            <a:pathLst>
              <a:path h="1130617" w="16670846">
                <a:moveTo>
                  <a:pt x="0" y="0"/>
                </a:moveTo>
                <a:lnTo>
                  <a:pt x="16670846" y="0"/>
                </a:lnTo>
                <a:lnTo>
                  <a:pt x="16670846" y="1130618"/>
                </a:lnTo>
                <a:lnTo>
                  <a:pt x="0" y="11306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303020" y="8161020"/>
            <a:ext cx="15636240" cy="1097280"/>
            <a:chOff x="0" y="0"/>
            <a:chExt cx="20848320" cy="14630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468" r="0" b="-227468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03020" y="8153876"/>
            <a:ext cx="15636240" cy="1104424"/>
            <a:chOff x="0" y="0"/>
            <a:chExt cx="20848320" cy="147256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84832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865" r="0" b="-22586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208483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9"/>
                </a:lnSpc>
              </a:pPr>
              <a:r>
                <a:rPr lang="en-US" sz="2648" i="true">
                  <a:solidFill>
                    <a:srgbClr val="5DCAA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MarketPulse AI turns noise into real-time, actionable intelligence.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22960" y="9765792"/>
            <a:ext cx="10972800" cy="414368"/>
            <a:chOff x="0" y="0"/>
            <a:chExt cx="14630400" cy="55249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0" cy="552490"/>
            </a:xfrm>
            <a:custGeom>
              <a:avLst/>
              <a:gdLst/>
              <a:ahLst/>
              <a:cxnLst/>
              <a:rect r="r" b="b" t="t" l="l"/>
              <a:pathLst>
                <a:path h="5524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52490"/>
                  </a:lnTo>
                  <a:lnTo>
                    <a:pt x="0" y="5524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6328" r="0" b="-46563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9525"/>
              <a:ext cx="14630400" cy="54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2074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14144"/>
            <a:ext cx="5486400" cy="892864"/>
            <a:chOff x="0" y="0"/>
            <a:chExt cx="7315200" cy="1190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1190498"/>
            </a:xfrm>
            <a:custGeom>
              <a:avLst/>
              <a:gdLst/>
              <a:ahLst/>
              <a:cxnLst/>
              <a:rect r="r" b="b" t="t" l="l"/>
              <a:pathLst>
                <a:path h="1190498" w="7315200">
                  <a:moveTo>
                    <a:pt x="0" y="595249"/>
                  </a:moveTo>
                  <a:cubicBezTo>
                    <a:pt x="0" y="266573"/>
                    <a:pt x="266573" y="0"/>
                    <a:pt x="595249" y="0"/>
                  </a:cubicBezTo>
                  <a:lnTo>
                    <a:pt x="6719951" y="0"/>
                  </a:lnTo>
                  <a:cubicBezTo>
                    <a:pt x="7048627" y="0"/>
                    <a:pt x="7315200" y="266573"/>
                    <a:pt x="7315200" y="595249"/>
                  </a:cubicBezTo>
                  <a:cubicBezTo>
                    <a:pt x="7315200" y="923925"/>
                    <a:pt x="7048627" y="1190498"/>
                    <a:pt x="6719951" y="1190498"/>
                  </a:cubicBezTo>
                  <a:lnTo>
                    <a:pt x="595249" y="1190498"/>
                  </a:lnTo>
                  <a:cubicBezTo>
                    <a:pt x="266573" y="1190498"/>
                    <a:pt x="0" y="923925"/>
                    <a:pt x="0" y="595249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8208" y="390249"/>
            <a:ext cx="4115895" cy="664864"/>
            <a:chOff x="0" y="0"/>
            <a:chExt cx="5487860" cy="886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7924" cy="886460"/>
            </a:xfrm>
            <a:custGeom>
              <a:avLst/>
              <a:gdLst/>
              <a:ahLst/>
              <a:cxnLst/>
              <a:rect r="r" b="b" t="t" l="l"/>
              <a:pathLst>
                <a:path h="886460" w="5487924">
                  <a:moveTo>
                    <a:pt x="0" y="0"/>
                  </a:moveTo>
                  <a:lnTo>
                    <a:pt x="5487924" y="0"/>
                  </a:lnTo>
                  <a:lnTo>
                    <a:pt x="5487924" y="886460"/>
                  </a:lnTo>
                  <a:lnTo>
                    <a:pt x="0" y="886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41" r="1" b="-705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208" y="397393"/>
            <a:ext cx="4115895" cy="657720"/>
            <a:chOff x="0" y="0"/>
            <a:chExt cx="5487860" cy="876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7867" cy="876962"/>
            </a:xfrm>
            <a:custGeom>
              <a:avLst/>
              <a:gdLst/>
              <a:ahLst/>
              <a:cxnLst/>
              <a:rect r="r" b="b" t="t" l="l"/>
              <a:pathLst>
                <a:path h="876962" w="5487867">
                  <a:moveTo>
                    <a:pt x="0" y="0"/>
                  </a:moveTo>
                  <a:lnTo>
                    <a:pt x="5487867" y="0"/>
                  </a:lnTo>
                  <a:lnTo>
                    <a:pt x="5487867" y="876962"/>
                  </a:lnTo>
                  <a:lnTo>
                    <a:pt x="0" y="8769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33" r="0" b="-719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487860" cy="86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89"/>
                </a:lnSpc>
              </a:pPr>
              <a:r>
                <a:rPr lang="en-US" sz="3324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Proposed solution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real-time AI co-pilot for traders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936434"/>
            <a:ext cx="8048863" cy="2905363"/>
          </a:xfrm>
          <a:custGeom>
            <a:avLst/>
            <a:gdLst/>
            <a:ahLst/>
            <a:cxnLst/>
            <a:rect r="r" b="b" t="t" l="l"/>
            <a:pathLst>
              <a:path h="2905363" w="8048863">
                <a:moveTo>
                  <a:pt x="0" y="0"/>
                </a:moveTo>
                <a:lnTo>
                  <a:pt x="8048863" y="0"/>
                </a:lnTo>
                <a:lnTo>
                  <a:pt x="804886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34440" y="3250692"/>
            <a:ext cx="960120" cy="822960"/>
            <a:chOff x="0" y="0"/>
            <a:chExt cx="12801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050" t="0" r="-6005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3229261"/>
            <a:ext cx="960120" cy="844391"/>
            <a:chOff x="0" y="0"/>
            <a:chExt cx="1280160" cy="11258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838" t="0" r="-6283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801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◈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3140" y="3250692"/>
            <a:ext cx="6172200" cy="685800"/>
            <a:chOff x="0" y="0"/>
            <a:chExt cx="82296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263140" y="3243548"/>
            <a:ext cx="6172200" cy="692944"/>
            <a:chOff x="0" y="0"/>
            <a:chExt cx="8229600" cy="9239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0" cy="923925"/>
            </a:xfrm>
            <a:custGeom>
              <a:avLst/>
              <a:gdLst/>
              <a:ahLst/>
              <a:cxnLst/>
              <a:rect r="r" b="b" t="t" l="l"/>
              <a:pathLst>
                <a:path h="923925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229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89"/>
                </a:lnSpc>
              </a:pPr>
              <a:r>
                <a:rPr lang="en-US" sz="30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Live prediction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4440" y="4183380"/>
            <a:ext cx="7200900" cy="1508760"/>
            <a:chOff x="0" y="0"/>
            <a:chExt cx="9601200" cy="2011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0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31" r="0" b="-4293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440" y="4133374"/>
            <a:ext cx="7200900" cy="1558766"/>
            <a:chOff x="0" y="0"/>
            <a:chExt cx="9601200" cy="20783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1200" cy="2078355"/>
            </a:xfrm>
            <a:custGeom>
              <a:avLst/>
              <a:gdLst/>
              <a:ahLst/>
              <a:cxnLst/>
              <a:rect r="r" b="b" t="t" l="l"/>
              <a:pathLst>
                <a:path h="2078355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013" r="0" b="-400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9601200" cy="2173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6"/>
                </a:lnSpc>
              </a:pPr>
              <a:r>
                <a:rPr lang="en-US" sz="2574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LSTM/Transformer models hit up to 94% directional accuracy in backtests.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177214" y="2936434"/>
            <a:ext cx="8048863" cy="2905363"/>
          </a:xfrm>
          <a:custGeom>
            <a:avLst/>
            <a:gdLst/>
            <a:ahLst/>
            <a:cxnLst/>
            <a:rect r="r" b="b" t="t" l="l"/>
            <a:pathLst>
              <a:path h="2905363" w="8048863">
                <a:moveTo>
                  <a:pt x="0" y="0"/>
                </a:moveTo>
                <a:lnTo>
                  <a:pt x="8048863" y="0"/>
                </a:lnTo>
                <a:lnTo>
                  <a:pt x="804886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601200" y="3250692"/>
            <a:ext cx="960120" cy="822960"/>
            <a:chOff x="0" y="0"/>
            <a:chExt cx="128016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050" t="0" r="-6005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3229261"/>
            <a:ext cx="960120" cy="844391"/>
            <a:chOff x="0" y="0"/>
            <a:chExt cx="1280160" cy="11258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838" t="0" r="-6283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2801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◎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29900" y="3250692"/>
            <a:ext cx="6172200" cy="685800"/>
            <a:chOff x="0" y="0"/>
            <a:chExt cx="82296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29900" y="3243548"/>
            <a:ext cx="6172200" cy="692944"/>
            <a:chOff x="0" y="0"/>
            <a:chExt cx="8229600" cy="9239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00" cy="923925"/>
            </a:xfrm>
            <a:custGeom>
              <a:avLst/>
              <a:gdLst/>
              <a:ahLst/>
              <a:cxnLst/>
              <a:rect r="r" b="b" t="t" l="l"/>
              <a:pathLst>
                <a:path h="923925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229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89"/>
                </a:lnSpc>
              </a:pPr>
              <a:r>
                <a:rPr lang="en-US" sz="30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Sentiment analysis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0" y="4183380"/>
            <a:ext cx="7200900" cy="1508760"/>
            <a:chOff x="0" y="0"/>
            <a:chExt cx="9601200" cy="2011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0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31" r="0" b="-4293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01200" y="4133374"/>
            <a:ext cx="7200900" cy="1558766"/>
            <a:chOff x="0" y="0"/>
            <a:chExt cx="9601200" cy="20783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1200" cy="2078355"/>
            </a:xfrm>
            <a:custGeom>
              <a:avLst/>
              <a:gdLst/>
              <a:ahLst/>
              <a:cxnLst/>
              <a:rect r="r" b="b" t="t" l="l"/>
              <a:pathLst>
                <a:path h="2078355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013" r="0" b="-400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9601200" cy="2173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6"/>
                </a:lnSpc>
              </a:pPr>
              <a:r>
                <a:rPr lang="en-US" sz="2573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News &amp; social sentiment fused with price data flags moves early.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810454" y="6159694"/>
            <a:ext cx="8048863" cy="2905363"/>
          </a:xfrm>
          <a:custGeom>
            <a:avLst/>
            <a:gdLst/>
            <a:ahLst/>
            <a:cxnLst/>
            <a:rect r="r" b="b" t="t" l="l"/>
            <a:pathLst>
              <a:path h="2905363" w="8048863">
                <a:moveTo>
                  <a:pt x="0" y="0"/>
                </a:moveTo>
                <a:lnTo>
                  <a:pt x="8048863" y="0"/>
                </a:lnTo>
                <a:lnTo>
                  <a:pt x="804886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234440" y="6473952"/>
            <a:ext cx="960120" cy="822960"/>
            <a:chOff x="0" y="0"/>
            <a:chExt cx="128016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050" t="0" r="-60051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" y="6452521"/>
            <a:ext cx="960120" cy="844391"/>
            <a:chOff x="0" y="0"/>
            <a:chExt cx="1280160" cy="11258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801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838" t="0" r="-62838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2801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✦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263140" y="6473952"/>
            <a:ext cx="6172200" cy="685800"/>
            <a:chOff x="0" y="0"/>
            <a:chExt cx="82296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263140" y="6473952"/>
            <a:ext cx="6172200" cy="685800"/>
            <a:chOff x="0" y="0"/>
            <a:chExt cx="82296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82296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9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Personalized strategy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4440" y="7406640"/>
            <a:ext cx="7200900" cy="1566862"/>
            <a:chOff x="0" y="0"/>
            <a:chExt cx="9601200" cy="20891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601200" cy="2089150"/>
            </a:xfrm>
            <a:custGeom>
              <a:avLst/>
              <a:gdLst/>
              <a:ahLst/>
              <a:cxnLst/>
              <a:rect r="r" b="b" t="t" l="l"/>
              <a:pathLst>
                <a:path h="208915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89150"/>
                  </a:lnTo>
                  <a:lnTo>
                    <a:pt x="0" y="208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5" r="0" b="-39486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440" y="7356634"/>
            <a:ext cx="7200900" cy="1616872"/>
            <a:chOff x="0" y="0"/>
            <a:chExt cx="9601200" cy="215583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01200" cy="2155834"/>
            </a:xfrm>
            <a:custGeom>
              <a:avLst/>
              <a:gdLst/>
              <a:ahLst/>
              <a:cxnLst/>
              <a:rect r="r" b="b" t="t" l="l"/>
              <a:pathLst>
                <a:path h="215583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155834"/>
                  </a:lnTo>
                  <a:lnTo>
                    <a:pt x="0" y="21558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78" r="0" b="-3677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9601200" cy="2251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4"/>
                </a:lnSpc>
              </a:pPr>
              <a:r>
                <a:rPr lang="en-US" sz="2873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Tailored to each trader's risk profile — not one-size-fits-all signals.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177214" y="6159694"/>
            <a:ext cx="8048863" cy="2905363"/>
          </a:xfrm>
          <a:custGeom>
            <a:avLst/>
            <a:gdLst/>
            <a:ahLst/>
            <a:cxnLst/>
            <a:rect r="r" b="b" t="t" l="l"/>
            <a:pathLst>
              <a:path h="2905363" w="8048863">
                <a:moveTo>
                  <a:pt x="0" y="0"/>
                </a:moveTo>
                <a:lnTo>
                  <a:pt x="8048863" y="0"/>
                </a:lnTo>
                <a:lnTo>
                  <a:pt x="804886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601200" y="6473952"/>
            <a:ext cx="960120" cy="822960"/>
            <a:chOff x="0" y="0"/>
            <a:chExt cx="1280160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050" t="0" r="-60051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01200" y="6452521"/>
            <a:ext cx="960120" cy="844391"/>
            <a:chOff x="0" y="0"/>
            <a:chExt cx="1280160" cy="11258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801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838" t="0" r="-6283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2801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☁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629900" y="6473952"/>
            <a:ext cx="6172200" cy="685800"/>
            <a:chOff x="0" y="0"/>
            <a:chExt cx="8229600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629900" y="6473952"/>
            <a:ext cx="6172200" cy="685800"/>
            <a:chOff x="0" y="0"/>
            <a:chExt cx="82296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82296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Cloud-based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21774" y="7149513"/>
            <a:ext cx="7200900" cy="2108787"/>
            <a:chOff x="0" y="0"/>
            <a:chExt cx="9601200" cy="28117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01200" cy="2811653"/>
            </a:xfrm>
            <a:custGeom>
              <a:avLst/>
              <a:gdLst/>
              <a:ahLst/>
              <a:cxnLst/>
              <a:rect r="r" b="b" t="t" l="l"/>
              <a:pathLst>
                <a:path h="281165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811653"/>
                  </a:lnTo>
                  <a:lnTo>
                    <a:pt x="0" y="28116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9" r="0" b="-1649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21774" y="7099506"/>
            <a:ext cx="7200900" cy="2158793"/>
            <a:chOff x="0" y="0"/>
            <a:chExt cx="9601200" cy="28783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01200" cy="2878390"/>
            </a:xfrm>
            <a:custGeom>
              <a:avLst/>
              <a:gdLst/>
              <a:ahLst/>
              <a:cxnLst/>
              <a:rect r="r" b="b" t="t" l="l"/>
              <a:pathLst>
                <a:path h="287839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878390"/>
                  </a:lnTo>
                  <a:lnTo>
                    <a:pt x="0" y="28783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94" r="0" b="-1499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0"/>
              <a:ext cx="9601200" cy="2973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72"/>
                </a:lnSpc>
              </a:pPr>
              <a:r>
                <a:rPr lang="en-US" sz="2673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sync keeps every device updated in under a second.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39804"/>
            <a:ext cx="5719572" cy="867204"/>
            <a:chOff x="0" y="0"/>
            <a:chExt cx="7626096" cy="11562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6096" cy="1156208"/>
            </a:xfrm>
            <a:custGeom>
              <a:avLst/>
              <a:gdLst/>
              <a:ahLst/>
              <a:cxnLst/>
              <a:rect r="r" b="b" t="t" l="l"/>
              <a:pathLst>
                <a:path h="1156208" w="7626096">
                  <a:moveTo>
                    <a:pt x="0" y="578104"/>
                  </a:moveTo>
                  <a:cubicBezTo>
                    <a:pt x="0" y="258826"/>
                    <a:pt x="290957" y="0"/>
                    <a:pt x="649732" y="0"/>
                  </a:cubicBezTo>
                  <a:lnTo>
                    <a:pt x="6976364" y="0"/>
                  </a:lnTo>
                  <a:cubicBezTo>
                    <a:pt x="7335266" y="0"/>
                    <a:pt x="7626096" y="258826"/>
                    <a:pt x="7626096" y="578104"/>
                  </a:cubicBezTo>
                  <a:cubicBezTo>
                    <a:pt x="7626096" y="897382"/>
                    <a:pt x="7335139" y="1156208"/>
                    <a:pt x="6976364" y="1156208"/>
                  </a:cubicBezTo>
                  <a:lnTo>
                    <a:pt x="649732" y="1156208"/>
                  </a:lnTo>
                  <a:cubicBezTo>
                    <a:pt x="290957" y="1156208"/>
                    <a:pt x="0" y="897382"/>
                    <a:pt x="0" y="578104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433807"/>
            <a:ext cx="5368566" cy="679199"/>
            <a:chOff x="0" y="0"/>
            <a:chExt cx="7158088" cy="9055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58101" cy="905637"/>
            </a:xfrm>
            <a:custGeom>
              <a:avLst/>
              <a:gdLst/>
              <a:ahLst/>
              <a:cxnLst/>
              <a:rect r="r" b="b" t="t" l="l"/>
              <a:pathLst>
                <a:path h="905637" w="7158101">
                  <a:moveTo>
                    <a:pt x="0" y="0"/>
                  </a:moveTo>
                  <a:lnTo>
                    <a:pt x="7158101" y="0"/>
                  </a:lnTo>
                  <a:lnTo>
                    <a:pt x="7158101" y="905637"/>
                  </a:lnTo>
                  <a:lnTo>
                    <a:pt x="0" y="905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02" r="0" b="-10389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433807"/>
            <a:ext cx="5368566" cy="679199"/>
            <a:chOff x="0" y="0"/>
            <a:chExt cx="7158088" cy="9055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8082" cy="905604"/>
            </a:xfrm>
            <a:custGeom>
              <a:avLst/>
              <a:gdLst/>
              <a:ahLst/>
              <a:cxnLst/>
              <a:rect r="r" b="b" t="t" l="l"/>
              <a:pathLst>
                <a:path h="905604" w="7158082">
                  <a:moveTo>
                    <a:pt x="0" y="0"/>
                  </a:moveTo>
                  <a:lnTo>
                    <a:pt x="7158082" y="0"/>
                  </a:lnTo>
                  <a:lnTo>
                    <a:pt x="7158082" y="905604"/>
                  </a:lnTo>
                  <a:lnTo>
                    <a:pt x="0" y="90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14" r="0" b="-104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158088" cy="905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09"/>
                </a:lnSpc>
              </a:pPr>
              <a:r>
                <a:rPr lang="en-US" sz="3424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Technology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Built on proven, scalable tools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936434"/>
            <a:ext cx="3934063" cy="5717143"/>
          </a:xfrm>
          <a:custGeom>
            <a:avLst/>
            <a:gdLst/>
            <a:ahLst/>
            <a:cxnLst/>
            <a:rect r="r" b="b" t="t" l="l"/>
            <a:pathLst>
              <a:path h="5717143" w="3934063">
                <a:moveTo>
                  <a:pt x="0" y="0"/>
                </a:moveTo>
                <a:lnTo>
                  <a:pt x="3934063" y="0"/>
                </a:lnTo>
                <a:lnTo>
                  <a:pt x="3934063" y="5717143"/>
                </a:lnTo>
                <a:lnTo>
                  <a:pt x="0" y="5717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34440" y="3360420"/>
            <a:ext cx="480060" cy="137160"/>
            <a:chOff x="0" y="0"/>
            <a:chExt cx="640080" cy="18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" cy="182880"/>
            </a:xfrm>
            <a:custGeom>
              <a:avLst/>
              <a:gdLst/>
              <a:ahLst/>
              <a:cxnLst/>
              <a:rect r="r" b="b" t="t" l="l"/>
              <a:pathLst>
                <a:path h="182880" w="640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48640" y="0"/>
                  </a:lnTo>
                  <a:cubicBezTo>
                    <a:pt x="599186" y="0"/>
                    <a:pt x="640080" y="40894"/>
                    <a:pt x="640080" y="91440"/>
                  </a:cubicBezTo>
                  <a:cubicBezTo>
                    <a:pt x="640080" y="141986"/>
                    <a:pt x="599186" y="182880"/>
                    <a:pt x="548640" y="182880"/>
                  </a:cubicBezTo>
                  <a:lnTo>
                    <a:pt x="91440" y="182880"/>
                  </a:ln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78AD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3634740"/>
            <a:ext cx="3154680" cy="822960"/>
            <a:chOff x="0" y="0"/>
            <a:chExt cx="42062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1" r="0" b="-246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3627596"/>
            <a:ext cx="3154680" cy="830104"/>
            <a:chOff x="0" y="0"/>
            <a:chExt cx="4206240" cy="11068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06240" cy="1106805"/>
            </a:xfrm>
            <a:custGeom>
              <a:avLst/>
              <a:gdLst/>
              <a:ahLst/>
              <a:cxnLst/>
              <a:rect r="r" b="b" t="t" l="l"/>
              <a:pathLst>
                <a:path h="110680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9" r="0" b="-240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206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sz="26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&amp; streaming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26106" y="465510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34440" y="4663440"/>
            <a:ext cx="3086100" cy="754380"/>
            <a:chOff x="0" y="0"/>
            <a:chExt cx="411480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" y="4663440"/>
            <a:ext cx="3086100" cy="754380"/>
            <a:chOff x="0" y="0"/>
            <a:chExt cx="411480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WebSockets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26106" y="582096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234440" y="5829300"/>
            <a:ext cx="3086100" cy="754380"/>
            <a:chOff x="0" y="0"/>
            <a:chExt cx="411480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5829300"/>
            <a:ext cx="3086100" cy="754380"/>
            <a:chOff x="0" y="0"/>
            <a:chExt cx="411480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2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Redis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26106" y="698682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34440" y="6995160"/>
            <a:ext cx="3086100" cy="754380"/>
            <a:chOff x="0" y="0"/>
            <a:chExt cx="411480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6995160"/>
            <a:ext cx="3086100" cy="754380"/>
            <a:chOff x="0" y="0"/>
            <a:chExt cx="411480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ScyllaDB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4993834" y="2936434"/>
            <a:ext cx="3934063" cy="5717143"/>
          </a:xfrm>
          <a:custGeom>
            <a:avLst/>
            <a:gdLst/>
            <a:ahLst/>
            <a:cxnLst/>
            <a:rect r="r" b="b" t="t" l="l"/>
            <a:pathLst>
              <a:path h="5717143" w="3934063">
                <a:moveTo>
                  <a:pt x="0" y="0"/>
                </a:moveTo>
                <a:lnTo>
                  <a:pt x="3934063" y="0"/>
                </a:lnTo>
                <a:lnTo>
                  <a:pt x="3934063" y="5717143"/>
                </a:lnTo>
                <a:lnTo>
                  <a:pt x="0" y="5717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5417820" y="3360420"/>
            <a:ext cx="480060" cy="137160"/>
            <a:chOff x="0" y="0"/>
            <a:chExt cx="640080" cy="182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080" cy="182880"/>
            </a:xfrm>
            <a:custGeom>
              <a:avLst/>
              <a:gdLst/>
              <a:ahLst/>
              <a:cxnLst/>
              <a:rect r="r" b="b" t="t" l="l"/>
              <a:pathLst>
                <a:path h="182880" w="640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48640" y="0"/>
                  </a:lnTo>
                  <a:cubicBezTo>
                    <a:pt x="599186" y="0"/>
                    <a:pt x="640080" y="40894"/>
                    <a:pt x="640080" y="91440"/>
                  </a:cubicBezTo>
                  <a:cubicBezTo>
                    <a:pt x="640080" y="141986"/>
                    <a:pt x="599186" y="182880"/>
                    <a:pt x="548640" y="182880"/>
                  </a:cubicBezTo>
                  <a:lnTo>
                    <a:pt x="91440" y="182880"/>
                  </a:ln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5DCAA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417820" y="3634740"/>
            <a:ext cx="3154680" cy="822960"/>
            <a:chOff x="0" y="0"/>
            <a:chExt cx="42062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1" r="0" b="-2464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17820" y="3634740"/>
            <a:ext cx="3154680" cy="822960"/>
            <a:chOff x="0" y="0"/>
            <a:chExt cx="42062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9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&amp; ML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409486" y="465510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5417820" y="4663440"/>
            <a:ext cx="3086100" cy="754380"/>
            <a:chOff x="0" y="0"/>
            <a:chExt cx="411480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417820" y="4663440"/>
            <a:ext cx="3086100" cy="754380"/>
            <a:chOff x="0" y="0"/>
            <a:chExt cx="411480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LSTM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5409486" y="582096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5417820" y="5829300"/>
            <a:ext cx="3086100" cy="754380"/>
            <a:chOff x="0" y="0"/>
            <a:chExt cx="411480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417820" y="5829300"/>
            <a:ext cx="3086100" cy="754380"/>
            <a:chOff x="0" y="0"/>
            <a:chExt cx="411480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Transformer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5409486" y="698682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5417820" y="6995160"/>
            <a:ext cx="3086100" cy="754380"/>
            <a:chOff x="0" y="0"/>
            <a:chExt cx="4114800" cy="10058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417820" y="7003494"/>
            <a:ext cx="3086100" cy="754380"/>
            <a:chOff x="0" y="0"/>
            <a:chExt cx="411480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Fast API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177214" y="2936434"/>
            <a:ext cx="3934063" cy="5717143"/>
          </a:xfrm>
          <a:custGeom>
            <a:avLst/>
            <a:gdLst/>
            <a:ahLst/>
            <a:cxnLst/>
            <a:rect r="r" b="b" t="t" l="l"/>
            <a:pathLst>
              <a:path h="5717143" w="3934063">
                <a:moveTo>
                  <a:pt x="0" y="0"/>
                </a:moveTo>
                <a:lnTo>
                  <a:pt x="3934063" y="0"/>
                </a:lnTo>
                <a:lnTo>
                  <a:pt x="3934063" y="5717143"/>
                </a:lnTo>
                <a:lnTo>
                  <a:pt x="0" y="5717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601200" y="3360420"/>
            <a:ext cx="480060" cy="137160"/>
            <a:chOff x="0" y="0"/>
            <a:chExt cx="640080" cy="1828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0080" cy="182880"/>
            </a:xfrm>
            <a:custGeom>
              <a:avLst/>
              <a:gdLst/>
              <a:ahLst/>
              <a:cxnLst/>
              <a:rect r="r" b="b" t="t" l="l"/>
              <a:pathLst>
                <a:path h="182880" w="640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48640" y="0"/>
                  </a:lnTo>
                  <a:cubicBezTo>
                    <a:pt x="599186" y="0"/>
                    <a:pt x="640080" y="40894"/>
                    <a:pt x="640080" y="91440"/>
                  </a:cubicBezTo>
                  <a:cubicBezTo>
                    <a:pt x="640080" y="141986"/>
                    <a:pt x="599186" y="182880"/>
                    <a:pt x="548640" y="182880"/>
                  </a:cubicBezTo>
                  <a:lnTo>
                    <a:pt x="91440" y="182880"/>
                  </a:ln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F9F2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01200" y="3634740"/>
            <a:ext cx="3154680" cy="822960"/>
            <a:chOff x="0" y="0"/>
            <a:chExt cx="420624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1" r="0" b="-2464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01200" y="3634740"/>
            <a:ext cx="3154680" cy="822960"/>
            <a:chOff x="0" y="0"/>
            <a:chExt cx="420624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9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Backend &amp; sync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9592866" y="465510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9601200" y="4663440"/>
            <a:ext cx="3086100" cy="754380"/>
            <a:chOff x="0" y="0"/>
            <a:chExt cx="4114800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01200" y="4663440"/>
            <a:ext cx="3086100" cy="754380"/>
            <a:chOff x="0" y="0"/>
            <a:chExt cx="4114800" cy="1005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Firebase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9592866" y="582096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9601200" y="5829300"/>
            <a:ext cx="3086100" cy="754380"/>
            <a:chOff x="0" y="0"/>
            <a:chExt cx="4114800" cy="1005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601200" y="5829300"/>
            <a:ext cx="3086100" cy="754380"/>
            <a:chOff x="0" y="0"/>
            <a:chExt cx="4114800" cy="10058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2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9592866" y="698682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9601200" y="6995160"/>
            <a:ext cx="3086100" cy="754380"/>
            <a:chOff x="0" y="0"/>
            <a:chExt cx="4114800" cy="1005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601200" y="6995160"/>
            <a:ext cx="3086100" cy="754380"/>
            <a:chOff x="0" y="0"/>
            <a:chExt cx="4114800" cy="10058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41148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9"/>
                </a:lnSpc>
              </a:pPr>
              <a:r>
                <a:rPr lang="en-US" sz="23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Pandas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13360594" y="2936434"/>
            <a:ext cx="3934063" cy="5717143"/>
          </a:xfrm>
          <a:custGeom>
            <a:avLst/>
            <a:gdLst/>
            <a:ahLst/>
            <a:cxnLst/>
            <a:rect r="r" b="b" t="t" l="l"/>
            <a:pathLst>
              <a:path h="5717143" w="3934063">
                <a:moveTo>
                  <a:pt x="0" y="0"/>
                </a:moveTo>
                <a:lnTo>
                  <a:pt x="3934063" y="0"/>
                </a:lnTo>
                <a:lnTo>
                  <a:pt x="3934063" y="5717143"/>
                </a:lnTo>
                <a:lnTo>
                  <a:pt x="0" y="5717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3784580" y="3360420"/>
            <a:ext cx="480060" cy="137160"/>
            <a:chOff x="0" y="0"/>
            <a:chExt cx="640080" cy="1828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0080" cy="182880"/>
            </a:xfrm>
            <a:custGeom>
              <a:avLst/>
              <a:gdLst/>
              <a:ahLst/>
              <a:cxnLst/>
              <a:rect r="r" b="b" t="t" l="l"/>
              <a:pathLst>
                <a:path h="182880" w="640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48640" y="0"/>
                  </a:lnTo>
                  <a:cubicBezTo>
                    <a:pt x="599186" y="0"/>
                    <a:pt x="640080" y="40894"/>
                    <a:pt x="640080" y="91440"/>
                  </a:cubicBezTo>
                  <a:cubicBezTo>
                    <a:pt x="640080" y="141986"/>
                    <a:pt x="599186" y="182880"/>
                    <a:pt x="548640" y="182880"/>
                  </a:cubicBezTo>
                  <a:lnTo>
                    <a:pt x="91440" y="182880"/>
                  </a:ln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D4537E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784580" y="3634740"/>
            <a:ext cx="3154680" cy="822960"/>
            <a:chOff x="0" y="0"/>
            <a:chExt cx="4206240" cy="1097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1" r="0" b="-2464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784580" y="3634740"/>
            <a:ext cx="3154680" cy="822960"/>
            <a:chOff x="0" y="0"/>
            <a:chExt cx="4206240" cy="10972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Experience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13776246" y="465510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784580" y="4697254"/>
            <a:ext cx="3038094" cy="742645"/>
            <a:chOff x="0" y="0"/>
            <a:chExt cx="4050792" cy="99019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050792" cy="990219"/>
            </a:xfrm>
            <a:custGeom>
              <a:avLst/>
              <a:gdLst/>
              <a:ahLst/>
              <a:cxnLst/>
              <a:rect r="r" b="b" t="t" l="l"/>
              <a:pathLst>
                <a:path h="990219" w="4050792">
                  <a:moveTo>
                    <a:pt x="0" y="0"/>
                  </a:moveTo>
                  <a:lnTo>
                    <a:pt x="4050792" y="0"/>
                  </a:lnTo>
                  <a:lnTo>
                    <a:pt x="4050792" y="990219"/>
                  </a:lnTo>
                  <a:lnTo>
                    <a:pt x="0" y="990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4" r="0" b="-29653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784580" y="4697254"/>
            <a:ext cx="3038094" cy="742645"/>
            <a:chOff x="0" y="0"/>
            <a:chExt cx="4050792" cy="99019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050792" cy="990193"/>
            </a:xfrm>
            <a:custGeom>
              <a:avLst/>
              <a:gdLst/>
              <a:ahLst/>
              <a:cxnLst/>
              <a:rect r="r" b="b" t="t" l="l"/>
              <a:pathLst>
                <a:path h="990193" w="4050792">
                  <a:moveTo>
                    <a:pt x="0" y="0"/>
                  </a:moveTo>
                  <a:lnTo>
                    <a:pt x="4050792" y="0"/>
                  </a:lnTo>
                  <a:lnTo>
                    <a:pt x="4050792" y="990193"/>
                  </a:lnTo>
                  <a:lnTo>
                    <a:pt x="0" y="9901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4050792" cy="990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2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Assistant Hub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3776246" y="582096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13784580" y="5829300"/>
            <a:ext cx="3086100" cy="754380"/>
            <a:chOff x="0" y="0"/>
            <a:chExt cx="4114800" cy="10058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784580" y="5829300"/>
            <a:ext cx="3086100" cy="754380"/>
            <a:chOff x="0" y="0"/>
            <a:chExt cx="4114800" cy="10058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sz="21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React</a:t>
              </a: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13776246" y="6986826"/>
            <a:ext cx="3102769" cy="771049"/>
          </a:xfrm>
          <a:custGeom>
            <a:avLst/>
            <a:gdLst/>
            <a:ahLst/>
            <a:cxnLst/>
            <a:rect r="r" b="b" t="t" l="l"/>
            <a:pathLst>
              <a:path h="771049" w="3102769">
                <a:moveTo>
                  <a:pt x="0" y="0"/>
                </a:moveTo>
                <a:lnTo>
                  <a:pt x="3102768" y="0"/>
                </a:lnTo>
                <a:lnTo>
                  <a:pt x="310276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13784580" y="6995160"/>
            <a:ext cx="3086100" cy="754380"/>
            <a:chOff x="0" y="0"/>
            <a:chExt cx="4114800" cy="1005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6" r="0" b="-29655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784580" y="6995160"/>
            <a:ext cx="3086100" cy="754380"/>
            <a:chOff x="0" y="0"/>
            <a:chExt cx="4114800" cy="10058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41148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274">
                  <a:solidFill>
                    <a:srgbClr val="D6D6D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Push alerts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43805"/>
            <a:ext cx="6069330" cy="757657"/>
            <a:chOff x="0" y="0"/>
            <a:chExt cx="8092440" cy="10102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92440" cy="1010158"/>
            </a:xfrm>
            <a:custGeom>
              <a:avLst/>
              <a:gdLst/>
              <a:ahLst/>
              <a:cxnLst/>
              <a:rect r="r" b="b" t="t" l="l"/>
              <a:pathLst>
                <a:path h="1010158" w="8092440">
                  <a:moveTo>
                    <a:pt x="0" y="505079"/>
                  </a:moveTo>
                  <a:cubicBezTo>
                    <a:pt x="0" y="226187"/>
                    <a:pt x="270510" y="0"/>
                    <a:pt x="604139" y="0"/>
                  </a:cubicBezTo>
                  <a:lnTo>
                    <a:pt x="7488301" y="0"/>
                  </a:lnTo>
                  <a:cubicBezTo>
                    <a:pt x="7821930" y="0"/>
                    <a:pt x="8092440" y="226187"/>
                    <a:pt x="8092440" y="505079"/>
                  </a:cubicBezTo>
                  <a:cubicBezTo>
                    <a:pt x="8092440" y="783971"/>
                    <a:pt x="7821930" y="1010158"/>
                    <a:pt x="7488301" y="1010158"/>
                  </a:cubicBezTo>
                  <a:lnTo>
                    <a:pt x="604139" y="1010158"/>
                  </a:lnTo>
                  <a:cubicBezTo>
                    <a:pt x="270510" y="1010158"/>
                    <a:pt x="0" y="784098"/>
                    <a:pt x="0" y="505079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9304" y="343805"/>
            <a:ext cx="5136642" cy="664864"/>
            <a:chOff x="0" y="0"/>
            <a:chExt cx="6848856" cy="886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48856" cy="886460"/>
            </a:xfrm>
            <a:custGeom>
              <a:avLst/>
              <a:gdLst/>
              <a:ahLst/>
              <a:cxnLst/>
              <a:rect r="r" b="b" t="t" l="l"/>
              <a:pathLst>
                <a:path h="886460" w="6848856">
                  <a:moveTo>
                    <a:pt x="0" y="0"/>
                  </a:moveTo>
                  <a:lnTo>
                    <a:pt x="6848856" y="0"/>
                  </a:lnTo>
                  <a:lnTo>
                    <a:pt x="6848856" y="886460"/>
                  </a:lnTo>
                  <a:lnTo>
                    <a:pt x="0" y="886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36" r="0" b="-1004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9304" y="350949"/>
            <a:ext cx="5136642" cy="657720"/>
            <a:chOff x="0" y="0"/>
            <a:chExt cx="6848856" cy="876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48856" cy="876962"/>
            </a:xfrm>
            <a:custGeom>
              <a:avLst/>
              <a:gdLst/>
              <a:ahLst/>
              <a:cxnLst/>
              <a:rect r="r" b="b" t="t" l="l"/>
              <a:pathLst>
                <a:path h="876962" w="6848856">
                  <a:moveTo>
                    <a:pt x="0" y="0"/>
                  </a:moveTo>
                  <a:lnTo>
                    <a:pt x="6848856" y="0"/>
                  </a:lnTo>
                  <a:lnTo>
                    <a:pt x="6848856" y="876962"/>
                  </a:lnTo>
                  <a:lnTo>
                    <a:pt x="0" y="8769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173" r="0" b="-1021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6848856" cy="86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89"/>
                </a:lnSpc>
              </a:pPr>
              <a:r>
                <a:rPr lang="en-US" sz="3324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live data to actionable forecasts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3416494"/>
            <a:ext cx="3796903" cy="4551283"/>
          </a:xfrm>
          <a:custGeom>
            <a:avLst/>
            <a:gdLst/>
            <a:ahLst/>
            <a:cxnLst/>
            <a:rect r="r" b="b" t="t" l="l"/>
            <a:pathLst>
              <a:path h="4551283" w="3796903">
                <a:moveTo>
                  <a:pt x="0" y="0"/>
                </a:moveTo>
                <a:lnTo>
                  <a:pt x="3796903" y="0"/>
                </a:lnTo>
                <a:lnTo>
                  <a:pt x="3796903" y="4551283"/>
                </a:lnTo>
                <a:lnTo>
                  <a:pt x="0" y="455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65860" y="3730752"/>
            <a:ext cx="1645920" cy="754380"/>
            <a:chOff x="0" y="0"/>
            <a:chExt cx="219456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46" t="0" r="-884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" y="3730752"/>
            <a:ext cx="1645920" cy="754380"/>
            <a:chOff x="0" y="0"/>
            <a:chExt cx="219456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945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" y="4526280"/>
            <a:ext cx="3154680" cy="1028700"/>
            <a:chOff x="0" y="0"/>
            <a:chExt cx="420624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4526280"/>
            <a:ext cx="3154680" cy="1028700"/>
            <a:chOff x="0" y="0"/>
            <a:chExt cx="420624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sz="26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ingestion layer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5860" y="5554980"/>
            <a:ext cx="3154680" cy="2194560"/>
            <a:chOff x="0" y="0"/>
            <a:chExt cx="4206240" cy="2926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316" t="0" r="-3931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5497830"/>
            <a:ext cx="3154680" cy="2251710"/>
            <a:chOff x="0" y="0"/>
            <a:chExt cx="4206240" cy="3002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06240" cy="3002280"/>
            </a:xfrm>
            <a:custGeom>
              <a:avLst/>
              <a:gdLst/>
              <a:ahLst/>
              <a:cxnLst/>
              <a:rect r="r" b="b" t="t" l="l"/>
              <a:pathLst>
                <a:path h="3002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002280"/>
                  </a:lnTo>
                  <a:lnTo>
                    <a:pt x="0" y="3002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578" t="0" r="-4157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4206240" cy="3078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0"/>
                </a:lnSpc>
              </a:pPr>
              <a:r>
                <a:rPr lang="en-US" sz="2223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WebSockets stream NSE/BSE prices in sub-millisecond time.</a:t>
              </a:r>
            </a:p>
            <a:p>
              <a:pPr algn="l">
                <a:lnSpc>
                  <a:spcPts val="3470"/>
                </a:lnSpc>
              </a:pPr>
            </a:p>
            <a:p>
              <a:pPr algn="l">
                <a:lnSpc>
                  <a:spcPts val="4191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636008" y="5143500"/>
            <a:ext cx="411480" cy="685800"/>
            <a:chOff x="0" y="0"/>
            <a:chExt cx="54864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988" t="0" r="-163988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636008" y="5129212"/>
            <a:ext cx="411480" cy="700088"/>
            <a:chOff x="0" y="0"/>
            <a:chExt cx="548640" cy="9334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0" cy="933450"/>
            </a:xfrm>
            <a:custGeom>
              <a:avLst/>
              <a:gdLst/>
              <a:ahLst/>
              <a:cxnLst/>
              <a:rect r="r" b="b" t="t" l="l"/>
              <a:pathLst>
                <a:path h="93345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8294" t="0" r="-16829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486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993834" y="3416494"/>
            <a:ext cx="3796903" cy="4551283"/>
          </a:xfrm>
          <a:custGeom>
            <a:avLst/>
            <a:gdLst/>
            <a:ahLst/>
            <a:cxnLst/>
            <a:rect r="r" b="b" t="t" l="l"/>
            <a:pathLst>
              <a:path h="4551283" w="3796903">
                <a:moveTo>
                  <a:pt x="0" y="0"/>
                </a:moveTo>
                <a:lnTo>
                  <a:pt x="3796903" y="0"/>
                </a:lnTo>
                <a:lnTo>
                  <a:pt x="3796903" y="4551283"/>
                </a:lnTo>
                <a:lnTo>
                  <a:pt x="0" y="455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5349240" y="3730752"/>
            <a:ext cx="1645920" cy="754380"/>
            <a:chOff x="0" y="0"/>
            <a:chExt cx="219456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46" t="0" r="-8846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349240" y="3730752"/>
            <a:ext cx="1645920" cy="754380"/>
            <a:chOff x="0" y="0"/>
            <a:chExt cx="219456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945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4526280"/>
            <a:ext cx="3154680" cy="1028700"/>
            <a:chOff x="0" y="0"/>
            <a:chExt cx="4206240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349240" y="4519136"/>
            <a:ext cx="3154680" cy="1035844"/>
            <a:chOff x="0" y="0"/>
            <a:chExt cx="4206240" cy="13811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06240" cy="1381125"/>
            </a:xfrm>
            <a:custGeom>
              <a:avLst/>
              <a:gdLst/>
              <a:ahLst/>
              <a:cxnLst/>
              <a:rect r="r" b="b" t="t" l="l"/>
              <a:pathLst>
                <a:path h="138112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42" r="0" b="-93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2062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 processing layer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74218" y="4780407"/>
            <a:ext cx="3436144" cy="3433648"/>
            <a:chOff x="0" y="0"/>
            <a:chExt cx="4581525" cy="45781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81525" cy="4578223"/>
            </a:xfrm>
            <a:custGeom>
              <a:avLst/>
              <a:gdLst/>
              <a:ahLst/>
              <a:cxnLst/>
              <a:rect r="r" b="b" t="t" l="l"/>
              <a:pathLst>
                <a:path h="4578223" w="4581525">
                  <a:moveTo>
                    <a:pt x="0" y="0"/>
                  </a:moveTo>
                  <a:lnTo>
                    <a:pt x="4581525" y="0"/>
                  </a:lnTo>
                  <a:lnTo>
                    <a:pt x="4581525" y="4578223"/>
                  </a:lnTo>
                  <a:lnTo>
                    <a:pt x="0" y="45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299" t="0" r="-78299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174218" y="4730401"/>
            <a:ext cx="3436144" cy="3483651"/>
            <a:chOff x="0" y="0"/>
            <a:chExt cx="4581525" cy="46448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81525" cy="4644864"/>
            </a:xfrm>
            <a:custGeom>
              <a:avLst/>
              <a:gdLst/>
              <a:ahLst/>
              <a:cxnLst/>
              <a:rect r="r" b="b" t="t" l="l"/>
              <a:pathLst>
                <a:path h="4644864" w="4581525">
                  <a:moveTo>
                    <a:pt x="0" y="0"/>
                  </a:moveTo>
                  <a:lnTo>
                    <a:pt x="4581525" y="0"/>
                  </a:lnTo>
                  <a:lnTo>
                    <a:pt x="4581525" y="4644864"/>
                  </a:lnTo>
                  <a:lnTo>
                    <a:pt x="0" y="46448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077" t="0" r="-8007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4581525" cy="47115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8"/>
                </a:lnSpc>
              </a:pPr>
              <a:r>
                <a:rPr lang="en-US" sz="2024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cleaning adds only single-digit ms overhead.</a:t>
              </a:r>
            </a:p>
            <a:p>
              <a:pPr algn="l">
                <a:lnSpc>
                  <a:spcPts val="425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819388" y="5143500"/>
            <a:ext cx="411480" cy="685800"/>
            <a:chOff x="0" y="0"/>
            <a:chExt cx="54864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988" t="0" r="-163988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819388" y="5129212"/>
            <a:ext cx="411480" cy="700088"/>
            <a:chOff x="0" y="0"/>
            <a:chExt cx="548640" cy="9334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8640" cy="933450"/>
            </a:xfrm>
            <a:custGeom>
              <a:avLst/>
              <a:gdLst/>
              <a:ahLst/>
              <a:cxnLst/>
              <a:rect r="r" b="b" t="t" l="l"/>
              <a:pathLst>
                <a:path h="93345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8294" t="0" r="-168294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486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9177214" y="3416494"/>
            <a:ext cx="3796903" cy="4551283"/>
          </a:xfrm>
          <a:custGeom>
            <a:avLst/>
            <a:gdLst/>
            <a:ahLst/>
            <a:cxnLst/>
            <a:rect r="r" b="b" t="t" l="l"/>
            <a:pathLst>
              <a:path h="4551283" w="3796903">
                <a:moveTo>
                  <a:pt x="0" y="0"/>
                </a:moveTo>
                <a:lnTo>
                  <a:pt x="3796903" y="0"/>
                </a:lnTo>
                <a:lnTo>
                  <a:pt x="3796903" y="4551283"/>
                </a:lnTo>
                <a:lnTo>
                  <a:pt x="0" y="455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532620" y="3730752"/>
            <a:ext cx="1645920" cy="754380"/>
            <a:chOff x="0" y="0"/>
            <a:chExt cx="219456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46" t="0" r="-8846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532620" y="3730752"/>
            <a:ext cx="1645920" cy="754380"/>
            <a:chOff x="0" y="0"/>
            <a:chExt cx="219456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1945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32620" y="4526280"/>
            <a:ext cx="3154680" cy="1028700"/>
            <a:chOff x="0" y="0"/>
            <a:chExt cx="4206240" cy="1371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32620" y="4526280"/>
            <a:ext cx="3154680" cy="1028700"/>
            <a:chOff x="0" y="0"/>
            <a:chExt cx="4206240" cy="137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Storage layer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32620" y="5554980"/>
            <a:ext cx="3154680" cy="2194560"/>
            <a:chOff x="0" y="0"/>
            <a:chExt cx="4206240" cy="2926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316" t="0" r="-39316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32620" y="5497830"/>
            <a:ext cx="3154680" cy="2251710"/>
            <a:chOff x="0" y="0"/>
            <a:chExt cx="4206240" cy="3002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06240" cy="3002280"/>
            </a:xfrm>
            <a:custGeom>
              <a:avLst/>
              <a:gdLst/>
              <a:ahLst/>
              <a:cxnLst/>
              <a:rect r="r" b="b" t="t" l="l"/>
              <a:pathLst>
                <a:path h="3002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002280"/>
                  </a:lnTo>
                  <a:lnTo>
                    <a:pt x="0" y="3002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578" t="0" r="-41578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4206240" cy="3078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0"/>
                </a:lnSpc>
              </a:pPr>
              <a:r>
                <a:rPr lang="en-US" sz="2223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Redis/ScyllaDB: ms-level latency at 1M+ requests.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002768" y="5143500"/>
            <a:ext cx="411480" cy="685800"/>
            <a:chOff x="0" y="0"/>
            <a:chExt cx="54864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988" t="0" r="-163988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002768" y="5129212"/>
            <a:ext cx="411480" cy="700088"/>
            <a:chOff x="0" y="0"/>
            <a:chExt cx="548640" cy="9334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" cy="933450"/>
            </a:xfrm>
            <a:custGeom>
              <a:avLst/>
              <a:gdLst/>
              <a:ahLst/>
              <a:cxnLst/>
              <a:rect r="r" b="b" t="t" l="l"/>
              <a:pathLst>
                <a:path h="93345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8294" t="0" r="-168294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5486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5DCAA5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3360594" y="3416494"/>
            <a:ext cx="3796903" cy="4551283"/>
          </a:xfrm>
          <a:custGeom>
            <a:avLst/>
            <a:gdLst/>
            <a:ahLst/>
            <a:cxnLst/>
            <a:rect r="r" b="b" t="t" l="l"/>
            <a:pathLst>
              <a:path h="4551283" w="3796903">
                <a:moveTo>
                  <a:pt x="0" y="0"/>
                </a:moveTo>
                <a:lnTo>
                  <a:pt x="3796903" y="0"/>
                </a:lnTo>
                <a:lnTo>
                  <a:pt x="3796903" y="4551283"/>
                </a:lnTo>
                <a:lnTo>
                  <a:pt x="0" y="455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3716000" y="3730752"/>
            <a:ext cx="1645920" cy="754380"/>
            <a:chOff x="0" y="0"/>
            <a:chExt cx="2194560" cy="10058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46" t="0" r="-8846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716000" y="3730752"/>
            <a:ext cx="1645920" cy="754380"/>
            <a:chOff x="0" y="0"/>
            <a:chExt cx="2194560" cy="1005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21945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716000" y="4526280"/>
            <a:ext cx="3154680" cy="1028700"/>
            <a:chOff x="0" y="0"/>
            <a:chExt cx="4206240" cy="1371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716000" y="4519136"/>
            <a:ext cx="3154680" cy="1035844"/>
            <a:chOff x="0" y="0"/>
            <a:chExt cx="4206240" cy="138112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06240" cy="1381125"/>
            </a:xfrm>
            <a:custGeom>
              <a:avLst/>
              <a:gdLst/>
              <a:ahLst/>
              <a:cxnLst/>
              <a:rect r="r" b="b" t="t" l="l"/>
              <a:pathLst>
                <a:path h="138112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42" r="0" b="-934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42062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sz="2673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inference engine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716000" y="5554980"/>
            <a:ext cx="3154680" cy="2194560"/>
            <a:chOff x="0" y="0"/>
            <a:chExt cx="4206240" cy="29260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316" t="0" r="-39316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716000" y="5504974"/>
            <a:ext cx="3154680" cy="2244566"/>
            <a:chOff x="0" y="0"/>
            <a:chExt cx="4206240" cy="29927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06240" cy="2992755"/>
            </a:xfrm>
            <a:custGeom>
              <a:avLst/>
              <a:gdLst/>
              <a:ahLst/>
              <a:cxnLst/>
              <a:rect r="r" b="b" t="t" l="l"/>
              <a:pathLst>
                <a:path h="299275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2992755"/>
                  </a:lnTo>
                  <a:lnTo>
                    <a:pt x="0" y="29927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288" t="0" r="-41288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85725"/>
              <a:ext cx="4206240" cy="3078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6"/>
                </a:lnSpc>
              </a:pPr>
              <a:r>
                <a:rPr lang="en-US" sz="2323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Feeds AI models for live, actionable forecasts.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22960" y="9721604"/>
            <a:ext cx="12151157" cy="455668"/>
            <a:chOff x="0" y="0"/>
            <a:chExt cx="146304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1874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664" y="206575"/>
            <a:ext cx="14967169" cy="1754813"/>
            <a:chOff x="0" y="0"/>
            <a:chExt cx="19956226" cy="2339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56225" cy="2339751"/>
            </a:xfrm>
            <a:custGeom>
              <a:avLst/>
              <a:gdLst/>
              <a:ahLst/>
              <a:cxnLst/>
              <a:rect r="r" b="b" t="t" l="l"/>
              <a:pathLst>
                <a:path h="2339751" w="19956225">
                  <a:moveTo>
                    <a:pt x="0" y="0"/>
                  </a:moveTo>
                  <a:lnTo>
                    <a:pt x="19956225" y="0"/>
                  </a:lnTo>
                  <a:lnTo>
                    <a:pt x="19956225" y="2339751"/>
                  </a:lnTo>
                  <a:lnTo>
                    <a:pt x="0" y="2339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574" r="17523" b="-585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956226" cy="2358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 b="true">
                  <a:solidFill>
                    <a:srgbClr val="F2F3F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 the Hood: Full-</a:t>
              </a:r>
              <a:r>
                <a:rPr lang="en-US" sz="4899" b="true">
                  <a:solidFill>
                    <a:srgbClr val="F2F3F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Stack Implementation</a:t>
              </a:r>
            </a:p>
            <a:p>
              <a:pPr algn="l">
                <a:lnSpc>
                  <a:spcPts val="5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124712"/>
            <a:ext cx="16273708" cy="1148538"/>
            <a:chOff x="0" y="0"/>
            <a:chExt cx="21698277" cy="1531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98277" cy="1531383"/>
            </a:xfrm>
            <a:custGeom>
              <a:avLst/>
              <a:gdLst/>
              <a:ahLst/>
              <a:cxnLst/>
              <a:rect r="r" b="b" t="t" l="l"/>
              <a:pathLst>
                <a:path h="1531383" w="21698277">
                  <a:moveTo>
                    <a:pt x="0" y="0"/>
                  </a:moveTo>
                  <a:lnTo>
                    <a:pt x="21698277" y="0"/>
                  </a:lnTo>
                  <a:lnTo>
                    <a:pt x="21698277" y="1531383"/>
                  </a:lnTo>
                  <a:lnTo>
                    <a:pt x="0" y="15313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94" r="15716" b="-1535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698277" cy="1550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9"/>
                </a:lnSpc>
              </a:pPr>
              <a:r>
                <a:rPr lang="en-US" sz="2924">
                  <a:solidFill>
                    <a:srgbClr val="8A9099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lang="en-US" sz="2924">
                  <a:solidFill>
                    <a:srgbClr val="8A9099"/>
                  </a:solidFill>
                  <a:latin typeface="Arial"/>
                  <a:ea typeface="Arial"/>
                  <a:cs typeface="Arial"/>
                  <a:sym typeface="Arial"/>
                </a:rPr>
                <a:t>odules, services, and data stores that power the platform</a:t>
              </a:r>
            </a:p>
            <a:p>
              <a:pPr algn="l">
                <a:lnSpc>
                  <a:spcPts val="422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7695" y="1842135"/>
            <a:ext cx="10374630" cy="1870710"/>
            <a:chOff x="0" y="0"/>
            <a:chExt cx="13832840" cy="249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32841" cy="2494280"/>
            </a:xfrm>
            <a:custGeom>
              <a:avLst/>
              <a:gdLst/>
              <a:ahLst/>
              <a:cxnLst/>
              <a:rect r="r" b="b" t="t" l="l"/>
              <a:pathLst>
                <a:path h="2494280" w="13832841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3685013" y="0"/>
                  </a:lnTo>
                  <a:cubicBezTo>
                    <a:pt x="13766674" y="0"/>
                    <a:pt x="13832841" y="66167"/>
                    <a:pt x="13832841" y="147828"/>
                  </a:cubicBezTo>
                  <a:lnTo>
                    <a:pt x="13832841" y="2346452"/>
                  </a:lnTo>
                  <a:cubicBezTo>
                    <a:pt x="13832841" y="2428113"/>
                    <a:pt x="13766674" y="2494280"/>
                    <a:pt x="13685013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0B111C"/>
            </a:solidFill>
            <a:ln w="19050" cap="sq">
              <a:solidFill>
                <a:srgbClr val="3A3F4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61388"/>
            <a:ext cx="9944100" cy="356616"/>
            <a:chOff x="0" y="0"/>
            <a:chExt cx="13258800" cy="475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58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3332" r="0" b="-4933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2588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A90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 PIPELINE  ·  ml/train.py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2015" y="2596515"/>
            <a:ext cx="1870710" cy="869442"/>
            <a:chOff x="0" y="0"/>
            <a:chExt cx="2494280" cy="11592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4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4942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382139" y="0"/>
                  </a:lnTo>
                  <a:cubicBezTo>
                    <a:pt x="2444115" y="0"/>
                    <a:pt x="2494280" y="50165"/>
                    <a:pt x="2494280" y="112141"/>
                  </a:cubicBezTo>
                  <a:lnTo>
                    <a:pt x="2494280" y="1047115"/>
                  </a:lnTo>
                  <a:cubicBezTo>
                    <a:pt x="2494280" y="1109091"/>
                    <a:pt x="2444115" y="1159256"/>
                    <a:pt x="23821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23384A"/>
            </a:solidFill>
            <a:ln w="19050" cap="sq">
              <a:solidFill>
                <a:srgbClr val="5FB4E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2606040"/>
            <a:ext cx="1714500" cy="850392"/>
            <a:chOff x="0" y="0"/>
            <a:chExt cx="2286000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638" t="0" r="-1363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860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ml/train.py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0936" y="2955798"/>
            <a:ext cx="219456" cy="288036"/>
            <a:chOff x="0" y="0"/>
            <a:chExt cx="292608" cy="3840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763774" y="2955798"/>
            <a:ext cx="219456" cy="288036"/>
            <a:chOff x="0" y="0"/>
            <a:chExt cx="292608" cy="3840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994279" y="2596515"/>
            <a:ext cx="1870710" cy="869442"/>
            <a:chOff x="0" y="0"/>
            <a:chExt cx="2494280" cy="11592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94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4942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382139" y="0"/>
                  </a:lnTo>
                  <a:cubicBezTo>
                    <a:pt x="2444115" y="0"/>
                    <a:pt x="2494280" y="50165"/>
                    <a:pt x="2494280" y="112141"/>
                  </a:cubicBezTo>
                  <a:lnTo>
                    <a:pt x="2494280" y="1047115"/>
                  </a:lnTo>
                  <a:cubicBezTo>
                    <a:pt x="2494280" y="1109091"/>
                    <a:pt x="2444115" y="1159256"/>
                    <a:pt x="23821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072384" y="2606040"/>
            <a:ext cx="1714500" cy="850392"/>
            <a:chOff x="0" y="0"/>
            <a:chExt cx="228600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638" t="0" r="-1363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860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feature_builder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743200" y="2955798"/>
            <a:ext cx="219456" cy="288036"/>
            <a:chOff x="0" y="0"/>
            <a:chExt cx="292608" cy="3840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76038" y="2955798"/>
            <a:ext cx="219456" cy="288036"/>
            <a:chOff x="0" y="0"/>
            <a:chExt cx="292608" cy="3840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106543" y="2596515"/>
            <a:ext cx="1870710" cy="869442"/>
            <a:chOff x="0" y="0"/>
            <a:chExt cx="2494280" cy="11592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94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4942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382139" y="0"/>
                  </a:lnTo>
                  <a:cubicBezTo>
                    <a:pt x="2444115" y="0"/>
                    <a:pt x="2494280" y="50165"/>
                    <a:pt x="2494280" y="112141"/>
                  </a:cubicBezTo>
                  <a:lnTo>
                    <a:pt x="2494280" y="1047115"/>
                  </a:lnTo>
                  <a:cubicBezTo>
                    <a:pt x="2494280" y="1109091"/>
                    <a:pt x="2444115" y="1159256"/>
                    <a:pt x="23821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184648" y="2606040"/>
            <a:ext cx="1714500" cy="850392"/>
            <a:chOff x="0" y="0"/>
            <a:chExt cx="2286000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86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638" t="0" r="-1363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860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LightGBM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reg + clf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855464" y="2955798"/>
            <a:ext cx="219456" cy="288036"/>
            <a:chOff x="0" y="0"/>
            <a:chExt cx="292608" cy="3840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988302" y="2955798"/>
            <a:ext cx="219456" cy="288036"/>
            <a:chOff x="0" y="0"/>
            <a:chExt cx="292608" cy="3840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18807" y="2596515"/>
            <a:ext cx="1870710" cy="869442"/>
            <a:chOff x="0" y="0"/>
            <a:chExt cx="2494280" cy="11592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94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4942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382139" y="0"/>
                  </a:lnTo>
                  <a:cubicBezTo>
                    <a:pt x="2444115" y="0"/>
                    <a:pt x="2494280" y="50165"/>
                    <a:pt x="2494280" y="112141"/>
                  </a:cubicBezTo>
                  <a:lnTo>
                    <a:pt x="2494280" y="1047115"/>
                  </a:lnTo>
                  <a:cubicBezTo>
                    <a:pt x="2494280" y="1109091"/>
                    <a:pt x="2444115" y="1159256"/>
                    <a:pt x="23821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296912" y="2606040"/>
            <a:ext cx="1714500" cy="850392"/>
            <a:chOff x="0" y="0"/>
            <a:chExt cx="2286000" cy="11338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6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638" t="0" r="-13638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2860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Isotonic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calibration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967728" y="2955798"/>
            <a:ext cx="219456" cy="288036"/>
            <a:chOff x="0" y="0"/>
            <a:chExt cx="292608" cy="3840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00566" y="2955798"/>
            <a:ext cx="219456" cy="288036"/>
            <a:chOff x="0" y="0"/>
            <a:chExt cx="292608" cy="3840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31071" y="2596515"/>
            <a:ext cx="1870710" cy="869442"/>
            <a:chOff x="0" y="0"/>
            <a:chExt cx="2494280" cy="11592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94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4942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382139" y="0"/>
                  </a:lnTo>
                  <a:cubicBezTo>
                    <a:pt x="2444115" y="0"/>
                    <a:pt x="2494280" y="50165"/>
                    <a:pt x="2494280" y="112141"/>
                  </a:cubicBezTo>
                  <a:lnTo>
                    <a:pt x="2494280" y="1047115"/>
                  </a:lnTo>
                  <a:cubicBezTo>
                    <a:pt x="2494280" y="1109091"/>
                    <a:pt x="2444115" y="1159256"/>
                    <a:pt x="23821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409176" y="2606040"/>
            <a:ext cx="1714500" cy="850392"/>
            <a:chOff x="0" y="0"/>
            <a:chExt cx="2286000" cy="11338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86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638" t="0" r="-1363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2860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Conformal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intervals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79992" y="2955798"/>
            <a:ext cx="219456" cy="288036"/>
            <a:chOff x="0" y="0"/>
            <a:chExt cx="292608" cy="3840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717655" y="1842135"/>
            <a:ext cx="5985510" cy="7631430"/>
            <a:chOff x="0" y="0"/>
            <a:chExt cx="7980680" cy="10175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980680" cy="10175240"/>
            </a:xfrm>
            <a:custGeom>
              <a:avLst/>
              <a:gdLst/>
              <a:ahLst/>
              <a:cxnLst/>
              <a:rect r="r" b="b" t="t" l="l"/>
              <a:pathLst>
                <a:path h="10175240" w="798068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7833868" y="0"/>
                  </a:lnTo>
                  <a:cubicBezTo>
                    <a:pt x="7914894" y="0"/>
                    <a:pt x="7980680" y="65659"/>
                    <a:pt x="7980680" y="146812"/>
                  </a:cubicBezTo>
                  <a:lnTo>
                    <a:pt x="7980680" y="10028428"/>
                  </a:lnTo>
                  <a:cubicBezTo>
                    <a:pt x="7980680" y="10109454"/>
                    <a:pt x="7915022" y="10175240"/>
                    <a:pt x="7833868" y="10175240"/>
                  </a:cubicBezTo>
                  <a:lnTo>
                    <a:pt x="146812" y="10175240"/>
                  </a:lnTo>
                  <a:cubicBezTo>
                    <a:pt x="65659" y="10175240"/>
                    <a:pt x="0" y="10109581"/>
                    <a:pt x="0" y="10028428"/>
                  </a:cubicBezTo>
                  <a:close/>
                </a:path>
              </a:pathLst>
            </a:custGeom>
            <a:solidFill>
              <a:srgbClr val="0B111C"/>
            </a:solidFill>
            <a:ln w="19050" cap="sq">
              <a:solidFill>
                <a:srgbClr val="3A3F4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932920" y="1961388"/>
            <a:ext cx="5554980" cy="356616"/>
            <a:chOff x="0" y="0"/>
            <a:chExt cx="7406640" cy="475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406640" cy="475488"/>
            </a:xfrm>
            <a:custGeom>
              <a:avLst/>
              <a:gdLst/>
              <a:ahLst/>
              <a:cxnLst/>
              <a:rect r="r" b="b" t="t" l="l"/>
              <a:pathLst>
                <a:path h="475488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516" r="0" b="-25351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740664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A90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LAYER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991975" y="2596515"/>
            <a:ext cx="5436870" cy="951738"/>
            <a:chOff x="0" y="0"/>
            <a:chExt cx="7249160" cy="12689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2491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72491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7137146" y="0"/>
                  </a:lnTo>
                  <a:cubicBezTo>
                    <a:pt x="7198995" y="0"/>
                    <a:pt x="7249160" y="50165"/>
                    <a:pt x="7249160" y="112014"/>
                  </a:cubicBezTo>
                  <a:lnTo>
                    <a:pt x="7249160" y="1156970"/>
                  </a:lnTo>
                  <a:cubicBezTo>
                    <a:pt x="7249160" y="1218819"/>
                    <a:pt x="7198995" y="1268984"/>
                    <a:pt x="71371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070080" y="2606040"/>
            <a:ext cx="5280660" cy="932688"/>
            <a:chOff x="0" y="0"/>
            <a:chExt cx="7040880" cy="12435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408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319" r="0" b="-6031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0408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Yahoo Finance  (yfinance)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740896" y="2996946"/>
            <a:ext cx="219456" cy="288036"/>
            <a:chOff x="0" y="0"/>
            <a:chExt cx="292608" cy="3840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991975" y="3899535"/>
            <a:ext cx="5436870" cy="951738"/>
            <a:chOff x="0" y="0"/>
            <a:chExt cx="7249160" cy="12689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2491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72491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7137146" y="0"/>
                  </a:lnTo>
                  <a:cubicBezTo>
                    <a:pt x="7198995" y="0"/>
                    <a:pt x="7249160" y="50165"/>
                    <a:pt x="7249160" y="112014"/>
                  </a:cubicBezTo>
                  <a:lnTo>
                    <a:pt x="7249160" y="1156970"/>
                  </a:lnTo>
                  <a:cubicBezTo>
                    <a:pt x="7249160" y="1218819"/>
                    <a:pt x="7198995" y="1268984"/>
                    <a:pt x="71371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2070080" y="3909060"/>
            <a:ext cx="5280660" cy="932688"/>
            <a:chOff x="0" y="0"/>
            <a:chExt cx="7040880" cy="12435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408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319" r="0" b="-603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70408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data/app.db  ·  SQLite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740896" y="4299966"/>
            <a:ext cx="219456" cy="288036"/>
            <a:chOff x="0" y="0"/>
            <a:chExt cx="292608" cy="3840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991975" y="5202555"/>
            <a:ext cx="5436870" cy="951738"/>
            <a:chOff x="0" y="0"/>
            <a:chExt cx="7249160" cy="1268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2491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72491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7137146" y="0"/>
                  </a:lnTo>
                  <a:cubicBezTo>
                    <a:pt x="7198995" y="0"/>
                    <a:pt x="7249160" y="50165"/>
                    <a:pt x="7249160" y="112014"/>
                  </a:cubicBezTo>
                  <a:lnTo>
                    <a:pt x="7249160" y="1156970"/>
                  </a:lnTo>
                  <a:cubicBezTo>
                    <a:pt x="7249160" y="1218819"/>
                    <a:pt x="7198995" y="1268984"/>
                    <a:pt x="71371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070080" y="5212080"/>
            <a:ext cx="5280660" cy="932688"/>
            <a:chOff x="0" y="0"/>
            <a:chExt cx="7040880" cy="12435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0408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319" r="0" b="-6031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70408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models/*.joblib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740896" y="5602986"/>
            <a:ext cx="219456" cy="288036"/>
            <a:chOff x="0" y="0"/>
            <a:chExt cx="292608" cy="3840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991975" y="6505575"/>
            <a:ext cx="5436870" cy="951738"/>
            <a:chOff x="0" y="0"/>
            <a:chExt cx="7249160" cy="12689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2491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72491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7137146" y="0"/>
                  </a:lnTo>
                  <a:cubicBezTo>
                    <a:pt x="7198995" y="0"/>
                    <a:pt x="7249160" y="50165"/>
                    <a:pt x="7249160" y="112014"/>
                  </a:cubicBezTo>
                  <a:lnTo>
                    <a:pt x="7249160" y="1156970"/>
                  </a:lnTo>
                  <a:cubicBezTo>
                    <a:pt x="7249160" y="1218819"/>
                    <a:pt x="7198995" y="1268984"/>
                    <a:pt x="71371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2070080" y="6515100"/>
            <a:ext cx="5280660" cy="932688"/>
            <a:chOff x="0" y="0"/>
            <a:chExt cx="7040880" cy="12435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0408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319" r="0" b="-6031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70408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data/dashboard_users.db  ·  SQLite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740896" y="6906006"/>
            <a:ext cx="219456" cy="288036"/>
            <a:chOff x="0" y="0"/>
            <a:chExt cx="292608" cy="3840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07695" y="4311015"/>
            <a:ext cx="5162550" cy="5162550"/>
            <a:chOff x="0" y="0"/>
            <a:chExt cx="6883400" cy="6883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834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6736588"/>
                  </a:lnTo>
                  <a:cubicBezTo>
                    <a:pt x="6883400" y="6817614"/>
                    <a:pt x="6817614" y="6883400"/>
                    <a:pt x="6736588" y="6883400"/>
                  </a:cubicBezTo>
                  <a:lnTo>
                    <a:pt x="146812" y="6883400"/>
                  </a:lnTo>
                  <a:cubicBezTo>
                    <a:pt x="65786" y="6883400"/>
                    <a:pt x="0" y="6817614"/>
                    <a:pt x="0" y="6736588"/>
                  </a:cubicBezTo>
                  <a:close/>
                </a:path>
              </a:pathLst>
            </a:custGeom>
            <a:solidFill>
              <a:srgbClr val="0B111C"/>
            </a:solidFill>
            <a:ln w="19050" cap="sq">
              <a:solidFill>
                <a:srgbClr val="3A3F46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822960" y="4430268"/>
            <a:ext cx="4732020" cy="356616"/>
            <a:chOff x="0" y="0"/>
            <a:chExt cx="6309360" cy="4754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309360" cy="475488"/>
            </a:xfrm>
            <a:custGeom>
              <a:avLst/>
              <a:gdLst/>
              <a:ahLst/>
              <a:cxnLst/>
              <a:rect r="r" b="b" t="t" l="l"/>
              <a:pathLst>
                <a:path h="47548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630936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A90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STREAMLIT DASHBOARD  ·  :8501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82015" y="5065395"/>
            <a:ext cx="4613910" cy="869442"/>
            <a:chOff x="0" y="0"/>
            <a:chExt cx="6151880" cy="11592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1518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61518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039739" y="0"/>
                  </a:lnTo>
                  <a:cubicBezTo>
                    <a:pt x="6101715" y="0"/>
                    <a:pt x="6151880" y="50165"/>
                    <a:pt x="6151880" y="112141"/>
                  </a:cubicBezTo>
                  <a:lnTo>
                    <a:pt x="6151880" y="1047115"/>
                  </a:lnTo>
                  <a:cubicBezTo>
                    <a:pt x="6151880" y="1109091"/>
                    <a:pt x="6101715" y="1159256"/>
                    <a:pt x="60397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960120" y="5074920"/>
            <a:ext cx="4457700" cy="850392"/>
            <a:chOff x="0" y="0"/>
            <a:chExt cx="5943600" cy="11338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943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39" r="0" b="-5213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594360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dashboard/theme.py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30936" y="5424678"/>
            <a:ext cx="219456" cy="288036"/>
            <a:chOff x="0" y="0"/>
            <a:chExt cx="292608" cy="3840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882015" y="6135243"/>
            <a:ext cx="4613910" cy="869442"/>
            <a:chOff x="0" y="0"/>
            <a:chExt cx="6151880" cy="11592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1518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61518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039739" y="0"/>
                  </a:lnTo>
                  <a:cubicBezTo>
                    <a:pt x="6101715" y="0"/>
                    <a:pt x="6151880" y="50165"/>
                    <a:pt x="6151880" y="112141"/>
                  </a:cubicBezTo>
                  <a:lnTo>
                    <a:pt x="6151880" y="1047115"/>
                  </a:lnTo>
                  <a:cubicBezTo>
                    <a:pt x="6151880" y="1109091"/>
                    <a:pt x="6101715" y="1159256"/>
                    <a:pt x="60397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0120" y="6144768"/>
            <a:ext cx="4457700" cy="850392"/>
            <a:chOff x="0" y="0"/>
            <a:chExt cx="5943600" cy="11338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943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39" r="0" b="-52139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59436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assistant overlay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+ assistant.py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30936" y="6494526"/>
            <a:ext cx="219456" cy="288036"/>
            <a:chOff x="0" y="0"/>
            <a:chExt cx="292608" cy="3840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882015" y="7205091"/>
            <a:ext cx="2145030" cy="869442"/>
            <a:chOff x="0" y="0"/>
            <a:chExt cx="2860040" cy="115925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86004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86004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747899" y="0"/>
                  </a:lnTo>
                  <a:cubicBezTo>
                    <a:pt x="2809875" y="0"/>
                    <a:pt x="2860040" y="50165"/>
                    <a:pt x="2860040" y="112141"/>
                  </a:cubicBezTo>
                  <a:lnTo>
                    <a:pt x="2860040" y="1047115"/>
                  </a:lnTo>
                  <a:cubicBezTo>
                    <a:pt x="2860040" y="1109091"/>
                    <a:pt x="2809875" y="1159256"/>
                    <a:pt x="274789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960120" y="7214616"/>
            <a:ext cx="1988820" cy="850392"/>
            <a:chOff x="0" y="0"/>
            <a:chExt cx="2651760" cy="11338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6517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60" t="0" r="-4860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65176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dashboard/app.py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630936" y="7564374"/>
            <a:ext cx="219456" cy="288036"/>
            <a:chOff x="0" y="0"/>
            <a:chExt cx="292608" cy="3840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3282315" y="7205091"/>
            <a:ext cx="2213610" cy="869442"/>
            <a:chOff x="0" y="0"/>
            <a:chExt cx="2951480" cy="115925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951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95148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839339" y="0"/>
                  </a:lnTo>
                  <a:cubicBezTo>
                    <a:pt x="2901315" y="0"/>
                    <a:pt x="2951480" y="50165"/>
                    <a:pt x="2951480" y="112141"/>
                  </a:cubicBezTo>
                  <a:lnTo>
                    <a:pt x="2951480" y="1047115"/>
                  </a:lnTo>
                  <a:cubicBezTo>
                    <a:pt x="2951480" y="1109091"/>
                    <a:pt x="2901315" y="1159256"/>
                    <a:pt x="28393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3360420" y="7214616"/>
            <a:ext cx="2057400" cy="850392"/>
            <a:chOff x="0" y="0"/>
            <a:chExt cx="2743200" cy="113385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743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32" t="0" r="-3032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27432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dashboard/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user_store.py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3031236" y="7564374"/>
            <a:ext cx="219456" cy="288036"/>
            <a:chOff x="0" y="0"/>
            <a:chExt cx="292608" cy="3840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6025515" y="4311015"/>
            <a:ext cx="5368290" cy="3242310"/>
            <a:chOff x="0" y="0"/>
            <a:chExt cx="7157720" cy="432308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15772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4175887"/>
                  </a:lnTo>
                  <a:cubicBezTo>
                    <a:pt x="7157720" y="4257167"/>
                    <a:pt x="7091807" y="4323080"/>
                    <a:pt x="701052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0B111C"/>
            </a:solidFill>
            <a:ln w="19050" cap="sq">
              <a:solidFill>
                <a:srgbClr val="3A3F46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6240780" y="4430268"/>
            <a:ext cx="4937760" cy="356616"/>
            <a:chOff x="0" y="0"/>
            <a:chExt cx="6583680" cy="47548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583680" cy="475488"/>
            </a:xfrm>
            <a:custGeom>
              <a:avLst/>
              <a:gdLst/>
              <a:ahLst/>
              <a:cxnLst/>
              <a:rect r="r" b="b" t="t" l="l"/>
              <a:pathLst>
                <a:path h="4754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658368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A90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FASTAPI BACKEND  ·  :8000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6299835" y="5065395"/>
            <a:ext cx="4819650" cy="842010"/>
            <a:chOff x="0" y="0"/>
            <a:chExt cx="6426200" cy="11226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4262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6426200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13932" y="0"/>
                  </a:lnTo>
                  <a:cubicBezTo>
                    <a:pt x="6375908" y="0"/>
                    <a:pt x="6426200" y="50292"/>
                    <a:pt x="6426200" y="112268"/>
                  </a:cubicBezTo>
                  <a:lnTo>
                    <a:pt x="6426200" y="1010412"/>
                  </a:lnTo>
                  <a:cubicBezTo>
                    <a:pt x="6426200" y="1072388"/>
                    <a:pt x="6375908" y="1122680"/>
                    <a:pt x="6313932" y="1122680"/>
                  </a:cubicBezTo>
                  <a:lnTo>
                    <a:pt x="112268" y="1122680"/>
                  </a:lnTo>
                  <a:cubicBezTo>
                    <a:pt x="50292" y="1122680"/>
                    <a:pt x="0" y="1072388"/>
                    <a:pt x="0" y="1010412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6377940" y="5074920"/>
            <a:ext cx="4663440" cy="822960"/>
            <a:chOff x="0" y="0"/>
            <a:chExt cx="6217920" cy="109728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6217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api/routes.py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6048756" y="5410962"/>
            <a:ext cx="219456" cy="288036"/>
            <a:chOff x="0" y="0"/>
            <a:chExt cx="292608" cy="38404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92608" cy="384048"/>
            </a:xfrm>
            <a:custGeom>
              <a:avLst/>
              <a:gdLst/>
              <a:ahLst/>
              <a:cxnLst/>
              <a:rect r="r" b="b" t="t" l="l"/>
              <a:pathLst>
                <a:path h="3840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292608" cy="431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5FB4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6299835" y="6094095"/>
            <a:ext cx="2323338" cy="842010"/>
            <a:chOff x="0" y="0"/>
            <a:chExt cx="3097784" cy="11226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097784" cy="1122680"/>
            </a:xfrm>
            <a:custGeom>
              <a:avLst/>
              <a:gdLst/>
              <a:ahLst/>
              <a:cxnLst/>
              <a:rect r="r" b="b" t="t" l="l"/>
              <a:pathLst>
                <a:path h="1122680" w="309778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2985516" y="0"/>
                  </a:lnTo>
                  <a:cubicBezTo>
                    <a:pt x="3047492" y="0"/>
                    <a:pt x="3097784" y="50292"/>
                    <a:pt x="3097784" y="112268"/>
                  </a:cubicBezTo>
                  <a:lnTo>
                    <a:pt x="3097784" y="1010412"/>
                  </a:lnTo>
                  <a:cubicBezTo>
                    <a:pt x="3097784" y="1072388"/>
                    <a:pt x="3047492" y="1122680"/>
                    <a:pt x="2985516" y="1122680"/>
                  </a:cubicBezTo>
                  <a:lnTo>
                    <a:pt x="112268" y="1122680"/>
                  </a:lnTo>
                  <a:cubicBezTo>
                    <a:pt x="50292" y="1122680"/>
                    <a:pt x="0" y="1072388"/>
                    <a:pt x="0" y="1010412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54" id="154"/>
          <p:cNvGrpSpPr/>
          <p:nvPr/>
        </p:nvGrpSpPr>
        <p:grpSpPr>
          <a:xfrm rot="0">
            <a:off x="6377940" y="6103620"/>
            <a:ext cx="2167128" cy="822960"/>
            <a:chOff x="0" y="0"/>
            <a:chExt cx="2889504" cy="109728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8895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28895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risk_engine.py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8796147" y="6094095"/>
            <a:ext cx="2323338" cy="842010"/>
            <a:chOff x="0" y="0"/>
            <a:chExt cx="3097784" cy="112268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097784" cy="1122680"/>
            </a:xfrm>
            <a:custGeom>
              <a:avLst/>
              <a:gdLst/>
              <a:ahLst/>
              <a:cxnLst/>
              <a:rect r="r" b="b" t="t" l="l"/>
              <a:pathLst>
                <a:path h="1122680" w="309778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2985516" y="0"/>
                  </a:lnTo>
                  <a:cubicBezTo>
                    <a:pt x="3047492" y="0"/>
                    <a:pt x="3097784" y="50292"/>
                    <a:pt x="3097784" y="112268"/>
                  </a:cubicBezTo>
                  <a:lnTo>
                    <a:pt x="3097784" y="1010412"/>
                  </a:lnTo>
                  <a:cubicBezTo>
                    <a:pt x="3097784" y="1072388"/>
                    <a:pt x="3047492" y="1122680"/>
                    <a:pt x="2985516" y="1122680"/>
                  </a:cubicBezTo>
                  <a:lnTo>
                    <a:pt x="112268" y="1122680"/>
                  </a:lnTo>
                  <a:cubicBezTo>
                    <a:pt x="50292" y="1122680"/>
                    <a:pt x="0" y="1072388"/>
                    <a:pt x="0" y="1010412"/>
                  </a:cubicBezTo>
                  <a:close/>
                </a:path>
              </a:pathLst>
            </a:custGeom>
            <a:solidFill>
              <a:srgbClr val="1F242B"/>
            </a:solidFill>
            <a:ln w="19050" cap="sq">
              <a:solidFill>
                <a:srgbClr val="40464F"/>
              </a:solidFill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8874252" y="6103620"/>
            <a:ext cx="2167128" cy="822960"/>
            <a:chOff x="0" y="0"/>
            <a:chExt cx="2889504" cy="109728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8895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8895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2F3F5"/>
                  </a:solidFill>
                  <a:latin typeface="Consolas"/>
                  <a:ea typeface="Consolas"/>
                  <a:cs typeface="Consolas"/>
                  <a:sym typeface="Consolas"/>
                </a:rPr>
                <a:t>predictor.py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3007995" y="7630287"/>
            <a:ext cx="499110" cy="32766"/>
            <a:chOff x="0" y="0"/>
            <a:chExt cx="665480" cy="4368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665480" cy="43688"/>
            </a:xfrm>
            <a:custGeom>
              <a:avLst/>
              <a:gdLst/>
              <a:ahLst/>
              <a:cxnLst/>
              <a:rect r="r" b="b" t="t" l="l"/>
              <a:pathLst>
                <a:path h="43688" w="665480">
                  <a:moveTo>
                    <a:pt x="0" y="0"/>
                  </a:moveTo>
                  <a:lnTo>
                    <a:pt x="66548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46806" r="0" b="-246806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3488055" y="5476875"/>
            <a:ext cx="32766" cy="2172462"/>
            <a:chOff x="0" y="0"/>
            <a:chExt cx="43688" cy="289661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3688" cy="2896616"/>
            </a:xfrm>
            <a:custGeom>
              <a:avLst/>
              <a:gdLst/>
              <a:ahLst/>
              <a:cxnLst/>
              <a:rect r="r" b="b" t="t" l="l"/>
              <a:pathLst>
                <a:path h="2896616" w="43688">
                  <a:moveTo>
                    <a:pt x="0" y="2896616"/>
                  </a:moveTo>
                  <a:lnTo>
                    <a:pt x="43688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456825" t="0" r="-8456825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66" id="166"/>
          <p:cNvGrpSpPr/>
          <p:nvPr/>
        </p:nvGrpSpPr>
        <p:grpSpPr>
          <a:xfrm rot="0">
            <a:off x="3488055" y="5476875"/>
            <a:ext cx="2830830" cy="32766"/>
            <a:chOff x="0" y="0"/>
            <a:chExt cx="3774440" cy="4368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3774440" cy="43688"/>
            </a:xfrm>
            <a:custGeom>
              <a:avLst/>
              <a:gdLst/>
              <a:ahLst/>
              <a:cxnLst/>
              <a:rect r="r" b="b" t="t" l="l"/>
              <a:pathLst>
                <a:path h="43688" w="3774440">
                  <a:moveTo>
                    <a:pt x="0" y="0"/>
                  </a:moveTo>
                  <a:lnTo>
                    <a:pt x="377444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33416" r="0" b="-1633416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68" id="168"/>
          <p:cNvGrpSpPr/>
          <p:nvPr/>
        </p:nvGrpSpPr>
        <p:grpSpPr>
          <a:xfrm rot="0">
            <a:off x="6985635" y="5888355"/>
            <a:ext cx="32766" cy="32766"/>
            <a:chOff x="0" y="0"/>
            <a:chExt cx="43688" cy="4368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3688" cy="43688"/>
            </a:xfrm>
            <a:custGeom>
              <a:avLst/>
              <a:gdLst/>
              <a:ahLst/>
              <a:cxnLst/>
              <a:rect r="r" b="b" t="t" l="l"/>
              <a:pathLst>
                <a:path h="43688" w="43688">
                  <a:moveTo>
                    <a:pt x="0" y="0"/>
                  </a:moveTo>
                  <a:lnTo>
                    <a:pt x="43688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6985635" y="5888355"/>
            <a:ext cx="32766" cy="224790"/>
            <a:chOff x="0" y="0"/>
            <a:chExt cx="43688" cy="2997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3688" cy="299720"/>
            </a:xfrm>
            <a:custGeom>
              <a:avLst/>
              <a:gdLst/>
              <a:ahLst/>
              <a:cxnLst/>
              <a:rect r="r" b="b" t="t" l="l"/>
              <a:pathLst>
                <a:path h="299720" w="43688">
                  <a:moveTo>
                    <a:pt x="0" y="0"/>
                  </a:moveTo>
                  <a:lnTo>
                    <a:pt x="43688" y="29972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30222" t="0" r="-830222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72" id="172"/>
          <p:cNvGrpSpPr/>
          <p:nvPr/>
        </p:nvGrpSpPr>
        <p:grpSpPr>
          <a:xfrm rot="0">
            <a:off x="6985635" y="6094095"/>
            <a:ext cx="32766" cy="32766"/>
            <a:chOff x="0" y="0"/>
            <a:chExt cx="43688" cy="4368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3688" cy="43688"/>
            </a:xfrm>
            <a:custGeom>
              <a:avLst/>
              <a:gdLst/>
              <a:ahLst/>
              <a:cxnLst/>
              <a:rect r="r" b="b" t="t" l="l"/>
              <a:pathLst>
                <a:path h="43688" w="43688">
                  <a:moveTo>
                    <a:pt x="0" y="0"/>
                  </a:moveTo>
                  <a:lnTo>
                    <a:pt x="43688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74" id="174"/>
          <p:cNvGrpSpPr/>
          <p:nvPr/>
        </p:nvGrpSpPr>
        <p:grpSpPr>
          <a:xfrm rot="0">
            <a:off x="10140315" y="5888355"/>
            <a:ext cx="32766" cy="32766"/>
            <a:chOff x="0" y="0"/>
            <a:chExt cx="43688" cy="4368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3688" cy="43688"/>
            </a:xfrm>
            <a:custGeom>
              <a:avLst/>
              <a:gdLst/>
              <a:ahLst/>
              <a:cxnLst/>
              <a:rect r="r" b="b" t="t" l="l"/>
              <a:pathLst>
                <a:path h="43688" w="43688">
                  <a:moveTo>
                    <a:pt x="0" y="0"/>
                  </a:moveTo>
                  <a:lnTo>
                    <a:pt x="43688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76" id="176"/>
          <p:cNvGrpSpPr/>
          <p:nvPr/>
        </p:nvGrpSpPr>
        <p:grpSpPr>
          <a:xfrm rot="0">
            <a:off x="10140315" y="5888355"/>
            <a:ext cx="32766" cy="224790"/>
            <a:chOff x="0" y="0"/>
            <a:chExt cx="43688" cy="29972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3688" cy="299720"/>
            </a:xfrm>
            <a:custGeom>
              <a:avLst/>
              <a:gdLst/>
              <a:ahLst/>
              <a:cxnLst/>
              <a:rect r="r" b="b" t="t" l="l"/>
              <a:pathLst>
                <a:path h="299720" w="43688">
                  <a:moveTo>
                    <a:pt x="0" y="0"/>
                  </a:moveTo>
                  <a:lnTo>
                    <a:pt x="43688" y="29972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30222" t="0" r="-830222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78" id="178"/>
          <p:cNvGrpSpPr/>
          <p:nvPr/>
        </p:nvGrpSpPr>
        <p:grpSpPr>
          <a:xfrm rot="0">
            <a:off x="10140315" y="6094095"/>
            <a:ext cx="32766" cy="32766"/>
            <a:chOff x="0" y="0"/>
            <a:chExt cx="43688" cy="4368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43688" cy="43688"/>
            </a:xfrm>
            <a:custGeom>
              <a:avLst/>
              <a:gdLst/>
              <a:ahLst/>
              <a:cxnLst/>
              <a:rect r="r" b="b" t="t" l="l"/>
              <a:pathLst>
                <a:path h="43688" w="43688">
                  <a:moveTo>
                    <a:pt x="0" y="0"/>
                  </a:moveTo>
                  <a:lnTo>
                    <a:pt x="43688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80" id="180"/>
          <p:cNvGrpSpPr/>
          <p:nvPr/>
        </p:nvGrpSpPr>
        <p:grpSpPr>
          <a:xfrm rot="0">
            <a:off x="11511915" y="3021711"/>
            <a:ext cx="1541526" cy="32766"/>
            <a:chOff x="0" y="0"/>
            <a:chExt cx="2055368" cy="43688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055368" cy="43688"/>
            </a:xfrm>
            <a:custGeom>
              <a:avLst/>
              <a:gdLst/>
              <a:ahLst/>
              <a:cxnLst/>
              <a:rect r="r" b="b" t="t" l="l"/>
              <a:pathLst>
                <a:path h="43688" w="2055368">
                  <a:moveTo>
                    <a:pt x="0" y="0"/>
                  </a:moveTo>
                  <a:lnTo>
                    <a:pt x="2055368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66703" r="0" b="-866703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82" id="182"/>
          <p:cNvGrpSpPr/>
          <p:nvPr/>
        </p:nvGrpSpPr>
        <p:grpSpPr>
          <a:xfrm rot="0">
            <a:off x="11511915" y="3021711"/>
            <a:ext cx="32766" cy="2666238"/>
            <a:chOff x="0" y="0"/>
            <a:chExt cx="43688" cy="355498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3688" cy="3554984"/>
            </a:xfrm>
            <a:custGeom>
              <a:avLst/>
              <a:gdLst/>
              <a:ahLst/>
              <a:cxnLst/>
              <a:rect r="r" b="b" t="t" l="l"/>
              <a:pathLst>
                <a:path h="3554984" w="43688">
                  <a:moveTo>
                    <a:pt x="0" y="0"/>
                  </a:moveTo>
                  <a:lnTo>
                    <a:pt x="43688" y="3554984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390329" t="0" r="-10390329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84" id="184"/>
          <p:cNvGrpSpPr/>
          <p:nvPr/>
        </p:nvGrpSpPr>
        <p:grpSpPr>
          <a:xfrm rot="0">
            <a:off x="11511915" y="5668899"/>
            <a:ext cx="499110" cy="32766"/>
            <a:chOff x="0" y="0"/>
            <a:chExt cx="665480" cy="43688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665480" cy="43688"/>
            </a:xfrm>
            <a:custGeom>
              <a:avLst/>
              <a:gdLst/>
              <a:ahLst/>
              <a:cxnLst/>
              <a:rect r="r" b="b" t="t" l="l"/>
              <a:pathLst>
                <a:path h="43688" w="665480">
                  <a:moveTo>
                    <a:pt x="0" y="0"/>
                  </a:moveTo>
                  <a:lnTo>
                    <a:pt x="66548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46806" r="0" b="-246806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86" id="186"/>
          <p:cNvGrpSpPr/>
          <p:nvPr/>
        </p:nvGrpSpPr>
        <p:grpSpPr>
          <a:xfrm rot="0">
            <a:off x="11100435" y="6505575"/>
            <a:ext cx="430530" cy="32766"/>
            <a:chOff x="0" y="0"/>
            <a:chExt cx="574040" cy="43688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74040" cy="43688"/>
            </a:xfrm>
            <a:custGeom>
              <a:avLst/>
              <a:gdLst/>
              <a:ahLst/>
              <a:cxnLst/>
              <a:rect r="r" b="b" t="t" l="l"/>
              <a:pathLst>
                <a:path h="43688" w="574040">
                  <a:moveTo>
                    <a:pt x="0" y="0"/>
                  </a:moveTo>
                  <a:lnTo>
                    <a:pt x="57404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6024" r="0" b="-206024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88" id="188"/>
          <p:cNvGrpSpPr/>
          <p:nvPr/>
        </p:nvGrpSpPr>
        <p:grpSpPr>
          <a:xfrm rot="0">
            <a:off x="11511915" y="4365879"/>
            <a:ext cx="32766" cy="2158746"/>
            <a:chOff x="0" y="0"/>
            <a:chExt cx="43688" cy="287832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3688" cy="2878328"/>
            </a:xfrm>
            <a:custGeom>
              <a:avLst/>
              <a:gdLst/>
              <a:ahLst/>
              <a:cxnLst/>
              <a:rect r="r" b="b" t="t" l="l"/>
              <a:pathLst>
                <a:path h="2878328" w="43688">
                  <a:moveTo>
                    <a:pt x="0" y="2878328"/>
                  </a:moveTo>
                  <a:lnTo>
                    <a:pt x="43688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403116" t="0" r="-8403116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90" id="190"/>
          <p:cNvGrpSpPr/>
          <p:nvPr/>
        </p:nvGrpSpPr>
        <p:grpSpPr>
          <a:xfrm rot="0">
            <a:off x="11511915" y="4365879"/>
            <a:ext cx="499110" cy="32766"/>
            <a:chOff x="0" y="0"/>
            <a:chExt cx="665480" cy="4368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665480" cy="43688"/>
            </a:xfrm>
            <a:custGeom>
              <a:avLst/>
              <a:gdLst/>
              <a:ahLst/>
              <a:cxnLst/>
              <a:rect r="r" b="b" t="t" l="l"/>
              <a:pathLst>
                <a:path h="43688" w="665480">
                  <a:moveTo>
                    <a:pt x="0" y="0"/>
                  </a:moveTo>
                  <a:lnTo>
                    <a:pt x="66548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46806" r="0" b="-246806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92" id="192"/>
          <p:cNvGrpSpPr/>
          <p:nvPr/>
        </p:nvGrpSpPr>
        <p:grpSpPr>
          <a:xfrm rot="0">
            <a:off x="4379595" y="8055483"/>
            <a:ext cx="32766" cy="252222"/>
            <a:chOff x="0" y="0"/>
            <a:chExt cx="43688" cy="336296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3688" cy="336296"/>
            </a:xfrm>
            <a:custGeom>
              <a:avLst/>
              <a:gdLst/>
              <a:ahLst/>
              <a:cxnLst/>
              <a:rect r="r" b="b" t="t" l="l"/>
              <a:pathLst>
                <a:path h="336296" w="43688">
                  <a:moveTo>
                    <a:pt x="0" y="0"/>
                  </a:moveTo>
                  <a:lnTo>
                    <a:pt x="43688" y="336296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937639" t="0" r="-937639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94" id="194"/>
          <p:cNvGrpSpPr/>
          <p:nvPr/>
        </p:nvGrpSpPr>
        <p:grpSpPr>
          <a:xfrm rot="0">
            <a:off x="4379595" y="8288655"/>
            <a:ext cx="7151370" cy="32766"/>
            <a:chOff x="0" y="0"/>
            <a:chExt cx="9535160" cy="4368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9535160" cy="43688"/>
            </a:xfrm>
            <a:custGeom>
              <a:avLst/>
              <a:gdLst/>
              <a:ahLst/>
              <a:cxnLst/>
              <a:rect r="r" b="b" t="t" l="l"/>
              <a:pathLst>
                <a:path h="43688" w="9535160">
                  <a:moveTo>
                    <a:pt x="0" y="0"/>
                  </a:moveTo>
                  <a:lnTo>
                    <a:pt x="953516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202722" r="0" b="-4202722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96" id="196"/>
          <p:cNvGrpSpPr/>
          <p:nvPr/>
        </p:nvGrpSpPr>
        <p:grpSpPr>
          <a:xfrm rot="0">
            <a:off x="11511915" y="6971919"/>
            <a:ext cx="32766" cy="1335786"/>
            <a:chOff x="0" y="0"/>
            <a:chExt cx="43688" cy="1781048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43688" cy="1781048"/>
            </a:xfrm>
            <a:custGeom>
              <a:avLst/>
              <a:gdLst/>
              <a:ahLst/>
              <a:cxnLst/>
              <a:rect r="r" b="b" t="t" l="l"/>
              <a:pathLst>
                <a:path h="1781048" w="43688">
                  <a:moveTo>
                    <a:pt x="0" y="1781048"/>
                  </a:moveTo>
                  <a:lnTo>
                    <a:pt x="43688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5180608" t="0" r="-5180608" b="0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98" id="198"/>
          <p:cNvGrpSpPr/>
          <p:nvPr/>
        </p:nvGrpSpPr>
        <p:grpSpPr>
          <a:xfrm rot="0">
            <a:off x="11511915" y="6971919"/>
            <a:ext cx="499110" cy="32766"/>
            <a:chOff x="0" y="0"/>
            <a:chExt cx="665480" cy="4368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665480" cy="43688"/>
            </a:xfrm>
            <a:custGeom>
              <a:avLst/>
              <a:gdLst/>
              <a:ahLst/>
              <a:cxnLst/>
              <a:rect r="r" b="b" t="t" l="l"/>
              <a:pathLst>
                <a:path h="43688" w="665480">
                  <a:moveTo>
                    <a:pt x="0" y="0"/>
                  </a:moveTo>
                  <a:lnTo>
                    <a:pt x="665480" y="4368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46806" r="0" b="-246806"/>
              </a:stretch>
            </a:blip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00452"/>
            <a:ext cx="6738990" cy="806556"/>
            <a:chOff x="0" y="0"/>
            <a:chExt cx="5806440" cy="69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06440" cy="694944"/>
            </a:xfrm>
            <a:custGeom>
              <a:avLst/>
              <a:gdLst/>
              <a:ahLst/>
              <a:cxnLst/>
              <a:rect r="r" b="b" t="t" l="l"/>
              <a:pathLst>
                <a:path h="694944" w="5806440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lnTo>
                    <a:pt x="5458968" y="0"/>
                  </a:lnTo>
                  <a:cubicBezTo>
                    <a:pt x="5650865" y="0"/>
                    <a:pt x="5806440" y="155575"/>
                    <a:pt x="5806440" y="347472"/>
                  </a:cubicBezTo>
                  <a:cubicBezTo>
                    <a:pt x="5806440" y="539369"/>
                    <a:pt x="5650865" y="694944"/>
                    <a:pt x="5458968" y="694944"/>
                  </a:cubicBezTo>
                  <a:lnTo>
                    <a:pt x="347472" y="694944"/>
                  </a:ln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-96132"/>
            <a:ext cx="6533250" cy="781932"/>
            <a:chOff x="0" y="0"/>
            <a:chExt cx="5806440" cy="6949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06440" cy="694944"/>
            </a:xfrm>
            <a:custGeom>
              <a:avLst/>
              <a:gdLst/>
              <a:ahLst/>
              <a:cxnLst/>
              <a:rect r="r" b="b" t="t" l="l"/>
              <a:pathLst>
                <a:path h="694944" w="5806440">
                  <a:moveTo>
                    <a:pt x="0" y="0"/>
                  </a:moveTo>
                  <a:lnTo>
                    <a:pt x="5806440" y="0"/>
                  </a:lnTo>
                  <a:lnTo>
                    <a:pt x="5806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690" r="0" b="-1126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3244" y="494970"/>
            <a:ext cx="6094471" cy="578938"/>
            <a:chOff x="0" y="0"/>
            <a:chExt cx="5806440" cy="551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06440" cy="551576"/>
            </a:xfrm>
            <a:custGeom>
              <a:avLst/>
              <a:gdLst/>
              <a:ahLst/>
              <a:cxnLst/>
              <a:rect r="r" b="b" t="t" l="l"/>
              <a:pathLst>
                <a:path h="551576" w="5806440">
                  <a:moveTo>
                    <a:pt x="0" y="0"/>
                  </a:moveTo>
                  <a:lnTo>
                    <a:pt x="5806440" y="0"/>
                  </a:lnTo>
                  <a:lnTo>
                    <a:pt x="5806440" y="551576"/>
                  </a:lnTo>
                  <a:lnTo>
                    <a:pt x="0" y="5515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122" r="0" b="-16811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806440" cy="551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09"/>
                </a:lnSpc>
              </a:pPr>
              <a:r>
                <a:rPr lang="en-US" sz="2924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price prediction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99032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Roadmap to implementation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43877" y="4089797"/>
            <a:ext cx="13395674" cy="50006"/>
            <a:chOff x="0" y="0"/>
            <a:chExt cx="17860899" cy="66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860899" cy="66675"/>
            </a:xfrm>
            <a:custGeom>
              <a:avLst/>
              <a:gdLst/>
              <a:ahLst/>
              <a:cxnLst/>
              <a:rect r="r" b="b" t="t" l="l"/>
              <a:pathLst>
                <a:path h="66675" w="17860899">
                  <a:moveTo>
                    <a:pt x="0" y="0"/>
                  </a:moveTo>
                  <a:lnTo>
                    <a:pt x="17860899" y="66675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166019" r="0" b="-5166019"/>
              </a:stretch>
            </a:blipFill>
            <a:ln w="28575" cap="sq">
              <a:solidFill>
                <a:srgbClr val="1B2E42"/>
              </a:solidFill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240566" y="3886486"/>
            <a:ext cx="456629" cy="456628"/>
          </a:xfrm>
          <a:custGeom>
            <a:avLst/>
            <a:gdLst/>
            <a:ahLst/>
            <a:cxnLst/>
            <a:rect r="r" b="b" t="t" l="l"/>
            <a:pathLst>
              <a:path h="456628" w="456629">
                <a:moveTo>
                  <a:pt x="0" y="0"/>
                </a:moveTo>
                <a:lnTo>
                  <a:pt x="456628" y="0"/>
                </a:lnTo>
                <a:lnTo>
                  <a:pt x="456628" y="456628"/>
                </a:lnTo>
                <a:lnTo>
                  <a:pt x="0" y="456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97280" y="3086100"/>
            <a:ext cx="2743200" cy="548640"/>
            <a:chOff x="0" y="0"/>
            <a:chExt cx="3657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086100"/>
            <a:ext cx="2743200" cy="548640"/>
            <a:chOff x="0" y="0"/>
            <a:chExt cx="3657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1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4582354"/>
            <a:ext cx="3316843" cy="2562463"/>
          </a:xfrm>
          <a:custGeom>
            <a:avLst/>
            <a:gdLst/>
            <a:ahLst/>
            <a:cxnLst/>
            <a:rect r="r" b="b" t="t" l="l"/>
            <a:pathLst>
              <a:path h="2562463" w="3316843">
                <a:moveTo>
                  <a:pt x="0" y="0"/>
                </a:moveTo>
                <a:lnTo>
                  <a:pt x="3316843" y="0"/>
                </a:lnTo>
                <a:lnTo>
                  <a:pt x="3316843" y="2562463"/>
                </a:lnTo>
                <a:lnTo>
                  <a:pt x="0" y="256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97280" y="4869180"/>
            <a:ext cx="2743200" cy="685800"/>
            <a:chOff x="0" y="0"/>
            <a:chExt cx="36576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6" r="0" b="-2788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4869180"/>
            <a:ext cx="2743200" cy="685800"/>
            <a:chOff x="0" y="0"/>
            <a:chExt cx="36576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657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8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pipeline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5554980"/>
            <a:ext cx="2743200" cy="1508760"/>
            <a:chOff x="0" y="0"/>
            <a:chExt cx="365760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5" t="0" r="-20616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5512118"/>
            <a:ext cx="2743200" cy="1551622"/>
            <a:chOff x="0" y="0"/>
            <a:chExt cx="3657600" cy="20688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2068830"/>
            </a:xfrm>
            <a:custGeom>
              <a:avLst/>
              <a:gdLst/>
              <a:ahLst/>
              <a:cxnLst/>
              <a:rect r="r" b="b" t="t" l="l"/>
              <a:pathLst>
                <a:path h="206883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68830"/>
                  </a:lnTo>
                  <a:lnTo>
                    <a:pt x="0" y="2068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571" t="0" r="-2257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657600" cy="2125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04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Connect live + historical feeds (4–6 wks).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6689122" y="3886486"/>
            <a:ext cx="456629" cy="456628"/>
          </a:xfrm>
          <a:custGeom>
            <a:avLst/>
            <a:gdLst/>
            <a:ahLst/>
            <a:cxnLst/>
            <a:rect r="r" b="b" t="t" l="l"/>
            <a:pathLst>
              <a:path h="456628" w="456629">
                <a:moveTo>
                  <a:pt x="0" y="0"/>
                </a:moveTo>
                <a:lnTo>
                  <a:pt x="456628" y="0"/>
                </a:lnTo>
                <a:lnTo>
                  <a:pt x="456628" y="456628"/>
                </a:lnTo>
                <a:lnTo>
                  <a:pt x="0" y="456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5545836" y="3086100"/>
            <a:ext cx="2743200" cy="548640"/>
            <a:chOff x="0" y="0"/>
            <a:chExt cx="36576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545836" y="3086100"/>
            <a:ext cx="2743200" cy="548640"/>
            <a:chOff x="0" y="0"/>
            <a:chExt cx="36576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2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5259010" y="4582354"/>
            <a:ext cx="3316843" cy="2562463"/>
          </a:xfrm>
          <a:custGeom>
            <a:avLst/>
            <a:gdLst/>
            <a:ahLst/>
            <a:cxnLst/>
            <a:rect r="r" b="b" t="t" l="l"/>
            <a:pathLst>
              <a:path h="2562463" w="3316843">
                <a:moveTo>
                  <a:pt x="0" y="0"/>
                </a:moveTo>
                <a:lnTo>
                  <a:pt x="3316843" y="0"/>
                </a:lnTo>
                <a:lnTo>
                  <a:pt x="3316843" y="2562463"/>
                </a:lnTo>
                <a:lnTo>
                  <a:pt x="0" y="256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5545836" y="4869180"/>
            <a:ext cx="2743200" cy="685800"/>
            <a:chOff x="0" y="0"/>
            <a:chExt cx="36576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6" r="0" b="-2788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545836" y="4869180"/>
            <a:ext cx="2743200" cy="685800"/>
            <a:chOff x="0" y="0"/>
            <a:chExt cx="36576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3657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8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Model training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45836" y="5554980"/>
            <a:ext cx="2743200" cy="1636805"/>
            <a:chOff x="0" y="0"/>
            <a:chExt cx="3657600" cy="218240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2182368"/>
            </a:xfrm>
            <a:custGeom>
              <a:avLst/>
              <a:gdLst/>
              <a:ahLst/>
              <a:cxnLst/>
              <a:rect r="r" b="b" t="t" l="l"/>
              <a:pathLst>
                <a:path h="2182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82368"/>
                  </a:lnTo>
                  <a:lnTo>
                    <a:pt x="0" y="2182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609" t="0" r="-26609" b="-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545836" y="5512118"/>
            <a:ext cx="2743200" cy="1679671"/>
            <a:chOff x="0" y="0"/>
            <a:chExt cx="3657600" cy="223956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2239565"/>
            </a:xfrm>
            <a:custGeom>
              <a:avLst/>
              <a:gdLst/>
              <a:ahLst/>
              <a:cxnLst/>
              <a:rect r="r" b="b" t="t" l="l"/>
              <a:pathLst>
                <a:path h="223956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239565"/>
                  </a:lnTo>
                  <a:lnTo>
                    <a:pt x="0" y="2239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560" t="0" r="-2856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3657600" cy="2306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4"/>
                </a:lnSpc>
              </a:pPr>
              <a:r>
                <a:rPr lang="en-US" sz="194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Train &amp; validate models on price + sentiment data (6–8 wks).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1137678" y="3886486"/>
            <a:ext cx="456629" cy="456628"/>
          </a:xfrm>
          <a:custGeom>
            <a:avLst/>
            <a:gdLst/>
            <a:ahLst/>
            <a:cxnLst/>
            <a:rect r="r" b="b" t="t" l="l"/>
            <a:pathLst>
              <a:path h="456628" w="456629">
                <a:moveTo>
                  <a:pt x="0" y="0"/>
                </a:moveTo>
                <a:lnTo>
                  <a:pt x="456628" y="0"/>
                </a:lnTo>
                <a:lnTo>
                  <a:pt x="456628" y="456628"/>
                </a:lnTo>
                <a:lnTo>
                  <a:pt x="0" y="456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9994392" y="3086100"/>
            <a:ext cx="2743200" cy="548640"/>
            <a:chOff x="0" y="0"/>
            <a:chExt cx="36576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994392" y="3086100"/>
            <a:ext cx="2743200" cy="548640"/>
            <a:chOff x="0" y="0"/>
            <a:chExt cx="36576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3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9707566" y="4582354"/>
            <a:ext cx="3316843" cy="2562463"/>
          </a:xfrm>
          <a:custGeom>
            <a:avLst/>
            <a:gdLst/>
            <a:ahLst/>
            <a:cxnLst/>
            <a:rect r="r" b="b" t="t" l="l"/>
            <a:pathLst>
              <a:path h="2562463" w="3316843">
                <a:moveTo>
                  <a:pt x="0" y="0"/>
                </a:moveTo>
                <a:lnTo>
                  <a:pt x="3316843" y="0"/>
                </a:lnTo>
                <a:lnTo>
                  <a:pt x="3316843" y="2562463"/>
                </a:lnTo>
                <a:lnTo>
                  <a:pt x="0" y="256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994392" y="4869180"/>
            <a:ext cx="2743200" cy="772639"/>
            <a:chOff x="0" y="0"/>
            <a:chExt cx="3657600" cy="103018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1030224"/>
            </a:xfrm>
            <a:custGeom>
              <a:avLst/>
              <a:gdLst/>
              <a:ahLst/>
              <a:cxnLst/>
              <a:rect r="r" b="b" t="t" l="l"/>
              <a:pathLst>
                <a:path h="10302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30224"/>
                  </a:lnTo>
                  <a:lnTo>
                    <a:pt x="0" y="1030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30" r="0" b="-19128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994392" y="4869180"/>
            <a:ext cx="2743200" cy="863205"/>
            <a:chOff x="0" y="0"/>
            <a:chExt cx="3657600" cy="11509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57600" cy="1150944"/>
            </a:xfrm>
            <a:custGeom>
              <a:avLst/>
              <a:gdLst/>
              <a:ahLst/>
              <a:cxnLst/>
              <a:rect r="r" b="b" t="t" l="l"/>
              <a:pathLst>
                <a:path h="1150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50944"/>
                  </a:lnTo>
                  <a:lnTo>
                    <a:pt x="0" y="1150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67" r="0" b="-66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3657600" cy="1141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8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Real-time inference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994392" y="5554980"/>
            <a:ext cx="2743200" cy="1508760"/>
            <a:chOff x="0" y="0"/>
            <a:chExt cx="3657600" cy="2011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5" t="0" r="-20616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994392" y="5512118"/>
            <a:ext cx="2743200" cy="1551622"/>
            <a:chOff x="0" y="0"/>
            <a:chExt cx="3657600" cy="20688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0" cy="2068830"/>
            </a:xfrm>
            <a:custGeom>
              <a:avLst/>
              <a:gdLst/>
              <a:ahLst/>
              <a:cxnLst/>
              <a:rect r="r" b="b" t="t" l="l"/>
              <a:pathLst>
                <a:path h="206883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68830"/>
                  </a:lnTo>
                  <a:lnTo>
                    <a:pt x="0" y="2068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571" t="0" r="-2257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3657600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4"/>
                </a:lnSpc>
              </a:pPr>
              <a:r>
                <a:rPr lang="en-US" sz="1948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 sub-second inference engine (3–4 wks).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5586234" y="3886486"/>
            <a:ext cx="456628" cy="456628"/>
          </a:xfrm>
          <a:custGeom>
            <a:avLst/>
            <a:gdLst/>
            <a:ahLst/>
            <a:cxnLst/>
            <a:rect r="r" b="b" t="t" l="l"/>
            <a:pathLst>
              <a:path h="456628" w="456628">
                <a:moveTo>
                  <a:pt x="0" y="0"/>
                </a:moveTo>
                <a:lnTo>
                  <a:pt x="456628" y="0"/>
                </a:lnTo>
                <a:lnTo>
                  <a:pt x="456628" y="456628"/>
                </a:lnTo>
                <a:lnTo>
                  <a:pt x="0" y="456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4442948" y="3086100"/>
            <a:ext cx="2743200" cy="548640"/>
            <a:chOff x="0" y="0"/>
            <a:chExt cx="36576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442948" y="3086100"/>
            <a:ext cx="2743200" cy="548640"/>
            <a:chOff x="0" y="0"/>
            <a:chExt cx="365760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DCA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4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4156122" y="4582354"/>
            <a:ext cx="3316843" cy="2562463"/>
          </a:xfrm>
          <a:custGeom>
            <a:avLst/>
            <a:gdLst/>
            <a:ahLst/>
            <a:cxnLst/>
            <a:rect r="r" b="b" t="t" l="l"/>
            <a:pathLst>
              <a:path h="2562463" w="3316843">
                <a:moveTo>
                  <a:pt x="0" y="0"/>
                </a:moveTo>
                <a:lnTo>
                  <a:pt x="3316843" y="0"/>
                </a:lnTo>
                <a:lnTo>
                  <a:pt x="3316843" y="2562463"/>
                </a:lnTo>
                <a:lnTo>
                  <a:pt x="0" y="256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4442948" y="4869180"/>
            <a:ext cx="2743200" cy="685800"/>
            <a:chOff x="0" y="0"/>
            <a:chExt cx="36576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6" r="0" b="-27886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442948" y="4869180"/>
            <a:ext cx="2743200" cy="685800"/>
            <a:chOff x="0" y="0"/>
            <a:chExt cx="3657600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9525"/>
              <a:ext cx="3657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8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Alerts &amp; rollout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442948" y="5554980"/>
            <a:ext cx="2743200" cy="1508760"/>
            <a:chOff x="0" y="0"/>
            <a:chExt cx="3657600" cy="2011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5" t="0" r="-20616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442948" y="5512118"/>
            <a:ext cx="2743200" cy="1551622"/>
            <a:chOff x="0" y="0"/>
            <a:chExt cx="3657600" cy="206883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57600" cy="2068830"/>
            </a:xfrm>
            <a:custGeom>
              <a:avLst/>
              <a:gdLst/>
              <a:ahLst/>
              <a:cxnLst/>
              <a:rect r="r" b="b" t="t" l="l"/>
              <a:pathLst>
                <a:path h="206883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68830"/>
                  </a:lnTo>
                  <a:lnTo>
                    <a:pt x="0" y="2068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571" t="0" r="-2257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3657600" cy="2125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049">
                  <a:solidFill>
                    <a:srgbClr val="9A9A9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Ship alerts &amp; onboard early users (2–3 wks).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07</a:t>
              </a: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3600498" y="4049087"/>
            <a:ext cx="1945338" cy="734368"/>
          </a:xfrm>
          <a:custGeom>
            <a:avLst/>
            <a:gdLst/>
            <a:ahLst/>
            <a:cxnLst/>
            <a:rect r="r" b="b" t="t" l="l"/>
            <a:pathLst>
              <a:path h="734368" w="1945338">
                <a:moveTo>
                  <a:pt x="0" y="0"/>
                </a:moveTo>
                <a:lnTo>
                  <a:pt x="1945338" y="0"/>
                </a:lnTo>
                <a:lnTo>
                  <a:pt x="1945338" y="734368"/>
                </a:lnTo>
                <a:lnTo>
                  <a:pt x="0" y="734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95" r="0" b="-395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2497610" y="3954504"/>
            <a:ext cx="1945338" cy="734368"/>
          </a:xfrm>
          <a:custGeom>
            <a:avLst/>
            <a:gdLst/>
            <a:ahLst/>
            <a:cxnLst/>
            <a:rect r="r" b="b" t="t" l="l"/>
            <a:pathLst>
              <a:path h="734368" w="1945338">
                <a:moveTo>
                  <a:pt x="0" y="0"/>
                </a:moveTo>
                <a:lnTo>
                  <a:pt x="1945338" y="0"/>
                </a:lnTo>
                <a:lnTo>
                  <a:pt x="1945338" y="734368"/>
                </a:lnTo>
                <a:lnTo>
                  <a:pt x="0" y="734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95" r="0" b="-395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8289036" y="3954504"/>
            <a:ext cx="1945338" cy="734368"/>
          </a:xfrm>
          <a:custGeom>
            <a:avLst/>
            <a:gdLst/>
            <a:ahLst/>
            <a:cxnLst/>
            <a:rect r="r" b="b" t="t" l="l"/>
            <a:pathLst>
              <a:path h="734368" w="1945338">
                <a:moveTo>
                  <a:pt x="0" y="0"/>
                </a:moveTo>
                <a:lnTo>
                  <a:pt x="1945338" y="0"/>
                </a:lnTo>
                <a:lnTo>
                  <a:pt x="1945338" y="734368"/>
                </a:lnTo>
                <a:lnTo>
                  <a:pt x="0" y="734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95" r="0" b="-39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446791"/>
            <a:ext cx="5514139" cy="866516"/>
            <a:chOff x="0" y="0"/>
            <a:chExt cx="5689790" cy="8941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727" cy="894080"/>
            </a:xfrm>
            <a:custGeom>
              <a:avLst/>
              <a:gdLst/>
              <a:ahLst/>
              <a:cxnLst/>
              <a:rect r="r" b="b" t="t" l="l"/>
              <a:pathLst>
                <a:path h="894080" w="5689727">
                  <a:moveTo>
                    <a:pt x="0" y="447040"/>
                  </a:moveTo>
                  <a:cubicBezTo>
                    <a:pt x="0" y="200152"/>
                    <a:pt x="302514" y="0"/>
                    <a:pt x="675640" y="0"/>
                  </a:cubicBezTo>
                  <a:lnTo>
                    <a:pt x="5014087" y="0"/>
                  </a:lnTo>
                  <a:cubicBezTo>
                    <a:pt x="5387213" y="0"/>
                    <a:pt x="5689727" y="200152"/>
                    <a:pt x="5689727" y="447040"/>
                  </a:cubicBezTo>
                  <a:cubicBezTo>
                    <a:pt x="5689727" y="693928"/>
                    <a:pt x="5387213" y="894080"/>
                    <a:pt x="5014087" y="894080"/>
                  </a:cubicBezTo>
                  <a:lnTo>
                    <a:pt x="675640" y="894080"/>
                  </a:lnTo>
                  <a:cubicBezTo>
                    <a:pt x="302514" y="894080"/>
                    <a:pt x="0" y="693928"/>
                    <a:pt x="0" y="447040"/>
                  </a:cubicBezTo>
                  <a:close/>
                </a:path>
              </a:pathLst>
            </a:custGeom>
            <a:solidFill>
              <a:srgbClr val="0F6E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180" y="978013"/>
            <a:ext cx="1407029" cy="281840"/>
            <a:chOff x="0" y="0"/>
            <a:chExt cx="4107891" cy="8228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07942" cy="822833"/>
            </a:xfrm>
            <a:custGeom>
              <a:avLst/>
              <a:gdLst/>
              <a:ahLst/>
              <a:cxnLst/>
              <a:rect r="r" b="b" t="t" l="l"/>
              <a:pathLst>
                <a:path h="822833" w="4107942">
                  <a:moveTo>
                    <a:pt x="0" y="0"/>
                  </a:moveTo>
                  <a:lnTo>
                    <a:pt x="4107942" y="0"/>
                  </a:lnTo>
                  <a:lnTo>
                    <a:pt x="4107942" y="822833"/>
                  </a:lnTo>
                  <a:lnTo>
                    <a:pt x="0" y="822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207" r="1" b="-472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7008" y="387477"/>
            <a:ext cx="4918138" cy="985145"/>
            <a:chOff x="0" y="0"/>
            <a:chExt cx="4107891" cy="82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07887" cy="822852"/>
            </a:xfrm>
            <a:custGeom>
              <a:avLst/>
              <a:gdLst/>
              <a:ahLst/>
              <a:cxnLst/>
              <a:rect r="r" b="b" t="t" l="l"/>
              <a:pathLst>
                <a:path h="822852" w="4107887">
                  <a:moveTo>
                    <a:pt x="0" y="0"/>
                  </a:moveTo>
                  <a:lnTo>
                    <a:pt x="4107887" y="0"/>
                  </a:lnTo>
                  <a:lnTo>
                    <a:pt x="4107887" y="822852"/>
                  </a:lnTo>
                  <a:lnTo>
                    <a:pt x="0" y="822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274" r="0" b="-472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107891" cy="8133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49"/>
                </a:lnSpc>
              </a:pPr>
              <a:r>
                <a:rPr lang="en-US" sz="3623" b="true">
                  <a:solidFill>
                    <a:srgbClr val="E1F5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7008" y="1374743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82" r="0" b="-2271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7008" y="1374743"/>
            <a:ext cx="16596360" cy="1165860"/>
            <a:chOff x="0" y="0"/>
            <a:chExt cx="22128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284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future of intelligent trading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3142174"/>
            <a:ext cx="8048863" cy="1533763"/>
          </a:xfrm>
          <a:custGeom>
            <a:avLst/>
            <a:gdLst/>
            <a:ahLst/>
            <a:cxnLst/>
            <a:rect r="r" b="b" t="t" l="l"/>
            <a:pathLst>
              <a:path h="1533763" w="8048863">
                <a:moveTo>
                  <a:pt x="0" y="0"/>
                </a:moveTo>
                <a:lnTo>
                  <a:pt x="8048863" y="0"/>
                </a:lnTo>
                <a:lnTo>
                  <a:pt x="8048863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07008" y="3675888"/>
            <a:ext cx="466344" cy="466344"/>
            <a:chOff x="0" y="0"/>
            <a:chExt cx="62179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6E56">
                <a:alpha val="5176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008" y="3675888"/>
            <a:ext cx="466344" cy="466344"/>
            <a:chOff x="0" y="0"/>
            <a:chExt cx="621792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008" y="3668744"/>
            <a:ext cx="466344" cy="473488"/>
            <a:chOff x="0" y="0"/>
            <a:chExt cx="621792" cy="6313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" cy="631317"/>
            </a:xfrm>
            <a:custGeom>
              <a:avLst/>
              <a:gdLst/>
              <a:ahLst/>
              <a:cxnLst/>
              <a:rect r="r" b="b" t="t" l="l"/>
              <a:pathLst>
                <a:path h="63131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269" t="0" r="-8026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DCAA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88820" y="3154680"/>
            <a:ext cx="6652260" cy="1508760"/>
            <a:chOff x="0" y="0"/>
            <a:chExt cx="8869680" cy="2011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69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51" r="0" b="-3585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88820" y="3118961"/>
            <a:ext cx="6652260" cy="1544479"/>
            <a:chOff x="0" y="0"/>
            <a:chExt cx="8869680" cy="20593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69680" cy="2059305"/>
            </a:xfrm>
            <a:custGeom>
              <a:avLst/>
              <a:gdLst/>
              <a:ahLst/>
              <a:cxnLst/>
              <a:rect r="r" b="b" t="t" l="l"/>
              <a:pathLst>
                <a:path h="2059305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59305"/>
                  </a:lnTo>
                  <a:lnTo>
                    <a:pt x="0" y="2059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869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E4E4D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24/7 AI co-pilot  always on, unlike human traders.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177214" y="3142174"/>
            <a:ext cx="8048863" cy="1533763"/>
          </a:xfrm>
          <a:custGeom>
            <a:avLst/>
            <a:gdLst/>
            <a:ahLst/>
            <a:cxnLst/>
            <a:rect r="r" b="b" t="t" l="l"/>
            <a:pathLst>
              <a:path h="1533763" w="8048863">
                <a:moveTo>
                  <a:pt x="0" y="0"/>
                </a:moveTo>
                <a:lnTo>
                  <a:pt x="8048863" y="0"/>
                </a:lnTo>
                <a:lnTo>
                  <a:pt x="8048863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573768" y="3675888"/>
            <a:ext cx="466344" cy="466344"/>
            <a:chOff x="0" y="0"/>
            <a:chExt cx="621792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6E56">
                <a:alpha val="51765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73768" y="3675888"/>
            <a:ext cx="466344" cy="466344"/>
            <a:chOff x="0" y="0"/>
            <a:chExt cx="621792" cy="6217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73768" y="3668744"/>
            <a:ext cx="466344" cy="473488"/>
            <a:chOff x="0" y="0"/>
            <a:chExt cx="621792" cy="6313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792" cy="631317"/>
            </a:xfrm>
            <a:custGeom>
              <a:avLst/>
              <a:gdLst/>
              <a:ahLst/>
              <a:cxnLst/>
              <a:rect r="r" b="b" t="t" l="l"/>
              <a:pathLst>
                <a:path h="63131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269" t="0" r="-8026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DCAA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355580" y="3154680"/>
            <a:ext cx="6652260" cy="1508760"/>
            <a:chOff x="0" y="0"/>
            <a:chExt cx="8869680" cy="2011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51" r="0" b="-3585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355580" y="3118961"/>
            <a:ext cx="6652260" cy="1544479"/>
            <a:chOff x="0" y="0"/>
            <a:chExt cx="8869680" cy="20593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69680" cy="2059305"/>
            </a:xfrm>
            <a:custGeom>
              <a:avLst/>
              <a:gdLst/>
              <a:ahLst/>
              <a:cxnLst/>
              <a:rect r="r" b="b" t="t" l="l"/>
              <a:pathLst>
                <a:path h="2059305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59305"/>
                  </a:lnTo>
                  <a:lnTo>
                    <a:pt x="0" y="2059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8869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E4E4D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Adapts instantly to shifting price &amp; sentiment data.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810454" y="4993834"/>
            <a:ext cx="8048863" cy="1533763"/>
          </a:xfrm>
          <a:custGeom>
            <a:avLst/>
            <a:gdLst/>
            <a:ahLst/>
            <a:cxnLst/>
            <a:rect r="r" b="b" t="t" l="l"/>
            <a:pathLst>
              <a:path h="1533763" w="8048863">
                <a:moveTo>
                  <a:pt x="0" y="0"/>
                </a:moveTo>
                <a:lnTo>
                  <a:pt x="8048863" y="0"/>
                </a:lnTo>
                <a:lnTo>
                  <a:pt x="8048863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207008" y="5527548"/>
            <a:ext cx="466344" cy="466344"/>
            <a:chOff x="0" y="0"/>
            <a:chExt cx="621792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6E56">
                <a:alpha val="51765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7008" y="5527548"/>
            <a:ext cx="466344" cy="466344"/>
            <a:chOff x="0" y="0"/>
            <a:chExt cx="621792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7008" y="5520404"/>
            <a:ext cx="466344" cy="473488"/>
            <a:chOff x="0" y="0"/>
            <a:chExt cx="621792" cy="63131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" cy="631317"/>
            </a:xfrm>
            <a:custGeom>
              <a:avLst/>
              <a:gdLst/>
              <a:ahLst/>
              <a:cxnLst/>
              <a:rect r="r" b="b" t="t" l="l"/>
              <a:pathLst>
                <a:path h="63131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269" t="0" r="-8026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DCAA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88820" y="5006340"/>
            <a:ext cx="6652260" cy="1508760"/>
            <a:chOff x="0" y="0"/>
            <a:chExt cx="8869680" cy="2011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69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51" r="0" b="-3585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88820" y="4970621"/>
            <a:ext cx="6652260" cy="1544479"/>
            <a:chOff x="0" y="0"/>
            <a:chExt cx="8869680" cy="205930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69680" cy="2059305"/>
            </a:xfrm>
            <a:custGeom>
              <a:avLst/>
              <a:gdLst/>
              <a:ahLst/>
              <a:cxnLst/>
              <a:rect r="r" b="b" t="t" l="l"/>
              <a:pathLst>
                <a:path h="2059305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59305"/>
                  </a:lnTo>
                  <a:lnTo>
                    <a:pt x="0" y="2059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869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E4E4D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Milliseconds, not minutes, for faster decisions.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177214" y="4993834"/>
            <a:ext cx="8048863" cy="1533763"/>
          </a:xfrm>
          <a:custGeom>
            <a:avLst/>
            <a:gdLst/>
            <a:ahLst/>
            <a:cxnLst/>
            <a:rect r="r" b="b" t="t" l="l"/>
            <a:pathLst>
              <a:path h="1533763" w="8048863">
                <a:moveTo>
                  <a:pt x="0" y="0"/>
                </a:moveTo>
                <a:lnTo>
                  <a:pt x="8048863" y="0"/>
                </a:lnTo>
                <a:lnTo>
                  <a:pt x="8048863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573768" y="5527548"/>
            <a:ext cx="466344" cy="466344"/>
            <a:chOff x="0" y="0"/>
            <a:chExt cx="621792" cy="621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6E56">
                <a:alpha val="51765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573768" y="5527548"/>
            <a:ext cx="466344" cy="466344"/>
            <a:chOff x="0" y="0"/>
            <a:chExt cx="621792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73768" y="5520404"/>
            <a:ext cx="466344" cy="473488"/>
            <a:chOff x="0" y="0"/>
            <a:chExt cx="621792" cy="63131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21792" cy="631317"/>
            </a:xfrm>
            <a:custGeom>
              <a:avLst/>
              <a:gdLst/>
              <a:ahLst/>
              <a:cxnLst/>
              <a:rect r="r" b="b" t="t" l="l"/>
              <a:pathLst>
                <a:path h="63131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269" t="0" r="-8026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DCAA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355580" y="5006340"/>
            <a:ext cx="6652260" cy="1508760"/>
            <a:chOff x="0" y="0"/>
            <a:chExt cx="8869680" cy="20116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869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51" r="0" b="-3585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355580" y="4970621"/>
            <a:ext cx="6652260" cy="1544479"/>
            <a:chOff x="0" y="0"/>
            <a:chExt cx="8869680" cy="205930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69680" cy="2059305"/>
            </a:xfrm>
            <a:custGeom>
              <a:avLst/>
              <a:gdLst/>
              <a:ahLst/>
              <a:cxnLst/>
              <a:rect r="r" b="b" t="t" l="l"/>
              <a:pathLst>
                <a:path h="2059305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59305"/>
                  </a:lnTo>
                  <a:lnTo>
                    <a:pt x="0" y="2059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869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E4E4D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Tackles India's 91% F&amp;O retail loss problem head-on.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810454" y="6845494"/>
            <a:ext cx="8048863" cy="1533763"/>
          </a:xfrm>
          <a:custGeom>
            <a:avLst/>
            <a:gdLst/>
            <a:ahLst/>
            <a:cxnLst/>
            <a:rect r="r" b="b" t="t" l="l"/>
            <a:pathLst>
              <a:path h="1533763" w="8048863">
                <a:moveTo>
                  <a:pt x="0" y="0"/>
                </a:moveTo>
                <a:lnTo>
                  <a:pt x="8048863" y="0"/>
                </a:lnTo>
                <a:lnTo>
                  <a:pt x="8048863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07008" y="7379208"/>
            <a:ext cx="466344" cy="466344"/>
            <a:chOff x="0" y="0"/>
            <a:chExt cx="621792" cy="6217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6E56">
                <a:alpha val="51765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07008" y="7379208"/>
            <a:ext cx="466344" cy="466344"/>
            <a:chOff x="0" y="0"/>
            <a:chExt cx="621792" cy="6217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07008" y="7372064"/>
            <a:ext cx="466344" cy="473488"/>
            <a:chOff x="0" y="0"/>
            <a:chExt cx="621792" cy="63131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1792" cy="631317"/>
            </a:xfrm>
            <a:custGeom>
              <a:avLst/>
              <a:gdLst/>
              <a:ahLst/>
              <a:cxnLst/>
              <a:rect r="r" b="b" t="t" l="l"/>
              <a:pathLst>
                <a:path h="63131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269" t="0" r="-80269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DCAA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988820" y="6858000"/>
            <a:ext cx="6652260" cy="1508760"/>
            <a:chOff x="0" y="0"/>
            <a:chExt cx="8869680" cy="2011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869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51" r="0" b="-35851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988820" y="6822281"/>
            <a:ext cx="6652260" cy="1544479"/>
            <a:chOff x="0" y="0"/>
            <a:chExt cx="8869680" cy="205930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869680" cy="2059305"/>
            </a:xfrm>
            <a:custGeom>
              <a:avLst/>
              <a:gdLst/>
              <a:ahLst/>
              <a:cxnLst/>
              <a:rect r="r" b="b" t="t" l="l"/>
              <a:pathLst>
                <a:path h="2059305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59305"/>
                  </a:lnTo>
                  <a:lnTo>
                    <a:pt x="0" y="2059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8869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E4E4D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 to 94% directional accuracy from real-time AI.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9177214" y="6845494"/>
            <a:ext cx="8048863" cy="1533763"/>
          </a:xfrm>
          <a:custGeom>
            <a:avLst/>
            <a:gdLst/>
            <a:ahLst/>
            <a:cxnLst/>
            <a:rect r="r" b="b" t="t" l="l"/>
            <a:pathLst>
              <a:path h="1533763" w="8048863">
                <a:moveTo>
                  <a:pt x="0" y="0"/>
                </a:moveTo>
                <a:lnTo>
                  <a:pt x="8048863" y="0"/>
                </a:lnTo>
                <a:lnTo>
                  <a:pt x="8048863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9573768" y="7379208"/>
            <a:ext cx="466344" cy="466344"/>
            <a:chOff x="0" y="0"/>
            <a:chExt cx="621792" cy="6217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6E56">
                <a:alpha val="51765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73768" y="7379208"/>
            <a:ext cx="466344" cy="466344"/>
            <a:chOff x="0" y="0"/>
            <a:chExt cx="621792" cy="6217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573768" y="7372064"/>
            <a:ext cx="466344" cy="473488"/>
            <a:chOff x="0" y="0"/>
            <a:chExt cx="621792" cy="63131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21792" cy="631317"/>
            </a:xfrm>
            <a:custGeom>
              <a:avLst/>
              <a:gdLst/>
              <a:ahLst/>
              <a:cxnLst/>
              <a:rect r="r" b="b" t="t" l="l"/>
              <a:pathLst>
                <a:path h="63131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269" t="0" r="-80269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DCAA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355580" y="6858000"/>
            <a:ext cx="6652260" cy="1508760"/>
            <a:chOff x="0" y="0"/>
            <a:chExt cx="8869680" cy="2011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869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51" r="0" b="-35851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355580" y="6822281"/>
            <a:ext cx="6652260" cy="1544479"/>
            <a:chOff x="0" y="0"/>
            <a:chExt cx="8869680" cy="205930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869680" cy="2059305"/>
            </a:xfrm>
            <a:custGeom>
              <a:avLst/>
              <a:gdLst/>
              <a:ahLst/>
              <a:cxnLst/>
              <a:rect r="r" b="b" t="t" l="l"/>
              <a:pathLst>
                <a:path h="2059305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059305"/>
                  </a:lnTo>
                  <a:lnTo>
                    <a:pt x="0" y="2059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8869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E4E4D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Cuts the data lag holding back 13.6 crore investors.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10454" y="9657274"/>
            <a:ext cx="16662511" cy="25003"/>
            <a:chOff x="0" y="0"/>
            <a:chExt cx="22216682" cy="3333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22960" y="9765792"/>
            <a:ext cx="10972800" cy="411480"/>
            <a:chOff x="0" y="0"/>
            <a:chExt cx="1463040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Team Infinitix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1" r="0" b="-1036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6184880" y="9765792"/>
            <a:ext cx="1275588" cy="411480"/>
            <a:chOff x="0" y="0"/>
            <a:chExt cx="1700784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700784" cy="548640"/>
            </a:xfrm>
            <a:custGeom>
              <a:avLst/>
              <a:gdLst/>
              <a:ahLst/>
              <a:cxnLst/>
              <a:rect r="r" b="b" t="t" l="l"/>
              <a:pathLst>
                <a:path h="548640" w="1700784">
                  <a:moveTo>
                    <a:pt x="0" y="0"/>
                  </a:moveTo>
                  <a:lnTo>
                    <a:pt x="1700784" y="0"/>
                  </a:lnTo>
                  <a:lnTo>
                    <a:pt x="1700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7007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6E6E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977640"/>
            <a:ext cx="16596360" cy="1783080"/>
            <a:chOff x="0" y="0"/>
            <a:chExt cx="2212848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34" r="0" b="-13123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3977640"/>
            <a:ext cx="16596360" cy="1857330"/>
            <a:chOff x="0" y="0"/>
            <a:chExt cx="22128480" cy="2476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76440"/>
            </a:xfrm>
            <a:custGeom>
              <a:avLst/>
              <a:gdLst/>
              <a:ahLst/>
              <a:cxnLst/>
              <a:rect r="r" b="b" t="t" l="l"/>
              <a:pathLst>
                <a:path h="24764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476440"/>
                  </a:lnTo>
                  <a:lnTo>
                    <a:pt x="0" y="2476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109" r="0" b="-1221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2128480" cy="246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159"/>
                </a:lnSpc>
              </a:pPr>
              <a:r>
                <a:rPr lang="en-US" sz="929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554980"/>
            <a:ext cx="16596360" cy="685800"/>
            <a:chOff x="0" y="0"/>
            <a:chExt cx="2212848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209" r="0" b="-4212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554980"/>
            <a:ext cx="16596360" cy="685800"/>
            <a:chOff x="0" y="0"/>
            <a:chExt cx="221284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284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>
                  <a:solidFill>
                    <a:srgbClr val="85B7E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Aegis Analytics AI  ·  An intelligent stock market assistant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454" y="8971474"/>
            <a:ext cx="16662511" cy="25003"/>
            <a:chOff x="0" y="0"/>
            <a:chExt cx="22216682" cy="33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16745" cy="33401"/>
            </a:xfrm>
            <a:custGeom>
              <a:avLst/>
              <a:gdLst/>
              <a:ahLst/>
              <a:cxnLst/>
              <a:rect r="r" b="b" t="t" l="l"/>
              <a:pathLst>
                <a:path h="33401" w="22216745">
                  <a:moveTo>
                    <a:pt x="0" y="0"/>
                  </a:moveTo>
                  <a:lnTo>
                    <a:pt x="22216745" y="3340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901558" r="0" b="-12901368"/>
              </a:stretch>
            </a:blipFill>
            <a:ln w="14288" cap="sq">
              <a:solidFill>
                <a:srgbClr val="1B2E4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217152"/>
            <a:ext cx="8229600" cy="891540"/>
            <a:chOff x="0" y="0"/>
            <a:chExt cx="10972800" cy="1188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737" r="0" b="-12973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152858"/>
            <a:ext cx="8229600" cy="955834"/>
            <a:chOff x="0" y="0"/>
            <a:chExt cx="10972800" cy="12744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1274445"/>
            </a:xfrm>
            <a:custGeom>
              <a:avLst/>
              <a:gdLst/>
              <a:ahLst/>
              <a:cxnLst/>
              <a:rect r="r" b="b" t="t" l="l"/>
              <a:pathLst>
                <a:path h="12744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74445"/>
                  </a:lnTo>
                  <a:lnTo>
                    <a:pt x="0" y="1274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763" r="0" b="-1177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09728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Infinitix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A8A8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lead: Udit Rajput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89720" y="9258300"/>
            <a:ext cx="8270748" cy="685800"/>
            <a:chOff x="0" y="0"/>
            <a:chExt cx="11027664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27664" cy="914400"/>
            </a:xfrm>
            <a:custGeom>
              <a:avLst/>
              <a:gdLst/>
              <a:ahLst/>
              <a:cxnLst/>
              <a:rect r="r" b="b" t="t" l="l"/>
              <a:pathLst>
                <a:path h="914400" w="11027664">
                  <a:moveTo>
                    <a:pt x="0" y="0"/>
                  </a:moveTo>
                  <a:lnTo>
                    <a:pt x="11027664" y="0"/>
                  </a:lnTo>
                  <a:lnTo>
                    <a:pt x="110276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826" r="0" b="-18482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89720" y="9251156"/>
            <a:ext cx="8270748" cy="692944"/>
            <a:chOff x="0" y="0"/>
            <a:chExt cx="11027664" cy="9239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27664" cy="923925"/>
            </a:xfrm>
            <a:custGeom>
              <a:avLst/>
              <a:gdLst/>
              <a:ahLst/>
              <a:cxnLst/>
              <a:rect r="r" b="b" t="t" l="l"/>
              <a:pathLst>
                <a:path h="923925" w="11027664">
                  <a:moveTo>
                    <a:pt x="0" y="0"/>
                  </a:moveTo>
                  <a:lnTo>
                    <a:pt x="11027664" y="0"/>
                  </a:lnTo>
                  <a:lnTo>
                    <a:pt x="11027664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566" r="0" b="-1825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02766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99"/>
                </a:lnSpc>
              </a:pPr>
              <a:r>
                <a:rPr lang="en-US" sz="2249" i="true">
                  <a:solidFill>
                    <a:srgbClr val="8A8A8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Democratizing financial intelligence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DAHPzH8VstY</dc:identifier>
  <dcterms:modified xsi:type="dcterms:W3CDTF">2011-08-01T06:04:30Z</dcterms:modified>
  <cp:revision>1</cp:revision>
  <dc:title>Aegis_Analytics_Deck(3).pptx</dc:title>
</cp:coreProperties>
</file>