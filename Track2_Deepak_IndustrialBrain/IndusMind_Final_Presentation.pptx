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4D40"/>
                </a:solidFill>
              </a:defRPr>
            </a:pPr>
            <a:r>
              <a:t>IndusMind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Industrial Asset Intelligence &amp; RCA Copilot</a:t>
            </a:r>
          </a:p>
          <a:p/>
          <a:p>
            <a:r>
              <a:t>Speaker 1: Introduction</a:t>
            </a:r>
          </a:p>
          <a:p>
            <a:r>
              <a:t>Speaker 2: Frontend</a:t>
            </a:r>
          </a:p>
          <a:p>
            <a:r>
              <a:t>Speaker 3: AI Brain</a:t>
            </a:r>
          </a:p>
          <a:p>
            <a:r>
              <a:t>Speaker 4: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4D40"/>
                </a:solidFill>
              </a:defRPr>
            </a:pPr>
            <a:r>
              <a:t>The Problem &amp;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• Engineers waste hours digging through fragmented maintenance logs and OEM manuals.</a:t>
            </a:r>
          </a:p>
          <a:p>
            <a:pPr>
              <a:spcAft>
                <a:spcPts val="1400"/>
              </a:spcAft>
              <a:defRPr sz="2400"/>
            </a:pPr>
            <a:r>
              <a:t>• Solution: An AI-powered knowledge layer.</a:t>
            </a:r>
          </a:p>
          <a:p>
            <a:pPr>
              <a:spcAft>
                <a:spcPts val="1400"/>
              </a:spcAft>
              <a:defRPr sz="2400"/>
            </a:pPr>
            <a:r>
              <a:t>• Ask natural language questions (e.g., 'Why did Pump P-101 fail?')</a:t>
            </a:r>
          </a:p>
          <a:p>
            <a:pPr>
              <a:spcAft>
                <a:spcPts val="1400"/>
              </a:spcAft>
              <a:defRPr sz="2400"/>
            </a:pPr>
            <a:r>
              <a:t>• Get instant answers with exact citations and evidence.</a:t>
            </a:r>
          </a:p>
          <a:p>
            <a:pPr>
              <a:spcAft>
                <a:spcPts val="1400"/>
              </a:spcAft>
              <a:defRPr sz="2400"/>
            </a:pPr>
            <a:r>
              <a:t>• Tech Stack: React (Frontend), Spring Boot (Backend), FastAPI + LLaMA-3 (AI).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4D40"/>
                </a:solidFill>
              </a:defRPr>
            </a:pPr>
            <a:r>
              <a:t>The Frontend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• Built with React 19, TypeScript, and Vite.</a:t>
            </a:r>
          </a:p>
          <a:p>
            <a:pPr>
              <a:spcAft>
                <a:spcPts val="1400"/>
              </a:spcAft>
              <a:defRPr sz="2400"/>
            </a:pPr>
            <a:r>
              <a:t>• Fast, responsive, and intuitive single-page application.</a:t>
            </a:r>
          </a:p>
          <a:p>
            <a:pPr>
              <a:spcAft>
                <a:spcPts val="1400"/>
              </a:spcAft>
              <a:defRPr sz="2400"/>
            </a:pPr>
            <a:r>
              <a:t>• Secure login via JWT authentication.</a:t>
            </a:r>
          </a:p>
          <a:p>
            <a:pPr>
              <a:spcAft>
                <a:spcPts val="1400"/>
              </a:spcAft>
              <a:defRPr sz="2400"/>
            </a:pPr>
            <a:r>
              <a:t>• Features:</a:t>
            </a:r>
          </a:p>
          <a:p>
            <a:pPr>
              <a:spcAft>
                <a:spcPts val="1400"/>
              </a:spcAft>
              <a:defRPr sz="2400"/>
            </a:pPr>
            <a:r>
              <a:t>   - Command Center Dashboard</a:t>
            </a:r>
          </a:p>
          <a:p>
            <a:pPr>
              <a:spcAft>
                <a:spcPts val="1400"/>
              </a:spcAft>
              <a:defRPr sz="2400"/>
            </a:pPr>
            <a:r>
              <a:t>   - AI Copilot Interface</a:t>
            </a:r>
          </a:p>
          <a:p>
            <a:pPr>
              <a:spcAft>
                <a:spcPts val="1400"/>
              </a:spcAft>
              <a:defRPr sz="2400"/>
            </a:pPr>
            <a:r>
              <a:t>   - Asset 360° Timeline View</a:t>
            </a:r>
          </a:p>
          <a:p>
            <a:pPr>
              <a:spcAft>
                <a:spcPts val="1400"/>
              </a:spcAft>
              <a:defRPr sz="2400"/>
            </a:pPr>
            <a:r>
              <a:t>• Not a generic chatbot: specialized interface for industrial use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4D40"/>
                </a:solidFill>
              </a:defRPr>
            </a:pPr>
            <a:r>
              <a:t>The AI Brain: Privacy &amp;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• 100% On-Premise: No data sent to the cloud.</a:t>
            </a:r>
          </a:p>
          <a:p>
            <a:pPr>
              <a:spcAft>
                <a:spcPts val="1400"/>
              </a:spcAft>
              <a:defRPr sz="2400"/>
            </a:pPr>
            <a:r>
              <a:t>• Retrieval-Augmented Generation (RAG):</a:t>
            </a:r>
          </a:p>
          <a:p>
            <a:pPr>
              <a:spcAft>
                <a:spcPts val="1400"/>
              </a:spcAft>
              <a:defRPr sz="2400"/>
            </a:pPr>
            <a:r>
              <a:t>   - Embedded ChromaDB vector database.</a:t>
            </a:r>
          </a:p>
          <a:p>
            <a:pPr>
              <a:spcAft>
                <a:spcPts val="1400"/>
              </a:spcAft>
              <a:defRPr sz="2400"/>
            </a:pPr>
            <a:r>
              <a:t>   - Exact page-level source citations.</a:t>
            </a:r>
          </a:p>
          <a:p>
            <a:pPr>
              <a:spcAft>
                <a:spcPts val="1400"/>
              </a:spcAft>
              <a:defRPr sz="2400"/>
            </a:pPr>
            <a:r>
              <a:t>• Fine-Tuned Local LLM:</a:t>
            </a:r>
          </a:p>
          <a:p>
            <a:pPr>
              <a:spcAft>
                <a:spcPts val="1400"/>
              </a:spcAft>
              <a:defRPr sz="2400"/>
            </a:pPr>
            <a:r>
              <a:t>   - LLaMA-3 8B model fine-tuned using LoRA.</a:t>
            </a:r>
          </a:p>
          <a:p>
            <a:pPr>
              <a:spcAft>
                <a:spcPts val="1400"/>
              </a:spcAft>
              <a:defRPr sz="2400"/>
            </a:pPr>
            <a:r>
              <a:t>   - 4-bit quantization for fast local GPU execution.</a:t>
            </a:r>
          </a:p>
          <a:p>
            <a:pPr>
              <a:spcAft>
                <a:spcPts val="1400"/>
              </a:spcAft>
              <a:defRPr sz="2400"/>
            </a:pPr>
            <a:r>
              <a:t>   - Optimized for industrial engineering terminology.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4D40"/>
                </a:solidFill>
              </a:defRPr>
            </a:pPr>
            <a:r>
              <a:t>Backend Architecture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• Core API: Java 21 &amp; Spring Boot.</a:t>
            </a:r>
          </a:p>
          <a:p>
            <a:pPr>
              <a:spcAft>
                <a:spcPts val="1400"/>
              </a:spcAft>
              <a:defRPr sz="2400"/>
            </a:pPr>
            <a:r>
              <a:t>• Strict Security &amp; Role-Based Access Control (RBAC).</a:t>
            </a:r>
          </a:p>
          <a:p>
            <a:pPr>
              <a:spcAft>
                <a:spcPts val="1400"/>
              </a:spcAft>
              <a:defRPr sz="2400"/>
            </a:pPr>
            <a:r>
              <a:t>• PostgreSQL Database management.</a:t>
            </a:r>
          </a:p>
          <a:p>
            <a:pPr>
              <a:spcAft>
                <a:spcPts val="1400"/>
              </a:spcAft>
              <a:defRPr sz="2400"/>
            </a:pPr>
            <a:r>
              <a:t>• Conclusion:</a:t>
            </a:r>
          </a:p>
          <a:p>
            <a:pPr>
              <a:spcAft>
                <a:spcPts val="1400"/>
              </a:spcAft>
              <a:defRPr sz="2400"/>
            </a:pPr>
            <a:r>
              <a:t>   - Turns unstructured data into actionable intelligence.</a:t>
            </a:r>
          </a:p>
          <a:p>
            <a:pPr>
              <a:spcAft>
                <a:spcPts val="1400"/>
              </a:spcAft>
              <a:defRPr sz="2400"/>
            </a:pPr>
            <a:r>
              <a:t>   - Highly specialized, production-ready AI tool.</a:t>
            </a:r>
          </a:p>
          <a:p>
            <a:pPr>
              <a:spcAft>
                <a:spcPts val="1400"/>
              </a:spcAft>
              <a:defRPr sz="2400"/>
            </a:pPr>
            <a:r>
              <a:t>   - Guarantees data privacy for heavy industry.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