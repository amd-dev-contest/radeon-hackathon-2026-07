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71500"/>
            <a:ext cx="9144000" cy="7144"/>
          </a:xfrm>
          <a:prstGeom prst="rect">
            <a:avLst/>
          </a:prstGeom>
          <a:solidFill>
            <a:srgbClr val="1E2A45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143000"/>
            <a:ext cx="9144000" cy="7144"/>
          </a:xfrm>
          <a:prstGeom prst="rect">
            <a:avLst/>
          </a:prstGeom>
          <a:solidFill>
            <a:srgbClr val="1E2A45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1714500"/>
            <a:ext cx="9144000" cy="7144"/>
          </a:xfrm>
          <a:prstGeom prst="rect">
            <a:avLst/>
          </a:prstGeom>
          <a:solidFill>
            <a:srgbClr val="1E2A45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2286000"/>
            <a:ext cx="9144000" cy="7144"/>
          </a:xfrm>
          <a:prstGeom prst="rect">
            <a:avLst/>
          </a:prstGeom>
          <a:solidFill>
            <a:srgbClr val="1E2A45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2857500"/>
            <a:ext cx="9144000" cy="7144"/>
          </a:xfrm>
          <a:prstGeom prst="rect">
            <a:avLst/>
          </a:prstGeom>
          <a:solidFill>
            <a:srgbClr val="1E2A45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0" y="3429000"/>
            <a:ext cx="9144000" cy="7144"/>
          </a:xfrm>
          <a:prstGeom prst="rect">
            <a:avLst/>
          </a:prstGeom>
          <a:solidFill>
            <a:srgbClr val="1E2A45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0" y="4000500"/>
            <a:ext cx="9144000" cy="7144"/>
          </a:xfrm>
          <a:prstGeom prst="rect">
            <a:avLst/>
          </a:prstGeom>
          <a:solidFill>
            <a:srgbClr val="1E2A45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0" y="4572000"/>
            <a:ext cx="9144000" cy="7144"/>
          </a:xfrm>
          <a:prstGeom prst="rect">
            <a:avLst/>
          </a:prstGeom>
          <a:solidFill>
            <a:srgbClr val="1E2A45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018681" y="1707356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656" dirty="0">
                <a:solidFill>
                  <a:srgbClr val="00E5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3656" dirty="0"/>
          </a:p>
        </p:txBody>
      </p:sp>
      <p:sp>
        <p:nvSpPr>
          <p:cNvPr id="11" name="Text 9"/>
          <p:cNvSpPr/>
          <p:nvPr/>
        </p:nvSpPr>
        <p:spPr>
          <a:xfrm>
            <a:off x="3504456" y="1550194"/>
            <a:ext cx="3600411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3600" b="1" spc="33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TEXTOVID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692426" y="2321719"/>
            <a:ext cx="2187237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spc="113" kern="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Comic Studio</a:t>
            </a:r>
            <a:endParaRPr lang="en-US" sz="1575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1813" y="2793206"/>
            <a:ext cx="3000375" cy="2143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600562" y="2957513"/>
            <a:ext cx="2098186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spc="56" kern="0" dirty="0">
                <a:solidFill>
                  <a:srgbClr val="7C8D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AMD AI DevMaster Hackathon 2026</a:t>
            </a:r>
            <a:endParaRPr lang="en-US" sz="844" dirty="0"/>
          </a:p>
        </p:txBody>
      </p:sp>
      <p:sp>
        <p:nvSpPr>
          <p:cNvPr id="15" name="Text 12"/>
          <p:cNvSpPr/>
          <p:nvPr/>
        </p:nvSpPr>
        <p:spPr>
          <a:xfrm>
            <a:off x="2390924" y="3392638"/>
            <a:ext cx="618492" cy="212027"/>
          </a:xfrm>
          <a:prstGeom prst="roundRect">
            <a:avLst>
              <a:gd name="adj" fmla="val 89847"/>
            </a:avLst>
          </a:prstGeom>
          <a:solidFill>
            <a:srgbClr val="00E5FF">
              <a:alpha val="15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390924" y="3403997"/>
            <a:ext cx="61849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8" kern="0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ROCm 7.2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095141" y="3392638"/>
            <a:ext cx="1069107" cy="212027"/>
          </a:xfrm>
          <a:prstGeom prst="roundRect">
            <a:avLst>
              <a:gd name="adj" fmla="val 89847"/>
            </a:avLst>
          </a:prstGeom>
          <a:solidFill>
            <a:srgbClr val="00E5FF">
              <a:alpha val="15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095141" y="3403997"/>
            <a:ext cx="106910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8" kern="0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Radeon RX 7900 XTX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249973" y="3392638"/>
            <a:ext cx="1002581" cy="212027"/>
          </a:xfrm>
          <a:prstGeom prst="roundRect">
            <a:avLst>
              <a:gd name="adj" fmla="val 89847"/>
            </a:avLst>
          </a:prstGeom>
          <a:solidFill>
            <a:srgbClr val="00E5FF">
              <a:alpha val="15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249973" y="3403997"/>
            <a:ext cx="100258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8" kern="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Stable Diffusion XL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338279" y="3392638"/>
            <a:ext cx="634343" cy="212027"/>
          </a:xfrm>
          <a:prstGeom prst="roundRect">
            <a:avLst>
              <a:gd name="adj" fmla="val 89847"/>
            </a:avLst>
          </a:prstGeom>
          <a:solidFill>
            <a:srgbClr val="00E5FF">
              <a:alpha val="15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332555" y="3403997"/>
            <a:ext cx="64579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8" kern="0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Gradio 6.x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058346" y="3392638"/>
            <a:ext cx="694730" cy="212027"/>
          </a:xfrm>
          <a:prstGeom prst="roundRect">
            <a:avLst>
              <a:gd name="adj" fmla="val 89847"/>
            </a:avLst>
          </a:prstGeom>
          <a:solidFill>
            <a:srgbClr val="00E5FF">
              <a:alpha val="15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039657" y="3403997"/>
            <a:ext cx="73210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8" kern="0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Python 3.12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4752547" cy="31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913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Creating Comics Is Hard</a:t>
            </a:r>
            <a:endParaRPr lang="en-US" sz="1913" dirty="0"/>
          </a:p>
        </p:txBody>
      </p:sp>
      <p:sp>
        <p:nvSpPr>
          <p:cNvPr id="3" name="Text 1"/>
          <p:cNvSpPr/>
          <p:nvPr/>
        </p:nvSpPr>
        <p:spPr>
          <a:xfrm>
            <a:off x="457200" y="862943"/>
            <a:ext cx="4526235" cy="592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Traditional comic creation requires skilled artists, writers, letterers, and colorists working together over weeks or months. Each panel must be hand-drawn, inked, colored, and assembled — a labor-intensive process that limits creative output to professional studios with significant budgets.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531330"/>
            <a:ext cx="4526235" cy="592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image generation has made single-image creation accessible, but there is no integrated tool that turns a simple text prompt into a complete, multi-panel comic page with speech bubbles, narration, and professional layout.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199717"/>
            <a:ext cx="4526235" cy="592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Existing solutions either generate single illustrations without comic structure, or require complex manual compositing. There is no end-to-end pipeline that handles storytelling, panel art, and page assembly in one automated flow.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272757" y="460772"/>
            <a:ext cx="3284674" cy="2836069"/>
          </a:xfrm>
          <a:prstGeom prst="roundRect">
            <a:avLst>
              <a:gd name="adj" fmla="val 4030"/>
            </a:avLst>
          </a:prstGeom>
          <a:solidFill>
            <a:srgbClr val="111827"/>
          </a:solidFill>
          <a:ln w="7144">
            <a:solidFill>
              <a:srgbClr val="1E2A4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43588" y="635794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375" dirty="0">
                <a:solidFill>
                  <a:srgbClr val="B14E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3375" dirty="0"/>
          </a:p>
        </p:txBody>
      </p:sp>
      <p:sp>
        <p:nvSpPr>
          <p:cNvPr id="8" name="Shape 6"/>
          <p:cNvSpPr/>
          <p:nvPr/>
        </p:nvSpPr>
        <p:spPr>
          <a:xfrm>
            <a:off x="5447779" y="1768078"/>
            <a:ext cx="2934630" cy="0"/>
          </a:xfrm>
          <a:prstGeom prst="line">
            <a:avLst/>
          </a:prstGeom>
          <a:noFill/>
          <a:ln w="7144">
            <a:solidFill>
              <a:srgbClr val="1E2A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47779" y="1221581"/>
            <a:ext cx="2934630" cy="2583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4-6 weeks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5447779" y="1507331"/>
            <a:ext cx="304435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Average comic page creation time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47779" y="2446734"/>
            <a:ext cx="2934630" cy="0"/>
          </a:xfrm>
          <a:prstGeom prst="line">
            <a:avLst/>
          </a:prstGeom>
          <a:noFill/>
          <a:ln w="7144">
            <a:solidFill>
              <a:srgbClr val="1E2A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7779" y="1900238"/>
            <a:ext cx="2934630" cy="2583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$500-2000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5447779" y="2185988"/>
            <a:ext cx="293463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 per page (freelance)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47779" y="2578894"/>
            <a:ext cx="2934630" cy="2583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5+ specialists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5447779" y="2864644"/>
            <a:ext cx="293463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Artists needed per issue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00050"/>
            <a:ext cx="8595248" cy="333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Textovid: </a:t>
            </a:r>
            <a:pPr algn="ctr" indent="0" marL="0">
              <a:lnSpc>
                <a:spcPts val="2430"/>
              </a:lnSpc>
              <a:buNone/>
            </a:pPr>
            <a:r>
              <a:rPr lang="en-US" sz="2025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Comic Studio</a:t>
            </a:r>
            <a:endParaRPr lang="en-US" sz="2025" dirty="0"/>
          </a:p>
        </p:txBody>
      </p:sp>
      <p:sp>
        <p:nvSpPr>
          <p:cNvPr id="3" name="Text 1"/>
          <p:cNvSpPr/>
          <p:nvPr/>
        </p:nvSpPr>
        <p:spPr>
          <a:xfrm>
            <a:off x="2797113" y="794296"/>
            <a:ext cx="354977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a single text prompt to a complete 4K comic page — fully automated.</a:t>
            </a:r>
            <a:endParaRPr lang="en-US" sz="844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22921"/>
            <a:ext cx="2647876" cy="12671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0772" y="1226493"/>
            <a:ext cx="2640732" cy="1259979"/>
          </a:xfrm>
          <a:prstGeom prst="roundRect">
            <a:avLst>
              <a:gd name="adj" fmla="val 9072"/>
            </a:avLst>
          </a:prstGeom>
          <a:noFill/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35794" y="1401514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31" dirty="0">
                <a:solidFill>
                  <a:srgbClr val="00E5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2531" dirty="0"/>
          </a:p>
        </p:txBody>
      </p:sp>
      <p:sp>
        <p:nvSpPr>
          <p:cNvPr id="7" name="Text 4"/>
          <p:cNvSpPr/>
          <p:nvPr/>
        </p:nvSpPr>
        <p:spPr>
          <a:xfrm>
            <a:off x="635794" y="1758702"/>
            <a:ext cx="2290688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Dual Input</a:t>
            </a:r>
            <a:endParaRPr lang="en-US" sz="1013" dirty="0"/>
          </a:p>
        </p:txBody>
      </p:sp>
      <p:sp>
        <p:nvSpPr>
          <p:cNvPr id="8" name="Text 5"/>
          <p:cNvSpPr/>
          <p:nvPr/>
        </p:nvSpPr>
        <p:spPr>
          <a:xfrm>
            <a:off x="635794" y="1995785"/>
            <a:ext cx="2290688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Free-text story prompts or structured category selection with genre, art style, mood, and theme.</a:t>
            </a:r>
            <a:endParaRPr lang="en-US" sz="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951" y="1222921"/>
            <a:ext cx="2647987" cy="126712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51522" y="1226493"/>
            <a:ext cx="2640843" cy="1259979"/>
          </a:xfrm>
          <a:prstGeom prst="roundRect">
            <a:avLst>
              <a:gd name="adj" fmla="val 9072"/>
            </a:avLst>
          </a:prstGeom>
          <a:noFill/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3426544" y="1401514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31" dirty="0">
                <a:solidFill>
                  <a:srgbClr val="B14E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⎙</a:t>
            </a:r>
            <a:endParaRPr lang="en-US" sz="2531" dirty="0"/>
          </a:p>
        </p:txBody>
      </p:sp>
      <p:sp>
        <p:nvSpPr>
          <p:cNvPr id="12" name="Text 8"/>
          <p:cNvSpPr/>
          <p:nvPr/>
        </p:nvSpPr>
        <p:spPr>
          <a:xfrm>
            <a:off x="3426544" y="1758702"/>
            <a:ext cx="2290800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Unique Every Time</a:t>
            </a:r>
            <a:endParaRPr lang="en-US" sz="1013" dirty="0"/>
          </a:p>
        </p:txBody>
      </p:sp>
      <p:sp>
        <p:nvSpPr>
          <p:cNvPr id="13" name="Text 9"/>
          <p:cNvSpPr/>
          <p:nvPr/>
        </p:nvSpPr>
        <p:spPr>
          <a:xfrm>
            <a:off x="3426544" y="1995785"/>
            <a:ext cx="2290800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Randomized plots, characters, and settings. SHA-256 fingerprint proves no two outputs are identical.</a:t>
            </a:r>
            <a:endParaRPr lang="en-US" sz="8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813" y="1222921"/>
            <a:ext cx="2647876" cy="126712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42385" y="1226493"/>
            <a:ext cx="2640732" cy="1259979"/>
          </a:xfrm>
          <a:prstGeom prst="roundRect">
            <a:avLst>
              <a:gd name="adj" fmla="val 9072"/>
            </a:avLst>
          </a:prstGeom>
          <a:noFill/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6217407" y="1401514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31" dirty="0">
                <a:solidFill>
                  <a:srgbClr val="FF2D7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2531" dirty="0"/>
          </a:p>
        </p:txBody>
      </p:sp>
      <p:sp>
        <p:nvSpPr>
          <p:cNvPr id="17" name="Text 12"/>
          <p:cNvSpPr/>
          <p:nvPr/>
        </p:nvSpPr>
        <p:spPr>
          <a:xfrm>
            <a:off x="6217407" y="1758702"/>
            <a:ext cx="2290688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4K Output</a:t>
            </a:r>
            <a:endParaRPr lang="en-US" sz="1013" dirty="0"/>
          </a:p>
        </p:txBody>
      </p:sp>
      <p:sp>
        <p:nvSpPr>
          <p:cNvPr id="18" name="Text 13"/>
          <p:cNvSpPr/>
          <p:nvPr/>
        </p:nvSpPr>
        <p:spPr>
          <a:xfrm>
            <a:off x="6217407" y="1995785"/>
            <a:ext cx="2290688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2480x3508 pixel comic pages with speech bubbles, narration, SFX, and title page.</a:t>
            </a:r>
            <a:endParaRPr lang="en-US" sz="8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747218"/>
            <a:ext cx="2286000" cy="142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28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Multimodal Pipeline Architecture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717166"/>
            <a:ext cx="8636000" cy="186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9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stages from text to finished comic page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058614"/>
            <a:ext cx="8229600" cy="560003"/>
          </a:xfrm>
          <a:prstGeom prst="roundRect">
            <a:avLst>
              <a:gd name="adj" fmla="val 17009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062186"/>
            <a:ext cx="8229600" cy="0"/>
          </a:xfrm>
          <a:prstGeom prst="line">
            <a:avLst/>
          </a:prstGeom>
          <a:noFill/>
          <a:ln w="7144">
            <a:solidFill>
              <a:srgbClr val="1E2A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3228" y="1058614"/>
            <a:ext cx="0" cy="560003"/>
          </a:xfrm>
          <a:prstGeom prst="line">
            <a:avLst/>
          </a:prstGeom>
          <a:noFill/>
          <a:ln w="7144">
            <a:solidFill>
              <a:srgbClr val="1E2A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15046"/>
            <a:ext cx="8229600" cy="0"/>
          </a:xfrm>
          <a:prstGeom prst="line">
            <a:avLst/>
          </a:prstGeom>
          <a:noFill/>
          <a:ln w="7144">
            <a:solidFill>
              <a:srgbClr val="1E2A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1488" y="1058614"/>
            <a:ext cx="0" cy="560003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8650" y="1195685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00E5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7224" y="1214259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E5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1" name="Text 9"/>
          <p:cNvSpPr/>
          <p:nvPr/>
        </p:nvSpPr>
        <p:spPr>
          <a:xfrm>
            <a:off x="1028700" y="1180058"/>
            <a:ext cx="7352911" cy="1610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Uniqueness Engine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8700" y="1368586"/>
            <a:ext cx="700277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CPU-based randomization of plot structure, character traits, settings, and twists.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130132" y="1232547"/>
            <a:ext cx="422289" cy="212027"/>
          </a:xfrm>
          <a:prstGeom prst="roundRect">
            <a:avLst>
              <a:gd name="adj" fmla="val 89847"/>
            </a:avLst>
          </a:prstGeom>
          <a:solidFill>
            <a:srgbClr val="00E5FF">
              <a:alpha val="15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45773" y="1243905"/>
            <a:ext cx="39100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8" kern="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CPU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486275" y="161861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7C8D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457200" y="1790067"/>
            <a:ext cx="8229600" cy="560003"/>
          </a:xfrm>
          <a:prstGeom prst="roundRect">
            <a:avLst>
              <a:gd name="adj" fmla="val 17009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57200" y="1793639"/>
            <a:ext cx="8229600" cy="0"/>
          </a:xfrm>
          <a:prstGeom prst="line">
            <a:avLst/>
          </a:prstGeom>
          <a:noFill/>
          <a:ln w="7144">
            <a:solidFill>
              <a:srgbClr val="1E2A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3228" y="1790067"/>
            <a:ext cx="0" cy="560003"/>
          </a:xfrm>
          <a:prstGeom prst="line">
            <a:avLst/>
          </a:prstGeom>
          <a:noFill/>
          <a:ln w="7144">
            <a:solidFill>
              <a:srgbClr val="1E2A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346499"/>
            <a:ext cx="8229600" cy="0"/>
          </a:xfrm>
          <a:prstGeom prst="line">
            <a:avLst/>
          </a:prstGeom>
          <a:noFill/>
          <a:ln w="7144">
            <a:solidFill>
              <a:srgbClr val="1E2A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1488" y="1790067"/>
            <a:ext cx="0" cy="560003"/>
          </a:xfrm>
          <a:prstGeom prst="line">
            <a:avLst/>
          </a:prstGeom>
          <a:noFill/>
          <a:ln w="28575">
            <a:solidFill>
              <a:srgbClr val="B14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8650" y="1927138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B14E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7224" y="1945712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B14E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688" dirty="0"/>
          </a:p>
        </p:txBody>
      </p:sp>
      <p:sp>
        <p:nvSpPr>
          <p:cNvPr id="23" name="Text 21"/>
          <p:cNvSpPr/>
          <p:nvPr/>
        </p:nvSpPr>
        <p:spPr>
          <a:xfrm>
            <a:off x="1028700" y="1911511"/>
            <a:ext cx="6857967" cy="1610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Story Engine (Qwen 35B)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8700" y="2100039"/>
            <a:ext cx="653139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 generates structured comic script with panel descriptions, dialogue in quotes, and narration.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651537" y="1964000"/>
            <a:ext cx="908105" cy="212027"/>
          </a:xfrm>
          <a:prstGeom prst="roundRect">
            <a:avLst>
              <a:gd name="adj" fmla="val 89847"/>
            </a:avLst>
          </a:prstGeom>
          <a:solidFill>
            <a:srgbClr val="B14EFF">
              <a:alpha val="15000"/>
            </a:srgbClr>
          </a:solidFill>
          <a:ln w="7144">
            <a:solidFill>
              <a:srgbClr val="B14E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674397" y="1975358"/>
            <a:ext cx="86238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8" kern="0" dirty="0">
                <a:solidFill>
                  <a:srgbClr val="B14E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 API (free)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486275" y="235007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7C8D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457200" y="2521521"/>
            <a:ext cx="8229600" cy="560003"/>
          </a:xfrm>
          <a:prstGeom prst="roundRect">
            <a:avLst>
              <a:gd name="adj" fmla="val 17009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57200" y="2525092"/>
            <a:ext cx="8229600" cy="0"/>
          </a:xfrm>
          <a:prstGeom prst="line">
            <a:avLst/>
          </a:prstGeom>
          <a:noFill/>
          <a:ln w="7144">
            <a:solidFill>
              <a:srgbClr val="1E2A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3228" y="2521521"/>
            <a:ext cx="0" cy="560003"/>
          </a:xfrm>
          <a:prstGeom prst="line">
            <a:avLst/>
          </a:prstGeom>
          <a:noFill/>
          <a:ln w="7144">
            <a:solidFill>
              <a:srgbClr val="1E2A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077952"/>
            <a:ext cx="8229600" cy="0"/>
          </a:xfrm>
          <a:prstGeom prst="line">
            <a:avLst/>
          </a:prstGeom>
          <a:noFill/>
          <a:ln w="7144">
            <a:solidFill>
              <a:srgbClr val="1E2A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1488" y="2521521"/>
            <a:ext cx="0" cy="560003"/>
          </a:xfrm>
          <a:prstGeom prst="line">
            <a:avLst/>
          </a:prstGeom>
          <a:noFill/>
          <a:ln w="28575">
            <a:solidFill>
              <a:srgbClr val="FF2D7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8650" y="2658591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FF2D7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47224" y="2677165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F2D7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688" dirty="0"/>
          </a:p>
        </p:txBody>
      </p:sp>
      <p:sp>
        <p:nvSpPr>
          <p:cNvPr id="35" name="Text 33"/>
          <p:cNvSpPr/>
          <p:nvPr/>
        </p:nvSpPr>
        <p:spPr>
          <a:xfrm>
            <a:off x="1028700" y="2642964"/>
            <a:ext cx="7348340" cy="1610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Image Engine (SDXL)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28700" y="2831492"/>
            <a:ext cx="699841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Single-pass 2048x2880px generation on AMD Radeon GPU via ROCm 7.2, float16.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125605" y="2695453"/>
            <a:ext cx="426991" cy="212027"/>
          </a:xfrm>
          <a:prstGeom prst="roundRect">
            <a:avLst>
              <a:gd name="adj" fmla="val 89847"/>
            </a:avLst>
          </a:prstGeom>
          <a:solidFill>
            <a:srgbClr val="FF2D78">
              <a:alpha val="15000"/>
            </a:srgbClr>
          </a:solidFill>
          <a:ln w="7144">
            <a:solidFill>
              <a:srgbClr val="FF2D7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141419" y="2706812"/>
            <a:ext cx="39536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8" kern="0" dirty="0">
                <a:solidFill>
                  <a:srgbClr val="FF2D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GPU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486275" y="308152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7C8D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266" dirty="0"/>
          </a:p>
        </p:txBody>
      </p:sp>
      <p:sp>
        <p:nvSpPr>
          <p:cNvPr id="40" name="Text 38"/>
          <p:cNvSpPr/>
          <p:nvPr/>
        </p:nvSpPr>
        <p:spPr>
          <a:xfrm>
            <a:off x="457200" y="3252974"/>
            <a:ext cx="8229600" cy="560003"/>
          </a:xfrm>
          <a:prstGeom prst="roundRect">
            <a:avLst>
              <a:gd name="adj" fmla="val 17009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457200" y="3256545"/>
            <a:ext cx="8229600" cy="0"/>
          </a:xfrm>
          <a:prstGeom prst="line">
            <a:avLst/>
          </a:prstGeom>
          <a:noFill/>
          <a:ln w="7144">
            <a:solidFill>
              <a:srgbClr val="1E2A4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83228" y="3252974"/>
            <a:ext cx="0" cy="560003"/>
          </a:xfrm>
          <a:prstGeom prst="line">
            <a:avLst/>
          </a:prstGeom>
          <a:noFill/>
          <a:ln w="7144">
            <a:solidFill>
              <a:srgbClr val="1E2A4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3809405"/>
            <a:ext cx="8229600" cy="0"/>
          </a:xfrm>
          <a:prstGeom prst="line">
            <a:avLst/>
          </a:prstGeom>
          <a:noFill/>
          <a:ln w="7144">
            <a:solidFill>
              <a:srgbClr val="1E2A4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1488" y="3252974"/>
            <a:ext cx="0" cy="560003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8650" y="3390044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00E5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47224" y="3408618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E5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47" name="Text 45"/>
          <p:cNvSpPr/>
          <p:nvPr/>
        </p:nvSpPr>
        <p:spPr>
          <a:xfrm>
            <a:off x="1028700" y="3374417"/>
            <a:ext cx="7352911" cy="1610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Comic Layout Engine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28700" y="3562945"/>
            <a:ext cx="700277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PIL assembles panels, adds speech bubbles, narration, SFX, and title page.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130132" y="3426906"/>
            <a:ext cx="422289" cy="212027"/>
          </a:xfrm>
          <a:prstGeom prst="roundRect">
            <a:avLst>
              <a:gd name="adj" fmla="val 89847"/>
            </a:avLst>
          </a:prstGeom>
          <a:solidFill>
            <a:srgbClr val="00E5FF">
              <a:alpha val="15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8145773" y="3438265"/>
            <a:ext cx="39100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8" kern="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CPU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00050"/>
            <a:ext cx="8636000" cy="2753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Optimized for AMD Radeon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57200" y="702878"/>
            <a:ext cx="8636000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Full GPU acceleration via ROCm 7.2</a:t>
            </a:r>
            <a:endParaRPr lang="en-US" sz="844" dirty="0"/>
          </a:p>
        </p:txBody>
      </p:sp>
      <p:sp>
        <p:nvSpPr>
          <p:cNvPr id="5" name="Text 2"/>
          <p:cNvSpPr/>
          <p:nvPr/>
        </p:nvSpPr>
        <p:spPr>
          <a:xfrm>
            <a:off x="457200" y="1085069"/>
            <a:ext cx="4655096" cy="18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Optimizations</a:t>
            </a:r>
            <a:endParaRPr lang="en-US" sz="1013" dirty="0"/>
          </a:p>
        </p:txBody>
      </p:sp>
      <p:sp>
        <p:nvSpPr>
          <p:cNvPr id="6" name="Text 3"/>
          <p:cNvSpPr/>
          <p:nvPr/>
        </p:nvSpPr>
        <p:spPr>
          <a:xfrm>
            <a:off x="460772" y="1370037"/>
            <a:ext cx="3964781" cy="492919"/>
          </a:xfrm>
          <a:prstGeom prst="roundRect">
            <a:avLst>
              <a:gd name="adj" fmla="val 19324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78644" y="1473622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00E5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07576" y="150255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E5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9" name="Text 6"/>
          <p:cNvSpPr/>
          <p:nvPr/>
        </p:nvSpPr>
        <p:spPr>
          <a:xfrm>
            <a:off x="964406" y="1473622"/>
            <a:ext cx="1756157" cy="126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Float16 Inference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64406" y="1627882"/>
            <a:ext cx="1806333" cy="1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2x speedup, 50% VRAM reduction vs FP32.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460772" y="1941537"/>
            <a:ext cx="3964781" cy="492919"/>
          </a:xfrm>
          <a:prstGeom prst="roundRect">
            <a:avLst>
              <a:gd name="adj" fmla="val 19324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78644" y="2045122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B14E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07576" y="207405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B14E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14" name="Text 11"/>
          <p:cNvSpPr/>
          <p:nvPr/>
        </p:nvSpPr>
        <p:spPr>
          <a:xfrm>
            <a:off x="964406" y="2045122"/>
            <a:ext cx="1867968" cy="126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Attention Slicing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964406" y="2199382"/>
            <a:ext cx="1921338" cy="1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Reduces peak VRAM during SDXL generation.</a:t>
            </a:r>
            <a:endParaRPr lang="en-US" sz="675" dirty="0"/>
          </a:p>
        </p:txBody>
      </p:sp>
      <p:sp>
        <p:nvSpPr>
          <p:cNvPr id="16" name="Text 13"/>
          <p:cNvSpPr/>
          <p:nvPr/>
        </p:nvSpPr>
        <p:spPr>
          <a:xfrm>
            <a:off x="460772" y="2513037"/>
            <a:ext cx="3964781" cy="492919"/>
          </a:xfrm>
          <a:prstGeom prst="roundRect">
            <a:avLst>
              <a:gd name="adj" fmla="val 19324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78644" y="2616622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FF2D7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07576" y="264555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2D7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547" dirty="0"/>
          </a:p>
        </p:txBody>
      </p:sp>
      <p:sp>
        <p:nvSpPr>
          <p:cNvPr id="19" name="Text 16"/>
          <p:cNvSpPr/>
          <p:nvPr/>
        </p:nvSpPr>
        <p:spPr>
          <a:xfrm>
            <a:off x="964406" y="2616622"/>
            <a:ext cx="1946610" cy="126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Single-Pass Hi-Res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964406" y="2770882"/>
            <a:ext cx="1853915" cy="1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Direct 2048px output, no refiner pipeline needed.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460772" y="3084537"/>
            <a:ext cx="3964781" cy="492919"/>
          </a:xfrm>
          <a:prstGeom prst="roundRect">
            <a:avLst>
              <a:gd name="adj" fmla="val 19324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78644" y="3188122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00E5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07576" y="321705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E5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24" name="Text 21"/>
          <p:cNvSpPr/>
          <p:nvPr/>
        </p:nvSpPr>
        <p:spPr>
          <a:xfrm>
            <a:off x="964406" y="3188122"/>
            <a:ext cx="2042099" cy="126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HIP/ROCm 7.2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964406" y="3342382"/>
            <a:ext cx="1881798" cy="1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PyTorch 2.11.0 with full Radeon GPU support.</a:t>
            </a:r>
            <a:endParaRPr lang="en-US" sz="675" dirty="0"/>
          </a:p>
        </p:txBody>
      </p:sp>
      <p:sp>
        <p:nvSpPr>
          <p:cNvPr id="26" name="Text 23"/>
          <p:cNvSpPr/>
          <p:nvPr/>
        </p:nvSpPr>
        <p:spPr>
          <a:xfrm>
            <a:off x="460772" y="3656037"/>
            <a:ext cx="3964781" cy="492919"/>
          </a:xfrm>
          <a:prstGeom prst="roundRect">
            <a:avLst>
              <a:gd name="adj" fmla="val 19324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78644" y="3759622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B14E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07576" y="378855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B14E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547" dirty="0"/>
          </a:p>
        </p:txBody>
      </p:sp>
      <p:sp>
        <p:nvSpPr>
          <p:cNvPr id="29" name="Text 26"/>
          <p:cNvSpPr/>
          <p:nvPr/>
        </p:nvSpPr>
        <p:spPr>
          <a:xfrm>
            <a:off x="964406" y="3759622"/>
            <a:ext cx="1920943" cy="126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Built-in Benchmark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964406" y="3913882"/>
            <a:ext cx="1975827" cy="1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One-click GPU timing and VRAM measurement.</a:t>
            </a:r>
            <a:endParaRPr lang="en-US" sz="675" dirty="0"/>
          </a:p>
        </p:txBody>
      </p:sp>
      <p:sp>
        <p:nvSpPr>
          <p:cNvPr id="31" name="Text 28"/>
          <p:cNvSpPr/>
          <p:nvPr/>
        </p:nvSpPr>
        <p:spPr>
          <a:xfrm>
            <a:off x="4714875" y="1085069"/>
            <a:ext cx="4170521" cy="18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dirty="0">
                <a:solidFill>
                  <a:srgbClr val="B14E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Hardware Profile</a:t>
            </a:r>
            <a:endParaRPr lang="en-US" sz="1013" dirty="0"/>
          </a:p>
        </p:txBody>
      </p:sp>
      <p:sp>
        <p:nvSpPr>
          <p:cNvPr id="32" name="Text 29"/>
          <p:cNvSpPr/>
          <p:nvPr/>
        </p:nvSpPr>
        <p:spPr>
          <a:xfrm>
            <a:off x="4718447" y="1370037"/>
            <a:ext cx="3964781" cy="2368153"/>
          </a:xfrm>
          <a:prstGeom prst="roundRect">
            <a:avLst>
              <a:gd name="adj" fmla="val 4827"/>
            </a:avLst>
          </a:prstGeom>
          <a:solidFill>
            <a:srgbClr val="111827"/>
          </a:solidFill>
          <a:ln w="7144">
            <a:solidFill>
              <a:srgbClr val="1E2A4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4893469" y="1830809"/>
            <a:ext cx="3614738" cy="0"/>
          </a:xfrm>
          <a:prstGeom prst="line">
            <a:avLst/>
          </a:prstGeom>
          <a:noFill/>
          <a:ln w="7144">
            <a:solidFill>
              <a:srgbClr val="1E2A4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93469" y="1616497"/>
            <a:ext cx="244930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GPU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357058" y="1616497"/>
            <a:ext cx="115114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AMD Radeon RX 7900 XTX</a:t>
            </a:r>
            <a:endParaRPr lang="en-US" sz="731" dirty="0"/>
          </a:p>
        </p:txBody>
      </p:sp>
      <p:sp>
        <p:nvSpPr>
          <p:cNvPr id="36" name="Shape 33"/>
          <p:cNvSpPr/>
          <p:nvPr/>
        </p:nvSpPr>
        <p:spPr>
          <a:xfrm>
            <a:off x="4893469" y="2120131"/>
            <a:ext cx="3614738" cy="0"/>
          </a:xfrm>
          <a:prstGeom prst="line">
            <a:avLst/>
          </a:prstGeom>
          <a:noFill/>
          <a:ln w="7144">
            <a:solidFill>
              <a:srgbClr val="1E2A4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93469" y="1905819"/>
            <a:ext cx="300662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VRAM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793413" y="1905819"/>
            <a:ext cx="8357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51.52 GB total</a:t>
            </a:r>
            <a:endParaRPr lang="en-US" sz="731" dirty="0"/>
          </a:p>
        </p:txBody>
      </p:sp>
      <p:sp>
        <p:nvSpPr>
          <p:cNvPr id="39" name="Shape 36"/>
          <p:cNvSpPr/>
          <p:nvPr/>
        </p:nvSpPr>
        <p:spPr>
          <a:xfrm>
            <a:off x="4893469" y="2409453"/>
            <a:ext cx="3614738" cy="0"/>
          </a:xfrm>
          <a:prstGeom prst="line">
            <a:avLst/>
          </a:prstGeom>
          <a:noFill/>
          <a:ln w="7144">
            <a:solidFill>
              <a:srgbClr val="1E2A4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893469" y="2195140"/>
            <a:ext cx="287759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VRAM Used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7785348" y="2195140"/>
            <a:ext cx="72285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44.44 GB at peak</a:t>
            </a:r>
            <a:endParaRPr lang="en-US" sz="731" dirty="0"/>
          </a:p>
        </p:txBody>
      </p:sp>
      <p:sp>
        <p:nvSpPr>
          <p:cNvPr id="42" name="Shape 39"/>
          <p:cNvSpPr/>
          <p:nvPr/>
        </p:nvSpPr>
        <p:spPr>
          <a:xfrm>
            <a:off x="4893469" y="2698775"/>
            <a:ext cx="3614738" cy="0"/>
          </a:xfrm>
          <a:prstGeom prst="line">
            <a:avLst/>
          </a:prstGeom>
          <a:noFill/>
          <a:ln w="7144">
            <a:solidFill>
              <a:srgbClr val="1E2A4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893469" y="2484462"/>
            <a:ext cx="347130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ROCm Version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8334782" y="2484462"/>
            <a:ext cx="21770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7.2</a:t>
            </a:r>
            <a:endParaRPr lang="en-US" sz="731" dirty="0"/>
          </a:p>
        </p:txBody>
      </p:sp>
      <p:sp>
        <p:nvSpPr>
          <p:cNvPr id="45" name="Shape 42"/>
          <p:cNvSpPr/>
          <p:nvPr/>
        </p:nvSpPr>
        <p:spPr>
          <a:xfrm>
            <a:off x="4893469" y="2988097"/>
            <a:ext cx="3614738" cy="0"/>
          </a:xfrm>
          <a:prstGeom prst="line">
            <a:avLst/>
          </a:prstGeom>
          <a:noFill/>
          <a:ln w="7144">
            <a:solidFill>
              <a:srgbClr val="1E2A45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893469" y="2773784"/>
            <a:ext cx="295941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PyTorch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867166" y="2773784"/>
            <a:ext cx="64104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2.11.0+rocm7.2</a:t>
            </a:r>
            <a:endParaRPr lang="en-US" sz="731" dirty="0"/>
          </a:p>
        </p:txBody>
      </p:sp>
      <p:sp>
        <p:nvSpPr>
          <p:cNvPr id="48" name="Shape 45"/>
          <p:cNvSpPr/>
          <p:nvPr/>
        </p:nvSpPr>
        <p:spPr>
          <a:xfrm>
            <a:off x="4893469" y="3277419"/>
            <a:ext cx="3614738" cy="0"/>
          </a:xfrm>
          <a:prstGeom prst="line">
            <a:avLst/>
          </a:prstGeom>
          <a:noFill/>
          <a:ln w="7144">
            <a:solidFill>
              <a:srgbClr val="1E2A45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893469" y="3063106"/>
            <a:ext cx="3365376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diffusers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8223190" y="3063106"/>
            <a:ext cx="33495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0.32+</a:t>
            </a:r>
            <a:endParaRPr lang="en-US" sz="731" dirty="0"/>
          </a:p>
        </p:txBody>
      </p:sp>
      <p:sp>
        <p:nvSpPr>
          <p:cNvPr id="51" name="Text 48"/>
          <p:cNvSpPr/>
          <p:nvPr/>
        </p:nvSpPr>
        <p:spPr>
          <a:xfrm>
            <a:off x="4893469" y="3352428"/>
            <a:ext cx="34196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Python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8274970" y="3352428"/>
            <a:ext cx="2856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3.12</a:t>
            </a:r>
            <a:endParaRPr lang="en-US" sz="731" dirty="0"/>
          </a:p>
        </p:txBody>
      </p:sp>
      <p:sp>
        <p:nvSpPr>
          <p:cNvPr id="53" name="Text 50"/>
          <p:cNvSpPr/>
          <p:nvPr/>
        </p:nvSpPr>
        <p:spPr>
          <a:xfrm>
            <a:off x="4718447" y="3916784"/>
            <a:ext cx="3964781" cy="803672"/>
          </a:xfrm>
          <a:prstGeom prst="roundRect">
            <a:avLst>
              <a:gd name="adj" fmla="val 14222"/>
            </a:avLst>
          </a:prstGeom>
          <a:solidFill>
            <a:srgbClr val="00E5FF">
              <a:alpha val="5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4864894" y="4063231"/>
            <a:ext cx="3671888" cy="3440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466s</a:t>
            </a:r>
            <a:endParaRPr lang="en-US" sz="2700" dirty="0"/>
          </a:p>
        </p:txBody>
      </p:sp>
      <p:sp>
        <p:nvSpPr>
          <p:cNvPr id="55" name="Text 52"/>
          <p:cNvSpPr/>
          <p:nvPr/>
        </p:nvSpPr>
        <p:spPr>
          <a:xfrm>
            <a:off x="4864894" y="4434706"/>
            <a:ext cx="36718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panels at 2048x2880px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00050"/>
            <a:ext cx="8636000" cy="2753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Demo Results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57200" y="702878"/>
            <a:ext cx="8636000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Successfully generated on AMD Radeon Cloud</a:t>
            </a:r>
            <a:endParaRPr lang="en-US" sz="844" dirty="0"/>
          </a:p>
        </p:txBody>
      </p:sp>
      <p:sp>
        <p:nvSpPr>
          <p:cNvPr id="5" name="Text 2"/>
          <p:cNvSpPr/>
          <p:nvPr/>
        </p:nvSpPr>
        <p:spPr>
          <a:xfrm>
            <a:off x="460772" y="1060066"/>
            <a:ext cx="1964531" cy="807244"/>
          </a:xfrm>
          <a:prstGeom prst="roundRect">
            <a:avLst>
              <a:gd name="adj" fmla="val 14159"/>
            </a:avLst>
          </a:prstGeom>
          <a:solidFill>
            <a:srgbClr val="111827"/>
          </a:solidFill>
          <a:ln w="7144">
            <a:solidFill>
              <a:srgbClr val="1E2A4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7219" y="1235087"/>
            <a:ext cx="1671638" cy="301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363"/>
              </a:lnSpc>
              <a:buNone/>
            </a:pPr>
            <a:r>
              <a:rPr lang="en-US" sz="2363" b="1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2363" dirty="0"/>
          </a:p>
        </p:txBody>
      </p:sp>
      <p:sp>
        <p:nvSpPr>
          <p:cNvPr id="7" name="Text 4"/>
          <p:cNvSpPr/>
          <p:nvPr/>
        </p:nvSpPr>
        <p:spPr>
          <a:xfrm>
            <a:off x="607219" y="1563700"/>
            <a:ext cx="167163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Panels Generated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546747" y="1060066"/>
            <a:ext cx="1964531" cy="807244"/>
          </a:xfrm>
          <a:prstGeom prst="roundRect">
            <a:avLst>
              <a:gd name="adj" fmla="val 14159"/>
            </a:avLst>
          </a:prstGeom>
          <a:solidFill>
            <a:srgbClr val="111827"/>
          </a:solidFill>
          <a:ln w="7144">
            <a:solidFill>
              <a:srgbClr val="1E2A4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693194" y="1235087"/>
            <a:ext cx="1671637" cy="301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363"/>
              </a:lnSpc>
              <a:buNone/>
            </a:pPr>
            <a:r>
              <a:rPr lang="en-US" sz="2363" b="1" dirty="0">
                <a:solidFill>
                  <a:srgbClr val="B14E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2048</a:t>
            </a:r>
            <a:endParaRPr lang="en-US" sz="2363" dirty="0"/>
          </a:p>
        </p:txBody>
      </p:sp>
      <p:sp>
        <p:nvSpPr>
          <p:cNvPr id="10" name="Text 7"/>
          <p:cNvSpPr/>
          <p:nvPr/>
        </p:nvSpPr>
        <p:spPr>
          <a:xfrm>
            <a:off x="2693194" y="1563700"/>
            <a:ext cx="16716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Panel Resolution (px)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632722" y="1060066"/>
            <a:ext cx="1964531" cy="807244"/>
          </a:xfrm>
          <a:prstGeom prst="roundRect">
            <a:avLst>
              <a:gd name="adj" fmla="val 14159"/>
            </a:avLst>
          </a:prstGeom>
          <a:solidFill>
            <a:srgbClr val="111827"/>
          </a:solidFill>
          <a:ln w="7144">
            <a:solidFill>
              <a:srgbClr val="1E2A4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779169" y="1235087"/>
            <a:ext cx="1671638" cy="229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2D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2480×3508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779169" y="1492262"/>
            <a:ext cx="16716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Page Output (px)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718697" y="1060066"/>
            <a:ext cx="1964531" cy="807244"/>
          </a:xfrm>
          <a:prstGeom prst="roundRect">
            <a:avLst>
              <a:gd name="adj" fmla="val 14159"/>
            </a:avLst>
          </a:prstGeom>
          <a:solidFill>
            <a:srgbClr val="111827"/>
          </a:solidFill>
          <a:ln w="7144">
            <a:solidFill>
              <a:srgbClr val="1E2A4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865144" y="1235087"/>
            <a:ext cx="1671638" cy="301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363"/>
              </a:lnSpc>
              <a:buNone/>
            </a:pPr>
            <a:r>
              <a:rPr lang="en-US" sz="2363" b="1" dirty="0">
                <a:solidFill>
                  <a:srgbClr val="00E5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15.6</a:t>
            </a:r>
            <a:endParaRPr lang="en-US" sz="2363" dirty="0"/>
          </a:p>
        </p:txBody>
      </p:sp>
      <p:sp>
        <p:nvSpPr>
          <p:cNvPr id="16" name="Text 13"/>
          <p:cNvSpPr/>
          <p:nvPr/>
        </p:nvSpPr>
        <p:spPr>
          <a:xfrm>
            <a:off x="6865144" y="1563700"/>
            <a:ext cx="16716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File Size (MB PNG)</a:t>
            </a:r>
            <a:endParaRPr lang="en-US" sz="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42331"/>
            <a:ext cx="8229600" cy="239594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60772" y="2045903"/>
            <a:ext cx="8222456" cy="2388803"/>
          </a:xfrm>
          <a:prstGeom prst="roundRect">
            <a:avLst>
              <a:gd name="adj" fmla="val 4785"/>
            </a:avLst>
          </a:prstGeom>
          <a:noFill/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635794" y="2220925"/>
            <a:ext cx="7982140" cy="17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Generation Pipeline Performance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35794" y="2502322"/>
            <a:ext cx="13395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Uniqueness + Story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864519" y="2495178"/>
            <a:ext cx="214313" cy="142875"/>
          </a:xfrm>
          <a:prstGeom prst="roundRect">
            <a:avLst>
              <a:gd name="adj" fmla="val 26667"/>
            </a:avLst>
          </a:prstGeom>
          <a:solidFill>
            <a:srgbClr val="00E5FF">
              <a:alpha val="8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1957388" y="2502322"/>
            <a:ext cx="5643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 2s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635794" y="2745209"/>
            <a:ext cx="13395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Panel 1 (SDXL)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1864519" y="2738065"/>
            <a:ext cx="1143000" cy="142875"/>
          </a:xfrm>
          <a:prstGeom prst="roundRect">
            <a:avLst>
              <a:gd name="adj" fmla="val 26667"/>
            </a:avLst>
          </a:prstGeom>
          <a:solidFill>
            <a:srgbClr val="B14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2886075" y="2745209"/>
            <a:ext cx="5643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~110s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635794" y="2988097"/>
            <a:ext cx="1463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Panel 2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1864519" y="2980953"/>
            <a:ext cx="1200150" cy="142875"/>
          </a:xfrm>
          <a:prstGeom prst="roundRect">
            <a:avLst>
              <a:gd name="adj" fmla="val 26667"/>
            </a:avLst>
          </a:prstGeom>
          <a:solidFill>
            <a:srgbClr val="FF2D7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2943225" y="2988097"/>
            <a:ext cx="5643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~115s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635794" y="3230984"/>
            <a:ext cx="1463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Panel 3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1864519" y="3223840"/>
            <a:ext cx="1257300" cy="142875"/>
          </a:xfrm>
          <a:prstGeom prst="roundRect">
            <a:avLst>
              <a:gd name="adj" fmla="val 26667"/>
            </a:avLst>
          </a:prstGeom>
          <a:solidFill>
            <a:srgbClr val="00E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3000375" y="3230984"/>
            <a:ext cx="5643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~120s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635794" y="3473872"/>
            <a:ext cx="1463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Panel 4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1864519" y="3466728"/>
            <a:ext cx="1228725" cy="142875"/>
          </a:xfrm>
          <a:prstGeom prst="roundRect">
            <a:avLst>
              <a:gd name="adj" fmla="val 26667"/>
            </a:avLst>
          </a:prstGeom>
          <a:solidFill>
            <a:srgbClr val="B14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2971800" y="3473872"/>
            <a:ext cx="5643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~118s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635794" y="3716759"/>
            <a:ext cx="13395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Layout + Compositing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1864519" y="3709615"/>
            <a:ext cx="214313" cy="142875"/>
          </a:xfrm>
          <a:prstGeom prst="roundRect">
            <a:avLst>
              <a:gd name="adj" fmla="val 26667"/>
            </a:avLst>
          </a:prstGeom>
          <a:solidFill>
            <a:srgbClr val="FF2D78">
              <a:alpha val="8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1957388" y="3716759"/>
            <a:ext cx="5643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 1s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635794" y="3956075"/>
            <a:ext cx="7872413" cy="0"/>
          </a:xfrm>
          <a:prstGeom prst="line">
            <a:avLst/>
          </a:prstGeom>
          <a:noFill/>
          <a:ln w="7144">
            <a:solidFill>
              <a:srgbClr val="1E2A4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35794" y="4082876"/>
            <a:ext cx="70003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Total Generation Time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7567067" y="4045372"/>
            <a:ext cx="102447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466 seconds</a:t>
            </a:r>
            <a:endParaRPr lang="en-US" sz="1125" dirty="0"/>
          </a:p>
        </p:txBody>
      </p:sp>
      <p:sp>
        <p:nvSpPr>
          <p:cNvPr id="41" name="Text 37"/>
          <p:cNvSpPr/>
          <p:nvPr/>
        </p:nvSpPr>
        <p:spPr>
          <a:xfrm>
            <a:off x="457200" y="4552578"/>
            <a:ext cx="8229600" cy="186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8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Gradio UI accessible via public gradio.live URL. End-to-end tested from browser.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60772" y="740718"/>
            <a:ext cx="2640732" cy="1924571"/>
          </a:xfrm>
          <a:prstGeom prst="roundRect">
            <a:avLst>
              <a:gd name="adj" fmla="val 5939"/>
            </a:avLst>
          </a:prstGeom>
          <a:solidFill>
            <a:srgbClr val="111827"/>
          </a:solidFill>
          <a:ln w="7144">
            <a:solidFill>
              <a:srgbClr val="1E2A4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5794" y="915739"/>
            <a:ext cx="300038" cy="300038"/>
          </a:xfrm>
          <a:prstGeom prst="roundRect">
            <a:avLst>
              <a:gd name="adj" fmla="val 31746"/>
            </a:avLst>
          </a:prstGeom>
          <a:solidFill>
            <a:srgbClr val="00E5F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1870" y="95181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E5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6" name="Text 4"/>
          <p:cNvSpPr/>
          <p:nvPr/>
        </p:nvSpPr>
        <p:spPr>
          <a:xfrm>
            <a:off x="635794" y="1315789"/>
            <a:ext cx="2290688" cy="172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GPU &amp; Runtime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35794" y="1532892"/>
            <a:ext cx="2290688" cy="350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AMD Radeon RX 7900 XTX, 51.52 GB VRAM, ROCm 7.2, PyTorch 2.11.0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51522" y="740718"/>
            <a:ext cx="2640843" cy="1924571"/>
          </a:xfrm>
          <a:prstGeom prst="roundRect">
            <a:avLst>
              <a:gd name="adj" fmla="val 5939"/>
            </a:avLst>
          </a:prstGeom>
          <a:solidFill>
            <a:srgbClr val="111827"/>
          </a:solidFill>
          <a:ln w="7144">
            <a:solidFill>
              <a:srgbClr val="1E2A4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26544" y="915739"/>
            <a:ext cx="300038" cy="300038"/>
          </a:xfrm>
          <a:prstGeom prst="roundRect">
            <a:avLst>
              <a:gd name="adj" fmla="val 31746"/>
            </a:avLst>
          </a:prstGeom>
          <a:solidFill>
            <a:srgbClr val="B14EF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62620" y="95181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B14E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547" dirty="0"/>
          </a:p>
        </p:txBody>
      </p:sp>
      <p:sp>
        <p:nvSpPr>
          <p:cNvPr id="11" name="Text 9"/>
          <p:cNvSpPr/>
          <p:nvPr/>
        </p:nvSpPr>
        <p:spPr>
          <a:xfrm>
            <a:off x="3426544" y="1315789"/>
            <a:ext cx="2290800" cy="172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Image Generation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26544" y="1532892"/>
            <a:ext cx="2290800" cy="350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Stable Diffusion XL (Base), diffusers 0.32+, single-pass 2048x2880px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42385" y="740718"/>
            <a:ext cx="2640732" cy="1924571"/>
          </a:xfrm>
          <a:prstGeom prst="roundRect">
            <a:avLst>
              <a:gd name="adj" fmla="val 5939"/>
            </a:avLst>
          </a:prstGeom>
          <a:solidFill>
            <a:srgbClr val="111827"/>
          </a:solidFill>
          <a:ln w="7144">
            <a:solidFill>
              <a:srgbClr val="1E2A4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17407" y="915739"/>
            <a:ext cx="300038" cy="300038"/>
          </a:xfrm>
          <a:prstGeom prst="roundRect">
            <a:avLst>
              <a:gd name="adj" fmla="val 31746"/>
            </a:avLst>
          </a:prstGeom>
          <a:solidFill>
            <a:srgbClr val="FF2D78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53482" y="95181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2D7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547" dirty="0"/>
          </a:p>
        </p:txBody>
      </p:sp>
      <p:sp>
        <p:nvSpPr>
          <p:cNvPr id="16" name="Text 14"/>
          <p:cNvSpPr/>
          <p:nvPr/>
        </p:nvSpPr>
        <p:spPr>
          <a:xfrm>
            <a:off x="6217407" y="1315789"/>
            <a:ext cx="2290688" cy="172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Language Model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17407" y="1532892"/>
            <a:ext cx="2290688" cy="350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Qwen 3.6 35B A3B via AMD Radeon Cloud free API, zero local GPU cost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0772" y="2815307"/>
            <a:ext cx="2640732" cy="1924571"/>
          </a:xfrm>
          <a:prstGeom prst="roundRect">
            <a:avLst>
              <a:gd name="adj" fmla="val 5939"/>
            </a:avLst>
          </a:prstGeom>
          <a:solidFill>
            <a:srgbClr val="111827"/>
          </a:solidFill>
          <a:ln w="7144">
            <a:solidFill>
              <a:srgbClr val="1E2A4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5794" y="2990329"/>
            <a:ext cx="300038" cy="300038"/>
          </a:xfrm>
          <a:prstGeom prst="roundRect">
            <a:avLst>
              <a:gd name="adj" fmla="val 31746"/>
            </a:avLst>
          </a:prstGeom>
          <a:solidFill>
            <a:srgbClr val="00E5F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1870" y="302640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E5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21" name="Text 19"/>
          <p:cNvSpPr/>
          <p:nvPr/>
        </p:nvSpPr>
        <p:spPr>
          <a:xfrm>
            <a:off x="635794" y="3390379"/>
            <a:ext cx="2290688" cy="172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 Interface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5794" y="3607482"/>
            <a:ext cx="2290688" cy="350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Gradio 6.20.0, cyberpunk sci-fi theme, real-time progress, share link support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51522" y="2815307"/>
            <a:ext cx="2640843" cy="1924571"/>
          </a:xfrm>
          <a:prstGeom prst="roundRect">
            <a:avLst>
              <a:gd name="adj" fmla="val 5939"/>
            </a:avLst>
          </a:prstGeom>
          <a:solidFill>
            <a:srgbClr val="111827"/>
          </a:solidFill>
          <a:ln w="7144">
            <a:solidFill>
              <a:srgbClr val="1E2A4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26544" y="2990329"/>
            <a:ext cx="300038" cy="300038"/>
          </a:xfrm>
          <a:prstGeom prst="roundRect">
            <a:avLst>
              <a:gd name="adj" fmla="val 31746"/>
            </a:avLst>
          </a:prstGeom>
          <a:solidFill>
            <a:srgbClr val="B14EF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462620" y="302640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B14E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26" name="Text 24"/>
          <p:cNvSpPr/>
          <p:nvPr/>
        </p:nvSpPr>
        <p:spPr>
          <a:xfrm>
            <a:off x="3426544" y="3390379"/>
            <a:ext cx="2290800" cy="172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Image Processing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26544" y="3607482"/>
            <a:ext cx="2290800" cy="350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Pillow (PIL), 4K page assembly, speech bubbles, SFX text overlays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42385" y="2815307"/>
            <a:ext cx="2640732" cy="1924571"/>
          </a:xfrm>
          <a:prstGeom prst="roundRect">
            <a:avLst>
              <a:gd name="adj" fmla="val 5939"/>
            </a:avLst>
          </a:prstGeom>
          <a:solidFill>
            <a:srgbClr val="111827"/>
          </a:solidFill>
          <a:ln w="7144">
            <a:solidFill>
              <a:srgbClr val="1E2A4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217407" y="2990329"/>
            <a:ext cx="300038" cy="300038"/>
          </a:xfrm>
          <a:prstGeom prst="roundRect">
            <a:avLst>
              <a:gd name="adj" fmla="val 31746"/>
            </a:avLst>
          </a:prstGeom>
          <a:solidFill>
            <a:srgbClr val="FF2D78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253482" y="302640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2D7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31" name="Text 29"/>
          <p:cNvSpPr/>
          <p:nvPr/>
        </p:nvSpPr>
        <p:spPr>
          <a:xfrm>
            <a:off x="6217407" y="3390379"/>
            <a:ext cx="2290688" cy="172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Language &amp; Tools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407" y="3607482"/>
            <a:ext cx="2290688" cy="350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Python 3.12, modern type hints, modular architecture, one-click install script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2753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Textovid?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702878"/>
            <a:ext cx="8636000" cy="186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9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sets us apart from existing AI art tools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101477"/>
            <a:ext cx="4140518" cy="18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Textovid Advantages</a:t>
            </a:r>
            <a:endParaRPr lang="en-US" sz="1013" dirty="0"/>
          </a:p>
        </p:txBody>
      </p:sp>
      <p:sp>
        <p:nvSpPr>
          <p:cNvPr id="5" name="Text 3"/>
          <p:cNvSpPr/>
          <p:nvPr/>
        </p:nvSpPr>
        <p:spPr>
          <a:xfrm>
            <a:off x="457200" y="142573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E5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6" name="Text 4"/>
          <p:cNvSpPr/>
          <p:nvPr/>
        </p:nvSpPr>
        <p:spPr>
          <a:xfrm>
            <a:off x="685800" y="1411449"/>
            <a:ext cx="3220363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 Pipeline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575755"/>
            <a:ext cx="30670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just image generation — full comic pages with story, art, bubbles, and layout.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457200" y="181864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E5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685800" y="1804355"/>
            <a:ext cx="2367448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AMD-Native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85800" y="1968661"/>
            <a:ext cx="218160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from day one for ROCm, not ported from CUDA.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57200" y="221154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E5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2" name="Text 10"/>
          <p:cNvSpPr/>
          <p:nvPr/>
        </p:nvSpPr>
        <p:spPr>
          <a:xfrm>
            <a:off x="685800" y="2197261"/>
            <a:ext cx="2486444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Guaranteed Uniqueness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2361567"/>
            <a:ext cx="236804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SHA-256 fingerprint proves every output is structurally distinct.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57200" y="260445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E5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5" name="Text 13"/>
          <p:cNvSpPr/>
          <p:nvPr/>
        </p:nvSpPr>
        <p:spPr>
          <a:xfrm>
            <a:off x="685800" y="2590167"/>
            <a:ext cx="3010297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Zero-Cost LLM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" y="2754474"/>
            <a:ext cx="25685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Free Qwen 35B API means no LLM GPU overhead on the instance.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57200" y="299736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E5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8" name="Text 16"/>
          <p:cNvSpPr/>
          <p:nvPr/>
        </p:nvSpPr>
        <p:spPr>
          <a:xfrm>
            <a:off x="685800" y="2983074"/>
            <a:ext cx="2361506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Professional Output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" y="3147380"/>
            <a:ext cx="224905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4K PNG with title page, ready for print or digital distribution.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4747022" y="1105049"/>
            <a:ext cx="3936206" cy="2453097"/>
          </a:xfrm>
          <a:prstGeom prst="roundRect">
            <a:avLst>
              <a:gd name="adj" fmla="val 4659"/>
            </a:avLst>
          </a:prstGeom>
          <a:solidFill>
            <a:srgbClr val="111827"/>
          </a:solidFill>
          <a:ln w="7144">
            <a:solidFill>
              <a:srgbClr val="1E2A4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50619" y="1308646"/>
            <a:ext cx="3529013" cy="18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dirty="0">
                <a:solidFill>
                  <a:srgbClr val="B14E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vs. Alternatives</a:t>
            </a:r>
            <a:endParaRPr lang="en-US" sz="1013" dirty="0"/>
          </a:p>
        </p:txBody>
      </p:sp>
      <p:sp>
        <p:nvSpPr>
          <p:cNvPr id="22" name="Shape 20"/>
          <p:cNvSpPr/>
          <p:nvPr/>
        </p:nvSpPr>
        <p:spPr>
          <a:xfrm>
            <a:off x="4950619" y="2157971"/>
            <a:ext cx="3529013" cy="0"/>
          </a:xfrm>
          <a:prstGeom prst="line">
            <a:avLst/>
          </a:prstGeom>
          <a:noFill/>
          <a:ln w="7144">
            <a:solidFill>
              <a:srgbClr val="1E2A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0619" y="1618617"/>
            <a:ext cx="3529013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Midjourney / DALL-E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50619" y="1768636"/>
            <a:ext cx="3638740" cy="11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Single images only, no comic structure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50619" y="1911511"/>
            <a:ext cx="363874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Textovid: Full multi-panel comic pages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950619" y="2815196"/>
            <a:ext cx="3529013" cy="0"/>
          </a:xfrm>
          <a:prstGeom prst="line">
            <a:avLst/>
          </a:prstGeom>
          <a:noFill/>
          <a:ln w="7144">
            <a:solidFill>
              <a:srgbClr val="1E2A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0619" y="2275842"/>
            <a:ext cx="3529013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ComicAI / AI Comic Factory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50619" y="2425861"/>
            <a:ext cx="3638740" cy="11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Nvidia-optimized, limited customization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50619" y="2568736"/>
            <a:ext cx="363874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Textovid: AMD-native, dual input modes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50619" y="2933067"/>
            <a:ext cx="3529013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Manual compositing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50619" y="3083086"/>
            <a:ext cx="3529013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Hours of work in Photoshop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950619" y="3225961"/>
            <a:ext cx="363874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Textovid: Automated in under 8 minutes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1475"/>
            <a:ext cx="8636000" cy="2896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Future Roadmap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88591"/>
            <a:ext cx="8636000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Planned enhancements beyond the hackathon</a:t>
            </a:r>
            <a:endParaRPr lang="en-US" sz="844" dirty="0"/>
          </a:p>
        </p:txBody>
      </p:sp>
      <p:sp>
        <p:nvSpPr>
          <p:cNvPr id="4" name="Text 2"/>
          <p:cNvSpPr/>
          <p:nvPr/>
        </p:nvSpPr>
        <p:spPr>
          <a:xfrm>
            <a:off x="1171575" y="1299381"/>
            <a:ext cx="7890986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Panel Animation</a:t>
            </a:r>
            <a:endParaRPr lang="en-US" sz="1013" dirty="0"/>
          </a:p>
        </p:txBody>
      </p:sp>
      <p:sp>
        <p:nvSpPr>
          <p:cNvPr id="5" name="Text 3"/>
          <p:cNvSpPr/>
          <p:nvPr/>
        </p:nvSpPr>
        <p:spPr>
          <a:xfrm>
            <a:off x="1171575" y="1535125"/>
            <a:ext cx="6429375" cy="1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731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LTX Video integration to animate comic panels into short video clips. Code scaffold (video_engine.py) already in place.</a:t>
            </a:r>
            <a:endParaRPr lang="en-US" sz="731" dirty="0"/>
          </a:p>
        </p:txBody>
      </p:sp>
      <p:sp>
        <p:nvSpPr>
          <p:cNvPr id="6" name="Text 4"/>
          <p:cNvSpPr/>
          <p:nvPr/>
        </p:nvSpPr>
        <p:spPr>
          <a:xfrm>
            <a:off x="1171575" y="2012305"/>
            <a:ext cx="7890986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Character Consistency</a:t>
            </a:r>
            <a:endParaRPr lang="en-US" sz="1013" dirty="0"/>
          </a:p>
        </p:txBody>
      </p:sp>
      <p:sp>
        <p:nvSpPr>
          <p:cNvPr id="7" name="Text 5"/>
          <p:cNvSpPr/>
          <p:nvPr/>
        </p:nvSpPr>
        <p:spPr>
          <a:xfrm>
            <a:off x="1171575" y="2248049"/>
            <a:ext cx="6429375" cy="1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Multi-page story arcs with consistent character appearance across panels using reference image techniques.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71575" y="2725229"/>
            <a:ext cx="7890986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Style Transfer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1171575" y="2960973"/>
            <a:ext cx="6429375" cy="1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Generate comics in specific artistic styles by fine-tuning or prompt-guided style adaptation.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71575" y="3438153"/>
            <a:ext cx="7890986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Batch Generation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1171575" y="3673897"/>
            <a:ext cx="6429375" cy="1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Create entire comic issues (20+ pages) in a single session with story continuity management.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494508" y="4446984"/>
            <a:ext cx="4154984" cy="350044"/>
          </a:xfrm>
          <a:prstGeom prst="roundRect">
            <a:avLst>
              <a:gd name="adj" fmla="val 27211"/>
            </a:avLst>
          </a:prstGeom>
          <a:solidFill>
            <a:srgbClr val="00E5FF">
              <a:alpha val="6000"/>
            </a:srgbClr>
          </a:solidFill>
          <a:ln w="7144">
            <a:solidFill>
              <a:srgbClr val="00E5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55268" y="4566642"/>
            <a:ext cx="3647777" cy="126609"/>
          </a:xfrm>
          <a:prstGeom prst="rect">
            <a:avLst/>
          </a:prstGeom>
          <a:noFill/>
          <a:ln/>
        </p:spPr>
        <p:txBody>
          <a:bodyPr wrap="square" lIns="142875" tIns="100013" rIns="142875" bIns="100013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features designed to run on AMD Radeon GPUs via ROCm — no CUDA dependency.</a:t>
            </a:r>
            <a:endParaRPr lang="en-US" sz="731" dirty="0"/>
          </a:p>
        </p:txBody>
      </p:sp>
      <p:sp>
        <p:nvSpPr>
          <p:cNvPr id="14" name="Text 12"/>
          <p:cNvSpPr/>
          <p:nvPr/>
        </p:nvSpPr>
        <p:spPr>
          <a:xfrm>
            <a:off x="2640955" y="455056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E5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5" name="Text 13"/>
          <p:cNvSpPr/>
          <p:nvPr/>
        </p:nvSpPr>
        <p:spPr>
          <a:xfrm>
            <a:off x="742950" y="1285094"/>
            <a:ext cx="228600" cy="228600"/>
          </a:xfrm>
          <a:prstGeom prst="ellipse">
            <a:avLst/>
          </a:prstGeom>
          <a:solidFill>
            <a:srgbClr val="00E5FF"/>
          </a:solidFill>
          <a:ln/>
          <a:effectLst>
            <a:outerShdw sx="100000" sy="100000" kx="0" ky="0" algn="bl" rotWithShape="0" blurRad="152400" dist="50800" dir="16200000">
              <a:srgbClr val="00E5FF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2950" y="1998018"/>
            <a:ext cx="228600" cy="228600"/>
          </a:xfrm>
          <a:prstGeom prst="ellipse">
            <a:avLst/>
          </a:prstGeom>
          <a:solidFill>
            <a:srgbClr val="B14EFF"/>
          </a:solidFill>
          <a:ln/>
          <a:effectLst>
            <a:outerShdw sx="100000" sy="100000" kx="0" ky="0" algn="bl" rotWithShape="0" blurRad="152400" dist="50800" dir="16200000">
              <a:srgbClr val="B14EFF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42950" y="2710942"/>
            <a:ext cx="228600" cy="228600"/>
          </a:xfrm>
          <a:prstGeom prst="ellipse">
            <a:avLst/>
          </a:prstGeom>
          <a:solidFill>
            <a:srgbClr val="00E5FF"/>
          </a:solidFill>
          <a:ln/>
          <a:effectLst>
            <a:outerShdw sx="100000" sy="100000" kx="0" ky="0" algn="bl" rotWithShape="0" blurRad="152400" dist="50800" dir="16200000">
              <a:srgbClr val="00E5FF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42950" y="3423865"/>
            <a:ext cx="228600" cy="228600"/>
          </a:xfrm>
          <a:prstGeom prst="ellipse">
            <a:avLst/>
          </a:prstGeom>
          <a:solidFill>
            <a:srgbClr val="B14EFF"/>
          </a:solidFill>
          <a:ln/>
          <a:effectLst>
            <a:outerShdw sx="100000" sy="100000" kx="0" ky="0" algn="bl" rotWithShape="0" blurRad="152400" dist="50800" dir="16200000">
              <a:srgbClr val="B14EFF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58744" y="1484114"/>
            <a:ext cx="3226400" cy="648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725"/>
              </a:lnSpc>
              <a:buNone/>
            </a:pPr>
            <a:r>
              <a:rPr lang="en-US" sz="3150" b="1" spc="11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TEXTOVID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3284537" y="2169914"/>
            <a:ext cx="2574814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00E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Comic Studio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7513" y="2598539"/>
            <a:ext cx="1428750" cy="142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47754" y="2784277"/>
            <a:ext cx="2648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7C8D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AMD AI DevMaster Hackathon 2026 — Track 1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345842" y="3020020"/>
            <a:ext cx="24522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7C8DB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github.com/b3panda3/Radeon-hackathon-2026-07</a:t>
            </a:r>
            <a:endParaRPr lang="en-US" sz="731" dirty="0"/>
          </a:p>
        </p:txBody>
      </p:sp>
      <p:sp>
        <p:nvSpPr>
          <p:cNvPr id="7" name="Text 4"/>
          <p:cNvSpPr/>
          <p:nvPr/>
        </p:nvSpPr>
        <p:spPr>
          <a:xfrm>
            <a:off x="3002534" y="3445073"/>
            <a:ext cx="3138821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B14E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Thank You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2026-07-25T03:16:23Z</dcterms:created>
  <dcterms:modified xsi:type="dcterms:W3CDTF">2026-07-25T03:16:23Z</dcterms:modified>
</cp:coreProperties>
</file>